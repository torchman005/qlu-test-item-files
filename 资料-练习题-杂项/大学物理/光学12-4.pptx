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ctiveX/activeX1.xml" ContentType="application/vnd.ms-office.activeX+xml"/>
  <Override PartName="/ppt/activeX/activeX1.bin" ContentType="application/vnd.ms-office.activeX"/>
  <Override PartName="/ppt/activeX/activeX2.xml" ContentType="application/vnd.ms-office.activeX+xml"/>
  <Override PartName="/ppt/activeX/activeX2.bin" ContentType="application/vnd.ms-office.activeX"/>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3"/>
  </p:notesMasterIdLst>
  <p:handoutMasterIdLst>
    <p:handoutMasterId r:id="rId24"/>
  </p:handoutMasterIdLst>
  <p:sldIdLst>
    <p:sldId id="268" r:id="rId2"/>
    <p:sldId id="345" r:id="rId3"/>
    <p:sldId id="346" r:id="rId4"/>
    <p:sldId id="348" r:id="rId5"/>
    <p:sldId id="350" r:id="rId6"/>
    <p:sldId id="351" r:id="rId7"/>
    <p:sldId id="352" r:id="rId8"/>
    <p:sldId id="361" r:id="rId9"/>
    <p:sldId id="353" r:id="rId10"/>
    <p:sldId id="354" r:id="rId11"/>
    <p:sldId id="362" r:id="rId12"/>
    <p:sldId id="363" r:id="rId13"/>
    <p:sldId id="364" r:id="rId14"/>
    <p:sldId id="365" r:id="rId15"/>
    <p:sldId id="366" r:id="rId16"/>
    <p:sldId id="367" r:id="rId17"/>
    <p:sldId id="368" r:id="rId18"/>
    <p:sldId id="369" r:id="rId19"/>
    <p:sldId id="370" r:id="rId20"/>
    <p:sldId id="371" r:id="rId21"/>
    <p:sldId id="372" r:id="rId22"/>
  </p:sldIdLst>
  <p:sldSz cx="9144000" cy="6858000" type="screen4x3"/>
  <p:notesSz cx="6858000" cy="9144000"/>
  <p:defaultTextStyle>
    <a:defPPr>
      <a:defRPr lang="en-US"/>
    </a:defPPr>
    <a:lvl1pPr algn="l" rtl="0" eaLnBrk="0" fontAlgn="base" hangingPunct="0">
      <a:spcBef>
        <a:spcPct val="0"/>
      </a:spcBef>
      <a:spcAft>
        <a:spcPct val="0"/>
      </a:spcAft>
      <a:defRPr sz="2800" b="1"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sz="2800" b="1"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sz="2800" b="1"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sz="2800" b="1"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sz="2800" b="1" kern="1200">
        <a:solidFill>
          <a:schemeClr val="tx1"/>
        </a:solidFill>
        <a:latin typeface="Times New Roman" pitchFamily="18" charset="0"/>
        <a:ea typeface="宋体" pitchFamily="2" charset="-122"/>
        <a:cs typeface="+mn-cs"/>
      </a:defRPr>
    </a:lvl5pPr>
    <a:lvl6pPr marL="2286000" algn="l" defTabSz="914400" rtl="0" eaLnBrk="1" latinLnBrk="0" hangingPunct="1">
      <a:defRPr sz="2800" b="1" kern="1200">
        <a:solidFill>
          <a:schemeClr val="tx1"/>
        </a:solidFill>
        <a:latin typeface="Times New Roman" pitchFamily="18" charset="0"/>
        <a:ea typeface="宋体" pitchFamily="2" charset="-122"/>
        <a:cs typeface="+mn-cs"/>
      </a:defRPr>
    </a:lvl6pPr>
    <a:lvl7pPr marL="2743200" algn="l" defTabSz="914400" rtl="0" eaLnBrk="1" latinLnBrk="0" hangingPunct="1">
      <a:defRPr sz="2800" b="1" kern="1200">
        <a:solidFill>
          <a:schemeClr val="tx1"/>
        </a:solidFill>
        <a:latin typeface="Times New Roman" pitchFamily="18" charset="0"/>
        <a:ea typeface="宋体" pitchFamily="2" charset="-122"/>
        <a:cs typeface="+mn-cs"/>
      </a:defRPr>
    </a:lvl7pPr>
    <a:lvl8pPr marL="3200400" algn="l" defTabSz="914400" rtl="0" eaLnBrk="1" latinLnBrk="0" hangingPunct="1">
      <a:defRPr sz="2800" b="1" kern="1200">
        <a:solidFill>
          <a:schemeClr val="tx1"/>
        </a:solidFill>
        <a:latin typeface="Times New Roman" pitchFamily="18" charset="0"/>
        <a:ea typeface="宋体" pitchFamily="2" charset="-122"/>
        <a:cs typeface="+mn-cs"/>
      </a:defRPr>
    </a:lvl8pPr>
    <a:lvl9pPr marL="3657600" algn="l" defTabSz="914400" rtl="0" eaLnBrk="1" latinLnBrk="0" hangingPunct="1">
      <a:defRPr sz="2800" b="1"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a:srgbClr val="996600"/>
    <a:srgbClr val="0099FF"/>
    <a:srgbClr val="CC3300"/>
    <a:srgbClr val="FFFFFF"/>
    <a:srgbClr val="0000FF"/>
    <a:srgbClr val="FF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14" autoAdjust="0"/>
  </p:normalViewPr>
  <p:slideViewPr>
    <p:cSldViewPr snapToGrid="0">
      <p:cViewPr>
        <p:scale>
          <a:sx n="66" d="100"/>
          <a:sy n="66" d="100"/>
        </p:scale>
        <p:origin x="-870" y="-5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8"/>
    </p:cViewPr>
  </p:sorterViewPr>
  <p:notesViewPr>
    <p:cSldViewPr snapToGrid="0">
      <p:cViewPr varScale="1">
        <p:scale>
          <a:sx n="59" d="100"/>
          <a:sy n="59" d="100"/>
        </p:scale>
        <p:origin x="-1788" y="-90"/>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4.v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image" Target="../media/image11.wmf"/><Relationship Id="rId7" Type="http://schemas.openxmlformats.org/officeDocument/2006/relationships/image" Target="../media/image14.wmf"/><Relationship Id="rId2" Type="http://schemas.openxmlformats.org/officeDocument/2006/relationships/image" Target="../media/image10.wmf"/><Relationship Id="rId1" Type="http://schemas.openxmlformats.org/officeDocument/2006/relationships/image" Target="../media/image9.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6.wmf"/><Relationship Id="rId9"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5" Type="http://schemas.openxmlformats.org/officeDocument/2006/relationships/image" Target="../media/image22.wmf"/><Relationship Id="rId4"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5" Type="http://schemas.openxmlformats.org/officeDocument/2006/relationships/image" Target="../media/image27.wmf"/><Relationship Id="rId4"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 Id="rId4"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image" Target="../media/image29.wmf"/><Relationship Id="rId7" Type="http://schemas.openxmlformats.org/officeDocument/2006/relationships/image" Target="../media/image35.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1.wmf"/><Relationship Id="rId5" Type="http://schemas.openxmlformats.org/officeDocument/2006/relationships/image" Target="../media/image30.wmf"/><Relationship Id="rId10" Type="http://schemas.openxmlformats.org/officeDocument/2006/relationships/image" Target="../media/image38.wmf"/><Relationship Id="rId4" Type="http://schemas.openxmlformats.org/officeDocument/2006/relationships/image" Target="../media/image34.wmf"/><Relationship Id="rId9"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 Id="rId4" Type="http://schemas.openxmlformats.org/officeDocument/2006/relationships/image" Target="../media/image4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31.wmf"/><Relationship Id="rId1" Type="http://schemas.openxmlformats.org/officeDocument/2006/relationships/image" Target="../media/image44.wmf"/><Relationship Id="rId4" Type="http://schemas.openxmlformats.org/officeDocument/2006/relationships/image" Target="../media/image4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6.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 Id="rId5" Type="http://schemas.openxmlformats.org/officeDocument/2006/relationships/image" Target="../media/image54.wmf"/><Relationship Id="rId4" Type="http://schemas.openxmlformats.org/officeDocument/2006/relationships/image" Target="../media/image5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lvl1pPr>
          </a:lstStyle>
          <a:p>
            <a:pPr>
              <a:defRPr/>
            </a:pPr>
            <a:endParaRPr lang="zh-CN" altLang="en-US"/>
          </a:p>
        </p:txBody>
      </p:sp>
      <p:sp>
        <p:nvSpPr>
          <p:cNvPr id="512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lvl1pPr>
          </a:lstStyle>
          <a:p>
            <a:pPr>
              <a:defRPr/>
            </a:pPr>
            <a:endParaRPr lang="en-US" altLang="zh-CN"/>
          </a:p>
        </p:txBody>
      </p:sp>
      <p:sp>
        <p:nvSpPr>
          <p:cNvPr id="512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lvl1pPr>
          </a:lstStyle>
          <a:p>
            <a:pPr>
              <a:defRPr/>
            </a:pPr>
            <a:endParaRPr lang="en-US" altLang="zh-CN"/>
          </a:p>
        </p:txBody>
      </p:sp>
      <p:sp>
        <p:nvSpPr>
          <p:cNvPr id="512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lvl1pPr>
          </a:lstStyle>
          <a:p>
            <a:pPr>
              <a:defRPr/>
            </a:pPr>
            <a:fld id="{5013031D-B9CF-49A0-AB55-46DDA111695D}" type="slidenum">
              <a:rPr lang="zh-CN" altLang="en-US"/>
              <a:pPr>
                <a:defRPr/>
              </a:pPr>
              <a:t>‹#›</a:t>
            </a:fld>
            <a:endParaRPr lang="en-US" altLang="zh-CN"/>
          </a:p>
        </p:txBody>
      </p:sp>
    </p:spTree>
    <p:extLst>
      <p:ext uri="{BB962C8B-B14F-4D97-AF65-F5344CB8AC3E}">
        <p14:creationId xmlns:p14="http://schemas.microsoft.com/office/powerpoint/2010/main" val="3046207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lvl1pPr>
          </a:lstStyle>
          <a:p>
            <a:pPr>
              <a:defRPr/>
            </a:pPr>
            <a:endParaRPr lang="zh-CN" altLang="en-US"/>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lvl1pPr>
          </a:lstStyle>
          <a:p>
            <a:pPr>
              <a:defRPr/>
            </a:pPr>
            <a:endParaRPr lang="en-US" altLang="zh-CN"/>
          </a:p>
        </p:txBody>
      </p:sp>
      <p:sp>
        <p:nvSpPr>
          <p:cNvPr id="24580" name="Rectangle 4"/>
          <p:cNvSpPr>
            <a:spLocks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lvl1pPr>
          </a:lstStyle>
          <a:p>
            <a:pPr>
              <a:defRPr/>
            </a:pPr>
            <a:endParaRPr lang="en-US" altLang="zh-CN"/>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lvl1pPr>
          </a:lstStyle>
          <a:p>
            <a:pPr>
              <a:defRPr/>
            </a:pPr>
            <a:fld id="{763E7F6C-6072-4DB6-B3E1-25521DEB1538}" type="slidenum">
              <a:rPr lang="zh-CN" altLang="en-US"/>
              <a:pPr>
                <a:defRPr/>
              </a:pPr>
              <a:t>‹#›</a:t>
            </a:fld>
            <a:endParaRPr lang="en-US" altLang="zh-CN"/>
          </a:p>
        </p:txBody>
      </p:sp>
    </p:spTree>
    <p:extLst>
      <p:ext uri="{BB962C8B-B14F-4D97-AF65-F5344CB8AC3E}">
        <p14:creationId xmlns:p14="http://schemas.microsoft.com/office/powerpoint/2010/main" val="11765433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Freeform 2"/>
          <p:cNvSpPr>
            <a:spLocks/>
          </p:cNvSpPr>
          <p:nvPr/>
        </p:nvSpPr>
        <p:spPr bwMode="gray">
          <a:xfrm>
            <a:off x="690563" y="3340100"/>
            <a:ext cx="7653337" cy="485775"/>
          </a:xfrm>
          <a:custGeom>
            <a:avLst/>
            <a:gdLst>
              <a:gd name="T0" fmla="*/ 560286192 w 4128"/>
              <a:gd name="T1" fmla="*/ 205697824 h 479"/>
              <a:gd name="T2" fmla="*/ 2147483647 w 4128"/>
              <a:gd name="T3" fmla="*/ 205697824 h 479"/>
              <a:gd name="T4" fmla="*/ 2147483647 w 4128"/>
              <a:gd name="T5" fmla="*/ 441221624 h 479"/>
              <a:gd name="T6" fmla="*/ 0 w 4128"/>
              <a:gd name="T7" fmla="*/ 453563757 h 479"/>
              <a:gd name="T8" fmla="*/ 560286192 w 4128"/>
              <a:gd name="T9" fmla="*/ 205697824 h 4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28" h="479">
                <a:moveTo>
                  <a:pt x="163" y="200"/>
                </a:moveTo>
                <a:cubicBezTo>
                  <a:pt x="163" y="200"/>
                  <a:pt x="2054" y="0"/>
                  <a:pt x="4128" y="200"/>
                </a:cubicBezTo>
                <a:cubicBezTo>
                  <a:pt x="4128" y="200"/>
                  <a:pt x="4128" y="314"/>
                  <a:pt x="4128" y="429"/>
                </a:cubicBezTo>
                <a:cubicBezTo>
                  <a:pt x="2371" y="200"/>
                  <a:pt x="688" y="479"/>
                  <a:pt x="0" y="441"/>
                </a:cubicBezTo>
                <a:lnTo>
                  <a:pt x="163" y="200"/>
                </a:lnTo>
                <a:close/>
              </a:path>
            </a:pathLst>
          </a:custGeom>
          <a:solidFill>
            <a:schemeClr val="hlink">
              <a:alpha val="50195"/>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zh-CN" altLang="en-US"/>
          </a:p>
        </p:txBody>
      </p:sp>
      <p:sp>
        <p:nvSpPr>
          <p:cNvPr id="3075" name="Rectangle 3"/>
          <p:cNvSpPr>
            <a:spLocks noGrp="1" noChangeArrowheads="1"/>
          </p:cNvSpPr>
          <p:nvPr>
            <p:ph type="ctrTitle"/>
          </p:nvPr>
        </p:nvSpPr>
        <p:spPr>
          <a:xfrm>
            <a:off x="685800" y="2286000"/>
            <a:ext cx="7772400" cy="1143000"/>
          </a:xfrm>
        </p:spPr>
        <p:txBody>
          <a:bodyPr/>
          <a:lstStyle>
            <a:lvl1pPr>
              <a:defRPr kumimoji="0" sz="4800"/>
            </a:lvl1pPr>
          </a:lstStyle>
          <a:p>
            <a:pPr lvl="0"/>
            <a:r>
              <a:rPr lang="zh-CN" altLang="en-US" noProof="0" smtClean="0"/>
              <a:t>单击此处编辑母版标题样式</a:t>
            </a:r>
            <a:endParaRPr lang="zh-CN" altLang="zh-CN" noProof="0" smtClean="0"/>
          </a:p>
        </p:txBody>
      </p:sp>
      <p:sp>
        <p:nvSpPr>
          <p:cNvPr id="3076" name="Rectangle 4"/>
          <p:cNvSpPr>
            <a:spLocks noGrp="1" noChangeArrowheads="1"/>
          </p:cNvSpPr>
          <p:nvPr>
            <p:ph type="subTitle" idx="1"/>
          </p:nvPr>
        </p:nvSpPr>
        <p:spPr>
          <a:xfrm>
            <a:off x="1371600" y="3886200"/>
            <a:ext cx="6400800" cy="1752600"/>
          </a:xfrm>
        </p:spPr>
        <p:txBody>
          <a:bodyPr/>
          <a:lstStyle>
            <a:lvl1pPr marL="0" indent="0">
              <a:spcBef>
                <a:spcPct val="0"/>
              </a:spcBef>
              <a:buClrTx/>
              <a:buFontTx/>
              <a:buNone/>
              <a:defRPr kumimoji="0">
                <a:solidFill>
                  <a:srgbClr val="333333"/>
                </a:solidFill>
              </a:defRPr>
            </a:lvl1pPr>
          </a:lstStyle>
          <a:p>
            <a:pPr lvl="0"/>
            <a:r>
              <a:rPr lang="zh-CN" altLang="en-US" noProof="0" smtClean="0"/>
              <a:t>单击此处编辑母版副标题样式</a:t>
            </a:r>
          </a:p>
        </p:txBody>
      </p:sp>
      <p:sp>
        <p:nvSpPr>
          <p:cNvPr id="5" name="Rectangle 5"/>
          <p:cNvSpPr>
            <a:spLocks noGrp="1" noChangeArrowheads="1"/>
          </p:cNvSpPr>
          <p:nvPr>
            <p:ph type="dt" sz="half" idx="10"/>
          </p:nvPr>
        </p:nvSpPr>
        <p:spPr/>
        <p:txBody>
          <a:bodyPr/>
          <a:lstStyle>
            <a:lvl1pPr>
              <a:defRPr>
                <a:solidFill>
                  <a:srgbClr val="578963"/>
                </a:solidFill>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solidFill>
                  <a:srgbClr val="578963"/>
                </a:solidFill>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pPr>
              <a:defRPr/>
            </a:pPr>
            <a:fld id="{34D38617-C12B-4013-8BF0-723192ADE5A3}" type="slidenum">
              <a:rPr lang="zh-CN" altLang="en-US"/>
              <a:pPr>
                <a:defRPr/>
              </a:pPr>
              <a:t>‹#›</a:t>
            </a:fld>
            <a:endParaRPr lang="en-US" altLang="zh-CN"/>
          </a:p>
        </p:txBody>
      </p:sp>
    </p:spTree>
    <p:extLst>
      <p:ext uri="{BB962C8B-B14F-4D97-AF65-F5344CB8AC3E}">
        <p14:creationId xmlns:p14="http://schemas.microsoft.com/office/powerpoint/2010/main" val="3526818682"/>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58EBB6D-A8E3-42B7-9C12-9551372542B1}" type="slidenum">
              <a:rPr lang="zh-CN" altLang="en-US"/>
              <a:pPr>
                <a:defRPr/>
              </a:pPr>
              <a:t>‹#›</a:t>
            </a:fld>
            <a:endParaRPr lang="en-US" altLang="zh-CN"/>
          </a:p>
        </p:txBody>
      </p:sp>
    </p:spTree>
    <p:extLst>
      <p:ext uri="{BB962C8B-B14F-4D97-AF65-F5344CB8AC3E}">
        <p14:creationId xmlns:p14="http://schemas.microsoft.com/office/powerpoint/2010/main" val="2942615180"/>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9B585A9-08AB-48D3-A641-FC17FCDD0BA4}" type="slidenum">
              <a:rPr lang="zh-CN" altLang="en-US"/>
              <a:pPr>
                <a:defRPr/>
              </a:pPr>
              <a:t>‹#›</a:t>
            </a:fld>
            <a:endParaRPr lang="en-US" altLang="zh-CN"/>
          </a:p>
        </p:txBody>
      </p:sp>
    </p:spTree>
    <p:extLst>
      <p:ext uri="{BB962C8B-B14F-4D97-AF65-F5344CB8AC3E}">
        <p14:creationId xmlns:p14="http://schemas.microsoft.com/office/powerpoint/2010/main" val="2449201589"/>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DB42477-A8A2-42FE-B920-209F34E97D3D}" type="slidenum">
              <a:rPr lang="zh-CN" altLang="en-US"/>
              <a:pPr>
                <a:defRPr/>
              </a:pPr>
              <a:t>‹#›</a:t>
            </a:fld>
            <a:endParaRPr lang="en-US" altLang="zh-CN"/>
          </a:p>
        </p:txBody>
      </p:sp>
    </p:spTree>
    <p:extLst>
      <p:ext uri="{BB962C8B-B14F-4D97-AF65-F5344CB8AC3E}">
        <p14:creationId xmlns:p14="http://schemas.microsoft.com/office/powerpoint/2010/main" val="1473283030"/>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5A809C3E-6DB9-4D08-ADED-0B25CDA9E11C}" type="slidenum">
              <a:rPr lang="zh-CN" altLang="en-US"/>
              <a:pPr>
                <a:defRPr/>
              </a:pPr>
              <a:t>‹#›</a:t>
            </a:fld>
            <a:endParaRPr lang="en-US" altLang="zh-CN"/>
          </a:p>
        </p:txBody>
      </p:sp>
    </p:spTree>
    <p:extLst>
      <p:ext uri="{BB962C8B-B14F-4D97-AF65-F5344CB8AC3E}">
        <p14:creationId xmlns:p14="http://schemas.microsoft.com/office/powerpoint/2010/main" val="1184432584"/>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9C5071F6-E0D4-4DD3-A8C2-3995D69DAF97}" type="slidenum">
              <a:rPr lang="zh-CN" altLang="en-US"/>
              <a:pPr>
                <a:defRPr/>
              </a:pPr>
              <a:t>‹#›</a:t>
            </a:fld>
            <a:endParaRPr lang="en-US" altLang="zh-CN"/>
          </a:p>
        </p:txBody>
      </p:sp>
    </p:spTree>
    <p:extLst>
      <p:ext uri="{BB962C8B-B14F-4D97-AF65-F5344CB8AC3E}">
        <p14:creationId xmlns:p14="http://schemas.microsoft.com/office/powerpoint/2010/main" val="2994360612"/>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D0887B0F-9700-4050-BB6F-935D68E810E6}" type="slidenum">
              <a:rPr lang="zh-CN" altLang="en-US"/>
              <a:pPr>
                <a:defRPr/>
              </a:pPr>
              <a:t>‹#›</a:t>
            </a:fld>
            <a:endParaRPr lang="en-US" altLang="zh-CN"/>
          </a:p>
        </p:txBody>
      </p:sp>
    </p:spTree>
    <p:extLst>
      <p:ext uri="{BB962C8B-B14F-4D97-AF65-F5344CB8AC3E}">
        <p14:creationId xmlns:p14="http://schemas.microsoft.com/office/powerpoint/2010/main" val="2549149828"/>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8D35ADE-AA31-4A52-A9D7-13E512CE46ED}" type="slidenum">
              <a:rPr lang="zh-CN" altLang="en-US"/>
              <a:pPr>
                <a:defRPr/>
              </a:pPr>
              <a:t>‹#›</a:t>
            </a:fld>
            <a:endParaRPr lang="en-US" altLang="zh-CN"/>
          </a:p>
        </p:txBody>
      </p:sp>
    </p:spTree>
    <p:extLst>
      <p:ext uri="{BB962C8B-B14F-4D97-AF65-F5344CB8AC3E}">
        <p14:creationId xmlns:p14="http://schemas.microsoft.com/office/powerpoint/2010/main" val="1802692987"/>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327F1EC-7B6C-451F-A862-3587231B6C12}" type="slidenum">
              <a:rPr lang="zh-CN" altLang="en-US"/>
              <a:pPr>
                <a:defRPr/>
              </a:pPr>
              <a:t>‹#›</a:t>
            </a:fld>
            <a:endParaRPr lang="en-US" altLang="zh-CN"/>
          </a:p>
        </p:txBody>
      </p:sp>
    </p:spTree>
    <p:extLst>
      <p:ext uri="{BB962C8B-B14F-4D97-AF65-F5344CB8AC3E}">
        <p14:creationId xmlns:p14="http://schemas.microsoft.com/office/powerpoint/2010/main" val="2972733247"/>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5481098-EC17-49A7-A2A9-92BEBA33409E}" type="slidenum">
              <a:rPr lang="zh-CN" altLang="en-US"/>
              <a:pPr>
                <a:defRPr/>
              </a:pPr>
              <a:t>‹#›</a:t>
            </a:fld>
            <a:endParaRPr lang="en-US" altLang="zh-CN"/>
          </a:p>
        </p:txBody>
      </p:sp>
    </p:spTree>
    <p:extLst>
      <p:ext uri="{BB962C8B-B14F-4D97-AF65-F5344CB8AC3E}">
        <p14:creationId xmlns:p14="http://schemas.microsoft.com/office/powerpoint/2010/main" val="3294915155"/>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457200"/>
            <a:ext cx="1943100" cy="5638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457200"/>
            <a:ext cx="5676900" cy="5638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3712F2F-F3F9-4416-898C-C93389D4C849}" type="slidenum">
              <a:rPr lang="zh-CN" altLang="en-US"/>
              <a:pPr>
                <a:defRPr/>
              </a:pPr>
              <a:t>‹#›</a:t>
            </a:fld>
            <a:endParaRPr lang="en-US" altLang="zh-CN"/>
          </a:p>
        </p:txBody>
      </p:sp>
    </p:spTree>
    <p:extLst>
      <p:ext uri="{BB962C8B-B14F-4D97-AF65-F5344CB8AC3E}">
        <p14:creationId xmlns:p14="http://schemas.microsoft.com/office/powerpoint/2010/main" val="4240854704"/>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85800"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3075"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052"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spcBef>
                <a:spcPct val="50000"/>
              </a:spcBef>
              <a:defRPr sz="1400" b="0">
                <a:solidFill>
                  <a:schemeClr val="bg2"/>
                </a:solidFill>
              </a:defRPr>
            </a:lvl1pPr>
          </a:lstStyle>
          <a:p>
            <a:pPr>
              <a:defRPr/>
            </a:pPr>
            <a:endParaRPr lang="en-US" altLang="zh-CN"/>
          </a:p>
        </p:txBody>
      </p:sp>
      <p:sp>
        <p:nvSpPr>
          <p:cNvPr id="2053"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eaLnBrk="1" hangingPunct="1">
              <a:spcBef>
                <a:spcPct val="50000"/>
              </a:spcBef>
              <a:defRPr sz="1400" b="0">
                <a:solidFill>
                  <a:schemeClr val="bg2"/>
                </a:solidFill>
              </a:defRPr>
            </a:lvl1pPr>
          </a:lstStyle>
          <a:p>
            <a:pPr>
              <a:defRPr/>
            </a:pPr>
            <a:endParaRPr lang="en-US" altLang="zh-CN"/>
          </a:p>
        </p:txBody>
      </p:sp>
      <p:sp>
        <p:nvSpPr>
          <p:cNvPr id="2054"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spcBef>
                <a:spcPct val="50000"/>
              </a:spcBef>
              <a:defRPr sz="1400" b="0">
                <a:solidFill>
                  <a:schemeClr val="bg2"/>
                </a:solidFill>
              </a:defRPr>
            </a:lvl1pPr>
          </a:lstStyle>
          <a:p>
            <a:pPr>
              <a:defRPr/>
            </a:pPr>
            <a:fld id="{20170879-6562-49C2-9E68-B2B800CB1D60}"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84"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random/>
  </p:transition>
  <p:hf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l"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l"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l"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bg2"/>
        </a:buClr>
        <a:buFont typeface="Monotype Sorts" pitchFamily="2"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10" Type="http://schemas.openxmlformats.org/officeDocument/2006/relationships/image" Target="../media/image4.wmf"/><Relationship Id="rId4" Type="http://schemas.openxmlformats.org/officeDocument/2006/relationships/image" Target="../media/image1.wmf"/><Relationship Id="rId9"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6.bin"/><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ontrol" Target="../activeX/activeX1.xml"/><Relationship Id="rId1" Type="http://schemas.openxmlformats.org/officeDocument/2006/relationships/vmlDrawing" Target="../drawings/vmlDrawing3.v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12.bin"/><Relationship Id="rId18" Type="http://schemas.openxmlformats.org/officeDocument/2006/relationships/image" Target="../media/image15.w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2.wmf"/><Relationship Id="rId17" Type="http://schemas.openxmlformats.org/officeDocument/2006/relationships/oleObject" Target="../embeddings/oleObject14.bin"/><Relationship Id="rId2" Type="http://schemas.openxmlformats.org/officeDocument/2006/relationships/slideLayout" Target="../slideLayouts/slideLayout7.xml"/><Relationship Id="rId16" Type="http://schemas.openxmlformats.org/officeDocument/2006/relationships/image" Target="../media/image14.wmf"/><Relationship Id="rId20" Type="http://schemas.openxmlformats.org/officeDocument/2006/relationships/image" Target="../media/image16.wmf"/><Relationship Id="rId1" Type="http://schemas.openxmlformats.org/officeDocument/2006/relationships/vmlDrawing" Target="../drawings/vmlDrawing4.vml"/><Relationship Id="rId6" Type="http://schemas.openxmlformats.org/officeDocument/2006/relationships/image" Target="../media/image10.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6.wmf"/><Relationship Id="rId19" Type="http://schemas.openxmlformats.org/officeDocument/2006/relationships/oleObject" Target="../embeddings/oleObject15.bin"/><Relationship Id="rId4" Type="http://schemas.openxmlformats.org/officeDocument/2006/relationships/image" Target="../media/image9.wmf"/><Relationship Id="rId9" Type="http://schemas.openxmlformats.org/officeDocument/2006/relationships/oleObject" Target="../embeddings/oleObject10.bin"/><Relationship Id="rId14" Type="http://schemas.openxmlformats.org/officeDocument/2006/relationships/image" Target="../media/image13.wmf"/></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6.bin"/><Relationship Id="rId7" Type="http://schemas.openxmlformats.org/officeDocument/2006/relationships/oleObject" Target="../embeddings/oleObject18.bin"/><Relationship Id="rId12" Type="http://schemas.openxmlformats.org/officeDocument/2006/relationships/image" Target="../media/image22.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9.wmf"/><Relationship Id="rId11" Type="http://schemas.openxmlformats.org/officeDocument/2006/relationships/oleObject" Target="../embeddings/oleObject20.bin"/><Relationship Id="rId5" Type="http://schemas.openxmlformats.org/officeDocument/2006/relationships/oleObject" Target="../embeddings/oleObject17.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19.bin"/></Relationships>
</file>

<file path=ppt/slides/_rels/slide10.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27.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4.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24.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9.wmf"/><Relationship Id="rId11" Type="http://schemas.openxmlformats.org/officeDocument/2006/relationships/image" Target="../media/image31.wmf"/><Relationship Id="rId5" Type="http://schemas.openxmlformats.org/officeDocument/2006/relationships/oleObject" Target="../embeddings/oleObject27.bin"/><Relationship Id="rId10" Type="http://schemas.openxmlformats.org/officeDocument/2006/relationships/oleObject" Target="../embeddings/oleObject30.bin"/><Relationship Id="rId4" Type="http://schemas.openxmlformats.org/officeDocument/2006/relationships/image" Target="../media/image28.wmf"/><Relationship Id="rId9" Type="http://schemas.openxmlformats.org/officeDocument/2006/relationships/image" Target="../media/image30.wmf"/></Relationships>
</file>

<file path=ppt/slides/_rels/slide12.xml.rels><?xml version="1.0" encoding="UTF-8" standalone="yes"?>
<Relationships xmlns="http://schemas.openxmlformats.org/package/2006/relationships"><Relationship Id="rId8" Type="http://schemas.openxmlformats.org/officeDocument/2006/relationships/image" Target="../media/image29.wmf"/><Relationship Id="rId13" Type="http://schemas.openxmlformats.org/officeDocument/2006/relationships/oleObject" Target="../embeddings/oleObject36.bin"/><Relationship Id="rId18" Type="http://schemas.openxmlformats.org/officeDocument/2006/relationships/image" Target="../media/image36.wmf"/><Relationship Id="rId3" Type="http://schemas.openxmlformats.org/officeDocument/2006/relationships/oleObject" Target="../embeddings/oleObject31.bin"/><Relationship Id="rId21" Type="http://schemas.openxmlformats.org/officeDocument/2006/relationships/oleObject" Target="../embeddings/oleObject40.bin"/><Relationship Id="rId7" Type="http://schemas.openxmlformats.org/officeDocument/2006/relationships/oleObject" Target="../embeddings/oleObject33.bin"/><Relationship Id="rId12" Type="http://schemas.openxmlformats.org/officeDocument/2006/relationships/image" Target="../media/image30.wmf"/><Relationship Id="rId17" Type="http://schemas.openxmlformats.org/officeDocument/2006/relationships/oleObject" Target="../embeddings/oleObject38.bin"/><Relationship Id="rId2" Type="http://schemas.openxmlformats.org/officeDocument/2006/relationships/slideLayout" Target="../slideLayouts/slideLayout7.xml"/><Relationship Id="rId16" Type="http://schemas.openxmlformats.org/officeDocument/2006/relationships/image" Target="../media/image35.wmf"/><Relationship Id="rId20" Type="http://schemas.openxmlformats.org/officeDocument/2006/relationships/image" Target="../media/image37.wmf"/><Relationship Id="rId1" Type="http://schemas.openxmlformats.org/officeDocument/2006/relationships/vmlDrawing" Target="../drawings/vmlDrawing8.vml"/><Relationship Id="rId6" Type="http://schemas.openxmlformats.org/officeDocument/2006/relationships/image" Target="../media/image33.wmf"/><Relationship Id="rId11" Type="http://schemas.openxmlformats.org/officeDocument/2006/relationships/oleObject" Target="../embeddings/oleObject35.bin"/><Relationship Id="rId5" Type="http://schemas.openxmlformats.org/officeDocument/2006/relationships/oleObject" Target="../embeddings/oleObject32.bin"/><Relationship Id="rId15" Type="http://schemas.openxmlformats.org/officeDocument/2006/relationships/oleObject" Target="../embeddings/oleObject37.bin"/><Relationship Id="rId10" Type="http://schemas.openxmlformats.org/officeDocument/2006/relationships/image" Target="../media/image34.wmf"/><Relationship Id="rId19" Type="http://schemas.openxmlformats.org/officeDocument/2006/relationships/oleObject" Target="../embeddings/oleObject39.bin"/><Relationship Id="rId4" Type="http://schemas.openxmlformats.org/officeDocument/2006/relationships/image" Target="../media/image32.wmf"/><Relationship Id="rId9" Type="http://schemas.openxmlformats.org/officeDocument/2006/relationships/oleObject" Target="../embeddings/oleObject34.bin"/><Relationship Id="rId14" Type="http://schemas.openxmlformats.org/officeDocument/2006/relationships/image" Target="../media/image31.wmf"/><Relationship Id="rId22" Type="http://schemas.openxmlformats.org/officeDocument/2006/relationships/image" Target="../media/image38.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39.wmf"/></Relationships>
</file>

<file path=ppt/slides/_rels/slide14.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41.wmf"/><Relationship Id="rId5" Type="http://schemas.openxmlformats.org/officeDocument/2006/relationships/oleObject" Target="../embeddings/oleObject43.bin"/><Relationship Id="rId10" Type="http://schemas.openxmlformats.org/officeDocument/2006/relationships/image" Target="../media/image43.wmf"/><Relationship Id="rId4" Type="http://schemas.openxmlformats.org/officeDocument/2006/relationships/image" Target="../media/image40.wmf"/><Relationship Id="rId9" Type="http://schemas.openxmlformats.org/officeDocument/2006/relationships/oleObject" Target="../embeddings/oleObject45.bin"/></Relationships>
</file>

<file path=ppt/slides/_rels/slide15.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46.bin"/><Relationship Id="rId7"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1.wmf"/><Relationship Id="rId5" Type="http://schemas.openxmlformats.org/officeDocument/2006/relationships/oleObject" Target="../embeddings/oleObject47.bin"/><Relationship Id="rId10" Type="http://schemas.openxmlformats.org/officeDocument/2006/relationships/image" Target="../media/image45.wmf"/><Relationship Id="rId4" Type="http://schemas.openxmlformats.org/officeDocument/2006/relationships/image" Target="../media/image44.wmf"/><Relationship Id="rId9" Type="http://schemas.openxmlformats.org/officeDocument/2006/relationships/oleObject" Target="../embeddings/oleObject49.bin"/></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ontrol" Target="../activeX/activeX2.xml"/><Relationship Id="rId1" Type="http://schemas.openxmlformats.org/officeDocument/2006/relationships/vmlDrawing" Target="../drawings/vmlDrawing12.vml"/><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51.bin"/><Relationship Id="rId5" Type="http://schemas.openxmlformats.org/officeDocument/2006/relationships/image" Target="../media/image48.wmf"/><Relationship Id="rId4" Type="http://schemas.openxmlformats.org/officeDocument/2006/relationships/oleObject" Target="../embeddings/oleObject50.bin"/></Relationships>
</file>

<file path=ppt/slides/_rels/slide18.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52.bin"/><Relationship Id="rId7" Type="http://schemas.openxmlformats.org/officeDocument/2006/relationships/oleObject" Target="../embeddings/oleObject54.bin"/><Relationship Id="rId12" Type="http://schemas.openxmlformats.org/officeDocument/2006/relationships/image" Target="../media/image54.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51.wmf"/><Relationship Id="rId11" Type="http://schemas.openxmlformats.org/officeDocument/2006/relationships/oleObject" Target="../embeddings/oleObject56.bin"/><Relationship Id="rId5" Type="http://schemas.openxmlformats.org/officeDocument/2006/relationships/oleObject" Target="../embeddings/oleObject53.bin"/><Relationship Id="rId10" Type="http://schemas.openxmlformats.org/officeDocument/2006/relationships/image" Target="../media/image53.wmf"/><Relationship Id="rId4" Type="http://schemas.openxmlformats.org/officeDocument/2006/relationships/image" Target="../media/image50.wmf"/><Relationship Id="rId9" Type="http://schemas.openxmlformats.org/officeDocument/2006/relationships/oleObject" Target="../embeddings/oleObject55.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15.vml"/><Relationship Id="rId4" Type="http://schemas.openxmlformats.org/officeDocument/2006/relationships/image" Target="../media/image55.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1543" name="Group 39"/>
          <p:cNvGrpSpPr>
            <a:grpSpLocks/>
          </p:cNvGrpSpPr>
          <p:nvPr/>
        </p:nvGrpSpPr>
        <p:grpSpPr bwMode="auto">
          <a:xfrm>
            <a:off x="2017713" y="765175"/>
            <a:ext cx="5545137" cy="4343400"/>
            <a:chOff x="1271" y="482"/>
            <a:chExt cx="3493" cy="2736"/>
          </a:xfrm>
        </p:grpSpPr>
        <p:sp>
          <p:nvSpPr>
            <p:cNvPr id="5124" name="Text Box 25"/>
            <p:cNvSpPr txBox="1">
              <a:spLocks noChangeArrowheads="1"/>
            </p:cNvSpPr>
            <p:nvPr/>
          </p:nvSpPr>
          <p:spPr bwMode="auto">
            <a:xfrm>
              <a:off x="1312" y="1139"/>
              <a:ext cx="2852" cy="32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2800">
                  <a:solidFill>
                    <a:srgbClr val="000000"/>
                  </a:solidFill>
                </a:rPr>
                <a:t>§12.5  </a:t>
              </a:r>
              <a:r>
                <a:rPr kumimoji="0" lang="zh-CN" altLang="en-US" sz="2800">
                  <a:solidFill>
                    <a:srgbClr val="000000"/>
                  </a:solidFill>
                </a:rPr>
                <a:t>光的偏振</a:t>
              </a:r>
              <a:endParaRPr kumimoji="0" lang="zh-CN" altLang="en-US" sz="2400" b="0"/>
            </a:p>
          </p:txBody>
        </p:sp>
        <p:sp>
          <p:nvSpPr>
            <p:cNvPr id="5125" name="Text Box 30"/>
            <p:cNvSpPr txBox="1">
              <a:spLocks noChangeArrowheads="1"/>
            </p:cNvSpPr>
            <p:nvPr/>
          </p:nvSpPr>
          <p:spPr bwMode="auto">
            <a:xfrm>
              <a:off x="1271" y="482"/>
              <a:ext cx="2782" cy="36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ClrTx/>
                <a:buFontTx/>
                <a:buNone/>
              </a:pPr>
              <a:r>
                <a:rPr kumimoji="0" lang="zh-CN" altLang="en-US">
                  <a:solidFill>
                    <a:srgbClr val="000000"/>
                  </a:solidFill>
                </a:rPr>
                <a:t>第十二章   波动光学</a:t>
              </a:r>
              <a:endParaRPr lang="zh-CN" altLang="en-US">
                <a:solidFill>
                  <a:srgbClr val="000000"/>
                </a:solidFill>
              </a:endParaRPr>
            </a:p>
          </p:txBody>
        </p:sp>
        <p:sp>
          <p:nvSpPr>
            <p:cNvPr id="5126" name="Text Box 32"/>
            <p:cNvSpPr txBox="1">
              <a:spLocks noChangeArrowheads="1"/>
            </p:cNvSpPr>
            <p:nvPr/>
          </p:nvSpPr>
          <p:spPr bwMode="auto">
            <a:xfrm>
              <a:off x="1912" y="2015"/>
              <a:ext cx="2852" cy="32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Char char="•"/>
              </a:pPr>
              <a:r>
                <a:rPr lang="en-US" altLang="zh-CN" sz="2800">
                  <a:solidFill>
                    <a:srgbClr val="000000"/>
                  </a:solidFill>
                </a:rPr>
                <a:t> </a:t>
              </a:r>
              <a:r>
                <a:rPr lang="zh-CN" altLang="en-US" sz="2800">
                  <a:solidFill>
                    <a:srgbClr val="000000"/>
                  </a:solidFill>
                </a:rPr>
                <a:t>起偏和检偏</a:t>
              </a:r>
              <a:endParaRPr lang="en-US" altLang="zh-CN" sz="2800">
                <a:solidFill>
                  <a:srgbClr val="000000"/>
                </a:solidFill>
              </a:endParaRPr>
            </a:p>
          </p:txBody>
        </p:sp>
        <p:sp>
          <p:nvSpPr>
            <p:cNvPr id="5127" name="Text Box 33"/>
            <p:cNvSpPr txBox="1">
              <a:spLocks noChangeArrowheads="1"/>
            </p:cNvSpPr>
            <p:nvPr/>
          </p:nvSpPr>
          <p:spPr bwMode="auto">
            <a:xfrm>
              <a:off x="1912" y="1577"/>
              <a:ext cx="2852" cy="32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Char char="•"/>
              </a:pPr>
              <a:r>
                <a:rPr lang="en-US" altLang="zh-CN" sz="2800">
                  <a:solidFill>
                    <a:srgbClr val="000000"/>
                  </a:solidFill>
                </a:rPr>
                <a:t> </a:t>
              </a:r>
              <a:r>
                <a:rPr lang="zh-CN" altLang="en-US" sz="2800">
                  <a:solidFill>
                    <a:srgbClr val="000000"/>
                  </a:solidFill>
                </a:rPr>
                <a:t>自然光和偏振光</a:t>
              </a:r>
              <a:endParaRPr lang="en-US" altLang="zh-CN" sz="2800">
                <a:solidFill>
                  <a:srgbClr val="000000"/>
                </a:solidFill>
              </a:endParaRPr>
            </a:p>
          </p:txBody>
        </p:sp>
        <p:sp>
          <p:nvSpPr>
            <p:cNvPr id="5128" name="Text Box 34"/>
            <p:cNvSpPr txBox="1">
              <a:spLocks noChangeArrowheads="1"/>
            </p:cNvSpPr>
            <p:nvPr/>
          </p:nvSpPr>
          <p:spPr bwMode="auto">
            <a:xfrm>
              <a:off x="1912" y="2453"/>
              <a:ext cx="2852" cy="32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Char char="•"/>
              </a:pPr>
              <a:r>
                <a:rPr lang="en-US" altLang="zh-CN" sz="2800">
                  <a:solidFill>
                    <a:srgbClr val="000000"/>
                  </a:solidFill>
                </a:rPr>
                <a:t> </a:t>
              </a:r>
              <a:r>
                <a:rPr lang="zh-CN" altLang="en-US" sz="2800">
                  <a:solidFill>
                    <a:srgbClr val="000000"/>
                  </a:solidFill>
                </a:rPr>
                <a:t>马吕斯定律</a:t>
              </a:r>
            </a:p>
          </p:txBody>
        </p:sp>
        <p:sp>
          <p:nvSpPr>
            <p:cNvPr id="5129" name="Text Box 35"/>
            <p:cNvSpPr txBox="1">
              <a:spLocks noChangeArrowheads="1"/>
            </p:cNvSpPr>
            <p:nvPr/>
          </p:nvSpPr>
          <p:spPr bwMode="auto">
            <a:xfrm>
              <a:off x="1912" y="2891"/>
              <a:ext cx="2852" cy="32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Char char="•"/>
              </a:pPr>
              <a:r>
                <a:rPr lang="en-US" altLang="zh-CN" sz="2800">
                  <a:solidFill>
                    <a:srgbClr val="000000"/>
                  </a:solidFill>
                </a:rPr>
                <a:t> </a:t>
              </a:r>
              <a:r>
                <a:rPr lang="zh-CN" altLang="en-US" sz="2800">
                  <a:solidFill>
                    <a:srgbClr val="000000"/>
                  </a:solidFill>
                </a:rPr>
                <a:t>布儒斯特定律</a:t>
              </a:r>
            </a:p>
          </p:txBody>
        </p:sp>
      </p:grpSp>
      <p:sp>
        <p:nvSpPr>
          <p:cNvPr id="5123" name="Text Box 35"/>
          <p:cNvSpPr txBox="1">
            <a:spLocks noChangeArrowheads="1"/>
          </p:cNvSpPr>
          <p:nvPr/>
        </p:nvSpPr>
        <p:spPr bwMode="auto">
          <a:xfrm>
            <a:off x="3035300" y="5241925"/>
            <a:ext cx="4527550" cy="51911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Char char="•"/>
            </a:pPr>
            <a:r>
              <a:rPr lang="en-US" altLang="zh-CN" sz="2800">
                <a:solidFill>
                  <a:srgbClr val="000000"/>
                </a:solidFill>
              </a:rPr>
              <a:t> </a:t>
            </a:r>
            <a:r>
              <a:rPr lang="zh-CN" altLang="en-US" sz="2800">
                <a:solidFill>
                  <a:srgbClr val="000000"/>
                </a:solidFill>
              </a:rPr>
              <a:t>光的双折射</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1543"/>
                                        </p:tgtEl>
                                        <p:attrNameLst>
                                          <p:attrName>style.visibility</p:attrName>
                                        </p:attrNameLst>
                                      </p:cBhvr>
                                      <p:to>
                                        <p:strVal val="visible"/>
                                      </p:to>
                                    </p:set>
                                    <p:animEffect transition="in" filter="wipe(up)">
                                      <p:cBhvr>
                                        <p:cTn id="7" dur="500"/>
                                        <p:tgtEl>
                                          <p:spTgt spid="21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50000"/>
              </a:spcBef>
              <a:buClrTx/>
              <a:buFontTx/>
              <a:buNone/>
            </a:pPr>
            <a:fld id="{7988BE6C-D78B-480A-849F-F75451F75CEF}" type="slidenum">
              <a:rPr kumimoji="0" lang="zh-CN" altLang="en-US" sz="1400" smtClean="0">
                <a:solidFill>
                  <a:schemeClr val="bg2"/>
                </a:solidFill>
              </a:rPr>
              <a:pPr>
                <a:spcBef>
                  <a:spcPct val="50000"/>
                </a:spcBef>
                <a:buClrTx/>
                <a:buFontTx/>
                <a:buNone/>
              </a:pPr>
              <a:t>2</a:t>
            </a:fld>
            <a:endParaRPr kumimoji="0" lang="en-US" altLang="zh-CN" sz="1400" smtClean="0">
              <a:solidFill>
                <a:schemeClr val="bg2"/>
              </a:solidFill>
            </a:endParaRPr>
          </a:p>
        </p:txBody>
      </p:sp>
      <p:grpSp>
        <p:nvGrpSpPr>
          <p:cNvPr id="130090" name="Group 42"/>
          <p:cNvGrpSpPr>
            <a:grpSpLocks/>
          </p:cNvGrpSpPr>
          <p:nvPr/>
        </p:nvGrpSpPr>
        <p:grpSpPr bwMode="auto">
          <a:xfrm>
            <a:off x="1281113" y="1333500"/>
            <a:ext cx="7315200" cy="455613"/>
            <a:chOff x="807" y="840"/>
            <a:chExt cx="4608" cy="287"/>
          </a:xfrm>
        </p:grpSpPr>
        <p:sp>
          <p:nvSpPr>
            <p:cNvPr id="6183" name="Text Box 3"/>
            <p:cNvSpPr txBox="1">
              <a:spLocks noChangeArrowheads="1"/>
            </p:cNvSpPr>
            <p:nvPr/>
          </p:nvSpPr>
          <p:spPr bwMode="auto">
            <a:xfrm>
              <a:off x="807" y="840"/>
              <a:ext cx="46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85000"/>
                </a:lnSpc>
                <a:spcBef>
                  <a:spcPct val="50000"/>
                </a:spcBef>
                <a:buClrTx/>
                <a:buFontTx/>
                <a:buNone/>
              </a:pPr>
              <a:r>
                <a:rPr kumimoji="0" lang="zh-CN" altLang="en-US" sz="2800">
                  <a:solidFill>
                    <a:srgbClr val="080808"/>
                  </a:solidFill>
                </a:rPr>
                <a:t>光的</a:t>
              </a:r>
              <a:r>
                <a:rPr kumimoji="0" lang="zh-CN" altLang="en-US" sz="2800">
                  <a:solidFill>
                    <a:srgbClr val="0000FF"/>
                  </a:solidFill>
                </a:rPr>
                <a:t>波动性</a:t>
              </a:r>
              <a:r>
                <a:rPr kumimoji="0" lang="zh-CN" altLang="en-US" sz="2800">
                  <a:solidFill>
                    <a:srgbClr val="080808"/>
                  </a:solidFill>
                </a:rPr>
                <a:t>                光的干涉、衍射 </a:t>
              </a:r>
              <a:r>
                <a:rPr kumimoji="0" lang="en-US" altLang="zh-CN" sz="2800">
                  <a:solidFill>
                    <a:srgbClr val="080808"/>
                  </a:solidFill>
                </a:rPr>
                <a:t>.</a:t>
              </a:r>
            </a:p>
          </p:txBody>
        </p:sp>
        <p:sp>
          <p:nvSpPr>
            <p:cNvPr id="6184" name="AutoShape 4"/>
            <p:cNvSpPr>
              <a:spLocks noChangeArrowheads="1"/>
            </p:cNvSpPr>
            <p:nvPr/>
          </p:nvSpPr>
          <p:spPr bwMode="auto">
            <a:xfrm>
              <a:off x="2078" y="896"/>
              <a:ext cx="672" cy="144"/>
            </a:xfrm>
            <a:prstGeom prst="rightArrow">
              <a:avLst>
                <a:gd name="adj1" fmla="val 50000"/>
                <a:gd name="adj2" fmla="val 116667"/>
              </a:avLst>
            </a:prstGeom>
            <a:solidFill>
              <a:schemeClr val="accent1"/>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grpSp>
        <p:nvGrpSpPr>
          <p:cNvPr id="130089" name="Group 41"/>
          <p:cNvGrpSpPr>
            <a:grpSpLocks/>
          </p:cNvGrpSpPr>
          <p:nvPr/>
        </p:nvGrpSpPr>
        <p:grpSpPr bwMode="auto">
          <a:xfrm>
            <a:off x="1257300" y="1909763"/>
            <a:ext cx="4984750" cy="455612"/>
            <a:chOff x="792" y="1203"/>
            <a:chExt cx="3140" cy="287"/>
          </a:xfrm>
        </p:grpSpPr>
        <p:sp>
          <p:nvSpPr>
            <p:cNvPr id="6181" name="Rectangle 40"/>
            <p:cNvSpPr>
              <a:spLocks noChangeArrowheads="1"/>
            </p:cNvSpPr>
            <p:nvPr/>
          </p:nvSpPr>
          <p:spPr bwMode="auto">
            <a:xfrm>
              <a:off x="792" y="1203"/>
              <a:ext cx="314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85000"/>
                </a:lnSpc>
                <a:spcBef>
                  <a:spcPct val="50000"/>
                </a:spcBef>
                <a:buClrTx/>
                <a:buFontTx/>
                <a:buNone/>
              </a:pPr>
              <a:r>
                <a:rPr kumimoji="0" lang="zh-CN" altLang="en-US" sz="2800">
                  <a:solidFill>
                    <a:srgbClr val="080808"/>
                  </a:solidFill>
                </a:rPr>
                <a:t>光波是</a:t>
              </a:r>
              <a:r>
                <a:rPr kumimoji="0" lang="zh-CN" altLang="en-US" sz="2800">
                  <a:solidFill>
                    <a:srgbClr val="CC0000"/>
                  </a:solidFill>
                </a:rPr>
                <a:t>横波</a:t>
              </a:r>
              <a:r>
                <a:rPr kumimoji="0" lang="zh-CN" altLang="en-US" sz="2800">
                  <a:solidFill>
                    <a:srgbClr val="080808"/>
                  </a:solidFill>
                </a:rPr>
                <a:t>                光的偏振 </a:t>
              </a:r>
              <a:r>
                <a:rPr kumimoji="0" lang="en-US" altLang="zh-CN" sz="2800">
                  <a:solidFill>
                    <a:srgbClr val="080808"/>
                  </a:solidFill>
                </a:rPr>
                <a:t>.</a:t>
              </a:r>
            </a:p>
          </p:txBody>
        </p:sp>
        <p:sp>
          <p:nvSpPr>
            <p:cNvPr id="6182" name="AutoShape 5"/>
            <p:cNvSpPr>
              <a:spLocks noChangeArrowheads="1"/>
            </p:cNvSpPr>
            <p:nvPr/>
          </p:nvSpPr>
          <p:spPr bwMode="auto">
            <a:xfrm>
              <a:off x="2078" y="1276"/>
              <a:ext cx="720" cy="144"/>
            </a:xfrm>
            <a:prstGeom prst="rightArrow">
              <a:avLst>
                <a:gd name="adj1" fmla="val 50000"/>
                <a:gd name="adj2" fmla="val 125000"/>
              </a:avLst>
            </a:prstGeom>
            <a:solidFill>
              <a:srgbClr val="FFE7FF"/>
            </a:solidFill>
            <a:ln w="19050">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sp>
        <p:nvSpPr>
          <p:cNvPr id="130054" name="Text Box 6"/>
          <p:cNvSpPr txBox="1">
            <a:spLocks noChangeArrowheads="1"/>
          </p:cNvSpPr>
          <p:nvPr/>
        </p:nvSpPr>
        <p:spPr bwMode="auto">
          <a:xfrm>
            <a:off x="1281113" y="2486025"/>
            <a:ext cx="533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zh-CN" altLang="en-US" sz="2800">
                <a:solidFill>
                  <a:srgbClr val="1C1C1C"/>
                </a:solidFill>
              </a:rPr>
              <a:t>机械横波与纵波的区别</a:t>
            </a:r>
          </a:p>
        </p:txBody>
      </p:sp>
      <p:grpSp>
        <p:nvGrpSpPr>
          <p:cNvPr id="130086" name="Group 38"/>
          <p:cNvGrpSpPr>
            <a:grpSpLocks/>
          </p:cNvGrpSpPr>
          <p:nvPr/>
        </p:nvGrpSpPr>
        <p:grpSpPr bwMode="auto">
          <a:xfrm>
            <a:off x="2711450" y="4873625"/>
            <a:ext cx="4398963" cy="1101725"/>
            <a:chOff x="1708" y="3070"/>
            <a:chExt cx="2771" cy="694"/>
          </a:xfrm>
        </p:grpSpPr>
        <p:sp>
          <p:nvSpPr>
            <p:cNvPr id="6169" name="AutoShape 8"/>
            <p:cNvSpPr>
              <a:spLocks noChangeArrowheads="1"/>
            </p:cNvSpPr>
            <p:nvPr/>
          </p:nvSpPr>
          <p:spPr bwMode="auto">
            <a:xfrm rot="5425004">
              <a:off x="1869" y="3208"/>
              <a:ext cx="500" cy="304"/>
            </a:xfrm>
            <a:prstGeom prst="parallelogram">
              <a:avLst>
                <a:gd name="adj" fmla="val 36298"/>
              </a:avLst>
            </a:prstGeom>
            <a:solidFill>
              <a:srgbClr val="808080"/>
            </a:solidFill>
            <a:ln w="9525">
              <a:solidFill>
                <a:schemeClr val="tx1"/>
              </a:solidFill>
              <a:miter lim="800000"/>
              <a:headEnd/>
              <a:tailEnd/>
            </a:ln>
            <a:effectLst>
              <a:outerShdw dist="56796" dir="20006097" algn="ctr" rotWithShape="0">
                <a:srgbClr val="84D56B"/>
              </a:outerShdw>
            </a:effec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nvGrpSpPr>
            <p:cNvPr id="6170" name="Group 23"/>
            <p:cNvGrpSpPr>
              <a:grpSpLocks/>
            </p:cNvGrpSpPr>
            <p:nvPr/>
          </p:nvGrpSpPr>
          <p:grpSpPr bwMode="auto">
            <a:xfrm>
              <a:off x="1708" y="3147"/>
              <a:ext cx="1299" cy="463"/>
              <a:chOff x="960" y="3072"/>
              <a:chExt cx="1440" cy="576"/>
            </a:xfrm>
          </p:grpSpPr>
          <p:sp>
            <p:nvSpPr>
              <p:cNvPr id="6178" name="Line 24"/>
              <p:cNvSpPr>
                <a:spLocks noChangeShapeType="1"/>
              </p:cNvSpPr>
              <p:nvPr/>
            </p:nvSpPr>
            <p:spPr bwMode="auto">
              <a:xfrm flipV="1">
                <a:off x="1680" y="3072"/>
                <a:ext cx="720" cy="288"/>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79" name="Line 25"/>
              <p:cNvSpPr>
                <a:spLocks noChangeShapeType="1"/>
              </p:cNvSpPr>
              <p:nvPr/>
            </p:nvSpPr>
            <p:spPr bwMode="auto">
              <a:xfrm flipV="1">
                <a:off x="960" y="3360"/>
                <a:ext cx="720" cy="288"/>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80" name="Line 26"/>
              <p:cNvSpPr>
                <a:spLocks noChangeShapeType="1"/>
              </p:cNvSpPr>
              <p:nvPr/>
            </p:nvSpPr>
            <p:spPr bwMode="auto">
              <a:xfrm flipV="1">
                <a:off x="1104" y="3432"/>
                <a:ext cx="384" cy="144"/>
              </a:xfrm>
              <a:prstGeom prst="line">
                <a:avLst/>
              </a:prstGeom>
              <a:noFill/>
              <a:ln w="28575">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171" name="AutoShape 27"/>
            <p:cNvSpPr>
              <a:spLocks noChangeArrowheads="1"/>
            </p:cNvSpPr>
            <p:nvPr/>
          </p:nvSpPr>
          <p:spPr bwMode="auto">
            <a:xfrm rot="5425004">
              <a:off x="2215" y="3362"/>
              <a:ext cx="501" cy="303"/>
            </a:xfrm>
            <a:prstGeom prst="parallelogram">
              <a:avLst>
                <a:gd name="adj" fmla="val 35136"/>
              </a:avLst>
            </a:prstGeom>
            <a:solidFill>
              <a:srgbClr val="969696"/>
            </a:solidFill>
            <a:ln w="9525">
              <a:solidFill>
                <a:schemeClr val="tx1"/>
              </a:solidFill>
              <a:miter lim="800000"/>
              <a:headEnd/>
              <a:tailEnd/>
            </a:ln>
            <a:effectLst>
              <a:outerShdw dist="68392" dir="20291915" algn="ctr" rotWithShape="0">
                <a:srgbClr val="84D56B"/>
              </a:outerShdw>
            </a:effec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6172" name="AutoShape 28"/>
            <p:cNvSpPr>
              <a:spLocks noChangeArrowheads="1"/>
            </p:cNvSpPr>
            <p:nvPr/>
          </p:nvSpPr>
          <p:spPr bwMode="auto">
            <a:xfrm rot="5425004">
              <a:off x="3678" y="3396"/>
              <a:ext cx="347" cy="389"/>
            </a:xfrm>
            <a:prstGeom prst="parallelogram">
              <a:avLst>
                <a:gd name="adj" fmla="val 10481"/>
              </a:avLst>
            </a:prstGeom>
            <a:solidFill>
              <a:srgbClr val="808080"/>
            </a:solidFill>
            <a:ln w="9525">
              <a:solidFill>
                <a:schemeClr val="tx1"/>
              </a:solidFill>
              <a:miter lim="800000"/>
              <a:headEnd/>
              <a:tailEnd/>
            </a:ln>
            <a:effectLst>
              <a:outerShdw dist="68392" dir="20291915" algn="ctr" rotWithShape="0">
                <a:srgbClr val="84D56B"/>
              </a:outerShdw>
            </a:effec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nvGrpSpPr>
            <p:cNvPr id="6173" name="Group 29"/>
            <p:cNvGrpSpPr>
              <a:grpSpLocks/>
            </p:cNvGrpSpPr>
            <p:nvPr/>
          </p:nvGrpSpPr>
          <p:grpSpPr bwMode="auto">
            <a:xfrm>
              <a:off x="3180" y="3186"/>
              <a:ext cx="1299" cy="462"/>
              <a:chOff x="960" y="3072"/>
              <a:chExt cx="1440" cy="576"/>
            </a:xfrm>
          </p:grpSpPr>
          <p:sp>
            <p:nvSpPr>
              <p:cNvPr id="6175" name="Line 30"/>
              <p:cNvSpPr>
                <a:spLocks noChangeShapeType="1"/>
              </p:cNvSpPr>
              <p:nvPr/>
            </p:nvSpPr>
            <p:spPr bwMode="auto">
              <a:xfrm flipV="1">
                <a:off x="1680" y="3072"/>
                <a:ext cx="720" cy="288"/>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76" name="Line 31"/>
              <p:cNvSpPr>
                <a:spLocks noChangeShapeType="1"/>
              </p:cNvSpPr>
              <p:nvPr/>
            </p:nvSpPr>
            <p:spPr bwMode="auto">
              <a:xfrm flipV="1">
                <a:off x="960" y="3360"/>
                <a:ext cx="720" cy="288"/>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77" name="Line 32"/>
              <p:cNvSpPr>
                <a:spLocks noChangeShapeType="1"/>
              </p:cNvSpPr>
              <p:nvPr/>
            </p:nvSpPr>
            <p:spPr bwMode="auto">
              <a:xfrm flipV="1">
                <a:off x="1104" y="3432"/>
                <a:ext cx="384" cy="144"/>
              </a:xfrm>
              <a:prstGeom prst="line">
                <a:avLst/>
              </a:prstGeom>
              <a:noFill/>
              <a:ln w="28575">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174" name="AutoShape 33"/>
            <p:cNvSpPr>
              <a:spLocks noChangeArrowheads="1"/>
            </p:cNvSpPr>
            <p:nvPr/>
          </p:nvSpPr>
          <p:spPr bwMode="auto">
            <a:xfrm rot="5425004">
              <a:off x="3678" y="3049"/>
              <a:ext cx="347" cy="389"/>
            </a:xfrm>
            <a:prstGeom prst="parallelogram">
              <a:avLst>
                <a:gd name="adj" fmla="val 10481"/>
              </a:avLst>
            </a:prstGeom>
            <a:solidFill>
              <a:srgbClr val="969696"/>
            </a:solidFill>
            <a:ln w="9525">
              <a:solidFill>
                <a:schemeClr val="tx1"/>
              </a:solidFill>
              <a:miter lim="800000"/>
              <a:headEnd/>
              <a:tailEnd/>
            </a:ln>
            <a:effectLst>
              <a:outerShdw dist="68392" dir="20291915" algn="ctr" rotWithShape="0">
                <a:srgbClr val="84D56B"/>
              </a:outerShdw>
            </a:effec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grpSp>
        <p:nvGrpSpPr>
          <p:cNvPr id="130087" name="Group 39"/>
          <p:cNvGrpSpPr>
            <a:grpSpLocks/>
          </p:cNvGrpSpPr>
          <p:nvPr/>
        </p:nvGrpSpPr>
        <p:grpSpPr bwMode="auto">
          <a:xfrm>
            <a:off x="1466850" y="3209925"/>
            <a:ext cx="6294438" cy="2933700"/>
            <a:chOff x="924" y="2031"/>
            <a:chExt cx="3965" cy="1848"/>
          </a:xfrm>
        </p:grpSpPr>
        <p:sp>
          <p:nvSpPr>
            <p:cNvPr id="6153" name="Rectangle 7"/>
            <p:cNvSpPr>
              <a:spLocks noChangeArrowheads="1"/>
            </p:cNvSpPr>
            <p:nvPr/>
          </p:nvSpPr>
          <p:spPr bwMode="auto">
            <a:xfrm>
              <a:off x="924" y="2031"/>
              <a:ext cx="3965" cy="18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6154" name="AutoShape 9"/>
            <p:cNvSpPr>
              <a:spLocks noChangeArrowheads="1"/>
            </p:cNvSpPr>
            <p:nvPr/>
          </p:nvSpPr>
          <p:spPr bwMode="auto">
            <a:xfrm rot="5425004">
              <a:off x="3678" y="2510"/>
              <a:ext cx="347" cy="389"/>
            </a:xfrm>
            <a:prstGeom prst="parallelogram">
              <a:avLst>
                <a:gd name="adj" fmla="val 10481"/>
              </a:avLst>
            </a:prstGeom>
            <a:solidFill>
              <a:srgbClr val="808080"/>
            </a:solidFill>
            <a:ln w="9525">
              <a:solidFill>
                <a:schemeClr val="tx1"/>
              </a:solidFill>
              <a:miter lim="800000"/>
              <a:headEnd/>
              <a:tailEnd/>
            </a:ln>
            <a:effectLst>
              <a:outerShdw dist="68392" dir="20291915" algn="ctr" rotWithShape="0">
                <a:srgbClr val="84D56B"/>
              </a:outerShdw>
            </a:effec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6155" name="AutoShape 10"/>
            <p:cNvSpPr>
              <a:spLocks noChangeArrowheads="1"/>
            </p:cNvSpPr>
            <p:nvPr/>
          </p:nvSpPr>
          <p:spPr bwMode="auto">
            <a:xfrm rot="5425004">
              <a:off x="1825" y="2361"/>
              <a:ext cx="501" cy="303"/>
            </a:xfrm>
            <a:prstGeom prst="parallelogram">
              <a:avLst>
                <a:gd name="adj" fmla="val 36491"/>
              </a:avLst>
            </a:prstGeom>
            <a:solidFill>
              <a:srgbClr val="808080"/>
            </a:solidFill>
            <a:ln w="9525">
              <a:solidFill>
                <a:schemeClr val="tx1"/>
              </a:solidFill>
              <a:miter lim="800000"/>
              <a:headEnd/>
              <a:tailEnd/>
            </a:ln>
            <a:effectLst>
              <a:outerShdw dist="56796" dir="20006097" algn="ctr" rotWithShape="0">
                <a:srgbClr val="84D56B"/>
              </a:outerShdw>
            </a:effec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nvGrpSpPr>
            <p:cNvPr id="6156" name="Group 11"/>
            <p:cNvGrpSpPr>
              <a:grpSpLocks/>
            </p:cNvGrpSpPr>
            <p:nvPr/>
          </p:nvGrpSpPr>
          <p:grpSpPr bwMode="auto">
            <a:xfrm>
              <a:off x="1664" y="2273"/>
              <a:ext cx="1386" cy="528"/>
              <a:chOff x="2880" y="2256"/>
              <a:chExt cx="1536" cy="658"/>
            </a:xfrm>
          </p:grpSpPr>
          <p:sp>
            <p:nvSpPr>
              <p:cNvPr id="6166" name="Freeform 12" descr="浅色竖线"/>
              <p:cNvSpPr>
                <a:spLocks/>
              </p:cNvSpPr>
              <p:nvPr/>
            </p:nvSpPr>
            <p:spPr bwMode="auto">
              <a:xfrm>
                <a:off x="2880" y="2256"/>
                <a:ext cx="1344" cy="658"/>
              </a:xfrm>
              <a:custGeom>
                <a:avLst/>
                <a:gdLst>
                  <a:gd name="T0" fmla="*/ 0 w 1344"/>
                  <a:gd name="T1" fmla="*/ 628 h 658"/>
                  <a:gd name="T2" fmla="*/ 42 w 1344"/>
                  <a:gd name="T3" fmla="*/ 514 h 658"/>
                  <a:gd name="T4" fmla="*/ 93 w 1344"/>
                  <a:gd name="T5" fmla="*/ 454 h 658"/>
                  <a:gd name="T6" fmla="*/ 135 w 1344"/>
                  <a:gd name="T7" fmla="*/ 478 h 658"/>
                  <a:gd name="T8" fmla="*/ 188 w 1344"/>
                  <a:gd name="T9" fmla="*/ 544 h 658"/>
                  <a:gd name="T10" fmla="*/ 240 w 1344"/>
                  <a:gd name="T11" fmla="*/ 631 h 658"/>
                  <a:gd name="T12" fmla="*/ 288 w 1344"/>
                  <a:gd name="T13" fmla="*/ 652 h 658"/>
                  <a:gd name="T14" fmla="*/ 327 w 1344"/>
                  <a:gd name="T15" fmla="*/ 592 h 658"/>
                  <a:gd name="T16" fmla="*/ 381 w 1344"/>
                  <a:gd name="T17" fmla="*/ 475 h 658"/>
                  <a:gd name="T18" fmla="*/ 423 w 1344"/>
                  <a:gd name="T19" fmla="*/ 364 h 658"/>
                  <a:gd name="T20" fmla="*/ 480 w 1344"/>
                  <a:gd name="T21" fmla="*/ 298 h 658"/>
                  <a:gd name="T22" fmla="*/ 522 w 1344"/>
                  <a:gd name="T23" fmla="*/ 325 h 658"/>
                  <a:gd name="T24" fmla="*/ 573 w 1344"/>
                  <a:gd name="T25" fmla="*/ 394 h 658"/>
                  <a:gd name="T26" fmla="*/ 618 w 1344"/>
                  <a:gd name="T27" fmla="*/ 472 h 658"/>
                  <a:gd name="T28" fmla="*/ 672 w 1344"/>
                  <a:gd name="T29" fmla="*/ 499 h 658"/>
                  <a:gd name="T30" fmla="*/ 714 w 1344"/>
                  <a:gd name="T31" fmla="*/ 439 h 658"/>
                  <a:gd name="T32" fmla="*/ 765 w 1344"/>
                  <a:gd name="T33" fmla="*/ 325 h 658"/>
                  <a:gd name="T34" fmla="*/ 813 w 1344"/>
                  <a:gd name="T35" fmla="*/ 199 h 658"/>
                  <a:gd name="T36" fmla="*/ 864 w 1344"/>
                  <a:gd name="T37" fmla="*/ 148 h 658"/>
                  <a:gd name="T38" fmla="*/ 903 w 1344"/>
                  <a:gd name="T39" fmla="*/ 172 h 658"/>
                  <a:gd name="T40" fmla="*/ 960 w 1344"/>
                  <a:gd name="T41" fmla="*/ 244 h 658"/>
                  <a:gd name="T42" fmla="*/ 1002 w 1344"/>
                  <a:gd name="T43" fmla="*/ 325 h 658"/>
                  <a:gd name="T44" fmla="*/ 1050 w 1344"/>
                  <a:gd name="T45" fmla="*/ 349 h 658"/>
                  <a:gd name="T46" fmla="*/ 1095 w 1344"/>
                  <a:gd name="T47" fmla="*/ 286 h 658"/>
                  <a:gd name="T48" fmla="*/ 1155 w 1344"/>
                  <a:gd name="T49" fmla="*/ 163 h 658"/>
                  <a:gd name="T50" fmla="*/ 1203 w 1344"/>
                  <a:gd name="T51" fmla="*/ 49 h 658"/>
                  <a:gd name="T52" fmla="*/ 1248 w 1344"/>
                  <a:gd name="T53" fmla="*/ 4 h 658"/>
                  <a:gd name="T54" fmla="*/ 1287 w 1344"/>
                  <a:gd name="T55" fmla="*/ 22 h 658"/>
                  <a:gd name="T56" fmla="*/ 1344 w 1344"/>
                  <a:gd name="T57" fmla="*/ 100 h 65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344" h="658">
                    <a:moveTo>
                      <a:pt x="0" y="628"/>
                    </a:moveTo>
                    <a:cubicBezTo>
                      <a:pt x="7" y="609"/>
                      <a:pt x="27" y="543"/>
                      <a:pt x="42" y="514"/>
                    </a:cubicBezTo>
                    <a:cubicBezTo>
                      <a:pt x="57" y="485"/>
                      <a:pt x="78" y="460"/>
                      <a:pt x="93" y="454"/>
                    </a:cubicBezTo>
                    <a:cubicBezTo>
                      <a:pt x="108" y="448"/>
                      <a:pt x="119" y="463"/>
                      <a:pt x="135" y="478"/>
                    </a:cubicBezTo>
                    <a:cubicBezTo>
                      <a:pt x="151" y="493"/>
                      <a:pt x="171" y="519"/>
                      <a:pt x="188" y="544"/>
                    </a:cubicBezTo>
                    <a:cubicBezTo>
                      <a:pt x="205" y="569"/>
                      <a:pt x="223" y="613"/>
                      <a:pt x="240" y="631"/>
                    </a:cubicBezTo>
                    <a:cubicBezTo>
                      <a:pt x="257" y="649"/>
                      <a:pt x="274" y="658"/>
                      <a:pt x="288" y="652"/>
                    </a:cubicBezTo>
                    <a:cubicBezTo>
                      <a:pt x="302" y="646"/>
                      <a:pt x="312" y="621"/>
                      <a:pt x="327" y="592"/>
                    </a:cubicBezTo>
                    <a:cubicBezTo>
                      <a:pt x="342" y="563"/>
                      <a:pt x="365" y="513"/>
                      <a:pt x="381" y="475"/>
                    </a:cubicBezTo>
                    <a:cubicBezTo>
                      <a:pt x="397" y="437"/>
                      <a:pt x="407" y="393"/>
                      <a:pt x="423" y="364"/>
                    </a:cubicBezTo>
                    <a:cubicBezTo>
                      <a:pt x="439" y="335"/>
                      <a:pt x="464" y="304"/>
                      <a:pt x="480" y="298"/>
                    </a:cubicBezTo>
                    <a:cubicBezTo>
                      <a:pt x="496" y="292"/>
                      <a:pt x="507" y="309"/>
                      <a:pt x="522" y="325"/>
                    </a:cubicBezTo>
                    <a:cubicBezTo>
                      <a:pt x="537" y="341"/>
                      <a:pt x="557" y="370"/>
                      <a:pt x="573" y="394"/>
                    </a:cubicBezTo>
                    <a:cubicBezTo>
                      <a:pt x="589" y="418"/>
                      <a:pt x="602" y="454"/>
                      <a:pt x="618" y="472"/>
                    </a:cubicBezTo>
                    <a:cubicBezTo>
                      <a:pt x="634" y="490"/>
                      <a:pt x="656" y="504"/>
                      <a:pt x="672" y="499"/>
                    </a:cubicBezTo>
                    <a:cubicBezTo>
                      <a:pt x="688" y="494"/>
                      <a:pt x="699" y="468"/>
                      <a:pt x="714" y="439"/>
                    </a:cubicBezTo>
                    <a:cubicBezTo>
                      <a:pt x="729" y="410"/>
                      <a:pt x="748" y="365"/>
                      <a:pt x="765" y="325"/>
                    </a:cubicBezTo>
                    <a:cubicBezTo>
                      <a:pt x="782" y="285"/>
                      <a:pt x="797" y="228"/>
                      <a:pt x="813" y="199"/>
                    </a:cubicBezTo>
                    <a:cubicBezTo>
                      <a:pt x="829" y="170"/>
                      <a:pt x="849" y="152"/>
                      <a:pt x="864" y="148"/>
                    </a:cubicBezTo>
                    <a:cubicBezTo>
                      <a:pt x="879" y="144"/>
                      <a:pt x="887" y="156"/>
                      <a:pt x="903" y="172"/>
                    </a:cubicBezTo>
                    <a:cubicBezTo>
                      <a:pt x="919" y="188"/>
                      <a:pt x="944" y="219"/>
                      <a:pt x="960" y="244"/>
                    </a:cubicBezTo>
                    <a:cubicBezTo>
                      <a:pt x="976" y="269"/>
                      <a:pt x="987" y="308"/>
                      <a:pt x="1002" y="325"/>
                    </a:cubicBezTo>
                    <a:cubicBezTo>
                      <a:pt x="1017" y="342"/>
                      <a:pt x="1035" y="355"/>
                      <a:pt x="1050" y="349"/>
                    </a:cubicBezTo>
                    <a:cubicBezTo>
                      <a:pt x="1065" y="343"/>
                      <a:pt x="1078" y="317"/>
                      <a:pt x="1095" y="286"/>
                    </a:cubicBezTo>
                    <a:cubicBezTo>
                      <a:pt x="1112" y="255"/>
                      <a:pt x="1137" y="202"/>
                      <a:pt x="1155" y="163"/>
                    </a:cubicBezTo>
                    <a:cubicBezTo>
                      <a:pt x="1173" y="124"/>
                      <a:pt x="1188" y="75"/>
                      <a:pt x="1203" y="49"/>
                    </a:cubicBezTo>
                    <a:cubicBezTo>
                      <a:pt x="1218" y="23"/>
                      <a:pt x="1234" y="8"/>
                      <a:pt x="1248" y="4"/>
                    </a:cubicBezTo>
                    <a:cubicBezTo>
                      <a:pt x="1262" y="0"/>
                      <a:pt x="1271" y="6"/>
                      <a:pt x="1287" y="22"/>
                    </a:cubicBezTo>
                    <a:cubicBezTo>
                      <a:pt x="1303" y="38"/>
                      <a:pt x="1332" y="84"/>
                      <a:pt x="1344" y="100"/>
                    </a:cubicBezTo>
                  </a:path>
                </a:pathLst>
              </a:custGeom>
              <a:pattFill prst="ltVert">
                <a:fgClr>
                  <a:srgbClr val="FF0000"/>
                </a:fgClr>
                <a:bgClr>
                  <a:srgbClr val="FFEBFF"/>
                </a:bgClr>
              </a:pattFill>
              <a:ln w="19050" cap="flat" cmpd="sng">
                <a:solidFill>
                  <a:srgbClr val="FF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67" name="Line 13"/>
              <p:cNvSpPr>
                <a:spLocks noChangeShapeType="1"/>
              </p:cNvSpPr>
              <p:nvPr/>
            </p:nvSpPr>
            <p:spPr bwMode="auto">
              <a:xfrm flipV="1">
                <a:off x="3600" y="2260"/>
                <a:ext cx="816" cy="336"/>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68" name="Line 14"/>
              <p:cNvSpPr>
                <a:spLocks noChangeShapeType="1"/>
              </p:cNvSpPr>
              <p:nvPr/>
            </p:nvSpPr>
            <p:spPr bwMode="auto">
              <a:xfrm flipV="1">
                <a:off x="2880" y="2596"/>
                <a:ext cx="720" cy="288"/>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157" name="AutoShape 15"/>
            <p:cNvSpPr>
              <a:spLocks noChangeArrowheads="1"/>
            </p:cNvSpPr>
            <p:nvPr/>
          </p:nvSpPr>
          <p:spPr bwMode="auto">
            <a:xfrm rot="5425004">
              <a:off x="2173" y="2515"/>
              <a:ext cx="500" cy="303"/>
            </a:xfrm>
            <a:prstGeom prst="parallelogram">
              <a:avLst>
                <a:gd name="adj" fmla="val 35066"/>
              </a:avLst>
            </a:prstGeom>
            <a:solidFill>
              <a:srgbClr val="808080"/>
            </a:solidFill>
            <a:ln w="9525">
              <a:solidFill>
                <a:schemeClr val="tx1"/>
              </a:solidFill>
              <a:miter lim="800000"/>
              <a:headEnd/>
              <a:tailEnd/>
            </a:ln>
            <a:effectLst>
              <a:outerShdw dist="68392" dir="20291915" algn="ctr" rotWithShape="0">
                <a:srgbClr val="84D56B"/>
              </a:outerShdw>
            </a:effec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nvGrpSpPr>
            <p:cNvPr id="6158" name="Group 16"/>
            <p:cNvGrpSpPr>
              <a:grpSpLocks/>
            </p:cNvGrpSpPr>
            <p:nvPr/>
          </p:nvGrpSpPr>
          <p:grpSpPr bwMode="auto">
            <a:xfrm>
              <a:off x="3137" y="2262"/>
              <a:ext cx="1386" cy="528"/>
              <a:chOff x="2880" y="2256"/>
              <a:chExt cx="1536" cy="658"/>
            </a:xfrm>
          </p:grpSpPr>
          <p:sp>
            <p:nvSpPr>
              <p:cNvPr id="6163" name="Freeform 17" descr="浅色竖线"/>
              <p:cNvSpPr>
                <a:spLocks/>
              </p:cNvSpPr>
              <p:nvPr/>
            </p:nvSpPr>
            <p:spPr bwMode="auto">
              <a:xfrm>
                <a:off x="2880" y="2256"/>
                <a:ext cx="1344" cy="658"/>
              </a:xfrm>
              <a:custGeom>
                <a:avLst/>
                <a:gdLst>
                  <a:gd name="T0" fmla="*/ 0 w 1344"/>
                  <a:gd name="T1" fmla="*/ 628 h 658"/>
                  <a:gd name="T2" fmla="*/ 42 w 1344"/>
                  <a:gd name="T3" fmla="*/ 514 h 658"/>
                  <a:gd name="T4" fmla="*/ 93 w 1344"/>
                  <a:gd name="T5" fmla="*/ 454 h 658"/>
                  <a:gd name="T6" fmla="*/ 135 w 1344"/>
                  <a:gd name="T7" fmla="*/ 478 h 658"/>
                  <a:gd name="T8" fmla="*/ 188 w 1344"/>
                  <a:gd name="T9" fmla="*/ 544 h 658"/>
                  <a:gd name="T10" fmla="*/ 240 w 1344"/>
                  <a:gd name="T11" fmla="*/ 631 h 658"/>
                  <a:gd name="T12" fmla="*/ 288 w 1344"/>
                  <a:gd name="T13" fmla="*/ 652 h 658"/>
                  <a:gd name="T14" fmla="*/ 327 w 1344"/>
                  <a:gd name="T15" fmla="*/ 592 h 658"/>
                  <a:gd name="T16" fmla="*/ 381 w 1344"/>
                  <a:gd name="T17" fmla="*/ 475 h 658"/>
                  <a:gd name="T18" fmla="*/ 423 w 1344"/>
                  <a:gd name="T19" fmla="*/ 364 h 658"/>
                  <a:gd name="T20" fmla="*/ 480 w 1344"/>
                  <a:gd name="T21" fmla="*/ 298 h 658"/>
                  <a:gd name="T22" fmla="*/ 522 w 1344"/>
                  <a:gd name="T23" fmla="*/ 325 h 658"/>
                  <a:gd name="T24" fmla="*/ 573 w 1344"/>
                  <a:gd name="T25" fmla="*/ 394 h 658"/>
                  <a:gd name="T26" fmla="*/ 618 w 1344"/>
                  <a:gd name="T27" fmla="*/ 472 h 658"/>
                  <a:gd name="T28" fmla="*/ 672 w 1344"/>
                  <a:gd name="T29" fmla="*/ 499 h 658"/>
                  <a:gd name="T30" fmla="*/ 714 w 1344"/>
                  <a:gd name="T31" fmla="*/ 439 h 658"/>
                  <a:gd name="T32" fmla="*/ 765 w 1344"/>
                  <a:gd name="T33" fmla="*/ 325 h 658"/>
                  <a:gd name="T34" fmla="*/ 813 w 1344"/>
                  <a:gd name="T35" fmla="*/ 199 h 658"/>
                  <a:gd name="T36" fmla="*/ 864 w 1344"/>
                  <a:gd name="T37" fmla="*/ 148 h 658"/>
                  <a:gd name="T38" fmla="*/ 903 w 1344"/>
                  <a:gd name="T39" fmla="*/ 172 h 658"/>
                  <a:gd name="T40" fmla="*/ 960 w 1344"/>
                  <a:gd name="T41" fmla="*/ 244 h 658"/>
                  <a:gd name="T42" fmla="*/ 1002 w 1344"/>
                  <a:gd name="T43" fmla="*/ 325 h 658"/>
                  <a:gd name="T44" fmla="*/ 1050 w 1344"/>
                  <a:gd name="T45" fmla="*/ 349 h 658"/>
                  <a:gd name="T46" fmla="*/ 1095 w 1344"/>
                  <a:gd name="T47" fmla="*/ 286 h 658"/>
                  <a:gd name="T48" fmla="*/ 1155 w 1344"/>
                  <a:gd name="T49" fmla="*/ 163 h 658"/>
                  <a:gd name="T50" fmla="*/ 1203 w 1344"/>
                  <a:gd name="T51" fmla="*/ 49 h 658"/>
                  <a:gd name="T52" fmla="*/ 1248 w 1344"/>
                  <a:gd name="T53" fmla="*/ 4 h 658"/>
                  <a:gd name="T54" fmla="*/ 1287 w 1344"/>
                  <a:gd name="T55" fmla="*/ 22 h 658"/>
                  <a:gd name="T56" fmla="*/ 1344 w 1344"/>
                  <a:gd name="T57" fmla="*/ 100 h 65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344" h="658">
                    <a:moveTo>
                      <a:pt x="0" y="628"/>
                    </a:moveTo>
                    <a:cubicBezTo>
                      <a:pt x="7" y="609"/>
                      <a:pt x="27" y="543"/>
                      <a:pt x="42" y="514"/>
                    </a:cubicBezTo>
                    <a:cubicBezTo>
                      <a:pt x="57" y="485"/>
                      <a:pt x="78" y="460"/>
                      <a:pt x="93" y="454"/>
                    </a:cubicBezTo>
                    <a:cubicBezTo>
                      <a:pt x="108" y="448"/>
                      <a:pt x="119" y="463"/>
                      <a:pt x="135" y="478"/>
                    </a:cubicBezTo>
                    <a:cubicBezTo>
                      <a:pt x="151" y="493"/>
                      <a:pt x="171" y="519"/>
                      <a:pt x="188" y="544"/>
                    </a:cubicBezTo>
                    <a:cubicBezTo>
                      <a:pt x="205" y="569"/>
                      <a:pt x="223" y="613"/>
                      <a:pt x="240" y="631"/>
                    </a:cubicBezTo>
                    <a:cubicBezTo>
                      <a:pt x="257" y="649"/>
                      <a:pt x="274" y="658"/>
                      <a:pt x="288" y="652"/>
                    </a:cubicBezTo>
                    <a:cubicBezTo>
                      <a:pt x="302" y="646"/>
                      <a:pt x="312" y="621"/>
                      <a:pt x="327" y="592"/>
                    </a:cubicBezTo>
                    <a:cubicBezTo>
                      <a:pt x="342" y="563"/>
                      <a:pt x="365" y="513"/>
                      <a:pt x="381" y="475"/>
                    </a:cubicBezTo>
                    <a:cubicBezTo>
                      <a:pt x="397" y="437"/>
                      <a:pt x="407" y="393"/>
                      <a:pt x="423" y="364"/>
                    </a:cubicBezTo>
                    <a:cubicBezTo>
                      <a:pt x="439" y="335"/>
                      <a:pt x="464" y="304"/>
                      <a:pt x="480" y="298"/>
                    </a:cubicBezTo>
                    <a:cubicBezTo>
                      <a:pt x="496" y="292"/>
                      <a:pt x="507" y="309"/>
                      <a:pt x="522" y="325"/>
                    </a:cubicBezTo>
                    <a:cubicBezTo>
                      <a:pt x="537" y="341"/>
                      <a:pt x="557" y="370"/>
                      <a:pt x="573" y="394"/>
                    </a:cubicBezTo>
                    <a:cubicBezTo>
                      <a:pt x="589" y="418"/>
                      <a:pt x="602" y="454"/>
                      <a:pt x="618" y="472"/>
                    </a:cubicBezTo>
                    <a:cubicBezTo>
                      <a:pt x="634" y="490"/>
                      <a:pt x="656" y="504"/>
                      <a:pt x="672" y="499"/>
                    </a:cubicBezTo>
                    <a:cubicBezTo>
                      <a:pt x="688" y="494"/>
                      <a:pt x="699" y="468"/>
                      <a:pt x="714" y="439"/>
                    </a:cubicBezTo>
                    <a:cubicBezTo>
                      <a:pt x="729" y="410"/>
                      <a:pt x="748" y="365"/>
                      <a:pt x="765" y="325"/>
                    </a:cubicBezTo>
                    <a:cubicBezTo>
                      <a:pt x="782" y="285"/>
                      <a:pt x="797" y="228"/>
                      <a:pt x="813" y="199"/>
                    </a:cubicBezTo>
                    <a:cubicBezTo>
                      <a:pt x="829" y="170"/>
                      <a:pt x="849" y="152"/>
                      <a:pt x="864" y="148"/>
                    </a:cubicBezTo>
                    <a:cubicBezTo>
                      <a:pt x="879" y="144"/>
                      <a:pt x="887" y="156"/>
                      <a:pt x="903" y="172"/>
                    </a:cubicBezTo>
                    <a:cubicBezTo>
                      <a:pt x="919" y="188"/>
                      <a:pt x="944" y="219"/>
                      <a:pt x="960" y="244"/>
                    </a:cubicBezTo>
                    <a:cubicBezTo>
                      <a:pt x="976" y="269"/>
                      <a:pt x="987" y="308"/>
                      <a:pt x="1002" y="325"/>
                    </a:cubicBezTo>
                    <a:cubicBezTo>
                      <a:pt x="1017" y="342"/>
                      <a:pt x="1035" y="355"/>
                      <a:pt x="1050" y="349"/>
                    </a:cubicBezTo>
                    <a:cubicBezTo>
                      <a:pt x="1065" y="343"/>
                      <a:pt x="1078" y="317"/>
                      <a:pt x="1095" y="286"/>
                    </a:cubicBezTo>
                    <a:cubicBezTo>
                      <a:pt x="1112" y="255"/>
                      <a:pt x="1137" y="202"/>
                      <a:pt x="1155" y="163"/>
                    </a:cubicBezTo>
                    <a:cubicBezTo>
                      <a:pt x="1173" y="124"/>
                      <a:pt x="1188" y="75"/>
                      <a:pt x="1203" y="49"/>
                    </a:cubicBezTo>
                    <a:cubicBezTo>
                      <a:pt x="1218" y="23"/>
                      <a:pt x="1234" y="8"/>
                      <a:pt x="1248" y="4"/>
                    </a:cubicBezTo>
                    <a:cubicBezTo>
                      <a:pt x="1262" y="0"/>
                      <a:pt x="1271" y="6"/>
                      <a:pt x="1287" y="22"/>
                    </a:cubicBezTo>
                    <a:cubicBezTo>
                      <a:pt x="1303" y="38"/>
                      <a:pt x="1332" y="84"/>
                      <a:pt x="1344" y="100"/>
                    </a:cubicBezTo>
                  </a:path>
                </a:pathLst>
              </a:custGeom>
              <a:pattFill prst="ltVert">
                <a:fgClr>
                  <a:srgbClr val="FF0000"/>
                </a:fgClr>
                <a:bgClr>
                  <a:srgbClr val="FFEBFF"/>
                </a:bgClr>
              </a:pattFill>
              <a:ln w="19050" cap="flat" cmpd="sng">
                <a:solidFill>
                  <a:srgbClr val="FF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64" name="Line 18"/>
              <p:cNvSpPr>
                <a:spLocks noChangeShapeType="1"/>
              </p:cNvSpPr>
              <p:nvPr/>
            </p:nvSpPr>
            <p:spPr bwMode="auto">
              <a:xfrm flipV="1">
                <a:off x="3600" y="2260"/>
                <a:ext cx="816" cy="336"/>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65" name="Line 19"/>
              <p:cNvSpPr>
                <a:spLocks noChangeShapeType="1"/>
              </p:cNvSpPr>
              <p:nvPr/>
            </p:nvSpPr>
            <p:spPr bwMode="auto">
              <a:xfrm flipV="1">
                <a:off x="2880" y="2596"/>
                <a:ext cx="720" cy="288"/>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159" name="Rectangle 20"/>
            <p:cNvSpPr>
              <a:spLocks noChangeArrowheads="1"/>
            </p:cNvSpPr>
            <p:nvPr/>
          </p:nvSpPr>
          <p:spPr bwMode="auto">
            <a:xfrm>
              <a:off x="4063" y="2224"/>
              <a:ext cx="456" cy="3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6160" name="AutoShape 21"/>
            <p:cNvSpPr>
              <a:spLocks noChangeArrowheads="1"/>
            </p:cNvSpPr>
            <p:nvPr/>
          </p:nvSpPr>
          <p:spPr bwMode="auto">
            <a:xfrm rot="5425004">
              <a:off x="3679" y="2163"/>
              <a:ext cx="346" cy="389"/>
            </a:xfrm>
            <a:prstGeom prst="parallelogram">
              <a:avLst>
                <a:gd name="adj" fmla="val 10481"/>
              </a:avLst>
            </a:prstGeom>
            <a:solidFill>
              <a:srgbClr val="808080"/>
            </a:solidFill>
            <a:ln w="9525">
              <a:solidFill>
                <a:schemeClr val="tx1"/>
              </a:solidFill>
              <a:miter lim="800000"/>
              <a:headEnd/>
              <a:tailEnd/>
            </a:ln>
            <a:effectLst>
              <a:outerShdw dist="68392" dir="20291915" algn="ctr" rotWithShape="0">
                <a:srgbClr val="84D56B"/>
              </a:outerShdw>
            </a:effec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6161" name="Line 22"/>
            <p:cNvSpPr>
              <a:spLocks noChangeShapeType="1"/>
            </p:cNvSpPr>
            <p:nvPr/>
          </p:nvSpPr>
          <p:spPr bwMode="auto">
            <a:xfrm flipV="1">
              <a:off x="4046" y="2301"/>
              <a:ext cx="433" cy="153"/>
            </a:xfrm>
            <a:prstGeom prst="line">
              <a:avLst/>
            </a:prstGeom>
            <a:noFill/>
            <a:ln w="19050">
              <a:solidFill>
                <a:srgbClr val="0000FF"/>
              </a:solidFill>
              <a:prstDash val="dash"/>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0082" name="Text Box 34"/>
            <p:cNvSpPr txBox="1">
              <a:spLocks noChangeArrowheads="1"/>
            </p:cNvSpPr>
            <p:nvPr/>
          </p:nvSpPr>
          <p:spPr bwMode="auto">
            <a:xfrm>
              <a:off x="925" y="2031"/>
              <a:ext cx="391" cy="1848"/>
            </a:xfrm>
            <a:prstGeom prst="rect">
              <a:avLst/>
            </a:prstGeom>
            <a:gradFill rotWithShape="0">
              <a:gsLst>
                <a:gs pos="0">
                  <a:schemeClr val="accent1"/>
                </a:gs>
                <a:gs pos="50000">
                  <a:srgbClr val="FFFFFF"/>
                </a:gs>
                <a:gs pos="100000">
                  <a:schemeClr val="accent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lgn="ctr" eaLnBrk="1" hangingPunct="1">
                <a:spcBef>
                  <a:spcPct val="50000"/>
                </a:spcBef>
                <a:defRPr/>
              </a:pPr>
              <a:r>
                <a:rPr lang="zh-CN" altLang="en-US">
                  <a:solidFill>
                    <a:srgbClr val="1C1C1C"/>
                  </a:solidFill>
                </a:rPr>
                <a:t>机械波穿过狭缝</a:t>
              </a:r>
            </a:p>
          </p:txBody>
        </p:sp>
      </p:grpSp>
      <p:sp>
        <p:nvSpPr>
          <p:cNvPr id="6152" name="Text Box 35"/>
          <p:cNvSpPr txBox="1">
            <a:spLocks noChangeArrowheads="1"/>
          </p:cNvSpPr>
          <p:nvPr/>
        </p:nvSpPr>
        <p:spPr bwMode="auto">
          <a:xfrm>
            <a:off x="3025775" y="493713"/>
            <a:ext cx="3227388" cy="51911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2800">
                <a:solidFill>
                  <a:srgbClr val="000000"/>
                </a:solidFill>
              </a:rPr>
              <a:t>§12.5  </a:t>
            </a:r>
            <a:r>
              <a:rPr kumimoji="0" lang="zh-CN" altLang="en-US" sz="2800">
                <a:solidFill>
                  <a:srgbClr val="000000"/>
                </a:solidFill>
              </a:rPr>
              <a:t>光的偏振</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0090"/>
                                        </p:tgtEl>
                                        <p:attrNameLst>
                                          <p:attrName>style.visibility</p:attrName>
                                        </p:attrNameLst>
                                      </p:cBhvr>
                                      <p:to>
                                        <p:strVal val="visible"/>
                                      </p:to>
                                    </p:set>
                                    <p:animEffect transition="in" filter="wipe(left)">
                                      <p:cBhvr>
                                        <p:cTn id="7" dur="500"/>
                                        <p:tgtEl>
                                          <p:spTgt spid="1300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0089"/>
                                        </p:tgtEl>
                                        <p:attrNameLst>
                                          <p:attrName>style.visibility</p:attrName>
                                        </p:attrNameLst>
                                      </p:cBhvr>
                                      <p:to>
                                        <p:strVal val="visible"/>
                                      </p:to>
                                    </p:set>
                                    <p:animEffect transition="in" filter="wipe(left)">
                                      <p:cBhvr>
                                        <p:cTn id="12" dur="500"/>
                                        <p:tgtEl>
                                          <p:spTgt spid="1300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0054"/>
                                        </p:tgtEl>
                                        <p:attrNameLst>
                                          <p:attrName>style.visibility</p:attrName>
                                        </p:attrNameLst>
                                      </p:cBhvr>
                                      <p:to>
                                        <p:strVal val="visible"/>
                                      </p:to>
                                    </p:set>
                                    <p:animEffect transition="in" filter="wipe(left)">
                                      <p:cBhvr>
                                        <p:cTn id="17" dur="500"/>
                                        <p:tgtEl>
                                          <p:spTgt spid="1300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0087"/>
                                        </p:tgtEl>
                                        <p:attrNameLst>
                                          <p:attrName>style.visibility</p:attrName>
                                        </p:attrNameLst>
                                      </p:cBhvr>
                                      <p:to>
                                        <p:strVal val="visible"/>
                                      </p:to>
                                    </p:set>
                                    <p:animEffect transition="in" filter="wipe(left)">
                                      <p:cBhvr>
                                        <p:cTn id="22" dur="500"/>
                                        <p:tgtEl>
                                          <p:spTgt spid="1300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30086"/>
                                        </p:tgtEl>
                                        <p:attrNameLst>
                                          <p:attrName>style.visibility</p:attrName>
                                        </p:attrNameLst>
                                      </p:cBhvr>
                                      <p:to>
                                        <p:strVal val="visible"/>
                                      </p:to>
                                    </p:set>
                                    <p:animEffect transition="in" filter="wipe(left)">
                                      <p:cBhvr>
                                        <p:cTn id="27" dur="500"/>
                                        <p:tgtEl>
                                          <p:spTgt spid="130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50000"/>
              </a:spcBef>
              <a:buClrTx/>
              <a:buFontTx/>
              <a:buNone/>
            </a:pPr>
            <a:fld id="{E84EE4F5-0D92-4F8E-9CDB-3F78C5CDAAD7}" type="slidenum">
              <a:rPr kumimoji="0" lang="zh-CN" altLang="en-US" sz="1400" smtClean="0">
                <a:solidFill>
                  <a:schemeClr val="bg2"/>
                </a:solidFill>
              </a:rPr>
              <a:pPr>
                <a:spcBef>
                  <a:spcPct val="50000"/>
                </a:spcBef>
                <a:buClrTx/>
                <a:buFontTx/>
                <a:buNone/>
              </a:pPr>
              <a:t>3</a:t>
            </a:fld>
            <a:endParaRPr kumimoji="0" lang="en-US" altLang="zh-CN" sz="1400" smtClean="0">
              <a:solidFill>
                <a:schemeClr val="bg2"/>
              </a:solidFill>
            </a:endParaRPr>
          </a:p>
        </p:txBody>
      </p:sp>
      <p:sp>
        <p:nvSpPr>
          <p:cNvPr id="7171" name="Text Box 23"/>
          <p:cNvSpPr txBox="1">
            <a:spLocks noChangeArrowheads="1"/>
          </p:cNvSpPr>
          <p:nvPr/>
        </p:nvSpPr>
        <p:spPr bwMode="auto">
          <a:xfrm>
            <a:off x="749300" y="563563"/>
            <a:ext cx="4267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zh-CN" altLang="en-US" sz="2800">
                <a:solidFill>
                  <a:srgbClr val="0000FF"/>
                </a:solidFill>
              </a:rPr>
              <a:t>一、自然光  偏振光</a:t>
            </a:r>
          </a:p>
        </p:txBody>
      </p:sp>
      <p:sp>
        <p:nvSpPr>
          <p:cNvPr id="131096" name="Text Box 24"/>
          <p:cNvSpPr txBox="1">
            <a:spLocks noChangeArrowheads="1"/>
          </p:cNvSpPr>
          <p:nvPr/>
        </p:nvSpPr>
        <p:spPr bwMode="auto">
          <a:xfrm>
            <a:off x="714375" y="1082675"/>
            <a:ext cx="5238750"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20000"/>
              </a:lnSpc>
              <a:spcBef>
                <a:spcPct val="0"/>
              </a:spcBef>
              <a:buClrTx/>
              <a:buFontTx/>
              <a:buNone/>
            </a:pPr>
            <a:r>
              <a:rPr kumimoji="0" lang="zh-CN" altLang="en-US" sz="2800">
                <a:solidFill>
                  <a:srgbClr val="CC0000"/>
                </a:solidFill>
              </a:rPr>
              <a:t>    </a:t>
            </a:r>
            <a:r>
              <a:rPr kumimoji="0" lang="en-US" altLang="zh-CN" sz="2800">
                <a:solidFill>
                  <a:srgbClr val="CC0000"/>
                </a:solidFill>
              </a:rPr>
              <a:t>1. </a:t>
            </a:r>
            <a:r>
              <a:rPr kumimoji="0" lang="zh-CN" altLang="en-US" sz="2800">
                <a:solidFill>
                  <a:srgbClr val="CC0000"/>
                </a:solidFill>
              </a:rPr>
              <a:t>自然光</a:t>
            </a:r>
            <a:r>
              <a:rPr kumimoji="0" lang="zh-CN" altLang="en-US" sz="2800">
                <a:solidFill>
                  <a:srgbClr val="000000"/>
                </a:solidFill>
              </a:rPr>
              <a:t> ：一般光源发出的光，包含各个方向的光矢量在所有可能的方向上的振幅都相等 </a:t>
            </a:r>
            <a:r>
              <a:rPr kumimoji="0" lang="en-US" altLang="zh-CN" sz="2800">
                <a:solidFill>
                  <a:srgbClr val="000000"/>
                </a:solidFill>
              </a:rPr>
              <a:t>.</a:t>
            </a:r>
            <a:r>
              <a:rPr kumimoji="0" lang="zh-CN" altLang="en-US" sz="2800">
                <a:solidFill>
                  <a:srgbClr val="FF0000"/>
                </a:solidFill>
              </a:rPr>
              <a:t>各光矢量间无固定的相位关系 </a:t>
            </a:r>
            <a:r>
              <a:rPr kumimoji="0" lang="en-US" altLang="zh-CN" sz="2800">
                <a:solidFill>
                  <a:srgbClr val="FF0000"/>
                </a:solidFill>
              </a:rPr>
              <a:t>.</a:t>
            </a:r>
          </a:p>
        </p:txBody>
      </p:sp>
      <p:sp>
        <p:nvSpPr>
          <p:cNvPr id="7173" name="Text Box 25"/>
          <p:cNvSpPr txBox="1">
            <a:spLocks noChangeArrowheads="1"/>
          </p:cNvSpPr>
          <p:nvPr/>
        </p:nvSpPr>
        <p:spPr bwMode="auto">
          <a:xfrm>
            <a:off x="609600" y="4064000"/>
            <a:ext cx="63801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endParaRPr kumimoji="0" lang="zh-CN" altLang="en-US" sz="2800"/>
          </a:p>
        </p:txBody>
      </p:sp>
      <p:grpSp>
        <p:nvGrpSpPr>
          <p:cNvPr id="131147" name="Group 75"/>
          <p:cNvGrpSpPr>
            <a:grpSpLocks/>
          </p:cNvGrpSpPr>
          <p:nvPr/>
        </p:nvGrpSpPr>
        <p:grpSpPr bwMode="auto">
          <a:xfrm>
            <a:off x="5964238" y="835025"/>
            <a:ext cx="2819400" cy="2984500"/>
            <a:chOff x="3776" y="409"/>
            <a:chExt cx="1776" cy="1880"/>
          </a:xfrm>
        </p:grpSpPr>
        <p:sp>
          <p:nvSpPr>
            <p:cNvPr id="7213" name="Rectangle 3"/>
            <p:cNvSpPr>
              <a:spLocks noChangeArrowheads="1"/>
            </p:cNvSpPr>
            <p:nvPr/>
          </p:nvSpPr>
          <p:spPr bwMode="auto">
            <a:xfrm>
              <a:off x="3776" y="409"/>
              <a:ext cx="1776" cy="1880"/>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7214" name="Line 5"/>
            <p:cNvSpPr>
              <a:spLocks noChangeShapeType="1"/>
            </p:cNvSpPr>
            <p:nvPr/>
          </p:nvSpPr>
          <p:spPr bwMode="auto">
            <a:xfrm>
              <a:off x="3920" y="2040"/>
              <a:ext cx="1440"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5" name="Line 6"/>
            <p:cNvSpPr>
              <a:spLocks noChangeShapeType="1"/>
            </p:cNvSpPr>
            <p:nvPr/>
          </p:nvSpPr>
          <p:spPr bwMode="auto">
            <a:xfrm>
              <a:off x="4192" y="1897"/>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6" name="Line 7"/>
            <p:cNvSpPr>
              <a:spLocks noChangeShapeType="1"/>
            </p:cNvSpPr>
            <p:nvPr/>
          </p:nvSpPr>
          <p:spPr bwMode="auto">
            <a:xfrm>
              <a:off x="4426" y="1897"/>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7" name="Line 8"/>
            <p:cNvSpPr>
              <a:spLocks noChangeShapeType="1"/>
            </p:cNvSpPr>
            <p:nvPr/>
          </p:nvSpPr>
          <p:spPr bwMode="auto">
            <a:xfrm>
              <a:off x="4659" y="1897"/>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8" name="Line 9"/>
            <p:cNvSpPr>
              <a:spLocks noChangeShapeType="1"/>
            </p:cNvSpPr>
            <p:nvPr/>
          </p:nvSpPr>
          <p:spPr bwMode="auto">
            <a:xfrm>
              <a:off x="4893" y="1897"/>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9" name="Line 10"/>
            <p:cNvSpPr>
              <a:spLocks noChangeShapeType="1"/>
            </p:cNvSpPr>
            <p:nvPr/>
          </p:nvSpPr>
          <p:spPr bwMode="auto">
            <a:xfrm>
              <a:off x="5126" y="1897"/>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0" name="Oval 11"/>
            <p:cNvSpPr>
              <a:spLocks noChangeArrowheads="1"/>
            </p:cNvSpPr>
            <p:nvPr/>
          </p:nvSpPr>
          <p:spPr bwMode="auto">
            <a:xfrm>
              <a:off x="4037" y="2005"/>
              <a:ext cx="78"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7221" name="Oval 12"/>
            <p:cNvSpPr>
              <a:spLocks noChangeArrowheads="1"/>
            </p:cNvSpPr>
            <p:nvPr/>
          </p:nvSpPr>
          <p:spPr bwMode="auto">
            <a:xfrm>
              <a:off x="4270" y="2005"/>
              <a:ext cx="78"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7222" name="Oval 13"/>
            <p:cNvSpPr>
              <a:spLocks noChangeArrowheads="1"/>
            </p:cNvSpPr>
            <p:nvPr/>
          </p:nvSpPr>
          <p:spPr bwMode="auto">
            <a:xfrm>
              <a:off x="4504" y="2005"/>
              <a:ext cx="78"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7223" name="Oval 14"/>
            <p:cNvSpPr>
              <a:spLocks noChangeArrowheads="1"/>
            </p:cNvSpPr>
            <p:nvPr/>
          </p:nvSpPr>
          <p:spPr bwMode="auto">
            <a:xfrm>
              <a:off x="4737" y="2005"/>
              <a:ext cx="78"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7224" name="Oval 15"/>
            <p:cNvSpPr>
              <a:spLocks noChangeArrowheads="1"/>
            </p:cNvSpPr>
            <p:nvPr/>
          </p:nvSpPr>
          <p:spPr bwMode="auto">
            <a:xfrm>
              <a:off x="4971" y="2005"/>
              <a:ext cx="78"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7225" name="Line 16"/>
            <p:cNvSpPr>
              <a:spLocks noChangeShapeType="1"/>
            </p:cNvSpPr>
            <p:nvPr/>
          </p:nvSpPr>
          <p:spPr bwMode="auto">
            <a:xfrm flipV="1">
              <a:off x="4592" y="595"/>
              <a:ext cx="650" cy="488"/>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6" name="AutoShape 17"/>
            <p:cNvSpPr>
              <a:spLocks noChangeArrowheads="1"/>
            </p:cNvSpPr>
            <p:nvPr/>
          </p:nvSpPr>
          <p:spPr bwMode="auto">
            <a:xfrm rot="-5369967">
              <a:off x="4112" y="744"/>
              <a:ext cx="1007" cy="721"/>
            </a:xfrm>
            <a:prstGeom prst="parallelogram">
              <a:avLst>
                <a:gd name="adj" fmla="val 34917"/>
              </a:avLst>
            </a:prstGeom>
            <a:solidFill>
              <a:srgbClr val="ACE39B">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7227" name="Line 18"/>
            <p:cNvSpPr>
              <a:spLocks noChangeShapeType="1"/>
            </p:cNvSpPr>
            <p:nvPr/>
          </p:nvSpPr>
          <p:spPr bwMode="auto">
            <a:xfrm>
              <a:off x="4400" y="988"/>
              <a:ext cx="432" cy="192"/>
            </a:xfrm>
            <a:prstGeom prst="line">
              <a:avLst/>
            </a:prstGeom>
            <a:noFill/>
            <a:ln w="19050">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8" name="Line 19"/>
            <p:cNvSpPr>
              <a:spLocks noChangeShapeType="1"/>
            </p:cNvSpPr>
            <p:nvPr/>
          </p:nvSpPr>
          <p:spPr bwMode="auto">
            <a:xfrm>
              <a:off x="4448" y="844"/>
              <a:ext cx="288" cy="432"/>
            </a:xfrm>
            <a:prstGeom prst="line">
              <a:avLst/>
            </a:prstGeom>
            <a:noFill/>
            <a:ln w="19050">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 name="Line 20"/>
            <p:cNvSpPr>
              <a:spLocks noChangeShapeType="1"/>
            </p:cNvSpPr>
            <p:nvPr/>
          </p:nvSpPr>
          <p:spPr bwMode="auto">
            <a:xfrm>
              <a:off x="4592" y="844"/>
              <a:ext cx="0" cy="480"/>
            </a:xfrm>
            <a:prstGeom prst="line">
              <a:avLst/>
            </a:prstGeom>
            <a:noFill/>
            <a:ln w="19050">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0" name="Line 21"/>
            <p:cNvSpPr>
              <a:spLocks noChangeShapeType="1"/>
            </p:cNvSpPr>
            <p:nvPr/>
          </p:nvSpPr>
          <p:spPr bwMode="auto">
            <a:xfrm flipV="1">
              <a:off x="4400" y="988"/>
              <a:ext cx="384" cy="192"/>
            </a:xfrm>
            <a:prstGeom prst="line">
              <a:avLst/>
            </a:prstGeom>
            <a:noFill/>
            <a:ln w="19050">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231" name="Object 26"/>
            <p:cNvGraphicFramePr>
              <a:graphicFrameLocks noChangeAspect="1"/>
            </p:cNvGraphicFramePr>
            <p:nvPr/>
          </p:nvGraphicFramePr>
          <p:xfrm>
            <a:off x="5197" y="847"/>
            <a:ext cx="148" cy="164"/>
          </p:xfrm>
          <a:graphic>
            <a:graphicData uri="http://schemas.openxmlformats.org/presentationml/2006/ole">
              <mc:AlternateContent xmlns:mc="http://schemas.openxmlformats.org/markup-compatibility/2006">
                <mc:Choice xmlns:v="urn:schemas-microsoft-com:vml" Requires="v">
                  <p:oleObj spid="_x0000_s7234" name="Equation" r:id="rId3" imgW="126835" imgH="139518" progId="Equation.3">
                    <p:embed/>
                  </p:oleObj>
                </mc:Choice>
                <mc:Fallback>
                  <p:oleObj name="Equation" r:id="rId3" imgW="126835" imgH="139518"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7" y="847"/>
                          <a:ext cx="148"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32" name="Object 27"/>
            <p:cNvGraphicFramePr>
              <a:graphicFrameLocks noChangeAspect="1"/>
            </p:cNvGraphicFramePr>
            <p:nvPr/>
          </p:nvGraphicFramePr>
          <p:xfrm>
            <a:off x="4769" y="1328"/>
            <a:ext cx="158" cy="170"/>
          </p:xfrm>
          <a:graphic>
            <a:graphicData uri="http://schemas.openxmlformats.org/presentationml/2006/ole">
              <mc:AlternateContent xmlns:mc="http://schemas.openxmlformats.org/markup-compatibility/2006">
                <mc:Choice xmlns:v="urn:schemas-microsoft-com:vml" Requires="v">
                  <p:oleObj spid="_x0000_s7235" name="Equation" r:id="rId5" imgW="152268" imgH="164957" progId="Equation.3">
                    <p:embed/>
                  </p:oleObj>
                </mc:Choice>
                <mc:Fallback>
                  <p:oleObj name="Equation" r:id="rId5" imgW="152268" imgH="164957" progId="Equation.3">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9" y="1328"/>
                          <a:ext cx="158"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33" name="Line 33"/>
            <p:cNvSpPr>
              <a:spLocks noChangeShapeType="1"/>
            </p:cNvSpPr>
            <p:nvPr/>
          </p:nvSpPr>
          <p:spPr bwMode="auto">
            <a:xfrm flipV="1">
              <a:off x="3972" y="1067"/>
              <a:ext cx="650" cy="488"/>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1146" name="Group 74"/>
          <p:cNvGrpSpPr>
            <a:grpSpLocks/>
          </p:cNvGrpSpPr>
          <p:nvPr/>
        </p:nvGrpSpPr>
        <p:grpSpPr bwMode="auto">
          <a:xfrm>
            <a:off x="5964238" y="4373563"/>
            <a:ext cx="2819400" cy="1870075"/>
            <a:chOff x="3486" y="2953"/>
            <a:chExt cx="1776" cy="1178"/>
          </a:xfrm>
        </p:grpSpPr>
        <p:sp>
          <p:nvSpPr>
            <p:cNvPr id="7198" name="Rectangle 55"/>
            <p:cNvSpPr>
              <a:spLocks noChangeArrowheads="1"/>
            </p:cNvSpPr>
            <p:nvPr/>
          </p:nvSpPr>
          <p:spPr bwMode="auto">
            <a:xfrm>
              <a:off x="3486" y="2953"/>
              <a:ext cx="1776" cy="117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nvGrpSpPr>
            <p:cNvPr id="7199" name="Group 57"/>
            <p:cNvGrpSpPr>
              <a:grpSpLocks/>
            </p:cNvGrpSpPr>
            <p:nvPr/>
          </p:nvGrpSpPr>
          <p:grpSpPr bwMode="auto">
            <a:xfrm>
              <a:off x="3678" y="3315"/>
              <a:ext cx="1440" cy="336"/>
              <a:chOff x="1008" y="1776"/>
              <a:chExt cx="1440" cy="336"/>
            </a:xfrm>
          </p:grpSpPr>
          <p:sp>
            <p:nvSpPr>
              <p:cNvPr id="7207" name="Line 58"/>
              <p:cNvSpPr>
                <a:spLocks noChangeShapeType="1"/>
              </p:cNvSpPr>
              <p:nvPr/>
            </p:nvSpPr>
            <p:spPr bwMode="auto">
              <a:xfrm>
                <a:off x="1008" y="1944"/>
                <a:ext cx="1440"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8" name="Line 59"/>
              <p:cNvSpPr>
                <a:spLocks noChangeShapeType="1"/>
              </p:cNvSpPr>
              <p:nvPr/>
            </p:nvSpPr>
            <p:spPr bwMode="auto">
              <a:xfrm>
                <a:off x="1200" y="1776"/>
                <a:ext cx="0" cy="336"/>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9" name="Line 60"/>
              <p:cNvSpPr>
                <a:spLocks noChangeShapeType="1"/>
              </p:cNvSpPr>
              <p:nvPr/>
            </p:nvSpPr>
            <p:spPr bwMode="auto">
              <a:xfrm>
                <a:off x="1433" y="1776"/>
                <a:ext cx="0" cy="336"/>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0" name="Line 61"/>
              <p:cNvSpPr>
                <a:spLocks noChangeShapeType="1"/>
              </p:cNvSpPr>
              <p:nvPr/>
            </p:nvSpPr>
            <p:spPr bwMode="auto">
              <a:xfrm>
                <a:off x="1667" y="1776"/>
                <a:ext cx="0" cy="336"/>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1" name="Line 62"/>
              <p:cNvSpPr>
                <a:spLocks noChangeShapeType="1"/>
              </p:cNvSpPr>
              <p:nvPr/>
            </p:nvSpPr>
            <p:spPr bwMode="auto">
              <a:xfrm>
                <a:off x="1900" y="1776"/>
                <a:ext cx="0" cy="336"/>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2" name="Line 63"/>
              <p:cNvSpPr>
                <a:spLocks noChangeShapeType="1"/>
              </p:cNvSpPr>
              <p:nvPr/>
            </p:nvSpPr>
            <p:spPr bwMode="auto">
              <a:xfrm>
                <a:off x="2134" y="1776"/>
                <a:ext cx="0" cy="336"/>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00" name="Group 64"/>
            <p:cNvGrpSpPr>
              <a:grpSpLocks/>
            </p:cNvGrpSpPr>
            <p:nvPr/>
          </p:nvGrpSpPr>
          <p:grpSpPr bwMode="auto">
            <a:xfrm>
              <a:off x="3678" y="3891"/>
              <a:ext cx="1440" cy="96"/>
              <a:chOff x="1056" y="2448"/>
              <a:chExt cx="1440" cy="96"/>
            </a:xfrm>
          </p:grpSpPr>
          <p:sp>
            <p:nvSpPr>
              <p:cNvPr id="7201" name="Line 65"/>
              <p:cNvSpPr>
                <a:spLocks noChangeShapeType="1"/>
              </p:cNvSpPr>
              <p:nvPr/>
            </p:nvSpPr>
            <p:spPr bwMode="auto">
              <a:xfrm>
                <a:off x="1056" y="2496"/>
                <a:ext cx="1440"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2" name="Oval 66"/>
              <p:cNvSpPr>
                <a:spLocks noChangeArrowheads="1"/>
              </p:cNvSpPr>
              <p:nvPr/>
            </p:nvSpPr>
            <p:spPr bwMode="auto">
              <a:xfrm>
                <a:off x="1243" y="2448"/>
                <a:ext cx="74" cy="9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7203" name="Oval 67"/>
              <p:cNvSpPr>
                <a:spLocks noChangeArrowheads="1"/>
              </p:cNvSpPr>
              <p:nvPr/>
            </p:nvSpPr>
            <p:spPr bwMode="auto">
              <a:xfrm>
                <a:off x="1467" y="2448"/>
                <a:ext cx="74" cy="9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7204" name="Oval 68"/>
              <p:cNvSpPr>
                <a:spLocks noChangeArrowheads="1"/>
              </p:cNvSpPr>
              <p:nvPr/>
            </p:nvSpPr>
            <p:spPr bwMode="auto">
              <a:xfrm>
                <a:off x="1691" y="2448"/>
                <a:ext cx="74" cy="9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7205" name="Oval 69"/>
              <p:cNvSpPr>
                <a:spLocks noChangeArrowheads="1"/>
              </p:cNvSpPr>
              <p:nvPr/>
            </p:nvSpPr>
            <p:spPr bwMode="auto">
              <a:xfrm>
                <a:off x="1915" y="2448"/>
                <a:ext cx="74" cy="9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7206" name="Oval 70"/>
              <p:cNvSpPr>
                <a:spLocks noChangeArrowheads="1"/>
              </p:cNvSpPr>
              <p:nvPr/>
            </p:nvSpPr>
            <p:spPr bwMode="auto">
              <a:xfrm>
                <a:off x="2139" y="2448"/>
                <a:ext cx="74" cy="9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grpSp>
      <p:grpSp>
        <p:nvGrpSpPr>
          <p:cNvPr id="131149" name="Group 77"/>
          <p:cNvGrpSpPr>
            <a:grpSpLocks/>
          </p:cNvGrpSpPr>
          <p:nvPr/>
        </p:nvGrpSpPr>
        <p:grpSpPr bwMode="auto">
          <a:xfrm>
            <a:off x="785813" y="3297238"/>
            <a:ext cx="6172200" cy="1089025"/>
            <a:chOff x="495" y="2077"/>
            <a:chExt cx="3888" cy="686"/>
          </a:xfrm>
        </p:grpSpPr>
        <p:sp>
          <p:nvSpPr>
            <p:cNvPr id="7196" name="Text Box 53"/>
            <p:cNvSpPr txBox="1">
              <a:spLocks noChangeArrowheads="1"/>
            </p:cNvSpPr>
            <p:nvPr/>
          </p:nvSpPr>
          <p:spPr bwMode="auto">
            <a:xfrm>
              <a:off x="749" y="2077"/>
              <a:ext cx="24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en-US" altLang="zh-CN" sz="2800">
                  <a:solidFill>
                    <a:srgbClr val="CC0000"/>
                  </a:solidFill>
                </a:rPr>
                <a:t>2. </a:t>
              </a:r>
              <a:r>
                <a:rPr kumimoji="0" lang="zh-CN" altLang="en-US" sz="2800">
                  <a:solidFill>
                    <a:srgbClr val="CC0000"/>
                  </a:solidFill>
                </a:rPr>
                <a:t>偏振光</a:t>
              </a:r>
              <a:r>
                <a:rPr kumimoji="0" lang="zh-CN" altLang="en-US" sz="2800">
                  <a:solidFill>
                    <a:srgbClr val="000000"/>
                  </a:solidFill>
                </a:rPr>
                <a:t>（线偏振光）</a:t>
              </a:r>
            </a:p>
          </p:txBody>
        </p:sp>
        <p:sp>
          <p:nvSpPr>
            <p:cNvPr id="7197" name="Rectangle 71"/>
            <p:cNvSpPr>
              <a:spLocks noChangeArrowheads="1"/>
            </p:cNvSpPr>
            <p:nvPr/>
          </p:nvSpPr>
          <p:spPr bwMode="auto">
            <a:xfrm>
              <a:off x="495" y="2436"/>
              <a:ext cx="38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zh-CN" altLang="en-US" sz="2800">
                  <a:solidFill>
                    <a:srgbClr val="000000"/>
                  </a:solidFill>
                </a:rPr>
                <a:t>光振动只沿某一固定方向的光 </a:t>
              </a:r>
              <a:r>
                <a:rPr kumimoji="0" lang="en-US" altLang="zh-CN" sz="2800">
                  <a:solidFill>
                    <a:srgbClr val="000000"/>
                  </a:solidFill>
                </a:rPr>
                <a:t>.</a:t>
              </a:r>
            </a:p>
          </p:txBody>
        </p:sp>
      </p:grpSp>
      <p:grpSp>
        <p:nvGrpSpPr>
          <p:cNvPr id="131148" name="Group 76"/>
          <p:cNvGrpSpPr>
            <a:grpSpLocks/>
          </p:cNvGrpSpPr>
          <p:nvPr/>
        </p:nvGrpSpPr>
        <p:grpSpPr bwMode="auto">
          <a:xfrm>
            <a:off x="1138238" y="4484688"/>
            <a:ext cx="4267200" cy="1758950"/>
            <a:chOff x="654" y="2822"/>
            <a:chExt cx="2688" cy="1108"/>
          </a:xfrm>
        </p:grpSpPr>
        <p:sp>
          <p:nvSpPr>
            <p:cNvPr id="7178" name="Rectangle 36"/>
            <p:cNvSpPr>
              <a:spLocks noChangeArrowheads="1"/>
            </p:cNvSpPr>
            <p:nvPr/>
          </p:nvSpPr>
          <p:spPr bwMode="auto">
            <a:xfrm>
              <a:off x="654" y="2822"/>
              <a:ext cx="2688" cy="110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7179" name="Line 37"/>
            <p:cNvSpPr>
              <a:spLocks noChangeShapeType="1"/>
            </p:cNvSpPr>
            <p:nvPr/>
          </p:nvSpPr>
          <p:spPr bwMode="auto">
            <a:xfrm>
              <a:off x="750" y="3411"/>
              <a:ext cx="2544" cy="0"/>
            </a:xfrm>
            <a:prstGeom prst="line">
              <a:avLst/>
            </a:prstGeom>
            <a:noFill/>
            <a:ln w="19050">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0" name="Freeform 39"/>
            <p:cNvSpPr>
              <a:spLocks/>
            </p:cNvSpPr>
            <p:nvPr/>
          </p:nvSpPr>
          <p:spPr bwMode="auto">
            <a:xfrm>
              <a:off x="961" y="3071"/>
              <a:ext cx="939" cy="657"/>
            </a:xfrm>
            <a:custGeom>
              <a:avLst/>
              <a:gdLst>
                <a:gd name="T0" fmla="*/ 0 w 880"/>
                <a:gd name="T1" fmla="*/ 255 h 849"/>
                <a:gd name="T2" fmla="*/ 106 w 880"/>
                <a:gd name="T3" fmla="*/ 67 h 849"/>
                <a:gd name="T4" fmla="*/ 251 w 880"/>
                <a:gd name="T5" fmla="*/ 2 h 849"/>
                <a:gd name="T6" fmla="*/ 388 w 880"/>
                <a:gd name="T7" fmla="*/ 74 h 849"/>
                <a:gd name="T8" fmla="*/ 502 w 880"/>
                <a:gd name="T9" fmla="*/ 255 h 849"/>
                <a:gd name="T10" fmla="*/ 593 w 880"/>
                <a:gd name="T11" fmla="*/ 417 h 849"/>
                <a:gd name="T12" fmla="*/ 751 w 880"/>
                <a:gd name="T13" fmla="*/ 508 h 849"/>
                <a:gd name="T14" fmla="*/ 903 w 880"/>
                <a:gd name="T15" fmla="*/ 417 h 849"/>
                <a:gd name="T16" fmla="*/ 1002 w 880"/>
                <a:gd name="T17" fmla="*/ 255 h 8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80" h="849">
                  <a:moveTo>
                    <a:pt x="0" y="426"/>
                  </a:moveTo>
                  <a:cubicBezTo>
                    <a:pt x="15" y="374"/>
                    <a:pt x="56" y="183"/>
                    <a:pt x="93" y="112"/>
                  </a:cubicBezTo>
                  <a:cubicBezTo>
                    <a:pt x="130" y="41"/>
                    <a:pt x="179" y="0"/>
                    <a:pt x="220" y="2"/>
                  </a:cubicBezTo>
                  <a:cubicBezTo>
                    <a:pt x="261" y="4"/>
                    <a:pt x="304" y="53"/>
                    <a:pt x="341" y="124"/>
                  </a:cubicBezTo>
                  <a:cubicBezTo>
                    <a:pt x="378" y="195"/>
                    <a:pt x="410" y="331"/>
                    <a:pt x="440" y="426"/>
                  </a:cubicBezTo>
                  <a:cubicBezTo>
                    <a:pt x="470" y="521"/>
                    <a:pt x="484" y="626"/>
                    <a:pt x="521" y="696"/>
                  </a:cubicBezTo>
                  <a:cubicBezTo>
                    <a:pt x="558" y="766"/>
                    <a:pt x="615" y="849"/>
                    <a:pt x="660" y="849"/>
                  </a:cubicBezTo>
                  <a:cubicBezTo>
                    <a:pt x="705" y="849"/>
                    <a:pt x="756" y="766"/>
                    <a:pt x="793" y="696"/>
                  </a:cubicBezTo>
                  <a:cubicBezTo>
                    <a:pt x="830" y="626"/>
                    <a:pt x="862" y="482"/>
                    <a:pt x="880" y="426"/>
                  </a:cubicBezTo>
                </a:path>
              </a:pathLst>
            </a:custGeom>
            <a:noFill/>
            <a:ln w="28575" cmpd="sng">
              <a:solidFill>
                <a:srgbClr val="FF0000"/>
              </a:solidFill>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1" name="Line 40"/>
            <p:cNvSpPr>
              <a:spLocks noChangeShapeType="1"/>
            </p:cNvSpPr>
            <p:nvPr/>
          </p:nvSpPr>
          <p:spPr bwMode="auto">
            <a:xfrm flipV="1">
              <a:off x="1197" y="3073"/>
              <a:ext cx="0" cy="327"/>
            </a:xfrm>
            <a:prstGeom prst="line">
              <a:avLst/>
            </a:prstGeom>
            <a:noFill/>
            <a:ln w="952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2" name="Line 41"/>
            <p:cNvSpPr>
              <a:spLocks noChangeShapeType="1"/>
            </p:cNvSpPr>
            <p:nvPr/>
          </p:nvSpPr>
          <p:spPr bwMode="auto">
            <a:xfrm flipV="1">
              <a:off x="2118" y="3073"/>
              <a:ext cx="0" cy="327"/>
            </a:xfrm>
            <a:prstGeom prst="line">
              <a:avLst/>
            </a:prstGeom>
            <a:noFill/>
            <a:ln w="952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3" name="Line 42"/>
            <p:cNvSpPr>
              <a:spLocks noChangeShapeType="1"/>
            </p:cNvSpPr>
            <p:nvPr/>
          </p:nvSpPr>
          <p:spPr bwMode="auto">
            <a:xfrm flipV="1">
              <a:off x="1665" y="3400"/>
              <a:ext cx="0" cy="328"/>
            </a:xfrm>
            <a:prstGeom prst="line">
              <a:avLst/>
            </a:prstGeom>
            <a:noFill/>
            <a:ln w="9525">
              <a:solidFill>
                <a:srgbClr val="FF00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4" name="Line 43"/>
            <p:cNvSpPr>
              <a:spLocks noChangeShapeType="1"/>
            </p:cNvSpPr>
            <p:nvPr/>
          </p:nvSpPr>
          <p:spPr bwMode="auto">
            <a:xfrm flipV="1">
              <a:off x="2586" y="3400"/>
              <a:ext cx="0" cy="328"/>
            </a:xfrm>
            <a:prstGeom prst="line">
              <a:avLst/>
            </a:prstGeom>
            <a:noFill/>
            <a:ln w="9525">
              <a:solidFill>
                <a:srgbClr val="FF00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5" name="Freeform 44"/>
            <p:cNvSpPr>
              <a:spLocks/>
            </p:cNvSpPr>
            <p:nvPr/>
          </p:nvSpPr>
          <p:spPr bwMode="auto">
            <a:xfrm>
              <a:off x="1558" y="3400"/>
              <a:ext cx="1" cy="250"/>
            </a:xfrm>
            <a:custGeom>
              <a:avLst/>
              <a:gdLst>
                <a:gd name="T0" fmla="*/ 1 w 1"/>
                <a:gd name="T1" fmla="*/ 193 h 323"/>
                <a:gd name="T2" fmla="*/ 0 w 1"/>
                <a:gd name="T3" fmla="*/ 0 h 323"/>
                <a:gd name="T4" fmla="*/ 0 60000 65536"/>
                <a:gd name="T5" fmla="*/ 0 60000 65536"/>
              </a:gdLst>
              <a:ahLst/>
              <a:cxnLst>
                <a:cxn ang="T4">
                  <a:pos x="T0" y="T1"/>
                </a:cxn>
                <a:cxn ang="T5">
                  <a:pos x="T2" y="T3"/>
                </a:cxn>
              </a:cxnLst>
              <a:rect l="0" t="0" r="r" b="b"/>
              <a:pathLst>
                <a:path w="1" h="323">
                  <a:moveTo>
                    <a:pt x="1" y="323"/>
                  </a:moveTo>
                  <a:lnTo>
                    <a:pt x="0" y="0"/>
                  </a:lnTo>
                </a:path>
              </a:pathLst>
            </a:custGeom>
            <a:noFill/>
            <a:ln w="9525">
              <a:solidFill>
                <a:srgbClr val="FF0000"/>
              </a:solidFill>
              <a:round/>
              <a:headEnd type="triangl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6" name="Freeform 45"/>
            <p:cNvSpPr>
              <a:spLocks/>
            </p:cNvSpPr>
            <p:nvPr/>
          </p:nvSpPr>
          <p:spPr bwMode="auto">
            <a:xfrm>
              <a:off x="1773" y="3400"/>
              <a:ext cx="2" cy="247"/>
            </a:xfrm>
            <a:custGeom>
              <a:avLst/>
              <a:gdLst>
                <a:gd name="T0" fmla="*/ 0 w 2"/>
                <a:gd name="T1" fmla="*/ 191 h 319"/>
                <a:gd name="T2" fmla="*/ 2 w 2"/>
                <a:gd name="T3" fmla="*/ 0 h 319"/>
                <a:gd name="T4" fmla="*/ 0 60000 65536"/>
                <a:gd name="T5" fmla="*/ 0 60000 65536"/>
              </a:gdLst>
              <a:ahLst/>
              <a:cxnLst>
                <a:cxn ang="T4">
                  <a:pos x="T0" y="T1"/>
                </a:cxn>
                <a:cxn ang="T5">
                  <a:pos x="T2" y="T3"/>
                </a:cxn>
              </a:cxnLst>
              <a:rect l="0" t="0" r="r" b="b"/>
              <a:pathLst>
                <a:path w="2" h="319">
                  <a:moveTo>
                    <a:pt x="0" y="319"/>
                  </a:moveTo>
                  <a:lnTo>
                    <a:pt x="2" y="0"/>
                  </a:lnTo>
                </a:path>
              </a:pathLst>
            </a:custGeom>
            <a:noFill/>
            <a:ln w="9525">
              <a:solidFill>
                <a:srgbClr val="FF0000"/>
              </a:solidFill>
              <a:round/>
              <a:headEnd type="triangl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7" name="Line 46"/>
            <p:cNvSpPr>
              <a:spLocks noChangeShapeType="1"/>
            </p:cNvSpPr>
            <p:nvPr/>
          </p:nvSpPr>
          <p:spPr bwMode="auto">
            <a:xfrm flipV="1">
              <a:off x="2477" y="3400"/>
              <a:ext cx="1" cy="274"/>
            </a:xfrm>
            <a:prstGeom prst="line">
              <a:avLst/>
            </a:prstGeom>
            <a:noFill/>
            <a:ln w="9525">
              <a:solidFill>
                <a:srgbClr val="FF00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8" name="Freeform 47"/>
            <p:cNvSpPr>
              <a:spLocks/>
            </p:cNvSpPr>
            <p:nvPr/>
          </p:nvSpPr>
          <p:spPr bwMode="auto">
            <a:xfrm>
              <a:off x="2682" y="3399"/>
              <a:ext cx="4" cy="275"/>
            </a:xfrm>
            <a:custGeom>
              <a:avLst/>
              <a:gdLst>
                <a:gd name="T0" fmla="*/ 0 w 4"/>
                <a:gd name="T1" fmla="*/ 212 h 356"/>
                <a:gd name="T2" fmla="*/ 4 w 4"/>
                <a:gd name="T3" fmla="*/ 0 h 356"/>
                <a:gd name="T4" fmla="*/ 0 60000 65536"/>
                <a:gd name="T5" fmla="*/ 0 60000 65536"/>
              </a:gdLst>
              <a:ahLst/>
              <a:cxnLst>
                <a:cxn ang="T4">
                  <a:pos x="T0" y="T1"/>
                </a:cxn>
                <a:cxn ang="T5">
                  <a:pos x="T2" y="T3"/>
                </a:cxn>
              </a:cxnLst>
              <a:rect l="0" t="0" r="r" b="b"/>
              <a:pathLst>
                <a:path w="4" h="356">
                  <a:moveTo>
                    <a:pt x="0" y="356"/>
                  </a:moveTo>
                  <a:lnTo>
                    <a:pt x="4" y="0"/>
                  </a:lnTo>
                </a:path>
              </a:pathLst>
            </a:custGeom>
            <a:noFill/>
            <a:ln w="9525">
              <a:solidFill>
                <a:srgbClr val="FF0000"/>
              </a:solidFill>
              <a:round/>
              <a:headEnd type="triangl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9" name="Line 48"/>
            <p:cNvSpPr>
              <a:spLocks noChangeShapeType="1"/>
            </p:cNvSpPr>
            <p:nvPr/>
          </p:nvSpPr>
          <p:spPr bwMode="auto">
            <a:xfrm flipV="1">
              <a:off x="2016" y="3117"/>
              <a:ext cx="0" cy="283"/>
            </a:xfrm>
            <a:prstGeom prst="line">
              <a:avLst/>
            </a:prstGeom>
            <a:noFill/>
            <a:ln w="952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0" name="Line 49"/>
            <p:cNvSpPr>
              <a:spLocks noChangeShapeType="1"/>
            </p:cNvSpPr>
            <p:nvPr/>
          </p:nvSpPr>
          <p:spPr bwMode="auto">
            <a:xfrm flipV="1">
              <a:off x="2221" y="3117"/>
              <a:ext cx="0" cy="283"/>
            </a:xfrm>
            <a:prstGeom prst="line">
              <a:avLst/>
            </a:prstGeom>
            <a:noFill/>
            <a:ln w="952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1" name="Freeform 50"/>
            <p:cNvSpPr>
              <a:spLocks/>
            </p:cNvSpPr>
            <p:nvPr/>
          </p:nvSpPr>
          <p:spPr bwMode="auto">
            <a:xfrm>
              <a:off x="1299" y="3145"/>
              <a:ext cx="1" cy="255"/>
            </a:xfrm>
            <a:custGeom>
              <a:avLst/>
              <a:gdLst>
                <a:gd name="T0" fmla="*/ 0 w 1"/>
                <a:gd name="T1" fmla="*/ 198 h 329"/>
                <a:gd name="T2" fmla="*/ 0 w 1"/>
                <a:gd name="T3" fmla="*/ 0 h 329"/>
                <a:gd name="T4" fmla="*/ 0 60000 65536"/>
                <a:gd name="T5" fmla="*/ 0 60000 65536"/>
              </a:gdLst>
              <a:ahLst/>
              <a:cxnLst>
                <a:cxn ang="T4">
                  <a:pos x="T0" y="T1"/>
                </a:cxn>
                <a:cxn ang="T5">
                  <a:pos x="T2" y="T3"/>
                </a:cxn>
              </a:cxnLst>
              <a:rect l="0" t="0" r="r" b="b"/>
              <a:pathLst>
                <a:path w="1" h="329">
                  <a:moveTo>
                    <a:pt x="0" y="329"/>
                  </a:moveTo>
                  <a:lnTo>
                    <a:pt x="0" y="0"/>
                  </a:lnTo>
                </a:path>
              </a:pathLst>
            </a:custGeom>
            <a:noFill/>
            <a:ln w="9525">
              <a:solidFill>
                <a:srgbClr val="FF0000"/>
              </a:solidFill>
              <a:round/>
              <a:headEnd type="non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2" name="Freeform 51"/>
            <p:cNvSpPr>
              <a:spLocks/>
            </p:cNvSpPr>
            <p:nvPr/>
          </p:nvSpPr>
          <p:spPr bwMode="auto">
            <a:xfrm>
              <a:off x="1090" y="3133"/>
              <a:ext cx="4" cy="267"/>
            </a:xfrm>
            <a:custGeom>
              <a:avLst/>
              <a:gdLst>
                <a:gd name="T0" fmla="*/ 4 w 4"/>
                <a:gd name="T1" fmla="*/ 207 h 345"/>
                <a:gd name="T2" fmla="*/ 0 w 4"/>
                <a:gd name="T3" fmla="*/ 0 h 345"/>
                <a:gd name="T4" fmla="*/ 0 60000 65536"/>
                <a:gd name="T5" fmla="*/ 0 60000 65536"/>
              </a:gdLst>
              <a:ahLst/>
              <a:cxnLst>
                <a:cxn ang="T4">
                  <a:pos x="T0" y="T1"/>
                </a:cxn>
                <a:cxn ang="T5">
                  <a:pos x="T2" y="T3"/>
                </a:cxn>
              </a:cxnLst>
              <a:rect l="0" t="0" r="r" b="b"/>
              <a:pathLst>
                <a:path w="4" h="345">
                  <a:moveTo>
                    <a:pt x="4" y="345"/>
                  </a:moveTo>
                  <a:lnTo>
                    <a:pt x="0" y="0"/>
                  </a:lnTo>
                </a:path>
              </a:pathLst>
            </a:custGeom>
            <a:noFill/>
            <a:ln w="9525">
              <a:solidFill>
                <a:srgbClr val="FF0000"/>
              </a:solidFill>
              <a:round/>
              <a:headEnd type="non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3" name="Freeform 52"/>
            <p:cNvSpPr>
              <a:spLocks/>
            </p:cNvSpPr>
            <p:nvPr/>
          </p:nvSpPr>
          <p:spPr bwMode="auto">
            <a:xfrm>
              <a:off x="1897" y="3073"/>
              <a:ext cx="917" cy="661"/>
            </a:xfrm>
            <a:custGeom>
              <a:avLst/>
              <a:gdLst>
                <a:gd name="T0" fmla="*/ 0 w 860"/>
                <a:gd name="T1" fmla="*/ 254 h 855"/>
                <a:gd name="T2" fmla="*/ 106 w 860"/>
                <a:gd name="T3" fmla="*/ 67 h 855"/>
                <a:gd name="T4" fmla="*/ 251 w 860"/>
                <a:gd name="T5" fmla="*/ 2 h 855"/>
                <a:gd name="T6" fmla="*/ 388 w 860"/>
                <a:gd name="T7" fmla="*/ 74 h 855"/>
                <a:gd name="T8" fmla="*/ 492 w 860"/>
                <a:gd name="T9" fmla="*/ 252 h 855"/>
                <a:gd name="T10" fmla="*/ 578 w 860"/>
                <a:gd name="T11" fmla="*/ 420 h 855"/>
                <a:gd name="T12" fmla="*/ 745 w 860"/>
                <a:gd name="T13" fmla="*/ 510 h 855"/>
                <a:gd name="T14" fmla="*/ 902 w 860"/>
                <a:gd name="T15" fmla="*/ 416 h 855"/>
                <a:gd name="T16" fmla="*/ 978 w 860"/>
                <a:gd name="T17" fmla="*/ 254 h 85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60" h="855">
                  <a:moveTo>
                    <a:pt x="0" y="426"/>
                  </a:moveTo>
                  <a:cubicBezTo>
                    <a:pt x="15" y="374"/>
                    <a:pt x="56" y="183"/>
                    <a:pt x="93" y="112"/>
                  </a:cubicBezTo>
                  <a:cubicBezTo>
                    <a:pt x="130" y="41"/>
                    <a:pt x="179" y="0"/>
                    <a:pt x="220" y="2"/>
                  </a:cubicBezTo>
                  <a:cubicBezTo>
                    <a:pt x="261" y="4"/>
                    <a:pt x="306" y="54"/>
                    <a:pt x="341" y="124"/>
                  </a:cubicBezTo>
                  <a:cubicBezTo>
                    <a:pt x="376" y="194"/>
                    <a:pt x="404" y="326"/>
                    <a:pt x="432" y="422"/>
                  </a:cubicBezTo>
                  <a:cubicBezTo>
                    <a:pt x="460" y="518"/>
                    <a:pt x="471" y="630"/>
                    <a:pt x="508" y="702"/>
                  </a:cubicBezTo>
                  <a:cubicBezTo>
                    <a:pt x="545" y="774"/>
                    <a:pt x="609" y="855"/>
                    <a:pt x="656" y="854"/>
                  </a:cubicBezTo>
                  <a:cubicBezTo>
                    <a:pt x="703" y="853"/>
                    <a:pt x="759" y="767"/>
                    <a:pt x="793" y="696"/>
                  </a:cubicBezTo>
                  <a:cubicBezTo>
                    <a:pt x="827" y="625"/>
                    <a:pt x="846" y="482"/>
                    <a:pt x="860" y="426"/>
                  </a:cubicBezTo>
                </a:path>
              </a:pathLst>
            </a:custGeom>
            <a:noFill/>
            <a:ln w="28575" cmpd="sng">
              <a:solidFill>
                <a:srgbClr val="FF0000"/>
              </a:solidFill>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194" name="Object 72"/>
            <p:cNvGraphicFramePr>
              <a:graphicFrameLocks noChangeAspect="1"/>
            </p:cNvGraphicFramePr>
            <p:nvPr/>
          </p:nvGraphicFramePr>
          <p:xfrm>
            <a:off x="2989" y="3476"/>
            <a:ext cx="155" cy="207"/>
          </p:xfrm>
          <a:graphic>
            <a:graphicData uri="http://schemas.openxmlformats.org/presentationml/2006/ole">
              <mc:AlternateContent xmlns:mc="http://schemas.openxmlformats.org/markup-compatibility/2006">
                <mc:Choice xmlns:v="urn:schemas-microsoft-com:vml" Requires="v">
                  <p:oleObj spid="_x0000_s7236" name="Equation" r:id="rId7" imgW="126835" imgH="139518" progId="Equation.3">
                    <p:embed/>
                  </p:oleObj>
                </mc:Choice>
                <mc:Fallback>
                  <p:oleObj name="Equation" r:id="rId7" imgW="126835" imgH="139518" progId="Equation.3">
                    <p:embed/>
                    <p:pic>
                      <p:nvPicPr>
                        <p:cNvPr id="0" name="Object 7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9" y="3476"/>
                          <a:ext cx="155"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5" name="Object 73"/>
            <p:cNvGraphicFramePr>
              <a:graphicFrameLocks noChangeAspect="1"/>
            </p:cNvGraphicFramePr>
            <p:nvPr/>
          </p:nvGraphicFramePr>
          <p:xfrm>
            <a:off x="2419" y="3038"/>
            <a:ext cx="179" cy="193"/>
          </p:xfrm>
          <a:graphic>
            <a:graphicData uri="http://schemas.openxmlformats.org/presentationml/2006/ole">
              <mc:AlternateContent xmlns:mc="http://schemas.openxmlformats.org/markup-compatibility/2006">
                <mc:Choice xmlns:v="urn:schemas-microsoft-com:vml" Requires="v">
                  <p:oleObj spid="_x0000_s7237" name="Equation" r:id="rId9" imgW="152268" imgH="164957" progId="Equation.3">
                    <p:embed/>
                  </p:oleObj>
                </mc:Choice>
                <mc:Fallback>
                  <p:oleObj name="Equation" r:id="rId9" imgW="152268" imgH="164957" progId="Equation.3">
                    <p:embed/>
                    <p:pic>
                      <p:nvPicPr>
                        <p:cNvPr id="0" name="Object 7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9" y="3038"/>
                          <a:ext cx="179"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1096"/>
                                        </p:tgtEl>
                                        <p:attrNameLst>
                                          <p:attrName>style.visibility</p:attrName>
                                        </p:attrNameLst>
                                      </p:cBhvr>
                                      <p:to>
                                        <p:strVal val="visible"/>
                                      </p:to>
                                    </p:set>
                                    <p:animEffect transition="in" filter="wipe(left)">
                                      <p:cBhvr>
                                        <p:cTn id="7" dur="500"/>
                                        <p:tgtEl>
                                          <p:spTgt spid="1310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1147"/>
                                        </p:tgtEl>
                                        <p:attrNameLst>
                                          <p:attrName>style.visibility</p:attrName>
                                        </p:attrNameLst>
                                      </p:cBhvr>
                                      <p:to>
                                        <p:strVal val="visible"/>
                                      </p:to>
                                    </p:set>
                                    <p:animEffect transition="in" filter="wipe(left)">
                                      <p:cBhvr>
                                        <p:cTn id="12" dur="500"/>
                                        <p:tgtEl>
                                          <p:spTgt spid="1311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1149"/>
                                        </p:tgtEl>
                                        <p:attrNameLst>
                                          <p:attrName>style.visibility</p:attrName>
                                        </p:attrNameLst>
                                      </p:cBhvr>
                                      <p:to>
                                        <p:strVal val="visible"/>
                                      </p:to>
                                    </p:set>
                                    <p:animEffect transition="in" filter="wipe(left)">
                                      <p:cBhvr>
                                        <p:cTn id="17" dur="500"/>
                                        <p:tgtEl>
                                          <p:spTgt spid="1311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1148"/>
                                        </p:tgtEl>
                                        <p:attrNameLst>
                                          <p:attrName>style.visibility</p:attrName>
                                        </p:attrNameLst>
                                      </p:cBhvr>
                                      <p:to>
                                        <p:strVal val="visible"/>
                                      </p:to>
                                    </p:set>
                                    <p:animEffect transition="in" filter="wipe(left)">
                                      <p:cBhvr>
                                        <p:cTn id="22" dur="500"/>
                                        <p:tgtEl>
                                          <p:spTgt spid="13114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31146"/>
                                        </p:tgtEl>
                                        <p:attrNameLst>
                                          <p:attrName>style.visibility</p:attrName>
                                        </p:attrNameLst>
                                      </p:cBhvr>
                                      <p:to>
                                        <p:strVal val="visible"/>
                                      </p:to>
                                    </p:set>
                                    <p:animEffect transition="in" filter="wipe(left)">
                                      <p:cBhvr>
                                        <p:cTn id="27" dur="500"/>
                                        <p:tgtEl>
                                          <p:spTgt spid="131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9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50000"/>
              </a:spcBef>
              <a:buClrTx/>
              <a:buFontTx/>
              <a:buNone/>
            </a:pPr>
            <a:fld id="{651A11F0-F37A-4CAA-8C8C-E444EBAC12C6}" type="slidenum">
              <a:rPr kumimoji="0" lang="zh-CN" altLang="en-US" sz="1400" smtClean="0">
                <a:solidFill>
                  <a:schemeClr val="bg2"/>
                </a:solidFill>
              </a:rPr>
              <a:pPr>
                <a:spcBef>
                  <a:spcPct val="50000"/>
                </a:spcBef>
                <a:buClrTx/>
                <a:buFontTx/>
                <a:buNone/>
              </a:pPr>
              <a:t>4</a:t>
            </a:fld>
            <a:endParaRPr kumimoji="0" lang="en-US" altLang="zh-CN" sz="1400" smtClean="0">
              <a:solidFill>
                <a:schemeClr val="bg2"/>
              </a:solidFill>
            </a:endParaRPr>
          </a:p>
        </p:txBody>
      </p:sp>
      <p:sp>
        <p:nvSpPr>
          <p:cNvPr id="8195" name="Text Box 2"/>
          <p:cNvSpPr txBox="1">
            <a:spLocks noChangeArrowheads="1"/>
          </p:cNvSpPr>
          <p:nvPr/>
        </p:nvSpPr>
        <p:spPr bwMode="auto">
          <a:xfrm>
            <a:off x="550863" y="647700"/>
            <a:ext cx="8180387"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20000"/>
              </a:lnSpc>
              <a:spcBef>
                <a:spcPct val="50000"/>
              </a:spcBef>
              <a:buClrTx/>
              <a:buFontTx/>
              <a:buNone/>
            </a:pPr>
            <a:r>
              <a:rPr kumimoji="0" lang="en-US" altLang="zh-CN" sz="2800">
                <a:solidFill>
                  <a:srgbClr val="CC0000"/>
                </a:solidFill>
              </a:rPr>
              <a:t>    3. </a:t>
            </a:r>
            <a:r>
              <a:rPr kumimoji="0" lang="zh-CN" altLang="en-US" sz="2800">
                <a:solidFill>
                  <a:srgbClr val="CC0000"/>
                </a:solidFill>
              </a:rPr>
              <a:t>部分偏振光</a:t>
            </a:r>
            <a:r>
              <a:rPr kumimoji="0" lang="zh-CN" altLang="en-US" sz="2800">
                <a:solidFill>
                  <a:srgbClr val="000000"/>
                </a:solidFill>
              </a:rPr>
              <a:t> ：某一方向的光振动比与之垂直方向上的光振动占优势的光为部分偏振光 </a:t>
            </a:r>
            <a:r>
              <a:rPr kumimoji="0" lang="en-US" altLang="zh-CN" sz="2800">
                <a:solidFill>
                  <a:srgbClr val="000000"/>
                </a:solidFill>
              </a:rPr>
              <a:t>.</a:t>
            </a:r>
          </a:p>
        </p:txBody>
      </p:sp>
      <p:grpSp>
        <p:nvGrpSpPr>
          <p:cNvPr id="133123" name="Group 3"/>
          <p:cNvGrpSpPr>
            <a:grpSpLocks/>
          </p:cNvGrpSpPr>
          <p:nvPr/>
        </p:nvGrpSpPr>
        <p:grpSpPr bwMode="auto">
          <a:xfrm>
            <a:off x="884238" y="2058988"/>
            <a:ext cx="7620000" cy="533400"/>
            <a:chOff x="384" y="3600"/>
            <a:chExt cx="4800" cy="336"/>
          </a:xfrm>
        </p:grpSpPr>
        <p:sp>
          <p:nvSpPr>
            <p:cNvPr id="8200" name="Text Box 4"/>
            <p:cNvSpPr txBox="1">
              <a:spLocks noChangeArrowheads="1"/>
            </p:cNvSpPr>
            <p:nvPr/>
          </p:nvSpPr>
          <p:spPr bwMode="auto">
            <a:xfrm>
              <a:off x="384" y="3600"/>
              <a:ext cx="1248" cy="333"/>
            </a:xfrm>
            <a:prstGeom prst="rect">
              <a:avLst/>
            </a:prstGeom>
            <a:gradFill rotWithShape="0">
              <a:gsLst>
                <a:gs pos="0">
                  <a:srgbClr val="FFEFFF"/>
                </a:gs>
                <a:gs pos="50000">
                  <a:srgbClr val="FFFFFF"/>
                </a:gs>
                <a:gs pos="100000">
                  <a:srgbClr val="FFEFFF"/>
                </a:gs>
              </a:gsLst>
              <a:lin ang="5400000" scaled="1"/>
            </a:gra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50000"/>
                </a:spcBef>
                <a:buClrTx/>
                <a:buFontTx/>
                <a:buNone/>
              </a:pPr>
              <a:r>
                <a:rPr kumimoji="0" lang="zh-CN" altLang="en-US" sz="2800">
                  <a:solidFill>
                    <a:srgbClr val="000000"/>
                  </a:solidFill>
                </a:rPr>
                <a:t>符号表示</a:t>
              </a:r>
            </a:p>
          </p:txBody>
        </p:sp>
        <p:grpSp>
          <p:nvGrpSpPr>
            <p:cNvPr id="8201" name="Group 5"/>
            <p:cNvGrpSpPr>
              <a:grpSpLocks/>
            </p:cNvGrpSpPr>
            <p:nvPr/>
          </p:nvGrpSpPr>
          <p:grpSpPr bwMode="auto">
            <a:xfrm>
              <a:off x="3552" y="3600"/>
              <a:ext cx="1632" cy="336"/>
              <a:chOff x="3552" y="3600"/>
              <a:chExt cx="1632" cy="336"/>
            </a:xfrm>
          </p:grpSpPr>
          <p:sp>
            <p:nvSpPr>
              <p:cNvPr id="8210" name="Line 6"/>
              <p:cNvSpPr>
                <a:spLocks noChangeShapeType="1"/>
              </p:cNvSpPr>
              <p:nvPr/>
            </p:nvSpPr>
            <p:spPr bwMode="auto">
              <a:xfrm>
                <a:off x="4205" y="3600"/>
                <a:ext cx="0" cy="336"/>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1" name="Line 7"/>
              <p:cNvSpPr>
                <a:spLocks noChangeShapeType="1"/>
              </p:cNvSpPr>
              <p:nvPr/>
            </p:nvSpPr>
            <p:spPr bwMode="auto">
              <a:xfrm>
                <a:off x="3552" y="3768"/>
                <a:ext cx="1632"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2" name="Oval 8"/>
              <p:cNvSpPr>
                <a:spLocks noChangeArrowheads="1"/>
              </p:cNvSpPr>
              <p:nvPr/>
            </p:nvSpPr>
            <p:spPr bwMode="auto">
              <a:xfrm>
                <a:off x="3696" y="3726"/>
                <a:ext cx="80" cy="84"/>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8213" name="Oval 9"/>
              <p:cNvSpPr>
                <a:spLocks noChangeArrowheads="1"/>
              </p:cNvSpPr>
              <p:nvPr/>
            </p:nvSpPr>
            <p:spPr bwMode="auto">
              <a:xfrm>
                <a:off x="3932" y="3726"/>
                <a:ext cx="78" cy="84"/>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8214" name="Oval 10"/>
              <p:cNvSpPr>
                <a:spLocks noChangeArrowheads="1"/>
              </p:cNvSpPr>
              <p:nvPr/>
            </p:nvSpPr>
            <p:spPr bwMode="auto">
              <a:xfrm>
                <a:off x="4402" y="3726"/>
                <a:ext cx="78" cy="84"/>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8215" name="Oval 11"/>
              <p:cNvSpPr>
                <a:spLocks noChangeArrowheads="1"/>
              </p:cNvSpPr>
              <p:nvPr/>
            </p:nvSpPr>
            <p:spPr bwMode="auto">
              <a:xfrm>
                <a:off x="4636" y="3726"/>
                <a:ext cx="79" cy="84"/>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8216" name="Line 12"/>
              <p:cNvSpPr>
                <a:spLocks noChangeShapeType="1"/>
              </p:cNvSpPr>
              <p:nvPr/>
            </p:nvSpPr>
            <p:spPr bwMode="auto">
              <a:xfrm>
                <a:off x="4911" y="3600"/>
                <a:ext cx="0" cy="336"/>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02" name="Group 13"/>
            <p:cNvGrpSpPr>
              <a:grpSpLocks/>
            </p:cNvGrpSpPr>
            <p:nvPr/>
          </p:nvGrpSpPr>
          <p:grpSpPr bwMode="auto">
            <a:xfrm>
              <a:off x="1776" y="3600"/>
              <a:ext cx="1584" cy="336"/>
              <a:chOff x="1776" y="3600"/>
              <a:chExt cx="1584" cy="336"/>
            </a:xfrm>
          </p:grpSpPr>
          <p:sp>
            <p:nvSpPr>
              <p:cNvPr id="8203" name="Line 14"/>
              <p:cNvSpPr>
                <a:spLocks noChangeShapeType="1"/>
              </p:cNvSpPr>
              <p:nvPr/>
            </p:nvSpPr>
            <p:spPr bwMode="auto">
              <a:xfrm>
                <a:off x="1776" y="3768"/>
                <a:ext cx="1584"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4" name="Line 15"/>
              <p:cNvSpPr>
                <a:spLocks noChangeShapeType="1"/>
              </p:cNvSpPr>
              <p:nvPr/>
            </p:nvSpPr>
            <p:spPr bwMode="auto">
              <a:xfrm>
                <a:off x="2002" y="3600"/>
                <a:ext cx="0" cy="336"/>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5" name="Line 16"/>
              <p:cNvSpPr>
                <a:spLocks noChangeShapeType="1"/>
              </p:cNvSpPr>
              <p:nvPr/>
            </p:nvSpPr>
            <p:spPr bwMode="auto">
              <a:xfrm>
                <a:off x="2229" y="3600"/>
                <a:ext cx="0" cy="336"/>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6" name="Line 17"/>
              <p:cNvSpPr>
                <a:spLocks noChangeShapeType="1"/>
              </p:cNvSpPr>
              <p:nvPr/>
            </p:nvSpPr>
            <p:spPr bwMode="auto">
              <a:xfrm>
                <a:off x="2643" y="3600"/>
                <a:ext cx="0" cy="336"/>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7" name="Line 18"/>
              <p:cNvSpPr>
                <a:spLocks noChangeShapeType="1"/>
              </p:cNvSpPr>
              <p:nvPr/>
            </p:nvSpPr>
            <p:spPr bwMode="auto">
              <a:xfrm>
                <a:off x="2870" y="3600"/>
                <a:ext cx="0" cy="336"/>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8" name="Oval 19"/>
              <p:cNvSpPr>
                <a:spLocks noChangeArrowheads="1"/>
              </p:cNvSpPr>
              <p:nvPr/>
            </p:nvSpPr>
            <p:spPr bwMode="auto">
              <a:xfrm>
                <a:off x="3021" y="3726"/>
                <a:ext cx="80" cy="84"/>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8209" name="Oval 20"/>
              <p:cNvSpPr>
                <a:spLocks noChangeArrowheads="1"/>
              </p:cNvSpPr>
              <p:nvPr/>
            </p:nvSpPr>
            <p:spPr bwMode="auto">
              <a:xfrm>
                <a:off x="2379" y="3726"/>
                <a:ext cx="81" cy="84"/>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grpSp>
      <p:sp>
        <p:nvSpPr>
          <p:cNvPr id="133141" name="Text Box 21"/>
          <p:cNvSpPr txBox="1">
            <a:spLocks noChangeArrowheads="1"/>
          </p:cNvSpPr>
          <p:nvPr/>
        </p:nvSpPr>
        <p:spPr bwMode="auto">
          <a:xfrm>
            <a:off x="550863" y="3100388"/>
            <a:ext cx="5029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zh-CN" altLang="en-US" sz="2800">
                <a:solidFill>
                  <a:srgbClr val="0000FF"/>
                </a:solidFill>
              </a:rPr>
              <a:t>二、偏振片  起偏与检偏</a:t>
            </a:r>
          </a:p>
        </p:txBody>
      </p:sp>
      <p:sp>
        <p:nvSpPr>
          <p:cNvPr id="133142" name="Text Box 22"/>
          <p:cNvSpPr txBox="1">
            <a:spLocks noChangeArrowheads="1"/>
          </p:cNvSpPr>
          <p:nvPr/>
        </p:nvSpPr>
        <p:spPr bwMode="auto">
          <a:xfrm>
            <a:off x="630238" y="3741738"/>
            <a:ext cx="8305800" cy="163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20000"/>
              </a:lnSpc>
              <a:spcBef>
                <a:spcPct val="50000"/>
              </a:spcBef>
              <a:buClrTx/>
              <a:buFontTx/>
              <a:buNone/>
            </a:pPr>
            <a:r>
              <a:rPr kumimoji="0" lang="zh-CN" altLang="en-US" sz="2800">
                <a:solidFill>
                  <a:srgbClr val="CC0000"/>
                </a:solidFill>
              </a:rPr>
              <a:t>        二向色性：</a:t>
            </a:r>
            <a:r>
              <a:rPr kumimoji="0" lang="zh-CN" altLang="en-US" sz="2800">
                <a:solidFill>
                  <a:srgbClr val="000000"/>
                </a:solidFill>
              </a:rPr>
              <a:t>某些物质能吸收某一方向的光振动 </a:t>
            </a:r>
            <a:r>
              <a:rPr kumimoji="0" lang="en-US" altLang="zh-CN" sz="2800">
                <a:solidFill>
                  <a:srgbClr val="000000"/>
                </a:solidFill>
              </a:rPr>
              <a:t>,  </a:t>
            </a:r>
            <a:r>
              <a:rPr kumimoji="0" lang="zh-CN" altLang="en-US" sz="2800">
                <a:solidFill>
                  <a:srgbClr val="000000"/>
                </a:solidFill>
              </a:rPr>
              <a:t>而只让与这个方向垂直的光振动通过</a:t>
            </a:r>
            <a:r>
              <a:rPr kumimoji="0" lang="en-US" altLang="zh-CN" sz="2800">
                <a:solidFill>
                  <a:srgbClr val="000000"/>
                </a:solidFill>
              </a:rPr>
              <a:t>, </a:t>
            </a:r>
            <a:r>
              <a:rPr kumimoji="0" lang="zh-CN" altLang="en-US" sz="2800">
                <a:solidFill>
                  <a:srgbClr val="000000"/>
                </a:solidFill>
              </a:rPr>
              <a:t>这种性质称二向色性 </a:t>
            </a:r>
            <a:r>
              <a:rPr kumimoji="0" lang="en-US" altLang="zh-CN" sz="2800">
                <a:solidFill>
                  <a:srgbClr val="000000"/>
                </a:solidFill>
              </a:rPr>
              <a:t>.</a:t>
            </a:r>
          </a:p>
        </p:txBody>
      </p:sp>
      <p:sp>
        <p:nvSpPr>
          <p:cNvPr id="133143" name="Text Box 23"/>
          <p:cNvSpPr txBox="1">
            <a:spLocks noChangeArrowheads="1"/>
          </p:cNvSpPr>
          <p:nvPr/>
        </p:nvSpPr>
        <p:spPr bwMode="auto">
          <a:xfrm>
            <a:off x="642938" y="5495925"/>
            <a:ext cx="8107362"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20000"/>
              </a:lnSpc>
              <a:spcBef>
                <a:spcPct val="50000"/>
              </a:spcBef>
              <a:buClrTx/>
              <a:buFontTx/>
              <a:buNone/>
            </a:pPr>
            <a:r>
              <a:rPr kumimoji="0" lang="zh-CN" altLang="en-US" sz="2800">
                <a:solidFill>
                  <a:srgbClr val="CC0000"/>
                </a:solidFill>
              </a:rPr>
              <a:t>        偏振片</a:t>
            </a:r>
            <a:r>
              <a:rPr kumimoji="0" lang="zh-CN" altLang="en-US" sz="2800">
                <a:solidFill>
                  <a:srgbClr val="000000"/>
                </a:solidFill>
              </a:rPr>
              <a:t> ：涂有二向色性材料的透明薄片 </a:t>
            </a:r>
            <a:r>
              <a:rPr kumimoji="0" lang="en-US" altLang="zh-CN" sz="2800">
                <a:solidFill>
                  <a:srgbClr val="000000"/>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3123"/>
                                        </p:tgtEl>
                                        <p:attrNameLst>
                                          <p:attrName>style.visibility</p:attrName>
                                        </p:attrNameLst>
                                      </p:cBhvr>
                                      <p:to>
                                        <p:strVal val="visible"/>
                                      </p:to>
                                    </p:set>
                                    <p:animEffect transition="in" filter="blinds(horizontal)">
                                      <p:cBhvr>
                                        <p:cTn id="7" dur="500"/>
                                        <p:tgtEl>
                                          <p:spTgt spid="1331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41"/>
                                        </p:tgtEl>
                                        <p:attrNameLst>
                                          <p:attrName>style.visibility</p:attrName>
                                        </p:attrNameLst>
                                      </p:cBhvr>
                                      <p:to>
                                        <p:strVal val="visible"/>
                                      </p:to>
                                    </p:set>
                                    <p:animEffect transition="in" filter="wipe(left)">
                                      <p:cBhvr>
                                        <p:cTn id="12" dur="500"/>
                                        <p:tgtEl>
                                          <p:spTgt spid="1331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33142"/>
                                        </p:tgtEl>
                                        <p:attrNameLst>
                                          <p:attrName>style.visibility</p:attrName>
                                        </p:attrNameLst>
                                      </p:cBhvr>
                                      <p:to>
                                        <p:strVal val="visible"/>
                                      </p:to>
                                    </p:set>
                                    <p:animEffect transition="in" filter="blinds(vertical)">
                                      <p:cBhvr>
                                        <p:cTn id="17" dur="500"/>
                                        <p:tgtEl>
                                          <p:spTgt spid="1331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3143"/>
                                        </p:tgtEl>
                                        <p:attrNameLst>
                                          <p:attrName>style.visibility</p:attrName>
                                        </p:attrNameLst>
                                      </p:cBhvr>
                                      <p:to>
                                        <p:strVal val="visible"/>
                                      </p:to>
                                    </p:set>
                                    <p:animEffect transition="in" filter="blinds(horizontal)">
                                      <p:cBhvr>
                                        <p:cTn id="22" dur="500"/>
                                        <p:tgtEl>
                                          <p:spTgt spid="133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1" grpId="0"/>
      <p:bldP spid="133142" grpId="0" autoUpdateAnimBg="0"/>
      <p:bldP spid="133143"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50000"/>
              </a:spcBef>
              <a:buClrTx/>
              <a:buFontTx/>
              <a:buNone/>
            </a:pPr>
            <a:fld id="{BD0B3B2D-788F-458D-BD6B-B598192BC0D5}" type="slidenum">
              <a:rPr kumimoji="0" lang="zh-CN" altLang="en-US" sz="1400" smtClean="0">
                <a:solidFill>
                  <a:schemeClr val="bg2"/>
                </a:solidFill>
              </a:rPr>
              <a:pPr>
                <a:spcBef>
                  <a:spcPct val="50000"/>
                </a:spcBef>
                <a:buClrTx/>
                <a:buFontTx/>
                <a:buNone/>
              </a:pPr>
              <a:t>5</a:t>
            </a:fld>
            <a:endParaRPr kumimoji="0" lang="en-US" altLang="zh-CN" sz="1400" smtClean="0">
              <a:solidFill>
                <a:schemeClr val="bg2"/>
              </a:solidFill>
            </a:endParaRPr>
          </a:p>
        </p:txBody>
      </p:sp>
      <p:sp>
        <p:nvSpPr>
          <p:cNvPr id="9219" name="Text Box 5"/>
          <p:cNvSpPr txBox="1">
            <a:spLocks noChangeArrowheads="1"/>
          </p:cNvSpPr>
          <p:nvPr/>
        </p:nvSpPr>
        <p:spPr bwMode="auto">
          <a:xfrm>
            <a:off x="695325" y="490538"/>
            <a:ext cx="7805738" cy="163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20000"/>
              </a:lnSpc>
              <a:spcBef>
                <a:spcPct val="50000"/>
              </a:spcBef>
              <a:buClrTx/>
              <a:buFontTx/>
              <a:buNone/>
            </a:pPr>
            <a:r>
              <a:rPr kumimoji="0" lang="zh-CN" altLang="en-US" sz="2800">
                <a:solidFill>
                  <a:srgbClr val="CC0000"/>
                </a:solidFill>
              </a:rPr>
              <a:t>        偏振化方向 ：</a:t>
            </a:r>
            <a:r>
              <a:rPr kumimoji="0" lang="zh-CN" altLang="en-US" sz="2800">
                <a:solidFill>
                  <a:srgbClr val="000000"/>
                </a:solidFill>
              </a:rPr>
              <a:t>当自然光照射在偏振片上时，它只让某一特定方向的光通过，这个方向叫此偏振片的偏振化方向 </a:t>
            </a:r>
            <a:r>
              <a:rPr kumimoji="0" lang="en-US" altLang="zh-CN" sz="2800">
                <a:solidFill>
                  <a:srgbClr val="000000"/>
                </a:solidFill>
              </a:rPr>
              <a:t>.</a:t>
            </a:r>
          </a:p>
        </p:txBody>
      </p:sp>
      <p:grpSp>
        <p:nvGrpSpPr>
          <p:cNvPr id="135254" name="Group 86"/>
          <p:cNvGrpSpPr>
            <a:grpSpLocks/>
          </p:cNvGrpSpPr>
          <p:nvPr/>
        </p:nvGrpSpPr>
        <p:grpSpPr bwMode="auto">
          <a:xfrm>
            <a:off x="863600" y="4240213"/>
            <a:ext cx="7610475" cy="1985962"/>
            <a:chOff x="544" y="2671"/>
            <a:chExt cx="4794" cy="1251"/>
          </a:xfrm>
        </p:grpSpPr>
        <p:sp>
          <p:nvSpPr>
            <p:cNvPr id="9254" name="Rectangle 38"/>
            <p:cNvSpPr>
              <a:spLocks noChangeArrowheads="1"/>
            </p:cNvSpPr>
            <p:nvPr/>
          </p:nvSpPr>
          <p:spPr bwMode="auto">
            <a:xfrm>
              <a:off x="544" y="2671"/>
              <a:ext cx="4794" cy="125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nvGrpSpPr>
            <p:cNvPr id="9255" name="Group 39"/>
            <p:cNvGrpSpPr>
              <a:grpSpLocks/>
            </p:cNvGrpSpPr>
            <p:nvPr/>
          </p:nvGrpSpPr>
          <p:grpSpPr bwMode="auto">
            <a:xfrm>
              <a:off x="3808" y="3255"/>
              <a:ext cx="1336" cy="166"/>
              <a:chOff x="3696" y="1200"/>
              <a:chExt cx="1344" cy="192"/>
            </a:xfrm>
          </p:grpSpPr>
          <p:sp>
            <p:nvSpPr>
              <p:cNvPr id="9290" name="Line 40"/>
              <p:cNvSpPr>
                <a:spLocks noChangeShapeType="1"/>
              </p:cNvSpPr>
              <p:nvPr/>
            </p:nvSpPr>
            <p:spPr bwMode="auto">
              <a:xfrm>
                <a:off x="3696" y="1296"/>
                <a:ext cx="1344" cy="0"/>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1" name="Line 41"/>
              <p:cNvSpPr>
                <a:spLocks noChangeShapeType="1"/>
              </p:cNvSpPr>
              <p:nvPr/>
            </p:nvSpPr>
            <p:spPr bwMode="auto">
              <a:xfrm>
                <a:off x="3744"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2" name="Line 42"/>
              <p:cNvSpPr>
                <a:spLocks noChangeShapeType="1"/>
              </p:cNvSpPr>
              <p:nvPr/>
            </p:nvSpPr>
            <p:spPr bwMode="auto">
              <a:xfrm>
                <a:off x="4128"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3" name="Line 43"/>
              <p:cNvSpPr>
                <a:spLocks noChangeShapeType="1"/>
              </p:cNvSpPr>
              <p:nvPr/>
            </p:nvSpPr>
            <p:spPr bwMode="auto">
              <a:xfrm>
                <a:off x="4320"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4" name="Line 44"/>
              <p:cNvSpPr>
                <a:spLocks noChangeShapeType="1"/>
              </p:cNvSpPr>
              <p:nvPr/>
            </p:nvSpPr>
            <p:spPr bwMode="auto">
              <a:xfrm>
                <a:off x="4512"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5" name="Line 45"/>
              <p:cNvSpPr>
                <a:spLocks noChangeShapeType="1"/>
              </p:cNvSpPr>
              <p:nvPr/>
            </p:nvSpPr>
            <p:spPr bwMode="auto">
              <a:xfrm>
                <a:off x="4704"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6" name="Line 46"/>
              <p:cNvSpPr>
                <a:spLocks noChangeShapeType="1"/>
              </p:cNvSpPr>
              <p:nvPr/>
            </p:nvSpPr>
            <p:spPr bwMode="auto">
              <a:xfrm>
                <a:off x="3936"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56" name="Group 47"/>
            <p:cNvGrpSpPr>
              <a:grpSpLocks/>
            </p:cNvGrpSpPr>
            <p:nvPr/>
          </p:nvGrpSpPr>
          <p:grpSpPr bwMode="auto">
            <a:xfrm>
              <a:off x="3452" y="2838"/>
              <a:ext cx="623" cy="917"/>
              <a:chOff x="3408" y="624"/>
              <a:chExt cx="672" cy="1056"/>
            </a:xfrm>
          </p:grpSpPr>
          <p:sp>
            <p:nvSpPr>
              <p:cNvPr id="9288" name="Oval 48"/>
              <p:cNvSpPr>
                <a:spLocks noChangeArrowheads="1"/>
              </p:cNvSpPr>
              <p:nvPr/>
            </p:nvSpPr>
            <p:spPr bwMode="auto">
              <a:xfrm>
                <a:off x="3408" y="624"/>
                <a:ext cx="672" cy="1056"/>
              </a:xfrm>
              <a:prstGeom prst="ellipse">
                <a:avLst/>
              </a:prstGeom>
              <a:solidFill>
                <a:srgbClr val="99FF99">
                  <a:alpha val="50195"/>
                </a:srgbClr>
              </a:soli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9289" name="Line 49"/>
              <p:cNvSpPr>
                <a:spLocks noChangeShapeType="1"/>
              </p:cNvSpPr>
              <p:nvPr/>
            </p:nvSpPr>
            <p:spPr bwMode="auto">
              <a:xfrm flipH="1" flipV="1">
                <a:off x="3744" y="1296"/>
                <a:ext cx="192" cy="288"/>
              </a:xfrm>
              <a:prstGeom prst="line">
                <a:avLst/>
              </a:prstGeom>
              <a:noFill/>
              <a:ln w="19050">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57" name="AutoShape 51"/>
            <p:cNvSpPr>
              <a:spLocks noChangeArrowheads="1"/>
            </p:cNvSpPr>
            <p:nvPr/>
          </p:nvSpPr>
          <p:spPr bwMode="auto">
            <a:xfrm>
              <a:off x="4298" y="3588"/>
              <a:ext cx="757" cy="292"/>
            </a:xfrm>
            <a:prstGeom prst="wedgeRoundRectCallout">
              <a:avLst>
                <a:gd name="adj1" fmla="val -111824"/>
                <a:gd name="adj2" fmla="val -70546"/>
                <a:gd name="adj3" fmla="val 16667"/>
              </a:avLst>
            </a:prstGeom>
            <a:solidFill>
              <a:srgbClr val="FFEFFF"/>
            </a:soli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800">
                <a:solidFill>
                  <a:srgbClr val="1C1C1C"/>
                </a:solidFill>
              </a:endParaRPr>
            </a:p>
          </p:txBody>
        </p:sp>
        <p:sp>
          <p:nvSpPr>
            <p:cNvPr id="9258" name="Text Box 52"/>
            <p:cNvSpPr txBox="1">
              <a:spLocks noChangeArrowheads="1"/>
            </p:cNvSpPr>
            <p:nvPr/>
          </p:nvSpPr>
          <p:spPr bwMode="auto">
            <a:xfrm>
              <a:off x="4298" y="3562"/>
              <a:ext cx="1023" cy="32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8575">
                  <a:solidFill>
                    <a:srgbClr val="0000FF"/>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zh-CN" altLang="en-US" sz="2800">
                  <a:solidFill>
                    <a:srgbClr val="000000"/>
                  </a:solidFill>
                </a:rPr>
                <a:t>检偏器</a:t>
              </a:r>
            </a:p>
          </p:txBody>
        </p:sp>
        <p:sp>
          <p:nvSpPr>
            <p:cNvPr id="9259" name="Text Box 53"/>
            <p:cNvSpPr txBox="1">
              <a:spLocks noChangeArrowheads="1"/>
            </p:cNvSpPr>
            <p:nvPr/>
          </p:nvSpPr>
          <p:spPr bwMode="auto">
            <a:xfrm>
              <a:off x="544" y="2671"/>
              <a:ext cx="391" cy="1251"/>
            </a:xfrm>
            <a:prstGeom prst="rect">
              <a:avLst/>
            </a:prstGeom>
            <a:gradFill rotWithShape="0">
              <a:gsLst>
                <a:gs pos="0">
                  <a:srgbClr val="FFEFFF"/>
                </a:gs>
                <a:gs pos="50000">
                  <a:srgbClr val="FFFFFF"/>
                </a:gs>
                <a:gs pos="100000">
                  <a:srgbClr val="FFEFFF"/>
                </a:gs>
              </a:gsLst>
              <a:lin ang="5400000" scaled="1"/>
            </a:gra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50000"/>
                </a:spcBef>
                <a:buClrTx/>
                <a:buFontTx/>
                <a:buNone/>
              </a:pPr>
              <a:r>
                <a:rPr kumimoji="0" lang="zh-CN" altLang="en-US" sz="2800">
                  <a:solidFill>
                    <a:srgbClr val="1C1C1C"/>
                  </a:solidFill>
                </a:rPr>
                <a:t> </a:t>
              </a:r>
              <a:r>
                <a:rPr kumimoji="0" lang="zh-CN" altLang="en-US" sz="2800">
                  <a:solidFill>
                    <a:srgbClr val="CC0000"/>
                  </a:solidFill>
                </a:rPr>
                <a:t>检  偏</a:t>
              </a:r>
            </a:p>
          </p:txBody>
        </p:sp>
        <p:grpSp>
          <p:nvGrpSpPr>
            <p:cNvPr id="9260" name="Group 54"/>
            <p:cNvGrpSpPr>
              <a:grpSpLocks/>
            </p:cNvGrpSpPr>
            <p:nvPr/>
          </p:nvGrpSpPr>
          <p:grpSpPr bwMode="auto">
            <a:xfrm>
              <a:off x="2294" y="3213"/>
              <a:ext cx="1514" cy="250"/>
              <a:chOff x="2112" y="1152"/>
              <a:chExt cx="1632" cy="288"/>
            </a:xfrm>
          </p:grpSpPr>
          <p:grpSp>
            <p:nvGrpSpPr>
              <p:cNvPr id="9279" name="Group 55"/>
              <p:cNvGrpSpPr>
                <a:grpSpLocks/>
              </p:cNvGrpSpPr>
              <p:nvPr/>
            </p:nvGrpSpPr>
            <p:grpSpPr bwMode="auto">
              <a:xfrm>
                <a:off x="2112" y="1152"/>
                <a:ext cx="1632" cy="288"/>
                <a:chOff x="2112" y="1152"/>
                <a:chExt cx="1632" cy="288"/>
              </a:xfrm>
            </p:grpSpPr>
            <p:sp>
              <p:nvSpPr>
                <p:cNvPr id="9282" name="Line 56"/>
                <p:cNvSpPr>
                  <a:spLocks noChangeShapeType="1"/>
                </p:cNvSpPr>
                <p:nvPr/>
              </p:nvSpPr>
              <p:spPr bwMode="auto">
                <a:xfrm>
                  <a:off x="2112" y="1296"/>
                  <a:ext cx="1632"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3" name="Line 57"/>
                <p:cNvSpPr>
                  <a:spLocks noChangeShapeType="1"/>
                </p:cNvSpPr>
                <p:nvPr/>
              </p:nvSpPr>
              <p:spPr bwMode="auto">
                <a:xfrm>
                  <a:off x="2315"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4" name="Line 58"/>
                <p:cNvSpPr>
                  <a:spLocks noChangeShapeType="1"/>
                </p:cNvSpPr>
                <p:nvPr/>
              </p:nvSpPr>
              <p:spPr bwMode="auto">
                <a:xfrm>
                  <a:off x="2517"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5" name="Line 59"/>
                <p:cNvSpPr>
                  <a:spLocks noChangeShapeType="1"/>
                </p:cNvSpPr>
                <p:nvPr/>
              </p:nvSpPr>
              <p:spPr bwMode="auto">
                <a:xfrm>
                  <a:off x="2720"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6" name="Line 60"/>
                <p:cNvSpPr>
                  <a:spLocks noChangeShapeType="1"/>
                </p:cNvSpPr>
                <p:nvPr/>
              </p:nvSpPr>
              <p:spPr bwMode="auto">
                <a:xfrm>
                  <a:off x="2922"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7" name="Line 61"/>
                <p:cNvSpPr>
                  <a:spLocks noChangeShapeType="1"/>
                </p:cNvSpPr>
                <p:nvPr/>
              </p:nvSpPr>
              <p:spPr bwMode="auto">
                <a:xfrm>
                  <a:off x="3125"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80" name="Line 62"/>
              <p:cNvSpPr>
                <a:spLocks noChangeShapeType="1"/>
              </p:cNvSpPr>
              <p:nvPr/>
            </p:nvSpPr>
            <p:spPr bwMode="auto">
              <a:xfrm>
                <a:off x="3312"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1" name="Line 63"/>
              <p:cNvSpPr>
                <a:spLocks noChangeShapeType="1"/>
              </p:cNvSpPr>
              <p:nvPr/>
            </p:nvSpPr>
            <p:spPr bwMode="auto">
              <a:xfrm>
                <a:off x="3504"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61" name="Group 64"/>
            <p:cNvGrpSpPr>
              <a:grpSpLocks/>
            </p:cNvGrpSpPr>
            <p:nvPr/>
          </p:nvGrpSpPr>
          <p:grpSpPr bwMode="auto">
            <a:xfrm>
              <a:off x="1982" y="2838"/>
              <a:ext cx="623" cy="917"/>
              <a:chOff x="2592" y="2976"/>
              <a:chExt cx="672" cy="1056"/>
            </a:xfrm>
          </p:grpSpPr>
          <p:sp>
            <p:nvSpPr>
              <p:cNvPr id="9277" name="Oval 65"/>
              <p:cNvSpPr>
                <a:spLocks noChangeArrowheads="1"/>
              </p:cNvSpPr>
              <p:nvPr/>
            </p:nvSpPr>
            <p:spPr bwMode="auto">
              <a:xfrm>
                <a:off x="2592" y="2976"/>
                <a:ext cx="672" cy="1056"/>
              </a:xfrm>
              <a:prstGeom prst="ellipse">
                <a:avLst/>
              </a:prstGeom>
              <a:solidFill>
                <a:srgbClr val="99FF99">
                  <a:alpha val="50195"/>
                </a:srgbClr>
              </a:soli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9278" name="Line 66"/>
              <p:cNvSpPr>
                <a:spLocks noChangeShapeType="1"/>
              </p:cNvSpPr>
              <p:nvPr/>
            </p:nvSpPr>
            <p:spPr bwMode="auto">
              <a:xfrm flipV="1">
                <a:off x="3072" y="3600"/>
                <a:ext cx="0" cy="336"/>
              </a:xfrm>
              <a:prstGeom prst="line">
                <a:avLst/>
              </a:prstGeom>
              <a:noFill/>
              <a:ln w="19050">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62" name="Group 67"/>
            <p:cNvGrpSpPr>
              <a:grpSpLocks/>
            </p:cNvGrpSpPr>
            <p:nvPr/>
          </p:nvGrpSpPr>
          <p:grpSpPr bwMode="auto">
            <a:xfrm>
              <a:off x="1046" y="3213"/>
              <a:ext cx="1248" cy="250"/>
              <a:chOff x="1104" y="3408"/>
              <a:chExt cx="1488" cy="288"/>
            </a:xfrm>
          </p:grpSpPr>
          <p:sp>
            <p:nvSpPr>
              <p:cNvPr id="9266" name="Line 68"/>
              <p:cNvSpPr>
                <a:spLocks noChangeShapeType="1"/>
              </p:cNvSpPr>
              <p:nvPr/>
            </p:nvSpPr>
            <p:spPr bwMode="auto">
              <a:xfrm>
                <a:off x="1104" y="3552"/>
                <a:ext cx="1488"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7" name="Line 69"/>
              <p:cNvSpPr>
                <a:spLocks noChangeShapeType="1"/>
              </p:cNvSpPr>
              <p:nvPr/>
            </p:nvSpPr>
            <p:spPr bwMode="auto">
              <a:xfrm>
                <a:off x="1426"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8" name="Line 70"/>
              <p:cNvSpPr>
                <a:spLocks noChangeShapeType="1"/>
              </p:cNvSpPr>
              <p:nvPr/>
            </p:nvSpPr>
            <p:spPr bwMode="auto">
              <a:xfrm>
                <a:off x="1667"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9" name="Line 71"/>
              <p:cNvSpPr>
                <a:spLocks noChangeShapeType="1"/>
              </p:cNvSpPr>
              <p:nvPr/>
            </p:nvSpPr>
            <p:spPr bwMode="auto">
              <a:xfrm>
                <a:off x="1908"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0" name="Line 72"/>
              <p:cNvSpPr>
                <a:spLocks noChangeShapeType="1"/>
              </p:cNvSpPr>
              <p:nvPr/>
            </p:nvSpPr>
            <p:spPr bwMode="auto">
              <a:xfrm>
                <a:off x="2150"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1" name="Line 73"/>
              <p:cNvSpPr>
                <a:spLocks noChangeShapeType="1"/>
              </p:cNvSpPr>
              <p:nvPr/>
            </p:nvSpPr>
            <p:spPr bwMode="auto">
              <a:xfrm>
                <a:off x="2391"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2" name="Oval 74"/>
              <p:cNvSpPr>
                <a:spLocks noChangeArrowheads="1"/>
              </p:cNvSpPr>
              <p:nvPr/>
            </p:nvSpPr>
            <p:spPr bwMode="auto">
              <a:xfrm>
                <a:off x="1265" y="3516"/>
                <a:ext cx="80"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9273" name="Oval 75"/>
              <p:cNvSpPr>
                <a:spLocks noChangeArrowheads="1"/>
              </p:cNvSpPr>
              <p:nvPr/>
            </p:nvSpPr>
            <p:spPr bwMode="auto">
              <a:xfrm>
                <a:off x="1506" y="3516"/>
                <a:ext cx="81"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9274" name="Oval 76"/>
              <p:cNvSpPr>
                <a:spLocks noChangeArrowheads="1"/>
              </p:cNvSpPr>
              <p:nvPr/>
            </p:nvSpPr>
            <p:spPr bwMode="auto">
              <a:xfrm>
                <a:off x="1747" y="3516"/>
                <a:ext cx="81"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9275" name="Oval 77"/>
              <p:cNvSpPr>
                <a:spLocks noChangeArrowheads="1"/>
              </p:cNvSpPr>
              <p:nvPr/>
            </p:nvSpPr>
            <p:spPr bwMode="auto">
              <a:xfrm>
                <a:off x="1989" y="3516"/>
                <a:ext cx="80"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9276" name="Oval 78"/>
              <p:cNvSpPr>
                <a:spLocks noChangeArrowheads="1"/>
              </p:cNvSpPr>
              <p:nvPr/>
            </p:nvSpPr>
            <p:spPr bwMode="auto">
              <a:xfrm>
                <a:off x="2230" y="3516"/>
                <a:ext cx="80"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grpSp>
          <p:nvGrpSpPr>
            <p:cNvPr id="9263" name="Group 82"/>
            <p:cNvGrpSpPr>
              <a:grpSpLocks/>
            </p:cNvGrpSpPr>
            <p:nvPr/>
          </p:nvGrpSpPr>
          <p:grpSpPr bwMode="auto">
            <a:xfrm>
              <a:off x="1162" y="3558"/>
              <a:ext cx="1104" cy="336"/>
              <a:chOff x="1440" y="3744"/>
              <a:chExt cx="1104" cy="336"/>
            </a:xfrm>
          </p:grpSpPr>
          <p:sp>
            <p:nvSpPr>
              <p:cNvPr id="9264" name="AutoShape 83"/>
              <p:cNvSpPr>
                <a:spLocks noChangeArrowheads="1"/>
              </p:cNvSpPr>
              <p:nvPr/>
            </p:nvSpPr>
            <p:spPr bwMode="auto">
              <a:xfrm>
                <a:off x="1440" y="3744"/>
                <a:ext cx="768" cy="336"/>
              </a:xfrm>
              <a:prstGeom prst="wedgeRoundRectCallout">
                <a:avLst>
                  <a:gd name="adj1" fmla="val 104426"/>
                  <a:gd name="adj2" fmla="val -56250"/>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800">
                  <a:solidFill>
                    <a:srgbClr val="1C1C1C"/>
                  </a:solidFill>
                </a:endParaRPr>
              </a:p>
            </p:txBody>
          </p:sp>
          <p:sp>
            <p:nvSpPr>
              <p:cNvPr id="9265" name="Text Box 84"/>
              <p:cNvSpPr txBox="1">
                <a:spLocks noChangeArrowheads="1"/>
              </p:cNvSpPr>
              <p:nvPr/>
            </p:nvSpPr>
            <p:spPr bwMode="auto">
              <a:xfrm>
                <a:off x="1440" y="3744"/>
                <a:ext cx="1104" cy="32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8575">
                    <a:solidFill>
                      <a:srgbClr val="0000FF"/>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zh-CN" altLang="en-US" sz="2800">
                    <a:solidFill>
                      <a:srgbClr val="000000"/>
                    </a:solidFill>
                  </a:rPr>
                  <a:t>起偏器</a:t>
                </a:r>
              </a:p>
            </p:txBody>
          </p:sp>
        </p:grpSp>
      </p:grpSp>
      <p:graphicFrame>
        <p:nvGraphicFramePr>
          <p:cNvPr id="135182" name="Object 14"/>
          <p:cNvGraphicFramePr>
            <a:graphicFrameLocks noChangeAspect="1"/>
          </p:cNvGraphicFramePr>
          <p:nvPr/>
        </p:nvGraphicFramePr>
        <p:xfrm>
          <a:off x="7500938" y="2557463"/>
          <a:ext cx="609600" cy="868362"/>
        </p:xfrm>
        <a:graphic>
          <a:graphicData uri="http://schemas.openxmlformats.org/presentationml/2006/ole">
            <mc:AlternateContent xmlns:mc="http://schemas.openxmlformats.org/markup-compatibility/2006">
              <mc:Choice xmlns:v="urn:schemas-microsoft-com:vml" Requires="v">
                <p:oleObj spid="_x0000_s9297" name="公式" r:id="rId3" imgW="393529" imgH="609336" progId="Equation.3">
                  <p:embed/>
                </p:oleObj>
              </mc:Choice>
              <mc:Fallback>
                <p:oleObj name="公式" r:id="rId3" imgW="393529" imgH="609336"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0938" y="2557463"/>
                        <a:ext cx="609600" cy="868362"/>
                      </a:xfrm>
                      <a:prstGeom prst="rect">
                        <a:avLst/>
                      </a:prstGeom>
                      <a:gradFill rotWithShape="0">
                        <a:gsLst>
                          <a:gs pos="0">
                            <a:srgbClr val="E4F8BC"/>
                          </a:gs>
                          <a:gs pos="50000">
                            <a:srgbClr val="FFFFFF"/>
                          </a:gs>
                          <a:gs pos="100000">
                            <a:srgbClr val="E4F8B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5255" name="Group 87"/>
          <p:cNvGrpSpPr>
            <a:grpSpLocks/>
          </p:cNvGrpSpPr>
          <p:nvPr/>
        </p:nvGrpSpPr>
        <p:grpSpPr bwMode="auto">
          <a:xfrm>
            <a:off x="869950" y="2174875"/>
            <a:ext cx="7594600" cy="1906588"/>
            <a:chOff x="548" y="1370"/>
            <a:chExt cx="4784" cy="1201"/>
          </a:xfrm>
        </p:grpSpPr>
        <p:sp>
          <p:nvSpPr>
            <p:cNvPr id="9223" name="Rectangle 3"/>
            <p:cNvSpPr>
              <a:spLocks noChangeArrowheads="1"/>
            </p:cNvSpPr>
            <p:nvPr/>
          </p:nvSpPr>
          <p:spPr bwMode="auto">
            <a:xfrm>
              <a:off x="549" y="1371"/>
              <a:ext cx="4783" cy="1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nvGrpSpPr>
            <p:cNvPr id="9224" name="Group 7"/>
            <p:cNvGrpSpPr>
              <a:grpSpLocks/>
            </p:cNvGrpSpPr>
            <p:nvPr/>
          </p:nvGrpSpPr>
          <p:grpSpPr bwMode="auto">
            <a:xfrm>
              <a:off x="3045" y="1851"/>
              <a:ext cx="1632" cy="288"/>
              <a:chOff x="3120" y="3312"/>
              <a:chExt cx="1776" cy="384"/>
            </a:xfrm>
          </p:grpSpPr>
          <p:sp>
            <p:nvSpPr>
              <p:cNvPr id="9248" name="Line 8"/>
              <p:cNvSpPr>
                <a:spLocks noChangeShapeType="1"/>
              </p:cNvSpPr>
              <p:nvPr/>
            </p:nvSpPr>
            <p:spPr bwMode="auto">
              <a:xfrm>
                <a:off x="3120" y="3504"/>
                <a:ext cx="1776"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Line 9"/>
              <p:cNvSpPr>
                <a:spLocks noChangeShapeType="1"/>
              </p:cNvSpPr>
              <p:nvPr/>
            </p:nvSpPr>
            <p:spPr bwMode="auto">
              <a:xfrm>
                <a:off x="3409" y="3312"/>
                <a:ext cx="0" cy="384"/>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Line 10"/>
              <p:cNvSpPr>
                <a:spLocks noChangeShapeType="1"/>
              </p:cNvSpPr>
              <p:nvPr/>
            </p:nvSpPr>
            <p:spPr bwMode="auto">
              <a:xfrm>
                <a:off x="3696" y="3312"/>
                <a:ext cx="0" cy="384"/>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1" name="Line 11"/>
              <p:cNvSpPr>
                <a:spLocks noChangeShapeType="1"/>
              </p:cNvSpPr>
              <p:nvPr/>
            </p:nvSpPr>
            <p:spPr bwMode="auto">
              <a:xfrm>
                <a:off x="3985" y="3312"/>
                <a:ext cx="0" cy="384"/>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2" name="Line 12"/>
              <p:cNvSpPr>
                <a:spLocks noChangeShapeType="1"/>
              </p:cNvSpPr>
              <p:nvPr/>
            </p:nvSpPr>
            <p:spPr bwMode="auto">
              <a:xfrm>
                <a:off x="4272" y="3312"/>
                <a:ext cx="0" cy="384"/>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3" name="Line 13"/>
              <p:cNvSpPr>
                <a:spLocks noChangeShapeType="1"/>
              </p:cNvSpPr>
              <p:nvPr/>
            </p:nvSpPr>
            <p:spPr bwMode="auto">
              <a:xfrm>
                <a:off x="4561" y="3312"/>
                <a:ext cx="0" cy="384"/>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25" name="AutoShape 16"/>
            <p:cNvSpPr>
              <a:spLocks noChangeArrowheads="1"/>
            </p:cNvSpPr>
            <p:nvPr/>
          </p:nvSpPr>
          <p:spPr bwMode="auto">
            <a:xfrm>
              <a:off x="3573" y="2187"/>
              <a:ext cx="1296" cy="349"/>
            </a:xfrm>
            <a:prstGeom prst="wedgeRoundRectCallout">
              <a:avLst>
                <a:gd name="adj1" fmla="val -73148"/>
                <a:gd name="adj2" fmla="val -39111"/>
                <a:gd name="adj3" fmla="val 16667"/>
              </a:avLst>
            </a:prstGeom>
            <a:solidFill>
              <a:srgbClr val="FFEFFF"/>
            </a:soli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800">
                <a:solidFill>
                  <a:srgbClr val="1C1C1C"/>
                </a:solidFill>
              </a:endParaRPr>
            </a:p>
          </p:txBody>
        </p:sp>
        <p:sp>
          <p:nvSpPr>
            <p:cNvPr id="9226" name="Rectangle 17"/>
            <p:cNvSpPr>
              <a:spLocks noChangeArrowheads="1"/>
            </p:cNvSpPr>
            <p:nvPr/>
          </p:nvSpPr>
          <p:spPr bwMode="auto">
            <a:xfrm>
              <a:off x="3585" y="2169"/>
              <a:ext cx="1680" cy="32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8575">
                  <a:solidFill>
                    <a:srgbClr val="FF0000"/>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800">
                  <a:solidFill>
                    <a:srgbClr val="000000"/>
                  </a:solidFill>
                </a:rPr>
                <a:t>偏振化方向</a:t>
              </a:r>
            </a:p>
          </p:txBody>
        </p:sp>
        <p:grpSp>
          <p:nvGrpSpPr>
            <p:cNvPr id="9227" name="Group 18"/>
            <p:cNvGrpSpPr>
              <a:grpSpLocks/>
            </p:cNvGrpSpPr>
            <p:nvPr/>
          </p:nvGrpSpPr>
          <p:grpSpPr bwMode="auto">
            <a:xfrm>
              <a:off x="2757" y="1467"/>
              <a:ext cx="672" cy="1056"/>
              <a:chOff x="2592" y="2976"/>
              <a:chExt cx="672" cy="1056"/>
            </a:xfrm>
          </p:grpSpPr>
          <p:sp>
            <p:nvSpPr>
              <p:cNvPr id="9246" name="Oval 19"/>
              <p:cNvSpPr>
                <a:spLocks noChangeArrowheads="1"/>
              </p:cNvSpPr>
              <p:nvPr/>
            </p:nvSpPr>
            <p:spPr bwMode="auto">
              <a:xfrm>
                <a:off x="2592" y="2976"/>
                <a:ext cx="672" cy="1056"/>
              </a:xfrm>
              <a:prstGeom prst="ellipse">
                <a:avLst/>
              </a:prstGeom>
              <a:solidFill>
                <a:srgbClr val="99FF99">
                  <a:alpha val="50195"/>
                </a:srgbClr>
              </a:soli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9247" name="Line 20"/>
              <p:cNvSpPr>
                <a:spLocks noChangeShapeType="1"/>
              </p:cNvSpPr>
              <p:nvPr/>
            </p:nvSpPr>
            <p:spPr bwMode="auto">
              <a:xfrm flipV="1">
                <a:off x="3072" y="3600"/>
                <a:ext cx="0" cy="336"/>
              </a:xfrm>
              <a:prstGeom prst="line">
                <a:avLst/>
              </a:prstGeom>
              <a:noFill/>
              <a:ln w="19050">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8" name="Group 21"/>
            <p:cNvGrpSpPr>
              <a:grpSpLocks/>
            </p:cNvGrpSpPr>
            <p:nvPr/>
          </p:nvGrpSpPr>
          <p:grpSpPr bwMode="auto">
            <a:xfrm>
              <a:off x="1173" y="1755"/>
              <a:ext cx="1872" cy="384"/>
              <a:chOff x="960" y="3264"/>
              <a:chExt cx="1872" cy="384"/>
            </a:xfrm>
          </p:grpSpPr>
          <p:graphicFrame>
            <p:nvGraphicFramePr>
              <p:cNvPr id="9233" name="Object 22"/>
              <p:cNvGraphicFramePr>
                <a:graphicFrameLocks noChangeAspect="1"/>
              </p:cNvGraphicFramePr>
              <p:nvPr/>
            </p:nvGraphicFramePr>
            <p:xfrm>
              <a:off x="960" y="3264"/>
              <a:ext cx="250" cy="384"/>
            </p:xfrm>
            <a:graphic>
              <a:graphicData uri="http://schemas.openxmlformats.org/presentationml/2006/ole">
                <mc:AlternateContent xmlns:mc="http://schemas.openxmlformats.org/markup-compatibility/2006">
                  <mc:Choice xmlns:v="urn:schemas-microsoft-com:vml" Requires="v">
                    <p:oleObj spid="_x0000_s9298" name="公式" r:id="rId5" imgW="215806" imgH="330057" progId="Equation.3">
                      <p:embed/>
                    </p:oleObj>
                  </mc:Choice>
                  <mc:Fallback>
                    <p:oleObj name="公式" r:id="rId5" imgW="215806" imgH="330057" progId="Equation.3">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0" y="3264"/>
                            <a:ext cx="250" cy="384"/>
                          </a:xfrm>
                          <a:prstGeom prst="rect">
                            <a:avLst/>
                          </a:prstGeom>
                          <a:solidFill>
                            <a:srgbClr val="FFEFFF"/>
                          </a:soli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234" name="Group 23"/>
              <p:cNvGrpSpPr>
                <a:grpSpLocks/>
              </p:cNvGrpSpPr>
              <p:nvPr/>
            </p:nvGrpSpPr>
            <p:grpSpPr bwMode="auto">
              <a:xfrm>
                <a:off x="1296" y="3360"/>
                <a:ext cx="1536" cy="288"/>
                <a:chOff x="1104" y="3408"/>
                <a:chExt cx="1488" cy="288"/>
              </a:xfrm>
            </p:grpSpPr>
            <p:sp>
              <p:nvSpPr>
                <p:cNvPr id="9235" name="Line 24"/>
                <p:cNvSpPr>
                  <a:spLocks noChangeShapeType="1"/>
                </p:cNvSpPr>
                <p:nvPr/>
              </p:nvSpPr>
              <p:spPr bwMode="auto">
                <a:xfrm>
                  <a:off x="1104" y="3552"/>
                  <a:ext cx="1488"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6" name="Line 25"/>
                <p:cNvSpPr>
                  <a:spLocks noChangeShapeType="1"/>
                </p:cNvSpPr>
                <p:nvPr/>
              </p:nvSpPr>
              <p:spPr bwMode="auto">
                <a:xfrm>
                  <a:off x="1426"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7" name="Line 26"/>
                <p:cNvSpPr>
                  <a:spLocks noChangeShapeType="1"/>
                </p:cNvSpPr>
                <p:nvPr/>
              </p:nvSpPr>
              <p:spPr bwMode="auto">
                <a:xfrm>
                  <a:off x="1667"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8" name="Line 27"/>
                <p:cNvSpPr>
                  <a:spLocks noChangeShapeType="1"/>
                </p:cNvSpPr>
                <p:nvPr/>
              </p:nvSpPr>
              <p:spPr bwMode="auto">
                <a:xfrm>
                  <a:off x="1908"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9" name="Line 28"/>
                <p:cNvSpPr>
                  <a:spLocks noChangeShapeType="1"/>
                </p:cNvSpPr>
                <p:nvPr/>
              </p:nvSpPr>
              <p:spPr bwMode="auto">
                <a:xfrm>
                  <a:off x="2150"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Line 29"/>
                <p:cNvSpPr>
                  <a:spLocks noChangeShapeType="1"/>
                </p:cNvSpPr>
                <p:nvPr/>
              </p:nvSpPr>
              <p:spPr bwMode="auto">
                <a:xfrm>
                  <a:off x="2391"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Oval 30"/>
                <p:cNvSpPr>
                  <a:spLocks noChangeArrowheads="1"/>
                </p:cNvSpPr>
                <p:nvPr/>
              </p:nvSpPr>
              <p:spPr bwMode="auto">
                <a:xfrm>
                  <a:off x="1265" y="3516"/>
                  <a:ext cx="80"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9242" name="Oval 31"/>
                <p:cNvSpPr>
                  <a:spLocks noChangeArrowheads="1"/>
                </p:cNvSpPr>
                <p:nvPr/>
              </p:nvSpPr>
              <p:spPr bwMode="auto">
                <a:xfrm>
                  <a:off x="1506" y="3516"/>
                  <a:ext cx="81"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9243" name="Oval 32"/>
                <p:cNvSpPr>
                  <a:spLocks noChangeArrowheads="1"/>
                </p:cNvSpPr>
                <p:nvPr/>
              </p:nvSpPr>
              <p:spPr bwMode="auto">
                <a:xfrm>
                  <a:off x="1747" y="3516"/>
                  <a:ext cx="81"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9244" name="Oval 33"/>
                <p:cNvSpPr>
                  <a:spLocks noChangeArrowheads="1"/>
                </p:cNvSpPr>
                <p:nvPr/>
              </p:nvSpPr>
              <p:spPr bwMode="auto">
                <a:xfrm>
                  <a:off x="1989" y="3516"/>
                  <a:ext cx="80"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9245" name="Oval 34"/>
                <p:cNvSpPr>
                  <a:spLocks noChangeArrowheads="1"/>
                </p:cNvSpPr>
                <p:nvPr/>
              </p:nvSpPr>
              <p:spPr bwMode="auto">
                <a:xfrm>
                  <a:off x="2230" y="3516"/>
                  <a:ext cx="80"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grpSp>
        <p:grpSp>
          <p:nvGrpSpPr>
            <p:cNvPr id="9229" name="Group 35"/>
            <p:cNvGrpSpPr>
              <a:grpSpLocks/>
            </p:cNvGrpSpPr>
            <p:nvPr/>
          </p:nvGrpSpPr>
          <p:grpSpPr bwMode="auto">
            <a:xfrm>
              <a:off x="1701" y="2208"/>
              <a:ext cx="1104" cy="336"/>
              <a:chOff x="1440" y="3744"/>
              <a:chExt cx="1104" cy="336"/>
            </a:xfrm>
          </p:grpSpPr>
          <p:sp>
            <p:nvSpPr>
              <p:cNvPr id="9231" name="AutoShape 36"/>
              <p:cNvSpPr>
                <a:spLocks noChangeArrowheads="1"/>
              </p:cNvSpPr>
              <p:nvPr/>
            </p:nvSpPr>
            <p:spPr bwMode="auto">
              <a:xfrm>
                <a:off x="1440" y="3744"/>
                <a:ext cx="768" cy="336"/>
              </a:xfrm>
              <a:prstGeom prst="wedgeRoundRectCallout">
                <a:avLst>
                  <a:gd name="adj1" fmla="val 104426"/>
                  <a:gd name="adj2" fmla="val -56250"/>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800">
                  <a:solidFill>
                    <a:srgbClr val="1C1C1C"/>
                  </a:solidFill>
                </a:endParaRPr>
              </a:p>
            </p:txBody>
          </p:sp>
          <p:sp>
            <p:nvSpPr>
              <p:cNvPr id="9232" name="Text Box 37"/>
              <p:cNvSpPr txBox="1">
                <a:spLocks noChangeArrowheads="1"/>
              </p:cNvSpPr>
              <p:nvPr/>
            </p:nvSpPr>
            <p:spPr bwMode="auto">
              <a:xfrm>
                <a:off x="1440" y="3744"/>
                <a:ext cx="1104" cy="32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8575">
                    <a:solidFill>
                      <a:srgbClr val="0000FF"/>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zh-CN" altLang="en-US" sz="2800">
                    <a:solidFill>
                      <a:srgbClr val="000000"/>
                    </a:solidFill>
                  </a:rPr>
                  <a:t>起偏器</a:t>
                </a:r>
              </a:p>
            </p:txBody>
          </p:sp>
        </p:grpSp>
        <p:sp>
          <p:nvSpPr>
            <p:cNvPr id="9230" name="Text Box 4"/>
            <p:cNvSpPr txBox="1">
              <a:spLocks noChangeArrowheads="1"/>
            </p:cNvSpPr>
            <p:nvPr/>
          </p:nvSpPr>
          <p:spPr bwMode="auto">
            <a:xfrm>
              <a:off x="548" y="1370"/>
              <a:ext cx="391" cy="1200"/>
            </a:xfrm>
            <a:prstGeom prst="rect">
              <a:avLst/>
            </a:prstGeom>
            <a:gradFill rotWithShape="0">
              <a:gsLst>
                <a:gs pos="0">
                  <a:srgbClr val="FFEFFF"/>
                </a:gs>
                <a:gs pos="50000">
                  <a:srgbClr val="FFFFFF"/>
                </a:gs>
                <a:gs pos="100000">
                  <a:srgbClr val="FFEFFF"/>
                </a:gs>
              </a:gsLst>
              <a:lin ang="5400000" scaled="1"/>
            </a:gra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50000"/>
                </a:spcBef>
                <a:buClrTx/>
                <a:buFontTx/>
                <a:buNone/>
              </a:pPr>
              <a:r>
                <a:rPr kumimoji="0" lang="zh-CN" altLang="en-US" sz="2800">
                  <a:solidFill>
                    <a:srgbClr val="1C1C1C"/>
                  </a:solidFill>
                </a:rPr>
                <a:t> </a:t>
              </a:r>
              <a:r>
                <a:rPr kumimoji="0" lang="zh-CN" altLang="en-US" sz="2800">
                  <a:solidFill>
                    <a:srgbClr val="CC0000"/>
                  </a:solidFill>
                </a:rPr>
                <a:t>起  偏</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5255"/>
                                        </p:tgtEl>
                                        <p:attrNameLst>
                                          <p:attrName>style.visibility</p:attrName>
                                        </p:attrNameLst>
                                      </p:cBhvr>
                                      <p:to>
                                        <p:strVal val="visible"/>
                                      </p:to>
                                    </p:set>
                                    <p:animEffect transition="in" filter="wipe(left)">
                                      <p:cBhvr>
                                        <p:cTn id="7" dur="500"/>
                                        <p:tgtEl>
                                          <p:spTgt spid="1352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5182"/>
                                        </p:tgtEl>
                                        <p:attrNameLst>
                                          <p:attrName>style.visibility</p:attrName>
                                        </p:attrNameLst>
                                      </p:cBhvr>
                                      <p:to>
                                        <p:strVal val="visible"/>
                                      </p:to>
                                    </p:set>
                                    <p:animEffect transition="in" filter="wipe(left)">
                                      <p:cBhvr>
                                        <p:cTn id="12" dur="500"/>
                                        <p:tgtEl>
                                          <p:spTgt spid="13518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5254"/>
                                        </p:tgtEl>
                                        <p:attrNameLst>
                                          <p:attrName>style.visibility</p:attrName>
                                        </p:attrNameLst>
                                      </p:cBhvr>
                                      <p:to>
                                        <p:strVal val="visible"/>
                                      </p:to>
                                    </p:set>
                                    <p:animEffect transition="in" filter="wipe(left)">
                                      <p:cBhvr>
                                        <p:cTn id="17" dur="500"/>
                                        <p:tgtEl>
                                          <p:spTgt spid="135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50000"/>
              </a:spcBef>
              <a:buClrTx/>
              <a:buFontTx/>
              <a:buNone/>
            </a:pPr>
            <a:fld id="{07D8199D-B9BC-47A7-934B-6BC467F8E486}" type="slidenum">
              <a:rPr kumimoji="0" lang="zh-CN" altLang="en-US" sz="1400" smtClean="0">
                <a:solidFill>
                  <a:schemeClr val="bg2"/>
                </a:solidFill>
              </a:rPr>
              <a:pPr>
                <a:spcBef>
                  <a:spcPct val="50000"/>
                </a:spcBef>
                <a:buClrTx/>
                <a:buFontTx/>
                <a:buNone/>
              </a:pPr>
              <a:t>6</a:t>
            </a:fld>
            <a:endParaRPr kumimoji="0" lang="en-US" altLang="zh-CN" sz="1400" smtClean="0">
              <a:solidFill>
                <a:schemeClr val="bg2"/>
              </a:solidFill>
            </a:endParaRPr>
          </a:p>
        </p:txBody>
      </p:sp>
    </p:spTree>
    <p:controls>
      <mc:AlternateContent xmlns:mc="http://schemas.openxmlformats.org/markup-compatibility/2006">
        <mc:Choice xmlns:v="urn:schemas-microsoft-com:vml" Requires="v">
          <p:control spid="1026" r:id="rId2" imgW="9142857" imgH="6857143"/>
        </mc:Choice>
        <mc:Fallback>
          <p:control r:id="rId2" imgW="9142857" imgH="6857143">
            <p:pic>
              <p:nvPicPr>
                <p:cNvPr id="0" name="ShockwaveFlash1"/>
                <p:cNvPicPr preferRelativeResize="0">
                  <a:picLocks noChangeArrowheads="1" noChangeShapeType="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50000"/>
              </a:spcBef>
              <a:buClrTx/>
              <a:buFontTx/>
              <a:buNone/>
            </a:pPr>
            <a:fld id="{907378B5-649B-4371-A7B8-60C235BFCB5E}" type="slidenum">
              <a:rPr kumimoji="0" lang="zh-CN" altLang="en-US" sz="1400" smtClean="0">
                <a:solidFill>
                  <a:schemeClr val="bg2"/>
                </a:solidFill>
              </a:rPr>
              <a:pPr>
                <a:spcBef>
                  <a:spcPct val="50000"/>
                </a:spcBef>
                <a:buClrTx/>
                <a:buFontTx/>
                <a:buNone/>
              </a:pPr>
              <a:t>7</a:t>
            </a:fld>
            <a:endParaRPr kumimoji="0" lang="en-US" altLang="zh-CN" sz="1400" smtClean="0">
              <a:solidFill>
                <a:schemeClr val="bg2"/>
              </a:solidFill>
            </a:endParaRPr>
          </a:p>
        </p:txBody>
      </p:sp>
      <p:grpSp>
        <p:nvGrpSpPr>
          <p:cNvPr id="137348" name="Group 132"/>
          <p:cNvGrpSpPr>
            <a:grpSpLocks/>
          </p:cNvGrpSpPr>
          <p:nvPr/>
        </p:nvGrpSpPr>
        <p:grpSpPr bwMode="auto">
          <a:xfrm>
            <a:off x="860425" y="3516313"/>
            <a:ext cx="2286000" cy="2514600"/>
            <a:chOff x="-720" y="2736"/>
            <a:chExt cx="1440" cy="1584"/>
          </a:xfrm>
        </p:grpSpPr>
        <p:sp>
          <p:nvSpPr>
            <p:cNvPr id="10316" name="Rectangle 3"/>
            <p:cNvSpPr>
              <a:spLocks noChangeArrowheads="1"/>
            </p:cNvSpPr>
            <p:nvPr/>
          </p:nvSpPr>
          <p:spPr bwMode="auto">
            <a:xfrm>
              <a:off x="-720" y="2736"/>
              <a:ext cx="1440" cy="15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0317" name="Line 4"/>
            <p:cNvSpPr>
              <a:spLocks noChangeShapeType="1"/>
            </p:cNvSpPr>
            <p:nvPr/>
          </p:nvSpPr>
          <p:spPr bwMode="auto">
            <a:xfrm flipH="1">
              <a:off x="301" y="2912"/>
              <a:ext cx="1" cy="132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8" name="Line 5"/>
            <p:cNvSpPr>
              <a:spLocks noChangeShapeType="1"/>
            </p:cNvSpPr>
            <p:nvPr/>
          </p:nvSpPr>
          <p:spPr bwMode="auto">
            <a:xfrm>
              <a:off x="-303" y="3220"/>
              <a:ext cx="883" cy="96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9" name="Text Box 9"/>
            <p:cNvSpPr txBox="1">
              <a:spLocks noChangeArrowheads="1"/>
            </p:cNvSpPr>
            <p:nvPr/>
          </p:nvSpPr>
          <p:spPr bwMode="auto">
            <a:xfrm>
              <a:off x="302" y="2780"/>
              <a:ext cx="2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en-US" altLang="zh-CN" sz="2800">
                  <a:solidFill>
                    <a:srgbClr val="1C1C1C"/>
                  </a:solidFill>
                </a:rPr>
                <a:t>N</a:t>
              </a:r>
            </a:p>
          </p:txBody>
        </p:sp>
        <p:sp>
          <p:nvSpPr>
            <p:cNvPr id="10320" name="Text Box 10"/>
            <p:cNvSpPr txBox="1">
              <a:spLocks noChangeArrowheads="1"/>
            </p:cNvSpPr>
            <p:nvPr/>
          </p:nvSpPr>
          <p:spPr bwMode="auto">
            <a:xfrm>
              <a:off x="-581" y="3000"/>
              <a:ext cx="32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en-US" altLang="zh-CN" sz="2800">
                  <a:solidFill>
                    <a:srgbClr val="1C1C1C"/>
                  </a:solidFill>
                </a:rPr>
                <a:t>M</a:t>
              </a:r>
            </a:p>
          </p:txBody>
        </p:sp>
      </p:grpSp>
      <p:sp>
        <p:nvSpPr>
          <p:cNvPr id="10244" name="Text Box 11"/>
          <p:cNvSpPr txBox="1">
            <a:spLocks noChangeArrowheads="1"/>
          </p:cNvSpPr>
          <p:nvPr/>
        </p:nvSpPr>
        <p:spPr bwMode="auto">
          <a:xfrm>
            <a:off x="727075" y="555625"/>
            <a:ext cx="6172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zh-CN" altLang="en-US" sz="2800">
                <a:solidFill>
                  <a:srgbClr val="0000FF"/>
                </a:solidFill>
              </a:rPr>
              <a:t>三、马吕斯定律</a:t>
            </a:r>
          </a:p>
        </p:txBody>
      </p:sp>
      <p:graphicFrame>
        <p:nvGraphicFramePr>
          <p:cNvPr id="137235" name="Object 19"/>
          <p:cNvGraphicFramePr>
            <a:graphicFrameLocks noChangeAspect="1"/>
          </p:cNvGraphicFramePr>
          <p:nvPr/>
        </p:nvGraphicFramePr>
        <p:xfrm>
          <a:off x="3581400" y="3937000"/>
          <a:ext cx="1905000" cy="528638"/>
        </p:xfrm>
        <a:graphic>
          <a:graphicData uri="http://schemas.openxmlformats.org/presentationml/2006/ole">
            <mc:AlternateContent xmlns:mc="http://schemas.openxmlformats.org/markup-compatibility/2006">
              <mc:Choice xmlns:v="urn:schemas-microsoft-com:vml" Requires="v">
                <p:oleObj spid="_x0000_s10321" name="公式" r:id="rId3" imgW="1282700" imgH="330200" progId="Equation.3">
                  <p:embed/>
                </p:oleObj>
              </mc:Choice>
              <mc:Fallback>
                <p:oleObj name="公式" r:id="rId3" imgW="1282700" imgH="330200"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3937000"/>
                        <a:ext cx="1905000"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36" name="Object 20"/>
          <p:cNvGraphicFramePr>
            <a:graphicFrameLocks noChangeAspect="1"/>
          </p:cNvGraphicFramePr>
          <p:nvPr/>
        </p:nvGraphicFramePr>
        <p:xfrm>
          <a:off x="6164263" y="3603625"/>
          <a:ext cx="1371600" cy="1239838"/>
        </p:xfrm>
        <a:graphic>
          <a:graphicData uri="http://schemas.openxmlformats.org/presentationml/2006/ole">
            <mc:AlternateContent xmlns:mc="http://schemas.openxmlformats.org/markup-compatibility/2006">
              <mc:Choice xmlns:v="urn:schemas-microsoft-com:vml" Requires="v">
                <p:oleObj spid="_x0000_s10322" name="Equation" r:id="rId5" imgW="876300" imgH="762000" progId="Equation.3">
                  <p:embed/>
                </p:oleObj>
              </mc:Choice>
              <mc:Fallback>
                <p:oleObj name="Equation" r:id="rId5" imgW="876300" imgH="762000" progId="Equation.3">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4263" y="3603625"/>
                        <a:ext cx="1371600" cy="1239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87" name="Object 71"/>
          <p:cNvGraphicFramePr>
            <a:graphicFrameLocks noChangeAspect="1"/>
          </p:cNvGraphicFramePr>
          <p:nvPr/>
        </p:nvGraphicFramePr>
        <p:xfrm>
          <a:off x="6081713" y="5110163"/>
          <a:ext cx="1981200" cy="614362"/>
        </p:xfrm>
        <a:graphic>
          <a:graphicData uri="http://schemas.openxmlformats.org/presentationml/2006/ole">
            <mc:AlternateContent xmlns:mc="http://schemas.openxmlformats.org/markup-compatibility/2006">
              <mc:Choice xmlns:v="urn:schemas-microsoft-com:vml" Requires="v">
                <p:oleObj spid="_x0000_s10323" name="Equation" r:id="rId7" imgW="1320227" imgH="380835" progId="Equation.3">
                  <p:embed/>
                </p:oleObj>
              </mc:Choice>
              <mc:Fallback>
                <p:oleObj name="Equation" r:id="rId7" imgW="1320227" imgH="380835" progId="Equation.3">
                  <p:embed/>
                  <p:pic>
                    <p:nvPicPr>
                      <p:cNvPr id="0" name="Object 7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81713" y="5110163"/>
                        <a:ext cx="1981200" cy="614362"/>
                      </a:xfrm>
                      <a:prstGeom prst="rect">
                        <a:avLst/>
                      </a:prstGeom>
                      <a:gradFill rotWithShape="0">
                        <a:gsLst>
                          <a:gs pos="0">
                            <a:srgbClr val="FFEFFF"/>
                          </a:gs>
                          <a:gs pos="50000">
                            <a:srgbClr val="FFFFFF"/>
                          </a:gs>
                          <a:gs pos="100000">
                            <a:srgbClr val="FFEFFF"/>
                          </a:gs>
                        </a:gsLst>
                        <a:lin ang="5400000" scaled="1"/>
                      </a:gradFill>
                      <a:ln w="12700">
                        <a:solidFill>
                          <a:srgbClr val="CC00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88" name="Rectangle 72"/>
          <p:cNvSpPr>
            <a:spLocks noChangeArrowheads="1"/>
          </p:cNvSpPr>
          <p:nvPr/>
        </p:nvSpPr>
        <p:spPr bwMode="auto">
          <a:xfrm>
            <a:off x="2514600" y="5140325"/>
            <a:ext cx="3467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800">
                <a:solidFill>
                  <a:srgbClr val="CC0000"/>
                </a:solidFill>
              </a:rPr>
              <a:t>         马吕斯定律</a:t>
            </a:r>
            <a:endParaRPr kumimoji="0" lang="zh-CN" altLang="en-US" sz="2800">
              <a:solidFill>
                <a:srgbClr val="000000"/>
              </a:solidFill>
            </a:endParaRPr>
          </a:p>
        </p:txBody>
      </p:sp>
      <p:grpSp>
        <p:nvGrpSpPr>
          <p:cNvPr id="10249" name="Group 118"/>
          <p:cNvGrpSpPr>
            <a:grpSpLocks/>
          </p:cNvGrpSpPr>
          <p:nvPr/>
        </p:nvGrpSpPr>
        <p:grpSpPr bwMode="auto">
          <a:xfrm>
            <a:off x="866775" y="1258888"/>
            <a:ext cx="7610475" cy="1985962"/>
            <a:chOff x="546" y="793"/>
            <a:chExt cx="4794" cy="1251"/>
          </a:xfrm>
        </p:grpSpPr>
        <p:graphicFrame>
          <p:nvGraphicFramePr>
            <p:cNvPr id="10267" name="Object 65"/>
            <p:cNvGraphicFramePr>
              <a:graphicFrameLocks noChangeAspect="1"/>
            </p:cNvGraphicFramePr>
            <p:nvPr/>
          </p:nvGraphicFramePr>
          <p:xfrm>
            <a:off x="2675" y="863"/>
            <a:ext cx="250" cy="384"/>
          </p:xfrm>
          <a:graphic>
            <a:graphicData uri="http://schemas.openxmlformats.org/presentationml/2006/ole">
              <mc:AlternateContent xmlns:mc="http://schemas.openxmlformats.org/markup-compatibility/2006">
                <mc:Choice xmlns:v="urn:schemas-microsoft-com:vml" Requires="v">
                  <p:oleObj spid="_x0000_s10324" name="公式" r:id="rId9" imgW="215806" imgH="330057" progId="Equation.3">
                    <p:embed/>
                  </p:oleObj>
                </mc:Choice>
                <mc:Fallback>
                  <p:oleObj name="公式" r:id="rId9" imgW="215806" imgH="330057" progId="Equation.3">
                    <p:embed/>
                    <p:pic>
                      <p:nvPicPr>
                        <p:cNvPr id="0" name="Object 6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75" y="863"/>
                          <a:ext cx="250" cy="384"/>
                        </a:xfrm>
                        <a:prstGeom prst="rect">
                          <a:avLst/>
                        </a:prstGeom>
                        <a:solidFill>
                          <a:srgbClr val="FFEFFF"/>
                        </a:soli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8" name="Object 66"/>
            <p:cNvGraphicFramePr>
              <a:graphicFrameLocks noChangeAspect="1"/>
            </p:cNvGraphicFramePr>
            <p:nvPr/>
          </p:nvGraphicFramePr>
          <p:xfrm>
            <a:off x="4888" y="1000"/>
            <a:ext cx="191" cy="266"/>
          </p:xfrm>
          <a:graphic>
            <a:graphicData uri="http://schemas.openxmlformats.org/presentationml/2006/ole">
              <mc:AlternateContent xmlns:mc="http://schemas.openxmlformats.org/markup-compatibility/2006">
                <mc:Choice xmlns:v="urn:schemas-microsoft-com:vml" Requires="v">
                  <p:oleObj spid="_x0000_s10325" name="公式" r:id="rId11" imgW="165028" imgH="228501" progId="Equation.3">
                    <p:embed/>
                  </p:oleObj>
                </mc:Choice>
                <mc:Fallback>
                  <p:oleObj name="公式" r:id="rId11" imgW="165028" imgH="228501" progId="Equation.3">
                    <p:embed/>
                    <p:pic>
                      <p:nvPicPr>
                        <p:cNvPr id="0" name="Object 6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88" y="1000"/>
                          <a:ext cx="191" cy="266"/>
                        </a:xfrm>
                        <a:prstGeom prst="rect">
                          <a:avLst/>
                        </a:prstGeom>
                        <a:solidFill>
                          <a:schemeClr val="accent1">
                            <a:alpha val="2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9" name="Object 67"/>
            <p:cNvGraphicFramePr>
              <a:graphicFrameLocks noChangeAspect="1"/>
            </p:cNvGraphicFramePr>
            <p:nvPr/>
          </p:nvGraphicFramePr>
          <p:xfrm>
            <a:off x="4985" y="1555"/>
            <a:ext cx="270" cy="288"/>
          </p:xfrm>
          <a:graphic>
            <a:graphicData uri="http://schemas.openxmlformats.org/presentationml/2006/ole">
              <mc:AlternateContent xmlns:mc="http://schemas.openxmlformats.org/markup-compatibility/2006">
                <mc:Choice xmlns:v="urn:schemas-microsoft-com:vml" Requires="v">
                  <p:oleObj spid="_x0000_s10326" name="公式" r:id="rId13" imgW="215806" imgH="228501" progId="Equation.3">
                    <p:embed/>
                  </p:oleObj>
                </mc:Choice>
                <mc:Fallback>
                  <p:oleObj name="公式" r:id="rId13" imgW="215806" imgH="228501" progId="Equation.3">
                    <p:embed/>
                    <p:pic>
                      <p:nvPicPr>
                        <p:cNvPr id="0" name="Object 6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85" y="1555"/>
                          <a:ext cx="27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0" name="Object 68"/>
            <p:cNvGraphicFramePr>
              <a:graphicFrameLocks noChangeAspect="1"/>
            </p:cNvGraphicFramePr>
            <p:nvPr/>
          </p:nvGraphicFramePr>
          <p:xfrm>
            <a:off x="2684" y="1585"/>
            <a:ext cx="325" cy="384"/>
          </p:xfrm>
          <a:graphic>
            <a:graphicData uri="http://schemas.openxmlformats.org/presentationml/2006/ole">
              <mc:AlternateContent xmlns:mc="http://schemas.openxmlformats.org/markup-compatibility/2006">
                <mc:Choice xmlns:v="urn:schemas-microsoft-com:vml" Requires="v">
                  <p:oleObj spid="_x0000_s10327" name="公式" r:id="rId15" imgW="279400" imgH="330200" progId="Equation.3">
                    <p:embed/>
                  </p:oleObj>
                </mc:Choice>
                <mc:Fallback>
                  <p:oleObj name="公式" r:id="rId15" imgW="279400" imgH="330200" progId="Equation.3">
                    <p:embed/>
                    <p:pic>
                      <p:nvPicPr>
                        <p:cNvPr id="0" name="Object 6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84" y="1585"/>
                          <a:ext cx="32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71" name="Text Box 69"/>
            <p:cNvSpPr txBox="1">
              <a:spLocks noChangeArrowheads="1"/>
            </p:cNvSpPr>
            <p:nvPr/>
          </p:nvSpPr>
          <p:spPr bwMode="auto">
            <a:xfrm>
              <a:off x="1587" y="802"/>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en-US" altLang="zh-CN" sz="2800">
                  <a:solidFill>
                    <a:srgbClr val="0000FF"/>
                  </a:solidFill>
                </a:rPr>
                <a:t>N</a:t>
              </a:r>
            </a:p>
          </p:txBody>
        </p:sp>
        <p:sp>
          <p:nvSpPr>
            <p:cNvPr id="10272" name="Text Box 70"/>
            <p:cNvSpPr txBox="1">
              <a:spLocks noChangeArrowheads="1"/>
            </p:cNvSpPr>
            <p:nvPr/>
          </p:nvSpPr>
          <p:spPr bwMode="auto">
            <a:xfrm>
              <a:off x="3095" y="797"/>
              <a:ext cx="3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en-US" altLang="zh-CN" sz="2800">
                  <a:solidFill>
                    <a:srgbClr val="0000FF"/>
                  </a:solidFill>
                </a:rPr>
                <a:t>M</a:t>
              </a:r>
            </a:p>
          </p:txBody>
        </p:sp>
        <p:grpSp>
          <p:nvGrpSpPr>
            <p:cNvPr id="10273" name="Group 117"/>
            <p:cNvGrpSpPr>
              <a:grpSpLocks/>
            </p:cNvGrpSpPr>
            <p:nvPr/>
          </p:nvGrpSpPr>
          <p:grpSpPr bwMode="auto">
            <a:xfrm>
              <a:off x="546" y="793"/>
              <a:ext cx="4794" cy="1251"/>
              <a:chOff x="546" y="793"/>
              <a:chExt cx="4794" cy="1251"/>
            </a:xfrm>
          </p:grpSpPr>
          <p:sp>
            <p:nvSpPr>
              <p:cNvPr id="10274" name="Rectangle 74"/>
              <p:cNvSpPr>
                <a:spLocks noChangeArrowheads="1"/>
              </p:cNvSpPr>
              <p:nvPr/>
            </p:nvSpPr>
            <p:spPr bwMode="auto">
              <a:xfrm>
                <a:off x="546" y="793"/>
                <a:ext cx="4794" cy="125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nvGrpSpPr>
              <p:cNvPr id="10275" name="Group 75"/>
              <p:cNvGrpSpPr>
                <a:grpSpLocks/>
              </p:cNvGrpSpPr>
              <p:nvPr/>
            </p:nvGrpSpPr>
            <p:grpSpPr bwMode="auto">
              <a:xfrm>
                <a:off x="3621" y="1350"/>
                <a:ext cx="1336" cy="166"/>
                <a:chOff x="3696" y="1200"/>
                <a:chExt cx="1344" cy="192"/>
              </a:xfrm>
            </p:grpSpPr>
            <p:sp>
              <p:nvSpPr>
                <p:cNvPr id="10309" name="Line 76"/>
                <p:cNvSpPr>
                  <a:spLocks noChangeShapeType="1"/>
                </p:cNvSpPr>
                <p:nvPr/>
              </p:nvSpPr>
              <p:spPr bwMode="auto">
                <a:xfrm>
                  <a:off x="3696" y="1296"/>
                  <a:ext cx="1344" cy="0"/>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0" name="Line 77"/>
                <p:cNvSpPr>
                  <a:spLocks noChangeShapeType="1"/>
                </p:cNvSpPr>
                <p:nvPr/>
              </p:nvSpPr>
              <p:spPr bwMode="auto">
                <a:xfrm>
                  <a:off x="3744"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1" name="Line 78"/>
                <p:cNvSpPr>
                  <a:spLocks noChangeShapeType="1"/>
                </p:cNvSpPr>
                <p:nvPr/>
              </p:nvSpPr>
              <p:spPr bwMode="auto">
                <a:xfrm>
                  <a:off x="4128"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2" name="Line 79"/>
                <p:cNvSpPr>
                  <a:spLocks noChangeShapeType="1"/>
                </p:cNvSpPr>
                <p:nvPr/>
              </p:nvSpPr>
              <p:spPr bwMode="auto">
                <a:xfrm>
                  <a:off x="4320"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3" name="Line 80"/>
                <p:cNvSpPr>
                  <a:spLocks noChangeShapeType="1"/>
                </p:cNvSpPr>
                <p:nvPr/>
              </p:nvSpPr>
              <p:spPr bwMode="auto">
                <a:xfrm>
                  <a:off x="4512"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4" name="Line 81"/>
                <p:cNvSpPr>
                  <a:spLocks noChangeShapeType="1"/>
                </p:cNvSpPr>
                <p:nvPr/>
              </p:nvSpPr>
              <p:spPr bwMode="auto">
                <a:xfrm>
                  <a:off x="4704"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5" name="Line 82"/>
                <p:cNvSpPr>
                  <a:spLocks noChangeShapeType="1"/>
                </p:cNvSpPr>
                <p:nvPr/>
              </p:nvSpPr>
              <p:spPr bwMode="auto">
                <a:xfrm>
                  <a:off x="3936"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76" name="Group 83"/>
              <p:cNvGrpSpPr>
                <a:grpSpLocks/>
              </p:cNvGrpSpPr>
              <p:nvPr/>
            </p:nvGrpSpPr>
            <p:grpSpPr bwMode="auto">
              <a:xfrm>
                <a:off x="3265" y="933"/>
                <a:ext cx="623" cy="917"/>
                <a:chOff x="3408" y="624"/>
                <a:chExt cx="672" cy="1056"/>
              </a:xfrm>
            </p:grpSpPr>
            <p:sp>
              <p:nvSpPr>
                <p:cNvPr id="10307" name="Oval 84"/>
                <p:cNvSpPr>
                  <a:spLocks noChangeArrowheads="1"/>
                </p:cNvSpPr>
                <p:nvPr/>
              </p:nvSpPr>
              <p:spPr bwMode="auto">
                <a:xfrm>
                  <a:off x="3408" y="624"/>
                  <a:ext cx="672" cy="1056"/>
                </a:xfrm>
                <a:prstGeom prst="ellipse">
                  <a:avLst/>
                </a:prstGeom>
                <a:solidFill>
                  <a:srgbClr val="99FF99">
                    <a:alpha val="50195"/>
                  </a:srgbClr>
                </a:soli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0308" name="Line 85"/>
                <p:cNvSpPr>
                  <a:spLocks noChangeShapeType="1"/>
                </p:cNvSpPr>
                <p:nvPr/>
              </p:nvSpPr>
              <p:spPr bwMode="auto">
                <a:xfrm flipH="1" flipV="1">
                  <a:off x="3744" y="1296"/>
                  <a:ext cx="192" cy="288"/>
                </a:xfrm>
                <a:prstGeom prst="line">
                  <a:avLst/>
                </a:prstGeom>
                <a:noFill/>
                <a:ln w="19050">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77" name="AutoShape 86"/>
              <p:cNvSpPr>
                <a:spLocks noChangeArrowheads="1"/>
              </p:cNvSpPr>
              <p:nvPr/>
            </p:nvSpPr>
            <p:spPr bwMode="auto">
              <a:xfrm>
                <a:off x="4111" y="1683"/>
                <a:ext cx="757" cy="292"/>
              </a:xfrm>
              <a:prstGeom prst="wedgeRoundRectCallout">
                <a:avLst>
                  <a:gd name="adj1" fmla="val -111824"/>
                  <a:gd name="adj2" fmla="val -67468"/>
                  <a:gd name="adj3" fmla="val 16667"/>
                </a:avLst>
              </a:prstGeom>
              <a:solidFill>
                <a:srgbClr val="FFEFFF"/>
              </a:soli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800">
                  <a:solidFill>
                    <a:srgbClr val="1C1C1C"/>
                  </a:solidFill>
                </a:endParaRPr>
              </a:p>
            </p:txBody>
          </p:sp>
          <p:sp>
            <p:nvSpPr>
              <p:cNvPr id="10278" name="Text Box 87"/>
              <p:cNvSpPr txBox="1">
                <a:spLocks noChangeArrowheads="1"/>
              </p:cNvSpPr>
              <p:nvPr/>
            </p:nvSpPr>
            <p:spPr bwMode="auto">
              <a:xfrm>
                <a:off x="4111" y="1657"/>
                <a:ext cx="1023" cy="32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8575">
                    <a:solidFill>
                      <a:srgbClr val="0000FF"/>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zh-CN" altLang="en-US" sz="2800">
                    <a:solidFill>
                      <a:srgbClr val="000000"/>
                    </a:solidFill>
                  </a:rPr>
                  <a:t>检偏器</a:t>
                </a:r>
              </a:p>
            </p:txBody>
          </p:sp>
          <p:grpSp>
            <p:nvGrpSpPr>
              <p:cNvPr id="10279" name="Group 89"/>
              <p:cNvGrpSpPr>
                <a:grpSpLocks/>
              </p:cNvGrpSpPr>
              <p:nvPr/>
            </p:nvGrpSpPr>
            <p:grpSpPr bwMode="auto">
              <a:xfrm>
                <a:off x="2107" y="1308"/>
                <a:ext cx="1514" cy="250"/>
                <a:chOff x="2112" y="1152"/>
                <a:chExt cx="1632" cy="288"/>
              </a:xfrm>
            </p:grpSpPr>
            <p:grpSp>
              <p:nvGrpSpPr>
                <p:cNvPr id="10298" name="Group 90"/>
                <p:cNvGrpSpPr>
                  <a:grpSpLocks/>
                </p:cNvGrpSpPr>
                <p:nvPr/>
              </p:nvGrpSpPr>
              <p:grpSpPr bwMode="auto">
                <a:xfrm>
                  <a:off x="2112" y="1152"/>
                  <a:ext cx="1632" cy="288"/>
                  <a:chOff x="2112" y="1152"/>
                  <a:chExt cx="1632" cy="288"/>
                </a:xfrm>
              </p:grpSpPr>
              <p:sp>
                <p:nvSpPr>
                  <p:cNvPr id="10301" name="Line 91"/>
                  <p:cNvSpPr>
                    <a:spLocks noChangeShapeType="1"/>
                  </p:cNvSpPr>
                  <p:nvPr/>
                </p:nvSpPr>
                <p:spPr bwMode="auto">
                  <a:xfrm>
                    <a:off x="2112" y="1296"/>
                    <a:ext cx="1632"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2" name="Line 92"/>
                  <p:cNvSpPr>
                    <a:spLocks noChangeShapeType="1"/>
                  </p:cNvSpPr>
                  <p:nvPr/>
                </p:nvSpPr>
                <p:spPr bwMode="auto">
                  <a:xfrm>
                    <a:off x="2315"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3" name="Line 93"/>
                  <p:cNvSpPr>
                    <a:spLocks noChangeShapeType="1"/>
                  </p:cNvSpPr>
                  <p:nvPr/>
                </p:nvSpPr>
                <p:spPr bwMode="auto">
                  <a:xfrm>
                    <a:off x="2517"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4" name="Line 94"/>
                  <p:cNvSpPr>
                    <a:spLocks noChangeShapeType="1"/>
                  </p:cNvSpPr>
                  <p:nvPr/>
                </p:nvSpPr>
                <p:spPr bwMode="auto">
                  <a:xfrm>
                    <a:off x="2720"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5" name="Line 95"/>
                  <p:cNvSpPr>
                    <a:spLocks noChangeShapeType="1"/>
                  </p:cNvSpPr>
                  <p:nvPr/>
                </p:nvSpPr>
                <p:spPr bwMode="auto">
                  <a:xfrm>
                    <a:off x="2922"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6" name="Line 96"/>
                  <p:cNvSpPr>
                    <a:spLocks noChangeShapeType="1"/>
                  </p:cNvSpPr>
                  <p:nvPr/>
                </p:nvSpPr>
                <p:spPr bwMode="auto">
                  <a:xfrm>
                    <a:off x="3125"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99" name="Line 97"/>
                <p:cNvSpPr>
                  <a:spLocks noChangeShapeType="1"/>
                </p:cNvSpPr>
                <p:nvPr/>
              </p:nvSpPr>
              <p:spPr bwMode="auto">
                <a:xfrm>
                  <a:off x="3312"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0" name="Line 98"/>
                <p:cNvSpPr>
                  <a:spLocks noChangeShapeType="1"/>
                </p:cNvSpPr>
                <p:nvPr/>
              </p:nvSpPr>
              <p:spPr bwMode="auto">
                <a:xfrm>
                  <a:off x="3504"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80" name="Group 99"/>
              <p:cNvGrpSpPr>
                <a:grpSpLocks/>
              </p:cNvGrpSpPr>
              <p:nvPr/>
            </p:nvGrpSpPr>
            <p:grpSpPr bwMode="auto">
              <a:xfrm>
                <a:off x="1795" y="933"/>
                <a:ext cx="623" cy="917"/>
                <a:chOff x="2592" y="2976"/>
                <a:chExt cx="672" cy="1056"/>
              </a:xfrm>
            </p:grpSpPr>
            <p:sp>
              <p:nvSpPr>
                <p:cNvPr id="10296" name="Oval 100"/>
                <p:cNvSpPr>
                  <a:spLocks noChangeArrowheads="1"/>
                </p:cNvSpPr>
                <p:nvPr/>
              </p:nvSpPr>
              <p:spPr bwMode="auto">
                <a:xfrm>
                  <a:off x="2592" y="2976"/>
                  <a:ext cx="672" cy="1056"/>
                </a:xfrm>
                <a:prstGeom prst="ellipse">
                  <a:avLst/>
                </a:prstGeom>
                <a:solidFill>
                  <a:srgbClr val="99FF99">
                    <a:alpha val="50195"/>
                  </a:srgbClr>
                </a:soli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0297" name="Line 101"/>
                <p:cNvSpPr>
                  <a:spLocks noChangeShapeType="1"/>
                </p:cNvSpPr>
                <p:nvPr/>
              </p:nvSpPr>
              <p:spPr bwMode="auto">
                <a:xfrm flipV="1">
                  <a:off x="3072" y="3600"/>
                  <a:ext cx="0" cy="336"/>
                </a:xfrm>
                <a:prstGeom prst="line">
                  <a:avLst/>
                </a:prstGeom>
                <a:noFill/>
                <a:ln w="19050">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81" name="Group 102"/>
              <p:cNvGrpSpPr>
                <a:grpSpLocks/>
              </p:cNvGrpSpPr>
              <p:nvPr/>
            </p:nvGrpSpPr>
            <p:grpSpPr bwMode="auto">
              <a:xfrm>
                <a:off x="859" y="1308"/>
                <a:ext cx="1248" cy="250"/>
                <a:chOff x="1104" y="3408"/>
                <a:chExt cx="1488" cy="288"/>
              </a:xfrm>
            </p:grpSpPr>
            <p:sp>
              <p:nvSpPr>
                <p:cNvPr id="10285" name="Line 103"/>
                <p:cNvSpPr>
                  <a:spLocks noChangeShapeType="1"/>
                </p:cNvSpPr>
                <p:nvPr/>
              </p:nvSpPr>
              <p:spPr bwMode="auto">
                <a:xfrm>
                  <a:off x="1104" y="3552"/>
                  <a:ext cx="1488"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6" name="Line 104"/>
                <p:cNvSpPr>
                  <a:spLocks noChangeShapeType="1"/>
                </p:cNvSpPr>
                <p:nvPr/>
              </p:nvSpPr>
              <p:spPr bwMode="auto">
                <a:xfrm>
                  <a:off x="1426"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7" name="Line 105"/>
                <p:cNvSpPr>
                  <a:spLocks noChangeShapeType="1"/>
                </p:cNvSpPr>
                <p:nvPr/>
              </p:nvSpPr>
              <p:spPr bwMode="auto">
                <a:xfrm>
                  <a:off x="1667"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8" name="Line 106"/>
                <p:cNvSpPr>
                  <a:spLocks noChangeShapeType="1"/>
                </p:cNvSpPr>
                <p:nvPr/>
              </p:nvSpPr>
              <p:spPr bwMode="auto">
                <a:xfrm>
                  <a:off x="1908"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9" name="Line 107"/>
                <p:cNvSpPr>
                  <a:spLocks noChangeShapeType="1"/>
                </p:cNvSpPr>
                <p:nvPr/>
              </p:nvSpPr>
              <p:spPr bwMode="auto">
                <a:xfrm>
                  <a:off x="2150"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0" name="Line 108"/>
                <p:cNvSpPr>
                  <a:spLocks noChangeShapeType="1"/>
                </p:cNvSpPr>
                <p:nvPr/>
              </p:nvSpPr>
              <p:spPr bwMode="auto">
                <a:xfrm>
                  <a:off x="2391"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1" name="Oval 109"/>
                <p:cNvSpPr>
                  <a:spLocks noChangeArrowheads="1"/>
                </p:cNvSpPr>
                <p:nvPr/>
              </p:nvSpPr>
              <p:spPr bwMode="auto">
                <a:xfrm>
                  <a:off x="1265" y="3516"/>
                  <a:ext cx="80"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0292" name="Oval 110"/>
                <p:cNvSpPr>
                  <a:spLocks noChangeArrowheads="1"/>
                </p:cNvSpPr>
                <p:nvPr/>
              </p:nvSpPr>
              <p:spPr bwMode="auto">
                <a:xfrm>
                  <a:off x="1506" y="3516"/>
                  <a:ext cx="81"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0293" name="Oval 111"/>
                <p:cNvSpPr>
                  <a:spLocks noChangeArrowheads="1"/>
                </p:cNvSpPr>
                <p:nvPr/>
              </p:nvSpPr>
              <p:spPr bwMode="auto">
                <a:xfrm>
                  <a:off x="1747" y="3516"/>
                  <a:ext cx="81"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0294" name="Oval 112"/>
                <p:cNvSpPr>
                  <a:spLocks noChangeArrowheads="1"/>
                </p:cNvSpPr>
                <p:nvPr/>
              </p:nvSpPr>
              <p:spPr bwMode="auto">
                <a:xfrm>
                  <a:off x="1989" y="3516"/>
                  <a:ext cx="80"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0295" name="Oval 113"/>
                <p:cNvSpPr>
                  <a:spLocks noChangeArrowheads="1"/>
                </p:cNvSpPr>
                <p:nvPr/>
              </p:nvSpPr>
              <p:spPr bwMode="auto">
                <a:xfrm>
                  <a:off x="2230" y="3516"/>
                  <a:ext cx="80"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grpSp>
            <p:nvGrpSpPr>
              <p:cNvPr id="10282" name="Group 114"/>
              <p:cNvGrpSpPr>
                <a:grpSpLocks/>
              </p:cNvGrpSpPr>
              <p:nvPr/>
            </p:nvGrpSpPr>
            <p:grpSpPr bwMode="auto">
              <a:xfrm>
                <a:off x="975" y="1653"/>
                <a:ext cx="1104" cy="336"/>
                <a:chOff x="1440" y="3744"/>
                <a:chExt cx="1104" cy="336"/>
              </a:xfrm>
            </p:grpSpPr>
            <p:sp>
              <p:nvSpPr>
                <p:cNvPr id="10283" name="AutoShape 115"/>
                <p:cNvSpPr>
                  <a:spLocks noChangeArrowheads="1"/>
                </p:cNvSpPr>
                <p:nvPr/>
              </p:nvSpPr>
              <p:spPr bwMode="auto">
                <a:xfrm>
                  <a:off x="1440" y="3744"/>
                  <a:ext cx="768" cy="336"/>
                </a:xfrm>
                <a:prstGeom prst="wedgeRoundRectCallout">
                  <a:avLst>
                    <a:gd name="adj1" fmla="val 104426"/>
                    <a:gd name="adj2" fmla="val -56250"/>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en-US" sz="2800">
                    <a:solidFill>
                      <a:srgbClr val="1C1C1C"/>
                    </a:solidFill>
                  </a:endParaRPr>
                </a:p>
              </p:txBody>
            </p:sp>
            <p:sp>
              <p:nvSpPr>
                <p:cNvPr id="10284" name="Text Box 116"/>
                <p:cNvSpPr txBox="1">
                  <a:spLocks noChangeArrowheads="1"/>
                </p:cNvSpPr>
                <p:nvPr/>
              </p:nvSpPr>
              <p:spPr bwMode="auto">
                <a:xfrm>
                  <a:off x="1440" y="3744"/>
                  <a:ext cx="1104" cy="32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8575">
                      <a:solidFill>
                        <a:srgbClr val="0000FF"/>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zh-CN" altLang="en-US" sz="2800">
                      <a:solidFill>
                        <a:srgbClr val="000000"/>
                      </a:solidFill>
                    </a:rPr>
                    <a:t>起偏器</a:t>
                  </a:r>
                </a:p>
              </p:txBody>
            </p:sp>
          </p:grpSp>
        </p:grpSp>
      </p:grpSp>
      <p:grpSp>
        <p:nvGrpSpPr>
          <p:cNvPr id="137349" name="Group 133"/>
          <p:cNvGrpSpPr>
            <a:grpSpLocks/>
          </p:cNvGrpSpPr>
          <p:nvPr/>
        </p:nvGrpSpPr>
        <p:grpSpPr bwMode="auto">
          <a:xfrm>
            <a:off x="1447800" y="4354513"/>
            <a:ext cx="1519238" cy="965200"/>
            <a:chOff x="912" y="2743"/>
            <a:chExt cx="957" cy="608"/>
          </a:xfrm>
        </p:grpSpPr>
        <p:sp>
          <p:nvSpPr>
            <p:cNvPr id="10257" name="Line 128"/>
            <p:cNvSpPr>
              <a:spLocks noChangeShapeType="1"/>
            </p:cNvSpPr>
            <p:nvPr/>
          </p:nvSpPr>
          <p:spPr bwMode="auto">
            <a:xfrm rot="10800000" flipH="1" flipV="1">
              <a:off x="1573" y="2777"/>
              <a:ext cx="280" cy="305"/>
            </a:xfrm>
            <a:prstGeom prst="line">
              <a:avLst/>
            </a:prstGeom>
            <a:noFill/>
            <a:ln w="28575">
              <a:solidFill>
                <a:srgbClr val="0000FF"/>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258" name="Group 130"/>
            <p:cNvGrpSpPr>
              <a:grpSpLocks/>
            </p:cNvGrpSpPr>
            <p:nvPr/>
          </p:nvGrpSpPr>
          <p:grpSpPr bwMode="auto">
            <a:xfrm>
              <a:off x="912" y="2743"/>
              <a:ext cx="957" cy="608"/>
              <a:chOff x="912" y="2743"/>
              <a:chExt cx="957" cy="608"/>
            </a:xfrm>
          </p:grpSpPr>
          <p:grpSp>
            <p:nvGrpSpPr>
              <p:cNvPr id="10259" name="Group 126"/>
              <p:cNvGrpSpPr>
                <a:grpSpLocks/>
              </p:cNvGrpSpPr>
              <p:nvPr/>
            </p:nvGrpSpPr>
            <p:grpSpPr bwMode="auto">
              <a:xfrm>
                <a:off x="1372" y="3027"/>
                <a:ext cx="240" cy="228"/>
                <a:chOff x="1372" y="3027"/>
                <a:chExt cx="240" cy="228"/>
              </a:xfrm>
            </p:grpSpPr>
            <p:sp>
              <p:nvSpPr>
                <p:cNvPr id="10265" name="Arc 7"/>
                <p:cNvSpPr>
                  <a:spLocks/>
                </p:cNvSpPr>
                <p:nvPr/>
              </p:nvSpPr>
              <p:spPr bwMode="auto">
                <a:xfrm flipH="1">
                  <a:off x="1427" y="3170"/>
                  <a:ext cx="185" cy="85"/>
                </a:xfrm>
                <a:custGeom>
                  <a:avLst/>
                  <a:gdLst>
                    <a:gd name="T0" fmla="*/ 0 w 21427"/>
                    <a:gd name="T1" fmla="*/ 0 h 20968"/>
                    <a:gd name="T2" fmla="*/ 2 w 21427"/>
                    <a:gd name="T3" fmla="*/ 0 h 20968"/>
                    <a:gd name="T4" fmla="*/ 0 w 21427"/>
                    <a:gd name="T5" fmla="*/ 0 h 20968"/>
                    <a:gd name="T6" fmla="*/ 0 60000 65536"/>
                    <a:gd name="T7" fmla="*/ 0 60000 65536"/>
                    <a:gd name="T8" fmla="*/ 0 60000 65536"/>
                  </a:gdLst>
                  <a:ahLst/>
                  <a:cxnLst>
                    <a:cxn ang="T6">
                      <a:pos x="T0" y="T1"/>
                    </a:cxn>
                    <a:cxn ang="T7">
                      <a:pos x="T2" y="T3"/>
                    </a:cxn>
                    <a:cxn ang="T8">
                      <a:pos x="T4" y="T5"/>
                    </a:cxn>
                  </a:cxnLst>
                  <a:rect l="0" t="0" r="r" b="b"/>
                  <a:pathLst>
                    <a:path w="21427" h="20968" fill="none" extrusionOk="0">
                      <a:moveTo>
                        <a:pt x="5185" y="-1"/>
                      </a:moveTo>
                      <a:cubicBezTo>
                        <a:pt x="13847" y="2141"/>
                        <a:pt x="20301" y="9389"/>
                        <a:pt x="21427" y="18241"/>
                      </a:cubicBezTo>
                    </a:path>
                    <a:path w="21427" h="20968" stroke="0" extrusionOk="0">
                      <a:moveTo>
                        <a:pt x="5185" y="-1"/>
                      </a:moveTo>
                      <a:cubicBezTo>
                        <a:pt x="13847" y="2141"/>
                        <a:pt x="20301" y="9389"/>
                        <a:pt x="21427" y="18241"/>
                      </a:cubicBezTo>
                      <a:lnTo>
                        <a:pt x="0" y="20968"/>
                      </a:lnTo>
                      <a:lnTo>
                        <a:pt x="5185" y="-1"/>
                      </a:lnTo>
                      <a:close/>
                    </a:path>
                  </a:pathLst>
                </a:custGeom>
                <a:noFill/>
                <a:ln w="28575">
                  <a:solidFill>
                    <a:srgbClr val="00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266" name="Object 8"/>
                <p:cNvGraphicFramePr>
                  <a:graphicFrameLocks noChangeAspect="1"/>
                </p:cNvGraphicFramePr>
                <p:nvPr/>
              </p:nvGraphicFramePr>
              <p:xfrm>
                <a:off x="1372" y="3027"/>
                <a:ext cx="208" cy="186"/>
              </p:xfrm>
              <a:graphic>
                <a:graphicData uri="http://schemas.openxmlformats.org/presentationml/2006/ole">
                  <mc:AlternateContent xmlns:mc="http://schemas.openxmlformats.org/markup-compatibility/2006">
                    <mc:Choice xmlns:v="urn:schemas-microsoft-com:vml" Requires="v">
                      <p:oleObj spid="_x0000_s10328" name="公式" r:id="rId17" imgW="203112" imgH="190417" progId="Equation.3">
                        <p:embed/>
                      </p:oleObj>
                    </mc:Choice>
                    <mc:Fallback>
                      <p:oleObj name="公式" r:id="rId17" imgW="203112" imgH="190417" progId="Equation.3">
                        <p:embed/>
                        <p:pic>
                          <p:nvPicPr>
                            <p:cNvPr id="0" name="Object 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72" y="3027"/>
                              <a:ext cx="208"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260" name="Group 129"/>
              <p:cNvGrpSpPr>
                <a:grpSpLocks/>
              </p:cNvGrpSpPr>
              <p:nvPr/>
            </p:nvGrpSpPr>
            <p:grpSpPr bwMode="auto">
              <a:xfrm>
                <a:off x="912" y="2839"/>
                <a:ext cx="638" cy="512"/>
                <a:chOff x="912" y="2839"/>
                <a:chExt cx="638" cy="512"/>
              </a:xfrm>
            </p:grpSpPr>
            <p:sp>
              <p:nvSpPr>
                <p:cNvPr id="10263" name="Line 16"/>
                <p:cNvSpPr>
                  <a:spLocks noChangeShapeType="1"/>
                </p:cNvSpPr>
                <p:nvPr/>
              </p:nvSpPr>
              <p:spPr bwMode="auto">
                <a:xfrm flipH="1" flipV="1">
                  <a:off x="1242" y="3015"/>
                  <a:ext cx="308" cy="336"/>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264" name="Object 17"/>
                <p:cNvGraphicFramePr>
                  <a:graphicFrameLocks noChangeAspect="1"/>
                </p:cNvGraphicFramePr>
                <p:nvPr/>
              </p:nvGraphicFramePr>
              <p:xfrm>
                <a:off x="912" y="2839"/>
                <a:ext cx="216" cy="223"/>
              </p:xfrm>
              <a:graphic>
                <a:graphicData uri="http://schemas.openxmlformats.org/presentationml/2006/ole">
                  <mc:AlternateContent xmlns:mc="http://schemas.openxmlformats.org/markup-compatibility/2006">
                    <mc:Choice xmlns:v="urn:schemas-microsoft-com:vml" Requires="v">
                      <p:oleObj spid="_x0000_s10329" name="公式" r:id="rId19" imgW="215806" imgH="228501" progId="Equation.3">
                        <p:embed/>
                      </p:oleObj>
                    </mc:Choice>
                    <mc:Fallback>
                      <p:oleObj name="公式" r:id="rId19" imgW="215806" imgH="228501" progId="Equation.3">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12" y="2839"/>
                              <a:ext cx="216"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261" name="Line 125"/>
              <p:cNvSpPr>
                <a:spLocks noChangeShapeType="1"/>
              </p:cNvSpPr>
              <p:nvPr/>
            </p:nvSpPr>
            <p:spPr bwMode="auto">
              <a:xfrm rot="5400000" flipH="1" flipV="1">
                <a:off x="1275" y="2730"/>
                <a:ext cx="280" cy="305"/>
              </a:xfrm>
              <a:prstGeom prst="line">
                <a:avLst/>
              </a:prstGeom>
              <a:noFill/>
              <a:ln w="28575">
                <a:solidFill>
                  <a:srgbClr val="0000FF"/>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2" name="Line 127"/>
              <p:cNvSpPr>
                <a:spLocks noChangeShapeType="1"/>
              </p:cNvSpPr>
              <p:nvPr/>
            </p:nvSpPr>
            <p:spPr bwMode="auto">
              <a:xfrm rot="5400000" flipH="1" flipV="1">
                <a:off x="1577" y="3050"/>
                <a:ext cx="280" cy="305"/>
              </a:xfrm>
              <a:prstGeom prst="line">
                <a:avLst/>
              </a:prstGeom>
              <a:noFill/>
              <a:ln w="28575">
                <a:solidFill>
                  <a:srgbClr val="0000FF"/>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37339" name="Group 123"/>
          <p:cNvGrpSpPr>
            <a:grpSpLocks/>
          </p:cNvGrpSpPr>
          <p:nvPr/>
        </p:nvGrpSpPr>
        <p:grpSpPr bwMode="auto">
          <a:xfrm>
            <a:off x="2476500" y="4038600"/>
            <a:ext cx="520700" cy="1222375"/>
            <a:chOff x="1559" y="2571"/>
            <a:chExt cx="328" cy="770"/>
          </a:xfrm>
        </p:grpSpPr>
        <p:sp>
          <p:nvSpPr>
            <p:cNvPr id="10252" name="Line 14"/>
            <p:cNvSpPr>
              <a:spLocks noChangeShapeType="1"/>
            </p:cNvSpPr>
            <p:nvPr/>
          </p:nvSpPr>
          <p:spPr bwMode="auto">
            <a:xfrm flipV="1">
              <a:off x="1559" y="2725"/>
              <a:ext cx="0" cy="616"/>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253" name="Group 120"/>
            <p:cNvGrpSpPr>
              <a:grpSpLocks noChangeAspect="1"/>
            </p:cNvGrpSpPr>
            <p:nvPr/>
          </p:nvGrpSpPr>
          <p:grpSpPr bwMode="auto">
            <a:xfrm>
              <a:off x="1605" y="2571"/>
              <a:ext cx="282" cy="329"/>
              <a:chOff x="1605" y="2571"/>
              <a:chExt cx="282" cy="329"/>
            </a:xfrm>
          </p:grpSpPr>
          <p:sp>
            <p:nvSpPr>
              <p:cNvPr id="10254" name="AutoShape 119"/>
              <p:cNvSpPr>
                <a:spLocks noChangeAspect="1" noChangeArrowheads="1" noTextEdit="1"/>
              </p:cNvSpPr>
              <p:nvPr/>
            </p:nvSpPr>
            <p:spPr bwMode="auto">
              <a:xfrm>
                <a:off x="1605" y="2571"/>
                <a:ext cx="28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55" name="Rectangle 121"/>
              <p:cNvSpPr>
                <a:spLocks noChangeArrowheads="1"/>
              </p:cNvSpPr>
              <p:nvPr/>
            </p:nvSpPr>
            <p:spPr bwMode="auto">
              <a:xfrm>
                <a:off x="1793" y="2746"/>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1600" b="0">
                    <a:solidFill>
                      <a:srgbClr val="000000"/>
                    </a:solidFill>
                  </a:rPr>
                  <a:t>0</a:t>
                </a:r>
                <a:endParaRPr kumimoji="0" lang="en-US" altLang="zh-CN" sz="2800"/>
              </a:p>
            </p:txBody>
          </p:sp>
          <p:sp>
            <p:nvSpPr>
              <p:cNvPr id="10256" name="Rectangle 122"/>
              <p:cNvSpPr>
                <a:spLocks noChangeArrowheads="1"/>
              </p:cNvSpPr>
              <p:nvPr/>
            </p:nvSpPr>
            <p:spPr bwMode="auto">
              <a:xfrm>
                <a:off x="1635" y="2573"/>
                <a:ext cx="151"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b="0" i="1">
                    <a:solidFill>
                      <a:srgbClr val="000000"/>
                    </a:solidFill>
                  </a:rPr>
                  <a:t>E</a:t>
                </a:r>
                <a:endParaRPr kumimoji="0" lang="en-US" altLang="zh-CN" sz="2800"/>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7348"/>
                                        </p:tgtEl>
                                        <p:attrNameLst>
                                          <p:attrName>style.visibility</p:attrName>
                                        </p:attrNameLst>
                                      </p:cBhvr>
                                      <p:to>
                                        <p:strVal val="visible"/>
                                      </p:to>
                                    </p:set>
                                    <p:animEffect transition="in" filter="wipe(left)">
                                      <p:cBhvr>
                                        <p:cTn id="7" dur="500"/>
                                        <p:tgtEl>
                                          <p:spTgt spid="1373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7339"/>
                                        </p:tgtEl>
                                        <p:attrNameLst>
                                          <p:attrName>style.visibility</p:attrName>
                                        </p:attrNameLst>
                                      </p:cBhvr>
                                      <p:to>
                                        <p:strVal val="visible"/>
                                      </p:to>
                                    </p:set>
                                    <p:animEffect transition="in" filter="wipe(left)">
                                      <p:cBhvr>
                                        <p:cTn id="12" dur="500"/>
                                        <p:tgtEl>
                                          <p:spTgt spid="1373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7349"/>
                                        </p:tgtEl>
                                        <p:attrNameLst>
                                          <p:attrName>style.visibility</p:attrName>
                                        </p:attrNameLst>
                                      </p:cBhvr>
                                      <p:to>
                                        <p:strVal val="visible"/>
                                      </p:to>
                                    </p:set>
                                    <p:animEffect transition="in" filter="wipe(left)">
                                      <p:cBhvr>
                                        <p:cTn id="17" dur="500"/>
                                        <p:tgtEl>
                                          <p:spTgt spid="1373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7235"/>
                                        </p:tgtEl>
                                        <p:attrNameLst>
                                          <p:attrName>style.visibility</p:attrName>
                                        </p:attrNameLst>
                                      </p:cBhvr>
                                      <p:to>
                                        <p:strVal val="visible"/>
                                      </p:to>
                                    </p:set>
                                    <p:animEffect transition="in" filter="wipe(left)">
                                      <p:cBhvr>
                                        <p:cTn id="22" dur="500"/>
                                        <p:tgtEl>
                                          <p:spTgt spid="13723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37236"/>
                                        </p:tgtEl>
                                        <p:attrNameLst>
                                          <p:attrName>style.visibility</p:attrName>
                                        </p:attrNameLst>
                                      </p:cBhvr>
                                      <p:to>
                                        <p:strVal val="visible"/>
                                      </p:to>
                                    </p:set>
                                    <p:animEffect transition="in" filter="wipe(left)">
                                      <p:cBhvr>
                                        <p:cTn id="27" dur="500"/>
                                        <p:tgtEl>
                                          <p:spTgt spid="13723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7288"/>
                                        </p:tgtEl>
                                        <p:attrNameLst>
                                          <p:attrName>style.visibility</p:attrName>
                                        </p:attrNameLst>
                                      </p:cBhvr>
                                      <p:to>
                                        <p:strVal val="visible"/>
                                      </p:to>
                                    </p:set>
                                    <p:animEffect transition="in" filter="wipe(left)">
                                      <p:cBhvr>
                                        <p:cTn id="32" dur="500"/>
                                        <p:tgtEl>
                                          <p:spTgt spid="13728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37287"/>
                                        </p:tgtEl>
                                        <p:attrNameLst>
                                          <p:attrName>style.visibility</p:attrName>
                                        </p:attrNameLst>
                                      </p:cBhvr>
                                      <p:to>
                                        <p:strVal val="visible"/>
                                      </p:to>
                                    </p:set>
                                    <p:animEffect transition="in" filter="wipe(left)">
                                      <p:cBhvr>
                                        <p:cTn id="37" dur="500"/>
                                        <p:tgtEl>
                                          <p:spTgt spid="137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8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50000"/>
              </a:spcBef>
              <a:buClrTx/>
              <a:buFontTx/>
              <a:buNone/>
            </a:pPr>
            <a:fld id="{140C0AD3-A185-410B-BA16-2EC51ED5F1B4}" type="slidenum">
              <a:rPr kumimoji="0" lang="zh-CN" altLang="en-US" sz="1400" smtClean="0">
                <a:solidFill>
                  <a:schemeClr val="bg2"/>
                </a:solidFill>
              </a:rPr>
              <a:pPr>
                <a:spcBef>
                  <a:spcPct val="50000"/>
                </a:spcBef>
                <a:buClrTx/>
                <a:buFontTx/>
                <a:buNone/>
              </a:pPr>
              <a:t>8</a:t>
            </a:fld>
            <a:endParaRPr kumimoji="0" lang="en-US" altLang="zh-CN" sz="1400" smtClean="0">
              <a:solidFill>
                <a:schemeClr val="bg2"/>
              </a:solidFill>
            </a:endParaRPr>
          </a:p>
        </p:txBody>
      </p:sp>
      <p:grpSp>
        <p:nvGrpSpPr>
          <p:cNvPr id="146434" name="Group 2"/>
          <p:cNvGrpSpPr>
            <a:grpSpLocks/>
          </p:cNvGrpSpPr>
          <p:nvPr/>
        </p:nvGrpSpPr>
        <p:grpSpPr bwMode="auto">
          <a:xfrm>
            <a:off x="2984500" y="5508625"/>
            <a:ext cx="2868613" cy="742950"/>
            <a:chOff x="1776" y="3360"/>
            <a:chExt cx="1536" cy="528"/>
          </a:xfrm>
        </p:grpSpPr>
        <p:sp>
          <p:nvSpPr>
            <p:cNvPr id="11291" name="AutoShape 3"/>
            <p:cNvSpPr>
              <a:spLocks noChangeArrowheads="1"/>
            </p:cNvSpPr>
            <p:nvPr/>
          </p:nvSpPr>
          <p:spPr bwMode="auto">
            <a:xfrm rot="5400000">
              <a:off x="2328" y="3288"/>
              <a:ext cx="288" cy="432"/>
            </a:xfrm>
            <a:prstGeom prst="flowChartDelay">
              <a:avLst/>
            </a:prstGeom>
            <a:solidFill>
              <a:srgbClr val="EAEAEA"/>
            </a:solidFill>
            <a:ln w="19050">
              <a:solidFill>
                <a:schemeClr val="tx1"/>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1292" name="AutoShape 4"/>
            <p:cNvSpPr>
              <a:spLocks noChangeArrowheads="1"/>
            </p:cNvSpPr>
            <p:nvPr/>
          </p:nvSpPr>
          <p:spPr bwMode="auto">
            <a:xfrm rot="5400000">
              <a:off x="2952" y="3288"/>
              <a:ext cx="288" cy="432"/>
            </a:xfrm>
            <a:prstGeom prst="flowChartDelay">
              <a:avLst/>
            </a:prstGeom>
            <a:solidFill>
              <a:srgbClr val="EAEAEA"/>
            </a:solidFill>
            <a:ln w="19050">
              <a:solidFill>
                <a:schemeClr val="tx1"/>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1293" name="Rectangle 5"/>
            <p:cNvSpPr>
              <a:spLocks noChangeArrowheads="1"/>
            </p:cNvSpPr>
            <p:nvPr/>
          </p:nvSpPr>
          <p:spPr bwMode="auto">
            <a:xfrm>
              <a:off x="2688" y="3360"/>
              <a:ext cx="192" cy="48"/>
            </a:xfrm>
            <a:prstGeom prst="rect">
              <a:avLst/>
            </a:prstGeom>
            <a:solidFill>
              <a:schemeClr val="bg2"/>
            </a:solidFill>
            <a:ln w="19050">
              <a:solidFill>
                <a:schemeClr val="tx1"/>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1294" name="Freeform 6"/>
            <p:cNvSpPr>
              <a:spLocks/>
            </p:cNvSpPr>
            <p:nvPr/>
          </p:nvSpPr>
          <p:spPr bwMode="auto">
            <a:xfrm>
              <a:off x="1776" y="3360"/>
              <a:ext cx="480" cy="528"/>
            </a:xfrm>
            <a:custGeom>
              <a:avLst/>
              <a:gdLst>
                <a:gd name="T0" fmla="*/ 480 w 480"/>
                <a:gd name="T1" fmla="*/ 0 h 528"/>
                <a:gd name="T2" fmla="*/ 96 w 480"/>
                <a:gd name="T3" fmla="*/ 240 h 528"/>
                <a:gd name="T4" fmla="*/ 48 w 480"/>
                <a:gd name="T5" fmla="*/ 336 h 528"/>
                <a:gd name="T6" fmla="*/ 0 w 480"/>
                <a:gd name="T7" fmla="*/ 432 h 528"/>
                <a:gd name="T8" fmla="*/ 0 w 480"/>
                <a:gd name="T9" fmla="*/ 528 h 5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0" h="528">
                  <a:moveTo>
                    <a:pt x="480" y="0"/>
                  </a:moveTo>
                  <a:lnTo>
                    <a:pt x="96" y="240"/>
                  </a:lnTo>
                  <a:lnTo>
                    <a:pt x="48" y="336"/>
                  </a:lnTo>
                  <a:lnTo>
                    <a:pt x="0" y="432"/>
                  </a:lnTo>
                  <a:lnTo>
                    <a:pt x="0" y="528"/>
                  </a:lnTo>
                </a:path>
              </a:pathLst>
            </a:custGeom>
            <a:noFill/>
            <a:ln w="76200" cap="flat" cmpd="sng">
              <a:solidFill>
                <a:schemeClr val="tx1"/>
              </a:solidFill>
              <a:prstDash val="solid"/>
              <a:round/>
              <a:headEnd type="non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5" name="Freeform 7"/>
            <p:cNvSpPr>
              <a:spLocks/>
            </p:cNvSpPr>
            <p:nvPr/>
          </p:nvSpPr>
          <p:spPr bwMode="auto">
            <a:xfrm>
              <a:off x="2832" y="3360"/>
              <a:ext cx="480" cy="528"/>
            </a:xfrm>
            <a:custGeom>
              <a:avLst/>
              <a:gdLst>
                <a:gd name="T0" fmla="*/ 480 w 480"/>
                <a:gd name="T1" fmla="*/ 0 h 528"/>
                <a:gd name="T2" fmla="*/ 96 w 480"/>
                <a:gd name="T3" fmla="*/ 240 h 528"/>
                <a:gd name="T4" fmla="*/ 48 w 480"/>
                <a:gd name="T5" fmla="*/ 336 h 528"/>
                <a:gd name="T6" fmla="*/ 0 w 480"/>
                <a:gd name="T7" fmla="*/ 432 h 528"/>
                <a:gd name="T8" fmla="*/ 0 w 480"/>
                <a:gd name="T9" fmla="*/ 528 h 5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0" h="528">
                  <a:moveTo>
                    <a:pt x="480" y="0"/>
                  </a:moveTo>
                  <a:lnTo>
                    <a:pt x="96" y="240"/>
                  </a:lnTo>
                  <a:lnTo>
                    <a:pt x="48" y="336"/>
                  </a:lnTo>
                  <a:lnTo>
                    <a:pt x="0" y="432"/>
                  </a:lnTo>
                  <a:lnTo>
                    <a:pt x="0" y="528"/>
                  </a:lnTo>
                </a:path>
              </a:pathLst>
            </a:custGeom>
            <a:noFill/>
            <a:ln w="76200" cap="flat" cmpd="sng">
              <a:solidFill>
                <a:schemeClr val="tx1"/>
              </a:solidFill>
              <a:prstDash val="solid"/>
              <a:round/>
              <a:headEnd type="non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6440" name="AutoShape 8"/>
          <p:cNvSpPr>
            <a:spLocks noChangeArrowheads="1"/>
          </p:cNvSpPr>
          <p:nvPr/>
        </p:nvSpPr>
        <p:spPr bwMode="auto">
          <a:xfrm>
            <a:off x="2341563" y="1011238"/>
            <a:ext cx="4751387" cy="2901950"/>
          </a:xfrm>
          <a:prstGeom prst="roundRect">
            <a:avLst>
              <a:gd name="adj" fmla="val 8241"/>
            </a:avLst>
          </a:prstGeom>
          <a:solidFill>
            <a:schemeClr val="tx2"/>
          </a:solidFill>
          <a:ln w="19050">
            <a:solidFill>
              <a:schemeClr val="tx1"/>
            </a:solidFill>
            <a:round/>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pic>
        <p:nvPicPr>
          <p:cNvPr id="146441" name="Picture 9" descr="磁悬浮列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7938" y="1190625"/>
            <a:ext cx="4229100"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6442" name="Group 10"/>
          <p:cNvGrpSpPr>
            <a:grpSpLocks/>
          </p:cNvGrpSpPr>
          <p:nvPr/>
        </p:nvGrpSpPr>
        <p:grpSpPr bwMode="auto">
          <a:xfrm>
            <a:off x="1290638" y="1222375"/>
            <a:ext cx="5468937" cy="4021138"/>
            <a:chOff x="1440" y="432"/>
            <a:chExt cx="2928" cy="2860"/>
          </a:xfrm>
        </p:grpSpPr>
        <p:grpSp>
          <p:nvGrpSpPr>
            <p:cNvPr id="11284" name="Group 11"/>
            <p:cNvGrpSpPr>
              <a:grpSpLocks/>
            </p:cNvGrpSpPr>
            <p:nvPr/>
          </p:nvGrpSpPr>
          <p:grpSpPr bwMode="auto">
            <a:xfrm>
              <a:off x="1440" y="2256"/>
              <a:ext cx="541" cy="1036"/>
              <a:chOff x="995" y="2495"/>
              <a:chExt cx="541" cy="1036"/>
            </a:xfrm>
          </p:grpSpPr>
          <p:sp>
            <p:nvSpPr>
              <p:cNvPr id="11287" name="Freeform 12"/>
              <p:cNvSpPr>
                <a:spLocks/>
              </p:cNvSpPr>
              <p:nvPr/>
            </p:nvSpPr>
            <p:spPr bwMode="auto">
              <a:xfrm>
                <a:off x="1392" y="2880"/>
                <a:ext cx="144" cy="288"/>
              </a:xfrm>
              <a:custGeom>
                <a:avLst/>
                <a:gdLst>
                  <a:gd name="T0" fmla="*/ 0 w 144"/>
                  <a:gd name="T1" fmla="*/ 144 h 288"/>
                  <a:gd name="T2" fmla="*/ 144 w 144"/>
                  <a:gd name="T3" fmla="*/ 0 h 288"/>
                  <a:gd name="T4" fmla="*/ 144 w 144"/>
                  <a:gd name="T5" fmla="*/ 192 h 288"/>
                  <a:gd name="T6" fmla="*/ 144 w 144"/>
                  <a:gd name="T7" fmla="*/ 288 h 288"/>
                  <a:gd name="T8" fmla="*/ 0 w 144"/>
                  <a:gd name="T9" fmla="*/ 288 h 288"/>
                  <a:gd name="T10" fmla="*/ 0 w 144"/>
                  <a:gd name="T11" fmla="*/ 144 h 28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 h="288">
                    <a:moveTo>
                      <a:pt x="0" y="144"/>
                    </a:moveTo>
                    <a:lnTo>
                      <a:pt x="144" y="0"/>
                    </a:lnTo>
                    <a:lnTo>
                      <a:pt x="144" y="192"/>
                    </a:lnTo>
                    <a:lnTo>
                      <a:pt x="144" y="288"/>
                    </a:lnTo>
                    <a:lnTo>
                      <a:pt x="0" y="288"/>
                    </a:lnTo>
                    <a:lnTo>
                      <a:pt x="0" y="144"/>
                    </a:lnTo>
                    <a:close/>
                  </a:path>
                </a:pathLst>
              </a:custGeom>
              <a:solidFill>
                <a:schemeClr val="accent1"/>
              </a:solidFill>
              <a:ln w="19050" cap="flat" cmpd="sng">
                <a:solidFill>
                  <a:schemeClr val="tx1"/>
                </a:solidFill>
                <a:prstDash val="solid"/>
                <a:round/>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8" name="Freeform 13"/>
              <p:cNvSpPr>
                <a:spLocks/>
              </p:cNvSpPr>
              <p:nvPr/>
            </p:nvSpPr>
            <p:spPr bwMode="auto">
              <a:xfrm>
                <a:off x="1344" y="2880"/>
                <a:ext cx="192" cy="144"/>
              </a:xfrm>
              <a:custGeom>
                <a:avLst/>
                <a:gdLst>
                  <a:gd name="T0" fmla="*/ 192 w 192"/>
                  <a:gd name="T1" fmla="*/ 0 h 144"/>
                  <a:gd name="T2" fmla="*/ 0 w 192"/>
                  <a:gd name="T3" fmla="*/ 0 h 144"/>
                  <a:gd name="T4" fmla="*/ 0 w 192"/>
                  <a:gd name="T5" fmla="*/ 48 h 144"/>
                  <a:gd name="T6" fmla="*/ 0 w 192"/>
                  <a:gd name="T7" fmla="*/ 144 h 144"/>
                  <a:gd name="T8" fmla="*/ 48 w 192"/>
                  <a:gd name="T9" fmla="*/ 144 h 144"/>
                  <a:gd name="T10" fmla="*/ 192 w 192"/>
                  <a:gd name="T11" fmla="*/ 0 h 1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2" h="144">
                    <a:moveTo>
                      <a:pt x="192" y="0"/>
                    </a:moveTo>
                    <a:lnTo>
                      <a:pt x="0" y="0"/>
                    </a:lnTo>
                    <a:lnTo>
                      <a:pt x="0" y="48"/>
                    </a:lnTo>
                    <a:lnTo>
                      <a:pt x="0" y="144"/>
                    </a:lnTo>
                    <a:lnTo>
                      <a:pt x="48" y="144"/>
                    </a:lnTo>
                    <a:lnTo>
                      <a:pt x="192" y="0"/>
                    </a:lnTo>
                    <a:close/>
                  </a:path>
                </a:pathLst>
              </a:custGeom>
              <a:solidFill>
                <a:schemeClr val="accent1"/>
              </a:solidFill>
              <a:ln w="19050" cap="flat" cmpd="sng">
                <a:solidFill>
                  <a:schemeClr val="tx1"/>
                </a:solidFill>
                <a:prstDash val="solid"/>
                <a:round/>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9" name="AutoShape 14"/>
              <p:cNvSpPr>
                <a:spLocks noChangeArrowheads="1"/>
              </p:cNvSpPr>
              <p:nvPr/>
            </p:nvSpPr>
            <p:spPr bwMode="auto">
              <a:xfrm>
                <a:off x="995" y="2907"/>
                <a:ext cx="432" cy="624"/>
              </a:xfrm>
              <a:prstGeom prst="cube">
                <a:avLst>
                  <a:gd name="adj" fmla="val 57292"/>
                </a:avLst>
              </a:prstGeom>
              <a:solidFill>
                <a:srgbClr val="FFFFFF"/>
              </a:solidFill>
              <a:ln w="19050">
                <a:solidFill>
                  <a:schemeClr val="tx1"/>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1290" name="AutoShape 15"/>
              <p:cNvSpPr>
                <a:spLocks noChangeArrowheads="1"/>
              </p:cNvSpPr>
              <p:nvPr/>
            </p:nvSpPr>
            <p:spPr bwMode="auto">
              <a:xfrm rot="5400000">
                <a:off x="916" y="2663"/>
                <a:ext cx="576" cy="240"/>
              </a:xfrm>
              <a:prstGeom prst="can">
                <a:avLst>
                  <a:gd name="adj" fmla="val 50000"/>
                </a:avLst>
              </a:prstGeom>
              <a:solidFill>
                <a:srgbClr val="FFCC99"/>
              </a:solidFill>
              <a:ln w="19050">
                <a:solidFill>
                  <a:schemeClr val="tx1"/>
                </a:solidFill>
                <a:round/>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sp>
          <p:nvSpPr>
            <p:cNvPr id="11285" name="Line 16"/>
            <p:cNvSpPr>
              <a:spLocks noChangeShapeType="1"/>
            </p:cNvSpPr>
            <p:nvPr/>
          </p:nvSpPr>
          <p:spPr bwMode="auto">
            <a:xfrm flipV="1">
              <a:off x="1968" y="2208"/>
              <a:ext cx="2400" cy="720"/>
            </a:xfrm>
            <a:prstGeom prst="line">
              <a:avLst/>
            </a:prstGeom>
            <a:noFill/>
            <a:ln w="19050">
              <a:solidFill>
                <a:srgbClr val="FF3300"/>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6" name="Line 17"/>
            <p:cNvSpPr>
              <a:spLocks noChangeShapeType="1"/>
            </p:cNvSpPr>
            <p:nvPr/>
          </p:nvSpPr>
          <p:spPr bwMode="auto">
            <a:xfrm flipV="1">
              <a:off x="1776" y="432"/>
              <a:ext cx="336" cy="2208"/>
            </a:xfrm>
            <a:prstGeom prst="line">
              <a:avLst/>
            </a:prstGeom>
            <a:noFill/>
            <a:ln w="19050">
              <a:solidFill>
                <a:srgbClr val="FF3300"/>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6450" name="Group 18"/>
          <p:cNvGrpSpPr>
            <a:grpSpLocks/>
          </p:cNvGrpSpPr>
          <p:nvPr/>
        </p:nvGrpSpPr>
        <p:grpSpPr bwMode="auto">
          <a:xfrm>
            <a:off x="2614613" y="1211263"/>
            <a:ext cx="5224462" cy="4156075"/>
            <a:chOff x="2160" y="432"/>
            <a:chExt cx="2797" cy="2956"/>
          </a:xfrm>
        </p:grpSpPr>
        <p:grpSp>
          <p:nvGrpSpPr>
            <p:cNvPr id="11277" name="Group 19"/>
            <p:cNvGrpSpPr>
              <a:grpSpLocks/>
            </p:cNvGrpSpPr>
            <p:nvPr/>
          </p:nvGrpSpPr>
          <p:grpSpPr bwMode="auto">
            <a:xfrm flipH="1">
              <a:off x="4416" y="2352"/>
              <a:ext cx="541" cy="1036"/>
              <a:chOff x="995" y="2495"/>
              <a:chExt cx="541" cy="1036"/>
            </a:xfrm>
          </p:grpSpPr>
          <p:sp>
            <p:nvSpPr>
              <p:cNvPr id="11280" name="Freeform 20"/>
              <p:cNvSpPr>
                <a:spLocks/>
              </p:cNvSpPr>
              <p:nvPr/>
            </p:nvSpPr>
            <p:spPr bwMode="auto">
              <a:xfrm>
                <a:off x="1392" y="2880"/>
                <a:ext cx="144" cy="288"/>
              </a:xfrm>
              <a:custGeom>
                <a:avLst/>
                <a:gdLst>
                  <a:gd name="T0" fmla="*/ 0 w 144"/>
                  <a:gd name="T1" fmla="*/ 144 h 288"/>
                  <a:gd name="T2" fmla="*/ 144 w 144"/>
                  <a:gd name="T3" fmla="*/ 0 h 288"/>
                  <a:gd name="T4" fmla="*/ 144 w 144"/>
                  <a:gd name="T5" fmla="*/ 192 h 288"/>
                  <a:gd name="T6" fmla="*/ 144 w 144"/>
                  <a:gd name="T7" fmla="*/ 288 h 288"/>
                  <a:gd name="T8" fmla="*/ 0 w 144"/>
                  <a:gd name="T9" fmla="*/ 288 h 288"/>
                  <a:gd name="T10" fmla="*/ 0 w 144"/>
                  <a:gd name="T11" fmla="*/ 144 h 28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 h="288">
                    <a:moveTo>
                      <a:pt x="0" y="144"/>
                    </a:moveTo>
                    <a:lnTo>
                      <a:pt x="144" y="0"/>
                    </a:lnTo>
                    <a:lnTo>
                      <a:pt x="144" y="192"/>
                    </a:lnTo>
                    <a:lnTo>
                      <a:pt x="144" y="288"/>
                    </a:lnTo>
                    <a:lnTo>
                      <a:pt x="0" y="288"/>
                    </a:lnTo>
                    <a:lnTo>
                      <a:pt x="0" y="144"/>
                    </a:lnTo>
                    <a:close/>
                  </a:path>
                </a:pathLst>
              </a:custGeom>
              <a:solidFill>
                <a:schemeClr val="accent1"/>
              </a:solidFill>
              <a:ln w="19050" cap="flat" cmpd="sng">
                <a:solidFill>
                  <a:schemeClr val="tx1"/>
                </a:solidFill>
                <a:prstDash val="solid"/>
                <a:round/>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1" name="Freeform 21"/>
              <p:cNvSpPr>
                <a:spLocks/>
              </p:cNvSpPr>
              <p:nvPr/>
            </p:nvSpPr>
            <p:spPr bwMode="auto">
              <a:xfrm>
                <a:off x="1344" y="2880"/>
                <a:ext cx="192" cy="144"/>
              </a:xfrm>
              <a:custGeom>
                <a:avLst/>
                <a:gdLst>
                  <a:gd name="T0" fmla="*/ 192 w 192"/>
                  <a:gd name="T1" fmla="*/ 0 h 144"/>
                  <a:gd name="T2" fmla="*/ 0 w 192"/>
                  <a:gd name="T3" fmla="*/ 0 h 144"/>
                  <a:gd name="T4" fmla="*/ 0 w 192"/>
                  <a:gd name="T5" fmla="*/ 48 h 144"/>
                  <a:gd name="T6" fmla="*/ 0 w 192"/>
                  <a:gd name="T7" fmla="*/ 144 h 144"/>
                  <a:gd name="T8" fmla="*/ 48 w 192"/>
                  <a:gd name="T9" fmla="*/ 144 h 144"/>
                  <a:gd name="T10" fmla="*/ 192 w 192"/>
                  <a:gd name="T11" fmla="*/ 0 h 1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2" h="144">
                    <a:moveTo>
                      <a:pt x="192" y="0"/>
                    </a:moveTo>
                    <a:lnTo>
                      <a:pt x="0" y="0"/>
                    </a:lnTo>
                    <a:lnTo>
                      <a:pt x="0" y="48"/>
                    </a:lnTo>
                    <a:lnTo>
                      <a:pt x="0" y="144"/>
                    </a:lnTo>
                    <a:lnTo>
                      <a:pt x="48" y="144"/>
                    </a:lnTo>
                    <a:lnTo>
                      <a:pt x="192" y="0"/>
                    </a:lnTo>
                    <a:close/>
                  </a:path>
                </a:pathLst>
              </a:custGeom>
              <a:solidFill>
                <a:schemeClr val="accent1"/>
              </a:solidFill>
              <a:ln w="19050" cap="flat" cmpd="sng">
                <a:solidFill>
                  <a:schemeClr val="tx1"/>
                </a:solidFill>
                <a:prstDash val="solid"/>
                <a:round/>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2" name="AutoShape 22"/>
              <p:cNvSpPr>
                <a:spLocks noChangeArrowheads="1"/>
              </p:cNvSpPr>
              <p:nvPr/>
            </p:nvSpPr>
            <p:spPr bwMode="auto">
              <a:xfrm>
                <a:off x="995" y="2907"/>
                <a:ext cx="432" cy="624"/>
              </a:xfrm>
              <a:prstGeom prst="cube">
                <a:avLst>
                  <a:gd name="adj" fmla="val 57292"/>
                </a:avLst>
              </a:prstGeom>
              <a:solidFill>
                <a:srgbClr val="FFFFFF"/>
              </a:solidFill>
              <a:ln w="19050">
                <a:solidFill>
                  <a:schemeClr val="tx1"/>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1283" name="AutoShape 23"/>
              <p:cNvSpPr>
                <a:spLocks noChangeArrowheads="1"/>
              </p:cNvSpPr>
              <p:nvPr/>
            </p:nvSpPr>
            <p:spPr bwMode="auto">
              <a:xfrm rot="5400000">
                <a:off x="916" y="2663"/>
                <a:ext cx="576" cy="240"/>
              </a:xfrm>
              <a:prstGeom prst="can">
                <a:avLst>
                  <a:gd name="adj" fmla="val 50000"/>
                </a:avLst>
              </a:prstGeom>
              <a:solidFill>
                <a:srgbClr val="FFCC99"/>
              </a:solidFill>
              <a:ln w="19050">
                <a:solidFill>
                  <a:schemeClr val="tx1"/>
                </a:solidFill>
                <a:round/>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sp>
          <p:nvSpPr>
            <p:cNvPr id="11278" name="Line 24"/>
            <p:cNvSpPr>
              <a:spLocks noChangeShapeType="1"/>
            </p:cNvSpPr>
            <p:nvPr/>
          </p:nvSpPr>
          <p:spPr bwMode="auto">
            <a:xfrm flipH="1" flipV="1">
              <a:off x="4368" y="432"/>
              <a:ext cx="240" cy="2304"/>
            </a:xfrm>
            <a:prstGeom prst="line">
              <a:avLst/>
            </a:prstGeom>
            <a:noFill/>
            <a:ln w="19050">
              <a:solidFill>
                <a:schemeClr val="accent2"/>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9" name="Line 25"/>
            <p:cNvSpPr>
              <a:spLocks noChangeShapeType="1"/>
            </p:cNvSpPr>
            <p:nvPr/>
          </p:nvSpPr>
          <p:spPr bwMode="auto">
            <a:xfrm flipH="1" flipV="1">
              <a:off x="2160" y="2208"/>
              <a:ext cx="2256" cy="816"/>
            </a:xfrm>
            <a:prstGeom prst="line">
              <a:avLst/>
            </a:prstGeom>
            <a:noFill/>
            <a:ln w="19050">
              <a:solidFill>
                <a:schemeClr val="accent2"/>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6458" name="Line 26"/>
          <p:cNvSpPr>
            <a:spLocks noChangeShapeType="1"/>
          </p:cNvSpPr>
          <p:nvPr/>
        </p:nvSpPr>
        <p:spPr bwMode="auto">
          <a:xfrm>
            <a:off x="3967163" y="5648325"/>
            <a:ext cx="538162" cy="1588"/>
          </a:xfrm>
          <a:prstGeom prst="line">
            <a:avLst/>
          </a:prstGeom>
          <a:noFill/>
          <a:ln w="19050">
            <a:solidFill>
              <a:srgbClr val="FF00F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59" name="Line 27"/>
          <p:cNvSpPr>
            <a:spLocks noChangeShapeType="1"/>
          </p:cNvSpPr>
          <p:nvPr/>
        </p:nvSpPr>
        <p:spPr bwMode="auto">
          <a:xfrm flipV="1">
            <a:off x="5441950" y="5513388"/>
            <a:ext cx="0" cy="381000"/>
          </a:xfrm>
          <a:prstGeom prst="line">
            <a:avLst/>
          </a:prstGeom>
          <a:noFill/>
          <a:ln w="19050">
            <a:solidFill>
              <a:srgbClr val="FF00F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60" name="Line 28"/>
          <p:cNvSpPr>
            <a:spLocks noChangeShapeType="1"/>
          </p:cNvSpPr>
          <p:nvPr/>
        </p:nvSpPr>
        <p:spPr bwMode="auto">
          <a:xfrm>
            <a:off x="1379538" y="3727450"/>
            <a:ext cx="538162" cy="1588"/>
          </a:xfrm>
          <a:prstGeom prst="line">
            <a:avLst/>
          </a:prstGeom>
          <a:noFill/>
          <a:ln w="19050">
            <a:solidFill>
              <a:srgbClr val="FF00F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61" name="Line 29"/>
          <p:cNvSpPr>
            <a:spLocks noChangeShapeType="1"/>
          </p:cNvSpPr>
          <p:nvPr/>
        </p:nvSpPr>
        <p:spPr bwMode="auto">
          <a:xfrm flipV="1">
            <a:off x="7439025" y="3462338"/>
            <a:ext cx="0" cy="381000"/>
          </a:xfrm>
          <a:prstGeom prst="line">
            <a:avLst/>
          </a:prstGeom>
          <a:noFill/>
          <a:ln w="19050">
            <a:solidFill>
              <a:srgbClr val="FF00F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6" name="Text Box 30"/>
          <p:cNvSpPr txBox="1">
            <a:spLocks noChangeArrowheads="1"/>
          </p:cNvSpPr>
          <p:nvPr/>
        </p:nvSpPr>
        <p:spPr bwMode="auto">
          <a:xfrm>
            <a:off x="604838" y="371475"/>
            <a:ext cx="8205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lang="zh-CN" altLang="en-US" sz="2800">
                <a:solidFill>
                  <a:srgbClr val="CC0000"/>
                </a:solidFill>
              </a:rPr>
              <a:t>应用：</a:t>
            </a:r>
            <a:r>
              <a:rPr lang="zh-CN" altLang="en-US" sz="2800">
                <a:solidFill>
                  <a:srgbClr val="0000FF"/>
                </a:solidFill>
              </a:rPr>
              <a:t>立体电影</a:t>
            </a:r>
            <a:r>
              <a:rPr lang="zh-CN" altLang="en-US" sz="2800"/>
              <a:t>、太阳镜、车窗、相机镜头等。</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6440"/>
                                        </p:tgtEl>
                                        <p:attrNameLst>
                                          <p:attrName>style.visibility</p:attrName>
                                        </p:attrNameLst>
                                      </p:cBhvr>
                                      <p:to>
                                        <p:strVal val="visible"/>
                                      </p:to>
                                    </p:set>
                                    <p:animEffect transition="in" filter="wipe(down)">
                                      <p:cBhvr>
                                        <p:cTn id="7" dur="500"/>
                                        <p:tgtEl>
                                          <p:spTgt spid="146440"/>
                                        </p:tgtEl>
                                      </p:cBhvr>
                                    </p:animEffect>
                                  </p:childTnLst>
                                </p:cTn>
                              </p:par>
                              <p:par>
                                <p:cTn id="8" presetID="3" presetClass="entr" presetSubtype="5" fill="hold" nodeType="withEffect">
                                  <p:stCondLst>
                                    <p:cond delay="0"/>
                                  </p:stCondLst>
                                  <p:childTnLst>
                                    <p:set>
                                      <p:cBhvr>
                                        <p:cTn id="9" dur="1" fill="hold">
                                          <p:stCondLst>
                                            <p:cond delay="0"/>
                                          </p:stCondLst>
                                        </p:cTn>
                                        <p:tgtEl>
                                          <p:spTgt spid="146441"/>
                                        </p:tgtEl>
                                        <p:attrNameLst>
                                          <p:attrName>style.visibility</p:attrName>
                                        </p:attrNameLst>
                                      </p:cBhvr>
                                      <p:to>
                                        <p:strVal val="visible"/>
                                      </p:to>
                                    </p:set>
                                    <p:animEffect transition="in" filter="blinds(vertical)">
                                      <p:cBhvr>
                                        <p:cTn id="10" dur="500"/>
                                        <p:tgtEl>
                                          <p:spTgt spid="14644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146442"/>
                                        </p:tgtEl>
                                        <p:attrNameLst>
                                          <p:attrName>style.visibility</p:attrName>
                                        </p:attrNameLst>
                                      </p:cBhvr>
                                      <p:to>
                                        <p:strVal val="visible"/>
                                      </p:to>
                                    </p:set>
                                    <p:animEffect transition="in" filter="wipe(down)">
                                      <p:cBhvr>
                                        <p:cTn id="15" dur="500"/>
                                        <p:tgtEl>
                                          <p:spTgt spid="14644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3" presetClass="entr" presetSubtype="288" fill="hold" grpId="0" nodeType="clickEffect">
                                  <p:stCondLst>
                                    <p:cond delay="0"/>
                                  </p:stCondLst>
                                  <p:childTnLst>
                                    <p:set>
                                      <p:cBhvr>
                                        <p:cTn id="19" dur="1" fill="hold">
                                          <p:stCondLst>
                                            <p:cond delay="0"/>
                                          </p:stCondLst>
                                        </p:cTn>
                                        <p:tgtEl>
                                          <p:spTgt spid="146460"/>
                                        </p:tgtEl>
                                        <p:attrNameLst>
                                          <p:attrName>style.visibility</p:attrName>
                                        </p:attrNameLst>
                                      </p:cBhvr>
                                      <p:to>
                                        <p:strVal val="visible"/>
                                      </p:to>
                                    </p:set>
                                    <p:anim calcmode="lin" valueType="num">
                                      <p:cBhvr>
                                        <p:cTn id="20" dur="500" fill="hold"/>
                                        <p:tgtEl>
                                          <p:spTgt spid="146460"/>
                                        </p:tgtEl>
                                        <p:attrNameLst>
                                          <p:attrName>ppt_w</p:attrName>
                                        </p:attrNameLst>
                                      </p:cBhvr>
                                      <p:tavLst>
                                        <p:tav tm="0">
                                          <p:val>
                                            <p:strVal val="4/3*#ppt_w"/>
                                          </p:val>
                                        </p:tav>
                                        <p:tav tm="100000">
                                          <p:val>
                                            <p:strVal val="#ppt_w"/>
                                          </p:val>
                                        </p:tav>
                                      </p:tavLst>
                                    </p:anim>
                                    <p:anim calcmode="lin" valueType="num">
                                      <p:cBhvr>
                                        <p:cTn id="21" dur="500" fill="hold"/>
                                        <p:tgtEl>
                                          <p:spTgt spid="146460"/>
                                        </p:tgtEl>
                                        <p:attrNameLst>
                                          <p:attrName>ppt_h</p:attrName>
                                        </p:attrNameLst>
                                      </p:cBhvr>
                                      <p:tavLst>
                                        <p:tav tm="0">
                                          <p:val>
                                            <p:strVal val="4/3*#ppt_h"/>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nodeType="clickEffect">
                                  <p:stCondLst>
                                    <p:cond delay="0"/>
                                  </p:stCondLst>
                                  <p:childTnLst>
                                    <p:set>
                                      <p:cBhvr>
                                        <p:cTn id="25" dur="1" fill="hold">
                                          <p:stCondLst>
                                            <p:cond delay="0"/>
                                          </p:stCondLst>
                                        </p:cTn>
                                        <p:tgtEl>
                                          <p:spTgt spid="146450"/>
                                        </p:tgtEl>
                                        <p:attrNameLst>
                                          <p:attrName>style.visibility</p:attrName>
                                        </p:attrNameLst>
                                      </p:cBhvr>
                                      <p:to>
                                        <p:strVal val="visible"/>
                                      </p:to>
                                    </p:set>
                                    <p:animEffect transition="in" filter="wipe(down)">
                                      <p:cBhvr>
                                        <p:cTn id="26" dur="500"/>
                                        <p:tgtEl>
                                          <p:spTgt spid="14645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288" fill="hold" grpId="0" nodeType="clickEffect">
                                  <p:stCondLst>
                                    <p:cond delay="0"/>
                                  </p:stCondLst>
                                  <p:childTnLst>
                                    <p:set>
                                      <p:cBhvr>
                                        <p:cTn id="30" dur="1" fill="hold">
                                          <p:stCondLst>
                                            <p:cond delay="0"/>
                                          </p:stCondLst>
                                        </p:cTn>
                                        <p:tgtEl>
                                          <p:spTgt spid="146461"/>
                                        </p:tgtEl>
                                        <p:attrNameLst>
                                          <p:attrName>style.visibility</p:attrName>
                                        </p:attrNameLst>
                                      </p:cBhvr>
                                      <p:to>
                                        <p:strVal val="visible"/>
                                      </p:to>
                                    </p:set>
                                    <p:anim calcmode="lin" valueType="num">
                                      <p:cBhvr>
                                        <p:cTn id="31" dur="500" fill="hold"/>
                                        <p:tgtEl>
                                          <p:spTgt spid="146461"/>
                                        </p:tgtEl>
                                        <p:attrNameLst>
                                          <p:attrName>ppt_w</p:attrName>
                                        </p:attrNameLst>
                                      </p:cBhvr>
                                      <p:tavLst>
                                        <p:tav tm="0">
                                          <p:val>
                                            <p:strVal val="4/3*#ppt_w"/>
                                          </p:val>
                                        </p:tav>
                                        <p:tav tm="100000">
                                          <p:val>
                                            <p:strVal val="#ppt_w"/>
                                          </p:val>
                                        </p:tav>
                                      </p:tavLst>
                                    </p:anim>
                                    <p:anim calcmode="lin" valueType="num">
                                      <p:cBhvr>
                                        <p:cTn id="32" dur="500" fill="hold"/>
                                        <p:tgtEl>
                                          <p:spTgt spid="146461"/>
                                        </p:tgtEl>
                                        <p:attrNameLst>
                                          <p:attrName>ppt_h</p:attrName>
                                        </p:attrNameLst>
                                      </p:cBhvr>
                                      <p:tavLst>
                                        <p:tav tm="0">
                                          <p:val>
                                            <p:strVal val="4/3*#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146434"/>
                                        </p:tgtEl>
                                        <p:attrNameLst>
                                          <p:attrName>style.visibility</p:attrName>
                                        </p:attrNameLst>
                                      </p:cBhvr>
                                      <p:to>
                                        <p:strVal val="visible"/>
                                      </p:to>
                                    </p:set>
                                    <p:animEffect transition="in" filter="wipe(down)">
                                      <p:cBhvr>
                                        <p:cTn id="37" dur="500"/>
                                        <p:tgtEl>
                                          <p:spTgt spid="1464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288" fill="hold" grpId="0" nodeType="clickEffect">
                                  <p:stCondLst>
                                    <p:cond delay="0"/>
                                  </p:stCondLst>
                                  <p:childTnLst>
                                    <p:set>
                                      <p:cBhvr>
                                        <p:cTn id="41" dur="1" fill="hold">
                                          <p:stCondLst>
                                            <p:cond delay="0"/>
                                          </p:stCondLst>
                                        </p:cTn>
                                        <p:tgtEl>
                                          <p:spTgt spid="146458"/>
                                        </p:tgtEl>
                                        <p:attrNameLst>
                                          <p:attrName>style.visibility</p:attrName>
                                        </p:attrNameLst>
                                      </p:cBhvr>
                                      <p:to>
                                        <p:strVal val="visible"/>
                                      </p:to>
                                    </p:set>
                                    <p:anim calcmode="lin" valueType="num">
                                      <p:cBhvr>
                                        <p:cTn id="42" dur="500" fill="hold"/>
                                        <p:tgtEl>
                                          <p:spTgt spid="146458"/>
                                        </p:tgtEl>
                                        <p:attrNameLst>
                                          <p:attrName>ppt_w</p:attrName>
                                        </p:attrNameLst>
                                      </p:cBhvr>
                                      <p:tavLst>
                                        <p:tav tm="0">
                                          <p:val>
                                            <p:strVal val="4/3*#ppt_w"/>
                                          </p:val>
                                        </p:tav>
                                        <p:tav tm="100000">
                                          <p:val>
                                            <p:strVal val="#ppt_w"/>
                                          </p:val>
                                        </p:tav>
                                      </p:tavLst>
                                    </p:anim>
                                    <p:anim calcmode="lin" valueType="num">
                                      <p:cBhvr>
                                        <p:cTn id="43" dur="500" fill="hold"/>
                                        <p:tgtEl>
                                          <p:spTgt spid="146458"/>
                                        </p:tgtEl>
                                        <p:attrNameLst>
                                          <p:attrName>ppt_h</p:attrName>
                                        </p:attrNameLst>
                                      </p:cBhvr>
                                      <p:tavLst>
                                        <p:tav tm="0">
                                          <p:val>
                                            <p:strVal val="4/3*#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288" fill="hold" grpId="0" nodeType="clickEffect">
                                  <p:stCondLst>
                                    <p:cond delay="0"/>
                                  </p:stCondLst>
                                  <p:childTnLst>
                                    <p:set>
                                      <p:cBhvr>
                                        <p:cTn id="47" dur="1" fill="hold">
                                          <p:stCondLst>
                                            <p:cond delay="0"/>
                                          </p:stCondLst>
                                        </p:cTn>
                                        <p:tgtEl>
                                          <p:spTgt spid="146459"/>
                                        </p:tgtEl>
                                        <p:attrNameLst>
                                          <p:attrName>style.visibility</p:attrName>
                                        </p:attrNameLst>
                                      </p:cBhvr>
                                      <p:to>
                                        <p:strVal val="visible"/>
                                      </p:to>
                                    </p:set>
                                    <p:anim calcmode="lin" valueType="num">
                                      <p:cBhvr>
                                        <p:cTn id="48" dur="500" fill="hold"/>
                                        <p:tgtEl>
                                          <p:spTgt spid="146459"/>
                                        </p:tgtEl>
                                        <p:attrNameLst>
                                          <p:attrName>ppt_w</p:attrName>
                                        </p:attrNameLst>
                                      </p:cBhvr>
                                      <p:tavLst>
                                        <p:tav tm="0">
                                          <p:val>
                                            <p:strVal val="4/3*#ppt_w"/>
                                          </p:val>
                                        </p:tav>
                                        <p:tav tm="100000">
                                          <p:val>
                                            <p:strVal val="#ppt_w"/>
                                          </p:val>
                                        </p:tav>
                                      </p:tavLst>
                                    </p:anim>
                                    <p:anim calcmode="lin" valueType="num">
                                      <p:cBhvr>
                                        <p:cTn id="49" dur="500" fill="hold"/>
                                        <p:tgtEl>
                                          <p:spTgt spid="146459"/>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40" grpId="0" animBg="1"/>
      <p:bldP spid="146458" grpId="0" animBg="1"/>
      <p:bldP spid="146459" grpId="0" animBg="1"/>
      <p:bldP spid="146460" grpId="0" animBg="1"/>
      <p:bldP spid="14646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50000"/>
              </a:spcBef>
              <a:buClrTx/>
              <a:buFontTx/>
              <a:buNone/>
            </a:pPr>
            <a:fld id="{EE2E8897-D4C5-4A4B-96C4-5635101C0421}" type="slidenum">
              <a:rPr kumimoji="0" lang="zh-CN" altLang="en-US" sz="1400" smtClean="0">
                <a:solidFill>
                  <a:schemeClr val="bg2"/>
                </a:solidFill>
              </a:rPr>
              <a:pPr>
                <a:spcBef>
                  <a:spcPct val="50000"/>
                </a:spcBef>
                <a:buClrTx/>
                <a:buFontTx/>
                <a:buNone/>
              </a:pPr>
              <a:t>9</a:t>
            </a:fld>
            <a:endParaRPr kumimoji="0" lang="en-US" altLang="zh-CN" sz="1400" smtClean="0">
              <a:solidFill>
                <a:schemeClr val="bg2"/>
              </a:solidFill>
            </a:endParaRPr>
          </a:p>
        </p:txBody>
      </p:sp>
      <p:grpSp>
        <p:nvGrpSpPr>
          <p:cNvPr id="12291" name="Group 9"/>
          <p:cNvGrpSpPr>
            <a:grpSpLocks/>
          </p:cNvGrpSpPr>
          <p:nvPr/>
        </p:nvGrpSpPr>
        <p:grpSpPr bwMode="auto">
          <a:xfrm>
            <a:off x="530225" y="581025"/>
            <a:ext cx="8156575" cy="3249613"/>
            <a:chOff x="334" y="312"/>
            <a:chExt cx="5138" cy="2047"/>
          </a:xfrm>
        </p:grpSpPr>
        <p:graphicFrame>
          <p:nvGraphicFramePr>
            <p:cNvPr id="12330" name="Object 2"/>
            <p:cNvGraphicFramePr>
              <a:graphicFrameLocks noChangeAspect="1"/>
            </p:cNvGraphicFramePr>
            <p:nvPr/>
          </p:nvGraphicFramePr>
          <p:xfrm>
            <a:off x="2221" y="1290"/>
            <a:ext cx="356" cy="336"/>
          </p:xfrm>
          <a:graphic>
            <a:graphicData uri="http://schemas.openxmlformats.org/presentationml/2006/ole">
              <mc:AlternateContent xmlns:mc="http://schemas.openxmlformats.org/markup-compatibility/2006">
                <mc:Choice xmlns:v="urn:schemas-microsoft-com:vml" Requires="v">
                  <p:oleObj spid="_x0000_s12337" name="Equation" r:id="rId3" imgW="368140" imgH="317362" progId="Equation.3">
                    <p:embed/>
                  </p:oleObj>
                </mc:Choice>
                <mc:Fallback>
                  <p:oleObj name="Equation" r:id="rId3" imgW="368140" imgH="317362"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1" y="1290"/>
                          <a:ext cx="356"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31" name="Text Box 3"/>
            <p:cNvSpPr txBox="1">
              <a:spLocks noChangeArrowheads="1"/>
            </p:cNvSpPr>
            <p:nvPr/>
          </p:nvSpPr>
          <p:spPr bwMode="auto">
            <a:xfrm>
              <a:off x="334" y="312"/>
              <a:ext cx="5138" cy="1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20000"/>
                </a:lnSpc>
                <a:spcBef>
                  <a:spcPct val="50000"/>
                </a:spcBef>
                <a:buClrTx/>
                <a:buFontTx/>
                <a:buNone/>
              </a:pPr>
              <a:r>
                <a:rPr kumimoji="0" lang="zh-CN" altLang="en-US" sz="2800">
                  <a:solidFill>
                    <a:srgbClr val="CC0000"/>
                  </a:solidFill>
                </a:rPr>
                <a:t> 例</a:t>
              </a:r>
              <a:r>
                <a:rPr kumimoji="0" lang="en-US" altLang="zh-CN" sz="2800">
                  <a:solidFill>
                    <a:srgbClr val="CC0000"/>
                  </a:solidFill>
                </a:rPr>
                <a:t>1</a:t>
              </a:r>
              <a:r>
                <a:rPr kumimoji="0" lang="en-US" altLang="zh-CN" sz="2800">
                  <a:solidFill>
                    <a:srgbClr val="1C1C1C"/>
                  </a:solidFill>
                </a:rPr>
                <a:t>   </a:t>
              </a:r>
              <a:r>
                <a:rPr kumimoji="0" lang="zh-CN" altLang="en-US" sz="2800">
                  <a:solidFill>
                    <a:srgbClr val="1C1C1C"/>
                  </a:solidFill>
                </a:rPr>
                <a:t>有两个偏振片</a:t>
              </a:r>
              <a:r>
                <a:rPr kumimoji="0" lang="en-US" altLang="zh-CN" sz="2800">
                  <a:solidFill>
                    <a:srgbClr val="1C1C1C"/>
                  </a:solidFill>
                </a:rPr>
                <a:t>,</a:t>
              </a:r>
              <a:r>
                <a:rPr kumimoji="0" lang="zh-CN" altLang="en-US" sz="2800">
                  <a:solidFill>
                    <a:srgbClr val="1C1C1C"/>
                  </a:solidFill>
                </a:rPr>
                <a:t>一个用作起偏器</a:t>
              </a:r>
              <a:r>
                <a:rPr kumimoji="0" lang="en-US" altLang="zh-CN" sz="2800">
                  <a:solidFill>
                    <a:srgbClr val="1C1C1C"/>
                  </a:solidFill>
                </a:rPr>
                <a:t>,  </a:t>
              </a:r>
              <a:r>
                <a:rPr kumimoji="0" lang="zh-CN" altLang="en-US" sz="2800">
                  <a:solidFill>
                    <a:srgbClr val="1C1C1C"/>
                  </a:solidFill>
                </a:rPr>
                <a:t>一个用作检偏器．当它们偏振化方向间的夹角为       时 </a:t>
              </a:r>
              <a:r>
                <a:rPr kumimoji="0" lang="en-US" altLang="zh-CN" sz="2800">
                  <a:solidFill>
                    <a:srgbClr val="1C1C1C"/>
                  </a:solidFill>
                </a:rPr>
                <a:t>,  </a:t>
              </a:r>
              <a:r>
                <a:rPr kumimoji="0" lang="zh-CN" altLang="en-US" sz="2800">
                  <a:solidFill>
                    <a:srgbClr val="1C1C1C"/>
                  </a:solidFill>
                </a:rPr>
                <a:t>一束单色自然光穿过它们</a:t>
              </a:r>
              <a:r>
                <a:rPr kumimoji="0" lang="en-US" altLang="zh-CN" sz="2800">
                  <a:solidFill>
                    <a:srgbClr val="1C1C1C"/>
                  </a:solidFill>
                </a:rPr>
                <a:t>, </a:t>
              </a:r>
              <a:r>
                <a:rPr kumimoji="0" lang="zh-CN" altLang="en-US" sz="2800">
                  <a:solidFill>
                    <a:srgbClr val="1C1C1C"/>
                  </a:solidFill>
                </a:rPr>
                <a:t>出射光强为     ； 当它们偏振化方向间的夹角为       时，另一束单色自然光穿过它们 </a:t>
              </a:r>
              <a:r>
                <a:rPr kumimoji="0" lang="en-US" altLang="zh-CN" sz="2800">
                  <a:solidFill>
                    <a:srgbClr val="1C1C1C"/>
                  </a:solidFill>
                </a:rPr>
                <a:t>,  </a:t>
              </a:r>
              <a:r>
                <a:rPr kumimoji="0" lang="zh-CN" altLang="en-US" sz="2800">
                  <a:solidFill>
                    <a:srgbClr val="1C1C1C"/>
                  </a:solidFill>
                </a:rPr>
                <a:t>出射光强为      </a:t>
              </a:r>
              <a:r>
                <a:rPr kumimoji="0" lang="en-US" altLang="zh-CN" sz="2800">
                  <a:solidFill>
                    <a:srgbClr val="1C1C1C"/>
                  </a:solidFill>
                </a:rPr>
                <a:t>, </a:t>
              </a:r>
              <a:r>
                <a:rPr kumimoji="0" lang="zh-CN" altLang="en-US" sz="2800">
                  <a:solidFill>
                    <a:srgbClr val="1C1C1C"/>
                  </a:solidFill>
                </a:rPr>
                <a:t>且               </a:t>
              </a:r>
              <a:r>
                <a:rPr kumimoji="0" lang="en-US" altLang="zh-CN" sz="2800">
                  <a:solidFill>
                    <a:srgbClr val="1C1C1C"/>
                  </a:solidFill>
                </a:rPr>
                <a:t>.   </a:t>
              </a:r>
            </a:p>
          </p:txBody>
        </p:sp>
        <p:graphicFrame>
          <p:nvGraphicFramePr>
            <p:cNvPr id="12332" name="Object 4"/>
            <p:cNvGraphicFramePr>
              <a:graphicFrameLocks noChangeAspect="1"/>
            </p:cNvGraphicFramePr>
            <p:nvPr/>
          </p:nvGraphicFramePr>
          <p:xfrm>
            <a:off x="4023" y="644"/>
            <a:ext cx="373" cy="336"/>
          </p:xfrm>
          <a:graphic>
            <a:graphicData uri="http://schemas.openxmlformats.org/presentationml/2006/ole">
              <mc:AlternateContent xmlns:mc="http://schemas.openxmlformats.org/markup-compatibility/2006">
                <mc:Choice xmlns:v="urn:schemas-microsoft-com:vml" Requires="v">
                  <p:oleObj spid="_x0000_s12338" name="Equation" r:id="rId5" imgW="368140" imgH="317362" progId="Equation.3">
                    <p:embed/>
                  </p:oleObj>
                </mc:Choice>
                <mc:Fallback>
                  <p:oleObj name="Equation" r:id="rId5" imgW="368140" imgH="317362"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3" y="644"/>
                          <a:ext cx="373"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33" name="Object 5"/>
            <p:cNvGraphicFramePr>
              <a:graphicFrameLocks noChangeAspect="1"/>
            </p:cNvGraphicFramePr>
            <p:nvPr/>
          </p:nvGraphicFramePr>
          <p:xfrm>
            <a:off x="3693" y="1039"/>
            <a:ext cx="198" cy="261"/>
          </p:xfrm>
          <a:graphic>
            <a:graphicData uri="http://schemas.openxmlformats.org/presentationml/2006/ole">
              <mc:AlternateContent xmlns:mc="http://schemas.openxmlformats.org/markup-compatibility/2006">
                <mc:Choice xmlns:v="urn:schemas-microsoft-com:vml" Requires="v">
                  <p:oleObj spid="_x0000_s12339" name="Equation" r:id="rId7" imgW="215619" imgH="317087" progId="Equation.3">
                    <p:embed/>
                  </p:oleObj>
                </mc:Choice>
                <mc:Fallback>
                  <p:oleObj name="Equation" r:id="rId7" imgW="215619" imgH="317087"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93" y="1039"/>
                          <a:ext cx="198"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34" name="Object 6"/>
            <p:cNvGraphicFramePr>
              <a:graphicFrameLocks noChangeAspect="1"/>
            </p:cNvGraphicFramePr>
            <p:nvPr/>
          </p:nvGraphicFramePr>
          <p:xfrm>
            <a:off x="2249" y="1672"/>
            <a:ext cx="159" cy="280"/>
          </p:xfrm>
          <a:graphic>
            <a:graphicData uri="http://schemas.openxmlformats.org/presentationml/2006/ole">
              <mc:AlternateContent xmlns:mc="http://schemas.openxmlformats.org/markup-compatibility/2006">
                <mc:Choice xmlns:v="urn:schemas-microsoft-com:vml" Requires="v">
                  <p:oleObj spid="_x0000_s12340" name="Equation" r:id="rId9" imgW="241091" imgH="317225" progId="Equation.3">
                    <p:embed/>
                  </p:oleObj>
                </mc:Choice>
                <mc:Fallback>
                  <p:oleObj name="Equation" r:id="rId9" imgW="241091" imgH="317225"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49" y="1672"/>
                          <a:ext cx="159"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35" name="Object 7"/>
            <p:cNvGraphicFramePr>
              <a:graphicFrameLocks noChangeAspect="1"/>
            </p:cNvGraphicFramePr>
            <p:nvPr/>
          </p:nvGraphicFramePr>
          <p:xfrm>
            <a:off x="2899" y="1666"/>
            <a:ext cx="755" cy="313"/>
          </p:xfrm>
          <a:graphic>
            <a:graphicData uri="http://schemas.openxmlformats.org/presentationml/2006/ole">
              <mc:AlternateContent xmlns:mc="http://schemas.openxmlformats.org/markup-compatibility/2006">
                <mc:Choice xmlns:v="urn:schemas-microsoft-com:vml" Requires="v">
                  <p:oleObj spid="_x0000_s12341" name="Equation" r:id="rId11" imgW="685502" imgH="317362" progId="Equation.3">
                    <p:embed/>
                  </p:oleObj>
                </mc:Choice>
                <mc:Fallback>
                  <p:oleObj name="Equation" r:id="rId11" imgW="685502" imgH="317362"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99" y="1666"/>
                          <a:ext cx="755"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36" name="Rectangle 8"/>
            <p:cNvSpPr>
              <a:spLocks noChangeArrowheads="1"/>
            </p:cNvSpPr>
            <p:nvPr/>
          </p:nvSpPr>
          <p:spPr bwMode="auto">
            <a:xfrm>
              <a:off x="334" y="1978"/>
              <a:ext cx="3284"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20000"/>
                </a:lnSpc>
                <a:spcBef>
                  <a:spcPct val="50000"/>
                </a:spcBef>
                <a:buClrTx/>
                <a:buFontTx/>
                <a:buNone/>
              </a:pPr>
              <a:r>
                <a:rPr kumimoji="0" lang="zh-CN" altLang="en-US" sz="2800">
                  <a:solidFill>
                    <a:srgbClr val="CC0000"/>
                  </a:solidFill>
                </a:rPr>
                <a:t>求</a:t>
              </a:r>
              <a:r>
                <a:rPr kumimoji="0" lang="en-US" altLang="zh-CN" sz="2800">
                  <a:solidFill>
                    <a:srgbClr val="CC0000"/>
                  </a:solidFill>
                </a:rPr>
                <a:t>: </a:t>
              </a:r>
              <a:r>
                <a:rPr kumimoji="0" lang="zh-CN" altLang="en-US" sz="2800">
                  <a:solidFill>
                    <a:srgbClr val="1C1C1C"/>
                  </a:solidFill>
                </a:rPr>
                <a:t>两束单色自然光的强度之比 </a:t>
              </a:r>
              <a:r>
                <a:rPr kumimoji="0" lang="en-US" altLang="zh-CN" sz="2800">
                  <a:solidFill>
                    <a:srgbClr val="1C1C1C"/>
                  </a:solidFill>
                </a:rPr>
                <a:t>.</a:t>
              </a:r>
            </a:p>
          </p:txBody>
        </p:sp>
      </p:grpSp>
      <p:grpSp>
        <p:nvGrpSpPr>
          <p:cNvPr id="12292" name="Group 60"/>
          <p:cNvGrpSpPr>
            <a:grpSpLocks/>
          </p:cNvGrpSpPr>
          <p:nvPr/>
        </p:nvGrpSpPr>
        <p:grpSpPr bwMode="auto">
          <a:xfrm>
            <a:off x="838200" y="4043363"/>
            <a:ext cx="7610475" cy="1985962"/>
            <a:chOff x="528" y="2520"/>
            <a:chExt cx="4794" cy="1251"/>
          </a:xfrm>
        </p:grpSpPr>
        <p:sp>
          <p:nvSpPr>
            <p:cNvPr id="12293" name="Rectangle 18"/>
            <p:cNvSpPr>
              <a:spLocks noChangeArrowheads="1"/>
            </p:cNvSpPr>
            <p:nvPr/>
          </p:nvSpPr>
          <p:spPr bwMode="auto">
            <a:xfrm>
              <a:off x="528" y="2520"/>
              <a:ext cx="4794" cy="125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nvGrpSpPr>
            <p:cNvPr id="12294" name="Group 19"/>
            <p:cNvGrpSpPr>
              <a:grpSpLocks/>
            </p:cNvGrpSpPr>
            <p:nvPr/>
          </p:nvGrpSpPr>
          <p:grpSpPr bwMode="auto">
            <a:xfrm>
              <a:off x="3603" y="3077"/>
              <a:ext cx="1336" cy="166"/>
              <a:chOff x="3696" y="1200"/>
              <a:chExt cx="1344" cy="192"/>
            </a:xfrm>
          </p:grpSpPr>
          <p:sp>
            <p:nvSpPr>
              <p:cNvPr id="12323" name="Line 20"/>
              <p:cNvSpPr>
                <a:spLocks noChangeShapeType="1"/>
              </p:cNvSpPr>
              <p:nvPr/>
            </p:nvSpPr>
            <p:spPr bwMode="auto">
              <a:xfrm>
                <a:off x="3696" y="1296"/>
                <a:ext cx="1344" cy="0"/>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4" name="Line 21"/>
              <p:cNvSpPr>
                <a:spLocks noChangeShapeType="1"/>
              </p:cNvSpPr>
              <p:nvPr/>
            </p:nvSpPr>
            <p:spPr bwMode="auto">
              <a:xfrm>
                <a:off x="3744"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5" name="Line 22"/>
              <p:cNvSpPr>
                <a:spLocks noChangeShapeType="1"/>
              </p:cNvSpPr>
              <p:nvPr/>
            </p:nvSpPr>
            <p:spPr bwMode="auto">
              <a:xfrm>
                <a:off x="4128"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6" name="Line 23"/>
              <p:cNvSpPr>
                <a:spLocks noChangeShapeType="1"/>
              </p:cNvSpPr>
              <p:nvPr/>
            </p:nvSpPr>
            <p:spPr bwMode="auto">
              <a:xfrm>
                <a:off x="4320"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7" name="Line 24"/>
              <p:cNvSpPr>
                <a:spLocks noChangeShapeType="1"/>
              </p:cNvSpPr>
              <p:nvPr/>
            </p:nvSpPr>
            <p:spPr bwMode="auto">
              <a:xfrm>
                <a:off x="4512"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8" name="Line 25"/>
              <p:cNvSpPr>
                <a:spLocks noChangeShapeType="1"/>
              </p:cNvSpPr>
              <p:nvPr/>
            </p:nvSpPr>
            <p:spPr bwMode="auto">
              <a:xfrm>
                <a:off x="4704"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9" name="Line 26"/>
              <p:cNvSpPr>
                <a:spLocks noChangeShapeType="1"/>
              </p:cNvSpPr>
              <p:nvPr/>
            </p:nvSpPr>
            <p:spPr bwMode="auto">
              <a:xfrm>
                <a:off x="3936" y="1200"/>
                <a:ext cx="144" cy="192"/>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295" name="Group 27"/>
            <p:cNvGrpSpPr>
              <a:grpSpLocks/>
            </p:cNvGrpSpPr>
            <p:nvPr/>
          </p:nvGrpSpPr>
          <p:grpSpPr bwMode="auto">
            <a:xfrm>
              <a:off x="3247" y="2660"/>
              <a:ext cx="623" cy="917"/>
              <a:chOff x="3408" y="624"/>
              <a:chExt cx="672" cy="1056"/>
            </a:xfrm>
          </p:grpSpPr>
          <p:sp>
            <p:nvSpPr>
              <p:cNvPr id="12321" name="Oval 28"/>
              <p:cNvSpPr>
                <a:spLocks noChangeArrowheads="1"/>
              </p:cNvSpPr>
              <p:nvPr/>
            </p:nvSpPr>
            <p:spPr bwMode="auto">
              <a:xfrm>
                <a:off x="3408" y="624"/>
                <a:ext cx="672" cy="1056"/>
              </a:xfrm>
              <a:prstGeom prst="ellipse">
                <a:avLst/>
              </a:prstGeom>
              <a:solidFill>
                <a:srgbClr val="99FF99">
                  <a:alpha val="50195"/>
                </a:srgbClr>
              </a:soli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2322" name="Line 29"/>
              <p:cNvSpPr>
                <a:spLocks noChangeShapeType="1"/>
              </p:cNvSpPr>
              <p:nvPr/>
            </p:nvSpPr>
            <p:spPr bwMode="auto">
              <a:xfrm flipH="1" flipV="1">
                <a:off x="3744" y="1296"/>
                <a:ext cx="192" cy="288"/>
              </a:xfrm>
              <a:prstGeom prst="line">
                <a:avLst/>
              </a:prstGeom>
              <a:noFill/>
              <a:ln w="19050">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296" name="Group 32"/>
            <p:cNvGrpSpPr>
              <a:grpSpLocks/>
            </p:cNvGrpSpPr>
            <p:nvPr/>
          </p:nvGrpSpPr>
          <p:grpSpPr bwMode="auto">
            <a:xfrm>
              <a:off x="2089" y="3035"/>
              <a:ext cx="1514" cy="250"/>
              <a:chOff x="2112" y="1152"/>
              <a:chExt cx="1632" cy="288"/>
            </a:xfrm>
          </p:grpSpPr>
          <p:grpSp>
            <p:nvGrpSpPr>
              <p:cNvPr id="12312" name="Group 33"/>
              <p:cNvGrpSpPr>
                <a:grpSpLocks/>
              </p:cNvGrpSpPr>
              <p:nvPr/>
            </p:nvGrpSpPr>
            <p:grpSpPr bwMode="auto">
              <a:xfrm>
                <a:off x="2112" y="1152"/>
                <a:ext cx="1632" cy="288"/>
                <a:chOff x="2112" y="1152"/>
                <a:chExt cx="1632" cy="288"/>
              </a:xfrm>
            </p:grpSpPr>
            <p:sp>
              <p:nvSpPr>
                <p:cNvPr id="12315" name="Line 34"/>
                <p:cNvSpPr>
                  <a:spLocks noChangeShapeType="1"/>
                </p:cNvSpPr>
                <p:nvPr/>
              </p:nvSpPr>
              <p:spPr bwMode="auto">
                <a:xfrm>
                  <a:off x="2112" y="1296"/>
                  <a:ext cx="1632"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6" name="Line 35"/>
                <p:cNvSpPr>
                  <a:spLocks noChangeShapeType="1"/>
                </p:cNvSpPr>
                <p:nvPr/>
              </p:nvSpPr>
              <p:spPr bwMode="auto">
                <a:xfrm>
                  <a:off x="2315"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7" name="Line 36"/>
                <p:cNvSpPr>
                  <a:spLocks noChangeShapeType="1"/>
                </p:cNvSpPr>
                <p:nvPr/>
              </p:nvSpPr>
              <p:spPr bwMode="auto">
                <a:xfrm>
                  <a:off x="2517"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8" name="Line 37"/>
                <p:cNvSpPr>
                  <a:spLocks noChangeShapeType="1"/>
                </p:cNvSpPr>
                <p:nvPr/>
              </p:nvSpPr>
              <p:spPr bwMode="auto">
                <a:xfrm>
                  <a:off x="2720"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9" name="Line 38"/>
                <p:cNvSpPr>
                  <a:spLocks noChangeShapeType="1"/>
                </p:cNvSpPr>
                <p:nvPr/>
              </p:nvSpPr>
              <p:spPr bwMode="auto">
                <a:xfrm>
                  <a:off x="2922"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0" name="Line 39"/>
                <p:cNvSpPr>
                  <a:spLocks noChangeShapeType="1"/>
                </p:cNvSpPr>
                <p:nvPr/>
              </p:nvSpPr>
              <p:spPr bwMode="auto">
                <a:xfrm>
                  <a:off x="3125"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313" name="Line 40"/>
              <p:cNvSpPr>
                <a:spLocks noChangeShapeType="1"/>
              </p:cNvSpPr>
              <p:nvPr/>
            </p:nvSpPr>
            <p:spPr bwMode="auto">
              <a:xfrm>
                <a:off x="3312"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4" name="Line 41"/>
              <p:cNvSpPr>
                <a:spLocks noChangeShapeType="1"/>
              </p:cNvSpPr>
              <p:nvPr/>
            </p:nvSpPr>
            <p:spPr bwMode="auto">
              <a:xfrm>
                <a:off x="3504" y="1152"/>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297" name="Group 42"/>
            <p:cNvGrpSpPr>
              <a:grpSpLocks/>
            </p:cNvGrpSpPr>
            <p:nvPr/>
          </p:nvGrpSpPr>
          <p:grpSpPr bwMode="auto">
            <a:xfrm>
              <a:off x="1777" y="2660"/>
              <a:ext cx="623" cy="917"/>
              <a:chOff x="2592" y="2976"/>
              <a:chExt cx="672" cy="1056"/>
            </a:xfrm>
          </p:grpSpPr>
          <p:sp>
            <p:nvSpPr>
              <p:cNvPr id="12310" name="Oval 43"/>
              <p:cNvSpPr>
                <a:spLocks noChangeArrowheads="1"/>
              </p:cNvSpPr>
              <p:nvPr/>
            </p:nvSpPr>
            <p:spPr bwMode="auto">
              <a:xfrm>
                <a:off x="2592" y="2976"/>
                <a:ext cx="672" cy="1056"/>
              </a:xfrm>
              <a:prstGeom prst="ellipse">
                <a:avLst/>
              </a:prstGeom>
              <a:solidFill>
                <a:srgbClr val="99FF99">
                  <a:alpha val="50195"/>
                </a:srgbClr>
              </a:soli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2311" name="Line 44"/>
              <p:cNvSpPr>
                <a:spLocks noChangeShapeType="1"/>
              </p:cNvSpPr>
              <p:nvPr/>
            </p:nvSpPr>
            <p:spPr bwMode="auto">
              <a:xfrm flipV="1">
                <a:off x="3072" y="3600"/>
                <a:ext cx="0" cy="336"/>
              </a:xfrm>
              <a:prstGeom prst="line">
                <a:avLst/>
              </a:prstGeom>
              <a:noFill/>
              <a:ln w="19050">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298" name="Group 45"/>
            <p:cNvGrpSpPr>
              <a:grpSpLocks/>
            </p:cNvGrpSpPr>
            <p:nvPr/>
          </p:nvGrpSpPr>
          <p:grpSpPr bwMode="auto">
            <a:xfrm>
              <a:off x="841" y="3035"/>
              <a:ext cx="1248" cy="250"/>
              <a:chOff x="1104" y="3408"/>
              <a:chExt cx="1488" cy="288"/>
            </a:xfrm>
          </p:grpSpPr>
          <p:sp>
            <p:nvSpPr>
              <p:cNvPr id="12299" name="Line 46"/>
              <p:cNvSpPr>
                <a:spLocks noChangeShapeType="1"/>
              </p:cNvSpPr>
              <p:nvPr/>
            </p:nvSpPr>
            <p:spPr bwMode="auto">
              <a:xfrm>
                <a:off x="1104" y="3552"/>
                <a:ext cx="1488"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0" name="Line 47"/>
              <p:cNvSpPr>
                <a:spLocks noChangeShapeType="1"/>
              </p:cNvSpPr>
              <p:nvPr/>
            </p:nvSpPr>
            <p:spPr bwMode="auto">
              <a:xfrm>
                <a:off x="1426"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1" name="Line 48"/>
              <p:cNvSpPr>
                <a:spLocks noChangeShapeType="1"/>
              </p:cNvSpPr>
              <p:nvPr/>
            </p:nvSpPr>
            <p:spPr bwMode="auto">
              <a:xfrm>
                <a:off x="1667"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2" name="Line 49"/>
              <p:cNvSpPr>
                <a:spLocks noChangeShapeType="1"/>
              </p:cNvSpPr>
              <p:nvPr/>
            </p:nvSpPr>
            <p:spPr bwMode="auto">
              <a:xfrm>
                <a:off x="1908"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3" name="Line 50"/>
              <p:cNvSpPr>
                <a:spLocks noChangeShapeType="1"/>
              </p:cNvSpPr>
              <p:nvPr/>
            </p:nvSpPr>
            <p:spPr bwMode="auto">
              <a:xfrm>
                <a:off x="2150"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4" name="Line 51"/>
              <p:cNvSpPr>
                <a:spLocks noChangeShapeType="1"/>
              </p:cNvSpPr>
              <p:nvPr/>
            </p:nvSpPr>
            <p:spPr bwMode="auto">
              <a:xfrm>
                <a:off x="2391" y="3408"/>
                <a:ext cx="0"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5" name="Oval 52"/>
              <p:cNvSpPr>
                <a:spLocks noChangeArrowheads="1"/>
              </p:cNvSpPr>
              <p:nvPr/>
            </p:nvSpPr>
            <p:spPr bwMode="auto">
              <a:xfrm>
                <a:off x="1265" y="3516"/>
                <a:ext cx="80"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2306" name="Oval 53"/>
              <p:cNvSpPr>
                <a:spLocks noChangeArrowheads="1"/>
              </p:cNvSpPr>
              <p:nvPr/>
            </p:nvSpPr>
            <p:spPr bwMode="auto">
              <a:xfrm>
                <a:off x="1506" y="3516"/>
                <a:ext cx="81"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2307" name="Oval 54"/>
              <p:cNvSpPr>
                <a:spLocks noChangeArrowheads="1"/>
              </p:cNvSpPr>
              <p:nvPr/>
            </p:nvSpPr>
            <p:spPr bwMode="auto">
              <a:xfrm>
                <a:off x="1747" y="3516"/>
                <a:ext cx="81"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2308" name="Oval 55"/>
              <p:cNvSpPr>
                <a:spLocks noChangeArrowheads="1"/>
              </p:cNvSpPr>
              <p:nvPr/>
            </p:nvSpPr>
            <p:spPr bwMode="auto">
              <a:xfrm>
                <a:off x="1989" y="3516"/>
                <a:ext cx="80"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sp>
            <p:nvSpPr>
              <p:cNvPr id="12309" name="Oval 56"/>
              <p:cNvSpPr>
                <a:spLocks noChangeArrowheads="1"/>
              </p:cNvSpPr>
              <p:nvPr/>
            </p:nvSpPr>
            <p:spPr bwMode="auto">
              <a:xfrm>
                <a:off x="2230" y="3516"/>
                <a:ext cx="80" cy="7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endParaRPr kumimoji="0" lang="zh-CN" altLang="en-US" sz="2800"/>
              </a:p>
            </p:txBody>
          </p:sp>
        </p:grpSp>
      </p:grpSp>
    </p:spTree>
  </p:cSld>
  <p:clrMapOvr>
    <a:masterClrMapping/>
  </p:clrMapOvr>
  <p:transition>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50000"/>
              </a:spcBef>
              <a:buClrTx/>
              <a:buFontTx/>
              <a:buNone/>
            </a:pPr>
            <a:fld id="{ABF5A759-4DFE-4C72-9ABB-07CC625CCE63}" type="slidenum">
              <a:rPr kumimoji="0" lang="zh-CN" altLang="en-US" sz="1400" smtClean="0">
                <a:solidFill>
                  <a:schemeClr val="bg2"/>
                </a:solidFill>
              </a:rPr>
              <a:pPr>
                <a:spcBef>
                  <a:spcPct val="50000"/>
                </a:spcBef>
                <a:buClrTx/>
                <a:buFontTx/>
                <a:buNone/>
              </a:pPr>
              <a:t>10</a:t>
            </a:fld>
            <a:endParaRPr kumimoji="0" lang="en-US" altLang="zh-CN" sz="1400" smtClean="0">
              <a:solidFill>
                <a:schemeClr val="bg2"/>
              </a:solidFill>
            </a:endParaRPr>
          </a:p>
        </p:txBody>
      </p:sp>
      <p:sp>
        <p:nvSpPr>
          <p:cNvPr id="13315" name="Text Box 2"/>
          <p:cNvSpPr txBox="1">
            <a:spLocks noChangeArrowheads="1"/>
          </p:cNvSpPr>
          <p:nvPr/>
        </p:nvSpPr>
        <p:spPr bwMode="auto">
          <a:xfrm>
            <a:off x="795338" y="952500"/>
            <a:ext cx="75072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zh-CN" altLang="en-US" sz="2800">
                <a:solidFill>
                  <a:srgbClr val="CC0000"/>
                </a:solidFill>
              </a:rPr>
              <a:t>解</a:t>
            </a:r>
            <a:r>
              <a:rPr kumimoji="0" lang="en-US" altLang="zh-CN" sz="2800">
                <a:solidFill>
                  <a:srgbClr val="CC0000"/>
                </a:solidFill>
              </a:rPr>
              <a:t>:</a:t>
            </a:r>
            <a:r>
              <a:rPr kumimoji="0" lang="en-US" altLang="zh-CN" sz="2800">
                <a:solidFill>
                  <a:srgbClr val="1C1C1C"/>
                </a:solidFill>
              </a:rPr>
              <a:t> </a:t>
            </a:r>
            <a:r>
              <a:rPr kumimoji="0" lang="zh-CN" altLang="en-US" sz="2800">
                <a:solidFill>
                  <a:srgbClr val="1C1C1C"/>
                </a:solidFill>
              </a:rPr>
              <a:t>设两束单色自然光的强度分别为</a:t>
            </a:r>
            <a:r>
              <a:rPr kumimoji="0" lang="en-US" altLang="zh-CN" sz="2800" b="0" i="1">
                <a:solidFill>
                  <a:srgbClr val="1C1C1C"/>
                </a:solidFill>
              </a:rPr>
              <a:t>I</a:t>
            </a:r>
            <a:r>
              <a:rPr kumimoji="0" lang="en-US" altLang="zh-CN" sz="2800" b="0" baseline="-25000">
                <a:solidFill>
                  <a:srgbClr val="1C1C1C"/>
                </a:solidFill>
              </a:rPr>
              <a:t>10</a:t>
            </a:r>
            <a:r>
              <a:rPr kumimoji="0" lang="en-US" altLang="zh-CN" sz="2800" i="1">
                <a:solidFill>
                  <a:srgbClr val="1C1C1C"/>
                </a:solidFill>
              </a:rPr>
              <a:t> </a:t>
            </a:r>
            <a:r>
              <a:rPr kumimoji="0" lang="zh-CN" altLang="en-US" sz="2800">
                <a:solidFill>
                  <a:srgbClr val="1C1C1C"/>
                </a:solidFill>
              </a:rPr>
              <a:t>和 </a:t>
            </a:r>
            <a:r>
              <a:rPr kumimoji="0" lang="en-US" altLang="zh-CN" sz="2800" b="0" i="1">
                <a:solidFill>
                  <a:srgbClr val="1C1C1C"/>
                </a:solidFill>
              </a:rPr>
              <a:t>I</a:t>
            </a:r>
            <a:r>
              <a:rPr kumimoji="0" lang="en-US" altLang="zh-CN" sz="2800" b="0" baseline="-25000">
                <a:solidFill>
                  <a:srgbClr val="1C1C1C"/>
                </a:solidFill>
              </a:rPr>
              <a:t>20</a:t>
            </a:r>
            <a:r>
              <a:rPr kumimoji="0" lang="en-US" altLang="zh-CN" sz="2800">
                <a:solidFill>
                  <a:srgbClr val="1C1C1C"/>
                </a:solidFill>
              </a:rPr>
              <a:t> .  </a:t>
            </a:r>
          </a:p>
        </p:txBody>
      </p:sp>
      <p:grpSp>
        <p:nvGrpSpPr>
          <p:cNvPr id="13316" name="Group 12"/>
          <p:cNvGrpSpPr>
            <a:grpSpLocks/>
          </p:cNvGrpSpPr>
          <p:nvPr/>
        </p:nvGrpSpPr>
        <p:grpSpPr bwMode="auto">
          <a:xfrm>
            <a:off x="1354138" y="1492250"/>
            <a:ext cx="7086600" cy="990600"/>
            <a:chOff x="646" y="1039"/>
            <a:chExt cx="4464" cy="624"/>
          </a:xfrm>
        </p:grpSpPr>
        <p:sp>
          <p:nvSpPr>
            <p:cNvPr id="13321" name="Text Box 4"/>
            <p:cNvSpPr txBox="1">
              <a:spLocks noChangeArrowheads="1"/>
            </p:cNvSpPr>
            <p:nvPr/>
          </p:nvSpPr>
          <p:spPr bwMode="auto">
            <a:xfrm>
              <a:off x="646" y="1209"/>
              <a:ext cx="44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zh-CN" altLang="en-US" sz="2800">
                  <a:solidFill>
                    <a:srgbClr val="1C1C1C"/>
                  </a:solidFill>
                </a:rPr>
                <a:t>经过起偏器后光强分别为       和</a:t>
              </a:r>
            </a:p>
          </p:txBody>
        </p:sp>
        <p:graphicFrame>
          <p:nvGraphicFramePr>
            <p:cNvPr id="13322" name="Object 6"/>
            <p:cNvGraphicFramePr>
              <a:graphicFrameLocks noChangeAspect="1"/>
            </p:cNvGraphicFramePr>
            <p:nvPr/>
          </p:nvGraphicFramePr>
          <p:xfrm>
            <a:off x="3852" y="1039"/>
            <a:ext cx="328" cy="597"/>
          </p:xfrm>
          <a:graphic>
            <a:graphicData uri="http://schemas.openxmlformats.org/presentationml/2006/ole">
              <mc:AlternateContent xmlns:mc="http://schemas.openxmlformats.org/markup-compatibility/2006">
                <mc:Choice xmlns:v="urn:schemas-microsoft-com:vml" Requires="v">
                  <p:oleObj spid="_x0000_s13324" name="公式" r:id="rId3" imgW="253780" imgH="406048" progId="Equation.3">
                    <p:embed/>
                  </p:oleObj>
                </mc:Choice>
                <mc:Fallback>
                  <p:oleObj name="公式" r:id="rId3" imgW="253780" imgH="406048"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2" y="1039"/>
                          <a:ext cx="328" cy="5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3" name="Object 7"/>
            <p:cNvGraphicFramePr>
              <a:graphicFrameLocks noChangeAspect="1"/>
            </p:cNvGraphicFramePr>
            <p:nvPr/>
          </p:nvGraphicFramePr>
          <p:xfrm>
            <a:off x="3209" y="1046"/>
            <a:ext cx="338" cy="617"/>
          </p:xfrm>
          <a:graphic>
            <a:graphicData uri="http://schemas.openxmlformats.org/presentationml/2006/ole">
              <mc:AlternateContent xmlns:mc="http://schemas.openxmlformats.org/markup-compatibility/2006">
                <mc:Choice xmlns:v="urn:schemas-microsoft-com:vml" Requires="v">
                  <p:oleObj spid="_x0000_s13325" name="公式" r:id="rId5" imgW="253780" imgH="406048" progId="Equation.3">
                    <p:embed/>
                  </p:oleObj>
                </mc:Choice>
                <mc:Fallback>
                  <p:oleObj name="公式" r:id="rId5" imgW="253780" imgH="406048"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9" y="1046"/>
                          <a:ext cx="338" cy="6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9272" name="Rectangle 8"/>
          <p:cNvSpPr>
            <a:spLocks noChangeArrowheads="1"/>
          </p:cNvSpPr>
          <p:nvPr/>
        </p:nvSpPr>
        <p:spPr bwMode="auto">
          <a:xfrm>
            <a:off x="1346200" y="2622550"/>
            <a:ext cx="289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kumimoji="0" lang="zh-CN" altLang="en-US" sz="2800">
                <a:solidFill>
                  <a:srgbClr val="1C1C1C"/>
                </a:solidFill>
              </a:rPr>
              <a:t>经过检偏器后</a:t>
            </a:r>
          </a:p>
        </p:txBody>
      </p:sp>
      <p:graphicFrame>
        <p:nvGraphicFramePr>
          <p:cNvPr id="139273" name="Object 9"/>
          <p:cNvGraphicFramePr>
            <a:graphicFrameLocks noChangeAspect="1"/>
          </p:cNvGraphicFramePr>
          <p:nvPr/>
        </p:nvGraphicFramePr>
        <p:xfrm>
          <a:off x="1546225" y="3544888"/>
          <a:ext cx="2514600" cy="984250"/>
        </p:xfrm>
        <a:graphic>
          <a:graphicData uri="http://schemas.openxmlformats.org/presentationml/2006/ole">
            <mc:AlternateContent xmlns:mc="http://schemas.openxmlformats.org/markup-compatibility/2006">
              <mc:Choice xmlns:v="urn:schemas-microsoft-com:vml" Requires="v">
                <p:oleObj spid="_x0000_s13326" name="Equation" r:id="rId7" imgW="1651000" imgH="609600" progId="Equation.3">
                  <p:embed/>
                </p:oleObj>
              </mc:Choice>
              <mc:Fallback>
                <p:oleObj name="Equation" r:id="rId7" imgW="1651000" imgH="6096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6225" y="3544888"/>
                        <a:ext cx="2514600" cy="984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74" name="Object 10"/>
          <p:cNvGraphicFramePr>
            <a:graphicFrameLocks noChangeAspect="1"/>
          </p:cNvGraphicFramePr>
          <p:nvPr/>
        </p:nvGraphicFramePr>
        <p:xfrm>
          <a:off x="5119688" y="3544888"/>
          <a:ext cx="2438400" cy="984250"/>
        </p:xfrm>
        <a:graphic>
          <a:graphicData uri="http://schemas.openxmlformats.org/presentationml/2006/ole">
            <mc:AlternateContent xmlns:mc="http://schemas.openxmlformats.org/markup-compatibility/2006">
              <mc:Choice xmlns:v="urn:schemas-microsoft-com:vml" Requires="v">
                <p:oleObj spid="_x0000_s13327" name="Equation" r:id="rId9" imgW="1714500" imgH="609600" progId="Equation.3">
                  <p:embed/>
                </p:oleObj>
              </mc:Choice>
              <mc:Fallback>
                <p:oleObj name="Equation" r:id="rId9" imgW="1714500" imgH="6096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19688" y="3544888"/>
                        <a:ext cx="2438400" cy="984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75" name="Object 11"/>
          <p:cNvGraphicFramePr>
            <a:graphicFrameLocks noChangeAspect="1"/>
          </p:cNvGraphicFramePr>
          <p:nvPr/>
        </p:nvGraphicFramePr>
        <p:xfrm>
          <a:off x="1665288" y="4832350"/>
          <a:ext cx="5018087" cy="1011238"/>
        </p:xfrm>
        <a:graphic>
          <a:graphicData uri="http://schemas.openxmlformats.org/presentationml/2006/ole">
            <mc:AlternateContent xmlns:mc="http://schemas.openxmlformats.org/markup-compatibility/2006">
              <mc:Choice xmlns:v="urn:schemas-microsoft-com:vml" Requires="v">
                <p:oleObj spid="_x0000_s13328" name="公式" r:id="rId11" imgW="2235200" imgH="457200" progId="Equation.3">
                  <p:embed/>
                </p:oleObj>
              </mc:Choice>
              <mc:Fallback>
                <p:oleObj name="公式" r:id="rId11" imgW="2235200" imgH="4572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65288" y="4832350"/>
                        <a:ext cx="5018087" cy="1011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9272"/>
                                        </p:tgtEl>
                                        <p:attrNameLst>
                                          <p:attrName>style.visibility</p:attrName>
                                        </p:attrNameLst>
                                      </p:cBhvr>
                                      <p:to>
                                        <p:strVal val="visible"/>
                                      </p:to>
                                    </p:set>
                                    <p:animEffect transition="in" filter="blinds(horizontal)">
                                      <p:cBhvr>
                                        <p:cTn id="7" dur="500"/>
                                        <p:tgtEl>
                                          <p:spTgt spid="1392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39273"/>
                                        </p:tgtEl>
                                        <p:attrNameLst>
                                          <p:attrName>style.visibility</p:attrName>
                                        </p:attrNameLst>
                                      </p:cBhvr>
                                      <p:to>
                                        <p:strVal val="visible"/>
                                      </p:to>
                                    </p:set>
                                    <p:animEffect transition="in" filter="blinds(horizontal)">
                                      <p:cBhvr>
                                        <p:cTn id="12" dur="500"/>
                                        <p:tgtEl>
                                          <p:spTgt spid="1392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39274"/>
                                        </p:tgtEl>
                                        <p:attrNameLst>
                                          <p:attrName>style.visibility</p:attrName>
                                        </p:attrNameLst>
                                      </p:cBhvr>
                                      <p:to>
                                        <p:strVal val="visible"/>
                                      </p:to>
                                    </p:set>
                                    <p:animEffect transition="in" filter="blinds(horizontal)">
                                      <p:cBhvr>
                                        <p:cTn id="17" dur="500"/>
                                        <p:tgtEl>
                                          <p:spTgt spid="1392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39275"/>
                                        </p:tgtEl>
                                        <p:attrNameLst>
                                          <p:attrName>style.visibility</p:attrName>
                                        </p:attrNameLst>
                                      </p:cBhvr>
                                      <p:to>
                                        <p:strVal val="visible"/>
                                      </p:to>
                                    </p:set>
                                    <p:animEffect transition="in" filter="blinds(horizontal)">
                                      <p:cBhvr>
                                        <p:cTn id="22" dur="500"/>
                                        <p:tgtEl>
                                          <p:spTgt spid="139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72"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fld id="{CDCEA277-D3E1-439A-8F6C-47F566E4FA70}" type="slidenum">
              <a:rPr lang="zh-CN" altLang="en-US" sz="1400" b="0" smtClean="0">
                <a:solidFill>
                  <a:schemeClr val="bg2"/>
                </a:solidFill>
              </a:rPr>
              <a:pPr/>
              <a:t>11</a:t>
            </a:fld>
            <a:endParaRPr lang="en-US" altLang="zh-CN" sz="1400" b="0" smtClean="0">
              <a:solidFill>
                <a:schemeClr val="bg2"/>
              </a:solidFill>
            </a:endParaRPr>
          </a:p>
        </p:txBody>
      </p:sp>
      <p:sp>
        <p:nvSpPr>
          <p:cNvPr id="14339" name="Text Box 2"/>
          <p:cNvSpPr txBox="1">
            <a:spLocks noChangeArrowheads="1"/>
          </p:cNvSpPr>
          <p:nvPr/>
        </p:nvSpPr>
        <p:spPr bwMode="auto">
          <a:xfrm>
            <a:off x="566738" y="1314450"/>
            <a:ext cx="42672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lang="zh-CN" altLang="en-US">
                <a:solidFill>
                  <a:srgbClr val="CC0000"/>
                </a:solidFill>
              </a:rPr>
              <a:t>        入射面</a:t>
            </a:r>
            <a:r>
              <a:rPr lang="en-US" altLang="zh-CN">
                <a:solidFill>
                  <a:srgbClr val="CC0000"/>
                </a:solidFill>
              </a:rPr>
              <a:t>:</a:t>
            </a:r>
            <a:r>
              <a:rPr lang="zh-CN" altLang="en-US">
                <a:solidFill>
                  <a:srgbClr val="000000"/>
                </a:solidFill>
              </a:rPr>
              <a:t>入射光线和法线所成的平面 </a:t>
            </a:r>
            <a:r>
              <a:rPr lang="en-US" altLang="zh-CN">
                <a:solidFill>
                  <a:srgbClr val="000000"/>
                </a:solidFill>
              </a:rPr>
              <a:t>.</a:t>
            </a:r>
          </a:p>
        </p:txBody>
      </p:sp>
      <p:sp>
        <p:nvSpPr>
          <p:cNvPr id="125955" name="Text Box 3"/>
          <p:cNvSpPr txBox="1">
            <a:spLocks noChangeArrowheads="1"/>
          </p:cNvSpPr>
          <p:nvPr/>
        </p:nvSpPr>
        <p:spPr bwMode="auto">
          <a:xfrm>
            <a:off x="566738" y="2519363"/>
            <a:ext cx="4545012" cy="163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lang="zh-CN" altLang="en-US">
                <a:solidFill>
                  <a:srgbClr val="CC0000"/>
                </a:solidFill>
              </a:rPr>
              <a:t>        反射光 </a:t>
            </a:r>
            <a:r>
              <a:rPr lang="zh-CN" altLang="en-US">
                <a:solidFill>
                  <a:srgbClr val="000000"/>
                </a:solidFill>
              </a:rPr>
              <a:t>为</a:t>
            </a:r>
            <a:r>
              <a:rPr lang="zh-CN" altLang="en-US">
                <a:solidFill>
                  <a:srgbClr val="0000FF"/>
                </a:solidFill>
              </a:rPr>
              <a:t>部分偏振光</a:t>
            </a:r>
            <a:r>
              <a:rPr lang="zh-CN" altLang="en-US">
                <a:solidFill>
                  <a:srgbClr val="000000"/>
                </a:solidFill>
              </a:rPr>
              <a:t>，垂直于入射面的振动大于  平行于入射面的振动 </a:t>
            </a:r>
            <a:r>
              <a:rPr lang="en-US" altLang="zh-CN">
                <a:solidFill>
                  <a:srgbClr val="000000"/>
                </a:solidFill>
              </a:rPr>
              <a:t>.</a:t>
            </a:r>
          </a:p>
        </p:txBody>
      </p:sp>
      <p:sp>
        <p:nvSpPr>
          <p:cNvPr id="14341" name="Rectangle 6"/>
          <p:cNvSpPr>
            <a:spLocks noChangeArrowheads="1"/>
          </p:cNvSpPr>
          <p:nvPr/>
        </p:nvSpPr>
        <p:spPr bwMode="auto">
          <a:xfrm>
            <a:off x="4824413" y="1403350"/>
            <a:ext cx="3657600" cy="2789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4342" name="Text Box 7"/>
          <p:cNvSpPr txBox="1">
            <a:spLocks noChangeArrowheads="1"/>
          </p:cNvSpPr>
          <p:nvPr/>
        </p:nvSpPr>
        <p:spPr bwMode="auto">
          <a:xfrm>
            <a:off x="7415213" y="2151063"/>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1C1C1C"/>
                </a:solidFill>
              </a:rPr>
              <a:t>空气</a:t>
            </a:r>
          </a:p>
        </p:txBody>
      </p:sp>
      <p:grpSp>
        <p:nvGrpSpPr>
          <p:cNvPr id="125960" name="Group 8"/>
          <p:cNvGrpSpPr>
            <a:grpSpLocks/>
          </p:cNvGrpSpPr>
          <p:nvPr/>
        </p:nvGrpSpPr>
        <p:grpSpPr bwMode="auto">
          <a:xfrm>
            <a:off x="6502400" y="1652588"/>
            <a:ext cx="2058988" cy="955675"/>
            <a:chOff x="1345" y="988"/>
            <a:chExt cx="1297" cy="602"/>
          </a:xfrm>
        </p:grpSpPr>
        <p:sp>
          <p:nvSpPr>
            <p:cNvPr id="14379" name="Line 9"/>
            <p:cNvSpPr>
              <a:spLocks noChangeShapeType="1"/>
            </p:cNvSpPr>
            <p:nvPr/>
          </p:nvSpPr>
          <p:spPr bwMode="auto">
            <a:xfrm rot="-2153489">
              <a:off x="1345" y="1275"/>
              <a:ext cx="1297" cy="14"/>
            </a:xfrm>
            <a:prstGeom prst="line">
              <a:avLst/>
            </a:prstGeom>
            <a:noFill/>
            <a:ln w="28575">
              <a:solidFill>
                <a:srgbClr val="FF33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0" name="Line 10"/>
            <p:cNvSpPr>
              <a:spLocks noChangeShapeType="1"/>
            </p:cNvSpPr>
            <p:nvPr/>
          </p:nvSpPr>
          <p:spPr bwMode="auto">
            <a:xfrm rot="-2153489">
              <a:off x="1827" y="1264"/>
              <a:ext cx="0" cy="251"/>
            </a:xfrm>
            <a:prstGeom prst="line">
              <a:avLst/>
            </a:prstGeom>
            <a:noFill/>
            <a:ln w="28575">
              <a:solidFill>
                <a:srgbClr val="FF33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1" name="Line 11"/>
            <p:cNvSpPr>
              <a:spLocks noChangeShapeType="1"/>
            </p:cNvSpPr>
            <p:nvPr/>
          </p:nvSpPr>
          <p:spPr bwMode="auto">
            <a:xfrm rot="-2153489">
              <a:off x="2138" y="1039"/>
              <a:ext cx="0" cy="251"/>
            </a:xfrm>
            <a:prstGeom prst="line">
              <a:avLst/>
            </a:prstGeom>
            <a:noFill/>
            <a:ln w="28575">
              <a:solidFill>
                <a:srgbClr val="FF33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2" name="Oval 12"/>
            <p:cNvSpPr>
              <a:spLocks noChangeArrowheads="1"/>
            </p:cNvSpPr>
            <p:nvPr/>
          </p:nvSpPr>
          <p:spPr bwMode="auto">
            <a:xfrm rot="-2153489">
              <a:off x="1561" y="1527"/>
              <a:ext cx="64" cy="63"/>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4383" name="Oval 13"/>
            <p:cNvSpPr>
              <a:spLocks noChangeArrowheads="1"/>
            </p:cNvSpPr>
            <p:nvPr/>
          </p:nvSpPr>
          <p:spPr bwMode="auto">
            <a:xfrm rot="-2153489">
              <a:off x="1717" y="1414"/>
              <a:ext cx="64" cy="63"/>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4384" name="Oval 14"/>
            <p:cNvSpPr>
              <a:spLocks noChangeArrowheads="1"/>
            </p:cNvSpPr>
            <p:nvPr/>
          </p:nvSpPr>
          <p:spPr bwMode="auto">
            <a:xfrm rot="-2153489">
              <a:off x="1873" y="1302"/>
              <a:ext cx="64" cy="63"/>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4385" name="Oval 15"/>
            <p:cNvSpPr>
              <a:spLocks noChangeArrowheads="1"/>
            </p:cNvSpPr>
            <p:nvPr/>
          </p:nvSpPr>
          <p:spPr bwMode="auto">
            <a:xfrm rot="-2153489">
              <a:off x="2028" y="1189"/>
              <a:ext cx="64" cy="63"/>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4386" name="Oval 16"/>
            <p:cNvSpPr>
              <a:spLocks noChangeArrowheads="1"/>
            </p:cNvSpPr>
            <p:nvPr/>
          </p:nvSpPr>
          <p:spPr bwMode="auto">
            <a:xfrm rot="-2153489">
              <a:off x="2185" y="1076"/>
              <a:ext cx="64" cy="63"/>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4387" name="Oval 17"/>
            <p:cNvSpPr>
              <a:spLocks noChangeArrowheads="1"/>
            </p:cNvSpPr>
            <p:nvPr/>
          </p:nvSpPr>
          <p:spPr bwMode="auto">
            <a:xfrm rot="-2153489">
              <a:off x="2311" y="988"/>
              <a:ext cx="64" cy="63"/>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4388" name="Arc 18"/>
            <p:cNvSpPr>
              <a:spLocks/>
            </p:cNvSpPr>
            <p:nvPr/>
          </p:nvSpPr>
          <p:spPr bwMode="auto">
            <a:xfrm rot="9220608" flipH="1" flipV="1">
              <a:off x="1506" y="1244"/>
              <a:ext cx="171" cy="295"/>
            </a:xfrm>
            <a:custGeom>
              <a:avLst/>
              <a:gdLst>
                <a:gd name="T0" fmla="*/ 0 w 28807"/>
                <a:gd name="T1" fmla="*/ 13 h 28693"/>
                <a:gd name="T2" fmla="*/ 164 w 28807"/>
                <a:gd name="T3" fmla="*/ 295 h 28693"/>
                <a:gd name="T4" fmla="*/ 43 w 28807"/>
                <a:gd name="T5" fmla="*/ 222 h 28693"/>
                <a:gd name="T6" fmla="*/ 0 60000 65536"/>
                <a:gd name="T7" fmla="*/ 0 60000 65536"/>
                <a:gd name="T8" fmla="*/ 0 60000 65536"/>
              </a:gdLst>
              <a:ahLst/>
              <a:cxnLst>
                <a:cxn ang="T6">
                  <a:pos x="T0" y="T1"/>
                </a:cxn>
                <a:cxn ang="T7">
                  <a:pos x="T2" y="T3"/>
                </a:cxn>
                <a:cxn ang="T8">
                  <a:pos x="T4" y="T5"/>
                </a:cxn>
              </a:cxnLst>
              <a:rect l="0" t="0" r="r" b="b"/>
              <a:pathLst>
                <a:path w="28807" h="28693" fill="none" extrusionOk="0">
                  <a:moveTo>
                    <a:pt x="-1" y="1237"/>
                  </a:moveTo>
                  <a:cubicBezTo>
                    <a:pt x="2314" y="418"/>
                    <a:pt x="4751" y="-1"/>
                    <a:pt x="7207" y="0"/>
                  </a:cubicBezTo>
                  <a:cubicBezTo>
                    <a:pt x="19136" y="0"/>
                    <a:pt x="28807" y="9670"/>
                    <a:pt x="28807" y="21600"/>
                  </a:cubicBezTo>
                  <a:cubicBezTo>
                    <a:pt x="28807" y="24014"/>
                    <a:pt x="28402" y="26412"/>
                    <a:pt x="27609" y="28693"/>
                  </a:cubicBezTo>
                </a:path>
                <a:path w="28807" h="28693" stroke="0" extrusionOk="0">
                  <a:moveTo>
                    <a:pt x="-1" y="1237"/>
                  </a:moveTo>
                  <a:cubicBezTo>
                    <a:pt x="2314" y="418"/>
                    <a:pt x="4751" y="-1"/>
                    <a:pt x="7207" y="0"/>
                  </a:cubicBezTo>
                  <a:cubicBezTo>
                    <a:pt x="19136" y="0"/>
                    <a:pt x="28807" y="9670"/>
                    <a:pt x="28807" y="21600"/>
                  </a:cubicBezTo>
                  <a:cubicBezTo>
                    <a:pt x="28807" y="24014"/>
                    <a:pt x="28402" y="26412"/>
                    <a:pt x="27609" y="28693"/>
                  </a:cubicBezTo>
                  <a:lnTo>
                    <a:pt x="7207" y="21600"/>
                  </a:lnTo>
                  <a:lnTo>
                    <a:pt x="-1" y="1237"/>
                  </a:lnTo>
                  <a:close/>
                </a:path>
              </a:pathLst>
            </a:custGeom>
            <a:noFill/>
            <a:ln w="28575">
              <a:solidFill>
                <a:srgbClr val="FF00FF"/>
              </a:solidFill>
              <a:round/>
              <a:headEnd/>
              <a:tailEnd type="none" w="sm" len="lg"/>
            </a:ln>
            <a:effectLst/>
            <a:extLst>
              <a:ext uri="{909E8E84-426E-40DD-AFC4-6F175D3DCCD1}">
                <a14:hiddenFill xmlns:a14="http://schemas.microsoft.com/office/drawing/2010/main">
                  <a:solidFill>
                    <a:srgbClr val="FF33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89" name="Object 19"/>
            <p:cNvGraphicFramePr>
              <a:graphicFrameLocks noChangeAspect="1"/>
            </p:cNvGraphicFramePr>
            <p:nvPr/>
          </p:nvGraphicFramePr>
          <p:xfrm>
            <a:off x="1536" y="988"/>
            <a:ext cx="160" cy="336"/>
          </p:xfrm>
          <a:graphic>
            <a:graphicData uri="http://schemas.openxmlformats.org/presentationml/2006/ole">
              <mc:AlternateContent xmlns:mc="http://schemas.openxmlformats.org/markup-compatibility/2006">
                <mc:Choice xmlns:v="urn:schemas-microsoft-com:vml" Requires="v">
                  <p:oleObj spid="_x0000_s14390" name="公式" r:id="rId3" imgW="114250" imgH="228501" progId="Equation.3">
                    <p:embed/>
                  </p:oleObj>
                </mc:Choice>
                <mc:Fallback>
                  <p:oleObj name="公式" r:id="rId3" imgW="114250" imgH="228501"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6" y="988"/>
                          <a:ext cx="160"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344" name="Line 20"/>
          <p:cNvSpPr>
            <a:spLocks noChangeShapeType="1"/>
          </p:cNvSpPr>
          <p:nvPr/>
        </p:nvSpPr>
        <p:spPr bwMode="auto">
          <a:xfrm flipH="1">
            <a:off x="6653213" y="1433513"/>
            <a:ext cx="11112" cy="2438400"/>
          </a:xfrm>
          <a:prstGeom prst="line">
            <a:avLst/>
          </a:prstGeom>
          <a:noFill/>
          <a:ln w="19050">
            <a:solidFill>
              <a:schemeClr val="tx1"/>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45" name="Object 21"/>
          <p:cNvGraphicFramePr>
            <a:graphicFrameLocks noChangeAspect="1"/>
          </p:cNvGraphicFramePr>
          <p:nvPr/>
        </p:nvGraphicFramePr>
        <p:xfrm>
          <a:off x="5346700" y="2074863"/>
          <a:ext cx="439738" cy="614362"/>
        </p:xfrm>
        <a:graphic>
          <a:graphicData uri="http://schemas.openxmlformats.org/presentationml/2006/ole">
            <mc:AlternateContent xmlns:mc="http://schemas.openxmlformats.org/markup-compatibility/2006">
              <mc:Choice xmlns:v="urn:schemas-microsoft-com:vml" Requires="v">
                <p:oleObj spid="_x0000_s14391" name="Equation" r:id="rId5" imgW="228501" imgH="317362" progId="Equation.3">
                  <p:embed/>
                </p:oleObj>
              </mc:Choice>
              <mc:Fallback>
                <p:oleObj name="Equation" r:id="rId5" imgW="228501" imgH="317362" progId="Equation.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46700" y="2074863"/>
                        <a:ext cx="439738" cy="614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5974" name="Group 22"/>
          <p:cNvGrpSpPr>
            <a:grpSpLocks/>
          </p:cNvGrpSpPr>
          <p:nvPr/>
        </p:nvGrpSpPr>
        <p:grpSpPr bwMode="auto">
          <a:xfrm>
            <a:off x="4824413" y="1585913"/>
            <a:ext cx="1984375" cy="1131887"/>
            <a:chOff x="432" y="864"/>
            <a:chExt cx="1250" cy="713"/>
          </a:xfrm>
        </p:grpSpPr>
        <p:sp>
          <p:nvSpPr>
            <p:cNvPr id="14366" name="Line 23"/>
            <p:cNvSpPr>
              <a:spLocks noChangeShapeType="1"/>
            </p:cNvSpPr>
            <p:nvPr/>
          </p:nvSpPr>
          <p:spPr bwMode="auto">
            <a:xfrm rot="2031746">
              <a:off x="432" y="1198"/>
              <a:ext cx="1250" cy="0"/>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7" name="Line 24"/>
            <p:cNvSpPr>
              <a:spLocks noChangeShapeType="1"/>
            </p:cNvSpPr>
            <p:nvPr/>
          </p:nvSpPr>
          <p:spPr bwMode="auto">
            <a:xfrm rot="2031746">
              <a:off x="762" y="874"/>
              <a:ext cx="0" cy="251"/>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8" name="Line 25"/>
            <p:cNvSpPr>
              <a:spLocks noChangeShapeType="1"/>
            </p:cNvSpPr>
            <p:nvPr/>
          </p:nvSpPr>
          <p:spPr bwMode="auto">
            <a:xfrm rot="2031746">
              <a:off x="930" y="987"/>
              <a:ext cx="0" cy="251"/>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9" name="Line 26"/>
            <p:cNvSpPr>
              <a:spLocks noChangeShapeType="1"/>
            </p:cNvSpPr>
            <p:nvPr/>
          </p:nvSpPr>
          <p:spPr bwMode="auto">
            <a:xfrm rot="2031746">
              <a:off x="1099" y="1100"/>
              <a:ext cx="0" cy="251"/>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0" name="Line 27"/>
            <p:cNvSpPr>
              <a:spLocks noChangeShapeType="1"/>
            </p:cNvSpPr>
            <p:nvPr/>
          </p:nvSpPr>
          <p:spPr bwMode="auto">
            <a:xfrm rot="2031746">
              <a:off x="1267" y="1212"/>
              <a:ext cx="0" cy="251"/>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1" name="Line 28"/>
            <p:cNvSpPr>
              <a:spLocks noChangeShapeType="1"/>
            </p:cNvSpPr>
            <p:nvPr/>
          </p:nvSpPr>
          <p:spPr bwMode="auto">
            <a:xfrm rot="2031746">
              <a:off x="1435" y="1326"/>
              <a:ext cx="0" cy="251"/>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2" name="Oval 29"/>
            <p:cNvSpPr>
              <a:spLocks noChangeArrowheads="1"/>
            </p:cNvSpPr>
            <p:nvPr/>
          </p:nvSpPr>
          <p:spPr bwMode="auto">
            <a:xfrm rot="2031746">
              <a:off x="644" y="911"/>
              <a:ext cx="68"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4373" name="Oval 30"/>
            <p:cNvSpPr>
              <a:spLocks noChangeArrowheads="1"/>
            </p:cNvSpPr>
            <p:nvPr/>
          </p:nvSpPr>
          <p:spPr bwMode="auto">
            <a:xfrm rot="2031746">
              <a:off x="812" y="1025"/>
              <a:ext cx="67"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4374" name="Oval 31"/>
            <p:cNvSpPr>
              <a:spLocks noChangeArrowheads="1"/>
            </p:cNvSpPr>
            <p:nvPr/>
          </p:nvSpPr>
          <p:spPr bwMode="auto">
            <a:xfrm rot="2031746">
              <a:off x="981" y="1138"/>
              <a:ext cx="67"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4375" name="Oval 32"/>
            <p:cNvSpPr>
              <a:spLocks noChangeArrowheads="1"/>
            </p:cNvSpPr>
            <p:nvPr/>
          </p:nvSpPr>
          <p:spPr bwMode="auto">
            <a:xfrm rot="2031746">
              <a:off x="1149" y="1250"/>
              <a:ext cx="68"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4376" name="Oval 33"/>
            <p:cNvSpPr>
              <a:spLocks noChangeArrowheads="1"/>
            </p:cNvSpPr>
            <p:nvPr/>
          </p:nvSpPr>
          <p:spPr bwMode="auto">
            <a:xfrm rot="2031746">
              <a:off x="1317" y="1363"/>
              <a:ext cx="68"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aphicFrame>
          <p:nvGraphicFramePr>
            <p:cNvPr id="14377" name="Object 34"/>
            <p:cNvGraphicFramePr>
              <a:graphicFrameLocks noChangeAspect="1"/>
            </p:cNvGraphicFramePr>
            <p:nvPr/>
          </p:nvGraphicFramePr>
          <p:xfrm>
            <a:off x="1351" y="864"/>
            <a:ext cx="160" cy="336"/>
          </p:xfrm>
          <a:graphic>
            <a:graphicData uri="http://schemas.openxmlformats.org/presentationml/2006/ole">
              <mc:AlternateContent xmlns:mc="http://schemas.openxmlformats.org/markup-compatibility/2006">
                <mc:Choice xmlns:v="urn:schemas-microsoft-com:vml" Requires="v">
                  <p:oleObj spid="_x0000_s14392" name="公式" r:id="rId7" imgW="114250" imgH="228501" progId="Equation.3">
                    <p:embed/>
                  </p:oleObj>
                </mc:Choice>
                <mc:Fallback>
                  <p:oleObj name="公式" r:id="rId7" imgW="114250" imgH="228501" progId="Equation.3">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1" y="864"/>
                          <a:ext cx="160" cy="336"/>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8" name="Arc 35"/>
            <p:cNvSpPr>
              <a:spLocks/>
            </p:cNvSpPr>
            <p:nvPr/>
          </p:nvSpPr>
          <p:spPr bwMode="auto">
            <a:xfrm rot="11107907" flipV="1">
              <a:off x="1344" y="1152"/>
              <a:ext cx="252" cy="240"/>
            </a:xfrm>
            <a:custGeom>
              <a:avLst/>
              <a:gdLst>
                <a:gd name="T0" fmla="*/ 0 w 28807"/>
                <a:gd name="T1" fmla="*/ 11 h 27893"/>
                <a:gd name="T2" fmla="*/ 244 w 28807"/>
                <a:gd name="T3" fmla="*/ 240 h 27893"/>
                <a:gd name="T4" fmla="*/ 63 w 28807"/>
                <a:gd name="T5" fmla="*/ 186 h 27893"/>
                <a:gd name="T6" fmla="*/ 0 60000 65536"/>
                <a:gd name="T7" fmla="*/ 0 60000 65536"/>
                <a:gd name="T8" fmla="*/ 0 60000 65536"/>
              </a:gdLst>
              <a:ahLst/>
              <a:cxnLst>
                <a:cxn ang="T6">
                  <a:pos x="T0" y="T1"/>
                </a:cxn>
                <a:cxn ang="T7">
                  <a:pos x="T2" y="T3"/>
                </a:cxn>
                <a:cxn ang="T8">
                  <a:pos x="T4" y="T5"/>
                </a:cxn>
              </a:cxnLst>
              <a:rect l="0" t="0" r="r" b="b"/>
              <a:pathLst>
                <a:path w="28807" h="27893" fill="none" extrusionOk="0">
                  <a:moveTo>
                    <a:pt x="-1" y="1237"/>
                  </a:moveTo>
                  <a:cubicBezTo>
                    <a:pt x="2314" y="418"/>
                    <a:pt x="4751" y="-1"/>
                    <a:pt x="7207" y="0"/>
                  </a:cubicBezTo>
                  <a:cubicBezTo>
                    <a:pt x="19136" y="0"/>
                    <a:pt x="28807" y="9670"/>
                    <a:pt x="28807" y="21600"/>
                  </a:cubicBezTo>
                  <a:cubicBezTo>
                    <a:pt x="28807" y="23732"/>
                    <a:pt x="28491" y="25853"/>
                    <a:pt x="27869" y="27892"/>
                  </a:cubicBezTo>
                </a:path>
                <a:path w="28807" h="27893" stroke="0" extrusionOk="0">
                  <a:moveTo>
                    <a:pt x="-1" y="1237"/>
                  </a:moveTo>
                  <a:cubicBezTo>
                    <a:pt x="2314" y="418"/>
                    <a:pt x="4751" y="-1"/>
                    <a:pt x="7207" y="0"/>
                  </a:cubicBezTo>
                  <a:cubicBezTo>
                    <a:pt x="19136" y="0"/>
                    <a:pt x="28807" y="9670"/>
                    <a:pt x="28807" y="21600"/>
                  </a:cubicBezTo>
                  <a:cubicBezTo>
                    <a:pt x="28807" y="23732"/>
                    <a:pt x="28491" y="25853"/>
                    <a:pt x="27869" y="27892"/>
                  </a:cubicBezTo>
                  <a:lnTo>
                    <a:pt x="7207" y="21600"/>
                  </a:lnTo>
                  <a:lnTo>
                    <a:pt x="-1" y="1237"/>
                  </a:lnTo>
                  <a:close/>
                </a:path>
              </a:pathLst>
            </a:custGeom>
            <a:noFill/>
            <a:ln w="28575">
              <a:solidFill>
                <a:srgbClr val="9966FF"/>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5988" name="Group 36"/>
          <p:cNvGrpSpPr>
            <a:grpSpLocks/>
          </p:cNvGrpSpPr>
          <p:nvPr/>
        </p:nvGrpSpPr>
        <p:grpSpPr bwMode="auto">
          <a:xfrm>
            <a:off x="6729413" y="2479675"/>
            <a:ext cx="785812" cy="1730375"/>
            <a:chOff x="1488" y="1551"/>
            <a:chExt cx="495" cy="1090"/>
          </a:xfrm>
        </p:grpSpPr>
        <p:sp>
          <p:nvSpPr>
            <p:cNvPr id="14358" name="Line 37"/>
            <p:cNvSpPr>
              <a:spLocks noChangeShapeType="1"/>
            </p:cNvSpPr>
            <p:nvPr/>
          </p:nvSpPr>
          <p:spPr bwMode="auto">
            <a:xfrm rot="2782562">
              <a:off x="1231" y="2043"/>
              <a:ext cx="1090" cy="106"/>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9" name="Line 38"/>
            <p:cNvSpPr>
              <a:spLocks noChangeShapeType="1"/>
            </p:cNvSpPr>
            <p:nvPr/>
          </p:nvSpPr>
          <p:spPr bwMode="auto">
            <a:xfrm rot="2782562" flipV="1">
              <a:off x="1602" y="1808"/>
              <a:ext cx="12" cy="144"/>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0" name="Line 39"/>
            <p:cNvSpPr>
              <a:spLocks noChangeShapeType="1"/>
            </p:cNvSpPr>
            <p:nvPr/>
          </p:nvSpPr>
          <p:spPr bwMode="auto">
            <a:xfrm rot="2782562">
              <a:off x="1717" y="1930"/>
              <a:ext cx="0" cy="144"/>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1" name="Line 40"/>
            <p:cNvSpPr>
              <a:spLocks noChangeShapeType="1"/>
            </p:cNvSpPr>
            <p:nvPr/>
          </p:nvSpPr>
          <p:spPr bwMode="auto">
            <a:xfrm rot="2782562" flipV="1">
              <a:off x="1831" y="2093"/>
              <a:ext cx="8" cy="147"/>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2" name="Oval 41"/>
            <p:cNvSpPr>
              <a:spLocks noChangeArrowheads="1"/>
            </p:cNvSpPr>
            <p:nvPr/>
          </p:nvSpPr>
          <p:spPr bwMode="auto">
            <a:xfrm rot="2782562">
              <a:off x="1488" y="1756"/>
              <a:ext cx="64"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4363" name="Oval 42"/>
            <p:cNvSpPr>
              <a:spLocks noChangeArrowheads="1"/>
            </p:cNvSpPr>
            <p:nvPr/>
          </p:nvSpPr>
          <p:spPr bwMode="auto">
            <a:xfrm rot="2782562">
              <a:off x="1728" y="2044"/>
              <a:ext cx="64"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4364" name="Oval 43"/>
            <p:cNvSpPr>
              <a:spLocks noChangeArrowheads="1"/>
            </p:cNvSpPr>
            <p:nvPr/>
          </p:nvSpPr>
          <p:spPr bwMode="auto">
            <a:xfrm rot="2782562">
              <a:off x="1920" y="2284"/>
              <a:ext cx="64"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4365" name="Line 44"/>
            <p:cNvSpPr>
              <a:spLocks noChangeShapeType="1"/>
            </p:cNvSpPr>
            <p:nvPr/>
          </p:nvSpPr>
          <p:spPr bwMode="auto">
            <a:xfrm rot="2782562" flipV="1">
              <a:off x="1894" y="2166"/>
              <a:ext cx="8" cy="147"/>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48" name="Group 45"/>
          <p:cNvGrpSpPr>
            <a:grpSpLocks/>
          </p:cNvGrpSpPr>
          <p:nvPr/>
        </p:nvGrpSpPr>
        <p:grpSpPr bwMode="auto">
          <a:xfrm>
            <a:off x="5281613" y="2684463"/>
            <a:ext cx="2819400" cy="1447800"/>
            <a:chOff x="576" y="1680"/>
            <a:chExt cx="1776" cy="912"/>
          </a:xfrm>
        </p:grpSpPr>
        <p:sp>
          <p:nvSpPr>
            <p:cNvPr id="14355" name="Rectangle 46"/>
            <p:cNvSpPr>
              <a:spLocks noChangeArrowheads="1"/>
            </p:cNvSpPr>
            <p:nvPr/>
          </p:nvSpPr>
          <p:spPr bwMode="auto">
            <a:xfrm>
              <a:off x="576" y="1680"/>
              <a:ext cx="1776" cy="912"/>
            </a:xfrm>
            <a:prstGeom prst="rect">
              <a:avLst/>
            </a:prstGeom>
            <a:solidFill>
              <a:srgbClr val="C5FFFF">
                <a:alpha val="50195"/>
              </a:srgbClr>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p:txBody>
        </p:sp>
        <p:sp>
          <p:nvSpPr>
            <p:cNvPr id="14356" name="Text Box 47"/>
            <p:cNvSpPr txBox="1">
              <a:spLocks noChangeArrowheads="1"/>
            </p:cNvSpPr>
            <p:nvPr/>
          </p:nvSpPr>
          <p:spPr bwMode="auto">
            <a:xfrm>
              <a:off x="576" y="2256"/>
              <a:ext cx="80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000066"/>
                  </a:solidFill>
                </a:rPr>
                <a:t>玻璃</a:t>
              </a:r>
            </a:p>
          </p:txBody>
        </p:sp>
        <p:graphicFrame>
          <p:nvGraphicFramePr>
            <p:cNvPr id="14357" name="Object 48"/>
            <p:cNvGraphicFramePr>
              <a:graphicFrameLocks noChangeAspect="1"/>
            </p:cNvGraphicFramePr>
            <p:nvPr/>
          </p:nvGraphicFramePr>
          <p:xfrm>
            <a:off x="617" y="1728"/>
            <a:ext cx="309" cy="387"/>
          </p:xfrm>
          <a:graphic>
            <a:graphicData uri="http://schemas.openxmlformats.org/presentationml/2006/ole">
              <mc:AlternateContent xmlns:mc="http://schemas.openxmlformats.org/markup-compatibility/2006">
                <mc:Choice xmlns:v="urn:schemas-microsoft-com:vml" Requires="v">
                  <p:oleObj spid="_x0000_s14393" name="Equation" r:id="rId8" imgW="253780" imgH="317225" progId="Equation.3">
                    <p:embed/>
                  </p:oleObj>
                </mc:Choice>
                <mc:Fallback>
                  <p:oleObj name="Equation" r:id="rId8" imgW="253780" imgH="317225" progId="Equation.3">
                    <p:embed/>
                    <p:pic>
                      <p:nvPicPr>
                        <p:cNvPr id="0" name="Object 4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7" y="1728"/>
                          <a:ext cx="309" cy="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26001" name="Group 49"/>
          <p:cNvGrpSpPr>
            <a:grpSpLocks/>
          </p:cNvGrpSpPr>
          <p:nvPr/>
        </p:nvGrpSpPr>
        <p:grpSpPr bwMode="auto">
          <a:xfrm>
            <a:off x="6653213" y="2957513"/>
            <a:ext cx="376237" cy="722312"/>
            <a:chOff x="1440" y="1852"/>
            <a:chExt cx="237" cy="455"/>
          </a:xfrm>
        </p:grpSpPr>
        <p:graphicFrame>
          <p:nvGraphicFramePr>
            <p:cNvPr id="14353" name="Object 50"/>
            <p:cNvGraphicFramePr>
              <a:graphicFrameLocks noChangeAspect="1"/>
            </p:cNvGraphicFramePr>
            <p:nvPr/>
          </p:nvGraphicFramePr>
          <p:xfrm>
            <a:off x="1488" y="2044"/>
            <a:ext cx="189" cy="263"/>
          </p:xfrm>
          <a:graphic>
            <a:graphicData uri="http://schemas.openxmlformats.org/presentationml/2006/ole">
              <mc:AlternateContent xmlns:mc="http://schemas.openxmlformats.org/markup-compatibility/2006">
                <mc:Choice xmlns:v="urn:schemas-microsoft-com:vml" Requires="v">
                  <p:oleObj spid="_x0000_s14394" name="公式" r:id="rId10" imgW="177646" imgH="241091" progId="Equation.3">
                    <p:embed/>
                  </p:oleObj>
                </mc:Choice>
                <mc:Fallback>
                  <p:oleObj name="公式" r:id="rId10" imgW="177646" imgH="241091" progId="Equation.3">
                    <p:embed/>
                    <p:pic>
                      <p:nvPicPr>
                        <p:cNvPr id="0" name="Object 5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88" y="2044"/>
                          <a:ext cx="189"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4" name="Arc 51"/>
            <p:cNvSpPr>
              <a:spLocks/>
            </p:cNvSpPr>
            <p:nvPr/>
          </p:nvSpPr>
          <p:spPr bwMode="auto">
            <a:xfrm rot="11414303" flipH="1">
              <a:off x="1440" y="1852"/>
              <a:ext cx="184" cy="144"/>
            </a:xfrm>
            <a:custGeom>
              <a:avLst/>
              <a:gdLst>
                <a:gd name="T0" fmla="*/ 0 w 25732"/>
                <a:gd name="T1" fmla="*/ 3 h 21600"/>
                <a:gd name="T2" fmla="*/ 184 w 25732"/>
                <a:gd name="T3" fmla="*/ 120 h 21600"/>
                <a:gd name="T4" fmla="*/ 32 w 25732"/>
                <a:gd name="T5" fmla="*/ 144 h 21600"/>
                <a:gd name="T6" fmla="*/ 0 60000 65536"/>
                <a:gd name="T7" fmla="*/ 0 60000 65536"/>
                <a:gd name="T8" fmla="*/ 0 60000 65536"/>
              </a:gdLst>
              <a:ahLst/>
              <a:cxnLst>
                <a:cxn ang="T6">
                  <a:pos x="T0" y="T1"/>
                </a:cxn>
                <a:cxn ang="T7">
                  <a:pos x="T2" y="T3"/>
                </a:cxn>
                <a:cxn ang="T8">
                  <a:pos x="T4" y="T5"/>
                </a:cxn>
              </a:cxnLst>
              <a:rect l="0" t="0" r="r" b="b"/>
              <a:pathLst>
                <a:path w="25732" h="21600" fill="none" extrusionOk="0">
                  <a:moveTo>
                    <a:pt x="-1" y="459"/>
                  </a:moveTo>
                  <a:cubicBezTo>
                    <a:pt x="1457" y="154"/>
                    <a:pt x="2943" y="-1"/>
                    <a:pt x="4433" y="0"/>
                  </a:cubicBezTo>
                  <a:cubicBezTo>
                    <a:pt x="14976" y="0"/>
                    <a:pt x="23978" y="7611"/>
                    <a:pt x="25732" y="18007"/>
                  </a:cubicBezTo>
                </a:path>
                <a:path w="25732" h="21600" stroke="0" extrusionOk="0">
                  <a:moveTo>
                    <a:pt x="-1" y="459"/>
                  </a:moveTo>
                  <a:cubicBezTo>
                    <a:pt x="1457" y="154"/>
                    <a:pt x="2943" y="-1"/>
                    <a:pt x="4433" y="0"/>
                  </a:cubicBezTo>
                  <a:cubicBezTo>
                    <a:pt x="14976" y="0"/>
                    <a:pt x="23978" y="7611"/>
                    <a:pt x="25732" y="18007"/>
                  </a:cubicBezTo>
                  <a:lnTo>
                    <a:pt x="4433" y="21600"/>
                  </a:lnTo>
                  <a:lnTo>
                    <a:pt x="-1" y="459"/>
                  </a:lnTo>
                  <a:close/>
                </a:path>
              </a:pathLst>
            </a:custGeom>
            <a:noFill/>
            <a:ln w="28575">
              <a:solidFill>
                <a:srgbClr val="0000FF"/>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6005" name="Text Box 53"/>
          <p:cNvSpPr txBox="1">
            <a:spLocks noChangeArrowheads="1"/>
          </p:cNvSpPr>
          <p:nvPr/>
        </p:nvSpPr>
        <p:spPr bwMode="auto">
          <a:xfrm>
            <a:off x="566738" y="4156075"/>
            <a:ext cx="80772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lang="zh-CN" altLang="en-US">
                <a:solidFill>
                  <a:srgbClr val="CC0000"/>
                </a:solidFill>
              </a:rPr>
              <a:t>        折射光 </a:t>
            </a:r>
            <a:r>
              <a:rPr lang="zh-CN" altLang="en-US">
                <a:solidFill>
                  <a:srgbClr val="000000"/>
                </a:solidFill>
              </a:rPr>
              <a:t>为</a:t>
            </a:r>
            <a:r>
              <a:rPr lang="zh-CN" altLang="en-US">
                <a:solidFill>
                  <a:srgbClr val="0000FF"/>
                </a:solidFill>
              </a:rPr>
              <a:t>部分偏振光</a:t>
            </a:r>
            <a:r>
              <a:rPr lang="zh-CN" altLang="en-US">
                <a:solidFill>
                  <a:srgbClr val="000000"/>
                </a:solidFill>
              </a:rPr>
              <a:t>，平行于入射面的振动大于垂直于入射面的振动 </a:t>
            </a:r>
            <a:r>
              <a:rPr lang="en-US" altLang="zh-CN">
                <a:solidFill>
                  <a:srgbClr val="000000"/>
                </a:solidFill>
              </a:rPr>
              <a:t>.</a:t>
            </a:r>
          </a:p>
        </p:txBody>
      </p:sp>
      <p:sp>
        <p:nvSpPr>
          <p:cNvPr id="126006" name="Text Box 54"/>
          <p:cNvSpPr txBox="1">
            <a:spLocks noChangeArrowheads="1"/>
          </p:cNvSpPr>
          <p:nvPr/>
        </p:nvSpPr>
        <p:spPr bwMode="auto">
          <a:xfrm>
            <a:off x="566738" y="5191125"/>
            <a:ext cx="81534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lang="zh-CN" altLang="en-US">
                <a:solidFill>
                  <a:srgbClr val="CC0000"/>
                </a:solidFill>
              </a:rPr>
              <a:t>        理论和实验证明</a:t>
            </a:r>
            <a:r>
              <a:rPr lang="zh-CN" altLang="en-US">
                <a:solidFill>
                  <a:srgbClr val="000000"/>
                </a:solidFill>
              </a:rPr>
              <a:t>：反射光的偏振化程度与入射角有关 </a:t>
            </a:r>
            <a:r>
              <a:rPr lang="en-US" altLang="zh-CN">
                <a:solidFill>
                  <a:srgbClr val="000000"/>
                </a:solidFill>
              </a:rPr>
              <a:t>.</a:t>
            </a:r>
          </a:p>
        </p:txBody>
      </p:sp>
      <p:sp>
        <p:nvSpPr>
          <p:cNvPr id="14352" name="Text Box 2"/>
          <p:cNvSpPr txBox="1">
            <a:spLocks noChangeArrowheads="1"/>
          </p:cNvSpPr>
          <p:nvPr/>
        </p:nvSpPr>
        <p:spPr bwMode="auto">
          <a:xfrm>
            <a:off x="314325" y="430213"/>
            <a:ext cx="3465513" cy="60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lang="zh-CN" altLang="en-US">
                <a:solidFill>
                  <a:srgbClr val="0000FF"/>
                </a:solidFill>
              </a:rPr>
              <a:t>四、布儒斯特定律</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125974"/>
                                        </p:tgtEl>
                                        <p:attrNameLst>
                                          <p:attrName>style.visibility</p:attrName>
                                        </p:attrNameLst>
                                      </p:cBhvr>
                                      <p:to>
                                        <p:strVal val="visible"/>
                                      </p:to>
                                    </p:set>
                                    <p:animEffect transition="in" filter="strips(downRight)">
                                      <p:cBhvr>
                                        <p:cTn id="7" dur="500"/>
                                        <p:tgtEl>
                                          <p:spTgt spid="1259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125960"/>
                                        </p:tgtEl>
                                        <p:attrNameLst>
                                          <p:attrName>style.visibility</p:attrName>
                                        </p:attrNameLst>
                                      </p:cBhvr>
                                      <p:to>
                                        <p:strVal val="visible"/>
                                      </p:to>
                                    </p:set>
                                    <p:animEffect transition="in" filter="strips(upRight)">
                                      <p:cBhvr>
                                        <p:cTn id="12" dur="500"/>
                                        <p:tgtEl>
                                          <p:spTgt spid="1259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125988"/>
                                        </p:tgtEl>
                                        <p:attrNameLst>
                                          <p:attrName>style.visibility</p:attrName>
                                        </p:attrNameLst>
                                      </p:cBhvr>
                                      <p:to>
                                        <p:strVal val="visible"/>
                                      </p:to>
                                    </p:set>
                                    <p:animEffect transition="in" filter="strips(downRight)">
                                      <p:cBhvr>
                                        <p:cTn id="17" dur="500"/>
                                        <p:tgtEl>
                                          <p:spTgt spid="125988"/>
                                        </p:tgtEl>
                                      </p:cBhvr>
                                    </p:animEffect>
                                  </p:childTnLst>
                                </p:cTn>
                              </p:par>
                              <p:par>
                                <p:cTn id="18" presetID="4" presetClass="entr" presetSubtype="16" fill="hold" nodeType="withEffect">
                                  <p:stCondLst>
                                    <p:cond delay="0"/>
                                  </p:stCondLst>
                                  <p:childTnLst>
                                    <p:set>
                                      <p:cBhvr>
                                        <p:cTn id="19" dur="1" fill="hold">
                                          <p:stCondLst>
                                            <p:cond delay="0"/>
                                          </p:stCondLst>
                                        </p:cTn>
                                        <p:tgtEl>
                                          <p:spTgt spid="126001"/>
                                        </p:tgtEl>
                                        <p:attrNameLst>
                                          <p:attrName>style.visibility</p:attrName>
                                        </p:attrNameLst>
                                      </p:cBhvr>
                                      <p:to>
                                        <p:strVal val="visible"/>
                                      </p:to>
                                    </p:set>
                                    <p:animEffect transition="in" filter="box(in)">
                                      <p:cBhvr>
                                        <p:cTn id="20" dur="500"/>
                                        <p:tgtEl>
                                          <p:spTgt spid="12600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5" fill="hold" grpId="0" nodeType="clickEffect">
                                  <p:stCondLst>
                                    <p:cond delay="0"/>
                                  </p:stCondLst>
                                  <p:childTnLst>
                                    <p:set>
                                      <p:cBhvr>
                                        <p:cTn id="24" dur="1" fill="hold">
                                          <p:stCondLst>
                                            <p:cond delay="0"/>
                                          </p:stCondLst>
                                        </p:cTn>
                                        <p:tgtEl>
                                          <p:spTgt spid="125955"/>
                                        </p:tgtEl>
                                        <p:attrNameLst>
                                          <p:attrName>style.visibility</p:attrName>
                                        </p:attrNameLst>
                                      </p:cBhvr>
                                      <p:to>
                                        <p:strVal val="visible"/>
                                      </p:to>
                                    </p:set>
                                    <p:animEffect transition="in" filter="blinds(vertical)">
                                      <p:cBhvr>
                                        <p:cTn id="25" dur="500"/>
                                        <p:tgtEl>
                                          <p:spTgt spid="12595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5" fill="hold" grpId="0" nodeType="clickEffect">
                                  <p:stCondLst>
                                    <p:cond delay="0"/>
                                  </p:stCondLst>
                                  <p:childTnLst>
                                    <p:set>
                                      <p:cBhvr>
                                        <p:cTn id="29" dur="1" fill="hold">
                                          <p:stCondLst>
                                            <p:cond delay="0"/>
                                          </p:stCondLst>
                                        </p:cTn>
                                        <p:tgtEl>
                                          <p:spTgt spid="126005"/>
                                        </p:tgtEl>
                                        <p:attrNameLst>
                                          <p:attrName>style.visibility</p:attrName>
                                        </p:attrNameLst>
                                      </p:cBhvr>
                                      <p:to>
                                        <p:strVal val="visible"/>
                                      </p:to>
                                    </p:set>
                                    <p:animEffect transition="in" filter="blinds(vertical)">
                                      <p:cBhvr>
                                        <p:cTn id="30" dur="500"/>
                                        <p:tgtEl>
                                          <p:spTgt spid="12600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26006"/>
                                        </p:tgtEl>
                                        <p:attrNameLst>
                                          <p:attrName>style.visibility</p:attrName>
                                        </p:attrNameLst>
                                      </p:cBhvr>
                                      <p:to>
                                        <p:strVal val="visible"/>
                                      </p:to>
                                    </p:set>
                                    <p:animEffect transition="in" filter="blinds(horizontal)">
                                      <p:cBhvr>
                                        <p:cTn id="35" dur="500"/>
                                        <p:tgtEl>
                                          <p:spTgt spid="126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autoUpdateAnimBg="0"/>
      <p:bldP spid="126005" grpId="0" autoUpdateAnimBg="0"/>
      <p:bldP spid="12600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fld id="{F92C092D-BDA6-4AB8-9D5F-F73FDCC34A76}" type="slidenum">
              <a:rPr lang="zh-CN" altLang="en-US" sz="1400" b="0" smtClean="0">
                <a:solidFill>
                  <a:schemeClr val="bg2"/>
                </a:solidFill>
              </a:rPr>
              <a:pPr/>
              <a:t>12</a:t>
            </a:fld>
            <a:endParaRPr lang="en-US" altLang="zh-CN" sz="1400" b="0" smtClean="0">
              <a:solidFill>
                <a:schemeClr val="bg2"/>
              </a:solidFill>
            </a:endParaRPr>
          </a:p>
        </p:txBody>
      </p:sp>
      <p:grpSp>
        <p:nvGrpSpPr>
          <p:cNvPr id="128109" name="Group 109"/>
          <p:cNvGrpSpPr>
            <a:grpSpLocks/>
          </p:cNvGrpSpPr>
          <p:nvPr/>
        </p:nvGrpSpPr>
        <p:grpSpPr bwMode="auto">
          <a:xfrm>
            <a:off x="792163" y="1314450"/>
            <a:ext cx="7924800" cy="2339975"/>
            <a:chOff x="499" y="828"/>
            <a:chExt cx="4992" cy="1474"/>
          </a:xfrm>
        </p:grpSpPr>
        <p:sp>
          <p:nvSpPr>
            <p:cNvPr id="15420" name="Text Box 3"/>
            <p:cNvSpPr txBox="1">
              <a:spLocks noChangeArrowheads="1"/>
            </p:cNvSpPr>
            <p:nvPr/>
          </p:nvSpPr>
          <p:spPr bwMode="auto">
            <a:xfrm>
              <a:off x="499" y="1625"/>
              <a:ext cx="4992"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90000"/>
                </a:lnSpc>
                <a:spcBef>
                  <a:spcPct val="50000"/>
                </a:spcBef>
              </a:pPr>
              <a:r>
                <a:rPr lang="zh-CN" altLang="en-US">
                  <a:solidFill>
                    <a:srgbClr val="000000"/>
                  </a:solidFill>
                </a:rPr>
                <a:t>反射光为</a:t>
              </a:r>
              <a:r>
                <a:rPr lang="zh-CN" altLang="en-US">
                  <a:solidFill>
                    <a:srgbClr val="CC0000"/>
                  </a:solidFill>
                </a:rPr>
                <a:t>完全</a:t>
              </a:r>
              <a:r>
                <a:rPr lang="zh-CN" altLang="en-US">
                  <a:solidFill>
                    <a:srgbClr val="000000"/>
                  </a:solidFill>
                </a:rPr>
                <a:t>偏振光，</a:t>
              </a:r>
            </a:p>
            <a:p>
              <a:pPr eaLnBrk="1" hangingPunct="1">
                <a:lnSpc>
                  <a:spcPct val="90000"/>
                </a:lnSpc>
                <a:spcBef>
                  <a:spcPct val="50000"/>
                </a:spcBef>
              </a:pPr>
              <a:r>
                <a:rPr lang="zh-CN" altLang="en-US">
                  <a:solidFill>
                    <a:srgbClr val="000000"/>
                  </a:solidFill>
                </a:rPr>
                <a:t>且振动面垂直入射面，折射光为</a:t>
              </a:r>
              <a:r>
                <a:rPr lang="zh-CN" altLang="en-US">
                  <a:solidFill>
                    <a:srgbClr val="CC0000"/>
                  </a:solidFill>
                </a:rPr>
                <a:t>部分</a:t>
              </a:r>
              <a:r>
                <a:rPr lang="zh-CN" altLang="en-US">
                  <a:solidFill>
                    <a:srgbClr val="000000"/>
                  </a:solidFill>
                </a:rPr>
                <a:t>偏振光．</a:t>
              </a:r>
            </a:p>
          </p:txBody>
        </p:sp>
        <p:grpSp>
          <p:nvGrpSpPr>
            <p:cNvPr id="15421" name="Group 50"/>
            <p:cNvGrpSpPr>
              <a:grpSpLocks/>
            </p:cNvGrpSpPr>
            <p:nvPr/>
          </p:nvGrpSpPr>
          <p:grpSpPr bwMode="auto">
            <a:xfrm>
              <a:off x="810" y="828"/>
              <a:ext cx="2400" cy="692"/>
              <a:chOff x="300" y="969"/>
              <a:chExt cx="2400" cy="692"/>
            </a:xfrm>
          </p:grpSpPr>
          <p:graphicFrame>
            <p:nvGraphicFramePr>
              <p:cNvPr id="15422" name="Object 4"/>
              <p:cNvGraphicFramePr>
                <a:graphicFrameLocks noChangeAspect="1"/>
              </p:cNvGraphicFramePr>
              <p:nvPr/>
            </p:nvGraphicFramePr>
            <p:xfrm>
              <a:off x="669" y="969"/>
              <a:ext cx="1228" cy="692"/>
            </p:xfrm>
            <a:graphic>
              <a:graphicData uri="http://schemas.openxmlformats.org/presentationml/2006/ole">
                <mc:AlternateContent xmlns:mc="http://schemas.openxmlformats.org/markup-compatibility/2006">
                  <mc:Choice xmlns:v="urn:schemas-microsoft-com:vml" Requires="v">
                    <p:oleObj spid="_x0000_s15424" name="Equation" r:id="rId3" imgW="1091726" imgH="672808" progId="Equation.3">
                      <p:embed/>
                    </p:oleObj>
                  </mc:Choice>
                  <mc:Fallback>
                    <p:oleObj name="Equation" r:id="rId3" imgW="1091726" imgH="672808"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 y="969"/>
                            <a:ext cx="1228" cy="692"/>
                          </a:xfrm>
                          <a:prstGeom prst="rect">
                            <a:avLst/>
                          </a:prstGeom>
                          <a:gradFill rotWithShape="0">
                            <a:gsLst>
                              <a:gs pos="0">
                                <a:schemeClr val="accent1"/>
                              </a:gs>
                              <a:gs pos="50000">
                                <a:srgbClr val="FFFFFF"/>
                              </a:gs>
                              <a:gs pos="100000">
                                <a:schemeClr val="accent1"/>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23" name="Text Box 5"/>
              <p:cNvSpPr txBox="1">
                <a:spLocks noChangeArrowheads="1"/>
              </p:cNvSpPr>
              <p:nvPr/>
            </p:nvSpPr>
            <p:spPr bwMode="auto">
              <a:xfrm>
                <a:off x="300" y="1083"/>
                <a:ext cx="2400"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lang="zh-CN" altLang="en-US">
                    <a:solidFill>
                      <a:srgbClr val="000000"/>
                    </a:solidFill>
                  </a:rPr>
                  <a:t>当                         时，</a:t>
                </a:r>
              </a:p>
            </p:txBody>
          </p:sp>
        </p:grpSp>
      </p:grpSp>
      <p:grpSp>
        <p:nvGrpSpPr>
          <p:cNvPr id="15364" name="Group 108"/>
          <p:cNvGrpSpPr>
            <a:grpSpLocks/>
          </p:cNvGrpSpPr>
          <p:nvPr/>
        </p:nvGrpSpPr>
        <p:grpSpPr bwMode="auto">
          <a:xfrm>
            <a:off x="4616450" y="323850"/>
            <a:ext cx="3886200" cy="2806700"/>
            <a:chOff x="2908" y="204"/>
            <a:chExt cx="2448" cy="1768"/>
          </a:xfrm>
        </p:grpSpPr>
        <p:sp>
          <p:nvSpPr>
            <p:cNvPr id="15376" name="Rectangle 51"/>
            <p:cNvSpPr>
              <a:spLocks noChangeArrowheads="1"/>
            </p:cNvSpPr>
            <p:nvPr/>
          </p:nvSpPr>
          <p:spPr bwMode="auto">
            <a:xfrm>
              <a:off x="2908" y="204"/>
              <a:ext cx="2304" cy="175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377" name="Text Box 52"/>
            <p:cNvSpPr txBox="1">
              <a:spLocks noChangeArrowheads="1"/>
            </p:cNvSpPr>
            <p:nvPr/>
          </p:nvSpPr>
          <p:spPr bwMode="auto">
            <a:xfrm>
              <a:off x="4540" y="675"/>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1C1C1C"/>
                  </a:solidFill>
                </a:rPr>
                <a:t>空气</a:t>
              </a:r>
            </a:p>
          </p:txBody>
        </p:sp>
        <p:grpSp>
          <p:nvGrpSpPr>
            <p:cNvPr id="15378" name="Group 107"/>
            <p:cNvGrpSpPr>
              <a:grpSpLocks/>
            </p:cNvGrpSpPr>
            <p:nvPr/>
          </p:nvGrpSpPr>
          <p:grpSpPr bwMode="auto">
            <a:xfrm>
              <a:off x="3965" y="361"/>
              <a:ext cx="1297" cy="602"/>
              <a:chOff x="3965" y="361"/>
              <a:chExt cx="1297" cy="602"/>
            </a:xfrm>
          </p:grpSpPr>
          <p:sp>
            <p:nvSpPr>
              <p:cNvPr id="15411" name="Line 54"/>
              <p:cNvSpPr>
                <a:spLocks noChangeShapeType="1"/>
              </p:cNvSpPr>
              <p:nvPr/>
            </p:nvSpPr>
            <p:spPr bwMode="auto">
              <a:xfrm rot="-2153489">
                <a:off x="3965" y="648"/>
                <a:ext cx="1297" cy="14"/>
              </a:xfrm>
              <a:prstGeom prst="line">
                <a:avLst/>
              </a:prstGeom>
              <a:noFill/>
              <a:ln w="28575">
                <a:solidFill>
                  <a:srgbClr val="FF33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2" name="Oval 57"/>
              <p:cNvSpPr>
                <a:spLocks noChangeArrowheads="1"/>
              </p:cNvSpPr>
              <p:nvPr/>
            </p:nvSpPr>
            <p:spPr bwMode="auto">
              <a:xfrm rot="-2153489">
                <a:off x="4181" y="900"/>
                <a:ext cx="64" cy="63"/>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413" name="Oval 58"/>
              <p:cNvSpPr>
                <a:spLocks noChangeArrowheads="1"/>
              </p:cNvSpPr>
              <p:nvPr/>
            </p:nvSpPr>
            <p:spPr bwMode="auto">
              <a:xfrm rot="-2153489">
                <a:off x="4337" y="787"/>
                <a:ext cx="64" cy="63"/>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414" name="Oval 59"/>
              <p:cNvSpPr>
                <a:spLocks noChangeArrowheads="1"/>
              </p:cNvSpPr>
              <p:nvPr/>
            </p:nvSpPr>
            <p:spPr bwMode="auto">
              <a:xfrm rot="-2153489">
                <a:off x="4493" y="675"/>
                <a:ext cx="64" cy="63"/>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415" name="Oval 60"/>
              <p:cNvSpPr>
                <a:spLocks noChangeArrowheads="1"/>
              </p:cNvSpPr>
              <p:nvPr/>
            </p:nvSpPr>
            <p:spPr bwMode="auto">
              <a:xfrm rot="-2153489">
                <a:off x="4648" y="562"/>
                <a:ext cx="64" cy="63"/>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416" name="Oval 61"/>
              <p:cNvSpPr>
                <a:spLocks noChangeArrowheads="1"/>
              </p:cNvSpPr>
              <p:nvPr/>
            </p:nvSpPr>
            <p:spPr bwMode="auto">
              <a:xfrm rot="-2153489">
                <a:off x="4805" y="449"/>
                <a:ext cx="64" cy="63"/>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417" name="Oval 62"/>
              <p:cNvSpPr>
                <a:spLocks noChangeArrowheads="1"/>
              </p:cNvSpPr>
              <p:nvPr/>
            </p:nvSpPr>
            <p:spPr bwMode="auto">
              <a:xfrm rot="-2153489">
                <a:off x="4931" y="361"/>
                <a:ext cx="64" cy="63"/>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418" name="Arc 63"/>
              <p:cNvSpPr>
                <a:spLocks/>
              </p:cNvSpPr>
              <p:nvPr/>
            </p:nvSpPr>
            <p:spPr bwMode="auto">
              <a:xfrm rot="9220608" flipH="1" flipV="1">
                <a:off x="4126" y="617"/>
                <a:ext cx="171" cy="295"/>
              </a:xfrm>
              <a:custGeom>
                <a:avLst/>
                <a:gdLst>
                  <a:gd name="T0" fmla="*/ 0 w 28807"/>
                  <a:gd name="T1" fmla="*/ 13 h 28693"/>
                  <a:gd name="T2" fmla="*/ 164 w 28807"/>
                  <a:gd name="T3" fmla="*/ 295 h 28693"/>
                  <a:gd name="T4" fmla="*/ 43 w 28807"/>
                  <a:gd name="T5" fmla="*/ 222 h 28693"/>
                  <a:gd name="T6" fmla="*/ 0 60000 65536"/>
                  <a:gd name="T7" fmla="*/ 0 60000 65536"/>
                  <a:gd name="T8" fmla="*/ 0 60000 65536"/>
                </a:gdLst>
                <a:ahLst/>
                <a:cxnLst>
                  <a:cxn ang="T6">
                    <a:pos x="T0" y="T1"/>
                  </a:cxn>
                  <a:cxn ang="T7">
                    <a:pos x="T2" y="T3"/>
                  </a:cxn>
                  <a:cxn ang="T8">
                    <a:pos x="T4" y="T5"/>
                  </a:cxn>
                </a:cxnLst>
                <a:rect l="0" t="0" r="r" b="b"/>
                <a:pathLst>
                  <a:path w="28807" h="28693" fill="none" extrusionOk="0">
                    <a:moveTo>
                      <a:pt x="-1" y="1237"/>
                    </a:moveTo>
                    <a:cubicBezTo>
                      <a:pt x="2314" y="418"/>
                      <a:pt x="4751" y="-1"/>
                      <a:pt x="7207" y="0"/>
                    </a:cubicBezTo>
                    <a:cubicBezTo>
                      <a:pt x="19136" y="0"/>
                      <a:pt x="28807" y="9670"/>
                      <a:pt x="28807" y="21600"/>
                    </a:cubicBezTo>
                    <a:cubicBezTo>
                      <a:pt x="28807" y="24014"/>
                      <a:pt x="28402" y="26412"/>
                      <a:pt x="27609" y="28693"/>
                    </a:cubicBezTo>
                  </a:path>
                  <a:path w="28807" h="28693" stroke="0" extrusionOk="0">
                    <a:moveTo>
                      <a:pt x="-1" y="1237"/>
                    </a:moveTo>
                    <a:cubicBezTo>
                      <a:pt x="2314" y="418"/>
                      <a:pt x="4751" y="-1"/>
                      <a:pt x="7207" y="0"/>
                    </a:cubicBezTo>
                    <a:cubicBezTo>
                      <a:pt x="19136" y="0"/>
                      <a:pt x="28807" y="9670"/>
                      <a:pt x="28807" y="21600"/>
                    </a:cubicBezTo>
                    <a:cubicBezTo>
                      <a:pt x="28807" y="24014"/>
                      <a:pt x="28402" y="26412"/>
                      <a:pt x="27609" y="28693"/>
                    </a:cubicBezTo>
                    <a:lnTo>
                      <a:pt x="7207" y="21600"/>
                    </a:lnTo>
                    <a:lnTo>
                      <a:pt x="-1" y="1237"/>
                    </a:lnTo>
                    <a:close/>
                  </a:path>
                </a:pathLst>
              </a:custGeom>
              <a:noFill/>
              <a:ln w="28575">
                <a:solidFill>
                  <a:srgbClr val="FF00FF"/>
                </a:solidFill>
                <a:round/>
                <a:headEnd/>
                <a:tailEnd type="none" w="sm" len="lg"/>
              </a:ln>
              <a:effectLst/>
              <a:extLst>
                <a:ext uri="{909E8E84-426E-40DD-AFC4-6F175D3DCCD1}">
                  <a14:hiddenFill xmlns:a14="http://schemas.microsoft.com/office/drawing/2010/main">
                    <a:solidFill>
                      <a:srgbClr val="FF33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5419" name="Object 64"/>
              <p:cNvGraphicFramePr>
                <a:graphicFrameLocks noChangeAspect="1"/>
              </p:cNvGraphicFramePr>
              <p:nvPr/>
            </p:nvGraphicFramePr>
            <p:xfrm>
              <a:off x="4139" y="361"/>
              <a:ext cx="195" cy="336"/>
            </p:xfrm>
            <a:graphic>
              <a:graphicData uri="http://schemas.openxmlformats.org/presentationml/2006/ole">
                <mc:AlternateContent xmlns:mc="http://schemas.openxmlformats.org/markup-compatibility/2006">
                  <mc:Choice xmlns:v="urn:schemas-microsoft-com:vml" Requires="v">
                    <p:oleObj spid="_x0000_s15425" name="公式" r:id="rId5" imgW="139700" imgH="228600" progId="Equation.3">
                      <p:embed/>
                    </p:oleObj>
                  </mc:Choice>
                  <mc:Fallback>
                    <p:oleObj name="公式" r:id="rId5" imgW="139700" imgH="228600" progId="Equation.3">
                      <p:embed/>
                      <p:pic>
                        <p:nvPicPr>
                          <p:cNvPr id="0" name="Object 6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9" y="361"/>
                            <a:ext cx="195"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5379" name="Line 65"/>
            <p:cNvSpPr>
              <a:spLocks noChangeShapeType="1"/>
            </p:cNvSpPr>
            <p:nvPr/>
          </p:nvSpPr>
          <p:spPr bwMode="auto">
            <a:xfrm flipH="1">
              <a:off x="4060" y="223"/>
              <a:ext cx="7" cy="1536"/>
            </a:xfrm>
            <a:prstGeom prst="line">
              <a:avLst/>
            </a:prstGeom>
            <a:noFill/>
            <a:ln w="19050">
              <a:solidFill>
                <a:schemeClr val="tx1"/>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5380" name="Object 66"/>
            <p:cNvGraphicFramePr>
              <a:graphicFrameLocks noChangeAspect="1"/>
            </p:cNvGraphicFramePr>
            <p:nvPr/>
          </p:nvGraphicFramePr>
          <p:xfrm>
            <a:off x="3237" y="627"/>
            <a:ext cx="277" cy="387"/>
          </p:xfrm>
          <a:graphic>
            <a:graphicData uri="http://schemas.openxmlformats.org/presentationml/2006/ole">
              <mc:AlternateContent xmlns:mc="http://schemas.openxmlformats.org/markup-compatibility/2006">
                <mc:Choice xmlns:v="urn:schemas-microsoft-com:vml" Requires="v">
                  <p:oleObj spid="_x0000_s15426" name="Equation" r:id="rId7" imgW="228501" imgH="317362" progId="Equation.3">
                    <p:embed/>
                  </p:oleObj>
                </mc:Choice>
                <mc:Fallback>
                  <p:oleObj name="Equation" r:id="rId7" imgW="228501" imgH="317362" progId="Equation.3">
                    <p:embed/>
                    <p:pic>
                      <p:nvPicPr>
                        <p:cNvPr id="0" name="Object 6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7" y="627"/>
                          <a:ext cx="277" cy="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381" name="Group 67"/>
            <p:cNvGrpSpPr>
              <a:grpSpLocks/>
            </p:cNvGrpSpPr>
            <p:nvPr/>
          </p:nvGrpSpPr>
          <p:grpSpPr bwMode="auto">
            <a:xfrm>
              <a:off x="2908" y="319"/>
              <a:ext cx="1250" cy="713"/>
              <a:chOff x="432" y="864"/>
              <a:chExt cx="1250" cy="713"/>
            </a:xfrm>
          </p:grpSpPr>
          <p:sp>
            <p:nvSpPr>
              <p:cNvPr id="15398" name="Line 68"/>
              <p:cNvSpPr>
                <a:spLocks noChangeShapeType="1"/>
              </p:cNvSpPr>
              <p:nvPr/>
            </p:nvSpPr>
            <p:spPr bwMode="auto">
              <a:xfrm rot="2031746">
                <a:off x="432" y="1198"/>
                <a:ext cx="1250" cy="0"/>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9" name="Line 69"/>
              <p:cNvSpPr>
                <a:spLocks noChangeShapeType="1"/>
              </p:cNvSpPr>
              <p:nvPr/>
            </p:nvSpPr>
            <p:spPr bwMode="auto">
              <a:xfrm rot="2031746">
                <a:off x="762" y="874"/>
                <a:ext cx="0" cy="251"/>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0" name="Line 70"/>
              <p:cNvSpPr>
                <a:spLocks noChangeShapeType="1"/>
              </p:cNvSpPr>
              <p:nvPr/>
            </p:nvSpPr>
            <p:spPr bwMode="auto">
              <a:xfrm rot="2031746">
                <a:off x="930" y="987"/>
                <a:ext cx="0" cy="251"/>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1" name="Line 71"/>
              <p:cNvSpPr>
                <a:spLocks noChangeShapeType="1"/>
              </p:cNvSpPr>
              <p:nvPr/>
            </p:nvSpPr>
            <p:spPr bwMode="auto">
              <a:xfrm rot="2031746">
                <a:off x="1099" y="1100"/>
                <a:ext cx="0" cy="251"/>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2" name="Line 72"/>
              <p:cNvSpPr>
                <a:spLocks noChangeShapeType="1"/>
              </p:cNvSpPr>
              <p:nvPr/>
            </p:nvSpPr>
            <p:spPr bwMode="auto">
              <a:xfrm rot="2031746">
                <a:off x="1267" y="1212"/>
                <a:ext cx="0" cy="251"/>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3" name="Line 73"/>
              <p:cNvSpPr>
                <a:spLocks noChangeShapeType="1"/>
              </p:cNvSpPr>
              <p:nvPr/>
            </p:nvSpPr>
            <p:spPr bwMode="auto">
              <a:xfrm rot="2031746">
                <a:off x="1435" y="1326"/>
                <a:ext cx="0" cy="251"/>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4" name="Oval 74"/>
              <p:cNvSpPr>
                <a:spLocks noChangeArrowheads="1"/>
              </p:cNvSpPr>
              <p:nvPr/>
            </p:nvSpPr>
            <p:spPr bwMode="auto">
              <a:xfrm rot="2031746">
                <a:off x="644" y="911"/>
                <a:ext cx="68"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405" name="Oval 75"/>
              <p:cNvSpPr>
                <a:spLocks noChangeArrowheads="1"/>
              </p:cNvSpPr>
              <p:nvPr/>
            </p:nvSpPr>
            <p:spPr bwMode="auto">
              <a:xfrm rot="2031746">
                <a:off x="812" y="1025"/>
                <a:ext cx="67"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406" name="Oval 76"/>
              <p:cNvSpPr>
                <a:spLocks noChangeArrowheads="1"/>
              </p:cNvSpPr>
              <p:nvPr/>
            </p:nvSpPr>
            <p:spPr bwMode="auto">
              <a:xfrm rot="2031746">
                <a:off x="981" y="1138"/>
                <a:ext cx="67"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407" name="Oval 77"/>
              <p:cNvSpPr>
                <a:spLocks noChangeArrowheads="1"/>
              </p:cNvSpPr>
              <p:nvPr/>
            </p:nvSpPr>
            <p:spPr bwMode="auto">
              <a:xfrm rot="2031746">
                <a:off x="1149" y="1250"/>
                <a:ext cx="68"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408" name="Oval 78"/>
              <p:cNvSpPr>
                <a:spLocks noChangeArrowheads="1"/>
              </p:cNvSpPr>
              <p:nvPr/>
            </p:nvSpPr>
            <p:spPr bwMode="auto">
              <a:xfrm rot="2031746">
                <a:off x="1317" y="1363"/>
                <a:ext cx="68"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aphicFrame>
            <p:nvGraphicFramePr>
              <p:cNvPr id="15409" name="Object 79"/>
              <p:cNvGraphicFramePr>
                <a:graphicFrameLocks noChangeAspect="1"/>
              </p:cNvGraphicFramePr>
              <p:nvPr/>
            </p:nvGraphicFramePr>
            <p:xfrm>
              <a:off x="1333" y="864"/>
              <a:ext cx="196" cy="336"/>
            </p:xfrm>
            <a:graphic>
              <a:graphicData uri="http://schemas.openxmlformats.org/presentationml/2006/ole">
                <mc:AlternateContent xmlns:mc="http://schemas.openxmlformats.org/markup-compatibility/2006">
                  <mc:Choice xmlns:v="urn:schemas-microsoft-com:vml" Requires="v">
                    <p:oleObj spid="_x0000_s15427" name="公式" r:id="rId9" imgW="139700" imgH="228600" progId="Equation.3">
                      <p:embed/>
                    </p:oleObj>
                  </mc:Choice>
                  <mc:Fallback>
                    <p:oleObj name="公式" r:id="rId9" imgW="139700" imgH="228600" progId="Equation.3">
                      <p:embed/>
                      <p:pic>
                        <p:nvPicPr>
                          <p:cNvPr id="0" name="Object 7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33" y="864"/>
                            <a:ext cx="196" cy="336"/>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10" name="Arc 80"/>
              <p:cNvSpPr>
                <a:spLocks/>
              </p:cNvSpPr>
              <p:nvPr/>
            </p:nvSpPr>
            <p:spPr bwMode="auto">
              <a:xfrm rot="11107907" flipV="1">
                <a:off x="1344" y="1152"/>
                <a:ext cx="252" cy="240"/>
              </a:xfrm>
              <a:custGeom>
                <a:avLst/>
                <a:gdLst>
                  <a:gd name="T0" fmla="*/ 0 w 28807"/>
                  <a:gd name="T1" fmla="*/ 11 h 27893"/>
                  <a:gd name="T2" fmla="*/ 244 w 28807"/>
                  <a:gd name="T3" fmla="*/ 240 h 27893"/>
                  <a:gd name="T4" fmla="*/ 63 w 28807"/>
                  <a:gd name="T5" fmla="*/ 186 h 27893"/>
                  <a:gd name="T6" fmla="*/ 0 60000 65536"/>
                  <a:gd name="T7" fmla="*/ 0 60000 65536"/>
                  <a:gd name="T8" fmla="*/ 0 60000 65536"/>
                </a:gdLst>
                <a:ahLst/>
                <a:cxnLst>
                  <a:cxn ang="T6">
                    <a:pos x="T0" y="T1"/>
                  </a:cxn>
                  <a:cxn ang="T7">
                    <a:pos x="T2" y="T3"/>
                  </a:cxn>
                  <a:cxn ang="T8">
                    <a:pos x="T4" y="T5"/>
                  </a:cxn>
                </a:cxnLst>
                <a:rect l="0" t="0" r="r" b="b"/>
                <a:pathLst>
                  <a:path w="28807" h="27893" fill="none" extrusionOk="0">
                    <a:moveTo>
                      <a:pt x="-1" y="1237"/>
                    </a:moveTo>
                    <a:cubicBezTo>
                      <a:pt x="2314" y="418"/>
                      <a:pt x="4751" y="-1"/>
                      <a:pt x="7207" y="0"/>
                    </a:cubicBezTo>
                    <a:cubicBezTo>
                      <a:pt x="19136" y="0"/>
                      <a:pt x="28807" y="9670"/>
                      <a:pt x="28807" y="21600"/>
                    </a:cubicBezTo>
                    <a:cubicBezTo>
                      <a:pt x="28807" y="23732"/>
                      <a:pt x="28491" y="25853"/>
                      <a:pt x="27869" y="27892"/>
                    </a:cubicBezTo>
                  </a:path>
                  <a:path w="28807" h="27893" stroke="0" extrusionOk="0">
                    <a:moveTo>
                      <a:pt x="-1" y="1237"/>
                    </a:moveTo>
                    <a:cubicBezTo>
                      <a:pt x="2314" y="418"/>
                      <a:pt x="4751" y="-1"/>
                      <a:pt x="7207" y="0"/>
                    </a:cubicBezTo>
                    <a:cubicBezTo>
                      <a:pt x="19136" y="0"/>
                      <a:pt x="28807" y="9670"/>
                      <a:pt x="28807" y="21600"/>
                    </a:cubicBezTo>
                    <a:cubicBezTo>
                      <a:pt x="28807" y="23732"/>
                      <a:pt x="28491" y="25853"/>
                      <a:pt x="27869" y="27892"/>
                    </a:cubicBezTo>
                    <a:lnTo>
                      <a:pt x="7207" y="21600"/>
                    </a:lnTo>
                    <a:lnTo>
                      <a:pt x="-1" y="1237"/>
                    </a:lnTo>
                    <a:close/>
                  </a:path>
                </a:pathLst>
              </a:custGeom>
              <a:noFill/>
              <a:ln w="28575">
                <a:solidFill>
                  <a:srgbClr val="9966FF"/>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382" name="Group 81"/>
            <p:cNvGrpSpPr>
              <a:grpSpLocks/>
            </p:cNvGrpSpPr>
            <p:nvPr/>
          </p:nvGrpSpPr>
          <p:grpSpPr bwMode="auto">
            <a:xfrm>
              <a:off x="4108" y="882"/>
              <a:ext cx="495" cy="1090"/>
              <a:chOff x="1488" y="1551"/>
              <a:chExt cx="495" cy="1090"/>
            </a:xfrm>
          </p:grpSpPr>
          <p:sp>
            <p:nvSpPr>
              <p:cNvPr id="15390" name="Line 82"/>
              <p:cNvSpPr>
                <a:spLocks noChangeShapeType="1"/>
              </p:cNvSpPr>
              <p:nvPr/>
            </p:nvSpPr>
            <p:spPr bwMode="auto">
              <a:xfrm rot="2782562">
                <a:off x="1231" y="2043"/>
                <a:ext cx="1090" cy="106"/>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1" name="Line 83"/>
              <p:cNvSpPr>
                <a:spLocks noChangeShapeType="1"/>
              </p:cNvSpPr>
              <p:nvPr/>
            </p:nvSpPr>
            <p:spPr bwMode="auto">
              <a:xfrm rot="2782562" flipV="1">
                <a:off x="1602" y="1808"/>
                <a:ext cx="12" cy="144"/>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2" name="Line 84"/>
              <p:cNvSpPr>
                <a:spLocks noChangeShapeType="1"/>
              </p:cNvSpPr>
              <p:nvPr/>
            </p:nvSpPr>
            <p:spPr bwMode="auto">
              <a:xfrm rot="2782562">
                <a:off x="1717" y="1930"/>
                <a:ext cx="0" cy="144"/>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3" name="Line 85"/>
              <p:cNvSpPr>
                <a:spLocks noChangeShapeType="1"/>
              </p:cNvSpPr>
              <p:nvPr/>
            </p:nvSpPr>
            <p:spPr bwMode="auto">
              <a:xfrm rot="2782562" flipV="1">
                <a:off x="1831" y="2093"/>
                <a:ext cx="8" cy="147"/>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4" name="Oval 86"/>
              <p:cNvSpPr>
                <a:spLocks noChangeArrowheads="1"/>
              </p:cNvSpPr>
              <p:nvPr/>
            </p:nvSpPr>
            <p:spPr bwMode="auto">
              <a:xfrm rot="2782562">
                <a:off x="1488" y="1756"/>
                <a:ext cx="64"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395" name="Oval 87"/>
              <p:cNvSpPr>
                <a:spLocks noChangeArrowheads="1"/>
              </p:cNvSpPr>
              <p:nvPr/>
            </p:nvSpPr>
            <p:spPr bwMode="auto">
              <a:xfrm rot="2782562">
                <a:off x="1728" y="2044"/>
                <a:ext cx="64"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396" name="Oval 88"/>
              <p:cNvSpPr>
                <a:spLocks noChangeArrowheads="1"/>
              </p:cNvSpPr>
              <p:nvPr/>
            </p:nvSpPr>
            <p:spPr bwMode="auto">
              <a:xfrm rot="2782562">
                <a:off x="1920" y="2284"/>
                <a:ext cx="64" cy="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397" name="Line 89"/>
              <p:cNvSpPr>
                <a:spLocks noChangeShapeType="1"/>
              </p:cNvSpPr>
              <p:nvPr/>
            </p:nvSpPr>
            <p:spPr bwMode="auto">
              <a:xfrm rot="2782562" flipV="1">
                <a:off x="1894" y="2166"/>
                <a:ext cx="8" cy="147"/>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383" name="Group 90"/>
            <p:cNvGrpSpPr>
              <a:grpSpLocks/>
            </p:cNvGrpSpPr>
            <p:nvPr/>
          </p:nvGrpSpPr>
          <p:grpSpPr bwMode="auto">
            <a:xfrm>
              <a:off x="3196" y="1011"/>
              <a:ext cx="1776" cy="912"/>
              <a:chOff x="576" y="1680"/>
              <a:chExt cx="1776" cy="912"/>
            </a:xfrm>
          </p:grpSpPr>
          <p:sp>
            <p:nvSpPr>
              <p:cNvPr id="15387" name="Rectangle 91"/>
              <p:cNvSpPr>
                <a:spLocks noChangeArrowheads="1"/>
              </p:cNvSpPr>
              <p:nvPr/>
            </p:nvSpPr>
            <p:spPr bwMode="auto">
              <a:xfrm>
                <a:off x="576" y="1680"/>
                <a:ext cx="1776" cy="912"/>
              </a:xfrm>
              <a:prstGeom prst="rect">
                <a:avLst/>
              </a:prstGeom>
              <a:solidFill>
                <a:srgbClr val="C5FFFF">
                  <a:alpha val="29019"/>
                </a:srgbClr>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a:p>
                <a:pPr algn="ctr" eaLnBrk="1" hangingPunct="1"/>
                <a:endParaRPr lang="zh-CN" altLang="en-US">
                  <a:solidFill>
                    <a:srgbClr val="1C1C1C"/>
                  </a:solidFill>
                </a:endParaRPr>
              </a:p>
            </p:txBody>
          </p:sp>
          <p:sp>
            <p:nvSpPr>
              <p:cNvPr id="15388" name="Text Box 92"/>
              <p:cNvSpPr txBox="1">
                <a:spLocks noChangeArrowheads="1"/>
              </p:cNvSpPr>
              <p:nvPr/>
            </p:nvSpPr>
            <p:spPr bwMode="auto">
              <a:xfrm>
                <a:off x="576" y="2256"/>
                <a:ext cx="80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000066"/>
                    </a:solidFill>
                  </a:rPr>
                  <a:t>玻璃</a:t>
                </a:r>
              </a:p>
            </p:txBody>
          </p:sp>
          <p:graphicFrame>
            <p:nvGraphicFramePr>
              <p:cNvPr id="15389" name="Object 93"/>
              <p:cNvGraphicFramePr>
                <a:graphicFrameLocks noChangeAspect="1"/>
              </p:cNvGraphicFramePr>
              <p:nvPr/>
            </p:nvGraphicFramePr>
            <p:xfrm>
              <a:off x="617" y="1728"/>
              <a:ext cx="309" cy="387"/>
            </p:xfrm>
            <a:graphic>
              <a:graphicData uri="http://schemas.openxmlformats.org/presentationml/2006/ole">
                <mc:AlternateContent xmlns:mc="http://schemas.openxmlformats.org/markup-compatibility/2006">
                  <mc:Choice xmlns:v="urn:schemas-microsoft-com:vml" Requires="v">
                    <p:oleObj spid="_x0000_s15428" name="Equation" r:id="rId11" imgW="253780" imgH="317225" progId="Equation.3">
                      <p:embed/>
                    </p:oleObj>
                  </mc:Choice>
                  <mc:Fallback>
                    <p:oleObj name="Equation" r:id="rId11" imgW="253780" imgH="317225" progId="Equation.3">
                      <p:embed/>
                      <p:pic>
                        <p:nvPicPr>
                          <p:cNvPr id="0" name="Object 9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7" y="1728"/>
                            <a:ext cx="309" cy="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5384" name="Group 94"/>
            <p:cNvGrpSpPr>
              <a:grpSpLocks/>
            </p:cNvGrpSpPr>
            <p:nvPr/>
          </p:nvGrpSpPr>
          <p:grpSpPr bwMode="auto">
            <a:xfrm>
              <a:off x="4060" y="1183"/>
              <a:ext cx="237" cy="455"/>
              <a:chOff x="1440" y="1852"/>
              <a:chExt cx="237" cy="455"/>
            </a:xfrm>
          </p:grpSpPr>
          <p:graphicFrame>
            <p:nvGraphicFramePr>
              <p:cNvPr id="15385" name="Object 95"/>
              <p:cNvGraphicFramePr>
                <a:graphicFrameLocks noChangeAspect="1"/>
              </p:cNvGraphicFramePr>
              <p:nvPr/>
            </p:nvGraphicFramePr>
            <p:xfrm>
              <a:off x="1488" y="2044"/>
              <a:ext cx="189" cy="263"/>
            </p:xfrm>
            <a:graphic>
              <a:graphicData uri="http://schemas.openxmlformats.org/presentationml/2006/ole">
                <mc:AlternateContent xmlns:mc="http://schemas.openxmlformats.org/markup-compatibility/2006">
                  <mc:Choice xmlns:v="urn:schemas-microsoft-com:vml" Requires="v">
                    <p:oleObj spid="_x0000_s15429" name="公式" r:id="rId13" imgW="177646" imgH="241091" progId="Equation.3">
                      <p:embed/>
                    </p:oleObj>
                  </mc:Choice>
                  <mc:Fallback>
                    <p:oleObj name="公式" r:id="rId13" imgW="177646" imgH="241091" progId="Equation.3">
                      <p:embed/>
                      <p:pic>
                        <p:nvPicPr>
                          <p:cNvPr id="0" name="Object 9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88" y="2044"/>
                            <a:ext cx="189"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86" name="Arc 96"/>
              <p:cNvSpPr>
                <a:spLocks/>
              </p:cNvSpPr>
              <p:nvPr/>
            </p:nvSpPr>
            <p:spPr bwMode="auto">
              <a:xfrm rot="11414303" flipH="1">
                <a:off x="1440" y="1852"/>
                <a:ext cx="184" cy="144"/>
              </a:xfrm>
              <a:custGeom>
                <a:avLst/>
                <a:gdLst>
                  <a:gd name="T0" fmla="*/ 0 w 25732"/>
                  <a:gd name="T1" fmla="*/ 3 h 21600"/>
                  <a:gd name="T2" fmla="*/ 184 w 25732"/>
                  <a:gd name="T3" fmla="*/ 120 h 21600"/>
                  <a:gd name="T4" fmla="*/ 32 w 25732"/>
                  <a:gd name="T5" fmla="*/ 144 h 21600"/>
                  <a:gd name="T6" fmla="*/ 0 60000 65536"/>
                  <a:gd name="T7" fmla="*/ 0 60000 65536"/>
                  <a:gd name="T8" fmla="*/ 0 60000 65536"/>
                </a:gdLst>
                <a:ahLst/>
                <a:cxnLst>
                  <a:cxn ang="T6">
                    <a:pos x="T0" y="T1"/>
                  </a:cxn>
                  <a:cxn ang="T7">
                    <a:pos x="T2" y="T3"/>
                  </a:cxn>
                  <a:cxn ang="T8">
                    <a:pos x="T4" y="T5"/>
                  </a:cxn>
                </a:cxnLst>
                <a:rect l="0" t="0" r="r" b="b"/>
                <a:pathLst>
                  <a:path w="25732" h="21600" fill="none" extrusionOk="0">
                    <a:moveTo>
                      <a:pt x="-1" y="459"/>
                    </a:moveTo>
                    <a:cubicBezTo>
                      <a:pt x="1457" y="154"/>
                      <a:pt x="2943" y="-1"/>
                      <a:pt x="4433" y="0"/>
                    </a:cubicBezTo>
                    <a:cubicBezTo>
                      <a:pt x="14976" y="0"/>
                      <a:pt x="23978" y="7611"/>
                      <a:pt x="25732" y="18007"/>
                    </a:cubicBezTo>
                  </a:path>
                  <a:path w="25732" h="21600" stroke="0" extrusionOk="0">
                    <a:moveTo>
                      <a:pt x="-1" y="459"/>
                    </a:moveTo>
                    <a:cubicBezTo>
                      <a:pt x="1457" y="154"/>
                      <a:pt x="2943" y="-1"/>
                      <a:pt x="4433" y="0"/>
                    </a:cubicBezTo>
                    <a:cubicBezTo>
                      <a:pt x="14976" y="0"/>
                      <a:pt x="23978" y="7611"/>
                      <a:pt x="25732" y="18007"/>
                    </a:cubicBezTo>
                    <a:lnTo>
                      <a:pt x="4433" y="21600"/>
                    </a:lnTo>
                    <a:lnTo>
                      <a:pt x="-1" y="459"/>
                    </a:lnTo>
                    <a:close/>
                  </a:path>
                </a:pathLst>
              </a:custGeom>
              <a:noFill/>
              <a:ln w="28575">
                <a:solidFill>
                  <a:srgbClr val="0000FF"/>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aphicFrame>
        <p:nvGraphicFramePr>
          <p:cNvPr id="128099" name="Object 99"/>
          <p:cNvGraphicFramePr>
            <a:graphicFrameLocks noChangeAspect="1"/>
          </p:cNvGraphicFramePr>
          <p:nvPr/>
        </p:nvGraphicFramePr>
        <p:xfrm>
          <a:off x="971550" y="4508500"/>
          <a:ext cx="1306513" cy="887413"/>
        </p:xfrm>
        <a:graphic>
          <a:graphicData uri="http://schemas.openxmlformats.org/presentationml/2006/ole">
            <mc:AlternateContent xmlns:mc="http://schemas.openxmlformats.org/markup-compatibility/2006">
              <mc:Choice xmlns:v="urn:schemas-microsoft-com:vml" Requires="v">
                <p:oleObj spid="_x0000_s15430" name="公式" r:id="rId15" imgW="710891" imgH="444307" progId="Equation.3">
                  <p:embed/>
                </p:oleObj>
              </mc:Choice>
              <mc:Fallback>
                <p:oleObj name="公式" r:id="rId15" imgW="710891" imgH="444307" progId="Equation.3">
                  <p:embed/>
                  <p:pic>
                    <p:nvPicPr>
                      <p:cNvPr id="0" name="Object 9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71550" y="4508500"/>
                        <a:ext cx="1306513"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100" name="Object 100"/>
          <p:cNvGraphicFramePr>
            <a:graphicFrameLocks noChangeAspect="1"/>
          </p:cNvGraphicFramePr>
          <p:nvPr/>
        </p:nvGraphicFramePr>
        <p:xfrm>
          <a:off x="971550" y="5454650"/>
          <a:ext cx="2251075" cy="887413"/>
        </p:xfrm>
        <a:graphic>
          <a:graphicData uri="http://schemas.openxmlformats.org/presentationml/2006/ole">
            <mc:AlternateContent xmlns:mc="http://schemas.openxmlformats.org/markup-compatibility/2006">
              <mc:Choice xmlns:v="urn:schemas-microsoft-com:vml" Requires="v">
                <p:oleObj spid="_x0000_s15431" name="公式" r:id="rId17" imgW="1218671" imgH="444307" progId="Equation.3">
                  <p:embed/>
                </p:oleObj>
              </mc:Choice>
              <mc:Fallback>
                <p:oleObj name="公式" r:id="rId17" imgW="1218671" imgH="444307" progId="Equation.3">
                  <p:embed/>
                  <p:pic>
                    <p:nvPicPr>
                      <p:cNvPr id="0" name="Object 10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71550" y="5454650"/>
                        <a:ext cx="2251075"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102" name="Object 102"/>
          <p:cNvGraphicFramePr>
            <a:graphicFrameLocks noChangeAspect="1"/>
          </p:cNvGraphicFramePr>
          <p:nvPr/>
        </p:nvGraphicFramePr>
        <p:xfrm>
          <a:off x="6913563" y="4857750"/>
          <a:ext cx="1574800" cy="811213"/>
        </p:xfrm>
        <a:graphic>
          <a:graphicData uri="http://schemas.openxmlformats.org/presentationml/2006/ole">
            <mc:AlternateContent xmlns:mc="http://schemas.openxmlformats.org/markup-compatibility/2006">
              <mc:Choice xmlns:v="urn:schemas-microsoft-com:vml" Requires="v">
                <p:oleObj spid="_x0000_s15432" name="公式" r:id="rId19" imgW="787058" imgH="406224" progId="Equation.3">
                  <p:embed/>
                </p:oleObj>
              </mc:Choice>
              <mc:Fallback>
                <p:oleObj name="公式" r:id="rId19" imgW="787058" imgH="406224" progId="Equation.3">
                  <p:embed/>
                  <p:pic>
                    <p:nvPicPr>
                      <p:cNvPr id="0" name="Object 10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913563" y="4857750"/>
                        <a:ext cx="1574800" cy="811213"/>
                      </a:xfrm>
                      <a:prstGeom prst="rect">
                        <a:avLst/>
                      </a:prstGeom>
                      <a:gradFill rotWithShape="0">
                        <a:gsLst>
                          <a:gs pos="0">
                            <a:schemeClr val="accent1"/>
                          </a:gs>
                          <a:gs pos="50000">
                            <a:srgbClr val="FFFFFF"/>
                          </a:gs>
                          <a:gs pos="100000">
                            <a:schemeClr val="accent1"/>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8111" name="Group 111"/>
          <p:cNvGrpSpPr>
            <a:grpSpLocks/>
          </p:cNvGrpSpPr>
          <p:nvPr/>
        </p:nvGrpSpPr>
        <p:grpSpPr bwMode="auto">
          <a:xfrm>
            <a:off x="960438" y="3698875"/>
            <a:ext cx="6864350" cy="685800"/>
            <a:chOff x="605" y="2330"/>
            <a:chExt cx="4324" cy="432"/>
          </a:xfrm>
        </p:grpSpPr>
        <p:sp>
          <p:nvSpPr>
            <p:cNvPr id="15372" name="Text Box 98"/>
            <p:cNvSpPr txBox="1">
              <a:spLocks noChangeArrowheads="1"/>
            </p:cNvSpPr>
            <p:nvPr/>
          </p:nvSpPr>
          <p:spPr bwMode="auto">
            <a:xfrm>
              <a:off x="1377" y="2343"/>
              <a:ext cx="35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CC0000"/>
                  </a:solidFill>
                </a:rPr>
                <a:t>  反射光和折射光互相垂直？</a:t>
              </a:r>
              <a:endParaRPr lang="en-US" altLang="zh-CN">
                <a:solidFill>
                  <a:srgbClr val="CC0000"/>
                </a:solidFill>
              </a:endParaRPr>
            </a:p>
          </p:txBody>
        </p:sp>
        <p:grpSp>
          <p:nvGrpSpPr>
            <p:cNvPr id="15373" name="Group 103"/>
            <p:cNvGrpSpPr>
              <a:grpSpLocks/>
            </p:cNvGrpSpPr>
            <p:nvPr/>
          </p:nvGrpSpPr>
          <p:grpSpPr bwMode="auto">
            <a:xfrm>
              <a:off x="605" y="2330"/>
              <a:ext cx="943" cy="432"/>
              <a:chOff x="520" y="864"/>
              <a:chExt cx="943" cy="432"/>
            </a:xfrm>
          </p:grpSpPr>
          <p:sp>
            <p:nvSpPr>
              <p:cNvPr id="15374" name="AutoShape 104"/>
              <p:cNvSpPr>
                <a:spLocks noChangeArrowheads="1"/>
              </p:cNvSpPr>
              <p:nvPr/>
            </p:nvSpPr>
            <p:spPr bwMode="auto">
              <a:xfrm>
                <a:off x="520" y="864"/>
                <a:ext cx="672" cy="432"/>
              </a:xfrm>
              <a:prstGeom prst="horizontalScroll">
                <a:avLst>
                  <a:gd name="adj" fmla="val 12500"/>
                </a:avLst>
              </a:prstGeom>
              <a:solidFill>
                <a:srgbClr val="FF99CC">
                  <a:alpha val="34117"/>
                </a:srgbClr>
              </a:solidFill>
              <a:ln w="9525">
                <a:solidFill>
                  <a:schemeClr val="tx1"/>
                </a:solidFill>
                <a:round/>
                <a:headEnd/>
                <a:tailEnd/>
              </a:ln>
              <a:effectLst/>
              <a:extLst>
                <a:ext uri="{AF507438-7753-43E0-B8FC-AC1667EBCBE1}">
                  <a14:hiddenEffects xmlns:a14="http://schemas.microsoft.com/office/drawing/2010/main">
                    <a:effectLst>
                      <a:outerShdw dist="107763" dir="13500000" algn="ctr" rotWithShape="0">
                        <a:schemeClr val="tx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5375" name="Text Box 105"/>
              <p:cNvSpPr txBox="1">
                <a:spLocks noChangeArrowheads="1"/>
              </p:cNvSpPr>
              <p:nvPr/>
            </p:nvSpPr>
            <p:spPr bwMode="auto">
              <a:xfrm>
                <a:off x="599" y="897"/>
                <a:ext cx="8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000000"/>
                    </a:solidFill>
                  </a:rPr>
                  <a:t>讨论</a:t>
                </a:r>
              </a:p>
            </p:txBody>
          </p:sp>
        </p:grpSp>
      </p:grpSp>
      <p:grpSp>
        <p:nvGrpSpPr>
          <p:cNvPr id="128110" name="Group 110"/>
          <p:cNvGrpSpPr>
            <a:grpSpLocks/>
          </p:cNvGrpSpPr>
          <p:nvPr/>
        </p:nvGrpSpPr>
        <p:grpSpPr bwMode="auto">
          <a:xfrm>
            <a:off x="3222625" y="4676775"/>
            <a:ext cx="3195638" cy="1260475"/>
            <a:chOff x="2030" y="2946"/>
            <a:chExt cx="2013" cy="794"/>
          </a:xfrm>
        </p:grpSpPr>
        <p:graphicFrame>
          <p:nvGraphicFramePr>
            <p:cNvPr id="15370" name="Object 101"/>
            <p:cNvGraphicFramePr>
              <a:graphicFrameLocks noChangeAspect="1"/>
            </p:cNvGraphicFramePr>
            <p:nvPr/>
          </p:nvGraphicFramePr>
          <p:xfrm>
            <a:off x="2143" y="3060"/>
            <a:ext cx="1900" cy="511"/>
          </p:xfrm>
          <a:graphic>
            <a:graphicData uri="http://schemas.openxmlformats.org/presentationml/2006/ole">
              <mc:AlternateContent xmlns:mc="http://schemas.openxmlformats.org/markup-compatibility/2006">
                <mc:Choice xmlns:v="urn:schemas-microsoft-com:vml" Requires="v">
                  <p:oleObj spid="_x0000_s15433" name="公式" r:id="rId21" imgW="1624895" imgH="406224" progId="Equation.3">
                    <p:embed/>
                  </p:oleObj>
                </mc:Choice>
                <mc:Fallback>
                  <p:oleObj name="公式" r:id="rId21" imgW="1624895" imgH="406224" progId="Equation.3">
                    <p:embed/>
                    <p:pic>
                      <p:nvPicPr>
                        <p:cNvPr id="0" name="Object 10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43" y="3060"/>
                          <a:ext cx="1900" cy="5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1" name="AutoShape 106"/>
            <p:cNvSpPr>
              <a:spLocks/>
            </p:cNvSpPr>
            <p:nvPr/>
          </p:nvSpPr>
          <p:spPr bwMode="auto">
            <a:xfrm>
              <a:off x="2030" y="2946"/>
              <a:ext cx="113" cy="794"/>
            </a:xfrm>
            <a:prstGeom prst="rightBrace">
              <a:avLst>
                <a:gd name="adj1" fmla="val 118671"/>
                <a:gd name="adj2" fmla="val 50074"/>
              </a:avLst>
            </a:pr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8109"/>
                                        </p:tgtEl>
                                        <p:attrNameLst>
                                          <p:attrName>style.visibility</p:attrName>
                                        </p:attrNameLst>
                                      </p:cBhvr>
                                      <p:to>
                                        <p:strVal val="visible"/>
                                      </p:to>
                                    </p:set>
                                    <p:animEffect transition="in" filter="wipe(left)">
                                      <p:cBhvr>
                                        <p:cTn id="7" dur="500"/>
                                        <p:tgtEl>
                                          <p:spTgt spid="1281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8111"/>
                                        </p:tgtEl>
                                        <p:attrNameLst>
                                          <p:attrName>style.visibility</p:attrName>
                                        </p:attrNameLst>
                                      </p:cBhvr>
                                      <p:to>
                                        <p:strVal val="visible"/>
                                      </p:to>
                                    </p:set>
                                    <p:animEffect transition="in" filter="wipe(left)">
                                      <p:cBhvr>
                                        <p:cTn id="12" dur="500"/>
                                        <p:tgtEl>
                                          <p:spTgt spid="1281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128099"/>
                                        </p:tgtEl>
                                        <p:attrNameLst>
                                          <p:attrName>style.visibility</p:attrName>
                                        </p:attrNameLst>
                                      </p:cBhvr>
                                      <p:to>
                                        <p:strVal val="visible"/>
                                      </p:to>
                                    </p:set>
                                    <p:animEffect transition="in" filter="blinds(vertical)">
                                      <p:cBhvr>
                                        <p:cTn id="17" dur="500"/>
                                        <p:tgtEl>
                                          <p:spTgt spid="1280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nodeType="clickEffect">
                                  <p:stCondLst>
                                    <p:cond delay="0"/>
                                  </p:stCondLst>
                                  <p:childTnLst>
                                    <p:set>
                                      <p:cBhvr>
                                        <p:cTn id="21" dur="1" fill="hold">
                                          <p:stCondLst>
                                            <p:cond delay="0"/>
                                          </p:stCondLst>
                                        </p:cTn>
                                        <p:tgtEl>
                                          <p:spTgt spid="128100"/>
                                        </p:tgtEl>
                                        <p:attrNameLst>
                                          <p:attrName>style.visibility</p:attrName>
                                        </p:attrNameLst>
                                      </p:cBhvr>
                                      <p:to>
                                        <p:strVal val="visible"/>
                                      </p:to>
                                    </p:set>
                                    <p:animEffect transition="in" filter="blinds(vertical)">
                                      <p:cBhvr>
                                        <p:cTn id="22" dur="500"/>
                                        <p:tgtEl>
                                          <p:spTgt spid="1281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28110"/>
                                        </p:tgtEl>
                                        <p:attrNameLst>
                                          <p:attrName>style.visibility</p:attrName>
                                        </p:attrNameLst>
                                      </p:cBhvr>
                                      <p:to>
                                        <p:strVal val="visible"/>
                                      </p:to>
                                    </p:set>
                                    <p:animEffect transition="in" filter="wipe(left)">
                                      <p:cBhvr>
                                        <p:cTn id="27" dur="500"/>
                                        <p:tgtEl>
                                          <p:spTgt spid="1281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28102"/>
                                        </p:tgtEl>
                                        <p:attrNameLst>
                                          <p:attrName>style.visibility</p:attrName>
                                        </p:attrNameLst>
                                      </p:cBhvr>
                                      <p:to>
                                        <p:strVal val="visible"/>
                                      </p:to>
                                    </p:set>
                                    <p:animEffect transition="in" filter="blinds(horizontal)">
                                      <p:cBhvr>
                                        <p:cTn id="32" dur="500"/>
                                        <p:tgtEl>
                                          <p:spTgt spid="128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fld id="{414E9A64-887F-4905-A1D5-91C58B01B904}" type="slidenum">
              <a:rPr lang="zh-CN" altLang="en-US" sz="1400" b="0" smtClean="0">
                <a:solidFill>
                  <a:schemeClr val="bg2"/>
                </a:solidFill>
              </a:rPr>
              <a:pPr/>
              <a:t>13</a:t>
            </a:fld>
            <a:endParaRPr lang="en-US" altLang="zh-CN" sz="1400" b="0" smtClean="0">
              <a:solidFill>
                <a:schemeClr val="bg2"/>
              </a:solidFill>
            </a:endParaRPr>
          </a:p>
        </p:txBody>
      </p:sp>
      <p:sp>
        <p:nvSpPr>
          <p:cNvPr id="16387" name="Text Box 5"/>
          <p:cNvSpPr txBox="1">
            <a:spLocks noChangeArrowheads="1"/>
          </p:cNvSpPr>
          <p:nvPr/>
        </p:nvSpPr>
        <p:spPr bwMode="auto">
          <a:xfrm>
            <a:off x="611188" y="1106488"/>
            <a:ext cx="82296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lang="zh-CN" altLang="en-US">
                <a:solidFill>
                  <a:srgbClr val="1C1C1C"/>
                </a:solidFill>
              </a:rPr>
              <a:t>        对于一般的光学玻璃 </a:t>
            </a:r>
            <a:r>
              <a:rPr lang="en-US" altLang="zh-CN">
                <a:solidFill>
                  <a:srgbClr val="1C1C1C"/>
                </a:solidFill>
              </a:rPr>
              <a:t>,  </a:t>
            </a:r>
            <a:r>
              <a:rPr lang="zh-CN" altLang="en-US">
                <a:solidFill>
                  <a:srgbClr val="1C1C1C"/>
                </a:solidFill>
              </a:rPr>
              <a:t>反射光的强度约占入射光强度的</a:t>
            </a:r>
            <a:r>
              <a:rPr lang="en-US" altLang="zh-CN">
                <a:solidFill>
                  <a:srgbClr val="1C1C1C"/>
                </a:solidFill>
              </a:rPr>
              <a:t>7.5% , </a:t>
            </a:r>
            <a:r>
              <a:rPr lang="zh-CN" altLang="en-US">
                <a:solidFill>
                  <a:srgbClr val="1C1C1C"/>
                </a:solidFill>
              </a:rPr>
              <a:t>大部分光将透过玻璃</a:t>
            </a:r>
            <a:r>
              <a:rPr lang="en-US" altLang="zh-CN">
                <a:solidFill>
                  <a:srgbClr val="1C1C1C"/>
                </a:solidFill>
              </a:rPr>
              <a:t>.</a:t>
            </a:r>
          </a:p>
        </p:txBody>
      </p:sp>
      <p:grpSp>
        <p:nvGrpSpPr>
          <p:cNvPr id="131078" name="Group 6"/>
          <p:cNvGrpSpPr>
            <a:grpSpLocks/>
          </p:cNvGrpSpPr>
          <p:nvPr/>
        </p:nvGrpSpPr>
        <p:grpSpPr bwMode="auto">
          <a:xfrm>
            <a:off x="960438" y="2359025"/>
            <a:ext cx="7391400" cy="3635375"/>
            <a:chOff x="480" y="1584"/>
            <a:chExt cx="4800" cy="2400"/>
          </a:xfrm>
        </p:grpSpPr>
        <p:grpSp>
          <p:nvGrpSpPr>
            <p:cNvPr id="16390" name="Group 7"/>
            <p:cNvGrpSpPr>
              <a:grpSpLocks/>
            </p:cNvGrpSpPr>
            <p:nvPr/>
          </p:nvGrpSpPr>
          <p:grpSpPr bwMode="auto">
            <a:xfrm>
              <a:off x="480" y="1584"/>
              <a:ext cx="4800" cy="2400"/>
              <a:chOff x="480" y="1584"/>
              <a:chExt cx="4800" cy="2400"/>
            </a:xfrm>
          </p:grpSpPr>
          <p:sp>
            <p:nvSpPr>
              <p:cNvPr id="16393" name="Rectangle 8"/>
              <p:cNvSpPr>
                <a:spLocks noChangeArrowheads="1"/>
              </p:cNvSpPr>
              <p:nvPr/>
            </p:nvSpPr>
            <p:spPr bwMode="auto">
              <a:xfrm>
                <a:off x="480" y="1584"/>
                <a:ext cx="4800" cy="2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31081" name="Text Box 9"/>
              <p:cNvSpPr txBox="1">
                <a:spLocks noChangeArrowheads="1"/>
              </p:cNvSpPr>
              <p:nvPr/>
            </p:nvSpPr>
            <p:spPr bwMode="auto">
              <a:xfrm>
                <a:off x="960" y="1584"/>
                <a:ext cx="3839" cy="349"/>
              </a:xfrm>
              <a:prstGeom prst="rect">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defRPr/>
                </a:pPr>
                <a:r>
                  <a:rPr lang="zh-CN" altLang="en-US">
                    <a:solidFill>
                      <a:srgbClr val="1C1C1C"/>
                    </a:solidFill>
                  </a:rPr>
                  <a:t>利用</a:t>
                </a:r>
                <a:r>
                  <a:rPr lang="zh-CN" altLang="en-US">
                    <a:solidFill>
                      <a:srgbClr val="CC0000"/>
                    </a:solidFill>
                  </a:rPr>
                  <a:t>玻璃片堆</a:t>
                </a:r>
                <a:r>
                  <a:rPr lang="zh-CN" altLang="en-US">
                    <a:solidFill>
                      <a:srgbClr val="1C1C1C"/>
                    </a:solidFill>
                  </a:rPr>
                  <a:t>产生</a:t>
                </a:r>
                <a:r>
                  <a:rPr lang="zh-CN" altLang="en-US">
                    <a:solidFill>
                      <a:srgbClr val="CC0000"/>
                    </a:solidFill>
                  </a:rPr>
                  <a:t>线</a:t>
                </a:r>
                <a:r>
                  <a:rPr lang="zh-CN" altLang="en-US">
                    <a:solidFill>
                      <a:srgbClr val="1C1C1C"/>
                    </a:solidFill>
                  </a:rPr>
                  <a:t>偏振光</a:t>
                </a:r>
              </a:p>
            </p:txBody>
          </p:sp>
          <p:sp>
            <p:nvSpPr>
              <p:cNvPr id="16395" name="Line 10"/>
              <p:cNvSpPr>
                <a:spLocks noChangeShapeType="1"/>
              </p:cNvSpPr>
              <p:nvPr/>
            </p:nvSpPr>
            <p:spPr bwMode="auto">
              <a:xfrm>
                <a:off x="1056" y="2208"/>
                <a:ext cx="864" cy="432"/>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396" name="Line 11"/>
              <p:cNvSpPr>
                <a:spLocks noChangeShapeType="1"/>
              </p:cNvSpPr>
              <p:nvPr/>
            </p:nvSpPr>
            <p:spPr bwMode="auto">
              <a:xfrm>
                <a:off x="1920" y="2016"/>
                <a:ext cx="0" cy="960"/>
              </a:xfrm>
              <a:prstGeom prst="line">
                <a:avLst/>
              </a:prstGeom>
              <a:noFill/>
              <a:ln w="1905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397" name="Line 12"/>
              <p:cNvSpPr>
                <a:spLocks noChangeShapeType="1"/>
              </p:cNvSpPr>
              <p:nvPr/>
            </p:nvSpPr>
            <p:spPr bwMode="auto">
              <a:xfrm flipH="1">
                <a:off x="1248" y="2256"/>
                <a:ext cx="96" cy="14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398" name="Line 13"/>
              <p:cNvSpPr>
                <a:spLocks noChangeShapeType="1"/>
              </p:cNvSpPr>
              <p:nvPr/>
            </p:nvSpPr>
            <p:spPr bwMode="auto">
              <a:xfrm flipH="1">
                <a:off x="1440" y="2352"/>
                <a:ext cx="96" cy="14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399" name="Line 14"/>
              <p:cNvSpPr>
                <a:spLocks noChangeShapeType="1"/>
              </p:cNvSpPr>
              <p:nvPr/>
            </p:nvSpPr>
            <p:spPr bwMode="auto">
              <a:xfrm flipH="1">
                <a:off x="1895" y="2688"/>
                <a:ext cx="144" cy="96"/>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00" name="Line 15"/>
              <p:cNvSpPr>
                <a:spLocks noChangeShapeType="1"/>
              </p:cNvSpPr>
              <p:nvPr/>
            </p:nvSpPr>
            <p:spPr bwMode="auto">
              <a:xfrm flipH="1">
                <a:off x="1632" y="2448"/>
                <a:ext cx="96" cy="14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01" name="Oval 16"/>
              <p:cNvSpPr>
                <a:spLocks noChangeArrowheads="1"/>
              </p:cNvSpPr>
              <p:nvPr/>
            </p:nvSpPr>
            <p:spPr bwMode="auto">
              <a:xfrm>
                <a:off x="1344" y="2352"/>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02" name="Oval 17"/>
              <p:cNvSpPr>
                <a:spLocks noChangeArrowheads="1"/>
              </p:cNvSpPr>
              <p:nvPr/>
            </p:nvSpPr>
            <p:spPr bwMode="auto">
              <a:xfrm>
                <a:off x="1536" y="2448"/>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03" name="Oval 18"/>
              <p:cNvSpPr>
                <a:spLocks noChangeArrowheads="1"/>
              </p:cNvSpPr>
              <p:nvPr/>
            </p:nvSpPr>
            <p:spPr bwMode="auto">
              <a:xfrm>
                <a:off x="1152" y="2256"/>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pSp>
            <p:nvGrpSpPr>
              <p:cNvPr id="16404" name="Group 19"/>
              <p:cNvGrpSpPr>
                <a:grpSpLocks/>
              </p:cNvGrpSpPr>
              <p:nvPr/>
            </p:nvGrpSpPr>
            <p:grpSpPr bwMode="auto">
              <a:xfrm>
                <a:off x="1920" y="2256"/>
                <a:ext cx="816" cy="384"/>
                <a:chOff x="3312" y="1296"/>
                <a:chExt cx="816" cy="384"/>
              </a:xfrm>
            </p:grpSpPr>
            <p:sp>
              <p:nvSpPr>
                <p:cNvPr id="16468" name="Line 20"/>
                <p:cNvSpPr>
                  <a:spLocks noChangeShapeType="1"/>
                </p:cNvSpPr>
                <p:nvPr/>
              </p:nvSpPr>
              <p:spPr bwMode="auto">
                <a:xfrm flipV="1">
                  <a:off x="3312" y="1296"/>
                  <a:ext cx="816" cy="384"/>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69" name="Oval 21"/>
                <p:cNvSpPr>
                  <a:spLocks noChangeArrowheads="1"/>
                </p:cNvSpPr>
                <p:nvPr/>
              </p:nvSpPr>
              <p:spPr bwMode="auto">
                <a:xfrm>
                  <a:off x="3648" y="1488"/>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70" name="Oval 22"/>
                <p:cNvSpPr>
                  <a:spLocks noChangeArrowheads="1"/>
                </p:cNvSpPr>
                <p:nvPr/>
              </p:nvSpPr>
              <p:spPr bwMode="auto">
                <a:xfrm>
                  <a:off x="3456" y="1584"/>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71" name="Oval 23"/>
                <p:cNvSpPr>
                  <a:spLocks noChangeArrowheads="1"/>
                </p:cNvSpPr>
                <p:nvPr/>
              </p:nvSpPr>
              <p:spPr bwMode="auto">
                <a:xfrm>
                  <a:off x="3840" y="1392"/>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pSp>
          <p:sp>
            <p:nvSpPr>
              <p:cNvPr id="16405" name="Line 24"/>
              <p:cNvSpPr>
                <a:spLocks noChangeShapeType="1"/>
              </p:cNvSpPr>
              <p:nvPr/>
            </p:nvSpPr>
            <p:spPr bwMode="auto">
              <a:xfrm>
                <a:off x="1920" y="2640"/>
                <a:ext cx="192" cy="384"/>
              </a:xfrm>
              <a:prstGeom prst="line">
                <a:avLst/>
              </a:prstGeom>
              <a:noFill/>
              <a:ln w="2984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06" name="Line 25"/>
              <p:cNvSpPr>
                <a:spLocks noChangeShapeType="1"/>
              </p:cNvSpPr>
              <p:nvPr/>
            </p:nvSpPr>
            <p:spPr bwMode="auto">
              <a:xfrm flipH="1">
                <a:off x="1968" y="2832"/>
                <a:ext cx="144" cy="96"/>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6407" name="Group 26"/>
              <p:cNvGrpSpPr>
                <a:grpSpLocks/>
              </p:cNvGrpSpPr>
              <p:nvPr/>
            </p:nvGrpSpPr>
            <p:grpSpPr bwMode="auto">
              <a:xfrm>
                <a:off x="2304" y="2256"/>
                <a:ext cx="816" cy="384"/>
                <a:chOff x="3312" y="1296"/>
                <a:chExt cx="816" cy="384"/>
              </a:xfrm>
            </p:grpSpPr>
            <p:sp>
              <p:nvSpPr>
                <p:cNvPr id="16464" name="Line 27"/>
                <p:cNvSpPr>
                  <a:spLocks noChangeShapeType="1"/>
                </p:cNvSpPr>
                <p:nvPr/>
              </p:nvSpPr>
              <p:spPr bwMode="auto">
                <a:xfrm flipV="1">
                  <a:off x="3312" y="1296"/>
                  <a:ext cx="816" cy="384"/>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65" name="Oval 28"/>
                <p:cNvSpPr>
                  <a:spLocks noChangeArrowheads="1"/>
                </p:cNvSpPr>
                <p:nvPr/>
              </p:nvSpPr>
              <p:spPr bwMode="auto">
                <a:xfrm>
                  <a:off x="3648" y="1488"/>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66" name="Oval 29"/>
                <p:cNvSpPr>
                  <a:spLocks noChangeArrowheads="1"/>
                </p:cNvSpPr>
                <p:nvPr/>
              </p:nvSpPr>
              <p:spPr bwMode="auto">
                <a:xfrm>
                  <a:off x="3456" y="1584"/>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67" name="Oval 30"/>
                <p:cNvSpPr>
                  <a:spLocks noChangeArrowheads="1"/>
                </p:cNvSpPr>
                <p:nvPr/>
              </p:nvSpPr>
              <p:spPr bwMode="auto">
                <a:xfrm>
                  <a:off x="3840" y="1392"/>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pSp>
          <p:sp>
            <p:nvSpPr>
              <p:cNvPr id="16408" name="Line 31"/>
              <p:cNvSpPr>
                <a:spLocks noChangeShapeType="1"/>
              </p:cNvSpPr>
              <p:nvPr/>
            </p:nvSpPr>
            <p:spPr bwMode="auto">
              <a:xfrm flipV="1">
                <a:off x="2544" y="3024"/>
                <a:ext cx="432" cy="19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6409" name="Group 32"/>
              <p:cNvGrpSpPr>
                <a:grpSpLocks/>
              </p:cNvGrpSpPr>
              <p:nvPr/>
            </p:nvGrpSpPr>
            <p:grpSpPr bwMode="auto">
              <a:xfrm>
                <a:off x="3168" y="2256"/>
                <a:ext cx="816" cy="384"/>
                <a:chOff x="3312" y="1296"/>
                <a:chExt cx="816" cy="384"/>
              </a:xfrm>
            </p:grpSpPr>
            <p:sp>
              <p:nvSpPr>
                <p:cNvPr id="16460" name="Line 33"/>
                <p:cNvSpPr>
                  <a:spLocks noChangeShapeType="1"/>
                </p:cNvSpPr>
                <p:nvPr/>
              </p:nvSpPr>
              <p:spPr bwMode="auto">
                <a:xfrm flipV="1">
                  <a:off x="3312" y="1296"/>
                  <a:ext cx="816" cy="384"/>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61" name="Oval 34"/>
                <p:cNvSpPr>
                  <a:spLocks noChangeArrowheads="1"/>
                </p:cNvSpPr>
                <p:nvPr/>
              </p:nvSpPr>
              <p:spPr bwMode="auto">
                <a:xfrm>
                  <a:off x="3648" y="1488"/>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62" name="Oval 35"/>
                <p:cNvSpPr>
                  <a:spLocks noChangeArrowheads="1"/>
                </p:cNvSpPr>
                <p:nvPr/>
              </p:nvSpPr>
              <p:spPr bwMode="auto">
                <a:xfrm>
                  <a:off x="3456" y="1584"/>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63" name="Oval 36"/>
                <p:cNvSpPr>
                  <a:spLocks noChangeArrowheads="1"/>
                </p:cNvSpPr>
                <p:nvPr/>
              </p:nvSpPr>
              <p:spPr bwMode="auto">
                <a:xfrm>
                  <a:off x="3840" y="1392"/>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pSp>
          <p:sp>
            <p:nvSpPr>
              <p:cNvPr id="16410" name="Line 37"/>
              <p:cNvSpPr>
                <a:spLocks noChangeShapeType="1"/>
              </p:cNvSpPr>
              <p:nvPr/>
            </p:nvSpPr>
            <p:spPr bwMode="auto">
              <a:xfrm>
                <a:off x="2544" y="3216"/>
                <a:ext cx="192" cy="384"/>
              </a:xfrm>
              <a:prstGeom prst="line">
                <a:avLst/>
              </a:prstGeom>
              <a:noFill/>
              <a:ln w="2984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11" name="Line 38"/>
              <p:cNvSpPr>
                <a:spLocks noChangeShapeType="1"/>
              </p:cNvSpPr>
              <p:nvPr/>
            </p:nvSpPr>
            <p:spPr bwMode="auto">
              <a:xfrm flipV="1">
                <a:off x="2736" y="3216"/>
                <a:ext cx="192" cy="384"/>
              </a:xfrm>
              <a:prstGeom prst="line">
                <a:avLst/>
              </a:prstGeom>
              <a:noFill/>
              <a:ln w="2984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12" name="Oval 39"/>
              <p:cNvSpPr>
                <a:spLocks noChangeArrowheads="1"/>
              </p:cNvSpPr>
              <p:nvPr/>
            </p:nvSpPr>
            <p:spPr bwMode="auto">
              <a:xfrm>
                <a:off x="1968" y="2777"/>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13" name="Oval 40"/>
              <p:cNvSpPr>
                <a:spLocks noChangeArrowheads="1"/>
              </p:cNvSpPr>
              <p:nvPr/>
            </p:nvSpPr>
            <p:spPr bwMode="auto">
              <a:xfrm>
                <a:off x="2840" y="3293"/>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14" name="Line 41"/>
              <p:cNvSpPr>
                <a:spLocks noChangeShapeType="1"/>
              </p:cNvSpPr>
              <p:nvPr/>
            </p:nvSpPr>
            <p:spPr bwMode="auto">
              <a:xfrm flipV="1">
                <a:off x="2928" y="3024"/>
                <a:ext cx="432" cy="19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6415" name="Group 42"/>
              <p:cNvGrpSpPr>
                <a:grpSpLocks/>
              </p:cNvGrpSpPr>
              <p:nvPr/>
            </p:nvGrpSpPr>
            <p:grpSpPr bwMode="auto">
              <a:xfrm>
                <a:off x="3552" y="2256"/>
                <a:ext cx="816" cy="384"/>
                <a:chOff x="3312" y="1296"/>
                <a:chExt cx="816" cy="384"/>
              </a:xfrm>
            </p:grpSpPr>
            <p:sp>
              <p:nvSpPr>
                <p:cNvPr id="16456" name="Line 43"/>
                <p:cNvSpPr>
                  <a:spLocks noChangeShapeType="1"/>
                </p:cNvSpPr>
                <p:nvPr/>
              </p:nvSpPr>
              <p:spPr bwMode="auto">
                <a:xfrm flipV="1">
                  <a:off x="3312" y="1296"/>
                  <a:ext cx="816" cy="384"/>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57" name="Oval 44"/>
                <p:cNvSpPr>
                  <a:spLocks noChangeArrowheads="1"/>
                </p:cNvSpPr>
                <p:nvPr/>
              </p:nvSpPr>
              <p:spPr bwMode="auto">
                <a:xfrm>
                  <a:off x="3648" y="1488"/>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58" name="Oval 45"/>
                <p:cNvSpPr>
                  <a:spLocks noChangeArrowheads="1"/>
                </p:cNvSpPr>
                <p:nvPr/>
              </p:nvSpPr>
              <p:spPr bwMode="auto">
                <a:xfrm>
                  <a:off x="3456" y="1584"/>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59" name="Oval 46"/>
                <p:cNvSpPr>
                  <a:spLocks noChangeArrowheads="1"/>
                </p:cNvSpPr>
                <p:nvPr/>
              </p:nvSpPr>
              <p:spPr bwMode="auto">
                <a:xfrm>
                  <a:off x="3840" y="1392"/>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pSp>
          <p:sp>
            <p:nvSpPr>
              <p:cNvPr id="16416" name="Line 47"/>
              <p:cNvSpPr>
                <a:spLocks noChangeShapeType="1"/>
              </p:cNvSpPr>
              <p:nvPr/>
            </p:nvSpPr>
            <p:spPr bwMode="auto">
              <a:xfrm>
                <a:off x="2976" y="3024"/>
                <a:ext cx="144" cy="48"/>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6417" name="Group 48"/>
              <p:cNvGrpSpPr>
                <a:grpSpLocks/>
              </p:cNvGrpSpPr>
              <p:nvPr/>
            </p:nvGrpSpPr>
            <p:grpSpPr bwMode="auto">
              <a:xfrm>
                <a:off x="2976" y="2640"/>
                <a:ext cx="192" cy="384"/>
                <a:chOff x="2976" y="2640"/>
                <a:chExt cx="192" cy="384"/>
              </a:xfrm>
            </p:grpSpPr>
            <p:sp>
              <p:nvSpPr>
                <p:cNvPr id="16453" name="Line 49"/>
                <p:cNvSpPr>
                  <a:spLocks noChangeShapeType="1"/>
                </p:cNvSpPr>
                <p:nvPr/>
              </p:nvSpPr>
              <p:spPr bwMode="auto">
                <a:xfrm flipV="1">
                  <a:off x="2976" y="2640"/>
                  <a:ext cx="192" cy="384"/>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54" name="Oval 50"/>
                <p:cNvSpPr>
                  <a:spLocks noChangeArrowheads="1"/>
                </p:cNvSpPr>
                <p:nvPr/>
              </p:nvSpPr>
              <p:spPr bwMode="auto">
                <a:xfrm>
                  <a:off x="3072" y="2729"/>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55" name="Oval 51"/>
                <p:cNvSpPr>
                  <a:spLocks noChangeArrowheads="1"/>
                </p:cNvSpPr>
                <p:nvPr/>
              </p:nvSpPr>
              <p:spPr bwMode="auto">
                <a:xfrm>
                  <a:off x="3008" y="2880"/>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pSp>
          <p:grpSp>
            <p:nvGrpSpPr>
              <p:cNvPr id="16418" name="Group 52"/>
              <p:cNvGrpSpPr>
                <a:grpSpLocks/>
              </p:cNvGrpSpPr>
              <p:nvPr/>
            </p:nvGrpSpPr>
            <p:grpSpPr bwMode="auto">
              <a:xfrm>
                <a:off x="3360" y="2640"/>
                <a:ext cx="192" cy="384"/>
                <a:chOff x="2976" y="2640"/>
                <a:chExt cx="192" cy="384"/>
              </a:xfrm>
            </p:grpSpPr>
            <p:sp>
              <p:nvSpPr>
                <p:cNvPr id="16450" name="Line 53"/>
                <p:cNvSpPr>
                  <a:spLocks noChangeShapeType="1"/>
                </p:cNvSpPr>
                <p:nvPr/>
              </p:nvSpPr>
              <p:spPr bwMode="auto">
                <a:xfrm flipV="1">
                  <a:off x="2976" y="2640"/>
                  <a:ext cx="192" cy="384"/>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51" name="Oval 54"/>
                <p:cNvSpPr>
                  <a:spLocks noChangeArrowheads="1"/>
                </p:cNvSpPr>
                <p:nvPr/>
              </p:nvSpPr>
              <p:spPr bwMode="auto">
                <a:xfrm>
                  <a:off x="3072" y="2729"/>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52" name="Oval 55"/>
                <p:cNvSpPr>
                  <a:spLocks noChangeArrowheads="1"/>
                </p:cNvSpPr>
                <p:nvPr/>
              </p:nvSpPr>
              <p:spPr bwMode="auto">
                <a:xfrm>
                  <a:off x="3008" y="2880"/>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pSp>
          <p:grpSp>
            <p:nvGrpSpPr>
              <p:cNvPr id="16419" name="Group 56"/>
              <p:cNvGrpSpPr>
                <a:grpSpLocks/>
              </p:cNvGrpSpPr>
              <p:nvPr/>
            </p:nvGrpSpPr>
            <p:grpSpPr bwMode="auto">
              <a:xfrm>
                <a:off x="2112" y="2640"/>
                <a:ext cx="192" cy="384"/>
                <a:chOff x="2976" y="2640"/>
                <a:chExt cx="192" cy="384"/>
              </a:xfrm>
            </p:grpSpPr>
            <p:sp>
              <p:nvSpPr>
                <p:cNvPr id="16447" name="Line 57"/>
                <p:cNvSpPr>
                  <a:spLocks noChangeShapeType="1"/>
                </p:cNvSpPr>
                <p:nvPr/>
              </p:nvSpPr>
              <p:spPr bwMode="auto">
                <a:xfrm flipV="1">
                  <a:off x="2976" y="2640"/>
                  <a:ext cx="192" cy="384"/>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48" name="Oval 58"/>
                <p:cNvSpPr>
                  <a:spLocks noChangeArrowheads="1"/>
                </p:cNvSpPr>
                <p:nvPr/>
              </p:nvSpPr>
              <p:spPr bwMode="auto">
                <a:xfrm>
                  <a:off x="3072" y="2729"/>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49" name="Oval 59"/>
                <p:cNvSpPr>
                  <a:spLocks noChangeArrowheads="1"/>
                </p:cNvSpPr>
                <p:nvPr/>
              </p:nvSpPr>
              <p:spPr bwMode="auto">
                <a:xfrm>
                  <a:off x="3008" y="2880"/>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pSp>
          <p:sp>
            <p:nvSpPr>
              <p:cNvPr id="16420" name="Oval 60"/>
              <p:cNvSpPr>
                <a:spLocks noChangeArrowheads="1"/>
              </p:cNvSpPr>
              <p:nvPr/>
            </p:nvSpPr>
            <p:spPr bwMode="auto">
              <a:xfrm>
                <a:off x="2771" y="3435"/>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21" name="Oval 61"/>
              <p:cNvSpPr>
                <a:spLocks noChangeArrowheads="1"/>
              </p:cNvSpPr>
              <p:nvPr/>
            </p:nvSpPr>
            <p:spPr bwMode="auto">
              <a:xfrm>
                <a:off x="2784" y="3072"/>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22" name="Oval 62"/>
              <p:cNvSpPr>
                <a:spLocks noChangeArrowheads="1"/>
              </p:cNvSpPr>
              <p:nvPr/>
            </p:nvSpPr>
            <p:spPr bwMode="auto">
              <a:xfrm>
                <a:off x="2688" y="3120"/>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23" name="Oval 63"/>
              <p:cNvSpPr>
                <a:spLocks noChangeArrowheads="1"/>
              </p:cNvSpPr>
              <p:nvPr/>
            </p:nvSpPr>
            <p:spPr bwMode="auto">
              <a:xfrm>
                <a:off x="3168" y="3072"/>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24" name="Oval 64"/>
              <p:cNvSpPr>
                <a:spLocks noChangeArrowheads="1"/>
              </p:cNvSpPr>
              <p:nvPr/>
            </p:nvSpPr>
            <p:spPr bwMode="auto">
              <a:xfrm>
                <a:off x="3056" y="3120"/>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25" name="Line 65"/>
              <p:cNvSpPr>
                <a:spLocks noChangeShapeType="1"/>
              </p:cNvSpPr>
              <p:nvPr/>
            </p:nvSpPr>
            <p:spPr bwMode="auto">
              <a:xfrm>
                <a:off x="2304" y="2640"/>
                <a:ext cx="144" cy="192"/>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26" name="Line 66"/>
              <p:cNvSpPr>
                <a:spLocks noChangeShapeType="1"/>
              </p:cNvSpPr>
              <p:nvPr/>
            </p:nvSpPr>
            <p:spPr bwMode="auto">
              <a:xfrm>
                <a:off x="2928" y="3216"/>
                <a:ext cx="144" cy="192"/>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27" name="Line 67"/>
              <p:cNvSpPr>
                <a:spLocks noChangeShapeType="1"/>
              </p:cNvSpPr>
              <p:nvPr/>
            </p:nvSpPr>
            <p:spPr bwMode="auto">
              <a:xfrm>
                <a:off x="3168" y="2640"/>
                <a:ext cx="144" cy="192"/>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28" name="Oval 68"/>
              <p:cNvSpPr>
                <a:spLocks noChangeArrowheads="1"/>
              </p:cNvSpPr>
              <p:nvPr/>
            </p:nvSpPr>
            <p:spPr bwMode="auto">
              <a:xfrm>
                <a:off x="2640" y="3456"/>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pSp>
            <p:nvGrpSpPr>
              <p:cNvPr id="16429" name="Group 69"/>
              <p:cNvGrpSpPr>
                <a:grpSpLocks/>
              </p:cNvGrpSpPr>
              <p:nvPr/>
            </p:nvGrpSpPr>
            <p:grpSpPr bwMode="auto">
              <a:xfrm>
                <a:off x="2112" y="3024"/>
                <a:ext cx="432" cy="192"/>
                <a:chOff x="2112" y="3024"/>
                <a:chExt cx="432" cy="192"/>
              </a:xfrm>
            </p:grpSpPr>
            <p:sp>
              <p:nvSpPr>
                <p:cNvPr id="16443" name="Line 70"/>
                <p:cNvSpPr>
                  <a:spLocks noChangeShapeType="1"/>
                </p:cNvSpPr>
                <p:nvPr/>
              </p:nvSpPr>
              <p:spPr bwMode="auto">
                <a:xfrm>
                  <a:off x="2112" y="3024"/>
                  <a:ext cx="432" cy="19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44" name="Oval 71"/>
                <p:cNvSpPr>
                  <a:spLocks noChangeArrowheads="1"/>
                </p:cNvSpPr>
                <p:nvPr/>
              </p:nvSpPr>
              <p:spPr bwMode="auto">
                <a:xfrm>
                  <a:off x="2400" y="3142"/>
                  <a:ext cx="64" cy="55"/>
                </a:xfrm>
                <a:prstGeom prst="ellipse">
                  <a:avLst/>
                </a:prstGeom>
                <a:solidFill>
                  <a:srgbClr val="0000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45" name="Line 72"/>
                <p:cNvSpPr>
                  <a:spLocks noChangeShapeType="1"/>
                </p:cNvSpPr>
                <p:nvPr/>
              </p:nvSpPr>
              <p:spPr bwMode="auto">
                <a:xfrm flipH="1">
                  <a:off x="2304" y="3049"/>
                  <a:ext cx="96" cy="14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46" name="Line 73"/>
                <p:cNvSpPr>
                  <a:spLocks noChangeShapeType="1"/>
                </p:cNvSpPr>
                <p:nvPr/>
              </p:nvSpPr>
              <p:spPr bwMode="auto">
                <a:xfrm flipH="1">
                  <a:off x="2208" y="3024"/>
                  <a:ext cx="96" cy="14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30" name="Group 74"/>
              <p:cNvGrpSpPr>
                <a:grpSpLocks/>
              </p:cNvGrpSpPr>
              <p:nvPr/>
            </p:nvGrpSpPr>
            <p:grpSpPr bwMode="auto">
              <a:xfrm>
                <a:off x="2736" y="3600"/>
                <a:ext cx="720" cy="336"/>
                <a:chOff x="2736" y="3600"/>
                <a:chExt cx="720" cy="336"/>
              </a:xfrm>
            </p:grpSpPr>
            <p:sp>
              <p:nvSpPr>
                <p:cNvPr id="16438" name="Line 75"/>
                <p:cNvSpPr>
                  <a:spLocks noChangeShapeType="1"/>
                </p:cNvSpPr>
                <p:nvPr/>
              </p:nvSpPr>
              <p:spPr bwMode="auto">
                <a:xfrm>
                  <a:off x="2736" y="3600"/>
                  <a:ext cx="720" cy="336"/>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39" name="Line 76"/>
                <p:cNvSpPr>
                  <a:spLocks noChangeShapeType="1"/>
                </p:cNvSpPr>
                <p:nvPr/>
              </p:nvSpPr>
              <p:spPr bwMode="auto">
                <a:xfrm flipH="1">
                  <a:off x="2976" y="3670"/>
                  <a:ext cx="96" cy="14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40" name="Line 77"/>
                <p:cNvSpPr>
                  <a:spLocks noChangeShapeType="1"/>
                </p:cNvSpPr>
                <p:nvPr/>
              </p:nvSpPr>
              <p:spPr bwMode="auto">
                <a:xfrm flipH="1">
                  <a:off x="2880" y="3623"/>
                  <a:ext cx="96" cy="14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41" name="Line 78"/>
                <p:cNvSpPr>
                  <a:spLocks noChangeShapeType="1"/>
                </p:cNvSpPr>
                <p:nvPr/>
              </p:nvSpPr>
              <p:spPr bwMode="auto">
                <a:xfrm flipH="1">
                  <a:off x="3168" y="3744"/>
                  <a:ext cx="96" cy="14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42" name="Line 79"/>
                <p:cNvSpPr>
                  <a:spLocks noChangeShapeType="1"/>
                </p:cNvSpPr>
                <p:nvPr/>
              </p:nvSpPr>
              <p:spPr bwMode="auto">
                <a:xfrm flipH="1">
                  <a:off x="3072" y="3717"/>
                  <a:ext cx="96" cy="14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6431" name="Line 80"/>
              <p:cNvSpPr>
                <a:spLocks noChangeShapeType="1"/>
              </p:cNvSpPr>
              <p:nvPr/>
            </p:nvSpPr>
            <p:spPr bwMode="auto">
              <a:xfrm flipV="1">
                <a:off x="2495" y="3264"/>
                <a:ext cx="144" cy="4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32" name="Line 81"/>
              <p:cNvSpPr>
                <a:spLocks noChangeShapeType="1"/>
              </p:cNvSpPr>
              <p:nvPr/>
            </p:nvSpPr>
            <p:spPr bwMode="auto">
              <a:xfrm flipV="1">
                <a:off x="2568" y="3384"/>
                <a:ext cx="144" cy="4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33" name="Line 82"/>
              <p:cNvSpPr>
                <a:spLocks noChangeShapeType="1"/>
              </p:cNvSpPr>
              <p:nvPr/>
            </p:nvSpPr>
            <p:spPr bwMode="auto">
              <a:xfrm flipV="1">
                <a:off x="2543" y="3334"/>
                <a:ext cx="144" cy="4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34" name="Line 83"/>
              <p:cNvSpPr>
                <a:spLocks noChangeShapeType="1"/>
              </p:cNvSpPr>
              <p:nvPr/>
            </p:nvSpPr>
            <p:spPr bwMode="auto">
              <a:xfrm>
                <a:off x="3360" y="3024"/>
                <a:ext cx="192" cy="96"/>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35" name="Line 84"/>
              <p:cNvSpPr>
                <a:spLocks noChangeShapeType="1"/>
              </p:cNvSpPr>
              <p:nvPr/>
            </p:nvSpPr>
            <p:spPr bwMode="auto">
              <a:xfrm>
                <a:off x="3552" y="2640"/>
                <a:ext cx="144" cy="192"/>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36" name="Rectangle 85"/>
              <p:cNvSpPr>
                <a:spLocks noChangeArrowheads="1"/>
              </p:cNvSpPr>
              <p:nvPr/>
            </p:nvSpPr>
            <p:spPr bwMode="auto">
              <a:xfrm>
                <a:off x="1104" y="2640"/>
                <a:ext cx="3600" cy="384"/>
              </a:xfrm>
              <a:prstGeom prst="rect">
                <a:avLst/>
              </a:prstGeom>
              <a:solidFill>
                <a:srgbClr val="C5FFFF">
                  <a:alpha val="50195"/>
                </a:srgbClr>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6437" name="Rectangle 86"/>
              <p:cNvSpPr>
                <a:spLocks noChangeArrowheads="1"/>
              </p:cNvSpPr>
              <p:nvPr/>
            </p:nvSpPr>
            <p:spPr bwMode="auto">
              <a:xfrm>
                <a:off x="1104" y="3216"/>
                <a:ext cx="3600" cy="384"/>
              </a:xfrm>
              <a:prstGeom prst="rect">
                <a:avLst/>
              </a:prstGeom>
              <a:solidFill>
                <a:srgbClr val="C5FFFF">
                  <a:alpha val="50195"/>
                </a:srgbClr>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pSp>
        <p:sp>
          <p:nvSpPr>
            <p:cNvPr id="16391" name="Freeform 87"/>
            <p:cNvSpPr>
              <a:spLocks/>
            </p:cNvSpPr>
            <p:nvPr/>
          </p:nvSpPr>
          <p:spPr bwMode="auto">
            <a:xfrm>
              <a:off x="1632" y="2304"/>
              <a:ext cx="288" cy="192"/>
            </a:xfrm>
            <a:custGeom>
              <a:avLst/>
              <a:gdLst>
                <a:gd name="T0" fmla="*/ 0 w 288"/>
                <a:gd name="T1" fmla="*/ 192 h 192"/>
                <a:gd name="T2" fmla="*/ 59 w 288"/>
                <a:gd name="T3" fmla="*/ 82 h 192"/>
                <a:gd name="T4" fmla="*/ 178 w 288"/>
                <a:gd name="T5" fmla="*/ 15 h 192"/>
                <a:gd name="T6" fmla="*/ 288 w 288"/>
                <a:gd name="T7" fmla="*/ 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8" h="192">
                  <a:moveTo>
                    <a:pt x="0" y="192"/>
                  </a:moveTo>
                  <a:cubicBezTo>
                    <a:pt x="10" y="174"/>
                    <a:pt x="29" y="111"/>
                    <a:pt x="59" y="82"/>
                  </a:cubicBezTo>
                  <a:cubicBezTo>
                    <a:pt x="89" y="53"/>
                    <a:pt x="140" y="29"/>
                    <a:pt x="178" y="15"/>
                  </a:cubicBezTo>
                  <a:cubicBezTo>
                    <a:pt x="216" y="1"/>
                    <a:pt x="265" y="3"/>
                    <a:pt x="288" y="0"/>
                  </a:cubicBezTo>
                </a:path>
              </a:pathLst>
            </a:custGeom>
            <a:noFill/>
            <a:ln w="19050" cap="flat" cmpd="sng">
              <a:solidFill>
                <a:srgbClr val="FF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16392" name="Object 88"/>
            <p:cNvGraphicFramePr>
              <a:graphicFrameLocks noChangeAspect="1"/>
            </p:cNvGraphicFramePr>
            <p:nvPr/>
          </p:nvGraphicFramePr>
          <p:xfrm>
            <a:off x="1536" y="2016"/>
            <a:ext cx="226" cy="392"/>
          </p:xfrm>
          <a:graphic>
            <a:graphicData uri="http://schemas.openxmlformats.org/presentationml/2006/ole">
              <mc:AlternateContent xmlns:mc="http://schemas.openxmlformats.org/markup-compatibility/2006">
                <mc:Choice xmlns:v="urn:schemas-microsoft-com:vml" Requires="v">
                  <p:oleObj spid="_x0000_s16472" name="Equation" r:id="rId3" imgW="190417" imgH="330057" progId="Equation.3">
                    <p:embed/>
                  </p:oleObj>
                </mc:Choice>
                <mc:Fallback>
                  <p:oleObj name="Equation" r:id="rId3" imgW="190417" imgH="330057" progId="Equation.3">
                    <p:embed/>
                    <p:pic>
                      <p:nvPicPr>
                        <p:cNvPr id="0" name="Object 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6" y="2016"/>
                          <a:ext cx="226" cy="3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389" name="Text Box 90"/>
          <p:cNvSpPr txBox="1">
            <a:spLocks noChangeArrowheads="1"/>
          </p:cNvSpPr>
          <p:nvPr/>
        </p:nvSpPr>
        <p:spPr bwMode="auto">
          <a:xfrm>
            <a:off x="611188" y="512763"/>
            <a:ext cx="4095750" cy="56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lang="zh-CN" altLang="en-US">
                <a:solidFill>
                  <a:srgbClr val="0000FF"/>
                </a:solidFill>
              </a:rPr>
              <a:t>玻璃堆起偏器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1078"/>
                                        </p:tgtEl>
                                        <p:attrNameLst>
                                          <p:attrName>style.visibility</p:attrName>
                                        </p:attrNameLst>
                                      </p:cBhvr>
                                      <p:to>
                                        <p:strVal val="visible"/>
                                      </p:to>
                                    </p:set>
                                    <p:animEffect transition="in" filter="wipe(left)">
                                      <p:cBhvr>
                                        <p:cTn id="7" dur="500"/>
                                        <p:tgtEl>
                                          <p:spTgt spid="131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fld id="{2E7894A0-B113-4112-BC07-60183DD6AE34}" type="slidenum">
              <a:rPr lang="zh-CN" altLang="en-US" sz="1400" b="0" smtClean="0">
                <a:solidFill>
                  <a:schemeClr val="bg2"/>
                </a:solidFill>
              </a:rPr>
              <a:pPr/>
              <a:t>14</a:t>
            </a:fld>
            <a:endParaRPr lang="en-US" altLang="zh-CN" sz="1400" b="0" smtClean="0">
              <a:solidFill>
                <a:schemeClr val="bg2"/>
              </a:solidFill>
            </a:endParaRPr>
          </a:p>
        </p:txBody>
      </p:sp>
      <p:grpSp>
        <p:nvGrpSpPr>
          <p:cNvPr id="17411" name="Group 13"/>
          <p:cNvGrpSpPr>
            <a:grpSpLocks/>
          </p:cNvGrpSpPr>
          <p:nvPr/>
        </p:nvGrpSpPr>
        <p:grpSpPr bwMode="auto">
          <a:xfrm>
            <a:off x="701675" y="430213"/>
            <a:ext cx="7785100" cy="2143125"/>
            <a:chOff x="414" y="261"/>
            <a:chExt cx="4904" cy="1350"/>
          </a:xfrm>
        </p:grpSpPr>
        <p:sp>
          <p:nvSpPr>
            <p:cNvPr id="17420" name="Text Box 3"/>
            <p:cNvSpPr txBox="1">
              <a:spLocks noChangeArrowheads="1"/>
            </p:cNvSpPr>
            <p:nvPr/>
          </p:nvSpPr>
          <p:spPr bwMode="auto">
            <a:xfrm>
              <a:off x="414" y="261"/>
              <a:ext cx="4904" cy="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pPr>
              <a:r>
                <a:rPr kumimoji="1" lang="zh-CN" altLang="en-US">
                  <a:solidFill>
                    <a:srgbClr val="CC0000"/>
                  </a:solidFill>
                </a:rPr>
                <a:t>例1</a:t>
              </a:r>
              <a:r>
                <a:rPr kumimoji="1" lang="zh-CN" altLang="en-US">
                  <a:solidFill>
                    <a:srgbClr val="FF3300"/>
                  </a:solidFill>
                </a:rPr>
                <a:t>  </a:t>
              </a:r>
              <a:r>
                <a:rPr kumimoji="1" lang="zh-CN" altLang="en-US"/>
                <a:t>已知某材料在空气中的布儒斯特角               </a:t>
              </a:r>
              <a:r>
                <a:rPr kumimoji="1" lang="en-US" altLang="zh-CN"/>
                <a:t>,</a:t>
              </a:r>
            </a:p>
            <a:p>
              <a:pPr eaLnBrk="1" hangingPunct="1">
                <a:lnSpc>
                  <a:spcPct val="120000"/>
                </a:lnSpc>
              </a:pPr>
              <a:r>
                <a:rPr kumimoji="1" lang="zh-CN" altLang="en-US">
                  <a:solidFill>
                    <a:srgbClr val="CC0000"/>
                  </a:solidFill>
                </a:rPr>
                <a:t>求</a:t>
              </a:r>
              <a:r>
                <a:rPr kumimoji="1" lang="zh-CN" altLang="en-US"/>
                <a:t>它的折射率？若将它放在水中（水的折射率为 1.33），</a:t>
              </a:r>
              <a:r>
                <a:rPr kumimoji="1" lang="zh-CN" altLang="en-US">
                  <a:solidFill>
                    <a:srgbClr val="CC0000"/>
                  </a:solidFill>
                </a:rPr>
                <a:t>求</a:t>
              </a:r>
              <a:r>
                <a:rPr kumimoji="1" lang="zh-CN" altLang="en-US"/>
                <a:t>布儒斯特角？该材料对水的相对折射率是多少？</a:t>
              </a:r>
            </a:p>
          </p:txBody>
        </p:sp>
        <p:graphicFrame>
          <p:nvGraphicFramePr>
            <p:cNvPr id="17421" name="Object 4"/>
            <p:cNvGraphicFramePr>
              <a:graphicFrameLocks noChangeAspect="1"/>
            </p:cNvGraphicFramePr>
            <p:nvPr/>
          </p:nvGraphicFramePr>
          <p:xfrm>
            <a:off x="4326" y="261"/>
            <a:ext cx="765" cy="384"/>
          </p:xfrm>
          <a:graphic>
            <a:graphicData uri="http://schemas.openxmlformats.org/presentationml/2006/ole">
              <mc:AlternateContent xmlns:mc="http://schemas.openxmlformats.org/markup-compatibility/2006">
                <mc:Choice xmlns:v="urn:schemas-microsoft-com:vml" Requires="v">
                  <p:oleObj spid="_x0000_s17422" name="Equation" r:id="rId3" imgW="495085" imgH="241195" progId="Equation.3">
                    <p:embed/>
                  </p:oleObj>
                </mc:Choice>
                <mc:Fallback>
                  <p:oleObj name="Equation" r:id="rId3" imgW="495085" imgH="24119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6" y="261"/>
                          <a:ext cx="76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5413" name="Text Box 5"/>
          <p:cNvSpPr txBox="1">
            <a:spLocks noChangeArrowheads="1"/>
          </p:cNvSpPr>
          <p:nvPr/>
        </p:nvSpPr>
        <p:spPr bwMode="auto">
          <a:xfrm>
            <a:off x="701675" y="2560638"/>
            <a:ext cx="823595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pPr>
            <a:r>
              <a:rPr kumimoji="1" lang="en-US" altLang="zh-CN">
                <a:solidFill>
                  <a:srgbClr val="CC0000"/>
                </a:solidFill>
              </a:rPr>
              <a:t>(1) </a:t>
            </a:r>
            <a:r>
              <a:rPr kumimoji="1" lang="zh-CN" altLang="en-US">
                <a:solidFill>
                  <a:srgbClr val="CC0000"/>
                </a:solidFill>
              </a:rPr>
              <a:t>解</a:t>
            </a:r>
            <a:r>
              <a:rPr kumimoji="1" lang="en-US" altLang="zh-CN">
                <a:solidFill>
                  <a:srgbClr val="CC0000"/>
                </a:solidFill>
              </a:rPr>
              <a:t>:</a:t>
            </a:r>
            <a:r>
              <a:rPr kumimoji="1" lang="en-US" altLang="zh-CN"/>
              <a:t> </a:t>
            </a:r>
            <a:r>
              <a:rPr kumimoji="1" lang="zh-CN" altLang="en-US"/>
              <a:t>设该材料的折射率为 </a:t>
            </a:r>
            <a:r>
              <a:rPr kumimoji="1" lang="en-US" altLang="en-US" i="1"/>
              <a:t>n </a:t>
            </a:r>
            <a:r>
              <a:rPr kumimoji="1" lang="en-US" altLang="zh-CN"/>
              <a:t>，</a:t>
            </a:r>
            <a:r>
              <a:rPr kumimoji="1" lang="zh-CN" altLang="en-US"/>
              <a:t>空气的折射率为1</a:t>
            </a:r>
          </a:p>
        </p:txBody>
      </p:sp>
      <p:graphicFrame>
        <p:nvGraphicFramePr>
          <p:cNvPr id="145414" name="Object 6"/>
          <p:cNvGraphicFramePr>
            <a:graphicFrameLocks noChangeAspect="1"/>
          </p:cNvGraphicFramePr>
          <p:nvPr/>
        </p:nvGraphicFramePr>
        <p:xfrm>
          <a:off x="1827213" y="3151188"/>
          <a:ext cx="4654550" cy="1004887"/>
        </p:xfrm>
        <a:graphic>
          <a:graphicData uri="http://schemas.openxmlformats.org/presentationml/2006/ole">
            <mc:AlternateContent xmlns:mc="http://schemas.openxmlformats.org/markup-compatibility/2006">
              <mc:Choice xmlns:v="urn:schemas-microsoft-com:vml" Requires="v">
                <p:oleObj spid="_x0000_s17423" name="Equation" r:id="rId5" imgW="1815312" imgH="393529" progId="Equation.3">
                  <p:embed/>
                </p:oleObj>
              </mc:Choice>
              <mc:Fallback>
                <p:oleObj name="Equation" r:id="rId5" imgW="1815312" imgH="393529"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7213" y="3151188"/>
                        <a:ext cx="4654550" cy="100488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15" name="Text Box 7"/>
          <p:cNvSpPr txBox="1">
            <a:spLocks noChangeArrowheads="1"/>
          </p:cNvSpPr>
          <p:nvPr/>
        </p:nvSpPr>
        <p:spPr bwMode="auto">
          <a:xfrm>
            <a:off x="701675" y="4141788"/>
            <a:ext cx="5299075"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pPr>
            <a:r>
              <a:rPr kumimoji="1" lang="en-US" altLang="zh-CN">
                <a:solidFill>
                  <a:srgbClr val="CC0000"/>
                </a:solidFill>
                <a:sym typeface="Symbol" pitchFamily="18" charset="2"/>
              </a:rPr>
              <a:t>(2) </a:t>
            </a:r>
            <a:r>
              <a:rPr kumimoji="1" lang="zh-CN" altLang="en-US">
                <a:solidFill>
                  <a:srgbClr val="CC0000"/>
                </a:solidFill>
                <a:sym typeface="Symbol" pitchFamily="18" charset="2"/>
              </a:rPr>
              <a:t>解</a:t>
            </a:r>
            <a:r>
              <a:rPr kumimoji="1" lang="en-US" altLang="zh-CN">
                <a:solidFill>
                  <a:srgbClr val="CC0000"/>
                </a:solidFill>
                <a:sym typeface="Symbol" pitchFamily="18" charset="2"/>
              </a:rPr>
              <a:t>:</a:t>
            </a:r>
            <a:r>
              <a:rPr kumimoji="1" lang="en-US" altLang="zh-CN">
                <a:sym typeface="Symbol" pitchFamily="18" charset="2"/>
              </a:rPr>
              <a:t> </a:t>
            </a:r>
            <a:r>
              <a:rPr kumimoji="1" lang="zh-CN" altLang="en-US">
                <a:sym typeface="Symbol" pitchFamily="18" charset="2"/>
              </a:rPr>
              <a:t>放在水中，则对应有</a:t>
            </a:r>
            <a:endParaRPr kumimoji="1" lang="zh-CN" altLang="en-US"/>
          </a:p>
        </p:txBody>
      </p:sp>
      <p:graphicFrame>
        <p:nvGraphicFramePr>
          <p:cNvPr id="145416" name="Object 8"/>
          <p:cNvGraphicFramePr>
            <a:graphicFrameLocks noChangeAspect="1"/>
          </p:cNvGraphicFramePr>
          <p:nvPr/>
        </p:nvGraphicFramePr>
        <p:xfrm>
          <a:off x="1781175" y="4778375"/>
          <a:ext cx="3298825" cy="1076325"/>
        </p:xfrm>
        <a:graphic>
          <a:graphicData uri="http://schemas.openxmlformats.org/presentationml/2006/ole">
            <mc:AlternateContent xmlns:mc="http://schemas.openxmlformats.org/markup-compatibility/2006">
              <mc:Choice xmlns:v="urn:schemas-microsoft-com:vml" Requires="v">
                <p:oleObj spid="_x0000_s17424" name="Equation" r:id="rId7" imgW="1371600" imgH="444500" progId="Equation.3">
                  <p:embed/>
                </p:oleObj>
              </mc:Choice>
              <mc:Fallback>
                <p:oleObj name="Equation" r:id="rId7" imgW="1371600" imgH="4445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81175" y="4778375"/>
                        <a:ext cx="3298825" cy="10763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5417" name="Group 9"/>
          <p:cNvGrpSpPr>
            <a:grpSpLocks/>
          </p:cNvGrpSpPr>
          <p:nvPr/>
        </p:nvGrpSpPr>
        <p:grpSpPr bwMode="auto">
          <a:xfrm>
            <a:off x="5510213" y="4968875"/>
            <a:ext cx="2617787" cy="695325"/>
            <a:chOff x="3024" y="2958"/>
            <a:chExt cx="1649" cy="438"/>
          </a:xfrm>
        </p:grpSpPr>
        <p:graphicFrame>
          <p:nvGraphicFramePr>
            <p:cNvPr id="17418" name="Object 10"/>
            <p:cNvGraphicFramePr>
              <a:graphicFrameLocks noChangeAspect="1"/>
            </p:cNvGraphicFramePr>
            <p:nvPr/>
          </p:nvGraphicFramePr>
          <p:xfrm>
            <a:off x="3716" y="2986"/>
            <a:ext cx="957" cy="410"/>
          </p:xfrm>
          <a:graphic>
            <a:graphicData uri="http://schemas.openxmlformats.org/presentationml/2006/ole">
              <mc:AlternateContent xmlns:mc="http://schemas.openxmlformats.org/markup-compatibility/2006">
                <mc:Choice xmlns:v="urn:schemas-microsoft-com:vml" Requires="v">
                  <p:oleObj spid="_x0000_s17425" name="Equation" r:id="rId9" imgW="609336" imgH="241195" progId="Equation.3">
                    <p:embed/>
                  </p:oleObj>
                </mc:Choice>
                <mc:Fallback>
                  <p:oleObj name="Equation" r:id="rId9" imgW="609336" imgH="241195"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16" y="2986"/>
                          <a:ext cx="957" cy="410"/>
                        </a:xfrm>
                        <a:prstGeom prst="rect">
                          <a:avLst/>
                        </a:prstGeom>
                        <a:solidFill>
                          <a:srgbClr val="FF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9" name="Text Box 11"/>
            <p:cNvSpPr txBox="1">
              <a:spLocks noChangeArrowheads="1"/>
            </p:cNvSpPr>
            <p:nvPr/>
          </p:nvSpPr>
          <p:spPr bwMode="auto">
            <a:xfrm>
              <a:off x="3024" y="2958"/>
              <a:ext cx="791"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pPr>
              <a:r>
                <a:rPr kumimoji="1" lang="zh-CN" altLang="en-US"/>
                <a:t>所以：</a:t>
              </a:r>
            </a:p>
          </p:txBody>
        </p:sp>
      </p:grpSp>
      <p:sp>
        <p:nvSpPr>
          <p:cNvPr id="145420" name="Text Box 12"/>
          <p:cNvSpPr txBox="1">
            <a:spLocks noChangeArrowheads="1"/>
          </p:cNvSpPr>
          <p:nvPr/>
        </p:nvSpPr>
        <p:spPr bwMode="auto">
          <a:xfrm>
            <a:off x="971550" y="5794375"/>
            <a:ext cx="525780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pPr>
            <a:r>
              <a:rPr kumimoji="1" lang="zh-CN" altLang="en-US"/>
              <a:t>该材料对水的相对折射率为1.2</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5413"/>
                                        </p:tgtEl>
                                        <p:attrNameLst>
                                          <p:attrName>style.visibility</p:attrName>
                                        </p:attrNameLst>
                                      </p:cBhvr>
                                      <p:to>
                                        <p:strVal val="visible"/>
                                      </p:to>
                                    </p:set>
                                    <p:animEffect transition="in" filter="blinds(horizontal)">
                                      <p:cBhvr>
                                        <p:cTn id="7" dur="500"/>
                                        <p:tgtEl>
                                          <p:spTgt spid="1454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45414"/>
                                        </p:tgtEl>
                                        <p:attrNameLst>
                                          <p:attrName>style.visibility</p:attrName>
                                        </p:attrNameLst>
                                      </p:cBhvr>
                                      <p:to>
                                        <p:strVal val="visible"/>
                                      </p:to>
                                    </p:set>
                                    <p:animEffect transition="in" filter="box(in)">
                                      <p:cBhvr>
                                        <p:cTn id="12" dur="500"/>
                                        <p:tgtEl>
                                          <p:spTgt spid="1454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45415"/>
                                        </p:tgtEl>
                                        <p:attrNameLst>
                                          <p:attrName>style.visibility</p:attrName>
                                        </p:attrNameLst>
                                      </p:cBhvr>
                                      <p:to>
                                        <p:strVal val="visible"/>
                                      </p:to>
                                    </p:set>
                                    <p:animEffect transition="in" filter="box(out)">
                                      <p:cBhvr>
                                        <p:cTn id="17" dur="500"/>
                                        <p:tgtEl>
                                          <p:spTgt spid="1454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45416"/>
                                        </p:tgtEl>
                                        <p:attrNameLst>
                                          <p:attrName>style.visibility</p:attrName>
                                        </p:attrNameLst>
                                      </p:cBhvr>
                                      <p:to>
                                        <p:strVal val="visible"/>
                                      </p:to>
                                    </p:set>
                                    <p:animEffect transition="in" filter="box(in)">
                                      <p:cBhvr>
                                        <p:cTn id="22" dur="500"/>
                                        <p:tgtEl>
                                          <p:spTgt spid="145416"/>
                                        </p:tgtEl>
                                      </p:cBhvr>
                                    </p:animEffect>
                                  </p:childTnLst>
                                </p:cTn>
                              </p:par>
                            </p:childTnLst>
                          </p:cTn>
                        </p:par>
                        <p:par>
                          <p:cTn id="23" fill="hold" nodeType="afterGroup">
                            <p:stCondLst>
                              <p:cond delay="500"/>
                            </p:stCondLst>
                            <p:childTnLst>
                              <p:par>
                                <p:cTn id="24" presetID="2" presetClass="entr" presetSubtype="2" fill="hold" nodeType="afterEffect">
                                  <p:stCondLst>
                                    <p:cond delay="0"/>
                                  </p:stCondLst>
                                  <p:childTnLst>
                                    <p:set>
                                      <p:cBhvr>
                                        <p:cTn id="25" dur="1" fill="hold">
                                          <p:stCondLst>
                                            <p:cond delay="0"/>
                                          </p:stCondLst>
                                        </p:cTn>
                                        <p:tgtEl>
                                          <p:spTgt spid="145417"/>
                                        </p:tgtEl>
                                        <p:attrNameLst>
                                          <p:attrName>style.visibility</p:attrName>
                                        </p:attrNameLst>
                                      </p:cBhvr>
                                      <p:to>
                                        <p:strVal val="visible"/>
                                      </p:to>
                                    </p:set>
                                    <p:anim calcmode="lin" valueType="num">
                                      <p:cBhvr additive="base">
                                        <p:cTn id="26" dur="500" fill="hold"/>
                                        <p:tgtEl>
                                          <p:spTgt spid="145417"/>
                                        </p:tgtEl>
                                        <p:attrNameLst>
                                          <p:attrName>ppt_x</p:attrName>
                                        </p:attrNameLst>
                                      </p:cBhvr>
                                      <p:tavLst>
                                        <p:tav tm="0">
                                          <p:val>
                                            <p:strVal val="1+#ppt_w/2"/>
                                          </p:val>
                                        </p:tav>
                                        <p:tav tm="100000">
                                          <p:val>
                                            <p:strVal val="#ppt_x"/>
                                          </p:val>
                                        </p:tav>
                                      </p:tavLst>
                                    </p:anim>
                                    <p:anim calcmode="lin" valueType="num">
                                      <p:cBhvr additive="base">
                                        <p:cTn id="27" dur="500" fill="hold"/>
                                        <p:tgtEl>
                                          <p:spTgt spid="145417"/>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45420"/>
                                        </p:tgtEl>
                                        <p:attrNameLst>
                                          <p:attrName>style.visibility</p:attrName>
                                        </p:attrNameLst>
                                      </p:cBhvr>
                                      <p:to>
                                        <p:strVal val="visible"/>
                                      </p:to>
                                    </p:set>
                                    <p:anim calcmode="lin" valueType="num">
                                      <p:cBhvr additive="base">
                                        <p:cTn id="32" dur="500" fill="hold"/>
                                        <p:tgtEl>
                                          <p:spTgt spid="145420"/>
                                        </p:tgtEl>
                                        <p:attrNameLst>
                                          <p:attrName>ppt_x</p:attrName>
                                        </p:attrNameLst>
                                      </p:cBhvr>
                                      <p:tavLst>
                                        <p:tav tm="0">
                                          <p:val>
                                            <p:strVal val="#ppt_x"/>
                                          </p:val>
                                        </p:tav>
                                        <p:tav tm="100000">
                                          <p:val>
                                            <p:strVal val="#ppt_x"/>
                                          </p:val>
                                        </p:tav>
                                      </p:tavLst>
                                    </p:anim>
                                    <p:anim calcmode="lin" valueType="num">
                                      <p:cBhvr additive="base">
                                        <p:cTn id="33" dur="500" fill="hold"/>
                                        <p:tgtEl>
                                          <p:spTgt spid="1454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3" grpId="0" autoUpdateAnimBg="0"/>
      <p:bldP spid="145415" grpId="0" autoUpdateAnimBg="0"/>
      <p:bldP spid="145420"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fld id="{59BF01C5-0F00-4C0D-A8C6-30D2679668E5}" type="slidenum">
              <a:rPr lang="zh-CN" altLang="en-US" sz="1400" b="0" smtClean="0">
                <a:solidFill>
                  <a:schemeClr val="bg2"/>
                </a:solidFill>
              </a:rPr>
              <a:pPr/>
              <a:t>15</a:t>
            </a:fld>
            <a:endParaRPr lang="en-US" altLang="zh-CN" sz="1400" b="0" smtClean="0">
              <a:solidFill>
                <a:schemeClr val="bg2"/>
              </a:solidFill>
            </a:endParaRPr>
          </a:p>
        </p:txBody>
      </p:sp>
      <p:sp>
        <p:nvSpPr>
          <p:cNvPr id="18435" name="Text Box 2"/>
          <p:cNvSpPr txBox="1">
            <a:spLocks noChangeArrowheads="1"/>
          </p:cNvSpPr>
          <p:nvPr/>
        </p:nvSpPr>
        <p:spPr bwMode="auto">
          <a:xfrm>
            <a:off x="503238" y="309563"/>
            <a:ext cx="7086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0000FF"/>
                </a:solidFill>
              </a:rPr>
              <a:t>五、光的双折射</a:t>
            </a:r>
          </a:p>
        </p:txBody>
      </p:sp>
      <p:grpSp>
        <p:nvGrpSpPr>
          <p:cNvPr id="137253" name="Group 37"/>
          <p:cNvGrpSpPr>
            <a:grpSpLocks/>
          </p:cNvGrpSpPr>
          <p:nvPr/>
        </p:nvGrpSpPr>
        <p:grpSpPr bwMode="auto">
          <a:xfrm>
            <a:off x="685800" y="1676400"/>
            <a:ext cx="3214688" cy="4495800"/>
            <a:chOff x="432" y="1056"/>
            <a:chExt cx="2025" cy="2832"/>
          </a:xfrm>
        </p:grpSpPr>
        <p:sp>
          <p:nvSpPr>
            <p:cNvPr id="18451" name="Rectangle 13"/>
            <p:cNvSpPr>
              <a:spLocks noChangeArrowheads="1"/>
            </p:cNvSpPr>
            <p:nvPr/>
          </p:nvSpPr>
          <p:spPr bwMode="auto">
            <a:xfrm>
              <a:off x="432" y="1056"/>
              <a:ext cx="2025" cy="2832"/>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pSp>
          <p:nvGrpSpPr>
            <p:cNvPr id="18452" name="Group 14"/>
            <p:cNvGrpSpPr>
              <a:grpSpLocks/>
            </p:cNvGrpSpPr>
            <p:nvPr/>
          </p:nvGrpSpPr>
          <p:grpSpPr bwMode="auto">
            <a:xfrm>
              <a:off x="620" y="3099"/>
              <a:ext cx="1734" cy="693"/>
              <a:chOff x="3072" y="1200"/>
              <a:chExt cx="1781" cy="728"/>
            </a:xfrm>
          </p:grpSpPr>
          <p:graphicFrame>
            <p:nvGraphicFramePr>
              <p:cNvPr id="18465" name="Object 15"/>
              <p:cNvGraphicFramePr>
                <a:graphicFrameLocks noChangeAspect="1"/>
              </p:cNvGraphicFramePr>
              <p:nvPr/>
            </p:nvGraphicFramePr>
            <p:xfrm>
              <a:off x="3072" y="1200"/>
              <a:ext cx="1190" cy="728"/>
            </p:xfrm>
            <a:graphic>
              <a:graphicData uri="http://schemas.openxmlformats.org/presentationml/2006/ole">
                <mc:AlternateContent xmlns:mc="http://schemas.openxmlformats.org/markup-compatibility/2006">
                  <mc:Choice xmlns:v="urn:schemas-microsoft-com:vml" Requires="v">
                    <p:oleObj spid="_x0000_s18467" name="公式" r:id="rId3" imgW="1117600" imgH="660400" progId="Equation.3">
                      <p:embed/>
                    </p:oleObj>
                  </mc:Choice>
                  <mc:Fallback>
                    <p:oleObj name="公式" r:id="rId3" imgW="1117600" imgH="660400"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2" y="1200"/>
                            <a:ext cx="1190" cy="7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66" name="Text Box 16"/>
              <p:cNvSpPr txBox="1">
                <a:spLocks noChangeArrowheads="1"/>
              </p:cNvSpPr>
              <p:nvPr/>
            </p:nvSpPr>
            <p:spPr bwMode="auto">
              <a:xfrm>
                <a:off x="4272" y="1344"/>
                <a:ext cx="581"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CC0000"/>
                    </a:solidFill>
                  </a:rPr>
                  <a:t>恒量</a:t>
                </a:r>
              </a:p>
            </p:txBody>
          </p:sp>
        </p:grpSp>
        <p:graphicFrame>
          <p:nvGraphicFramePr>
            <p:cNvPr id="18453" name="Object 17"/>
            <p:cNvGraphicFramePr>
              <a:graphicFrameLocks noChangeAspect="1"/>
            </p:cNvGraphicFramePr>
            <p:nvPr/>
          </p:nvGraphicFramePr>
          <p:xfrm>
            <a:off x="1489" y="2449"/>
            <a:ext cx="219" cy="301"/>
          </p:xfrm>
          <a:graphic>
            <a:graphicData uri="http://schemas.openxmlformats.org/presentationml/2006/ole">
              <mc:AlternateContent xmlns:mc="http://schemas.openxmlformats.org/markup-compatibility/2006">
                <mc:Choice xmlns:v="urn:schemas-microsoft-com:vml" Requires="v">
                  <p:oleObj spid="_x0000_s18468" name="公式" r:id="rId5" imgW="177646" imgH="241091" progId="Equation.3">
                    <p:embed/>
                  </p:oleObj>
                </mc:Choice>
                <mc:Fallback>
                  <p:oleObj name="公式" r:id="rId5" imgW="177646" imgH="241091"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9" y="2449"/>
                          <a:ext cx="219"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4" name="Line 18"/>
            <p:cNvSpPr>
              <a:spLocks noChangeShapeType="1"/>
            </p:cNvSpPr>
            <p:nvPr/>
          </p:nvSpPr>
          <p:spPr bwMode="auto">
            <a:xfrm rot="2031746" flipV="1">
              <a:off x="556" y="1861"/>
              <a:ext cx="991" cy="2"/>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8455" name="Object 19"/>
            <p:cNvGraphicFramePr>
              <a:graphicFrameLocks noChangeAspect="1"/>
            </p:cNvGraphicFramePr>
            <p:nvPr/>
          </p:nvGraphicFramePr>
          <p:xfrm>
            <a:off x="1159" y="1613"/>
            <a:ext cx="118" cy="244"/>
          </p:xfrm>
          <a:graphic>
            <a:graphicData uri="http://schemas.openxmlformats.org/presentationml/2006/ole">
              <mc:AlternateContent xmlns:mc="http://schemas.openxmlformats.org/markup-compatibility/2006">
                <mc:Choice xmlns:v="urn:schemas-microsoft-com:vml" Requires="v">
                  <p:oleObj spid="_x0000_s18469" name="公式" r:id="rId7" imgW="114250" imgH="228501" progId="Equation.3">
                    <p:embed/>
                  </p:oleObj>
                </mc:Choice>
                <mc:Fallback>
                  <p:oleObj name="公式" r:id="rId7" imgW="114250" imgH="228501"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9" y="1613"/>
                          <a:ext cx="118"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6" name="Line 20"/>
            <p:cNvSpPr>
              <a:spLocks noChangeShapeType="1"/>
            </p:cNvSpPr>
            <p:nvPr/>
          </p:nvSpPr>
          <p:spPr bwMode="auto">
            <a:xfrm rot="-2153489">
              <a:off x="1358" y="1849"/>
              <a:ext cx="942"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7" name="Line 21"/>
            <p:cNvSpPr>
              <a:spLocks noChangeShapeType="1"/>
            </p:cNvSpPr>
            <p:nvPr/>
          </p:nvSpPr>
          <p:spPr bwMode="auto">
            <a:xfrm rot="2782562">
              <a:off x="1246" y="2462"/>
              <a:ext cx="975" cy="134"/>
            </a:xfrm>
            <a:prstGeom prst="line">
              <a:avLst/>
            </a:prstGeom>
            <a:noFill/>
            <a:ln w="381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8" name="Arc 22"/>
            <p:cNvSpPr>
              <a:spLocks/>
            </p:cNvSpPr>
            <p:nvPr/>
          </p:nvSpPr>
          <p:spPr bwMode="auto">
            <a:xfrm rot="9220608" flipH="1" flipV="1">
              <a:off x="1158" y="1841"/>
              <a:ext cx="334" cy="278"/>
            </a:xfrm>
            <a:custGeom>
              <a:avLst/>
              <a:gdLst>
                <a:gd name="T0" fmla="*/ 0 w 17013"/>
                <a:gd name="T1" fmla="*/ 3 h 21600"/>
                <a:gd name="T2" fmla="*/ 334 w 17013"/>
                <a:gd name="T3" fmla="*/ 62 h 21600"/>
                <a:gd name="T4" fmla="*/ 66 w 17013"/>
                <a:gd name="T5" fmla="*/ 278 h 21600"/>
                <a:gd name="T6" fmla="*/ 0 60000 65536"/>
                <a:gd name="T7" fmla="*/ 0 60000 65536"/>
                <a:gd name="T8" fmla="*/ 0 60000 65536"/>
              </a:gdLst>
              <a:ahLst/>
              <a:cxnLst>
                <a:cxn ang="T6">
                  <a:pos x="T0" y="T1"/>
                </a:cxn>
                <a:cxn ang="T7">
                  <a:pos x="T2" y="T3"/>
                </a:cxn>
                <a:cxn ang="T8">
                  <a:pos x="T4" y="T5"/>
                </a:cxn>
              </a:cxnLst>
              <a:rect l="0" t="0" r="r" b="b"/>
              <a:pathLst>
                <a:path w="17013" h="21600" fill="none" extrusionOk="0">
                  <a:moveTo>
                    <a:pt x="-1" y="266"/>
                  </a:moveTo>
                  <a:cubicBezTo>
                    <a:pt x="1119" y="89"/>
                    <a:pt x="2251" y="-1"/>
                    <a:pt x="3385" y="0"/>
                  </a:cubicBezTo>
                  <a:cubicBezTo>
                    <a:pt x="8348" y="0"/>
                    <a:pt x="13161" y="1709"/>
                    <a:pt x="17012" y="4841"/>
                  </a:cubicBezTo>
                </a:path>
                <a:path w="17013" h="21600" stroke="0" extrusionOk="0">
                  <a:moveTo>
                    <a:pt x="-1" y="266"/>
                  </a:moveTo>
                  <a:cubicBezTo>
                    <a:pt x="1119" y="89"/>
                    <a:pt x="2251" y="-1"/>
                    <a:pt x="3385" y="0"/>
                  </a:cubicBezTo>
                  <a:cubicBezTo>
                    <a:pt x="8348" y="0"/>
                    <a:pt x="13161" y="1709"/>
                    <a:pt x="17012" y="4841"/>
                  </a:cubicBezTo>
                  <a:lnTo>
                    <a:pt x="3385" y="21600"/>
                  </a:lnTo>
                  <a:lnTo>
                    <a:pt x="-1" y="266"/>
                  </a:lnTo>
                  <a:close/>
                </a:path>
              </a:pathLst>
            </a:custGeom>
            <a:noFill/>
            <a:ln w="19050">
              <a:solidFill>
                <a:srgbClr val="FF3399"/>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9" name="Line 23"/>
            <p:cNvSpPr>
              <a:spLocks noChangeShapeType="1"/>
            </p:cNvSpPr>
            <p:nvPr/>
          </p:nvSpPr>
          <p:spPr bwMode="auto">
            <a:xfrm>
              <a:off x="1442" y="1567"/>
              <a:ext cx="0" cy="1346"/>
            </a:xfrm>
            <a:prstGeom prst="line">
              <a:avLst/>
            </a:prstGeom>
            <a:noFill/>
            <a:ln w="19050">
              <a:solidFill>
                <a:schemeClr val="tx1"/>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0" name="Arc 24"/>
            <p:cNvSpPr>
              <a:spLocks/>
            </p:cNvSpPr>
            <p:nvPr/>
          </p:nvSpPr>
          <p:spPr bwMode="auto">
            <a:xfrm rot="11209688" flipH="1">
              <a:off x="1442" y="2356"/>
              <a:ext cx="141" cy="93"/>
            </a:xfrm>
            <a:custGeom>
              <a:avLst/>
              <a:gdLst>
                <a:gd name="T0" fmla="*/ 0 w 21600"/>
                <a:gd name="T1" fmla="*/ 0 h 21600"/>
                <a:gd name="T2" fmla="*/ 141 w 21600"/>
                <a:gd name="T3" fmla="*/ 93 h 21600"/>
                <a:gd name="T4" fmla="*/ 0 w 21600"/>
                <a:gd name="T5" fmla="*/ 93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0000"/>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1" name="Rectangle 25"/>
            <p:cNvSpPr>
              <a:spLocks noChangeArrowheads="1"/>
            </p:cNvSpPr>
            <p:nvPr/>
          </p:nvSpPr>
          <p:spPr bwMode="auto">
            <a:xfrm>
              <a:off x="667" y="2124"/>
              <a:ext cx="1555" cy="882"/>
            </a:xfrm>
            <a:prstGeom prst="rect">
              <a:avLst/>
            </a:prstGeom>
            <a:solidFill>
              <a:srgbClr val="66FFFF">
                <a:alpha val="50195"/>
              </a:srgbClr>
            </a:solidFill>
            <a:ln w="9525">
              <a:solidFill>
                <a:srgbClr val="088E6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8462" name="Text Box 26"/>
            <p:cNvSpPr txBox="1">
              <a:spLocks noChangeArrowheads="1"/>
            </p:cNvSpPr>
            <p:nvPr/>
          </p:nvSpPr>
          <p:spPr bwMode="auto">
            <a:xfrm>
              <a:off x="713" y="2690"/>
              <a:ext cx="86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000066"/>
                  </a:solidFill>
                </a:rPr>
                <a:t>玻璃</a:t>
              </a:r>
            </a:p>
          </p:txBody>
        </p:sp>
        <p:graphicFrame>
          <p:nvGraphicFramePr>
            <p:cNvPr id="18463" name="Object 27"/>
            <p:cNvGraphicFramePr>
              <a:graphicFrameLocks noChangeAspect="1"/>
            </p:cNvGraphicFramePr>
            <p:nvPr/>
          </p:nvGraphicFramePr>
          <p:xfrm>
            <a:off x="829" y="2310"/>
            <a:ext cx="184" cy="203"/>
          </p:xfrm>
          <a:graphic>
            <a:graphicData uri="http://schemas.openxmlformats.org/presentationml/2006/ole">
              <mc:AlternateContent xmlns:mc="http://schemas.openxmlformats.org/markup-compatibility/2006">
                <mc:Choice xmlns:v="urn:schemas-microsoft-com:vml" Requires="v">
                  <p:oleObj spid="_x0000_s18470" name="公式" r:id="rId9" imgW="177646" imgH="190335" progId="Equation.3">
                    <p:embed/>
                  </p:oleObj>
                </mc:Choice>
                <mc:Fallback>
                  <p:oleObj name="公式" r:id="rId9" imgW="177646" imgH="190335" progId="Equation.3">
                    <p:embed/>
                    <p:pic>
                      <p:nvPicPr>
                        <p:cNvPr id="0" name="Object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9" y="2310"/>
                          <a:ext cx="184" cy="2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44" name="Text Box 28"/>
            <p:cNvSpPr txBox="1">
              <a:spLocks noChangeArrowheads="1"/>
            </p:cNvSpPr>
            <p:nvPr/>
          </p:nvSpPr>
          <p:spPr bwMode="auto">
            <a:xfrm>
              <a:off x="432" y="1056"/>
              <a:ext cx="2025" cy="333"/>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defRPr/>
              </a:pPr>
              <a:r>
                <a:rPr lang="zh-CN" altLang="en-US">
                  <a:solidFill>
                    <a:srgbClr val="1C1C1C"/>
                  </a:solidFill>
                </a:rPr>
                <a:t>折 射 定 律</a:t>
              </a:r>
            </a:p>
          </p:txBody>
        </p:sp>
      </p:grpSp>
      <p:grpSp>
        <p:nvGrpSpPr>
          <p:cNvPr id="137252" name="Group 36"/>
          <p:cNvGrpSpPr>
            <a:grpSpLocks/>
          </p:cNvGrpSpPr>
          <p:nvPr/>
        </p:nvGrpSpPr>
        <p:grpSpPr bwMode="auto">
          <a:xfrm>
            <a:off x="4046538" y="1709738"/>
            <a:ext cx="4575175" cy="4419600"/>
            <a:chOff x="2549" y="1077"/>
            <a:chExt cx="2882" cy="2784"/>
          </a:xfrm>
        </p:grpSpPr>
        <p:grpSp>
          <p:nvGrpSpPr>
            <p:cNvPr id="18439" name="Group 35"/>
            <p:cNvGrpSpPr>
              <a:grpSpLocks/>
            </p:cNvGrpSpPr>
            <p:nvPr/>
          </p:nvGrpSpPr>
          <p:grpSpPr bwMode="auto">
            <a:xfrm>
              <a:off x="2740" y="1077"/>
              <a:ext cx="2691" cy="2784"/>
              <a:chOff x="2740" y="1077"/>
              <a:chExt cx="2691" cy="2784"/>
            </a:xfrm>
          </p:grpSpPr>
          <p:sp>
            <p:nvSpPr>
              <p:cNvPr id="18441" name="AutoShape 4"/>
              <p:cNvSpPr>
                <a:spLocks noChangeArrowheads="1"/>
              </p:cNvSpPr>
              <p:nvPr/>
            </p:nvSpPr>
            <p:spPr bwMode="auto">
              <a:xfrm>
                <a:off x="2747" y="1474"/>
                <a:ext cx="2684" cy="2387"/>
              </a:xfrm>
              <a:prstGeom prst="foldedCorner">
                <a:avLst>
                  <a:gd name="adj" fmla="val 0"/>
                </a:avLst>
              </a:prstGeom>
              <a:solidFill>
                <a:srgbClr val="F8D9FF"/>
              </a:solidFill>
              <a:ln w="9525">
                <a:solidFill>
                  <a:srgbClr val="CC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8442" name="Rectangle 5"/>
              <p:cNvSpPr>
                <a:spLocks noChangeArrowheads="1"/>
              </p:cNvSpPr>
              <p:nvPr/>
            </p:nvSpPr>
            <p:spPr bwMode="auto">
              <a:xfrm>
                <a:off x="3447" y="2398"/>
                <a:ext cx="17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r>
                  <a:rPr lang="zh-CN" altLang="en-US" sz="4000">
                    <a:solidFill>
                      <a:srgbClr val="5F5F5F"/>
                    </a:solidFill>
                    <a:latin typeface="华文行楷" pitchFamily="2" charset="-122"/>
                    <a:ea typeface="华文行楷" pitchFamily="2" charset="-122"/>
                  </a:rPr>
                  <a:t>动 光 学</a:t>
                </a:r>
              </a:p>
            </p:txBody>
          </p:sp>
          <p:sp>
            <p:nvSpPr>
              <p:cNvPr id="18443" name="Text Box 6"/>
              <p:cNvSpPr txBox="1">
                <a:spLocks noChangeArrowheads="1"/>
              </p:cNvSpPr>
              <p:nvPr/>
            </p:nvSpPr>
            <p:spPr bwMode="auto">
              <a:xfrm>
                <a:off x="2740" y="1077"/>
                <a:ext cx="2684" cy="333"/>
              </a:xfrm>
              <a:prstGeom prst="rect">
                <a:avLst/>
              </a:prstGeom>
              <a:gradFill rotWithShape="0">
                <a:gsLst>
                  <a:gs pos="0">
                    <a:srgbClr val="FAE7FF"/>
                  </a:gs>
                  <a:gs pos="50000">
                    <a:srgbClr val="FFFFFF"/>
                  </a:gs>
                  <a:gs pos="100000">
                    <a:srgbClr val="FAE7FF"/>
                  </a:gs>
                </a:gsLst>
                <a:lin ang="5400000" scaled="1"/>
              </a:gra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algn="ctr" eaLnBrk="1" hangingPunct="1">
                  <a:spcBef>
                    <a:spcPct val="50000"/>
                  </a:spcBef>
                </a:pPr>
                <a:r>
                  <a:rPr lang="zh-CN" altLang="en-US"/>
                  <a:t>双折射现象</a:t>
                </a:r>
              </a:p>
            </p:txBody>
          </p:sp>
          <p:sp>
            <p:nvSpPr>
              <p:cNvPr id="18444" name="AutoShape 8"/>
              <p:cNvSpPr>
                <a:spLocks noChangeArrowheads="1"/>
              </p:cNvSpPr>
              <p:nvPr/>
            </p:nvSpPr>
            <p:spPr bwMode="auto">
              <a:xfrm>
                <a:off x="3293" y="2031"/>
                <a:ext cx="1931" cy="1253"/>
              </a:xfrm>
              <a:prstGeom prst="cube">
                <a:avLst>
                  <a:gd name="adj" fmla="val 17190"/>
                </a:avLst>
              </a:prstGeom>
              <a:noFill/>
              <a:ln w="19050">
                <a:solidFill>
                  <a:srgbClr val="0099FF"/>
                </a:solidFill>
                <a:miter lim="800000"/>
                <a:headEnd/>
                <a:tailEnd/>
              </a:ln>
              <a:effectLst/>
              <a:extLst>
                <a:ext uri="{909E8E84-426E-40DD-AFC4-6F175D3DCCD1}">
                  <a14:hiddenFill xmlns:a14="http://schemas.microsoft.com/office/drawing/2010/main">
                    <a:solidFill>
                      <a:schemeClr val="bg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8445" name="AutoShape 9"/>
              <p:cNvSpPr>
                <a:spLocks noChangeArrowheads="1"/>
              </p:cNvSpPr>
              <p:nvPr/>
            </p:nvSpPr>
            <p:spPr bwMode="auto">
              <a:xfrm>
                <a:off x="3293" y="2031"/>
                <a:ext cx="1931" cy="208"/>
              </a:xfrm>
              <a:prstGeom prst="parallelogram">
                <a:avLst>
                  <a:gd name="adj" fmla="val 97693"/>
                </a:avLst>
              </a:prstGeom>
              <a:solidFill>
                <a:srgbClr val="CDFFFF">
                  <a:alpha val="50195"/>
                </a:srgbClr>
              </a:solidFill>
              <a:ln w="9525">
                <a:solidFill>
                  <a:srgbClr val="00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8446" name="AutoShape 10"/>
              <p:cNvSpPr>
                <a:spLocks noChangeArrowheads="1"/>
              </p:cNvSpPr>
              <p:nvPr/>
            </p:nvSpPr>
            <p:spPr bwMode="auto">
              <a:xfrm rot="5400000" flipH="1">
                <a:off x="4493" y="2531"/>
                <a:ext cx="1253" cy="227"/>
              </a:xfrm>
              <a:prstGeom prst="parallelogram">
                <a:avLst>
                  <a:gd name="adj" fmla="val 95805"/>
                </a:avLst>
              </a:prstGeom>
              <a:solidFill>
                <a:srgbClr val="CDFFFF">
                  <a:alpha val="50195"/>
                </a:srgbClr>
              </a:solidFill>
              <a:ln w="9525">
                <a:solidFill>
                  <a:srgbClr val="00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8447" name="Rectangle 11"/>
              <p:cNvSpPr>
                <a:spLocks noChangeArrowheads="1"/>
              </p:cNvSpPr>
              <p:nvPr/>
            </p:nvSpPr>
            <p:spPr bwMode="auto">
              <a:xfrm>
                <a:off x="2852" y="2727"/>
                <a:ext cx="529"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r>
                  <a:rPr lang="zh-CN" altLang="en-US" sz="4000">
                    <a:solidFill>
                      <a:srgbClr val="1C1C1C"/>
                    </a:solidFill>
                    <a:latin typeface="华文行楷" pitchFamily="2" charset="-122"/>
                    <a:ea typeface="华文行楷" pitchFamily="2" charset="-122"/>
                  </a:rPr>
                  <a:t>波</a:t>
                </a:r>
              </a:p>
            </p:txBody>
          </p:sp>
          <p:grpSp>
            <p:nvGrpSpPr>
              <p:cNvPr id="18448" name="Group 29"/>
              <p:cNvGrpSpPr>
                <a:grpSpLocks/>
              </p:cNvGrpSpPr>
              <p:nvPr/>
            </p:nvGrpSpPr>
            <p:grpSpPr bwMode="auto">
              <a:xfrm>
                <a:off x="2787" y="1520"/>
                <a:ext cx="1460" cy="372"/>
                <a:chOff x="2880" y="1584"/>
                <a:chExt cx="1488" cy="384"/>
              </a:xfrm>
            </p:grpSpPr>
            <p:sp>
              <p:nvSpPr>
                <p:cNvPr id="18449" name="AutoShape 30"/>
                <p:cNvSpPr>
                  <a:spLocks noChangeArrowheads="1"/>
                </p:cNvSpPr>
                <p:nvPr/>
              </p:nvSpPr>
              <p:spPr bwMode="auto">
                <a:xfrm>
                  <a:off x="2880" y="1584"/>
                  <a:ext cx="1248" cy="384"/>
                </a:xfrm>
                <a:prstGeom prst="wedgeRoundRectCallout">
                  <a:avLst>
                    <a:gd name="adj1" fmla="val 49759"/>
                    <a:gd name="adj2" fmla="val 96093"/>
                    <a:gd name="adj3" fmla="val 16667"/>
                  </a:avLst>
                </a:prstGeom>
                <a:gradFill rotWithShape="0">
                  <a:gsLst>
                    <a:gs pos="0">
                      <a:srgbClr val="DFFCFD"/>
                    </a:gs>
                    <a:gs pos="100000">
                      <a:srgbClr val="FFFFFF"/>
                    </a:gs>
                  </a:gsLst>
                  <a:lin ang="5400000" scaled="1"/>
                </a:gra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algn="ctr" eaLnBrk="1" hangingPunct="1"/>
                  <a:endParaRPr lang="zh-CN" altLang="en-US">
                    <a:solidFill>
                      <a:srgbClr val="1C1C1C"/>
                    </a:solidFill>
                  </a:endParaRPr>
                </a:p>
              </p:txBody>
            </p:sp>
            <p:sp>
              <p:nvSpPr>
                <p:cNvPr id="18450" name="Text Box 31"/>
                <p:cNvSpPr txBox="1">
                  <a:spLocks noChangeArrowheads="1"/>
                </p:cNvSpPr>
                <p:nvPr/>
              </p:nvSpPr>
              <p:spPr bwMode="auto">
                <a:xfrm>
                  <a:off x="2880" y="1584"/>
                  <a:ext cx="1488"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1C1C1C"/>
                      </a:solidFill>
                    </a:rPr>
                    <a:t>方解石晶体</a:t>
                  </a:r>
                </a:p>
              </p:txBody>
            </p:sp>
          </p:grpSp>
        </p:grpSp>
        <p:sp>
          <p:nvSpPr>
            <p:cNvPr id="18440" name="Text Box 12"/>
            <p:cNvSpPr txBox="1">
              <a:spLocks noChangeArrowheads="1"/>
            </p:cNvSpPr>
            <p:nvPr/>
          </p:nvSpPr>
          <p:spPr bwMode="auto">
            <a:xfrm>
              <a:off x="2549" y="2614"/>
              <a:ext cx="2401"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algn="ctr" eaLnBrk="1" hangingPunct="1">
                <a:spcBef>
                  <a:spcPct val="50000"/>
                </a:spcBef>
              </a:pPr>
              <a:r>
                <a:rPr lang="zh-CN" altLang="en-US" sz="4000">
                  <a:solidFill>
                    <a:srgbClr val="333333"/>
                  </a:solidFill>
                  <a:latin typeface="华文行楷" pitchFamily="2" charset="-122"/>
                  <a:ea typeface="华文行楷" pitchFamily="2" charset="-122"/>
                </a:rPr>
                <a:t>   动 光 学</a:t>
              </a:r>
            </a:p>
          </p:txBody>
        </p:sp>
      </p:grpSp>
      <p:sp>
        <p:nvSpPr>
          <p:cNvPr id="18438" name="Text Box 2"/>
          <p:cNvSpPr txBox="1">
            <a:spLocks noChangeArrowheads="1"/>
          </p:cNvSpPr>
          <p:nvPr/>
        </p:nvSpPr>
        <p:spPr bwMode="auto">
          <a:xfrm>
            <a:off x="655638" y="965200"/>
            <a:ext cx="708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spcBef>
                <a:spcPct val="50000"/>
              </a:spcBef>
            </a:pPr>
            <a:r>
              <a:rPr lang="en-US" altLang="zh-CN">
                <a:solidFill>
                  <a:srgbClr val="0000FF"/>
                </a:solidFill>
              </a:rPr>
              <a:t>1</a:t>
            </a:r>
            <a:r>
              <a:rPr lang="zh-CN" altLang="en-US">
                <a:solidFill>
                  <a:srgbClr val="0000FF"/>
                </a:solidFill>
              </a:rPr>
              <a:t>、光的双折射现象</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137253"/>
                                        </p:tgtEl>
                                        <p:attrNameLst>
                                          <p:attrName>style.visibility</p:attrName>
                                        </p:attrNameLst>
                                      </p:cBhvr>
                                      <p:to>
                                        <p:strVal val="visible"/>
                                      </p:to>
                                    </p:set>
                                    <p:animEffect transition="in" filter="blinds(vertical)">
                                      <p:cBhvr>
                                        <p:cTn id="7" dur="500"/>
                                        <p:tgtEl>
                                          <p:spTgt spid="1372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137252"/>
                                        </p:tgtEl>
                                        <p:attrNameLst>
                                          <p:attrName>style.visibility</p:attrName>
                                        </p:attrNameLst>
                                      </p:cBhvr>
                                      <p:to>
                                        <p:strVal val="visible"/>
                                      </p:to>
                                    </p:set>
                                    <p:animEffect transition="in" filter="blinds(vertical)">
                                      <p:cBhvr>
                                        <p:cTn id="12" dur="500"/>
                                        <p:tgtEl>
                                          <p:spTgt spid="137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fld id="{0AFA2CE2-BA17-446D-BB13-90D6A20B659B}" type="slidenum">
              <a:rPr lang="zh-CN" altLang="en-US" sz="1400" b="0" smtClean="0">
                <a:solidFill>
                  <a:schemeClr val="bg2"/>
                </a:solidFill>
              </a:rPr>
              <a:pPr/>
              <a:t>16</a:t>
            </a:fld>
            <a:endParaRPr lang="en-US" altLang="zh-CN" sz="1400" b="0" smtClean="0">
              <a:solidFill>
                <a:schemeClr val="bg2"/>
              </a:solidFill>
            </a:endParaRPr>
          </a:p>
        </p:txBody>
      </p:sp>
      <p:sp>
        <p:nvSpPr>
          <p:cNvPr id="138242" name="Text Box 2"/>
          <p:cNvSpPr txBox="1">
            <a:spLocks noChangeArrowheads="1"/>
          </p:cNvSpPr>
          <p:nvPr/>
        </p:nvSpPr>
        <p:spPr bwMode="auto">
          <a:xfrm>
            <a:off x="2097088" y="482600"/>
            <a:ext cx="5257800" cy="528638"/>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defRPr/>
            </a:pPr>
            <a:r>
              <a:rPr lang="zh-CN" altLang="en-US">
                <a:solidFill>
                  <a:srgbClr val="1C1C1C"/>
                </a:solidFill>
              </a:rPr>
              <a:t>光通过</a:t>
            </a:r>
            <a:r>
              <a:rPr lang="zh-CN" altLang="en-US">
                <a:solidFill>
                  <a:srgbClr val="CC0000"/>
                </a:solidFill>
                <a:latin typeface="宋体" pitchFamily="2" charset="-122"/>
              </a:rPr>
              <a:t>双折射晶体</a:t>
            </a:r>
          </a:p>
        </p:txBody>
      </p:sp>
    </p:spTree>
    <p:controls>
      <mc:AlternateContent xmlns:mc="http://schemas.openxmlformats.org/markup-compatibility/2006">
        <mc:Choice xmlns:v="urn:schemas-microsoft-com:vml" Requires="v">
          <p:control spid="2050" r:id="rId2" imgW="8287907" imgH="5588998"/>
        </mc:Choice>
        <mc:Fallback>
          <p:control r:id="rId2" imgW="8287907" imgH="5588998">
            <p:pic>
              <p:nvPicPr>
                <p:cNvPr id="0" name="ShockwaveFlash1"/>
                <p:cNvPicPr preferRelativeResize="0">
                  <a:picLocks noChangeArrowheads="1" noChangeShapeType="1"/>
                </p:cNvPicPr>
                <p:nvPr/>
              </p:nvPicPr>
              <p:blipFill>
                <a:blip r:embed="rId4">
                  <a:extLst>
                    <a:ext uri="{28A0092B-C50C-407E-A947-70E740481C1C}">
                      <a14:useLocalDpi xmlns:a14="http://schemas.microsoft.com/office/drawing/2010/main" val="0"/>
                    </a:ext>
                  </a:extLst>
                </a:blip>
                <a:srcRect/>
                <a:stretch>
                  <a:fillRect/>
                </a:stretch>
              </p:blipFill>
              <p:spPr bwMode="auto">
                <a:xfrm>
                  <a:off x="431800" y="1042988"/>
                  <a:ext cx="8286750" cy="5589587"/>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fld id="{9E408367-DA92-4CB1-9F8B-96C256DB6886}" type="slidenum">
              <a:rPr lang="zh-CN" altLang="en-US" sz="1400" b="0" smtClean="0">
                <a:solidFill>
                  <a:schemeClr val="bg2"/>
                </a:solidFill>
              </a:rPr>
              <a:pPr/>
              <a:t>17</a:t>
            </a:fld>
            <a:endParaRPr lang="en-US" altLang="zh-CN" sz="1400" b="0" smtClean="0">
              <a:solidFill>
                <a:schemeClr val="bg2"/>
              </a:solidFill>
            </a:endParaRPr>
          </a:p>
        </p:txBody>
      </p:sp>
      <p:sp>
        <p:nvSpPr>
          <p:cNvPr id="19459" name="Rectangle 3"/>
          <p:cNvSpPr>
            <a:spLocks noChangeArrowheads="1"/>
          </p:cNvSpPr>
          <p:nvPr/>
        </p:nvSpPr>
        <p:spPr bwMode="auto">
          <a:xfrm>
            <a:off x="657225" y="549275"/>
            <a:ext cx="73358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a:buFontTx/>
              <a:buBlip>
                <a:blip r:embed="rId3"/>
              </a:buBlip>
            </a:pPr>
            <a:r>
              <a:rPr kumimoji="1" lang="zh-CN" altLang="en-US">
                <a:solidFill>
                  <a:srgbClr val="000000"/>
                </a:solidFill>
              </a:rPr>
              <a:t> 寻常光线</a:t>
            </a:r>
            <a:r>
              <a:rPr kumimoji="1" lang="en-US" altLang="zh-CN">
                <a:solidFill>
                  <a:srgbClr val="000000"/>
                </a:solidFill>
              </a:rPr>
              <a:t>(O</a:t>
            </a:r>
            <a:r>
              <a:rPr kumimoji="1" lang="zh-CN" altLang="en-US">
                <a:solidFill>
                  <a:srgbClr val="000000"/>
                </a:solidFill>
              </a:rPr>
              <a:t>光</a:t>
            </a:r>
            <a:r>
              <a:rPr kumimoji="1" lang="en-US" altLang="zh-CN">
                <a:solidFill>
                  <a:srgbClr val="000000"/>
                </a:solidFill>
              </a:rPr>
              <a:t>)     </a:t>
            </a:r>
            <a:r>
              <a:rPr kumimoji="1" lang="zh-CN" altLang="en-US">
                <a:solidFill>
                  <a:srgbClr val="000000"/>
                </a:solidFill>
              </a:rPr>
              <a:t>服从折射定律的光线</a:t>
            </a:r>
          </a:p>
        </p:txBody>
      </p:sp>
      <p:sp>
        <p:nvSpPr>
          <p:cNvPr id="19460" name="Rectangle 4"/>
          <p:cNvSpPr>
            <a:spLocks noChangeArrowheads="1"/>
          </p:cNvSpPr>
          <p:nvPr/>
        </p:nvSpPr>
        <p:spPr bwMode="auto">
          <a:xfrm>
            <a:off x="5292725" y="2349500"/>
            <a:ext cx="32337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kumimoji="1" lang="en-US" altLang="zh-CN"/>
          </a:p>
        </p:txBody>
      </p:sp>
      <p:sp>
        <p:nvSpPr>
          <p:cNvPr id="19461" name="Rectangle 9"/>
          <p:cNvSpPr>
            <a:spLocks noChangeArrowheads="1"/>
          </p:cNvSpPr>
          <p:nvPr/>
        </p:nvSpPr>
        <p:spPr bwMode="auto">
          <a:xfrm>
            <a:off x="657225" y="1208088"/>
            <a:ext cx="7461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a:buFontTx/>
              <a:buBlip>
                <a:blip r:embed="rId3"/>
              </a:buBlip>
            </a:pPr>
            <a:r>
              <a:rPr kumimoji="1" lang="zh-CN" altLang="en-US">
                <a:solidFill>
                  <a:srgbClr val="000000"/>
                </a:solidFill>
              </a:rPr>
              <a:t> 非常光线</a:t>
            </a:r>
            <a:r>
              <a:rPr kumimoji="1" lang="en-US" altLang="zh-CN">
                <a:solidFill>
                  <a:srgbClr val="000000"/>
                </a:solidFill>
              </a:rPr>
              <a:t>(   </a:t>
            </a:r>
            <a:r>
              <a:rPr kumimoji="1" lang="zh-CN" altLang="en-US">
                <a:solidFill>
                  <a:srgbClr val="000000"/>
                </a:solidFill>
              </a:rPr>
              <a:t>光</a:t>
            </a:r>
            <a:r>
              <a:rPr kumimoji="1" lang="en-US" altLang="zh-CN">
                <a:solidFill>
                  <a:srgbClr val="000000"/>
                </a:solidFill>
              </a:rPr>
              <a:t>)     </a:t>
            </a:r>
            <a:r>
              <a:rPr kumimoji="1" lang="zh-CN" altLang="en-US">
                <a:solidFill>
                  <a:srgbClr val="000000"/>
                </a:solidFill>
              </a:rPr>
              <a:t>不服从折射定律的光线</a:t>
            </a:r>
          </a:p>
        </p:txBody>
      </p:sp>
      <p:sp>
        <p:nvSpPr>
          <p:cNvPr id="19462" name="Rectangle 13"/>
          <p:cNvSpPr>
            <a:spLocks noChangeArrowheads="1"/>
          </p:cNvSpPr>
          <p:nvPr/>
        </p:nvSpPr>
        <p:spPr bwMode="auto">
          <a:xfrm>
            <a:off x="792163" y="1868488"/>
            <a:ext cx="6867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000000"/>
                </a:solidFill>
              </a:rPr>
              <a:t>（一般情况，非常光不在入射面内）</a:t>
            </a:r>
          </a:p>
        </p:txBody>
      </p:sp>
      <p:grpSp>
        <p:nvGrpSpPr>
          <p:cNvPr id="139334" name="Group 70"/>
          <p:cNvGrpSpPr>
            <a:grpSpLocks/>
          </p:cNvGrpSpPr>
          <p:nvPr/>
        </p:nvGrpSpPr>
        <p:grpSpPr bwMode="auto">
          <a:xfrm>
            <a:off x="1195388" y="2528888"/>
            <a:ext cx="5686425" cy="519112"/>
            <a:chOff x="753" y="1593"/>
            <a:chExt cx="3582" cy="327"/>
          </a:xfrm>
        </p:grpSpPr>
        <p:sp>
          <p:nvSpPr>
            <p:cNvPr id="19514" name="Text Box 17"/>
            <p:cNvSpPr txBox="1">
              <a:spLocks noChangeArrowheads="1"/>
            </p:cNvSpPr>
            <p:nvPr/>
          </p:nvSpPr>
          <p:spPr bwMode="auto">
            <a:xfrm>
              <a:off x="753" y="1593"/>
              <a:ext cx="358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CC0000"/>
                  </a:solidFill>
                </a:rPr>
                <a:t>实验证明： </a:t>
              </a:r>
              <a:r>
                <a:rPr lang="en-US" altLang="zh-CN">
                  <a:solidFill>
                    <a:srgbClr val="000000"/>
                  </a:solidFill>
                </a:rPr>
                <a:t>O </a:t>
              </a:r>
              <a:r>
                <a:rPr lang="zh-CN" altLang="en-US">
                  <a:solidFill>
                    <a:srgbClr val="000000"/>
                  </a:solidFill>
                </a:rPr>
                <a:t>光和    光均为偏振光</a:t>
              </a:r>
              <a:r>
                <a:rPr lang="en-US" altLang="zh-CN">
                  <a:solidFill>
                    <a:srgbClr val="000000"/>
                  </a:solidFill>
                </a:rPr>
                <a:t>.</a:t>
              </a:r>
            </a:p>
          </p:txBody>
        </p:sp>
        <p:graphicFrame>
          <p:nvGraphicFramePr>
            <p:cNvPr id="19515" name="Object 18"/>
            <p:cNvGraphicFramePr>
              <a:graphicFrameLocks noChangeAspect="1"/>
            </p:cNvGraphicFramePr>
            <p:nvPr/>
          </p:nvGraphicFramePr>
          <p:xfrm>
            <a:off x="2674" y="1608"/>
            <a:ext cx="339" cy="305"/>
          </p:xfrm>
          <a:graphic>
            <a:graphicData uri="http://schemas.openxmlformats.org/presentationml/2006/ole">
              <mc:AlternateContent xmlns:mc="http://schemas.openxmlformats.org/markup-compatibility/2006">
                <mc:Choice xmlns:v="urn:schemas-microsoft-com:vml" Requires="v">
                  <p:oleObj spid="_x0000_s19516" name="Equation" r:id="rId4" imgW="114201" imgH="139579" progId="Equation.3">
                    <p:embed/>
                  </p:oleObj>
                </mc:Choice>
                <mc:Fallback>
                  <p:oleObj name="Equation" r:id="rId4" imgW="114201" imgH="139579" progId="Equation.3">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74" y="1608"/>
                          <a:ext cx="339"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39283" name="Group 19"/>
          <p:cNvGrpSpPr>
            <a:grpSpLocks/>
          </p:cNvGrpSpPr>
          <p:nvPr/>
        </p:nvGrpSpPr>
        <p:grpSpPr bwMode="auto">
          <a:xfrm>
            <a:off x="881063" y="3290888"/>
            <a:ext cx="7467600" cy="2667000"/>
            <a:chOff x="528" y="2400"/>
            <a:chExt cx="4704" cy="1680"/>
          </a:xfrm>
        </p:grpSpPr>
        <p:sp>
          <p:nvSpPr>
            <p:cNvPr id="19487" name="Rectangle 20"/>
            <p:cNvSpPr>
              <a:spLocks noChangeArrowheads="1"/>
            </p:cNvSpPr>
            <p:nvPr/>
          </p:nvSpPr>
          <p:spPr bwMode="auto">
            <a:xfrm>
              <a:off x="528" y="2400"/>
              <a:ext cx="4704" cy="168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grpSp>
          <p:nvGrpSpPr>
            <p:cNvPr id="19488" name="Group 21"/>
            <p:cNvGrpSpPr>
              <a:grpSpLocks/>
            </p:cNvGrpSpPr>
            <p:nvPr/>
          </p:nvGrpSpPr>
          <p:grpSpPr bwMode="auto">
            <a:xfrm>
              <a:off x="754" y="2496"/>
              <a:ext cx="1886" cy="1489"/>
              <a:chOff x="562" y="2448"/>
              <a:chExt cx="1886" cy="1489"/>
            </a:xfrm>
          </p:grpSpPr>
          <p:sp>
            <p:nvSpPr>
              <p:cNvPr id="19489" name="Line 22"/>
              <p:cNvSpPr>
                <a:spLocks noChangeShapeType="1"/>
              </p:cNvSpPr>
              <p:nvPr/>
            </p:nvSpPr>
            <p:spPr bwMode="auto">
              <a:xfrm>
                <a:off x="1313" y="2895"/>
                <a:ext cx="274" cy="670"/>
              </a:xfrm>
              <a:prstGeom prst="line">
                <a:avLst/>
              </a:prstGeom>
              <a:noFill/>
              <a:ln w="381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0" name="Line 23"/>
              <p:cNvSpPr>
                <a:spLocks noChangeShapeType="1"/>
              </p:cNvSpPr>
              <p:nvPr/>
            </p:nvSpPr>
            <p:spPr bwMode="auto">
              <a:xfrm>
                <a:off x="1313" y="2895"/>
                <a:ext cx="626" cy="670"/>
              </a:xfrm>
              <a:prstGeom prst="line">
                <a:avLst/>
              </a:prstGeom>
              <a:noFill/>
              <a:ln w="381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1" name="Line 24"/>
              <p:cNvSpPr>
                <a:spLocks noChangeShapeType="1"/>
              </p:cNvSpPr>
              <p:nvPr/>
            </p:nvSpPr>
            <p:spPr bwMode="auto">
              <a:xfrm>
                <a:off x="1587" y="3565"/>
                <a:ext cx="548" cy="372"/>
              </a:xfrm>
              <a:prstGeom prst="line">
                <a:avLst/>
              </a:prstGeom>
              <a:noFill/>
              <a:ln w="38100">
                <a:solidFill>
                  <a:srgbClr val="0000FF"/>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2" name="Line 25"/>
              <p:cNvSpPr>
                <a:spLocks noChangeShapeType="1"/>
              </p:cNvSpPr>
              <p:nvPr/>
            </p:nvSpPr>
            <p:spPr bwMode="auto">
              <a:xfrm>
                <a:off x="1939" y="3565"/>
                <a:ext cx="509" cy="335"/>
              </a:xfrm>
              <a:prstGeom prst="line">
                <a:avLst/>
              </a:prstGeom>
              <a:noFill/>
              <a:ln w="38100">
                <a:solidFill>
                  <a:srgbClr val="0000FF"/>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3" name="Line 26"/>
              <p:cNvSpPr>
                <a:spLocks noChangeShapeType="1"/>
              </p:cNvSpPr>
              <p:nvPr/>
            </p:nvSpPr>
            <p:spPr bwMode="auto">
              <a:xfrm>
                <a:off x="805" y="2560"/>
                <a:ext cx="508" cy="335"/>
              </a:xfrm>
              <a:prstGeom prst="line">
                <a:avLst/>
              </a:prstGeom>
              <a:noFill/>
              <a:ln w="38100">
                <a:solidFill>
                  <a:srgbClr val="0000FF"/>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4" name="Line 27"/>
              <p:cNvSpPr>
                <a:spLocks noChangeShapeType="1"/>
              </p:cNvSpPr>
              <p:nvPr/>
            </p:nvSpPr>
            <p:spPr bwMode="auto">
              <a:xfrm>
                <a:off x="1296" y="2496"/>
                <a:ext cx="9" cy="720"/>
              </a:xfrm>
              <a:prstGeom prst="line">
                <a:avLst/>
              </a:prstGeom>
              <a:noFill/>
              <a:ln w="1905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5" name="Line 28"/>
              <p:cNvSpPr>
                <a:spLocks noChangeShapeType="1"/>
              </p:cNvSpPr>
              <p:nvPr/>
            </p:nvSpPr>
            <p:spPr bwMode="auto">
              <a:xfrm flipV="1">
                <a:off x="1488" y="3072"/>
                <a:ext cx="96" cy="92"/>
              </a:xfrm>
              <a:prstGeom prst="line">
                <a:avLst/>
              </a:prstGeom>
              <a:noFill/>
              <a:ln w="254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6" name="Line 29"/>
              <p:cNvSpPr>
                <a:spLocks noChangeShapeType="1"/>
              </p:cNvSpPr>
              <p:nvPr/>
            </p:nvSpPr>
            <p:spPr bwMode="auto">
              <a:xfrm flipV="1">
                <a:off x="1607" y="3216"/>
                <a:ext cx="95" cy="94"/>
              </a:xfrm>
              <a:prstGeom prst="line">
                <a:avLst/>
              </a:prstGeom>
              <a:noFill/>
              <a:ln w="254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7" name="Line 30"/>
              <p:cNvSpPr>
                <a:spLocks noChangeShapeType="1"/>
              </p:cNvSpPr>
              <p:nvPr/>
            </p:nvSpPr>
            <p:spPr bwMode="auto">
              <a:xfrm flipV="1">
                <a:off x="1702" y="3312"/>
                <a:ext cx="95" cy="92"/>
              </a:xfrm>
              <a:prstGeom prst="line">
                <a:avLst/>
              </a:prstGeom>
              <a:noFill/>
              <a:ln w="254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8" name="Line 31"/>
              <p:cNvSpPr>
                <a:spLocks noChangeShapeType="1"/>
              </p:cNvSpPr>
              <p:nvPr/>
            </p:nvSpPr>
            <p:spPr bwMode="auto">
              <a:xfrm flipV="1">
                <a:off x="1777" y="3411"/>
                <a:ext cx="95" cy="93"/>
              </a:xfrm>
              <a:prstGeom prst="line">
                <a:avLst/>
              </a:prstGeom>
              <a:noFill/>
              <a:ln w="254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9" name="Line 32"/>
              <p:cNvSpPr>
                <a:spLocks noChangeShapeType="1"/>
              </p:cNvSpPr>
              <p:nvPr/>
            </p:nvSpPr>
            <p:spPr bwMode="auto">
              <a:xfrm flipV="1">
                <a:off x="2002" y="3600"/>
                <a:ext cx="110" cy="96"/>
              </a:xfrm>
              <a:prstGeom prst="line">
                <a:avLst/>
              </a:prstGeom>
              <a:noFill/>
              <a:ln w="1905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0" name="Line 33"/>
              <p:cNvSpPr>
                <a:spLocks noChangeShapeType="1"/>
              </p:cNvSpPr>
              <p:nvPr/>
            </p:nvSpPr>
            <p:spPr bwMode="auto">
              <a:xfrm flipV="1">
                <a:off x="2092" y="3648"/>
                <a:ext cx="116" cy="96"/>
              </a:xfrm>
              <a:prstGeom prst="line">
                <a:avLst/>
              </a:prstGeom>
              <a:noFill/>
              <a:ln w="254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1" name="Line 34"/>
              <p:cNvSpPr>
                <a:spLocks noChangeShapeType="1"/>
              </p:cNvSpPr>
              <p:nvPr/>
            </p:nvSpPr>
            <p:spPr bwMode="auto">
              <a:xfrm flipV="1">
                <a:off x="2160" y="3696"/>
                <a:ext cx="110" cy="96"/>
              </a:xfrm>
              <a:prstGeom prst="line">
                <a:avLst/>
              </a:prstGeom>
              <a:noFill/>
              <a:ln w="254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2" name="Rectangle 35"/>
              <p:cNvSpPr>
                <a:spLocks noChangeArrowheads="1"/>
              </p:cNvSpPr>
              <p:nvPr/>
            </p:nvSpPr>
            <p:spPr bwMode="auto">
              <a:xfrm>
                <a:off x="562" y="2448"/>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r>
                  <a:rPr kumimoji="1" lang="en-US" altLang="zh-CN"/>
                  <a:t>A</a:t>
                </a:r>
              </a:p>
            </p:txBody>
          </p:sp>
          <p:sp>
            <p:nvSpPr>
              <p:cNvPr id="19503" name="Rectangle 36"/>
              <p:cNvSpPr>
                <a:spLocks noChangeArrowheads="1"/>
              </p:cNvSpPr>
              <p:nvPr/>
            </p:nvSpPr>
            <p:spPr bwMode="auto">
              <a:xfrm>
                <a:off x="1344" y="3456"/>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r>
                  <a:rPr kumimoji="1" lang="en-US" altLang="zh-CN">
                    <a:solidFill>
                      <a:srgbClr val="006600"/>
                    </a:solidFill>
                  </a:rPr>
                  <a:t>C</a:t>
                </a:r>
              </a:p>
            </p:txBody>
          </p:sp>
          <p:sp>
            <p:nvSpPr>
              <p:cNvPr id="19504" name="Rectangle 37"/>
              <p:cNvSpPr>
                <a:spLocks noChangeArrowheads="1"/>
              </p:cNvSpPr>
              <p:nvPr/>
            </p:nvSpPr>
            <p:spPr bwMode="auto">
              <a:xfrm>
                <a:off x="1305" y="2597"/>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r>
                  <a:rPr kumimoji="1" lang="en-US" altLang="zh-CN"/>
                  <a:t>B</a:t>
                </a:r>
              </a:p>
            </p:txBody>
          </p:sp>
          <p:sp>
            <p:nvSpPr>
              <p:cNvPr id="19505" name="Oval 38"/>
              <p:cNvSpPr>
                <a:spLocks noChangeArrowheads="1"/>
              </p:cNvSpPr>
              <p:nvPr/>
            </p:nvSpPr>
            <p:spPr bwMode="auto">
              <a:xfrm>
                <a:off x="1488" y="3408"/>
                <a:ext cx="96" cy="96"/>
              </a:xfrm>
              <a:prstGeom prst="ellipse">
                <a:avLst/>
              </a:prstGeom>
              <a:solidFill>
                <a:srgbClr val="0000FF"/>
              </a:solidFill>
              <a:ln>
                <a:noFill/>
              </a:ln>
              <a:effectLst/>
              <a:extLs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9506" name="Oval 39"/>
              <p:cNvSpPr>
                <a:spLocks noChangeArrowheads="1"/>
              </p:cNvSpPr>
              <p:nvPr/>
            </p:nvSpPr>
            <p:spPr bwMode="auto">
              <a:xfrm>
                <a:off x="1344" y="3024"/>
                <a:ext cx="96" cy="96"/>
              </a:xfrm>
              <a:prstGeom prst="ellipse">
                <a:avLst/>
              </a:prstGeom>
              <a:solidFill>
                <a:srgbClr val="0000FF"/>
              </a:solidFill>
              <a:ln>
                <a:noFill/>
              </a:ln>
              <a:effectLst/>
              <a:extLs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9507" name="Oval 40"/>
              <p:cNvSpPr>
                <a:spLocks noChangeArrowheads="1"/>
              </p:cNvSpPr>
              <p:nvPr/>
            </p:nvSpPr>
            <p:spPr bwMode="auto">
              <a:xfrm>
                <a:off x="1416" y="3216"/>
                <a:ext cx="96" cy="96"/>
              </a:xfrm>
              <a:prstGeom prst="ellipse">
                <a:avLst/>
              </a:prstGeom>
              <a:solidFill>
                <a:srgbClr val="0000FF"/>
              </a:solidFill>
              <a:ln>
                <a:noFill/>
              </a:ln>
              <a:effectLst/>
              <a:extLs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9508" name="Oval 41"/>
              <p:cNvSpPr>
                <a:spLocks noChangeArrowheads="1"/>
              </p:cNvSpPr>
              <p:nvPr/>
            </p:nvSpPr>
            <p:spPr bwMode="auto">
              <a:xfrm>
                <a:off x="1677" y="3622"/>
                <a:ext cx="96" cy="96"/>
              </a:xfrm>
              <a:prstGeom prst="ellipse">
                <a:avLst/>
              </a:prstGeom>
              <a:solidFill>
                <a:srgbClr val="0000FF"/>
              </a:solidFill>
              <a:ln>
                <a:noFill/>
              </a:ln>
              <a:effectLst/>
              <a:extLs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9509" name="Oval 42"/>
              <p:cNvSpPr>
                <a:spLocks noChangeArrowheads="1"/>
              </p:cNvSpPr>
              <p:nvPr/>
            </p:nvSpPr>
            <p:spPr bwMode="auto">
              <a:xfrm>
                <a:off x="1824" y="3722"/>
                <a:ext cx="96" cy="96"/>
              </a:xfrm>
              <a:prstGeom prst="ellipse">
                <a:avLst/>
              </a:prstGeom>
              <a:solidFill>
                <a:srgbClr val="0000FF"/>
              </a:solidFill>
              <a:ln>
                <a:noFill/>
              </a:ln>
              <a:effectLst/>
              <a:extLs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9510" name="AutoShape 43"/>
              <p:cNvSpPr>
                <a:spLocks noChangeArrowheads="1"/>
              </p:cNvSpPr>
              <p:nvPr/>
            </p:nvSpPr>
            <p:spPr bwMode="auto">
              <a:xfrm flipH="1">
                <a:off x="672" y="2880"/>
                <a:ext cx="1680" cy="672"/>
              </a:xfrm>
              <a:prstGeom prst="parallelogram">
                <a:avLst>
                  <a:gd name="adj" fmla="val 62488"/>
                </a:avLst>
              </a:prstGeom>
              <a:solidFill>
                <a:srgbClr val="BDFF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9511" name="Rectangle 44"/>
              <p:cNvSpPr>
                <a:spLocks noChangeArrowheads="1"/>
              </p:cNvSpPr>
              <p:nvPr/>
            </p:nvSpPr>
            <p:spPr bwMode="auto">
              <a:xfrm>
                <a:off x="1200" y="3120"/>
                <a:ext cx="4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r>
                  <a:rPr kumimoji="1" lang="en-US" altLang="zh-CN"/>
                  <a:t>o</a:t>
                </a:r>
              </a:p>
            </p:txBody>
          </p:sp>
          <p:sp>
            <p:nvSpPr>
              <p:cNvPr id="19512" name="Rectangle 45"/>
              <p:cNvSpPr>
                <a:spLocks noChangeArrowheads="1"/>
              </p:cNvSpPr>
              <p:nvPr/>
            </p:nvSpPr>
            <p:spPr bwMode="auto">
              <a:xfrm>
                <a:off x="1680" y="3024"/>
                <a:ext cx="2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r>
                  <a:rPr kumimoji="1" lang="en-US" altLang="zh-CN"/>
                  <a:t>e</a:t>
                </a:r>
              </a:p>
            </p:txBody>
          </p:sp>
          <p:sp>
            <p:nvSpPr>
              <p:cNvPr id="19513" name="Rectangle 46"/>
              <p:cNvSpPr>
                <a:spLocks noChangeArrowheads="1"/>
              </p:cNvSpPr>
              <p:nvPr/>
            </p:nvSpPr>
            <p:spPr bwMode="auto">
              <a:xfrm>
                <a:off x="1920" y="3264"/>
                <a:ext cx="4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r>
                  <a:rPr kumimoji="1" lang="en-US" altLang="zh-CN">
                    <a:solidFill>
                      <a:srgbClr val="006600"/>
                    </a:solidFill>
                  </a:rPr>
                  <a:t>D</a:t>
                </a:r>
              </a:p>
            </p:txBody>
          </p:sp>
        </p:grpSp>
      </p:grpSp>
      <p:grpSp>
        <p:nvGrpSpPr>
          <p:cNvPr id="139311" name="Group 47"/>
          <p:cNvGrpSpPr>
            <a:grpSpLocks/>
          </p:cNvGrpSpPr>
          <p:nvPr/>
        </p:nvGrpSpPr>
        <p:grpSpPr bwMode="auto">
          <a:xfrm>
            <a:off x="4995863" y="3367088"/>
            <a:ext cx="2743200" cy="2590800"/>
            <a:chOff x="3360" y="2448"/>
            <a:chExt cx="1728" cy="1632"/>
          </a:xfrm>
        </p:grpSpPr>
        <p:sp>
          <p:nvSpPr>
            <p:cNvPr id="19467" name="Line 48"/>
            <p:cNvSpPr>
              <a:spLocks noChangeShapeType="1"/>
            </p:cNvSpPr>
            <p:nvPr/>
          </p:nvSpPr>
          <p:spPr bwMode="auto">
            <a:xfrm>
              <a:off x="4080" y="2545"/>
              <a:ext cx="0" cy="1535"/>
            </a:xfrm>
            <a:prstGeom prst="line">
              <a:avLst/>
            </a:prstGeom>
            <a:noFill/>
            <a:ln w="38100">
              <a:solidFill>
                <a:srgbClr val="0000FF"/>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8" name="Line 49"/>
            <p:cNvSpPr>
              <a:spLocks noChangeShapeType="1"/>
            </p:cNvSpPr>
            <p:nvPr/>
          </p:nvSpPr>
          <p:spPr bwMode="auto">
            <a:xfrm>
              <a:off x="4080" y="2880"/>
              <a:ext cx="288" cy="675"/>
            </a:xfrm>
            <a:prstGeom prst="line">
              <a:avLst/>
            </a:prstGeom>
            <a:noFill/>
            <a:ln w="38100">
              <a:solidFill>
                <a:srgbClr val="0000FF"/>
              </a:solidFill>
              <a:round/>
              <a:headEnd type="none"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9" name="Line 50"/>
            <p:cNvSpPr>
              <a:spLocks noChangeShapeType="1"/>
            </p:cNvSpPr>
            <p:nvPr/>
          </p:nvSpPr>
          <p:spPr bwMode="auto">
            <a:xfrm>
              <a:off x="4080" y="2448"/>
              <a:ext cx="0" cy="304"/>
            </a:xfrm>
            <a:prstGeom prst="line">
              <a:avLst/>
            </a:prstGeom>
            <a:noFill/>
            <a:ln w="38100">
              <a:solidFill>
                <a:srgbClr val="0000FF"/>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0" name="Line 51"/>
            <p:cNvSpPr>
              <a:spLocks noChangeShapeType="1"/>
            </p:cNvSpPr>
            <p:nvPr/>
          </p:nvSpPr>
          <p:spPr bwMode="auto">
            <a:xfrm flipV="1">
              <a:off x="4080" y="3022"/>
              <a:ext cx="118" cy="48"/>
            </a:xfrm>
            <a:prstGeom prst="line">
              <a:avLst/>
            </a:prstGeom>
            <a:noFill/>
            <a:ln w="25400">
              <a:solidFill>
                <a:srgbClr val="0000FF"/>
              </a:solidFill>
              <a:round/>
              <a:headEnd type="none"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1" name="Line 52"/>
            <p:cNvSpPr>
              <a:spLocks noChangeShapeType="1"/>
            </p:cNvSpPr>
            <p:nvPr/>
          </p:nvSpPr>
          <p:spPr bwMode="auto">
            <a:xfrm flipV="1">
              <a:off x="4128" y="3117"/>
              <a:ext cx="116" cy="49"/>
            </a:xfrm>
            <a:prstGeom prst="line">
              <a:avLst/>
            </a:prstGeom>
            <a:noFill/>
            <a:ln w="25400">
              <a:solidFill>
                <a:srgbClr val="0000FF"/>
              </a:solidFill>
              <a:round/>
              <a:headEnd type="none"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2" name="Line 53"/>
            <p:cNvSpPr>
              <a:spLocks noChangeShapeType="1"/>
            </p:cNvSpPr>
            <p:nvPr/>
          </p:nvSpPr>
          <p:spPr bwMode="auto">
            <a:xfrm flipV="1">
              <a:off x="4176" y="3214"/>
              <a:ext cx="118" cy="48"/>
            </a:xfrm>
            <a:prstGeom prst="line">
              <a:avLst/>
            </a:prstGeom>
            <a:noFill/>
            <a:ln w="25400">
              <a:solidFill>
                <a:srgbClr val="0000FF"/>
              </a:solidFill>
              <a:round/>
              <a:headEnd type="none"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3" name="Line 54"/>
            <p:cNvSpPr>
              <a:spLocks noChangeShapeType="1"/>
            </p:cNvSpPr>
            <p:nvPr/>
          </p:nvSpPr>
          <p:spPr bwMode="auto">
            <a:xfrm flipV="1">
              <a:off x="4224" y="3312"/>
              <a:ext cx="118" cy="47"/>
            </a:xfrm>
            <a:prstGeom prst="line">
              <a:avLst/>
            </a:prstGeom>
            <a:noFill/>
            <a:ln w="25400">
              <a:solidFill>
                <a:srgbClr val="0000FF"/>
              </a:solidFill>
              <a:round/>
              <a:headEnd type="none"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9474" name="Group 55"/>
            <p:cNvGrpSpPr>
              <a:grpSpLocks/>
            </p:cNvGrpSpPr>
            <p:nvPr/>
          </p:nvGrpSpPr>
          <p:grpSpPr bwMode="auto">
            <a:xfrm>
              <a:off x="4303" y="3552"/>
              <a:ext cx="161" cy="480"/>
              <a:chOff x="4293" y="3552"/>
              <a:chExt cx="161" cy="463"/>
            </a:xfrm>
          </p:grpSpPr>
          <p:sp>
            <p:nvSpPr>
              <p:cNvPr id="19483" name="Line 56"/>
              <p:cNvSpPr>
                <a:spLocks noChangeShapeType="1"/>
              </p:cNvSpPr>
              <p:nvPr/>
            </p:nvSpPr>
            <p:spPr bwMode="auto">
              <a:xfrm>
                <a:off x="4368" y="3552"/>
                <a:ext cx="0" cy="463"/>
              </a:xfrm>
              <a:prstGeom prst="line">
                <a:avLst/>
              </a:prstGeom>
              <a:noFill/>
              <a:ln w="38100">
                <a:solidFill>
                  <a:srgbClr val="0000FF"/>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4" name="Line 57"/>
              <p:cNvSpPr>
                <a:spLocks noChangeShapeType="1"/>
              </p:cNvSpPr>
              <p:nvPr/>
            </p:nvSpPr>
            <p:spPr bwMode="auto">
              <a:xfrm>
                <a:off x="4293" y="3625"/>
                <a:ext cx="161" cy="0"/>
              </a:xfrm>
              <a:prstGeom prst="line">
                <a:avLst/>
              </a:prstGeom>
              <a:noFill/>
              <a:ln w="25400">
                <a:solidFill>
                  <a:srgbClr val="0000FF"/>
                </a:solidFill>
                <a:round/>
                <a:headEnd type="none"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5" name="Line 58"/>
              <p:cNvSpPr>
                <a:spLocks noChangeShapeType="1"/>
              </p:cNvSpPr>
              <p:nvPr/>
            </p:nvSpPr>
            <p:spPr bwMode="auto">
              <a:xfrm>
                <a:off x="4293" y="3709"/>
                <a:ext cx="161" cy="0"/>
              </a:xfrm>
              <a:prstGeom prst="line">
                <a:avLst/>
              </a:prstGeom>
              <a:noFill/>
              <a:ln w="25400">
                <a:solidFill>
                  <a:srgbClr val="0000FF"/>
                </a:solidFill>
                <a:round/>
                <a:headEnd type="none"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6" name="Line 59"/>
              <p:cNvSpPr>
                <a:spLocks noChangeShapeType="1"/>
              </p:cNvSpPr>
              <p:nvPr/>
            </p:nvSpPr>
            <p:spPr bwMode="auto">
              <a:xfrm>
                <a:off x="4293" y="3792"/>
                <a:ext cx="161" cy="0"/>
              </a:xfrm>
              <a:prstGeom prst="line">
                <a:avLst/>
              </a:prstGeom>
              <a:noFill/>
              <a:ln w="25400">
                <a:solidFill>
                  <a:srgbClr val="0000FF"/>
                </a:solidFill>
                <a:round/>
                <a:headEnd type="none"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475" name="Oval 60"/>
            <p:cNvSpPr>
              <a:spLocks noChangeArrowheads="1"/>
            </p:cNvSpPr>
            <p:nvPr/>
          </p:nvSpPr>
          <p:spPr bwMode="auto">
            <a:xfrm>
              <a:off x="4032" y="3120"/>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9476" name="Oval 61"/>
            <p:cNvSpPr>
              <a:spLocks noChangeArrowheads="1"/>
            </p:cNvSpPr>
            <p:nvPr/>
          </p:nvSpPr>
          <p:spPr bwMode="auto">
            <a:xfrm>
              <a:off x="4032" y="3264"/>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9477" name="Oval 62"/>
            <p:cNvSpPr>
              <a:spLocks noChangeArrowheads="1"/>
            </p:cNvSpPr>
            <p:nvPr/>
          </p:nvSpPr>
          <p:spPr bwMode="auto">
            <a:xfrm>
              <a:off x="4032" y="3408"/>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9478" name="Oval 63"/>
            <p:cNvSpPr>
              <a:spLocks noChangeArrowheads="1"/>
            </p:cNvSpPr>
            <p:nvPr/>
          </p:nvSpPr>
          <p:spPr bwMode="auto">
            <a:xfrm>
              <a:off x="4032" y="3600"/>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9479" name="Oval 64"/>
            <p:cNvSpPr>
              <a:spLocks noChangeArrowheads="1"/>
            </p:cNvSpPr>
            <p:nvPr/>
          </p:nvSpPr>
          <p:spPr bwMode="auto">
            <a:xfrm>
              <a:off x="4032" y="3744"/>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9480" name="AutoShape 65"/>
            <p:cNvSpPr>
              <a:spLocks noChangeArrowheads="1"/>
            </p:cNvSpPr>
            <p:nvPr/>
          </p:nvSpPr>
          <p:spPr bwMode="auto">
            <a:xfrm flipH="1">
              <a:off x="3360" y="2880"/>
              <a:ext cx="1728" cy="672"/>
            </a:xfrm>
            <a:prstGeom prst="parallelogram">
              <a:avLst>
                <a:gd name="adj" fmla="val 64274"/>
              </a:avLst>
            </a:prstGeom>
            <a:solidFill>
              <a:srgbClr val="CDFF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endParaRPr lang="zh-CN" altLang="en-US"/>
            </a:p>
          </p:txBody>
        </p:sp>
        <p:sp>
          <p:nvSpPr>
            <p:cNvPr id="19481" name="Rectangle 66"/>
            <p:cNvSpPr>
              <a:spLocks noChangeArrowheads="1"/>
            </p:cNvSpPr>
            <p:nvPr/>
          </p:nvSpPr>
          <p:spPr bwMode="auto">
            <a:xfrm>
              <a:off x="4320" y="3187"/>
              <a:ext cx="2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r>
                <a:rPr kumimoji="1" lang="en-US" altLang="zh-CN"/>
                <a:t>e</a:t>
              </a:r>
            </a:p>
          </p:txBody>
        </p:sp>
        <p:sp>
          <p:nvSpPr>
            <p:cNvPr id="19482" name="Rectangle 67"/>
            <p:cNvSpPr>
              <a:spLocks noChangeArrowheads="1"/>
            </p:cNvSpPr>
            <p:nvPr/>
          </p:nvSpPr>
          <p:spPr bwMode="auto">
            <a:xfrm>
              <a:off x="3792" y="3216"/>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r>
                <a:rPr kumimoji="1" lang="en-US" altLang="zh-CN"/>
                <a:t>o</a:t>
              </a:r>
            </a:p>
          </p:txBody>
        </p:sp>
      </p:grpSp>
      <p:graphicFrame>
        <p:nvGraphicFramePr>
          <p:cNvPr id="19466" name="Object 69"/>
          <p:cNvGraphicFramePr>
            <a:graphicFrameLocks noChangeAspect="1"/>
          </p:cNvGraphicFramePr>
          <p:nvPr/>
        </p:nvGraphicFramePr>
        <p:xfrm>
          <a:off x="2552700" y="1276350"/>
          <a:ext cx="538163" cy="484188"/>
        </p:xfrm>
        <a:graphic>
          <a:graphicData uri="http://schemas.openxmlformats.org/presentationml/2006/ole">
            <mc:AlternateContent xmlns:mc="http://schemas.openxmlformats.org/markup-compatibility/2006">
              <mc:Choice xmlns:v="urn:schemas-microsoft-com:vml" Requires="v">
                <p:oleObj spid="_x0000_s19517" name="Equation" r:id="rId6" imgW="114201" imgH="139579" progId="Equation.3">
                  <p:embed/>
                </p:oleObj>
              </mc:Choice>
              <mc:Fallback>
                <p:oleObj name="Equation" r:id="rId6" imgW="114201" imgH="139579" progId="Equation.3">
                  <p:embed/>
                  <p:pic>
                    <p:nvPicPr>
                      <p:cNvPr id="0" name="Object 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2700" y="1276350"/>
                        <a:ext cx="538163"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9334"/>
                                        </p:tgtEl>
                                        <p:attrNameLst>
                                          <p:attrName>style.visibility</p:attrName>
                                        </p:attrNameLst>
                                      </p:cBhvr>
                                      <p:to>
                                        <p:strVal val="visible"/>
                                      </p:to>
                                    </p:set>
                                    <p:animEffect transition="in" filter="wipe(left)">
                                      <p:cBhvr>
                                        <p:cTn id="7" dur="500"/>
                                        <p:tgtEl>
                                          <p:spTgt spid="1393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39283"/>
                                        </p:tgtEl>
                                        <p:attrNameLst>
                                          <p:attrName>style.visibility</p:attrName>
                                        </p:attrNameLst>
                                      </p:cBhvr>
                                      <p:to>
                                        <p:strVal val="visible"/>
                                      </p:to>
                                    </p:set>
                                    <p:animEffect transition="in" filter="box(in)">
                                      <p:cBhvr>
                                        <p:cTn id="12" dur="500"/>
                                        <p:tgtEl>
                                          <p:spTgt spid="1392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39311"/>
                                        </p:tgtEl>
                                        <p:attrNameLst>
                                          <p:attrName>style.visibility</p:attrName>
                                        </p:attrNameLst>
                                      </p:cBhvr>
                                      <p:to>
                                        <p:strVal val="visible"/>
                                      </p:to>
                                    </p:set>
                                    <p:animEffect transition="in" filter="box(out)">
                                      <p:cBhvr>
                                        <p:cTn id="17" dur="500"/>
                                        <p:tgtEl>
                                          <p:spTgt spid="139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fld id="{A9E94C17-D979-43A9-9E91-51E3E290EDBF}" type="slidenum">
              <a:rPr lang="zh-CN" altLang="en-US" sz="1400" b="0" smtClean="0">
                <a:solidFill>
                  <a:schemeClr val="bg2"/>
                </a:solidFill>
              </a:rPr>
              <a:pPr/>
              <a:t>18</a:t>
            </a:fld>
            <a:endParaRPr lang="en-US" altLang="zh-CN" sz="1400" b="0" smtClean="0">
              <a:solidFill>
                <a:schemeClr val="bg2"/>
              </a:solidFill>
            </a:endParaRPr>
          </a:p>
        </p:txBody>
      </p:sp>
      <p:sp>
        <p:nvSpPr>
          <p:cNvPr id="86020" name="Text Box 4"/>
          <p:cNvSpPr txBox="1">
            <a:spLocks noChangeArrowheads="1"/>
          </p:cNvSpPr>
          <p:nvPr/>
        </p:nvSpPr>
        <p:spPr bwMode="auto">
          <a:xfrm>
            <a:off x="739775" y="1358900"/>
            <a:ext cx="7696200" cy="177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kumimoji="1" lang="zh-CN" altLang="en-US" sz="3600">
                <a:latin typeface="Century Schoolbook" pitchFamily="18" charset="0"/>
              </a:rPr>
              <a:t>    </a:t>
            </a:r>
            <a:r>
              <a:rPr kumimoji="1" lang="zh-CN" altLang="en-US">
                <a:latin typeface="Century Schoolbook" pitchFamily="18" charset="0"/>
              </a:rPr>
              <a:t>在双折射晶体内存在一个固定的方向，在该方向上</a:t>
            </a:r>
            <a:r>
              <a:rPr kumimoji="1" lang="en-US" altLang="zh-CN" i="1">
                <a:latin typeface="Century Schoolbook" pitchFamily="18" charset="0"/>
              </a:rPr>
              <a:t>o</a:t>
            </a:r>
            <a:r>
              <a:rPr kumimoji="1" lang="zh-CN" altLang="en-US">
                <a:latin typeface="Century Schoolbook" pitchFamily="18" charset="0"/>
              </a:rPr>
              <a:t>光、</a:t>
            </a:r>
            <a:r>
              <a:rPr kumimoji="1" lang="en-US" altLang="zh-CN" i="1">
                <a:latin typeface="Century Schoolbook" pitchFamily="18" charset="0"/>
              </a:rPr>
              <a:t>e</a:t>
            </a:r>
            <a:r>
              <a:rPr kumimoji="1" lang="zh-CN" altLang="en-US">
                <a:latin typeface="Century Schoolbook" pitchFamily="18" charset="0"/>
              </a:rPr>
              <a:t>光的传播速度相同，折射率相同，不发生双折射现象，这个方向称为</a:t>
            </a:r>
            <a:r>
              <a:rPr kumimoji="1" lang="zh-CN" altLang="en-US">
                <a:solidFill>
                  <a:srgbClr val="FF3300"/>
                </a:solidFill>
                <a:latin typeface="Century Schoolbook" pitchFamily="18" charset="0"/>
              </a:rPr>
              <a:t>晶体的光轴</a:t>
            </a:r>
            <a:r>
              <a:rPr kumimoji="1" lang="zh-CN" altLang="en-US">
                <a:latin typeface="Century Schoolbook" pitchFamily="18" charset="0"/>
              </a:rPr>
              <a:t>。</a:t>
            </a:r>
          </a:p>
        </p:txBody>
      </p:sp>
      <p:grpSp>
        <p:nvGrpSpPr>
          <p:cNvPr id="20484" name="Group 34"/>
          <p:cNvGrpSpPr>
            <a:grpSpLocks/>
          </p:cNvGrpSpPr>
          <p:nvPr/>
        </p:nvGrpSpPr>
        <p:grpSpPr bwMode="auto">
          <a:xfrm>
            <a:off x="4386263" y="3543300"/>
            <a:ext cx="4191000" cy="2451100"/>
            <a:chOff x="2820" y="2245"/>
            <a:chExt cx="2640" cy="1544"/>
          </a:xfrm>
        </p:grpSpPr>
        <p:grpSp>
          <p:nvGrpSpPr>
            <p:cNvPr id="20490" name="Group 26"/>
            <p:cNvGrpSpPr>
              <a:grpSpLocks/>
            </p:cNvGrpSpPr>
            <p:nvPr/>
          </p:nvGrpSpPr>
          <p:grpSpPr bwMode="auto">
            <a:xfrm>
              <a:off x="2820" y="2425"/>
              <a:ext cx="2640" cy="1152"/>
              <a:chOff x="2823" y="2217"/>
              <a:chExt cx="2640" cy="1152"/>
            </a:xfrm>
          </p:grpSpPr>
          <p:sp>
            <p:nvSpPr>
              <p:cNvPr id="20500" name="Freeform 6"/>
              <p:cNvSpPr>
                <a:spLocks/>
              </p:cNvSpPr>
              <p:nvPr/>
            </p:nvSpPr>
            <p:spPr bwMode="auto">
              <a:xfrm>
                <a:off x="2823" y="2217"/>
                <a:ext cx="1056" cy="1152"/>
              </a:xfrm>
              <a:custGeom>
                <a:avLst/>
                <a:gdLst>
                  <a:gd name="T0" fmla="*/ 0 w 1056"/>
                  <a:gd name="T1" fmla="*/ 1152 h 1152"/>
                  <a:gd name="T2" fmla="*/ 576 w 1056"/>
                  <a:gd name="T3" fmla="*/ 864 h 1152"/>
                  <a:gd name="T4" fmla="*/ 1056 w 1056"/>
                  <a:gd name="T5" fmla="*/ 0 h 1152"/>
                  <a:gd name="T6" fmla="*/ 0 60000 65536"/>
                  <a:gd name="T7" fmla="*/ 0 60000 65536"/>
                  <a:gd name="T8" fmla="*/ 0 60000 65536"/>
                </a:gdLst>
                <a:ahLst/>
                <a:cxnLst>
                  <a:cxn ang="T6">
                    <a:pos x="T0" y="T1"/>
                  </a:cxn>
                  <a:cxn ang="T7">
                    <a:pos x="T2" y="T3"/>
                  </a:cxn>
                  <a:cxn ang="T8">
                    <a:pos x="T4" y="T5"/>
                  </a:cxn>
                </a:cxnLst>
                <a:rect l="0" t="0" r="r" b="b"/>
                <a:pathLst>
                  <a:path w="1056" h="1152">
                    <a:moveTo>
                      <a:pt x="0" y="1152"/>
                    </a:moveTo>
                    <a:lnTo>
                      <a:pt x="576" y="864"/>
                    </a:lnTo>
                    <a:lnTo>
                      <a:pt x="1056" y="0"/>
                    </a:lnTo>
                  </a:path>
                </a:pathLst>
              </a:custGeom>
              <a:noFill/>
              <a:ln w="19050" cap="flat" cmpd="sng">
                <a:solidFill>
                  <a:schemeClr val="tx1"/>
                </a:solidFill>
                <a:prstDash val="dash"/>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1" name="Line 7"/>
              <p:cNvSpPr>
                <a:spLocks noChangeShapeType="1"/>
              </p:cNvSpPr>
              <p:nvPr/>
            </p:nvSpPr>
            <p:spPr bwMode="auto">
              <a:xfrm>
                <a:off x="3399" y="3081"/>
                <a:ext cx="1584"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2" name="Freeform 8"/>
              <p:cNvSpPr>
                <a:spLocks/>
              </p:cNvSpPr>
              <p:nvPr/>
            </p:nvSpPr>
            <p:spPr bwMode="auto">
              <a:xfrm>
                <a:off x="2829" y="2500"/>
                <a:ext cx="2064" cy="864"/>
              </a:xfrm>
              <a:custGeom>
                <a:avLst/>
                <a:gdLst>
                  <a:gd name="T0" fmla="*/ 480 w 2064"/>
                  <a:gd name="T1" fmla="*/ 0 h 864"/>
                  <a:gd name="T2" fmla="*/ 0 w 2064"/>
                  <a:gd name="T3" fmla="*/ 864 h 864"/>
                  <a:gd name="T4" fmla="*/ 1584 w 2064"/>
                  <a:gd name="T5" fmla="*/ 864 h 864"/>
                  <a:gd name="T6" fmla="*/ 2064 w 2064"/>
                  <a:gd name="T7" fmla="*/ 0 h 864"/>
                  <a:gd name="T8" fmla="*/ 480 w 2064"/>
                  <a:gd name="T9" fmla="*/ 0 h 8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64" h="864">
                    <a:moveTo>
                      <a:pt x="480" y="0"/>
                    </a:moveTo>
                    <a:lnTo>
                      <a:pt x="0" y="864"/>
                    </a:lnTo>
                    <a:lnTo>
                      <a:pt x="1584" y="864"/>
                    </a:lnTo>
                    <a:lnTo>
                      <a:pt x="2064" y="0"/>
                    </a:lnTo>
                    <a:lnTo>
                      <a:pt x="480" y="0"/>
                    </a:lnTo>
                    <a:close/>
                  </a:path>
                </a:pathLst>
              </a:custGeom>
              <a:solidFill>
                <a:srgbClr val="CCFFFF">
                  <a:alpha val="50195"/>
                </a:srgbClr>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3" name="Freeform 9"/>
              <p:cNvSpPr>
                <a:spLocks/>
              </p:cNvSpPr>
              <p:nvPr/>
            </p:nvSpPr>
            <p:spPr bwMode="auto">
              <a:xfrm>
                <a:off x="3303" y="2217"/>
                <a:ext cx="2160" cy="288"/>
              </a:xfrm>
              <a:custGeom>
                <a:avLst/>
                <a:gdLst>
                  <a:gd name="T0" fmla="*/ 0 w 2160"/>
                  <a:gd name="T1" fmla="*/ 288 h 288"/>
                  <a:gd name="T2" fmla="*/ 1584 w 2160"/>
                  <a:gd name="T3" fmla="*/ 288 h 288"/>
                  <a:gd name="T4" fmla="*/ 2160 w 2160"/>
                  <a:gd name="T5" fmla="*/ 0 h 288"/>
                  <a:gd name="T6" fmla="*/ 576 w 2160"/>
                  <a:gd name="T7" fmla="*/ 0 h 288"/>
                  <a:gd name="T8" fmla="*/ 0 w 2160"/>
                  <a:gd name="T9" fmla="*/ 288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 h="288">
                    <a:moveTo>
                      <a:pt x="0" y="288"/>
                    </a:moveTo>
                    <a:lnTo>
                      <a:pt x="1584" y="288"/>
                    </a:lnTo>
                    <a:lnTo>
                      <a:pt x="2160" y="0"/>
                    </a:lnTo>
                    <a:lnTo>
                      <a:pt x="576" y="0"/>
                    </a:lnTo>
                    <a:lnTo>
                      <a:pt x="0" y="288"/>
                    </a:lnTo>
                    <a:close/>
                  </a:path>
                </a:pathLst>
              </a:custGeom>
              <a:solidFill>
                <a:srgbClr val="BDFFFF">
                  <a:alpha val="50195"/>
                </a:srgbClr>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4" name="Freeform 10"/>
              <p:cNvSpPr>
                <a:spLocks/>
              </p:cNvSpPr>
              <p:nvPr/>
            </p:nvSpPr>
            <p:spPr bwMode="auto">
              <a:xfrm>
                <a:off x="4407" y="2217"/>
                <a:ext cx="1056" cy="1152"/>
              </a:xfrm>
              <a:custGeom>
                <a:avLst/>
                <a:gdLst>
                  <a:gd name="T0" fmla="*/ 0 w 1056"/>
                  <a:gd name="T1" fmla="*/ 1152 h 1152"/>
                  <a:gd name="T2" fmla="*/ 576 w 1056"/>
                  <a:gd name="T3" fmla="*/ 864 h 1152"/>
                  <a:gd name="T4" fmla="*/ 1056 w 1056"/>
                  <a:gd name="T5" fmla="*/ 0 h 1152"/>
                  <a:gd name="T6" fmla="*/ 480 w 1056"/>
                  <a:gd name="T7" fmla="*/ 288 h 1152"/>
                  <a:gd name="T8" fmla="*/ 0 w 1056"/>
                  <a:gd name="T9" fmla="*/ 1152 h 1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56" h="1152">
                    <a:moveTo>
                      <a:pt x="0" y="1152"/>
                    </a:moveTo>
                    <a:lnTo>
                      <a:pt x="576" y="864"/>
                    </a:lnTo>
                    <a:lnTo>
                      <a:pt x="1056" y="0"/>
                    </a:lnTo>
                    <a:lnTo>
                      <a:pt x="480" y="288"/>
                    </a:lnTo>
                    <a:lnTo>
                      <a:pt x="0" y="1152"/>
                    </a:lnTo>
                    <a:close/>
                  </a:path>
                </a:pathLst>
              </a:custGeom>
              <a:solidFill>
                <a:srgbClr val="BDFFFF">
                  <a:alpha val="50195"/>
                </a:srgbClr>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491" name="Group 33"/>
            <p:cNvGrpSpPr>
              <a:grpSpLocks/>
            </p:cNvGrpSpPr>
            <p:nvPr/>
          </p:nvGrpSpPr>
          <p:grpSpPr bwMode="auto">
            <a:xfrm>
              <a:off x="2823" y="2245"/>
              <a:ext cx="1941" cy="1544"/>
              <a:chOff x="2823" y="2245"/>
              <a:chExt cx="1941" cy="1544"/>
            </a:xfrm>
          </p:grpSpPr>
          <p:graphicFrame>
            <p:nvGraphicFramePr>
              <p:cNvPr id="20492" name="Object 12"/>
              <p:cNvGraphicFramePr>
                <a:graphicFrameLocks noChangeAspect="1"/>
              </p:cNvGraphicFramePr>
              <p:nvPr/>
            </p:nvGraphicFramePr>
            <p:xfrm>
              <a:off x="3504" y="2245"/>
              <a:ext cx="247" cy="240"/>
            </p:xfrm>
            <a:graphic>
              <a:graphicData uri="http://schemas.openxmlformats.org/presentationml/2006/ole">
                <mc:AlternateContent xmlns:mc="http://schemas.openxmlformats.org/markup-compatibility/2006">
                  <mc:Choice xmlns:v="urn:schemas-microsoft-com:vml" Requires="v">
                    <p:oleObj spid="_x0000_s20505" name="公式" r:id="rId3" imgW="393529" imgH="380835" progId="Equation.3">
                      <p:embed/>
                    </p:oleObj>
                  </mc:Choice>
                  <mc:Fallback>
                    <p:oleObj name="公式" r:id="rId3" imgW="393529" imgH="380835"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4" y="2245"/>
                            <a:ext cx="247"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493" name="Group 32"/>
              <p:cNvGrpSpPr>
                <a:grpSpLocks/>
              </p:cNvGrpSpPr>
              <p:nvPr/>
            </p:nvGrpSpPr>
            <p:grpSpPr bwMode="auto">
              <a:xfrm>
                <a:off x="2823" y="2245"/>
                <a:ext cx="1941" cy="1544"/>
                <a:chOff x="2823" y="2245"/>
                <a:chExt cx="1941" cy="1544"/>
              </a:xfrm>
            </p:grpSpPr>
            <p:sp>
              <p:nvSpPr>
                <p:cNvPr id="20494" name="Line 11"/>
                <p:cNvSpPr>
                  <a:spLocks noChangeShapeType="1"/>
                </p:cNvSpPr>
                <p:nvPr/>
              </p:nvSpPr>
              <p:spPr bwMode="auto">
                <a:xfrm>
                  <a:off x="3789" y="2245"/>
                  <a:ext cx="712" cy="1503"/>
                </a:xfrm>
                <a:prstGeom prst="line">
                  <a:avLst/>
                </a:prstGeom>
                <a:noFill/>
                <a:ln w="19050">
                  <a:solidFill>
                    <a:srgbClr val="FF3300"/>
                  </a:solidFill>
                  <a:prstDash val="lgDashDot"/>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0495" name="Object 13"/>
                <p:cNvGraphicFramePr>
                  <a:graphicFrameLocks noChangeAspect="1"/>
                </p:cNvGraphicFramePr>
                <p:nvPr/>
              </p:nvGraphicFramePr>
              <p:xfrm>
                <a:off x="4524" y="3549"/>
                <a:ext cx="240" cy="240"/>
              </p:xfrm>
              <a:graphic>
                <a:graphicData uri="http://schemas.openxmlformats.org/presentationml/2006/ole">
                  <mc:AlternateContent xmlns:mc="http://schemas.openxmlformats.org/markup-compatibility/2006">
                    <mc:Choice xmlns:v="urn:schemas-microsoft-com:vml" Requires="v">
                      <p:oleObj spid="_x0000_s20506" name="公式" r:id="rId5" imgW="380835" imgH="380835" progId="Equation.3">
                        <p:embed/>
                      </p:oleObj>
                    </mc:Choice>
                    <mc:Fallback>
                      <p:oleObj name="公式" r:id="rId5" imgW="380835" imgH="380835"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4" y="3549"/>
                              <a:ext cx="240" cy="2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96" name="Arc 14"/>
                <p:cNvSpPr>
                  <a:spLocks/>
                </p:cNvSpPr>
                <p:nvPr/>
              </p:nvSpPr>
              <p:spPr bwMode="auto">
                <a:xfrm>
                  <a:off x="2823" y="3362"/>
                  <a:ext cx="240" cy="212"/>
                </a:xfrm>
                <a:custGeom>
                  <a:avLst/>
                  <a:gdLst>
                    <a:gd name="T0" fmla="*/ 112 w 21600"/>
                    <a:gd name="T1" fmla="*/ 0 h 19089"/>
                    <a:gd name="T2" fmla="*/ 240 w 21600"/>
                    <a:gd name="T3" fmla="*/ 212 h 19089"/>
                    <a:gd name="T4" fmla="*/ 0 w 21600"/>
                    <a:gd name="T5" fmla="*/ 212 h 19089"/>
                    <a:gd name="T6" fmla="*/ 0 60000 65536"/>
                    <a:gd name="T7" fmla="*/ 0 60000 65536"/>
                    <a:gd name="T8" fmla="*/ 0 60000 65536"/>
                  </a:gdLst>
                  <a:ahLst/>
                  <a:cxnLst>
                    <a:cxn ang="T6">
                      <a:pos x="T0" y="T1"/>
                    </a:cxn>
                    <a:cxn ang="T7">
                      <a:pos x="T2" y="T3"/>
                    </a:cxn>
                    <a:cxn ang="T8">
                      <a:pos x="T4" y="T5"/>
                    </a:cxn>
                  </a:cxnLst>
                  <a:rect l="0" t="0" r="r" b="b"/>
                  <a:pathLst>
                    <a:path w="21600" h="19089" fill="none" extrusionOk="0">
                      <a:moveTo>
                        <a:pt x="10107" y="0"/>
                      </a:moveTo>
                      <a:cubicBezTo>
                        <a:pt x="17178" y="3743"/>
                        <a:pt x="21600" y="11088"/>
                        <a:pt x="21600" y="19089"/>
                      </a:cubicBezTo>
                    </a:path>
                    <a:path w="21600" h="19089" stroke="0" extrusionOk="0">
                      <a:moveTo>
                        <a:pt x="10107" y="0"/>
                      </a:moveTo>
                      <a:cubicBezTo>
                        <a:pt x="17178" y="3743"/>
                        <a:pt x="21600" y="11088"/>
                        <a:pt x="21600" y="19089"/>
                      </a:cubicBezTo>
                      <a:lnTo>
                        <a:pt x="0" y="19089"/>
                      </a:lnTo>
                      <a:lnTo>
                        <a:pt x="10107" y="0"/>
                      </a:lnTo>
                      <a:close/>
                    </a:path>
                  </a:pathLst>
                </a:custGeom>
                <a:noFill/>
                <a:ln w="19050">
                  <a:solidFill>
                    <a:schemeClr val="tx1"/>
                  </a:solidFill>
                  <a:round/>
                  <a:headEnd/>
                  <a:tailEnd type="none" w="med"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7" name="Arc 15"/>
                <p:cNvSpPr>
                  <a:spLocks/>
                </p:cNvSpPr>
                <p:nvPr/>
              </p:nvSpPr>
              <p:spPr bwMode="auto">
                <a:xfrm>
                  <a:off x="3239" y="2592"/>
                  <a:ext cx="236" cy="240"/>
                </a:xfrm>
                <a:custGeom>
                  <a:avLst/>
                  <a:gdLst>
                    <a:gd name="T0" fmla="*/ 236 w 21167"/>
                    <a:gd name="T1" fmla="*/ 113 h 21600"/>
                    <a:gd name="T2" fmla="*/ 0 w 21167"/>
                    <a:gd name="T3" fmla="*/ 239 h 21600"/>
                    <a:gd name="T4" fmla="*/ 24 w 21167"/>
                    <a:gd name="T5" fmla="*/ 0 h 21600"/>
                    <a:gd name="T6" fmla="*/ 0 60000 65536"/>
                    <a:gd name="T7" fmla="*/ 0 60000 65536"/>
                    <a:gd name="T8" fmla="*/ 0 60000 65536"/>
                  </a:gdLst>
                  <a:ahLst/>
                  <a:cxnLst>
                    <a:cxn ang="T6">
                      <a:pos x="T0" y="T1"/>
                    </a:cxn>
                    <a:cxn ang="T7">
                      <a:pos x="T2" y="T3"/>
                    </a:cxn>
                    <a:cxn ang="T8">
                      <a:pos x="T4" y="T5"/>
                    </a:cxn>
                  </a:cxnLst>
                  <a:rect l="0" t="0" r="r" b="b"/>
                  <a:pathLst>
                    <a:path w="21167" h="21600" fill="none" extrusionOk="0">
                      <a:moveTo>
                        <a:pt x="21167" y="10196"/>
                      </a:moveTo>
                      <a:cubicBezTo>
                        <a:pt x="17407" y="17217"/>
                        <a:pt x="10089" y="21599"/>
                        <a:pt x="2125" y="21600"/>
                      </a:cubicBezTo>
                      <a:cubicBezTo>
                        <a:pt x="1415" y="21600"/>
                        <a:pt x="706" y="21565"/>
                        <a:pt x="-1" y="21495"/>
                      </a:cubicBezTo>
                    </a:path>
                    <a:path w="21167" h="21600" stroke="0" extrusionOk="0">
                      <a:moveTo>
                        <a:pt x="21167" y="10196"/>
                      </a:moveTo>
                      <a:cubicBezTo>
                        <a:pt x="17407" y="17217"/>
                        <a:pt x="10089" y="21599"/>
                        <a:pt x="2125" y="21600"/>
                      </a:cubicBezTo>
                      <a:cubicBezTo>
                        <a:pt x="1415" y="21600"/>
                        <a:pt x="706" y="21565"/>
                        <a:pt x="-1" y="21495"/>
                      </a:cubicBezTo>
                      <a:lnTo>
                        <a:pt x="2125" y="0"/>
                      </a:lnTo>
                      <a:lnTo>
                        <a:pt x="21167" y="10196"/>
                      </a:lnTo>
                      <a:close/>
                    </a:path>
                  </a:pathLst>
                </a:custGeom>
                <a:noFill/>
                <a:ln w="19050">
                  <a:solidFill>
                    <a:schemeClr val="tx1"/>
                  </a:solidFill>
                  <a:round/>
                  <a:headEnd/>
                  <a:tailEnd type="none" w="med"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0498" name="Object 16"/>
                <p:cNvGraphicFramePr>
                  <a:graphicFrameLocks noChangeAspect="1"/>
                </p:cNvGraphicFramePr>
                <p:nvPr/>
              </p:nvGraphicFramePr>
              <p:xfrm>
                <a:off x="3303" y="2852"/>
                <a:ext cx="576" cy="168"/>
              </p:xfrm>
              <a:graphic>
                <a:graphicData uri="http://schemas.openxmlformats.org/presentationml/2006/ole">
                  <mc:AlternateContent xmlns:mc="http://schemas.openxmlformats.org/markup-compatibility/2006">
                    <mc:Choice xmlns:v="urn:schemas-microsoft-com:vml" Requires="v">
                      <p:oleObj spid="_x0000_s20507" name="公式" r:id="rId7" imgW="1308100" imgH="381000" progId="Equation.3">
                        <p:embed/>
                      </p:oleObj>
                    </mc:Choice>
                    <mc:Fallback>
                      <p:oleObj name="公式" r:id="rId7" imgW="1308100" imgH="38100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03" y="2852"/>
                              <a:ext cx="576" cy="1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9" name="Object 17"/>
                <p:cNvGraphicFramePr>
                  <a:graphicFrameLocks noChangeAspect="1"/>
                </p:cNvGraphicFramePr>
                <p:nvPr/>
              </p:nvGraphicFramePr>
              <p:xfrm>
                <a:off x="3111" y="3332"/>
                <a:ext cx="475" cy="168"/>
              </p:xfrm>
              <a:graphic>
                <a:graphicData uri="http://schemas.openxmlformats.org/presentationml/2006/ole">
                  <mc:AlternateContent xmlns:mc="http://schemas.openxmlformats.org/markup-compatibility/2006">
                    <mc:Choice xmlns:v="urn:schemas-microsoft-com:vml" Requires="v">
                      <p:oleObj spid="_x0000_s20508" name="公式" r:id="rId9" imgW="1079032" imgH="380835" progId="Equation.3">
                        <p:embed/>
                      </p:oleObj>
                    </mc:Choice>
                    <mc:Fallback>
                      <p:oleObj name="公式" r:id="rId9" imgW="1079032" imgH="380835" progId="Equation.3">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11" y="3332"/>
                              <a:ext cx="475" cy="1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sp>
        <p:nvSpPr>
          <p:cNvPr id="86034" name="Text Box 18"/>
          <p:cNvSpPr txBox="1">
            <a:spLocks noChangeArrowheads="1"/>
          </p:cNvSpPr>
          <p:nvPr/>
        </p:nvSpPr>
        <p:spPr bwMode="auto">
          <a:xfrm>
            <a:off x="831850" y="3473450"/>
            <a:ext cx="3870325" cy="609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lang="en-US" altLang="zh-CN">
                <a:solidFill>
                  <a:srgbClr val="CC0000"/>
                </a:solidFill>
                <a:latin typeface="Century Schoolbook" pitchFamily="18" charset="0"/>
              </a:rPr>
              <a:t>a. </a:t>
            </a:r>
            <a:r>
              <a:rPr lang="zh-CN" altLang="en-US">
                <a:solidFill>
                  <a:srgbClr val="CC0000"/>
                </a:solidFill>
                <a:latin typeface="Century Schoolbook" pitchFamily="18" charset="0"/>
              </a:rPr>
              <a:t>在平</a:t>
            </a:r>
            <a:r>
              <a:rPr kumimoji="1" lang="zh-CN" altLang="en-US">
                <a:solidFill>
                  <a:srgbClr val="CC0000"/>
                </a:solidFill>
                <a:latin typeface="Century Schoolbook" pitchFamily="18" charset="0"/>
              </a:rPr>
              <a:t>行于光轴方向</a:t>
            </a:r>
          </a:p>
        </p:txBody>
      </p:sp>
      <p:graphicFrame>
        <p:nvGraphicFramePr>
          <p:cNvPr id="86035" name="Object 19"/>
          <p:cNvGraphicFramePr>
            <a:graphicFrameLocks noChangeAspect="1"/>
          </p:cNvGraphicFramePr>
          <p:nvPr/>
        </p:nvGraphicFramePr>
        <p:xfrm>
          <a:off x="1011238" y="4381500"/>
          <a:ext cx="1123950" cy="544513"/>
        </p:xfrm>
        <a:graphic>
          <a:graphicData uri="http://schemas.openxmlformats.org/presentationml/2006/ole">
            <mc:AlternateContent xmlns:mc="http://schemas.openxmlformats.org/markup-compatibility/2006">
              <mc:Choice xmlns:v="urn:schemas-microsoft-com:vml" Requires="v">
                <p:oleObj spid="_x0000_s20509" name="公式" r:id="rId11" imgW="1574117" imgH="545863" progId="Equation.3">
                  <p:embed/>
                </p:oleObj>
              </mc:Choice>
              <mc:Fallback>
                <p:oleObj name="公式" r:id="rId11" imgW="1574117" imgH="545863" progId="Equation.3">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1238" y="4381500"/>
                        <a:ext cx="1123950" cy="544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36" name="Text Box 20"/>
          <p:cNvSpPr txBox="1">
            <a:spLocks noChangeArrowheads="1"/>
          </p:cNvSpPr>
          <p:nvPr/>
        </p:nvSpPr>
        <p:spPr bwMode="auto">
          <a:xfrm>
            <a:off x="2225675" y="4352925"/>
            <a:ext cx="2384425" cy="6048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kumimoji="1" lang="en-US" altLang="zh-CN" i="1">
                <a:latin typeface="Century Schoolbook" pitchFamily="18" charset="0"/>
              </a:rPr>
              <a:t>o、e</a:t>
            </a:r>
            <a:r>
              <a:rPr kumimoji="1" lang="zh-CN" altLang="en-US">
                <a:latin typeface="Century Schoolbook" pitchFamily="18" charset="0"/>
              </a:rPr>
              <a:t>光重合，</a:t>
            </a:r>
          </a:p>
        </p:txBody>
      </p:sp>
      <p:sp>
        <p:nvSpPr>
          <p:cNvPr id="86041" name="Text Box 25"/>
          <p:cNvSpPr txBox="1">
            <a:spLocks noChangeArrowheads="1"/>
          </p:cNvSpPr>
          <p:nvPr/>
        </p:nvSpPr>
        <p:spPr bwMode="auto">
          <a:xfrm>
            <a:off x="831850" y="5164138"/>
            <a:ext cx="3557588" cy="6048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kumimoji="1" lang="zh-CN" altLang="en-US">
                <a:solidFill>
                  <a:srgbClr val="FF3300"/>
                </a:solidFill>
                <a:latin typeface="Century Schoolbook" pitchFamily="18" charset="0"/>
              </a:rPr>
              <a:t>不产生双折射现象</a:t>
            </a:r>
            <a:r>
              <a:rPr kumimoji="1" lang="zh-CN" altLang="en-US">
                <a:latin typeface="Century Schoolbook" pitchFamily="18" charset="0"/>
              </a:rPr>
              <a:t>。</a:t>
            </a:r>
          </a:p>
        </p:txBody>
      </p:sp>
      <p:sp>
        <p:nvSpPr>
          <p:cNvPr id="20489" name="Rectangle 31"/>
          <p:cNvSpPr>
            <a:spLocks noChangeArrowheads="1"/>
          </p:cNvSpPr>
          <p:nvPr/>
        </p:nvSpPr>
        <p:spPr bwMode="auto">
          <a:xfrm>
            <a:off x="739775" y="728663"/>
            <a:ext cx="405130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a:lnSpc>
                <a:spcPct val="120000"/>
              </a:lnSpc>
            </a:pPr>
            <a:r>
              <a:rPr kumimoji="1" lang="en-US" altLang="zh-CN">
                <a:solidFill>
                  <a:srgbClr val="0000FF"/>
                </a:solidFill>
              </a:rPr>
              <a:t>2</a:t>
            </a:r>
            <a:r>
              <a:rPr kumimoji="1" lang="zh-CN" altLang="en-US">
                <a:solidFill>
                  <a:srgbClr val="0000FF"/>
                </a:solidFill>
              </a:rPr>
              <a:t>、晶体的光轴</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86020"/>
                                        </p:tgtEl>
                                        <p:attrNameLst>
                                          <p:attrName>style.visibility</p:attrName>
                                        </p:attrNameLst>
                                      </p:cBhvr>
                                      <p:to>
                                        <p:strVal val="visible"/>
                                      </p:to>
                                    </p:set>
                                    <p:animEffect transition="in" filter="wipe(left)">
                                      <p:cBhvr>
                                        <p:cTn id="7" dur="75"/>
                                        <p:tgtEl>
                                          <p:spTgt spid="860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86034"/>
                                        </p:tgtEl>
                                        <p:attrNameLst>
                                          <p:attrName>style.visibility</p:attrName>
                                        </p:attrNameLst>
                                      </p:cBhvr>
                                      <p:to>
                                        <p:strVal val="visible"/>
                                      </p:to>
                                    </p:set>
                                    <p:animEffect transition="in" filter="wipe(left)">
                                      <p:cBhvr>
                                        <p:cTn id="12" dur="75"/>
                                        <p:tgtEl>
                                          <p:spTgt spid="860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6035"/>
                                        </p:tgtEl>
                                        <p:attrNameLst>
                                          <p:attrName>style.visibility</p:attrName>
                                        </p:attrNameLst>
                                      </p:cBhvr>
                                      <p:to>
                                        <p:strVal val="visible"/>
                                      </p:to>
                                    </p:set>
                                    <p:animEffect transition="in" filter="wipe(left)">
                                      <p:cBhvr>
                                        <p:cTn id="17" dur="500"/>
                                        <p:tgtEl>
                                          <p:spTgt spid="860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86036"/>
                                        </p:tgtEl>
                                        <p:attrNameLst>
                                          <p:attrName>style.visibility</p:attrName>
                                        </p:attrNameLst>
                                      </p:cBhvr>
                                      <p:to>
                                        <p:strVal val="visible"/>
                                      </p:to>
                                    </p:set>
                                    <p:animEffect transition="in" filter="wipe(left)">
                                      <p:cBhvr>
                                        <p:cTn id="22" dur="75"/>
                                        <p:tgtEl>
                                          <p:spTgt spid="860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86041"/>
                                        </p:tgtEl>
                                        <p:attrNameLst>
                                          <p:attrName>style.visibility</p:attrName>
                                        </p:attrNameLst>
                                      </p:cBhvr>
                                      <p:to>
                                        <p:strVal val="visible"/>
                                      </p:to>
                                    </p:set>
                                    <p:animEffect transition="in" filter="wipe(left)">
                                      <p:cBhvr>
                                        <p:cTn id="27" dur="75"/>
                                        <p:tgtEl>
                                          <p:spTgt spid="86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autoUpdateAnimBg="0"/>
      <p:bldP spid="86034" grpId="0" autoUpdateAnimBg="0"/>
      <p:bldP spid="86036" grpId="0" autoUpdateAnimBg="0"/>
      <p:bldP spid="86041"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fld id="{2E479287-0FB1-4EDC-956F-09A7506F0EFE}" type="slidenum">
              <a:rPr lang="zh-CN" altLang="en-US" sz="1400" b="0" smtClean="0">
                <a:solidFill>
                  <a:schemeClr val="bg2"/>
                </a:solidFill>
              </a:rPr>
              <a:pPr/>
              <a:t>19</a:t>
            </a:fld>
            <a:endParaRPr lang="en-US" altLang="zh-CN" sz="1400" b="0" smtClean="0">
              <a:solidFill>
                <a:schemeClr val="bg2"/>
              </a:solidFill>
            </a:endParaRPr>
          </a:p>
        </p:txBody>
      </p:sp>
      <p:sp>
        <p:nvSpPr>
          <p:cNvPr id="21507" name="Text Box 4"/>
          <p:cNvSpPr txBox="1">
            <a:spLocks noChangeArrowheads="1"/>
          </p:cNvSpPr>
          <p:nvPr/>
        </p:nvSpPr>
        <p:spPr bwMode="auto">
          <a:xfrm>
            <a:off x="379413" y="709613"/>
            <a:ext cx="3822700" cy="609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kumimoji="1" lang="en-US" altLang="zh-CN">
                <a:solidFill>
                  <a:srgbClr val="CC0000"/>
                </a:solidFill>
              </a:rPr>
              <a:t>b. </a:t>
            </a:r>
            <a:r>
              <a:rPr kumimoji="1" lang="zh-CN" altLang="en-US">
                <a:solidFill>
                  <a:srgbClr val="CC0000"/>
                </a:solidFill>
              </a:rPr>
              <a:t>垂直于光轴方向</a:t>
            </a:r>
          </a:p>
        </p:txBody>
      </p:sp>
      <p:sp>
        <p:nvSpPr>
          <p:cNvPr id="21508" name="Rectangle 5"/>
          <p:cNvSpPr>
            <a:spLocks noChangeArrowheads="1"/>
          </p:cNvSpPr>
          <p:nvPr/>
        </p:nvSpPr>
        <p:spPr bwMode="auto">
          <a:xfrm>
            <a:off x="3511550" y="663575"/>
            <a:ext cx="5381625" cy="6048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pPr>
            <a:r>
              <a:rPr kumimoji="1" lang="en-US" altLang="zh-CN" i="1"/>
              <a:t>n</a:t>
            </a:r>
            <a:r>
              <a:rPr kumimoji="1" lang="en-US" altLang="zh-CN" i="1" baseline="-25000"/>
              <a:t>o </a:t>
            </a:r>
            <a:r>
              <a:rPr kumimoji="1" lang="en-US" altLang="zh-CN" i="1"/>
              <a:t>,n</a:t>
            </a:r>
            <a:r>
              <a:rPr kumimoji="1" lang="en-US" altLang="zh-CN" i="1" baseline="-25000"/>
              <a:t>e</a:t>
            </a:r>
            <a:r>
              <a:rPr kumimoji="1" lang="zh-CN" altLang="en-US"/>
              <a:t>相差最大，</a:t>
            </a:r>
            <a:r>
              <a:rPr kumimoji="1" lang="en-US" altLang="zh-CN" i="1"/>
              <a:t>o,e</a:t>
            </a:r>
            <a:r>
              <a:rPr kumimoji="1" lang="zh-CN" altLang="en-US"/>
              <a:t>光偏离最大。</a:t>
            </a:r>
          </a:p>
        </p:txBody>
      </p:sp>
      <p:sp>
        <p:nvSpPr>
          <p:cNvPr id="104454" name="Text Box 6"/>
          <p:cNvSpPr txBox="1">
            <a:spLocks noChangeArrowheads="1"/>
          </p:cNvSpPr>
          <p:nvPr/>
        </p:nvSpPr>
        <p:spPr bwMode="auto">
          <a:xfrm>
            <a:off x="854075" y="1349375"/>
            <a:ext cx="7202488"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pPr>
            <a:r>
              <a:rPr kumimoji="1" lang="zh-CN" altLang="en-US"/>
              <a:t>         具有一个光轴的晶体，称为</a:t>
            </a:r>
            <a:r>
              <a:rPr kumimoji="1" lang="zh-CN" altLang="en-US">
                <a:solidFill>
                  <a:srgbClr val="FF3300"/>
                </a:solidFill>
              </a:rPr>
              <a:t>单轴晶体</a:t>
            </a:r>
            <a:r>
              <a:rPr kumimoji="1" lang="zh-CN" altLang="en-US"/>
              <a:t>。例如：方解石、石英等。具有两个光轴的晶体，称为</a:t>
            </a:r>
            <a:r>
              <a:rPr kumimoji="1" lang="zh-CN" altLang="en-US">
                <a:solidFill>
                  <a:srgbClr val="FF3300"/>
                </a:solidFill>
              </a:rPr>
              <a:t>双轴晶体</a:t>
            </a:r>
            <a:r>
              <a:rPr kumimoji="1" lang="zh-CN" altLang="en-US"/>
              <a:t>。例如：云母、硫黄等。</a:t>
            </a:r>
          </a:p>
        </p:txBody>
      </p:sp>
      <p:sp>
        <p:nvSpPr>
          <p:cNvPr id="104458" name="Text Box 10"/>
          <p:cNvSpPr txBox="1">
            <a:spLocks noChangeArrowheads="1"/>
          </p:cNvSpPr>
          <p:nvPr/>
        </p:nvSpPr>
        <p:spPr bwMode="auto">
          <a:xfrm>
            <a:off x="763588" y="3849688"/>
            <a:ext cx="76200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lang="zh-CN" altLang="en-US"/>
              <a:t>        当光在一晶体表面入射时，此表面的法线与光轴所成的平面</a:t>
            </a:r>
            <a:r>
              <a:rPr lang="en-US" altLang="zh-CN"/>
              <a:t>.  </a:t>
            </a:r>
          </a:p>
        </p:txBody>
      </p:sp>
      <p:grpSp>
        <p:nvGrpSpPr>
          <p:cNvPr id="104462" name="Group 14"/>
          <p:cNvGrpSpPr>
            <a:grpSpLocks/>
          </p:cNvGrpSpPr>
          <p:nvPr/>
        </p:nvGrpSpPr>
        <p:grpSpPr bwMode="auto">
          <a:xfrm>
            <a:off x="898525" y="4967288"/>
            <a:ext cx="7543800" cy="1117600"/>
            <a:chOff x="453" y="3124"/>
            <a:chExt cx="4752" cy="704"/>
          </a:xfrm>
        </p:grpSpPr>
        <p:sp>
          <p:nvSpPr>
            <p:cNvPr id="21513" name="Text Box 12"/>
            <p:cNvSpPr txBox="1">
              <a:spLocks noChangeArrowheads="1"/>
            </p:cNvSpPr>
            <p:nvPr/>
          </p:nvSpPr>
          <p:spPr bwMode="auto">
            <a:xfrm>
              <a:off x="453" y="3124"/>
              <a:ext cx="4752" cy="704"/>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FF0000"/>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lang="zh-CN" altLang="en-US"/>
                <a:t>       当入射面是主截面时， </a:t>
              </a:r>
              <a:r>
                <a:rPr lang="en-US" altLang="zh-CN"/>
                <a:t>O</a:t>
              </a:r>
              <a:r>
                <a:rPr lang="en-US" altLang="zh-CN">
                  <a:solidFill>
                    <a:srgbClr val="CC0000"/>
                  </a:solidFill>
                </a:rPr>
                <a:t> </a:t>
              </a:r>
              <a:r>
                <a:rPr lang="zh-CN" altLang="en-US"/>
                <a:t>光的振动</a:t>
              </a:r>
              <a:r>
                <a:rPr lang="zh-CN" altLang="en-US">
                  <a:solidFill>
                    <a:srgbClr val="CC0000"/>
                  </a:solidFill>
                </a:rPr>
                <a:t>垂直</a:t>
              </a:r>
              <a:r>
                <a:rPr lang="zh-CN" altLang="en-US"/>
                <a:t>主截面；   光的振动</a:t>
              </a:r>
              <a:r>
                <a:rPr lang="zh-CN" altLang="en-US">
                  <a:solidFill>
                    <a:srgbClr val="CC0000"/>
                  </a:solidFill>
                </a:rPr>
                <a:t>平行</a:t>
              </a:r>
              <a:r>
                <a:rPr lang="zh-CN" altLang="en-US"/>
                <a:t>于主截面</a:t>
              </a:r>
              <a:r>
                <a:rPr lang="en-US" altLang="zh-CN"/>
                <a:t>.</a:t>
              </a:r>
            </a:p>
          </p:txBody>
        </p:sp>
        <p:graphicFrame>
          <p:nvGraphicFramePr>
            <p:cNvPr id="21514" name="Object 13"/>
            <p:cNvGraphicFramePr>
              <a:graphicFrameLocks noChangeAspect="1"/>
            </p:cNvGraphicFramePr>
            <p:nvPr/>
          </p:nvGraphicFramePr>
          <p:xfrm>
            <a:off x="1132" y="3521"/>
            <a:ext cx="274" cy="284"/>
          </p:xfrm>
          <a:graphic>
            <a:graphicData uri="http://schemas.openxmlformats.org/presentationml/2006/ole">
              <mc:AlternateContent xmlns:mc="http://schemas.openxmlformats.org/markup-compatibility/2006">
                <mc:Choice xmlns:v="urn:schemas-microsoft-com:vml" Requires="v">
                  <p:oleObj spid="_x0000_s21515" name="Equation" r:id="rId3" imgW="114201" imgH="139579" progId="Equation.3">
                    <p:embed/>
                  </p:oleObj>
                </mc:Choice>
                <mc:Fallback>
                  <p:oleObj name="Equation" r:id="rId3" imgW="114201" imgH="139579"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2" y="3521"/>
                          <a:ext cx="274" cy="284"/>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4463" name="Rectangle 15"/>
          <p:cNvSpPr>
            <a:spLocks noChangeArrowheads="1"/>
          </p:cNvSpPr>
          <p:nvPr/>
        </p:nvSpPr>
        <p:spPr bwMode="auto">
          <a:xfrm>
            <a:off x="538163" y="3159125"/>
            <a:ext cx="2784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r>
              <a:rPr lang="en-US" altLang="zh-CN">
                <a:solidFill>
                  <a:srgbClr val="0000FF"/>
                </a:solidFill>
              </a:rPr>
              <a:t>3</a:t>
            </a:r>
            <a:r>
              <a:rPr lang="zh-CN" altLang="en-US">
                <a:solidFill>
                  <a:srgbClr val="0000FF"/>
                </a:solidFill>
              </a:rPr>
              <a:t>、主截面</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4454"/>
                                        </p:tgtEl>
                                        <p:attrNameLst>
                                          <p:attrName>style.visibility</p:attrName>
                                        </p:attrNameLst>
                                      </p:cBhvr>
                                      <p:to>
                                        <p:strVal val="visible"/>
                                      </p:to>
                                    </p:set>
                                    <p:animEffect transition="in" filter="box(out)">
                                      <p:cBhvr>
                                        <p:cTn id="7" dur="500"/>
                                        <p:tgtEl>
                                          <p:spTgt spid="1044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4463"/>
                                        </p:tgtEl>
                                        <p:attrNameLst>
                                          <p:attrName>style.visibility</p:attrName>
                                        </p:attrNameLst>
                                      </p:cBhvr>
                                      <p:to>
                                        <p:strVal val="visible"/>
                                      </p:to>
                                    </p:set>
                                    <p:animEffect transition="in" filter="wipe(left)">
                                      <p:cBhvr>
                                        <p:cTn id="12" dur="500"/>
                                        <p:tgtEl>
                                          <p:spTgt spid="1044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4458"/>
                                        </p:tgtEl>
                                        <p:attrNameLst>
                                          <p:attrName>style.visibility</p:attrName>
                                        </p:attrNameLst>
                                      </p:cBhvr>
                                      <p:to>
                                        <p:strVal val="visible"/>
                                      </p:to>
                                    </p:set>
                                    <p:animEffect transition="in" filter="wipe(left)">
                                      <p:cBhvr>
                                        <p:cTn id="17" dur="500"/>
                                        <p:tgtEl>
                                          <p:spTgt spid="1044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4462"/>
                                        </p:tgtEl>
                                        <p:attrNameLst>
                                          <p:attrName>style.visibility</p:attrName>
                                        </p:attrNameLst>
                                      </p:cBhvr>
                                      <p:to>
                                        <p:strVal val="visible"/>
                                      </p:to>
                                    </p:set>
                                    <p:animEffect transition="in" filter="wipe(left)">
                                      <p:cBhvr>
                                        <p:cTn id="22" dur="500"/>
                                        <p:tgtEl>
                                          <p:spTgt spid="104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4" grpId="0" autoUpdateAnimBg="0"/>
      <p:bldP spid="104458" grpId="0"/>
      <p:bldP spid="10446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p:spPr>
        <p:txBody>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fld id="{45B1A6BF-50F7-45F6-B8FC-12C0AE75B528}" type="slidenum">
              <a:rPr lang="zh-CN" altLang="en-US" sz="1400" b="0" smtClean="0">
                <a:solidFill>
                  <a:schemeClr val="bg2"/>
                </a:solidFill>
              </a:rPr>
              <a:pPr/>
              <a:t>20</a:t>
            </a:fld>
            <a:endParaRPr lang="en-US" altLang="zh-CN" sz="1400" b="0" smtClean="0">
              <a:solidFill>
                <a:schemeClr val="bg2"/>
              </a:solidFill>
            </a:endParaRPr>
          </a:p>
        </p:txBody>
      </p:sp>
      <p:sp>
        <p:nvSpPr>
          <p:cNvPr id="93187" name="Text Box 3"/>
          <p:cNvSpPr txBox="1">
            <a:spLocks noChangeArrowheads="1"/>
          </p:cNvSpPr>
          <p:nvPr/>
        </p:nvSpPr>
        <p:spPr bwMode="auto">
          <a:xfrm>
            <a:off x="781050" y="1249363"/>
            <a:ext cx="7688263" cy="1117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kumimoji="1" lang="en-US" altLang="zh-CN">
                <a:solidFill>
                  <a:srgbClr val="CC0000"/>
                </a:solidFill>
              </a:rPr>
              <a:t>(1)</a:t>
            </a:r>
            <a:r>
              <a:rPr kumimoji="1" lang="zh-CN" altLang="en-US">
                <a:solidFill>
                  <a:srgbClr val="CC0000"/>
                </a:solidFill>
              </a:rPr>
              <a:t> </a:t>
            </a:r>
            <a:r>
              <a:rPr kumimoji="1" lang="zh-CN" altLang="en-US"/>
              <a:t>双折射现象产生的两条折射光都是线偏振光</a:t>
            </a:r>
            <a:r>
              <a:rPr kumimoji="1" lang="en-US" altLang="zh-CN"/>
              <a:t>. </a:t>
            </a:r>
            <a:r>
              <a:rPr kumimoji="1" lang="zh-CN" altLang="en-US"/>
              <a:t>常用于获得偏振光。</a:t>
            </a:r>
          </a:p>
        </p:txBody>
      </p:sp>
      <p:sp>
        <p:nvSpPr>
          <p:cNvPr id="93189" name="Text Box 5"/>
          <p:cNvSpPr txBox="1">
            <a:spLocks noChangeArrowheads="1"/>
          </p:cNvSpPr>
          <p:nvPr/>
        </p:nvSpPr>
        <p:spPr bwMode="auto">
          <a:xfrm>
            <a:off x="781050" y="2511425"/>
            <a:ext cx="7481888" cy="1117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kumimoji="1" lang="en-US" altLang="zh-CN">
                <a:solidFill>
                  <a:srgbClr val="CC0000"/>
                </a:solidFill>
              </a:rPr>
              <a:t>(2)</a:t>
            </a:r>
            <a:r>
              <a:rPr kumimoji="1" lang="zh-CN" altLang="en-US"/>
              <a:t>用人工的方法也可使某些非晶体物质呈现双折射现象。</a:t>
            </a:r>
          </a:p>
        </p:txBody>
      </p:sp>
      <p:sp>
        <p:nvSpPr>
          <p:cNvPr id="93190" name="Text Box 6"/>
          <p:cNvSpPr txBox="1">
            <a:spLocks noChangeArrowheads="1"/>
          </p:cNvSpPr>
          <p:nvPr/>
        </p:nvSpPr>
        <p:spPr bwMode="auto">
          <a:xfrm>
            <a:off x="758825" y="3773488"/>
            <a:ext cx="7704138" cy="6048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kumimoji="1" lang="zh-CN" altLang="en-US">
                <a:solidFill>
                  <a:srgbClr val="CC0000"/>
                </a:solidFill>
              </a:rPr>
              <a:t>光弹效应</a:t>
            </a:r>
            <a:r>
              <a:rPr kumimoji="1" lang="en-US" altLang="zh-CN">
                <a:solidFill>
                  <a:srgbClr val="CC0000"/>
                </a:solidFill>
              </a:rPr>
              <a:t>:</a:t>
            </a:r>
            <a:r>
              <a:rPr kumimoji="1" lang="zh-CN" altLang="en-US"/>
              <a:t>机械应力使非晶体产生双折射现象。</a:t>
            </a:r>
            <a:endParaRPr kumimoji="1" lang="en-US" altLang="zh-CN"/>
          </a:p>
        </p:txBody>
      </p:sp>
      <p:sp>
        <p:nvSpPr>
          <p:cNvPr id="93192" name="Text Box 8"/>
          <p:cNvSpPr txBox="1">
            <a:spLocks noChangeArrowheads="1"/>
          </p:cNvSpPr>
          <p:nvPr/>
        </p:nvSpPr>
        <p:spPr bwMode="auto">
          <a:xfrm>
            <a:off x="758825" y="4522788"/>
            <a:ext cx="8043863" cy="6048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kumimoji="1" lang="zh-CN" altLang="en-US">
                <a:solidFill>
                  <a:srgbClr val="CC0000"/>
                </a:solidFill>
              </a:rPr>
              <a:t>电光效应</a:t>
            </a:r>
            <a:r>
              <a:rPr kumimoji="1" lang="en-US" altLang="zh-CN">
                <a:solidFill>
                  <a:srgbClr val="CC0000"/>
                </a:solidFill>
              </a:rPr>
              <a:t>:</a:t>
            </a:r>
            <a:r>
              <a:rPr kumimoji="1" lang="zh-CN" altLang="en-US"/>
              <a:t>在电场作用下非晶体显现双折射现象。</a:t>
            </a:r>
          </a:p>
        </p:txBody>
      </p:sp>
      <p:sp>
        <p:nvSpPr>
          <p:cNvPr id="93194" name="Text Box 10"/>
          <p:cNvSpPr txBox="1">
            <a:spLocks noChangeArrowheads="1"/>
          </p:cNvSpPr>
          <p:nvPr/>
        </p:nvSpPr>
        <p:spPr bwMode="auto">
          <a:xfrm>
            <a:off x="758825" y="5272088"/>
            <a:ext cx="7839075" cy="6048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pPr>
            <a:r>
              <a:rPr kumimoji="1" lang="zh-CN" altLang="en-US">
                <a:solidFill>
                  <a:srgbClr val="CC0000"/>
                </a:solidFill>
              </a:rPr>
              <a:t>磁光效应</a:t>
            </a:r>
            <a:r>
              <a:rPr kumimoji="1" lang="en-US" altLang="zh-CN">
                <a:solidFill>
                  <a:srgbClr val="CC0000"/>
                </a:solidFill>
              </a:rPr>
              <a:t>:</a:t>
            </a:r>
            <a:r>
              <a:rPr kumimoji="1" lang="zh-CN" altLang="en-US"/>
              <a:t>在磁场作用下非晶体显现双折射现象。</a:t>
            </a:r>
          </a:p>
        </p:txBody>
      </p:sp>
      <p:sp>
        <p:nvSpPr>
          <p:cNvPr id="22536" name="Rectangle 31"/>
          <p:cNvSpPr>
            <a:spLocks noChangeArrowheads="1"/>
          </p:cNvSpPr>
          <p:nvPr/>
        </p:nvSpPr>
        <p:spPr bwMode="auto">
          <a:xfrm>
            <a:off x="728663" y="436563"/>
            <a:ext cx="4051300" cy="56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a:lnSpc>
                <a:spcPct val="120000"/>
              </a:lnSpc>
            </a:pPr>
            <a:r>
              <a:rPr kumimoji="1" lang="en-US" altLang="zh-CN">
                <a:solidFill>
                  <a:srgbClr val="0000FF"/>
                </a:solidFill>
              </a:rPr>
              <a:t>4</a:t>
            </a:r>
            <a:r>
              <a:rPr kumimoji="1" lang="zh-CN" altLang="en-US">
                <a:solidFill>
                  <a:srgbClr val="0000FF"/>
                </a:solidFill>
              </a:rPr>
              <a:t>、人工双折射现象</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93187"/>
                                        </p:tgtEl>
                                        <p:attrNameLst>
                                          <p:attrName>style.visibility</p:attrName>
                                        </p:attrNameLst>
                                      </p:cBhvr>
                                      <p:to>
                                        <p:strVal val="visible"/>
                                      </p:to>
                                    </p:set>
                                    <p:animEffect transition="in" filter="wipe(left)">
                                      <p:cBhvr>
                                        <p:cTn id="7" dur="75"/>
                                        <p:tgtEl>
                                          <p:spTgt spid="931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3189"/>
                                        </p:tgtEl>
                                        <p:attrNameLst>
                                          <p:attrName>style.visibility</p:attrName>
                                        </p:attrNameLst>
                                      </p:cBhvr>
                                      <p:to>
                                        <p:strVal val="visible"/>
                                      </p:to>
                                    </p:set>
                                    <p:animEffect transition="in" filter="wipe(left)">
                                      <p:cBhvr>
                                        <p:cTn id="12" dur="75"/>
                                        <p:tgtEl>
                                          <p:spTgt spid="931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93190"/>
                                        </p:tgtEl>
                                        <p:attrNameLst>
                                          <p:attrName>style.visibility</p:attrName>
                                        </p:attrNameLst>
                                      </p:cBhvr>
                                      <p:to>
                                        <p:strVal val="visible"/>
                                      </p:to>
                                    </p:set>
                                    <p:animEffect transition="in" filter="wipe(left)">
                                      <p:cBhvr>
                                        <p:cTn id="17" dur="75"/>
                                        <p:tgtEl>
                                          <p:spTgt spid="931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93192"/>
                                        </p:tgtEl>
                                        <p:attrNameLst>
                                          <p:attrName>style.visibility</p:attrName>
                                        </p:attrNameLst>
                                      </p:cBhvr>
                                      <p:to>
                                        <p:strVal val="visible"/>
                                      </p:to>
                                    </p:set>
                                    <p:animEffect transition="in" filter="wipe(left)">
                                      <p:cBhvr>
                                        <p:cTn id="22" dur="75"/>
                                        <p:tgtEl>
                                          <p:spTgt spid="9319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93194"/>
                                        </p:tgtEl>
                                        <p:attrNameLst>
                                          <p:attrName>style.visibility</p:attrName>
                                        </p:attrNameLst>
                                      </p:cBhvr>
                                      <p:to>
                                        <p:strVal val="visible"/>
                                      </p:to>
                                    </p:set>
                                    <p:animEffect transition="in" filter="wipe(left)">
                                      <p:cBhvr>
                                        <p:cTn id="27" dur="75"/>
                                        <p:tgtEl>
                                          <p:spTgt spid="93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autoUpdateAnimBg="0"/>
      <p:bldP spid="93189" grpId="0" autoUpdateAnimBg="0"/>
      <p:bldP spid="93190" grpId="0" autoUpdateAnimBg="0"/>
      <p:bldP spid="93192" grpId="0" autoUpdateAnimBg="0"/>
      <p:bldP spid="93194"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fld id="{B963446C-BD01-4263-8F33-9FD27E5E2252}" type="slidenum">
              <a:rPr lang="zh-CN" altLang="en-US" sz="1400" b="0" smtClean="0">
                <a:solidFill>
                  <a:schemeClr val="bg2"/>
                </a:solidFill>
              </a:rPr>
              <a:pPr/>
              <a:t>21</a:t>
            </a:fld>
            <a:endParaRPr lang="en-US" altLang="zh-CN" sz="1400" b="0" smtClean="0">
              <a:solidFill>
                <a:schemeClr val="bg2"/>
              </a:solidFill>
            </a:endParaRPr>
          </a:p>
        </p:txBody>
      </p:sp>
      <p:sp>
        <p:nvSpPr>
          <p:cNvPr id="106500" name="Text Box 4"/>
          <p:cNvSpPr txBox="1">
            <a:spLocks noChangeArrowheads="1"/>
          </p:cNvSpPr>
          <p:nvPr/>
        </p:nvSpPr>
        <p:spPr bwMode="auto">
          <a:xfrm>
            <a:off x="657225" y="530225"/>
            <a:ext cx="7921625" cy="30845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40000"/>
              </a:lnSpc>
              <a:spcBef>
                <a:spcPct val="50000"/>
              </a:spcBef>
            </a:pPr>
            <a:r>
              <a:rPr kumimoji="1" lang="zh-CN" altLang="en-US">
                <a:solidFill>
                  <a:srgbClr val="0000FF"/>
                </a:solidFill>
              </a:rPr>
              <a:t>        注意：</a:t>
            </a:r>
            <a:r>
              <a:rPr kumimoji="1" lang="zh-CN" altLang="en-US"/>
              <a:t>我们所说的</a:t>
            </a:r>
            <a:r>
              <a:rPr kumimoji="1" lang="en-US" altLang="zh-CN" i="1"/>
              <a:t>o</a:t>
            </a:r>
            <a:r>
              <a:rPr kumimoji="1" lang="zh-CN" altLang="en-US"/>
              <a:t>光和</a:t>
            </a:r>
            <a:r>
              <a:rPr kumimoji="1" lang="en-US" altLang="zh-CN" i="1"/>
              <a:t>e</a:t>
            </a:r>
            <a:r>
              <a:rPr kumimoji="1" lang="zh-CN" altLang="en-US"/>
              <a:t>光是对晶体而言的</a:t>
            </a:r>
            <a:r>
              <a:rPr kumimoji="1" lang="en-US" altLang="zh-CN"/>
              <a:t>.</a:t>
            </a:r>
            <a:r>
              <a:rPr kumimoji="1" lang="zh-CN" altLang="en-US"/>
              <a:t>只有在晶体内才可以说</a:t>
            </a:r>
            <a:r>
              <a:rPr kumimoji="1" lang="en-US" altLang="zh-CN" i="1"/>
              <a:t>o</a:t>
            </a:r>
            <a:r>
              <a:rPr kumimoji="1" lang="zh-CN" altLang="en-US"/>
              <a:t>光和</a:t>
            </a:r>
            <a:r>
              <a:rPr kumimoji="1" lang="en-US" altLang="zh-CN" i="1"/>
              <a:t>e</a:t>
            </a:r>
            <a:r>
              <a:rPr kumimoji="1" lang="zh-CN" altLang="en-US"/>
              <a:t>光。在离开晶体后它们就只有振动方向的区别，而无</a:t>
            </a:r>
            <a:r>
              <a:rPr kumimoji="1" lang="en-US" altLang="zh-CN" i="1"/>
              <a:t>o</a:t>
            </a:r>
            <a:r>
              <a:rPr kumimoji="1" lang="zh-CN" altLang="en-US"/>
              <a:t>光和</a:t>
            </a:r>
            <a:r>
              <a:rPr kumimoji="1" lang="en-US" altLang="zh-CN" i="1"/>
              <a:t>e</a:t>
            </a:r>
            <a:r>
              <a:rPr kumimoji="1" lang="zh-CN" altLang="en-US"/>
              <a:t>光的区别了，这时只能说它们是振动方向不同的两束线偏振光。</a:t>
            </a:r>
            <a:endParaRPr kumimoji="1" lang="zh-CN" altLang="en-US" i="1"/>
          </a:p>
        </p:txBody>
      </p:sp>
      <p:sp>
        <p:nvSpPr>
          <p:cNvPr id="106501" name="Text Box 5"/>
          <p:cNvSpPr txBox="1">
            <a:spLocks noChangeArrowheads="1"/>
          </p:cNvSpPr>
          <p:nvPr/>
        </p:nvSpPr>
        <p:spPr bwMode="auto">
          <a:xfrm>
            <a:off x="611188" y="3654425"/>
            <a:ext cx="7958137"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pitchFamily="2" charset="-122"/>
              </a:defRPr>
            </a:lvl1pPr>
            <a:lvl2pPr marL="742950" indent="-285750">
              <a:defRPr sz="2800" b="1">
                <a:solidFill>
                  <a:schemeClr val="tx1"/>
                </a:solidFill>
                <a:latin typeface="Times New Roman" pitchFamily="18" charset="0"/>
                <a:ea typeface="宋体" pitchFamily="2" charset="-122"/>
              </a:defRPr>
            </a:lvl2pPr>
            <a:lvl3pPr marL="1143000" indent="-228600">
              <a:defRPr sz="2800" b="1">
                <a:solidFill>
                  <a:schemeClr val="tx1"/>
                </a:solidFill>
                <a:latin typeface="Times New Roman" pitchFamily="18" charset="0"/>
                <a:ea typeface="宋体" pitchFamily="2" charset="-122"/>
              </a:defRPr>
            </a:lvl3pPr>
            <a:lvl4pPr marL="1600200" indent="-228600">
              <a:defRPr sz="2800" b="1">
                <a:solidFill>
                  <a:schemeClr val="tx1"/>
                </a:solidFill>
                <a:latin typeface="Times New Roman" pitchFamily="18" charset="0"/>
                <a:ea typeface="宋体" pitchFamily="2" charset="-122"/>
              </a:defRPr>
            </a:lvl4pPr>
            <a:lvl5pPr marL="2057400" indent="-228600">
              <a:defRPr sz="28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pitchFamily="2" charset="-122"/>
              </a:defRPr>
            </a:lvl9pPr>
          </a:lstStyle>
          <a:p>
            <a:pPr eaLnBrk="1" hangingPunct="1">
              <a:lnSpc>
                <a:spcPct val="140000"/>
              </a:lnSpc>
              <a:spcBef>
                <a:spcPct val="50000"/>
              </a:spcBef>
            </a:pPr>
            <a:r>
              <a:rPr kumimoji="1" lang="zh-CN" altLang="en-US"/>
              <a:t>          自然光经过双折射晶体时，分解出来的</a:t>
            </a:r>
            <a:r>
              <a:rPr kumimoji="1" lang="en-US" altLang="zh-CN"/>
              <a:t>o</a:t>
            </a:r>
            <a:r>
              <a:rPr kumimoji="1" lang="zh-CN" altLang="en-US"/>
              <a:t>光和</a:t>
            </a:r>
            <a:r>
              <a:rPr kumimoji="1" lang="en-US" altLang="zh-CN"/>
              <a:t>e</a:t>
            </a:r>
            <a:r>
              <a:rPr kumimoji="1" lang="zh-CN" altLang="en-US"/>
              <a:t>光属于不同的波列，是不会发生干涉的。</a:t>
            </a:r>
            <a:r>
              <a:rPr kumimoji="1" lang="zh-CN" altLang="en-US">
                <a:solidFill>
                  <a:srgbClr val="990033"/>
                </a:solidFill>
              </a:rPr>
              <a:t>但是将偏振光入射到双折射晶体时，产生的</a:t>
            </a:r>
            <a:r>
              <a:rPr kumimoji="1" lang="en-US" altLang="zh-CN">
                <a:solidFill>
                  <a:srgbClr val="990033"/>
                </a:solidFill>
              </a:rPr>
              <a:t>o</a:t>
            </a:r>
            <a:r>
              <a:rPr kumimoji="1" lang="zh-CN" altLang="en-US">
                <a:solidFill>
                  <a:srgbClr val="990033"/>
                </a:solidFill>
              </a:rPr>
              <a:t>光和</a:t>
            </a:r>
            <a:r>
              <a:rPr kumimoji="1" lang="en-US" altLang="zh-CN">
                <a:solidFill>
                  <a:srgbClr val="990033"/>
                </a:solidFill>
              </a:rPr>
              <a:t>e</a:t>
            </a:r>
            <a:r>
              <a:rPr kumimoji="1" lang="zh-CN" altLang="en-US">
                <a:solidFill>
                  <a:srgbClr val="990033"/>
                </a:solidFill>
              </a:rPr>
              <a:t>光则会产生干涉。</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iterate type="lt">
                                    <p:tmPct val="100000"/>
                                  </p:iterate>
                                  <p:childTnLst>
                                    <p:set>
                                      <p:cBhvr>
                                        <p:cTn id="6" dur="1" fill="hold">
                                          <p:stCondLst>
                                            <p:cond delay="0"/>
                                          </p:stCondLst>
                                        </p:cTn>
                                        <p:tgtEl>
                                          <p:spTgt spid="106500"/>
                                        </p:tgtEl>
                                        <p:attrNameLst>
                                          <p:attrName>style.visibility</p:attrName>
                                        </p:attrNameLst>
                                      </p:cBhvr>
                                      <p:to>
                                        <p:strVal val="visible"/>
                                      </p:to>
                                    </p:set>
                                    <p:animEffect transition="in" filter="wipe(left)">
                                      <p:cBhvr>
                                        <p:cTn id="7" dur="75"/>
                                        <p:tgtEl>
                                          <p:spTgt spid="1065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6501"/>
                                        </p:tgtEl>
                                        <p:attrNameLst>
                                          <p:attrName>style.visibility</p:attrName>
                                        </p:attrNameLst>
                                      </p:cBhvr>
                                      <p:to>
                                        <p:strVal val="visible"/>
                                      </p:to>
                                    </p:set>
                                    <p:anim calcmode="lin" valueType="num">
                                      <p:cBhvr additive="base">
                                        <p:cTn id="12" dur="500" fill="hold"/>
                                        <p:tgtEl>
                                          <p:spTgt spid="106501"/>
                                        </p:tgtEl>
                                        <p:attrNameLst>
                                          <p:attrName>ppt_x</p:attrName>
                                        </p:attrNameLst>
                                      </p:cBhvr>
                                      <p:tavLst>
                                        <p:tav tm="0">
                                          <p:val>
                                            <p:strVal val="0-#ppt_w/2"/>
                                          </p:val>
                                        </p:tav>
                                        <p:tav tm="100000">
                                          <p:val>
                                            <p:strVal val="#ppt_x"/>
                                          </p:val>
                                        </p:tav>
                                      </p:tavLst>
                                    </p:anim>
                                    <p:anim calcmode="lin" valueType="num">
                                      <p:cBhvr additive="base">
                                        <p:cTn id="13" dur="500" fill="hold"/>
                                        <p:tgtEl>
                                          <p:spTgt spid="1065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0" grpId="0" autoUpdateAnimBg="0"/>
      <p:bldP spid="106501" grpId="0" autoUpdateAnimBg="0"/>
    </p:bldLst>
  </p:timing>
</p:sld>
</file>

<file path=ppt/theme/theme1.xml><?xml version="1.0" encoding="utf-8"?>
<a:theme xmlns:a="http://schemas.openxmlformats.org/drawingml/2006/main" name="场景型模板">
  <a:themeElements>
    <a:clrScheme name="场景型模板 6">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0000FF"/>
      </a:hlink>
      <a:folHlink>
        <a:srgbClr val="0000FF"/>
      </a:folHlink>
    </a:clrScheme>
    <a:fontScheme name="场景型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28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28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场景型模板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场景型模板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场景型模板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
      <a:clrScheme name="场景型模板 4">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130A88"/>
        </a:hlink>
        <a:folHlink>
          <a:srgbClr val="D2AAD2"/>
        </a:folHlink>
      </a:clrScheme>
      <a:clrMap bg1="lt1" tx1="dk1" bg2="lt2" tx2="dk2" accent1="accent1" accent2="accent2" accent3="accent3" accent4="accent4" accent5="accent5" accent6="accent6" hlink="hlink" folHlink="folHlink"/>
    </a:extraClrScheme>
    <a:extraClrScheme>
      <a:clrScheme name="场景型模板 5">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130A88"/>
        </a:hlink>
        <a:folHlink>
          <a:srgbClr val="6B051B"/>
        </a:folHlink>
      </a:clrScheme>
      <a:clrMap bg1="lt1" tx1="dk1" bg2="lt2" tx2="dk2" accent1="accent1" accent2="accent2" accent3="accent3" accent4="accent4" accent5="accent5" accent6="accent6" hlink="hlink" folHlink="folHlink"/>
    </a:extraClrScheme>
    <a:extraClrScheme>
      <a:clrScheme name="场景型模板 6">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0000FF"/>
        </a:hlink>
        <a:folHlink>
          <a:srgbClr val="0000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2220</TotalTime>
  <Words>1048</Words>
  <Application>Microsoft Office PowerPoint</Application>
  <PresentationFormat>全屏显示(4:3)</PresentationFormat>
  <Paragraphs>183</Paragraphs>
  <Slides>21</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21</vt:i4>
      </vt:variant>
    </vt:vector>
  </HeadingPairs>
  <TitlesOfParts>
    <vt:vector size="31" baseType="lpstr">
      <vt:lpstr>Times New Roman</vt:lpstr>
      <vt:lpstr>宋体</vt:lpstr>
      <vt:lpstr>Arial</vt:lpstr>
      <vt:lpstr>Monotype Sorts</vt:lpstr>
      <vt:lpstr>Symbol</vt:lpstr>
      <vt:lpstr>华文行楷</vt:lpstr>
      <vt:lpstr>Century Schoolbook</vt:lpstr>
      <vt:lpstr>场景型模板</vt:lpstr>
      <vt:lpstr>Microsoft 公式 3.0</vt:lpstr>
      <vt:lpstr>Microsoft Equation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山东轻工业学院</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gxg</dc:creator>
  <cp:lastModifiedBy>Microsoft</cp:lastModifiedBy>
  <cp:revision>176</cp:revision>
  <dcterms:created xsi:type="dcterms:W3CDTF">1998-09-13T00:55:34Z</dcterms:created>
  <dcterms:modified xsi:type="dcterms:W3CDTF">2019-11-22T05:25:05Z</dcterms:modified>
</cp:coreProperties>
</file>