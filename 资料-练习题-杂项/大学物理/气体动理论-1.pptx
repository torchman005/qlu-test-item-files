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Default Extension="gif" ContentType="image/gif"/>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emf" ContentType="image/x-emf"/>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3" r:id="rId1"/>
    <p:sldMasterId id="2147483665" r:id="rId2"/>
  </p:sldMasterIdLst>
  <p:notesMasterIdLst>
    <p:notesMasterId r:id="rId30"/>
  </p:notesMasterIdLst>
  <p:sldIdLst>
    <p:sldId id="285" r:id="rId3"/>
    <p:sldId id="295" r:id="rId4"/>
    <p:sldId id="301" r:id="rId5"/>
    <p:sldId id="302" r:id="rId6"/>
    <p:sldId id="303" r:id="rId7"/>
    <p:sldId id="300" r:id="rId8"/>
    <p:sldId id="298" r:id="rId9"/>
    <p:sldId id="299" r:id="rId10"/>
    <p:sldId id="297" r:id="rId11"/>
    <p:sldId id="287" r:id="rId12"/>
    <p:sldId id="290" r:id="rId13"/>
    <p:sldId id="304" r:id="rId14"/>
    <p:sldId id="305" r:id="rId15"/>
    <p:sldId id="306" r:id="rId16"/>
    <p:sldId id="307" r:id="rId17"/>
    <p:sldId id="309" r:id="rId18"/>
    <p:sldId id="311" r:id="rId19"/>
    <p:sldId id="312" r:id="rId20"/>
    <p:sldId id="314" r:id="rId21"/>
    <p:sldId id="315" r:id="rId22"/>
    <p:sldId id="316" r:id="rId23"/>
    <p:sldId id="317" r:id="rId24"/>
    <p:sldId id="319" r:id="rId25"/>
    <p:sldId id="321" r:id="rId26"/>
    <p:sldId id="322" r:id="rId27"/>
    <p:sldId id="326" r:id="rId28"/>
    <p:sldId id="327" r:id="rId29"/>
  </p:sldIdLst>
  <p:sldSz cx="9144000" cy="6858000" type="screen4x3"/>
  <p:notesSz cx="6858000" cy="9144000"/>
  <p:custDataLst>
    <p:tags r:id="rId31"/>
  </p:custDataLst>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CC"/>
    <a:srgbClr val="3333FF"/>
    <a:srgbClr val="CC0000"/>
    <a:srgbClr val="FF99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42" autoAdjust="0"/>
    <p:restoredTop sz="94692" autoAdjust="0"/>
  </p:normalViewPr>
  <p:slideViewPr>
    <p:cSldViewPr snapToGrid="0">
      <p:cViewPr>
        <p:scale>
          <a:sx n="75" d="100"/>
          <a:sy n="75" d="100"/>
        </p:scale>
        <p:origin x="-1440" y="-31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46085125" cy="46085125"/>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8.wmf"/><Relationship Id="rId7" Type="http://schemas.openxmlformats.org/officeDocument/2006/relationships/image" Target="../media/image12.wmf"/><Relationship Id="rId2" Type="http://schemas.openxmlformats.org/officeDocument/2006/relationships/image" Target="../media/image7.wmf"/><Relationship Id="rId1" Type="http://schemas.openxmlformats.org/officeDocument/2006/relationships/image" Target="../media/image6.wmf"/><Relationship Id="rId6" Type="http://schemas.openxmlformats.org/officeDocument/2006/relationships/image" Target="../media/image11.wmf"/><Relationship Id="rId5" Type="http://schemas.openxmlformats.org/officeDocument/2006/relationships/image" Target="../media/image10.wmf"/><Relationship Id="rId4"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 Id="rId4"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 Id="rId6" Type="http://schemas.openxmlformats.org/officeDocument/2006/relationships/image" Target="../media/image25.wmf"/><Relationship Id="rId5" Type="http://schemas.openxmlformats.org/officeDocument/2006/relationships/image" Target="../media/image24.wmf"/><Relationship Id="rId4" Type="http://schemas.openxmlformats.org/officeDocument/2006/relationships/image" Target="../media/image23.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35.wmf"/><Relationship Id="rId13" Type="http://schemas.openxmlformats.org/officeDocument/2006/relationships/image" Target="../media/image40.wmf"/><Relationship Id="rId3" Type="http://schemas.openxmlformats.org/officeDocument/2006/relationships/image" Target="../media/image30.wmf"/><Relationship Id="rId7" Type="http://schemas.openxmlformats.org/officeDocument/2006/relationships/image" Target="../media/image34.wmf"/><Relationship Id="rId12" Type="http://schemas.openxmlformats.org/officeDocument/2006/relationships/image" Target="../media/image39.wmf"/><Relationship Id="rId2" Type="http://schemas.openxmlformats.org/officeDocument/2006/relationships/image" Target="../media/image8.wmf"/><Relationship Id="rId1" Type="http://schemas.openxmlformats.org/officeDocument/2006/relationships/image" Target="../media/image29.wmf"/><Relationship Id="rId6" Type="http://schemas.openxmlformats.org/officeDocument/2006/relationships/image" Target="../media/image33.wmf"/><Relationship Id="rId11" Type="http://schemas.openxmlformats.org/officeDocument/2006/relationships/image" Target="../media/image38.wmf"/><Relationship Id="rId5" Type="http://schemas.openxmlformats.org/officeDocument/2006/relationships/image" Target="../media/image32.wmf"/><Relationship Id="rId10" Type="http://schemas.openxmlformats.org/officeDocument/2006/relationships/image" Target="../media/image37.wmf"/><Relationship Id="rId4" Type="http://schemas.openxmlformats.org/officeDocument/2006/relationships/image" Target="../media/image31.wmf"/><Relationship Id="rId9" Type="http://schemas.openxmlformats.org/officeDocument/2006/relationships/image" Target="../media/image36.wmf"/><Relationship Id="rId14" Type="http://schemas.openxmlformats.org/officeDocument/2006/relationships/image" Target="../media/image41.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30.wmf"/><Relationship Id="rId13" Type="http://schemas.openxmlformats.org/officeDocument/2006/relationships/image" Target="../media/image36.wmf"/><Relationship Id="rId3" Type="http://schemas.openxmlformats.org/officeDocument/2006/relationships/image" Target="../media/image38.wmf"/><Relationship Id="rId7" Type="http://schemas.openxmlformats.org/officeDocument/2006/relationships/image" Target="../media/image8.wmf"/><Relationship Id="rId12" Type="http://schemas.openxmlformats.org/officeDocument/2006/relationships/image" Target="../media/image34.wmf"/><Relationship Id="rId2" Type="http://schemas.openxmlformats.org/officeDocument/2006/relationships/image" Target="../media/image35.wmf"/><Relationship Id="rId1" Type="http://schemas.openxmlformats.org/officeDocument/2006/relationships/image" Target="../media/image42.emf"/><Relationship Id="rId6" Type="http://schemas.openxmlformats.org/officeDocument/2006/relationships/image" Target="../media/image41.wmf"/><Relationship Id="rId11" Type="http://schemas.openxmlformats.org/officeDocument/2006/relationships/image" Target="../media/image33.wmf"/><Relationship Id="rId5" Type="http://schemas.openxmlformats.org/officeDocument/2006/relationships/image" Target="../media/image40.wmf"/><Relationship Id="rId10" Type="http://schemas.openxmlformats.org/officeDocument/2006/relationships/image" Target="../media/image32.wmf"/><Relationship Id="rId4" Type="http://schemas.openxmlformats.org/officeDocument/2006/relationships/image" Target="../media/image39.wmf"/><Relationship Id="rId9" Type="http://schemas.openxmlformats.org/officeDocument/2006/relationships/image" Target="../media/image31.wmf"/><Relationship Id="rId14" Type="http://schemas.openxmlformats.org/officeDocument/2006/relationships/image" Target="../media/image37.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3.wmf"/><Relationship Id="rId6" Type="http://schemas.openxmlformats.org/officeDocument/2006/relationships/image" Target="../media/image48.wmf"/><Relationship Id="rId5" Type="http://schemas.openxmlformats.org/officeDocument/2006/relationships/image" Target="../media/image47.wmf"/><Relationship Id="rId4" Type="http://schemas.openxmlformats.org/officeDocument/2006/relationships/image" Target="../media/image46.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image" Target="../media/image8.wmf"/><Relationship Id="rId7" Type="http://schemas.openxmlformats.org/officeDocument/2006/relationships/image" Target="../media/image33.wmf"/><Relationship Id="rId2" Type="http://schemas.openxmlformats.org/officeDocument/2006/relationships/image" Target="../media/image50.wmf"/><Relationship Id="rId1" Type="http://schemas.openxmlformats.org/officeDocument/2006/relationships/image" Target="../media/image49.wmf"/><Relationship Id="rId6" Type="http://schemas.openxmlformats.org/officeDocument/2006/relationships/image" Target="../media/image32.wmf"/><Relationship Id="rId11" Type="http://schemas.openxmlformats.org/officeDocument/2006/relationships/image" Target="../media/image37.wmf"/><Relationship Id="rId5" Type="http://schemas.openxmlformats.org/officeDocument/2006/relationships/image" Target="../media/image31.wmf"/><Relationship Id="rId10" Type="http://schemas.openxmlformats.org/officeDocument/2006/relationships/image" Target="../media/image36.wmf"/><Relationship Id="rId4" Type="http://schemas.openxmlformats.org/officeDocument/2006/relationships/image" Target="../media/image30.wmf"/><Relationship Id="rId9" Type="http://schemas.openxmlformats.org/officeDocument/2006/relationships/image" Target="../media/image35.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 Id="rId6" Type="http://schemas.openxmlformats.org/officeDocument/2006/relationships/image" Target="../media/image56.wmf"/><Relationship Id="rId5" Type="http://schemas.openxmlformats.org/officeDocument/2006/relationships/image" Target="../media/image29.wmf"/><Relationship Id="rId4" Type="http://schemas.openxmlformats.org/officeDocument/2006/relationships/image" Target="../media/image55.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 Id="rId5" Type="http://schemas.openxmlformats.org/officeDocument/2006/relationships/image" Target="../media/image61.wmf"/><Relationship Id="rId4" Type="http://schemas.openxmlformats.org/officeDocument/2006/relationships/image" Target="../media/image60.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2.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 Id="rId4" Type="http://schemas.openxmlformats.org/officeDocument/2006/relationships/image" Target="../media/image66.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 Id="rId4" Type="http://schemas.openxmlformats.org/officeDocument/2006/relationships/image" Target="../media/image73.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77.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image" Target="../media/image79.wmf"/><Relationship Id="rId1" Type="http://schemas.openxmlformats.org/officeDocument/2006/relationships/image" Target="../media/image78.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88.wmf"/><Relationship Id="rId3" Type="http://schemas.openxmlformats.org/officeDocument/2006/relationships/image" Target="../media/image84.wmf"/><Relationship Id="rId7" Type="http://schemas.openxmlformats.org/officeDocument/2006/relationships/image" Target="../media/image87.wmf"/><Relationship Id="rId2" Type="http://schemas.openxmlformats.org/officeDocument/2006/relationships/image" Target="../media/image83.wmf"/><Relationship Id="rId1" Type="http://schemas.openxmlformats.org/officeDocument/2006/relationships/image" Target="../media/image82.wmf"/><Relationship Id="rId6" Type="http://schemas.openxmlformats.org/officeDocument/2006/relationships/image" Target="../media/image86.wmf"/><Relationship Id="rId5" Type="http://schemas.openxmlformats.org/officeDocument/2006/relationships/image" Target="../media/image79.wmf"/><Relationship Id="rId4" Type="http://schemas.openxmlformats.org/officeDocument/2006/relationships/image" Target="../media/image8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ltLang="zh-CN"/>
          </a:p>
        </p:txBody>
      </p:sp>
      <p:sp>
        <p:nvSpPr>
          <p:cNvPr id="717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ltLang="zh-CN"/>
          </a:p>
        </p:txBody>
      </p:sp>
      <p:sp>
        <p:nvSpPr>
          <p:cNvPr id="317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717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717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ltLang="zh-CN"/>
          </a:p>
        </p:txBody>
      </p:sp>
      <p:sp>
        <p:nvSpPr>
          <p:cNvPr id="717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0BEC19D8-5872-4C62-980A-B754433E8FFE}"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smtClean="0"/>
              <a:t>n=N/V;</a:t>
            </a:r>
            <a:r>
              <a:rPr lang="en-US" altLang="zh-CN" baseline="0" dirty="0" smtClean="0"/>
              <a:t>  ρ=m’/V=N m/V;  ρ=</a:t>
            </a:r>
            <a:r>
              <a:rPr lang="en-US" altLang="zh-CN" baseline="0" dirty="0" err="1" smtClean="0"/>
              <a:t>mn</a:t>
            </a:r>
            <a:endParaRPr lang="zh-CN" altLang="en-US" dirty="0"/>
          </a:p>
        </p:txBody>
      </p:sp>
      <p:sp>
        <p:nvSpPr>
          <p:cNvPr id="4" name="灯片编号占位符 3"/>
          <p:cNvSpPr>
            <a:spLocks noGrp="1"/>
          </p:cNvSpPr>
          <p:nvPr>
            <p:ph type="sldNum" sz="quarter" idx="10"/>
          </p:nvPr>
        </p:nvSpPr>
        <p:spPr/>
        <p:txBody>
          <a:bodyPr/>
          <a:lstStyle/>
          <a:p>
            <a:pPr>
              <a:defRPr/>
            </a:pPr>
            <a:fld id="{61B3B49A-3811-4425-B766-9E3E1037536D}" type="slidenum">
              <a:rPr lang="en-US" altLang="zh-CN" smtClean="0"/>
              <a:pPr>
                <a:defRPr/>
              </a:pPr>
              <a:t>26</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灯片编号占位符 15"/>
          <p:cNvSpPr>
            <a:spLocks noGrp="1"/>
          </p:cNvSpPr>
          <p:nvPr>
            <p:ph type="sldNum" sz="quarter" idx="10"/>
          </p:nvPr>
        </p:nvSpPr>
        <p:spPr/>
        <p:txBody>
          <a:bodyPr/>
          <a:lstStyle>
            <a:lvl1pPr>
              <a:defRPr b="0"/>
            </a:lvl1pPr>
          </a:lstStyle>
          <a:p>
            <a:pPr>
              <a:defRPr/>
            </a:pPr>
            <a:fld id="{142D0CA9-DA9D-4374-A06D-A98CB756640F}" type="slidenum">
              <a:rPr lang="zh-CN" altLang="en-US"/>
              <a:pPr>
                <a:defRPr/>
              </a:pPr>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灯片编号占位符 15"/>
          <p:cNvSpPr>
            <a:spLocks noGrp="1"/>
          </p:cNvSpPr>
          <p:nvPr>
            <p:ph type="sldNum" sz="quarter" idx="10"/>
          </p:nvPr>
        </p:nvSpPr>
        <p:spPr/>
        <p:txBody>
          <a:bodyPr/>
          <a:lstStyle>
            <a:lvl1pPr>
              <a:defRPr b="0"/>
            </a:lvl1pPr>
          </a:lstStyle>
          <a:p>
            <a:pPr>
              <a:defRPr/>
            </a:pPr>
            <a:fld id="{98996932-A4F9-4C35-B35D-CCD670E4C899}" type="slidenum">
              <a:rPr lang="zh-CN" altLang="en-US"/>
              <a:pPr>
                <a:defRPr/>
              </a:pPr>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灯片编号占位符 15"/>
          <p:cNvSpPr>
            <a:spLocks noGrp="1"/>
          </p:cNvSpPr>
          <p:nvPr>
            <p:ph type="sldNum" sz="quarter" idx="10"/>
          </p:nvPr>
        </p:nvSpPr>
        <p:spPr/>
        <p:txBody>
          <a:bodyPr/>
          <a:lstStyle>
            <a:lvl1pPr>
              <a:defRPr b="0"/>
            </a:lvl1pPr>
          </a:lstStyle>
          <a:p>
            <a:pPr>
              <a:defRPr/>
            </a:pPr>
            <a:fld id="{C8C9C081-B4E9-4703-85AD-6B92F4DC12E5}" type="slidenum">
              <a:rPr lang="zh-CN" altLang="en-US"/>
              <a:pPr>
                <a:defRPr/>
              </a:pPr>
              <a:t>‹#›</a:t>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灯片编号占位符 15"/>
          <p:cNvSpPr>
            <a:spLocks noGrp="1"/>
          </p:cNvSpPr>
          <p:nvPr>
            <p:ph type="sldNum" sz="quarter" idx="10"/>
          </p:nvPr>
        </p:nvSpPr>
        <p:spPr/>
        <p:txBody>
          <a:bodyPr/>
          <a:lstStyle>
            <a:lvl1pPr>
              <a:defRPr b="0"/>
            </a:lvl1pPr>
          </a:lstStyle>
          <a:p>
            <a:pPr>
              <a:defRPr/>
            </a:pPr>
            <a:fld id="{364D5F0E-14E4-411C-B096-9C5D5546415F}" type="slidenum">
              <a:rPr lang="zh-CN" altLang="en-US"/>
              <a:pPr>
                <a:defRPr/>
              </a:pPr>
              <a:t>‹#›</a:t>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灯片编号占位符 15"/>
          <p:cNvSpPr>
            <a:spLocks noGrp="1"/>
          </p:cNvSpPr>
          <p:nvPr>
            <p:ph type="sldNum" sz="quarter" idx="10"/>
          </p:nvPr>
        </p:nvSpPr>
        <p:spPr/>
        <p:txBody>
          <a:bodyPr/>
          <a:lstStyle>
            <a:lvl1pPr>
              <a:defRPr b="0"/>
            </a:lvl1pPr>
          </a:lstStyle>
          <a:p>
            <a:pPr>
              <a:defRPr/>
            </a:pPr>
            <a:fld id="{4D83DEF6-A78A-407C-B492-821C890C6581}" type="slidenum">
              <a:rPr lang="zh-CN" altLang="en-US"/>
              <a:pPr>
                <a:defRPr/>
              </a:pPr>
              <a:t>‹#›</a:t>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灯片编号占位符 15"/>
          <p:cNvSpPr>
            <a:spLocks noGrp="1"/>
          </p:cNvSpPr>
          <p:nvPr>
            <p:ph type="sldNum" sz="quarter" idx="10"/>
          </p:nvPr>
        </p:nvSpPr>
        <p:spPr/>
        <p:txBody>
          <a:bodyPr/>
          <a:lstStyle>
            <a:lvl1pPr>
              <a:defRPr b="0"/>
            </a:lvl1pPr>
          </a:lstStyle>
          <a:p>
            <a:pPr>
              <a:defRPr/>
            </a:pPr>
            <a:fld id="{6ACBD4D9-D815-4DCC-B770-D0327CFED76B}" type="slidenum">
              <a:rPr lang="zh-CN" altLang="en-US"/>
              <a:pPr>
                <a:defRPr/>
              </a:pPr>
              <a:t>‹#›</a:t>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灯片编号占位符 15"/>
          <p:cNvSpPr>
            <a:spLocks noGrp="1"/>
          </p:cNvSpPr>
          <p:nvPr>
            <p:ph type="sldNum" sz="quarter" idx="10"/>
          </p:nvPr>
        </p:nvSpPr>
        <p:spPr/>
        <p:txBody>
          <a:bodyPr/>
          <a:lstStyle>
            <a:lvl1pPr>
              <a:defRPr b="0"/>
            </a:lvl1pPr>
          </a:lstStyle>
          <a:p>
            <a:pPr>
              <a:defRPr/>
            </a:pPr>
            <a:fld id="{96793013-AC96-43BB-9995-7F1BE4768CB1}" type="slidenum">
              <a:rPr lang="zh-CN" altLang="en-US"/>
              <a:pPr>
                <a:defRPr/>
              </a:pPr>
              <a:t>‹#›</a:t>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灯片编号占位符 15"/>
          <p:cNvSpPr>
            <a:spLocks noGrp="1"/>
          </p:cNvSpPr>
          <p:nvPr>
            <p:ph type="sldNum" sz="quarter" idx="10"/>
          </p:nvPr>
        </p:nvSpPr>
        <p:spPr/>
        <p:txBody>
          <a:bodyPr/>
          <a:lstStyle>
            <a:lvl1pPr>
              <a:defRPr b="0"/>
            </a:lvl1pPr>
          </a:lstStyle>
          <a:p>
            <a:pPr>
              <a:defRPr/>
            </a:pPr>
            <a:fld id="{706BE41E-865C-483E-9500-BD40F046A05A}" type="slidenum">
              <a:rPr lang="zh-CN" altLang="en-US"/>
              <a:pPr>
                <a:defRPr/>
              </a:pPr>
              <a:t>‹#›</a:t>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灯片编号占位符 15"/>
          <p:cNvSpPr>
            <a:spLocks noGrp="1"/>
          </p:cNvSpPr>
          <p:nvPr>
            <p:ph type="sldNum" sz="quarter" idx="10"/>
          </p:nvPr>
        </p:nvSpPr>
        <p:spPr/>
        <p:txBody>
          <a:bodyPr/>
          <a:lstStyle>
            <a:lvl1pPr>
              <a:defRPr b="0"/>
            </a:lvl1pPr>
          </a:lstStyle>
          <a:p>
            <a:pPr>
              <a:defRPr/>
            </a:pPr>
            <a:fld id="{19BA80F9-1848-4033-8187-9052E0CE47F6}" type="slidenum">
              <a:rPr lang="zh-CN" altLang="en-US"/>
              <a:pPr>
                <a:defRPr/>
              </a:pPr>
              <a:t>‹#›</a:t>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灯片编号占位符 15"/>
          <p:cNvSpPr>
            <a:spLocks noGrp="1"/>
          </p:cNvSpPr>
          <p:nvPr>
            <p:ph type="sldNum" sz="quarter" idx="10"/>
          </p:nvPr>
        </p:nvSpPr>
        <p:spPr/>
        <p:txBody>
          <a:bodyPr/>
          <a:lstStyle>
            <a:lvl1pPr>
              <a:defRPr b="0"/>
            </a:lvl1pPr>
          </a:lstStyle>
          <a:p>
            <a:pPr>
              <a:defRPr/>
            </a:pPr>
            <a:fld id="{A41412DD-97E5-4C85-9480-2A9A6249B71D}" type="slidenum">
              <a:rPr lang="zh-CN" altLang="en-US"/>
              <a:pPr>
                <a:defRPr/>
              </a:pPr>
              <a:t>‹#›</a:t>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灯片编号占位符 15"/>
          <p:cNvSpPr>
            <a:spLocks noGrp="1"/>
          </p:cNvSpPr>
          <p:nvPr>
            <p:ph type="sldNum" sz="quarter" idx="10"/>
          </p:nvPr>
        </p:nvSpPr>
        <p:spPr/>
        <p:txBody>
          <a:bodyPr/>
          <a:lstStyle>
            <a:lvl1pPr>
              <a:defRPr b="0"/>
            </a:lvl1pPr>
          </a:lstStyle>
          <a:p>
            <a:pPr>
              <a:defRPr/>
            </a:pPr>
            <a:fld id="{693F1788-299A-4BD1-9603-CD58E15205FF}" type="slidenum">
              <a:rPr lang="zh-CN" altLang="en-US"/>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gi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gif"/><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12" descr="C:\Users\qdx\Desktop\Aticles\20141011\temp_01.gif"/>
          <p:cNvPicPr>
            <a:picLocks noChangeAspect="1" noChangeArrowheads="1"/>
          </p:cNvPicPr>
          <p:nvPr/>
        </p:nvPicPr>
        <p:blipFill>
          <a:blip r:embed="rId13" cstate="print"/>
          <a:srcRect l="3641" t="17614" r="84133" b="37315"/>
          <a:stretch>
            <a:fillRect/>
          </a:stretch>
        </p:blipFill>
        <p:spPr bwMode="auto">
          <a:xfrm>
            <a:off x="72000" y="71414"/>
            <a:ext cx="750887" cy="73077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9" name="TextBox 80"/>
          <p:cNvSpPr txBox="1">
            <a:spLocks noChangeArrowheads="1"/>
          </p:cNvSpPr>
          <p:nvPr/>
        </p:nvSpPr>
        <p:spPr bwMode="auto">
          <a:xfrm>
            <a:off x="123825" y="207963"/>
            <a:ext cx="661988" cy="461962"/>
          </a:xfrm>
          <a:prstGeom prst="rect">
            <a:avLst/>
          </a:prstGeom>
          <a:noFill/>
          <a:ln w="9525">
            <a:noFill/>
            <a:miter lim="800000"/>
            <a:headEnd/>
            <a:tailEnd/>
          </a:ln>
        </p:spPr>
        <p:txBody>
          <a:bodyPr>
            <a:spAutoFit/>
          </a:bodyPr>
          <a:lstStyle/>
          <a:p>
            <a:pPr fontAlgn="auto">
              <a:spcBef>
                <a:spcPts val="0"/>
              </a:spcBef>
              <a:spcAft>
                <a:spcPts val="0"/>
              </a:spcAft>
              <a:defRPr/>
            </a:pPr>
            <a:r>
              <a:rPr lang="zh-CN" altLang="en-US" sz="1200" b="1" dirty="0">
                <a:solidFill>
                  <a:srgbClr val="000099"/>
                </a:solidFill>
                <a:latin typeface="楷体" pitchFamily="49" charset="-122"/>
                <a:ea typeface="楷体" pitchFamily="49" charset="-122"/>
              </a:rPr>
              <a:t>物理学</a:t>
            </a:r>
            <a:endParaRPr lang="en-US" altLang="zh-CN" sz="1200" b="1" dirty="0">
              <a:solidFill>
                <a:srgbClr val="000099"/>
              </a:solidFill>
              <a:latin typeface="楷体" pitchFamily="49" charset="-122"/>
              <a:ea typeface="楷体" pitchFamily="49" charset="-122"/>
            </a:endParaRPr>
          </a:p>
          <a:p>
            <a:pPr fontAlgn="auto">
              <a:spcBef>
                <a:spcPts val="0"/>
              </a:spcBef>
              <a:spcAft>
                <a:spcPts val="0"/>
              </a:spcAft>
              <a:defRPr/>
            </a:pPr>
            <a:r>
              <a:rPr lang="zh-CN" altLang="en-US" sz="1200" b="1" dirty="0">
                <a:solidFill>
                  <a:srgbClr val="000099"/>
                </a:solidFill>
                <a:latin typeface="楷体" pitchFamily="49" charset="-122"/>
                <a:ea typeface="楷体" pitchFamily="49" charset="-122"/>
              </a:rPr>
              <a:t>第六版</a:t>
            </a:r>
          </a:p>
        </p:txBody>
      </p:sp>
      <p:cxnSp>
        <p:nvCxnSpPr>
          <p:cNvPr id="11" name="直接连接符 10"/>
          <p:cNvCxnSpPr/>
          <p:nvPr/>
        </p:nvCxnSpPr>
        <p:spPr>
          <a:xfrm>
            <a:off x="4607235" y="6336000"/>
            <a:ext cx="1080000" cy="1588"/>
          </a:xfrm>
          <a:prstGeom prst="line">
            <a:avLst/>
          </a:prstGeom>
          <a:ln w="38100" cap="rnd">
            <a:gradFill flip="none" rotWithShape="1">
              <a:gsLst>
                <a:gs pos="0">
                  <a:srgbClr val="000099"/>
                </a:gs>
                <a:gs pos="39999">
                  <a:srgbClr val="85C2FF"/>
                </a:gs>
                <a:gs pos="70000">
                  <a:srgbClr val="C4D6EB"/>
                </a:gs>
                <a:gs pos="100000">
                  <a:srgbClr val="FFEBFA"/>
                </a:gs>
              </a:gsLst>
              <a:lin ang="0" scaled="0"/>
              <a:tileRect/>
            </a:gradFill>
            <a:beve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3527235" y="6334124"/>
            <a:ext cx="1080000" cy="1588"/>
          </a:xfrm>
          <a:prstGeom prst="line">
            <a:avLst/>
          </a:prstGeom>
          <a:ln w="38100" cap="rnd">
            <a:gradFill flip="none" rotWithShape="1">
              <a:gsLst>
                <a:gs pos="0">
                  <a:srgbClr val="000099"/>
                </a:gs>
                <a:gs pos="39999">
                  <a:srgbClr val="85C2FF"/>
                </a:gs>
                <a:gs pos="70000">
                  <a:srgbClr val="C4D6EB"/>
                </a:gs>
                <a:gs pos="100000">
                  <a:srgbClr val="FFEBFA"/>
                </a:gs>
              </a:gsLst>
              <a:lin ang="0" scaled="0"/>
              <a:tileRect/>
            </a:gradFill>
            <a:bevel/>
          </a:ln>
        </p:spPr>
        <p:style>
          <a:lnRef idx="1">
            <a:schemeClr val="accent1"/>
          </a:lnRef>
          <a:fillRef idx="0">
            <a:schemeClr val="accent1"/>
          </a:fillRef>
          <a:effectRef idx="0">
            <a:schemeClr val="accent1"/>
          </a:effectRef>
          <a:fontRef idx="minor">
            <a:schemeClr val="tx1"/>
          </a:fontRef>
        </p:style>
      </p:cxnSp>
      <p:sp>
        <p:nvSpPr>
          <p:cNvPr id="13" name="Rectangle 97"/>
          <p:cNvSpPr>
            <a:spLocks noChangeArrowheads="1"/>
          </p:cNvSpPr>
          <p:nvPr/>
        </p:nvSpPr>
        <p:spPr bwMode="auto">
          <a:xfrm>
            <a:off x="3130550" y="6400800"/>
            <a:ext cx="2895600" cy="268288"/>
          </a:xfrm>
          <a:prstGeom prst="rect">
            <a:avLst/>
          </a:prstGeom>
          <a:noFill/>
          <a:ln w="9525">
            <a:noFill/>
            <a:miter lim="800000"/>
            <a:headEnd/>
            <a:tailEnd/>
          </a:ln>
          <a:effectLst/>
        </p:spPr>
        <p:txBody>
          <a:bodyPr/>
          <a:lstStyle/>
          <a:p>
            <a:pPr algn="ctr">
              <a:defRPr/>
            </a:pPr>
            <a:r>
              <a:rPr lang="zh-CN" altLang="en-US" b="1">
                <a:solidFill>
                  <a:srgbClr val="000066"/>
                </a:solidFill>
                <a:ea typeface="楷体_GB2312" pitchFamily="49" charset="-122"/>
              </a:rPr>
              <a:t>第十二章 气体动理论</a:t>
            </a:r>
          </a:p>
        </p:txBody>
      </p:sp>
      <p:sp>
        <p:nvSpPr>
          <p:cNvPr id="17" name="矩形 16"/>
          <p:cNvSpPr/>
          <p:nvPr/>
        </p:nvSpPr>
        <p:spPr>
          <a:xfrm>
            <a:off x="3175" y="857250"/>
            <a:ext cx="900113" cy="647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800" b="1"/>
          </a:p>
        </p:txBody>
      </p:sp>
      <p:sp>
        <p:nvSpPr>
          <p:cNvPr id="39946" name="Rectangle 10"/>
          <p:cNvSpPr>
            <a:spLocks noChangeArrowheads="1"/>
          </p:cNvSpPr>
          <p:nvPr userDrawn="1"/>
        </p:nvSpPr>
        <p:spPr bwMode="auto">
          <a:xfrm>
            <a:off x="1331913" y="0"/>
            <a:ext cx="8137525" cy="519113"/>
          </a:xfrm>
          <a:prstGeom prst="rect">
            <a:avLst/>
          </a:prstGeom>
          <a:noFill/>
          <a:ln w="9525">
            <a:noFill/>
            <a:miter lim="800000"/>
            <a:headEnd/>
            <a:tailEnd/>
          </a:ln>
          <a:effectLst/>
        </p:spPr>
        <p:txBody>
          <a:bodyPr>
            <a:spAutoFit/>
          </a:bodyPr>
          <a:lstStyle/>
          <a:p>
            <a:pPr eaLnBrk="0" hangingPunct="0">
              <a:spcBef>
                <a:spcPct val="50000"/>
              </a:spcBef>
              <a:defRPr/>
            </a:pPr>
            <a:r>
              <a:rPr kumimoji="1" lang="en-US" altLang="en-US" sz="2800" b="1">
                <a:solidFill>
                  <a:srgbClr val="000066"/>
                </a:solidFill>
                <a:latin typeface="楷体_GB2312" pitchFamily="49" charset="-122"/>
                <a:ea typeface="楷体_GB2312" pitchFamily="49" charset="-122"/>
              </a:rPr>
              <a:t>12-1 平衡态 理想气体物态方程</a:t>
            </a:r>
            <a:r>
              <a:rPr kumimoji="1" lang="en-US" altLang="zh-CN" sz="2800" b="1">
                <a:solidFill>
                  <a:srgbClr val="000066"/>
                </a:solidFill>
                <a:latin typeface="楷体_GB2312" pitchFamily="49" charset="-122"/>
                <a:ea typeface="楷体_GB2312" pitchFamily="49" charset="-122"/>
              </a:rPr>
              <a:t> </a:t>
            </a:r>
            <a:r>
              <a:rPr kumimoji="1" lang="zh-CN" altLang="en-US" sz="2800" b="1">
                <a:solidFill>
                  <a:srgbClr val="000066"/>
                </a:solidFill>
                <a:latin typeface="楷体_GB2312" pitchFamily="49" charset="-122"/>
                <a:ea typeface="楷体_GB2312" pitchFamily="49" charset="-122"/>
              </a:rPr>
              <a:t>热力学第零定律</a:t>
            </a:r>
          </a:p>
        </p:txBody>
      </p:sp>
      <p:sp>
        <p:nvSpPr>
          <p:cNvPr id="15" name="灯片编号占位符 15"/>
          <p:cNvSpPr>
            <a:spLocks/>
          </p:cNvSpPr>
          <p:nvPr/>
        </p:nvSpPr>
        <p:spPr bwMode="auto">
          <a:xfrm>
            <a:off x="6804025" y="6381750"/>
            <a:ext cx="2133600" cy="365125"/>
          </a:xfrm>
          <a:prstGeom prst="rect">
            <a:avLst/>
          </a:prstGeom>
          <a:noFill/>
          <a:ln w="9525">
            <a:noFill/>
            <a:miter lim="800000"/>
            <a:headEnd/>
            <a:tailEnd/>
          </a:ln>
        </p:spPr>
        <p:txBody>
          <a:bodyPr anchor="ctr"/>
          <a:lstStyle>
            <a:lvl1pPr>
              <a:defRPr/>
            </a:lvl1pPr>
          </a:lstStyle>
          <a:p>
            <a:pPr algn="r">
              <a:defRPr/>
            </a:pPr>
            <a:fld id="{1CEB7068-000D-454C-A912-D53B443AC1CE}" type="slidenum">
              <a:rPr lang="zh-CN" altLang="en-US" sz="2800" b="1" smtClean="0">
                <a:solidFill>
                  <a:srgbClr val="0000CC"/>
                </a:solidFill>
                <a:latin typeface="Calibri" pitchFamily="34" charset="0"/>
              </a:rPr>
              <a:pPr algn="r">
                <a:defRPr/>
              </a:pPr>
              <a:t>‹#›</a:t>
            </a:fld>
            <a:endParaRPr lang="en-US" altLang="zh-CN" sz="2800" b="1">
              <a:solidFill>
                <a:srgbClr val="0000CC"/>
              </a:solidFill>
              <a:latin typeface="Calibri" pitchFamily="34" charset="0"/>
            </a:endParaRPr>
          </a:p>
        </p:txBody>
      </p:sp>
      <p:cxnSp>
        <p:nvCxnSpPr>
          <p:cNvPr id="14" name="直接连接符 13"/>
          <p:cNvCxnSpPr/>
          <p:nvPr userDrawn="1"/>
        </p:nvCxnSpPr>
        <p:spPr>
          <a:xfrm>
            <a:off x="1566569" y="566942"/>
            <a:ext cx="7081408" cy="1179"/>
          </a:xfrm>
          <a:prstGeom prst="line">
            <a:avLst/>
          </a:prstGeom>
          <a:ln w="38100" cap="rnd">
            <a:gradFill flip="none" rotWithShape="1">
              <a:gsLst>
                <a:gs pos="0">
                  <a:srgbClr val="000099"/>
                </a:gs>
                <a:gs pos="39999">
                  <a:srgbClr val="85C2FF"/>
                </a:gs>
                <a:gs pos="70000">
                  <a:srgbClr val="C4D6EB"/>
                </a:gs>
                <a:gs pos="100000">
                  <a:srgbClr val="FFEBFA"/>
                </a:gs>
              </a:gsLst>
              <a:lin ang="0" scaled="0"/>
              <a:tileRect/>
            </a:gradFill>
            <a:beve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55" r:id="rId8"/>
    <p:sldLayoutId id="2147483856" r:id="rId9"/>
    <p:sldLayoutId id="2147483857" r:id="rId10"/>
    <p:sldLayoutId id="2147483858" r:id="rId11"/>
  </p:sldLayoutIdLst>
  <p:timing>
    <p:tnLst>
      <p:par>
        <p:cTn id="1" dur="indefinite" restart="never" nodeType="tmRoot"/>
      </p:par>
    </p:tnLst>
  </p:timing>
  <p:hf hdr="0" ftr="0" dt="0"/>
  <p:txStyles>
    <p:title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a:solidFill>
            <a:schemeClr val="tx1"/>
          </a:solidFill>
          <a:latin typeface="+mn-lt"/>
          <a:ea typeface="+mn-ea"/>
        </a:defRPr>
      </a:lvl2pPr>
      <a:lvl3pPr marL="1143000" indent="-228600" algn="l" rtl="0" eaLnBrk="0" fontAlgn="base" hangingPunct="0">
        <a:spcBef>
          <a:spcPct val="20000"/>
        </a:spcBef>
        <a:spcAft>
          <a:spcPct val="0"/>
        </a:spcAft>
        <a:buFont typeface="Arial"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charset="0"/>
        <a:buChar char="»"/>
        <a:defRPr sz="2000">
          <a:solidFill>
            <a:schemeClr val="tx1"/>
          </a:solidFill>
          <a:latin typeface="+mn-lt"/>
          <a:ea typeface="+mn-ea"/>
        </a:defRPr>
      </a:lvl5pPr>
      <a:lvl6pPr marL="2514600" indent="-228600" algn="l" rtl="0" fontAlgn="base">
        <a:spcBef>
          <a:spcPct val="20000"/>
        </a:spcBef>
        <a:spcAft>
          <a:spcPct val="0"/>
        </a:spcAft>
        <a:buFont typeface="Arial" charset="0"/>
        <a:buChar char="»"/>
        <a:defRPr sz="2000">
          <a:solidFill>
            <a:schemeClr val="tx1"/>
          </a:solidFill>
          <a:latin typeface="+mn-lt"/>
          <a:ea typeface="+mn-ea"/>
        </a:defRPr>
      </a:lvl6pPr>
      <a:lvl7pPr marL="2971800" indent="-228600" algn="l" rtl="0" fontAlgn="base">
        <a:spcBef>
          <a:spcPct val="20000"/>
        </a:spcBef>
        <a:spcAft>
          <a:spcPct val="0"/>
        </a:spcAft>
        <a:buFont typeface="Arial" charset="0"/>
        <a:buChar char="»"/>
        <a:defRPr sz="2000">
          <a:solidFill>
            <a:schemeClr val="tx1"/>
          </a:solidFill>
          <a:latin typeface="+mn-lt"/>
          <a:ea typeface="+mn-ea"/>
        </a:defRPr>
      </a:lvl7pPr>
      <a:lvl8pPr marL="3429000" indent="-228600" algn="l" rtl="0" fontAlgn="base">
        <a:spcBef>
          <a:spcPct val="20000"/>
        </a:spcBef>
        <a:spcAft>
          <a:spcPct val="0"/>
        </a:spcAft>
        <a:buFont typeface="Arial" charset="0"/>
        <a:buChar char="»"/>
        <a:defRPr sz="2000">
          <a:solidFill>
            <a:schemeClr val="tx1"/>
          </a:solidFill>
          <a:latin typeface="+mn-lt"/>
          <a:ea typeface="+mn-ea"/>
        </a:defRPr>
      </a:lvl8pPr>
      <a:lvl9pPr marL="3886200" indent="-228600" algn="l" rtl="0" fontAlgn="base">
        <a:spcBef>
          <a:spcPct val="20000"/>
        </a:spcBef>
        <a:spcAft>
          <a:spcPct val="0"/>
        </a:spcAft>
        <a:buFont typeface="Arial" charset="0"/>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10283" name="Rectangle 11"/>
          <p:cNvSpPr>
            <a:spLocks noChangeArrowheads="1"/>
          </p:cNvSpPr>
          <p:nvPr userDrawn="1"/>
        </p:nvSpPr>
        <p:spPr bwMode="auto">
          <a:xfrm>
            <a:off x="2987675" y="115888"/>
            <a:ext cx="6048375" cy="457200"/>
          </a:xfrm>
          <a:prstGeom prst="rect">
            <a:avLst/>
          </a:prstGeom>
          <a:noFill/>
          <a:ln w="9525">
            <a:noFill/>
            <a:miter lim="800000"/>
            <a:headEnd/>
            <a:tailEnd/>
          </a:ln>
          <a:effectLst/>
        </p:spPr>
        <p:txBody>
          <a:bodyPr>
            <a:spAutoFit/>
          </a:bodyPr>
          <a:lstStyle/>
          <a:p>
            <a:pPr eaLnBrk="0" hangingPunct="0">
              <a:spcBef>
                <a:spcPct val="50000"/>
              </a:spcBef>
              <a:defRPr/>
            </a:pPr>
            <a:r>
              <a:rPr kumimoji="1" lang="en-US" altLang="zh-CN" sz="2400" b="1">
                <a:solidFill>
                  <a:srgbClr val="000066"/>
                </a:solidFill>
                <a:latin typeface="楷体_GB2312" pitchFamily="49" charset="-122"/>
                <a:ea typeface="楷体_GB2312" pitchFamily="49" charset="-122"/>
              </a:rPr>
              <a:t>4-4 </a:t>
            </a:r>
            <a:r>
              <a:rPr kumimoji="1" lang="zh-CN" altLang="en-US" sz="2400" b="1">
                <a:solidFill>
                  <a:srgbClr val="000066"/>
                </a:solidFill>
                <a:latin typeface="楷体_GB2312" pitchFamily="49" charset="-122"/>
                <a:ea typeface="楷体_GB2312" pitchFamily="49" charset="-122"/>
              </a:rPr>
              <a:t>力矩的功 刚体绕定轴转动的动能定理</a:t>
            </a:r>
          </a:p>
        </p:txBody>
      </p:sp>
      <p:pic>
        <p:nvPicPr>
          <p:cNvPr id="7" name="Picture 12" descr="C:\Users\qdx\Desktop\Aticles\20141011\temp_01.gif"/>
          <p:cNvPicPr>
            <a:picLocks noChangeAspect="1" noChangeArrowheads="1"/>
          </p:cNvPicPr>
          <p:nvPr/>
        </p:nvPicPr>
        <p:blipFill>
          <a:blip r:embed="rId13" cstate="print"/>
          <a:srcRect l="3641" t="17614" r="84133" b="37315"/>
          <a:stretch>
            <a:fillRect/>
          </a:stretch>
        </p:blipFill>
        <p:spPr bwMode="auto">
          <a:xfrm>
            <a:off x="72000" y="71414"/>
            <a:ext cx="750887" cy="73077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9" name="TextBox 80"/>
          <p:cNvSpPr txBox="1">
            <a:spLocks noChangeArrowheads="1"/>
          </p:cNvSpPr>
          <p:nvPr/>
        </p:nvSpPr>
        <p:spPr bwMode="auto">
          <a:xfrm>
            <a:off x="123825" y="207963"/>
            <a:ext cx="661988" cy="461962"/>
          </a:xfrm>
          <a:prstGeom prst="rect">
            <a:avLst/>
          </a:prstGeom>
          <a:noFill/>
          <a:ln w="9525">
            <a:noFill/>
            <a:miter lim="800000"/>
            <a:headEnd/>
            <a:tailEnd/>
          </a:ln>
        </p:spPr>
        <p:txBody>
          <a:bodyPr>
            <a:spAutoFit/>
          </a:bodyPr>
          <a:lstStyle/>
          <a:p>
            <a:pPr fontAlgn="auto">
              <a:spcBef>
                <a:spcPts val="0"/>
              </a:spcBef>
              <a:spcAft>
                <a:spcPts val="0"/>
              </a:spcAft>
              <a:defRPr/>
            </a:pPr>
            <a:r>
              <a:rPr lang="zh-CN" altLang="en-US" sz="1200" b="1" dirty="0">
                <a:solidFill>
                  <a:srgbClr val="000099"/>
                </a:solidFill>
                <a:latin typeface="楷体" pitchFamily="49" charset="-122"/>
                <a:ea typeface="楷体" pitchFamily="49" charset="-122"/>
              </a:rPr>
              <a:t>物理学</a:t>
            </a:r>
            <a:endParaRPr lang="en-US" altLang="zh-CN" sz="1200" b="1" dirty="0">
              <a:solidFill>
                <a:srgbClr val="000099"/>
              </a:solidFill>
              <a:latin typeface="楷体" pitchFamily="49" charset="-122"/>
              <a:ea typeface="楷体" pitchFamily="49" charset="-122"/>
            </a:endParaRPr>
          </a:p>
          <a:p>
            <a:pPr fontAlgn="auto">
              <a:spcBef>
                <a:spcPts val="0"/>
              </a:spcBef>
              <a:spcAft>
                <a:spcPts val="0"/>
              </a:spcAft>
              <a:defRPr/>
            </a:pPr>
            <a:r>
              <a:rPr lang="zh-CN" altLang="en-US" sz="1200" b="1" dirty="0">
                <a:solidFill>
                  <a:srgbClr val="000099"/>
                </a:solidFill>
                <a:latin typeface="楷体" pitchFamily="49" charset="-122"/>
                <a:ea typeface="楷体" pitchFamily="49" charset="-122"/>
              </a:rPr>
              <a:t>第六版</a:t>
            </a:r>
          </a:p>
        </p:txBody>
      </p:sp>
      <p:cxnSp>
        <p:nvCxnSpPr>
          <p:cNvPr id="11" name="直接连接符 10"/>
          <p:cNvCxnSpPr/>
          <p:nvPr/>
        </p:nvCxnSpPr>
        <p:spPr>
          <a:xfrm>
            <a:off x="4607235" y="6336000"/>
            <a:ext cx="1080000" cy="1588"/>
          </a:xfrm>
          <a:prstGeom prst="line">
            <a:avLst/>
          </a:prstGeom>
          <a:ln w="38100" cap="rnd">
            <a:gradFill flip="none" rotWithShape="1">
              <a:gsLst>
                <a:gs pos="0">
                  <a:srgbClr val="000099"/>
                </a:gs>
                <a:gs pos="39999">
                  <a:srgbClr val="85C2FF"/>
                </a:gs>
                <a:gs pos="70000">
                  <a:srgbClr val="C4D6EB"/>
                </a:gs>
                <a:gs pos="100000">
                  <a:srgbClr val="FFEBFA"/>
                </a:gs>
              </a:gsLst>
              <a:lin ang="0" scaled="0"/>
              <a:tileRect/>
            </a:gradFill>
            <a:beve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3527235" y="6334124"/>
            <a:ext cx="1080000" cy="1588"/>
          </a:xfrm>
          <a:prstGeom prst="line">
            <a:avLst/>
          </a:prstGeom>
          <a:ln w="38100" cap="rnd">
            <a:gradFill flip="none" rotWithShape="1">
              <a:gsLst>
                <a:gs pos="0">
                  <a:srgbClr val="000099"/>
                </a:gs>
                <a:gs pos="39999">
                  <a:srgbClr val="85C2FF"/>
                </a:gs>
                <a:gs pos="70000">
                  <a:srgbClr val="C4D6EB"/>
                </a:gs>
                <a:gs pos="100000">
                  <a:srgbClr val="FFEBFA"/>
                </a:gs>
              </a:gsLst>
              <a:lin ang="0" scaled="0"/>
              <a:tileRect/>
            </a:gradFill>
            <a:bevel/>
          </a:ln>
        </p:spPr>
        <p:style>
          <a:lnRef idx="1">
            <a:schemeClr val="accent1"/>
          </a:lnRef>
          <a:fillRef idx="0">
            <a:schemeClr val="accent1"/>
          </a:fillRef>
          <a:effectRef idx="0">
            <a:schemeClr val="accent1"/>
          </a:effectRef>
          <a:fontRef idx="minor">
            <a:schemeClr val="tx1"/>
          </a:fontRef>
        </p:style>
      </p:cxnSp>
      <p:sp>
        <p:nvSpPr>
          <p:cNvPr id="13" name="Rectangle 97"/>
          <p:cNvSpPr>
            <a:spLocks noChangeArrowheads="1"/>
          </p:cNvSpPr>
          <p:nvPr/>
        </p:nvSpPr>
        <p:spPr bwMode="auto">
          <a:xfrm>
            <a:off x="2987675" y="6400800"/>
            <a:ext cx="3241675" cy="268288"/>
          </a:xfrm>
          <a:prstGeom prst="rect">
            <a:avLst/>
          </a:prstGeom>
          <a:noFill/>
          <a:ln w="9525">
            <a:noFill/>
            <a:miter lim="800000"/>
            <a:headEnd/>
            <a:tailEnd/>
          </a:ln>
          <a:effectLst/>
        </p:spPr>
        <p:txBody>
          <a:bodyPr/>
          <a:lstStyle/>
          <a:p>
            <a:pPr algn="ctr">
              <a:defRPr/>
            </a:pPr>
            <a:r>
              <a:rPr lang="zh-CN" altLang="en-US" b="1">
                <a:solidFill>
                  <a:srgbClr val="000066"/>
                </a:solidFill>
                <a:ea typeface="楷体_GB2312" pitchFamily="49" charset="-122"/>
              </a:rPr>
              <a:t>第四章  刚体转动和流体运动</a:t>
            </a:r>
          </a:p>
        </p:txBody>
      </p:sp>
      <p:sp>
        <p:nvSpPr>
          <p:cNvPr id="17" name="矩形 16"/>
          <p:cNvSpPr/>
          <p:nvPr/>
        </p:nvSpPr>
        <p:spPr>
          <a:xfrm>
            <a:off x="3175" y="857250"/>
            <a:ext cx="900113" cy="647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800" b="1">
              <a:solidFill>
                <a:srgbClr val="FFFFFF"/>
              </a:solidFill>
            </a:endParaRPr>
          </a:p>
        </p:txBody>
      </p:sp>
      <p:cxnSp>
        <p:nvCxnSpPr>
          <p:cNvPr id="14" name="直接连接符 13"/>
          <p:cNvCxnSpPr/>
          <p:nvPr/>
        </p:nvCxnSpPr>
        <p:spPr>
          <a:xfrm>
            <a:off x="3609610" y="596900"/>
            <a:ext cx="4809951" cy="1588"/>
          </a:xfrm>
          <a:prstGeom prst="line">
            <a:avLst/>
          </a:prstGeom>
          <a:ln w="38100" cap="rnd">
            <a:gradFill flip="none" rotWithShape="1">
              <a:gsLst>
                <a:gs pos="0">
                  <a:srgbClr val="000099"/>
                </a:gs>
                <a:gs pos="39999">
                  <a:srgbClr val="85C2FF"/>
                </a:gs>
                <a:gs pos="70000">
                  <a:srgbClr val="C4D6EB"/>
                </a:gs>
                <a:gs pos="100000">
                  <a:srgbClr val="FFEBFA"/>
                </a:gs>
              </a:gsLst>
              <a:lin ang="0" scaled="0"/>
              <a:tileRect/>
            </a:gradFill>
            <a:beve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灯片编号占位符 15"/>
          <p:cNvSpPr>
            <a:spLocks noGrp="1"/>
          </p:cNvSpPr>
          <p:nvPr>
            <p:ph type="sldNum" sz="quarter" idx="4"/>
          </p:nvPr>
        </p:nvSpPr>
        <p:spPr>
          <a:xfrm>
            <a:off x="6588125" y="6381750"/>
            <a:ext cx="2133600" cy="365125"/>
          </a:xfrm>
          <a:prstGeom prst="rect">
            <a:avLst/>
          </a:prstGeom>
        </p:spPr>
        <p:txBody>
          <a:bodyPr vert="horz" wrap="square" lIns="91440" tIns="45720" rIns="91440" bIns="45720" numCol="1" anchor="ctr" anchorCtr="0" compatLnSpc="1">
            <a:prstTxWarp prst="textNoShape">
              <a:avLst/>
            </a:prstTxWarp>
          </a:bodyPr>
          <a:lstStyle>
            <a:lvl1pPr algn="r">
              <a:spcBef>
                <a:spcPct val="0"/>
              </a:spcBef>
              <a:defRPr sz="1800" b="1">
                <a:solidFill>
                  <a:srgbClr val="0000CC"/>
                </a:solidFill>
                <a:latin typeface="+mn-lt"/>
              </a:defRPr>
            </a:lvl1pPr>
          </a:lstStyle>
          <a:p>
            <a:pPr>
              <a:defRPr/>
            </a:pPr>
            <a:fld id="{0494033E-4E28-430C-A282-842A3CD6FB17}"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866" r:id="rId1"/>
    <p:sldLayoutId id="2147483867" r:id="rId2"/>
    <p:sldLayoutId id="2147483868" r:id="rId3"/>
    <p:sldLayoutId id="2147483869" r:id="rId4"/>
    <p:sldLayoutId id="2147483870" r:id="rId5"/>
    <p:sldLayoutId id="2147483871" r:id="rId6"/>
    <p:sldLayoutId id="2147483872" r:id="rId7"/>
    <p:sldLayoutId id="2147483873" r:id="rId8"/>
    <p:sldLayoutId id="2147483874" r:id="rId9"/>
    <p:sldLayoutId id="2147483875" r:id="rId10"/>
    <p:sldLayoutId id="2147483876" r:id="rId11"/>
  </p:sldLayoutIdLst>
  <p:hf hdr="0" ftr="0" dt="0"/>
  <p:txStyles>
    <p:title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a:solidFill>
            <a:schemeClr val="tx1"/>
          </a:solidFill>
          <a:latin typeface="+mn-lt"/>
          <a:ea typeface="+mn-ea"/>
        </a:defRPr>
      </a:lvl2pPr>
      <a:lvl3pPr marL="1143000" indent="-228600" algn="l" rtl="0" eaLnBrk="0" fontAlgn="base" hangingPunct="0">
        <a:spcBef>
          <a:spcPct val="20000"/>
        </a:spcBef>
        <a:spcAft>
          <a:spcPct val="0"/>
        </a:spcAft>
        <a:buFont typeface="Arial"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charset="0"/>
        <a:buChar char="»"/>
        <a:defRPr sz="2000">
          <a:solidFill>
            <a:schemeClr val="tx1"/>
          </a:solidFill>
          <a:latin typeface="+mn-lt"/>
          <a:ea typeface="+mn-ea"/>
        </a:defRPr>
      </a:lvl5pPr>
      <a:lvl6pPr marL="2514600" indent="-228600" algn="l" rtl="0" fontAlgn="base">
        <a:spcBef>
          <a:spcPct val="20000"/>
        </a:spcBef>
        <a:spcAft>
          <a:spcPct val="0"/>
        </a:spcAft>
        <a:buFont typeface="Arial" charset="0"/>
        <a:buChar char="»"/>
        <a:defRPr sz="2000">
          <a:solidFill>
            <a:schemeClr val="tx1"/>
          </a:solidFill>
          <a:latin typeface="+mn-lt"/>
          <a:ea typeface="+mn-ea"/>
        </a:defRPr>
      </a:lvl6pPr>
      <a:lvl7pPr marL="2971800" indent="-228600" algn="l" rtl="0" fontAlgn="base">
        <a:spcBef>
          <a:spcPct val="20000"/>
        </a:spcBef>
        <a:spcAft>
          <a:spcPct val="0"/>
        </a:spcAft>
        <a:buFont typeface="Arial" charset="0"/>
        <a:buChar char="»"/>
        <a:defRPr sz="2000">
          <a:solidFill>
            <a:schemeClr val="tx1"/>
          </a:solidFill>
          <a:latin typeface="+mn-lt"/>
          <a:ea typeface="+mn-ea"/>
        </a:defRPr>
      </a:lvl7pPr>
      <a:lvl8pPr marL="3429000" indent="-228600" algn="l" rtl="0" fontAlgn="base">
        <a:spcBef>
          <a:spcPct val="20000"/>
        </a:spcBef>
        <a:spcAft>
          <a:spcPct val="0"/>
        </a:spcAft>
        <a:buFont typeface="Arial" charset="0"/>
        <a:buChar char="»"/>
        <a:defRPr sz="2000">
          <a:solidFill>
            <a:schemeClr val="tx1"/>
          </a:solidFill>
          <a:latin typeface="+mn-lt"/>
          <a:ea typeface="+mn-ea"/>
        </a:defRPr>
      </a:lvl8pPr>
      <a:lvl9pPr marL="3886200" indent="-228600" algn="l" rtl="0" fontAlgn="base">
        <a:spcBef>
          <a:spcPct val="20000"/>
        </a:spcBef>
        <a:spcAft>
          <a:spcPct val="0"/>
        </a:spcAft>
        <a:buFont typeface="Arial" charset="0"/>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2.v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oleObject" Target="../embeddings/oleObject5.bin"/><Relationship Id="rId7"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8.bin"/><Relationship Id="rId5" Type="http://schemas.openxmlformats.org/officeDocument/2006/relationships/oleObject" Target="../embeddings/oleObject7.bin"/><Relationship Id="rId4" Type="http://schemas.openxmlformats.org/officeDocument/2006/relationships/oleObject" Target="../embeddings/oleObject6.bin"/><Relationship Id="rId9" Type="http://schemas.openxmlformats.org/officeDocument/2006/relationships/oleObject" Target="../embeddings/oleObject11.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oleObject" Target="../embeddings/oleObject14.bin"/><Relationship Id="rId4" Type="http://schemas.openxmlformats.org/officeDocument/2006/relationships/oleObject" Target="../embeddings/oleObject13.bin"/></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5.bin"/><Relationship Id="rId7" Type="http://schemas.openxmlformats.org/officeDocument/2006/relationships/oleObject" Target="../embeddings/oleObject19.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18.bin"/><Relationship Id="rId5" Type="http://schemas.openxmlformats.org/officeDocument/2006/relationships/oleObject" Target="../embeddings/oleObject17.bin"/><Relationship Id="rId4" Type="http://schemas.openxmlformats.org/officeDocument/2006/relationships/oleObject" Target="../embeddings/oleObject16.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oleObject" Target="../embeddings/oleObject20.bin"/><Relationship Id="rId7" Type="http://schemas.openxmlformats.org/officeDocument/2006/relationships/oleObject" Target="../embeddings/oleObject24.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23.bin"/><Relationship Id="rId5" Type="http://schemas.openxmlformats.org/officeDocument/2006/relationships/oleObject" Target="../embeddings/oleObject22.bin"/><Relationship Id="rId4" Type="http://schemas.openxmlformats.org/officeDocument/2006/relationships/oleObject" Target="../embeddings/oleObject21.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7.vml"/><Relationship Id="rId5" Type="http://schemas.openxmlformats.org/officeDocument/2006/relationships/oleObject" Target="../embeddings/oleObject28.bin"/><Relationship Id="rId4" Type="http://schemas.openxmlformats.org/officeDocument/2006/relationships/oleObject" Target="../embeddings/oleObject27.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34.bin"/><Relationship Id="rId13" Type="http://schemas.openxmlformats.org/officeDocument/2006/relationships/oleObject" Target="../embeddings/oleObject39.bin"/><Relationship Id="rId18" Type="http://schemas.openxmlformats.org/officeDocument/2006/relationships/oleObject" Target="../embeddings/oleObject44.bin"/><Relationship Id="rId3" Type="http://schemas.openxmlformats.org/officeDocument/2006/relationships/oleObject" Target="../embeddings/oleObject29.bin"/><Relationship Id="rId7" Type="http://schemas.openxmlformats.org/officeDocument/2006/relationships/oleObject" Target="../embeddings/oleObject33.bin"/><Relationship Id="rId12" Type="http://schemas.openxmlformats.org/officeDocument/2006/relationships/oleObject" Target="../embeddings/oleObject38.bin"/><Relationship Id="rId17" Type="http://schemas.openxmlformats.org/officeDocument/2006/relationships/oleObject" Target="../embeddings/oleObject43.bin"/><Relationship Id="rId2" Type="http://schemas.openxmlformats.org/officeDocument/2006/relationships/slideLayout" Target="../slideLayouts/slideLayout7.xml"/><Relationship Id="rId16" Type="http://schemas.openxmlformats.org/officeDocument/2006/relationships/oleObject" Target="../embeddings/oleObject42.bin"/><Relationship Id="rId20" Type="http://schemas.openxmlformats.org/officeDocument/2006/relationships/oleObject" Target="../embeddings/oleObject46.bin"/><Relationship Id="rId1" Type="http://schemas.openxmlformats.org/officeDocument/2006/relationships/vmlDrawing" Target="../drawings/vmlDrawing8.vml"/><Relationship Id="rId6" Type="http://schemas.openxmlformats.org/officeDocument/2006/relationships/oleObject" Target="../embeddings/oleObject32.bin"/><Relationship Id="rId11" Type="http://schemas.openxmlformats.org/officeDocument/2006/relationships/oleObject" Target="../embeddings/oleObject37.bin"/><Relationship Id="rId5" Type="http://schemas.openxmlformats.org/officeDocument/2006/relationships/oleObject" Target="../embeddings/oleObject31.bin"/><Relationship Id="rId15" Type="http://schemas.openxmlformats.org/officeDocument/2006/relationships/oleObject" Target="../embeddings/oleObject41.bin"/><Relationship Id="rId10" Type="http://schemas.openxmlformats.org/officeDocument/2006/relationships/oleObject" Target="../embeddings/oleObject36.bin"/><Relationship Id="rId19" Type="http://schemas.openxmlformats.org/officeDocument/2006/relationships/oleObject" Target="../embeddings/oleObject45.bin"/><Relationship Id="rId4" Type="http://schemas.openxmlformats.org/officeDocument/2006/relationships/oleObject" Target="../embeddings/oleObject30.bin"/><Relationship Id="rId9" Type="http://schemas.openxmlformats.org/officeDocument/2006/relationships/oleObject" Target="../embeddings/oleObject35.bin"/><Relationship Id="rId14" Type="http://schemas.openxmlformats.org/officeDocument/2006/relationships/oleObject" Target="../embeddings/oleObject40.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52.bin"/><Relationship Id="rId13" Type="http://schemas.openxmlformats.org/officeDocument/2006/relationships/oleObject" Target="../embeddings/oleObject57.bin"/><Relationship Id="rId18" Type="http://schemas.openxmlformats.org/officeDocument/2006/relationships/oleObject" Target="../embeddings/oleObject62.bin"/><Relationship Id="rId3" Type="http://schemas.openxmlformats.org/officeDocument/2006/relationships/oleObject" Target="../embeddings/oleObject47.bin"/><Relationship Id="rId7" Type="http://schemas.openxmlformats.org/officeDocument/2006/relationships/oleObject" Target="../embeddings/oleObject51.bin"/><Relationship Id="rId12" Type="http://schemas.openxmlformats.org/officeDocument/2006/relationships/oleObject" Target="../embeddings/oleObject56.bin"/><Relationship Id="rId17" Type="http://schemas.openxmlformats.org/officeDocument/2006/relationships/oleObject" Target="../embeddings/oleObject61.bin"/><Relationship Id="rId2" Type="http://schemas.openxmlformats.org/officeDocument/2006/relationships/slideLayout" Target="../slideLayouts/slideLayout7.xml"/><Relationship Id="rId16" Type="http://schemas.openxmlformats.org/officeDocument/2006/relationships/oleObject" Target="../embeddings/oleObject60.bin"/><Relationship Id="rId20" Type="http://schemas.openxmlformats.org/officeDocument/2006/relationships/oleObject" Target="../embeddings/oleObject64.bin"/><Relationship Id="rId1" Type="http://schemas.openxmlformats.org/officeDocument/2006/relationships/vmlDrawing" Target="../drawings/vmlDrawing9.vml"/><Relationship Id="rId6" Type="http://schemas.openxmlformats.org/officeDocument/2006/relationships/oleObject" Target="../embeddings/oleObject50.bin"/><Relationship Id="rId11" Type="http://schemas.openxmlformats.org/officeDocument/2006/relationships/oleObject" Target="../embeddings/oleObject55.bin"/><Relationship Id="rId5" Type="http://schemas.openxmlformats.org/officeDocument/2006/relationships/oleObject" Target="../embeddings/oleObject49.bin"/><Relationship Id="rId15" Type="http://schemas.openxmlformats.org/officeDocument/2006/relationships/oleObject" Target="../embeddings/oleObject59.bin"/><Relationship Id="rId10" Type="http://schemas.openxmlformats.org/officeDocument/2006/relationships/oleObject" Target="../embeddings/oleObject54.bin"/><Relationship Id="rId19" Type="http://schemas.openxmlformats.org/officeDocument/2006/relationships/oleObject" Target="../embeddings/oleObject63.bin"/><Relationship Id="rId4" Type="http://schemas.openxmlformats.org/officeDocument/2006/relationships/oleObject" Target="../embeddings/oleObject48.bin"/><Relationship Id="rId9" Type="http://schemas.openxmlformats.org/officeDocument/2006/relationships/oleObject" Target="../embeddings/oleObject53.bin"/><Relationship Id="rId14" Type="http://schemas.openxmlformats.org/officeDocument/2006/relationships/oleObject" Target="../embeddings/oleObject58.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70.bin"/><Relationship Id="rId3" Type="http://schemas.openxmlformats.org/officeDocument/2006/relationships/oleObject" Target="../embeddings/oleObject65.bin"/><Relationship Id="rId7" Type="http://schemas.openxmlformats.org/officeDocument/2006/relationships/oleObject" Target="../embeddings/oleObject69.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oleObject" Target="../embeddings/oleObject68.bin"/><Relationship Id="rId5" Type="http://schemas.openxmlformats.org/officeDocument/2006/relationships/oleObject" Target="../embeddings/oleObject67.bin"/><Relationship Id="rId4" Type="http://schemas.openxmlformats.org/officeDocument/2006/relationships/oleObject" Target="../embeddings/oleObject66.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75.bin"/><Relationship Id="rId13" Type="http://schemas.openxmlformats.org/officeDocument/2006/relationships/oleObject" Target="../embeddings/oleObject80.bin"/><Relationship Id="rId3" Type="http://schemas.openxmlformats.org/officeDocument/2006/relationships/oleObject" Target="../embeddings/oleObject71.bin"/><Relationship Id="rId7" Type="http://schemas.openxmlformats.org/officeDocument/2006/relationships/oleObject" Target="../embeddings/oleObject74.bin"/><Relationship Id="rId12" Type="http://schemas.openxmlformats.org/officeDocument/2006/relationships/oleObject" Target="../embeddings/oleObject79.bin"/><Relationship Id="rId17" Type="http://schemas.openxmlformats.org/officeDocument/2006/relationships/oleObject" Target="../embeddings/oleObject84.bin"/><Relationship Id="rId2" Type="http://schemas.openxmlformats.org/officeDocument/2006/relationships/slideLayout" Target="../slideLayouts/slideLayout7.xml"/><Relationship Id="rId16" Type="http://schemas.openxmlformats.org/officeDocument/2006/relationships/oleObject" Target="../embeddings/oleObject83.bin"/><Relationship Id="rId1" Type="http://schemas.openxmlformats.org/officeDocument/2006/relationships/vmlDrawing" Target="../drawings/vmlDrawing11.vml"/><Relationship Id="rId6" Type="http://schemas.openxmlformats.org/officeDocument/2006/relationships/oleObject" Target="../embeddings/oleObject73.bin"/><Relationship Id="rId11" Type="http://schemas.openxmlformats.org/officeDocument/2006/relationships/oleObject" Target="../embeddings/oleObject78.bin"/><Relationship Id="rId5" Type="http://schemas.openxmlformats.org/officeDocument/2006/relationships/image" Target="../media/image51.png"/><Relationship Id="rId15" Type="http://schemas.openxmlformats.org/officeDocument/2006/relationships/oleObject" Target="../embeddings/oleObject82.bin"/><Relationship Id="rId10" Type="http://schemas.openxmlformats.org/officeDocument/2006/relationships/oleObject" Target="../embeddings/oleObject77.bin"/><Relationship Id="rId4" Type="http://schemas.openxmlformats.org/officeDocument/2006/relationships/oleObject" Target="../embeddings/oleObject72.bin"/><Relationship Id="rId9" Type="http://schemas.openxmlformats.org/officeDocument/2006/relationships/oleObject" Target="../embeddings/oleObject76.bin"/><Relationship Id="rId14" Type="http://schemas.openxmlformats.org/officeDocument/2006/relationships/oleObject" Target="../embeddings/oleObject81.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90.bin"/><Relationship Id="rId3" Type="http://schemas.openxmlformats.org/officeDocument/2006/relationships/oleObject" Target="../embeddings/oleObject85.bin"/><Relationship Id="rId7" Type="http://schemas.openxmlformats.org/officeDocument/2006/relationships/oleObject" Target="../embeddings/oleObject89.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oleObject" Target="../embeddings/oleObject88.bin"/><Relationship Id="rId5" Type="http://schemas.openxmlformats.org/officeDocument/2006/relationships/oleObject" Target="../embeddings/oleObject87.bin"/><Relationship Id="rId4" Type="http://schemas.openxmlformats.org/officeDocument/2006/relationships/oleObject" Target="../embeddings/oleObject86.bin"/></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91.bin"/><Relationship Id="rId7" Type="http://schemas.openxmlformats.org/officeDocument/2006/relationships/oleObject" Target="../embeddings/oleObject95.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94.bin"/><Relationship Id="rId5" Type="http://schemas.openxmlformats.org/officeDocument/2006/relationships/oleObject" Target="../embeddings/oleObject93.bin"/><Relationship Id="rId4" Type="http://schemas.openxmlformats.org/officeDocument/2006/relationships/oleObject" Target="../embeddings/oleObject92.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slideLayout" Target="../slideLayouts/slideLayout7.xml"/><Relationship Id="rId1" Type="http://schemas.openxmlformats.org/officeDocument/2006/relationships/vmlDrawing" Target="../drawings/vmlDrawing14.v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97.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oleObject" Target="../embeddings/oleObject100.bin"/><Relationship Id="rId5" Type="http://schemas.openxmlformats.org/officeDocument/2006/relationships/oleObject" Target="../embeddings/oleObject99.bin"/><Relationship Id="rId4" Type="http://schemas.openxmlformats.org/officeDocument/2006/relationships/oleObject" Target="../embeddings/oleObject98.bin"/></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01.bin"/><Relationship Id="rId2" Type="http://schemas.openxmlformats.org/officeDocument/2006/relationships/slideLayout" Target="../slideLayouts/slideLayout7.xml"/><Relationship Id="rId1" Type="http://schemas.openxmlformats.org/officeDocument/2006/relationships/vmlDrawing" Target="../drawings/vmlDrawing16.vml"/><Relationship Id="rId5" Type="http://schemas.openxmlformats.org/officeDocument/2006/relationships/oleObject" Target="../embeddings/oleObject103.bin"/><Relationship Id="rId4" Type="http://schemas.openxmlformats.org/officeDocument/2006/relationships/oleObject" Target="../embeddings/oleObject102.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04.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oleObject" Target="../embeddings/oleObject107.bin"/><Relationship Id="rId5" Type="http://schemas.openxmlformats.org/officeDocument/2006/relationships/oleObject" Target="../embeddings/oleObject106.bin"/><Relationship Id="rId4" Type="http://schemas.openxmlformats.org/officeDocument/2006/relationships/oleObject" Target="../embeddings/oleObject105.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08.bin"/><Relationship Id="rId2" Type="http://schemas.openxmlformats.org/officeDocument/2006/relationships/slideLayout" Target="../slideLayouts/slideLayout7.xml"/><Relationship Id="rId1" Type="http://schemas.openxmlformats.org/officeDocument/2006/relationships/vmlDrawing" Target="../drawings/vmlDrawing18.vml"/><Relationship Id="rId5" Type="http://schemas.openxmlformats.org/officeDocument/2006/relationships/oleObject" Target="../embeddings/oleObject110.bin"/><Relationship Id="rId4" Type="http://schemas.openxmlformats.org/officeDocument/2006/relationships/oleObject" Target="../embeddings/oleObject109.bin"/></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11.bin"/><Relationship Id="rId2" Type="http://schemas.openxmlformats.org/officeDocument/2006/relationships/slideLayout" Target="../slideLayouts/slideLayout7.xml"/><Relationship Id="rId1" Type="http://schemas.openxmlformats.org/officeDocument/2006/relationships/vmlDrawing" Target="../drawings/vmlDrawing19.v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oleObject" Target="../embeddings/oleObject114.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oleObject" Target="../embeddings/oleObject113.bin"/><Relationship Id="rId5" Type="http://schemas.openxmlformats.org/officeDocument/2006/relationships/oleObject" Target="../embeddings/oleObject112.bin"/><Relationship Id="rId4" Type="http://schemas.openxmlformats.org/officeDocument/2006/relationships/image" Target="../media/image81.gi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19.bin"/><Relationship Id="rId3" Type="http://schemas.openxmlformats.org/officeDocument/2006/relationships/oleObject" Target="../embeddings/oleObject115.bin"/><Relationship Id="rId7" Type="http://schemas.openxmlformats.org/officeDocument/2006/relationships/image" Target="../media/image81.gif"/><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oleObject" Target="../embeddings/oleObject118.bin"/><Relationship Id="rId11" Type="http://schemas.openxmlformats.org/officeDocument/2006/relationships/oleObject" Target="../embeddings/oleObject122.bin"/><Relationship Id="rId5" Type="http://schemas.openxmlformats.org/officeDocument/2006/relationships/oleObject" Target="../embeddings/oleObject117.bin"/><Relationship Id="rId10" Type="http://schemas.openxmlformats.org/officeDocument/2006/relationships/oleObject" Target="../embeddings/oleObject121.bin"/><Relationship Id="rId4" Type="http://schemas.openxmlformats.org/officeDocument/2006/relationships/oleObject" Target="../embeddings/oleObject116.bin"/><Relationship Id="rId9" Type="http://schemas.openxmlformats.org/officeDocument/2006/relationships/oleObject" Target="../embeddings/oleObject120.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7"/>
          <p:cNvSpPr>
            <a:spLocks noChangeArrowheads="1"/>
          </p:cNvSpPr>
          <p:nvPr/>
        </p:nvSpPr>
        <p:spPr bwMode="auto">
          <a:xfrm>
            <a:off x="1686185" y="548680"/>
            <a:ext cx="5622119" cy="646331"/>
          </a:xfrm>
          <a:prstGeom prst="rect">
            <a:avLst/>
          </a:prstGeom>
          <a:noFill/>
          <a:ln w="9525">
            <a:noFill/>
            <a:miter lim="800000"/>
            <a:headEnd/>
            <a:tailEnd/>
          </a:ln>
          <a:effectLst>
            <a:outerShdw dist="35921" dir="2700000" algn="ctr" rotWithShape="0">
              <a:schemeClr val="bg2"/>
            </a:outerShdw>
          </a:effectLst>
        </p:spPr>
        <p:txBody>
          <a:bodyPr wrap="square">
            <a:spAutoFit/>
          </a:bodyPr>
          <a:lstStyle/>
          <a:p>
            <a:pPr algn="ctr">
              <a:defRPr/>
            </a:pPr>
            <a:r>
              <a:rPr lang="zh-CN" altLang="en-US" sz="3600" b="1" dirty="0">
                <a:ea typeface="华文细黑" pitchFamily="2" charset="-122"/>
              </a:rPr>
              <a:t>第 五</a:t>
            </a:r>
            <a:r>
              <a:rPr lang="zh-CN" altLang="en-US" sz="3600" b="1" dirty="0" smtClean="0">
                <a:ea typeface="华文细黑" pitchFamily="2" charset="-122"/>
              </a:rPr>
              <a:t>章     </a:t>
            </a:r>
            <a:r>
              <a:rPr lang="zh-CN" altLang="en-US" sz="3600" b="1" dirty="0" smtClean="0">
                <a:latin typeface="华文细黑" pitchFamily="2" charset="-122"/>
                <a:ea typeface="华文细黑" pitchFamily="2" charset="-122"/>
              </a:rPr>
              <a:t>气</a:t>
            </a:r>
            <a:r>
              <a:rPr lang="zh-CN" altLang="en-US" sz="3600" b="1" dirty="0">
                <a:latin typeface="华文细黑" pitchFamily="2" charset="-122"/>
                <a:ea typeface="华文细黑" pitchFamily="2" charset="-122"/>
              </a:rPr>
              <a:t>体动理论</a:t>
            </a:r>
            <a:endParaRPr lang="zh-CN" altLang="en-US" sz="3600" b="1" dirty="0">
              <a:ea typeface="华文细黑" pitchFamily="2" charset="-122"/>
            </a:endParaRPr>
          </a:p>
        </p:txBody>
      </p:sp>
      <p:sp>
        <p:nvSpPr>
          <p:cNvPr id="5" name="TextBox 4"/>
          <p:cNvSpPr txBox="1"/>
          <p:nvPr/>
        </p:nvSpPr>
        <p:spPr>
          <a:xfrm>
            <a:off x="827584" y="1305704"/>
            <a:ext cx="8064896" cy="4859600"/>
          </a:xfrm>
          <a:prstGeom prst="rect">
            <a:avLst/>
          </a:prstGeom>
          <a:noFill/>
        </p:spPr>
        <p:txBody>
          <a:bodyPr wrap="square" rtlCol="0">
            <a:spAutoFit/>
          </a:bodyPr>
          <a:lstStyle/>
          <a:p>
            <a:pPr marL="342900" indent="-342900">
              <a:lnSpc>
                <a:spcPct val="200000"/>
              </a:lnSpc>
            </a:pPr>
            <a:r>
              <a:rPr lang="en-US" altLang="zh-CN" sz="3200" b="1" dirty="0" smtClean="0">
                <a:solidFill>
                  <a:srgbClr val="0000FF"/>
                </a:solidFill>
              </a:rPr>
              <a:t>5-1 </a:t>
            </a:r>
            <a:r>
              <a:rPr lang="zh-CN" altLang="en-US" sz="3200" b="1" dirty="0" smtClean="0">
                <a:solidFill>
                  <a:srgbClr val="0000FF"/>
                </a:solidFill>
              </a:rPr>
              <a:t>理想气体状态方程</a:t>
            </a:r>
            <a:endParaRPr lang="en-US" altLang="zh-CN" sz="3200" b="1" dirty="0" smtClean="0">
              <a:solidFill>
                <a:srgbClr val="0000FF"/>
              </a:solidFill>
            </a:endParaRPr>
          </a:p>
          <a:p>
            <a:pPr marL="342900" indent="-342900">
              <a:lnSpc>
                <a:spcPct val="200000"/>
              </a:lnSpc>
            </a:pPr>
            <a:r>
              <a:rPr lang="en-US" altLang="zh-CN" sz="3200" b="1" dirty="0" smtClean="0">
                <a:solidFill>
                  <a:srgbClr val="0000FF"/>
                </a:solidFill>
              </a:rPr>
              <a:t>5-2 </a:t>
            </a:r>
            <a:r>
              <a:rPr lang="zh-CN" altLang="en-US" sz="3200" b="1" dirty="0" smtClean="0">
                <a:solidFill>
                  <a:srgbClr val="0000FF"/>
                </a:solidFill>
              </a:rPr>
              <a:t>理想气体压强与温度</a:t>
            </a:r>
            <a:endParaRPr lang="en-US" altLang="zh-CN" sz="3200" b="1" dirty="0" smtClean="0">
              <a:solidFill>
                <a:srgbClr val="0000FF"/>
              </a:solidFill>
            </a:endParaRPr>
          </a:p>
          <a:p>
            <a:pPr marL="342900" indent="-342900">
              <a:lnSpc>
                <a:spcPct val="200000"/>
              </a:lnSpc>
            </a:pPr>
            <a:r>
              <a:rPr lang="en-US" altLang="zh-CN" sz="3200" b="1" dirty="0" smtClean="0">
                <a:solidFill>
                  <a:srgbClr val="0000FF"/>
                </a:solidFill>
              </a:rPr>
              <a:t>5-3 </a:t>
            </a:r>
            <a:r>
              <a:rPr lang="zh-CN" altLang="en-US" sz="3200" b="1" dirty="0" smtClean="0">
                <a:solidFill>
                  <a:srgbClr val="0000FF"/>
                </a:solidFill>
              </a:rPr>
              <a:t>气</a:t>
            </a:r>
            <a:r>
              <a:rPr lang="zh-CN" altLang="en-US" sz="3200" b="1" dirty="0">
                <a:solidFill>
                  <a:srgbClr val="0000FF"/>
                </a:solidFill>
              </a:rPr>
              <a:t>体分</a:t>
            </a:r>
            <a:r>
              <a:rPr lang="zh-CN" altLang="en-US" sz="3200" b="1" dirty="0" smtClean="0">
                <a:solidFill>
                  <a:srgbClr val="0000FF"/>
                </a:solidFill>
              </a:rPr>
              <a:t>子热运动的速率分布规律</a:t>
            </a:r>
            <a:endParaRPr lang="en-US" altLang="zh-CN" sz="3200" b="1" dirty="0" smtClean="0">
              <a:solidFill>
                <a:srgbClr val="0000FF"/>
              </a:solidFill>
            </a:endParaRPr>
          </a:p>
          <a:p>
            <a:pPr marL="342900" indent="-342900">
              <a:lnSpc>
                <a:spcPct val="200000"/>
              </a:lnSpc>
            </a:pPr>
            <a:r>
              <a:rPr lang="en-US" altLang="zh-CN" sz="3200" b="1" dirty="0" smtClean="0">
                <a:solidFill>
                  <a:srgbClr val="0000FF"/>
                </a:solidFill>
              </a:rPr>
              <a:t>5-4 </a:t>
            </a:r>
            <a:r>
              <a:rPr lang="zh-CN" altLang="en-US" sz="3200" b="1" dirty="0" smtClean="0">
                <a:solidFill>
                  <a:srgbClr val="0000FF"/>
                </a:solidFill>
              </a:rPr>
              <a:t>气</a:t>
            </a:r>
            <a:r>
              <a:rPr lang="zh-CN" altLang="en-US" sz="3200" b="1" dirty="0">
                <a:solidFill>
                  <a:srgbClr val="0000FF"/>
                </a:solidFill>
              </a:rPr>
              <a:t>体分</a:t>
            </a:r>
            <a:r>
              <a:rPr lang="zh-CN" altLang="en-US" sz="3200" b="1" dirty="0" smtClean="0">
                <a:solidFill>
                  <a:srgbClr val="0000FF"/>
                </a:solidFill>
              </a:rPr>
              <a:t>子的平均碰撞次数和平均自由程</a:t>
            </a:r>
            <a:endParaRPr lang="en-US" altLang="zh-CN" sz="3200" b="1" dirty="0" smtClean="0">
              <a:solidFill>
                <a:srgbClr val="0000FF"/>
              </a:solidFill>
            </a:endParaRPr>
          </a:p>
          <a:p>
            <a:pPr marL="342900" indent="-342900">
              <a:lnSpc>
                <a:spcPct val="200000"/>
              </a:lnSpc>
            </a:pPr>
            <a:r>
              <a:rPr lang="en-US" altLang="zh-CN" sz="3200" b="1" dirty="0" smtClean="0">
                <a:solidFill>
                  <a:srgbClr val="0000FF"/>
                </a:solidFill>
              </a:rPr>
              <a:t>5-5 </a:t>
            </a:r>
            <a:r>
              <a:rPr lang="zh-CN" altLang="en-US" sz="3200" b="1" dirty="0" smtClean="0">
                <a:solidFill>
                  <a:srgbClr val="0000FF"/>
                </a:solidFill>
              </a:rPr>
              <a:t>能</a:t>
            </a:r>
            <a:r>
              <a:rPr lang="zh-CN" altLang="en-US" sz="3200" b="1" dirty="0">
                <a:solidFill>
                  <a:srgbClr val="0000FF"/>
                </a:solidFill>
              </a:rPr>
              <a:t>量均</a:t>
            </a:r>
            <a:r>
              <a:rPr lang="zh-CN" altLang="en-US" sz="3200" b="1" dirty="0" smtClean="0">
                <a:solidFill>
                  <a:srgbClr val="0000FF"/>
                </a:solidFill>
              </a:rPr>
              <a:t>分定理与理想气体的内能</a:t>
            </a:r>
            <a:endParaRPr lang="zh-CN" altLang="en-US" sz="3200" b="1" dirty="0">
              <a:solidFill>
                <a:srgbClr val="0000FF"/>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8" name="Text Box 10"/>
          <p:cNvSpPr txBox="1">
            <a:spLocks noChangeArrowheads="1"/>
          </p:cNvSpPr>
          <p:nvPr/>
        </p:nvSpPr>
        <p:spPr bwMode="auto">
          <a:xfrm>
            <a:off x="5220072" y="4744308"/>
            <a:ext cx="3384376" cy="523220"/>
          </a:xfrm>
          <a:prstGeom prst="rect">
            <a:avLst/>
          </a:prstGeom>
          <a:noFill/>
          <a:ln w="9525">
            <a:noFill/>
            <a:miter lim="800000"/>
            <a:headEnd/>
            <a:tailEnd/>
          </a:ln>
        </p:spPr>
        <p:txBody>
          <a:bodyPr wrap="square">
            <a:spAutoFit/>
          </a:bodyPr>
          <a:lstStyle/>
          <a:p>
            <a:pPr algn="ctr">
              <a:spcBef>
                <a:spcPct val="50000"/>
              </a:spcBef>
            </a:pPr>
            <a:r>
              <a:rPr kumimoji="1" lang="zh-CN" altLang="en-US" sz="2800" b="1" dirty="0">
                <a:solidFill>
                  <a:srgbClr val="0000FF"/>
                </a:solidFill>
                <a:latin typeface="楷体_GB2312" pitchFamily="49" charset="-122"/>
                <a:ea typeface="楷体_GB2312" pitchFamily="49" charset="-122"/>
              </a:rPr>
              <a:t>普遍性和可信性</a:t>
            </a:r>
            <a:r>
              <a:rPr kumimoji="1" lang="zh-CN" altLang="en-US" sz="2800" b="1" dirty="0">
                <a:solidFill>
                  <a:srgbClr val="0000FF"/>
                </a:solidFill>
              </a:rPr>
              <a:t> </a:t>
            </a:r>
          </a:p>
        </p:txBody>
      </p:sp>
      <p:sp>
        <p:nvSpPr>
          <p:cNvPr id="26630" name="Rectangle 11"/>
          <p:cNvSpPr>
            <a:spLocks noChangeArrowheads="1"/>
          </p:cNvSpPr>
          <p:nvPr/>
        </p:nvSpPr>
        <p:spPr bwMode="auto">
          <a:xfrm>
            <a:off x="395536" y="476250"/>
            <a:ext cx="7848872" cy="584775"/>
          </a:xfrm>
          <a:prstGeom prst="rect">
            <a:avLst/>
          </a:prstGeom>
          <a:noFill/>
          <a:ln w="25400">
            <a:noFill/>
            <a:miter lim="800000"/>
            <a:headEnd/>
            <a:tailEnd/>
          </a:ln>
        </p:spPr>
        <p:txBody>
          <a:bodyPr wrap="square">
            <a:spAutoFit/>
          </a:bodyPr>
          <a:lstStyle/>
          <a:p>
            <a:pPr algn="ctr"/>
            <a:r>
              <a:rPr kumimoji="1" lang="zh-CN" altLang="en-US" sz="3200" b="1" dirty="0">
                <a:solidFill>
                  <a:srgbClr val="FF0000"/>
                </a:solidFill>
              </a:rPr>
              <a:t>研究热现象的两种理</a:t>
            </a:r>
            <a:r>
              <a:rPr kumimoji="1" lang="zh-CN" altLang="en-US" sz="3200" b="1" dirty="0" smtClean="0">
                <a:solidFill>
                  <a:srgbClr val="FF0000"/>
                </a:solidFill>
              </a:rPr>
              <a:t>论</a:t>
            </a:r>
            <a:endParaRPr kumimoji="1" lang="zh-CN" altLang="en-US" sz="3200" b="1" dirty="0">
              <a:solidFill>
                <a:srgbClr val="FF0000"/>
              </a:solidFill>
            </a:endParaRPr>
          </a:p>
        </p:txBody>
      </p:sp>
      <p:sp>
        <p:nvSpPr>
          <p:cNvPr id="83980" name="Rectangle 12"/>
          <p:cNvSpPr>
            <a:spLocks noChangeArrowheads="1"/>
          </p:cNvSpPr>
          <p:nvPr/>
        </p:nvSpPr>
        <p:spPr bwMode="auto">
          <a:xfrm>
            <a:off x="4932040" y="1988840"/>
            <a:ext cx="3888432" cy="523220"/>
          </a:xfrm>
          <a:prstGeom prst="rect">
            <a:avLst/>
          </a:prstGeom>
          <a:noFill/>
          <a:ln w="25400">
            <a:noFill/>
            <a:miter lim="800000"/>
            <a:headEnd/>
            <a:tailEnd/>
          </a:ln>
        </p:spPr>
        <p:txBody>
          <a:bodyPr wrap="square">
            <a:spAutoFit/>
          </a:bodyPr>
          <a:lstStyle/>
          <a:p>
            <a:pPr>
              <a:spcBef>
                <a:spcPct val="50000"/>
              </a:spcBef>
            </a:pPr>
            <a:r>
              <a:rPr kumimoji="1" lang="en-US" altLang="zh-CN" sz="2800" b="1" dirty="0">
                <a:latin typeface="Times New Roman" pitchFamily="18" charset="0"/>
                <a:cs typeface="Times New Roman" pitchFamily="18" charset="0"/>
              </a:rPr>
              <a:t>2. </a:t>
            </a:r>
            <a:r>
              <a:rPr kumimoji="1" lang="zh-CN" altLang="en-US" sz="2800" b="1" dirty="0">
                <a:latin typeface="Times New Roman" pitchFamily="18" charset="0"/>
                <a:cs typeface="Times New Roman" pitchFamily="18" charset="0"/>
              </a:rPr>
              <a:t>热力</a:t>
            </a:r>
            <a:r>
              <a:rPr kumimoji="1" lang="zh-CN" altLang="en-US" sz="2800" b="1" dirty="0" smtClean="0">
                <a:latin typeface="Times New Roman" pitchFamily="18" charset="0"/>
                <a:cs typeface="Times New Roman" pitchFamily="18" charset="0"/>
              </a:rPr>
              <a:t>学</a:t>
            </a:r>
            <a:r>
              <a:rPr kumimoji="1" lang="en-US" altLang="zh-CN" sz="2800" b="1" dirty="0" smtClean="0">
                <a:latin typeface="Times New Roman" pitchFamily="18" charset="0"/>
                <a:cs typeface="Times New Roman" pitchFamily="18" charset="0"/>
              </a:rPr>
              <a:t>(</a:t>
            </a:r>
            <a:r>
              <a:rPr kumimoji="1" lang="zh-CN" altLang="en-US" sz="2800" b="1" dirty="0" smtClean="0">
                <a:solidFill>
                  <a:srgbClr val="0000FF"/>
                </a:solidFill>
              </a:rPr>
              <a:t>宏观理论</a:t>
            </a:r>
            <a:r>
              <a:rPr kumimoji="1" lang="en-US" altLang="zh-CN" sz="2800" b="1" dirty="0" smtClean="0">
                <a:latin typeface="Times New Roman" pitchFamily="18" charset="0"/>
                <a:cs typeface="Times New Roman" pitchFamily="18" charset="0"/>
              </a:rPr>
              <a:t>)</a:t>
            </a:r>
            <a:endParaRPr kumimoji="1" lang="zh-CN" altLang="en-US" sz="2800" b="1" dirty="0">
              <a:latin typeface="Times New Roman" pitchFamily="18" charset="0"/>
              <a:cs typeface="Times New Roman" pitchFamily="18" charset="0"/>
            </a:endParaRPr>
          </a:p>
        </p:txBody>
      </p:sp>
      <p:sp>
        <p:nvSpPr>
          <p:cNvPr id="83982" name="Text Box 14"/>
          <p:cNvSpPr txBox="1">
            <a:spLocks noChangeArrowheads="1"/>
          </p:cNvSpPr>
          <p:nvPr/>
        </p:nvSpPr>
        <p:spPr bwMode="auto">
          <a:xfrm>
            <a:off x="5580112" y="4149080"/>
            <a:ext cx="2735262" cy="523220"/>
          </a:xfrm>
          <a:prstGeom prst="rect">
            <a:avLst/>
          </a:prstGeom>
          <a:noFill/>
          <a:ln w="9525">
            <a:noFill/>
            <a:miter lim="800000"/>
            <a:headEnd/>
            <a:tailEnd/>
          </a:ln>
        </p:spPr>
        <p:txBody>
          <a:bodyPr>
            <a:spAutoFit/>
          </a:bodyPr>
          <a:lstStyle/>
          <a:p>
            <a:pPr>
              <a:spcBef>
                <a:spcPct val="50000"/>
              </a:spcBef>
            </a:pPr>
            <a:r>
              <a:rPr kumimoji="1" lang="zh-CN" altLang="en-US" sz="2800" b="1" dirty="0">
                <a:ea typeface="楷体_GB2312" pitchFamily="49" charset="-122"/>
              </a:rPr>
              <a:t>热力学三大定律</a:t>
            </a:r>
          </a:p>
        </p:txBody>
      </p:sp>
      <p:sp>
        <p:nvSpPr>
          <p:cNvPr id="83983" name="Rectangle 15"/>
          <p:cNvSpPr>
            <a:spLocks noChangeArrowheads="1"/>
          </p:cNvSpPr>
          <p:nvPr/>
        </p:nvSpPr>
        <p:spPr bwMode="auto">
          <a:xfrm>
            <a:off x="323850" y="1988840"/>
            <a:ext cx="4104134" cy="523220"/>
          </a:xfrm>
          <a:prstGeom prst="rect">
            <a:avLst/>
          </a:prstGeom>
          <a:noFill/>
          <a:ln w="25400">
            <a:noFill/>
            <a:miter lim="800000"/>
            <a:headEnd/>
            <a:tailEnd/>
          </a:ln>
        </p:spPr>
        <p:txBody>
          <a:bodyPr wrap="square">
            <a:spAutoFit/>
          </a:bodyPr>
          <a:lstStyle/>
          <a:p>
            <a:pPr>
              <a:spcBef>
                <a:spcPct val="50000"/>
              </a:spcBef>
            </a:pPr>
            <a:r>
              <a:rPr kumimoji="1" lang="en-US" altLang="zh-CN" sz="2800" b="1" dirty="0">
                <a:latin typeface="Times New Roman" pitchFamily="18" charset="0"/>
                <a:cs typeface="Times New Roman" pitchFamily="18" charset="0"/>
              </a:rPr>
              <a:t>1.</a:t>
            </a:r>
            <a:r>
              <a:rPr kumimoji="1" lang="zh-CN" altLang="en-US" sz="2800" b="1" dirty="0">
                <a:latin typeface="Times New Roman" pitchFamily="18" charset="0"/>
                <a:cs typeface="Times New Roman" pitchFamily="18" charset="0"/>
              </a:rPr>
              <a:t>统计物</a:t>
            </a:r>
            <a:r>
              <a:rPr kumimoji="1" lang="zh-CN" altLang="en-US" sz="2800" b="1" dirty="0" smtClean="0">
                <a:latin typeface="Times New Roman" pitchFamily="18" charset="0"/>
                <a:cs typeface="Times New Roman" pitchFamily="18" charset="0"/>
              </a:rPr>
              <a:t>理</a:t>
            </a:r>
            <a:r>
              <a:rPr kumimoji="1" lang="en-US" altLang="zh-CN" sz="2800" b="1" dirty="0" smtClean="0">
                <a:latin typeface="Times New Roman" pitchFamily="18" charset="0"/>
                <a:cs typeface="Times New Roman" pitchFamily="18" charset="0"/>
              </a:rPr>
              <a:t>(</a:t>
            </a:r>
            <a:r>
              <a:rPr kumimoji="1" lang="zh-CN" altLang="en-US" sz="2800" b="1" dirty="0" smtClean="0">
                <a:solidFill>
                  <a:srgbClr val="0000FF"/>
                </a:solidFill>
                <a:latin typeface="Times New Roman" pitchFamily="18" charset="0"/>
                <a:cs typeface="Times New Roman" pitchFamily="18" charset="0"/>
              </a:rPr>
              <a:t>微观理论</a:t>
            </a:r>
            <a:r>
              <a:rPr kumimoji="1" lang="en-US" altLang="zh-CN" sz="2800" b="1" dirty="0" smtClean="0">
                <a:latin typeface="Times New Roman" pitchFamily="18" charset="0"/>
                <a:cs typeface="Times New Roman" pitchFamily="18" charset="0"/>
              </a:rPr>
              <a:t>)</a:t>
            </a:r>
            <a:endParaRPr kumimoji="1" lang="zh-CN" altLang="en-US" sz="2800" b="1" dirty="0">
              <a:latin typeface="Times New Roman" pitchFamily="18" charset="0"/>
              <a:cs typeface="Times New Roman" pitchFamily="18" charset="0"/>
            </a:endParaRPr>
          </a:p>
        </p:txBody>
      </p:sp>
      <p:grpSp>
        <p:nvGrpSpPr>
          <p:cNvPr id="21" name="组合 20"/>
          <p:cNvGrpSpPr/>
          <p:nvPr/>
        </p:nvGrpSpPr>
        <p:grpSpPr>
          <a:xfrm>
            <a:off x="5292080" y="3088124"/>
            <a:ext cx="3598862" cy="523220"/>
            <a:chOff x="5292080" y="2708920"/>
            <a:chExt cx="3598862" cy="523220"/>
          </a:xfrm>
        </p:grpSpPr>
        <p:sp>
          <p:nvSpPr>
            <p:cNvPr id="83973" name="Text Box 5"/>
            <p:cNvSpPr txBox="1">
              <a:spLocks noChangeArrowheads="1"/>
            </p:cNvSpPr>
            <p:nvPr/>
          </p:nvSpPr>
          <p:spPr bwMode="auto">
            <a:xfrm>
              <a:off x="5292080" y="2708920"/>
              <a:ext cx="1295400" cy="523220"/>
            </a:xfrm>
            <a:prstGeom prst="rect">
              <a:avLst/>
            </a:prstGeom>
            <a:noFill/>
            <a:ln w="9525">
              <a:noFill/>
              <a:miter lim="800000"/>
              <a:headEnd/>
              <a:tailEnd/>
            </a:ln>
          </p:spPr>
          <p:txBody>
            <a:bodyPr>
              <a:spAutoFit/>
            </a:bodyPr>
            <a:lstStyle/>
            <a:p>
              <a:pPr>
                <a:spcBef>
                  <a:spcPct val="50000"/>
                </a:spcBef>
              </a:pPr>
              <a:r>
                <a:rPr kumimoji="1" lang="zh-CN" altLang="en-US" sz="2800" b="1">
                  <a:ea typeface="楷体_GB2312" pitchFamily="49" charset="-122"/>
                </a:rPr>
                <a:t>实验</a:t>
              </a:r>
            </a:p>
          </p:txBody>
        </p:sp>
        <p:sp>
          <p:nvSpPr>
            <p:cNvPr id="83977" name="AutoShape 9"/>
            <p:cNvSpPr>
              <a:spLocks noChangeArrowheads="1"/>
            </p:cNvSpPr>
            <p:nvPr/>
          </p:nvSpPr>
          <p:spPr bwMode="auto">
            <a:xfrm>
              <a:off x="6217592" y="2898299"/>
              <a:ext cx="649288" cy="144463"/>
            </a:xfrm>
            <a:prstGeom prst="rightArrow">
              <a:avLst>
                <a:gd name="adj1" fmla="val 50000"/>
                <a:gd name="adj2" fmla="val 112362"/>
              </a:avLst>
            </a:prstGeom>
            <a:solidFill>
              <a:srgbClr val="FFFF00"/>
            </a:solidFill>
            <a:ln w="25400">
              <a:solidFill>
                <a:srgbClr val="FF0000"/>
              </a:solidFill>
              <a:miter lim="800000"/>
              <a:headEnd/>
              <a:tailEnd/>
            </a:ln>
          </p:spPr>
          <p:txBody>
            <a:bodyPr wrap="none" anchor="ctr"/>
            <a:lstStyle/>
            <a:p>
              <a:endParaRPr lang="zh-CN" altLang="en-US" sz="2800"/>
            </a:p>
          </p:txBody>
        </p:sp>
        <p:sp>
          <p:nvSpPr>
            <p:cNvPr id="83986" name="Text Box 18"/>
            <p:cNvSpPr txBox="1">
              <a:spLocks noChangeArrowheads="1"/>
            </p:cNvSpPr>
            <p:nvPr/>
          </p:nvSpPr>
          <p:spPr bwMode="auto">
            <a:xfrm>
              <a:off x="6958955" y="2708920"/>
              <a:ext cx="1931987" cy="523220"/>
            </a:xfrm>
            <a:prstGeom prst="rect">
              <a:avLst/>
            </a:prstGeom>
            <a:noFill/>
            <a:ln w="9525">
              <a:noFill/>
              <a:miter lim="800000"/>
              <a:headEnd/>
              <a:tailEnd/>
            </a:ln>
          </p:spPr>
          <p:txBody>
            <a:bodyPr>
              <a:spAutoFit/>
            </a:bodyPr>
            <a:lstStyle/>
            <a:p>
              <a:pPr>
                <a:spcBef>
                  <a:spcPct val="50000"/>
                </a:spcBef>
              </a:pPr>
              <a:r>
                <a:rPr kumimoji="1" lang="zh-CN" altLang="en-US" sz="2800" b="1">
                  <a:ea typeface="楷体_GB2312" pitchFamily="49" charset="-122"/>
                </a:rPr>
                <a:t>逻辑推理</a:t>
              </a:r>
            </a:p>
          </p:txBody>
        </p:sp>
      </p:grpSp>
      <p:sp>
        <p:nvSpPr>
          <p:cNvPr id="83987" name="Text Box 19"/>
          <p:cNvSpPr txBox="1">
            <a:spLocks noChangeArrowheads="1"/>
          </p:cNvSpPr>
          <p:nvPr/>
        </p:nvSpPr>
        <p:spPr bwMode="auto">
          <a:xfrm>
            <a:off x="1259731" y="4149080"/>
            <a:ext cx="2016125" cy="523220"/>
          </a:xfrm>
          <a:prstGeom prst="rect">
            <a:avLst/>
          </a:prstGeom>
          <a:noFill/>
          <a:ln w="9525">
            <a:noFill/>
            <a:miter lim="800000"/>
            <a:headEnd/>
            <a:tailEnd/>
          </a:ln>
        </p:spPr>
        <p:txBody>
          <a:bodyPr>
            <a:spAutoFit/>
          </a:bodyPr>
          <a:lstStyle/>
          <a:p>
            <a:pPr>
              <a:spcBef>
                <a:spcPct val="50000"/>
              </a:spcBef>
            </a:pPr>
            <a:r>
              <a:rPr kumimoji="1" lang="zh-CN" altLang="en-US" sz="2800" b="1" dirty="0">
                <a:ea typeface="楷体_GB2312" pitchFamily="49" charset="-122"/>
              </a:rPr>
              <a:t>统计规律</a:t>
            </a:r>
          </a:p>
        </p:txBody>
      </p:sp>
      <p:sp>
        <p:nvSpPr>
          <p:cNvPr id="83988" name="Rectangle 20"/>
          <p:cNvSpPr>
            <a:spLocks noChangeArrowheads="1"/>
          </p:cNvSpPr>
          <p:nvPr/>
        </p:nvSpPr>
        <p:spPr bwMode="auto">
          <a:xfrm>
            <a:off x="611560" y="4744308"/>
            <a:ext cx="3973893" cy="523220"/>
          </a:xfrm>
          <a:prstGeom prst="rect">
            <a:avLst/>
          </a:prstGeom>
          <a:noFill/>
          <a:ln w="25400">
            <a:noFill/>
            <a:miter lim="800000"/>
            <a:headEnd/>
            <a:tailEnd/>
          </a:ln>
        </p:spPr>
        <p:txBody>
          <a:bodyPr wrap="square">
            <a:spAutoFit/>
          </a:bodyPr>
          <a:lstStyle/>
          <a:p>
            <a:pPr algn="ctr"/>
            <a:r>
              <a:rPr kumimoji="1" lang="zh-CN" altLang="en-US" sz="2800" b="1" dirty="0">
                <a:solidFill>
                  <a:srgbClr val="0000FF"/>
                </a:solidFill>
                <a:ea typeface="楷体_GB2312" pitchFamily="49" charset="-122"/>
              </a:rPr>
              <a:t>揭示本质，受模型局限</a:t>
            </a:r>
          </a:p>
        </p:txBody>
      </p:sp>
      <p:grpSp>
        <p:nvGrpSpPr>
          <p:cNvPr id="22" name="组合 21"/>
          <p:cNvGrpSpPr/>
          <p:nvPr/>
        </p:nvGrpSpPr>
        <p:grpSpPr>
          <a:xfrm>
            <a:off x="433388" y="3088124"/>
            <a:ext cx="3778572" cy="523220"/>
            <a:chOff x="433388" y="2564904"/>
            <a:chExt cx="3778572" cy="523220"/>
          </a:xfrm>
        </p:grpSpPr>
        <p:sp>
          <p:nvSpPr>
            <p:cNvPr id="83974" name="Text Box 6"/>
            <p:cNvSpPr txBox="1">
              <a:spLocks noChangeArrowheads="1"/>
            </p:cNvSpPr>
            <p:nvPr/>
          </p:nvSpPr>
          <p:spPr bwMode="auto">
            <a:xfrm>
              <a:off x="433388" y="2564904"/>
              <a:ext cx="1274762" cy="523220"/>
            </a:xfrm>
            <a:prstGeom prst="rect">
              <a:avLst/>
            </a:prstGeom>
            <a:noFill/>
            <a:ln w="9525">
              <a:noFill/>
              <a:miter lim="800000"/>
              <a:headEnd/>
              <a:tailEnd/>
            </a:ln>
          </p:spPr>
          <p:txBody>
            <a:bodyPr>
              <a:spAutoFit/>
            </a:bodyPr>
            <a:lstStyle/>
            <a:p>
              <a:pPr>
                <a:spcBef>
                  <a:spcPct val="50000"/>
                </a:spcBef>
              </a:pPr>
              <a:r>
                <a:rPr kumimoji="1" lang="zh-CN" altLang="en-US" sz="2800" b="1">
                  <a:ea typeface="楷体_GB2312" pitchFamily="49" charset="-122"/>
                </a:rPr>
                <a:t>模型</a:t>
              </a:r>
            </a:p>
          </p:txBody>
        </p:sp>
        <p:sp>
          <p:nvSpPr>
            <p:cNvPr id="83985" name="Text Box 17"/>
            <p:cNvSpPr txBox="1">
              <a:spLocks noChangeArrowheads="1"/>
            </p:cNvSpPr>
            <p:nvPr/>
          </p:nvSpPr>
          <p:spPr bwMode="auto">
            <a:xfrm>
              <a:off x="2052960" y="2564904"/>
              <a:ext cx="2159000" cy="523220"/>
            </a:xfrm>
            <a:prstGeom prst="rect">
              <a:avLst/>
            </a:prstGeom>
            <a:noFill/>
            <a:ln w="9525">
              <a:noFill/>
              <a:miter lim="800000"/>
              <a:headEnd/>
              <a:tailEnd/>
            </a:ln>
          </p:spPr>
          <p:txBody>
            <a:bodyPr>
              <a:spAutoFit/>
            </a:bodyPr>
            <a:lstStyle/>
            <a:p>
              <a:pPr>
                <a:spcBef>
                  <a:spcPct val="50000"/>
                </a:spcBef>
              </a:pPr>
              <a:r>
                <a:rPr kumimoji="1" lang="zh-CN" altLang="en-US" sz="2800" b="1" dirty="0">
                  <a:ea typeface="楷体_GB2312" pitchFamily="49" charset="-122"/>
                </a:rPr>
                <a:t>统计方法</a:t>
              </a:r>
            </a:p>
          </p:txBody>
        </p:sp>
        <p:sp>
          <p:nvSpPr>
            <p:cNvPr id="83991" name="AutoShape 23"/>
            <p:cNvSpPr>
              <a:spLocks noChangeArrowheads="1"/>
            </p:cNvSpPr>
            <p:nvPr/>
          </p:nvSpPr>
          <p:spPr bwMode="auto">
            <a:xfrm>
              <a:off x="1328738" y="2754283"/>
              <a:ext cx="649287" cy="144463"/>
            </a:xfrm>
            <a:prstGeom prst="rightArrow">
              <a:avLst>
                <a:gd name="adj1" fmla="val 50000"/>
                <a:gd name="adj2" fmla="val 112362"/>
              </a:avLst>
            </a:prstGeom>
            <a:solidFill>
              <a:srgbClr val="FFFF00"/>
            </a:solidFill>
            <a:ln w="25400">
              <a:solidFill>
                <a:srgbClr val="FF0000"/>
              </a:solidFill>
              <a:miter lim="800000"/>
              <a:headEnd/>
              <a:tailEnd/>
            </a:ln>
          </p:spPr>
          <p:txBody>
            <a:bodyPr wrap="none" anchor="ctr"/>
            <a:lstStyle/>
            <a:p>
              <a:endParaRPr lang="zh-CN" altLang="en-US" sz="2800"/>
            </a:p>
          </p:txBody>
        </p:sp>
      </p:grpSp>
      <p:cxnSp>
        <p:nvCxnSpPr>
          <p:cNvPr id="20" name="直接连接符 19"/>
          <p:cNvCxnSpPr/>
          <p:nvPr/>
        </p:nvCxnSpPr>
        <p:spPr>
          <a:xfrm>
            <a:off x="4644008" y="1988840"/>
            <a:ext cx="0" cy="4032448"/>
          </a:xfrm>
          <a:prstGeom prst="line">
            <a:avLst/>
          </a:prstGeom>
        </p:spPr>
        <p:style>
          <a:lnRef idx="1">
            <a:schemeClr val="accent1"/>
          </a:lnRef>
          <a:fillRef idx="0">
            <a:schemeClr val="accent1"/>
          </a:fillRef>
          <a:effectRef idx="0">
            <a:schemeClr val="accent1"/>
          </a:effectRef>
          <a:fontRef idx="minor">
            <a:schemeClr val="tx1"/>
          </a:fontRef>
        </p:style>
      </p:cxnSp>
      <p:sp>
        <p:nvSpPr>
          <p:cNvPr id="18" name="灯片编号占位符 1"/>
          <p:cNvSpPr txBox="1">
            <a:spLocks/>
          </p:cNvSpPr>
          <p:nvPr/>
        </p:nvSpPr>
        <p:spPr bwMode="auto">
          <a:xfrm>
            <a:off x="8606357" y="6584504"/>
            <a:ext cx="574155" cy="300880"/>
          </a:xfrm>
          <a:prstGeom prst="rect">
            <a:avLst/>
          </a:prstGeom>
          <a:noFill/>
          <a:ln>
            <a:miter lim="800000"/>
            <a:headEnd/>
            <a:tailEnd/>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22E3302-AC1D-47C1-A1C9-47DFDD07C79E}" type="slidenum">
              <a:rPr kumimoji="0" lang="en-US" altLang="zh-CN" sz="1400" b="0" i="0" u="none" strike="noStrike" kern="1200" cap="none" spc="0" normalizeH="0" baseline="0" noProof="0" smtClean="0">
                <a:ln>
                  <a:noFill/>
                </a:ln>
                <a:solidFill>
                  <a:schemeClr val="tx1"/>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zh-CN" sz="1400" b="0" i="0" u="none" strike="noStrike" kern="1200" cap="none" spc="0" normalizeH="0" baseline="0" noProof="0" dirty="0">
              <a:ln>
                <a:noFill/>
              </a:ln>
              <a:solidFill>
                <a:schemeClr val="tx1"/>
              </a:solidFill>
              <a:effectLst/>
              <a:uLnTx/>
              <a:uFillTx/>
              <a:latin typeface="Arial" charset="0"/>
              <a:ea typeface="宋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3987"/>
                                        </p:tgtEl>
                                        <p:attrNameLst>
                                          <p:attrName>style.visibility</p:attrName>
                                        </p:attrNameLst>
                                      </p:cBhvr>
                                      <p:to>
                                        <p:strVal val="visible"/>
                                      </p:to>
                                    </p:set>
                                    <p:animEffect transition="in" filter="wipe(left)">
                                      <p:cBhvr>
                                        <p:cTn id="12" dur="500"/>
                                        <p:tgtEl>
                                          <p:spTgt spid="83987"/>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83988"/>
                                        </p:tgtEl>
                                        <p:attrNameLst>
                                          <p:attrName>style.visibility</p:attrName>
                                        </p:attrNameLst>
                                      </p:cBhvr>
                                      <p:to>
                                        <p:strVal val="visible"/>
                                      </p:to>
                                    </p:set>
                                    <p:animEffect transition="in" filter="wipe(left)">
                                      <p:cBhvr>
                                        <p:cTn id="15" dur="500"/>
                                        <p:tgtEl>
                                          <p:spTgt spid="8398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83980"/>
                                        </p:tgtEl>
                                        <p:attrNameLst>
                                          <p:attrName>style.visibility</p:attrName>
                                        </p:attrNameLst>
                                      </p:cBhvr>
                                      <p:to>
                                        <p:strVal val="visible"/>
                                      </p:to>
                                    </p:set>
                                    <p:animEffect transition="in" filter="wipe(left)">
                                      <p:cBhvr>
                                        <p:cTn id="20" dur="500"/>
                                        <p:tgtEl>
                                          <p:spTgt spid="8398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wipe(left)">
                                      <p:cBhvr>
                                        <p:cTn id="25" dur="5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83982"/>
                                        </p:tgtEl>
                                        <p:attrNameLst>
                                          <p:attrName>style.visibility</p:attrName>
                                        </p:attrNameLst>
                                      </p:cBhvr>
                                      <p:to>
                                        <p:strVal val="visible"/>
                                      </p:to>
                                    </p:set>
                                    <p:animEffect transition="in" filter="wipe(left)">
                                      <p:cBhvr>
                                        <p:cTn id="30" dur="500"/>
                                        <p:tgtEl>
                                          <p:spTgt spid="83982"/>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83978"/>
                                        </p:tgtEl>
                                        <p:attrNameLst>
                                          <p:attrName>style.visibility</p:attrName>
                                        </p:attrNameLst>
                                      </p:cBhvr>
                                      <p:to>
                                        <p:strVal val="visible"/>
                                      </p:to>
                                    </p:set>
                                    <p:animEffect transition="in" filter="wipe(left)">
                                      <p:cBhvr>
                                        <p:cTn id="33" dur="500"/>
                                        <p:tgtEl>
                                          <p:spTgt spid="839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8" grpId="0"/>
      <p:bldP spid="83980" grpId="0"/>
      <p:bldP spid="83982" grpId="0"/>
      <p:bldP spid="83987" grpId="0"/>
      <p:bldP spid="8398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Text Box 3"/>
          <p:cNvSpPr txBox="1">
            <a:spLocks noChangeArrowheads="1"/>
          </p:cNvSpPr>
          <p:nvPr/>
        </p:nvSpPr>
        <p:spPr bwMode="auto">
          <a:xfrm>
            <a:off x="323528" y="1106066"/>
            <a:ext cx="7632700" cy="584775"/>
          </a:xfrm>
          <a:prstGeom prst="rect">
            <a:avLst/>
          </a:prstGeom>
          <a:noFill/>
          <a:ln w="28575">
            <a:noFill/>
            <a:miter lim="800000"/>
            <a:headEnd/>
            <a:tailEnd/>
          </a:ln>
          <a:effectLst/>
        </p:spPr>
        <p:txBody>
          <a:bodyPr>
            <a:spAutoFit/>
          </a:bodyPr>
          <a:lstStyle/>
          <a:p>
            <a:pPr eaLnBrk="0" hangingPunct="0">
              <a:spcBef>
                <a:spcPct val="50000"/>
              </a:spcBef>
              <a:defRPr/>
            </a:pPr>
            <a:r>
              <a:rPr kumimoji="1" lang="zh-CN" altLang="en-US" sz="3200" b="1" dirty="0" smtClean="0">
                <a:solidFill>
                  <a:srgbClr val="C00000"/>
                </a:solidFill>
                <a:latin typeface="宋体" pitchFamily="2" charset="-122"/>
              </a:rPr>
              <a:t>一、微观描述</a:t>
            </a:r>
            <a:endParaRPr kumimoji="1" lang="zh-CN" altLang="en-US" sz="3200" b="1" dirty="0">
              <a:solidFill>
                <a:srgbClr val="C00000"/>
              </a:solidFill>
              <a:latin typeface="宋体" pitchFamily="2" charset="-122"/>
            </a:endParaRPr>
          </a:p>
        </p:txBody>
      </p:sp>
      <p:grpSp>
        <p:nvGrpSpPr>
          <p:cNvPr id="14" name="组合 13"/>
          <p:cNvGrpSpPr/>
          <p:nvPr/>
        </p:nvGrpSpPr>
        <p:grpSpPr>
          <a:xfrm>
            <a:off x="1043756" y="2780928"/>
            <a:ext cx="7632700" cy="1440235"/>
            <a:chOff x="1043756" y="2780928"/>
            <a:chExt cx="7632700" cy="1440235"/>
          </a:xfrm>
        </p:grpSpPr>
        <p:graphicFrame>
          <p:nvGraphicFramePr>
            <p:cNvPr id="1028" name="Object 6"/>
            <p:cNvGraphicFramePr>
              <a:graphicFrameLocks noChangeAspect="1"/>
            </p:cNvGraphicFramePr>
            <p:nvPr/>
          </p:nvGraphicFramePr>
          <p:xfrm>
            <a:off x="1641475" y="3613150"/>
            <a:ext cx="4495800" cy="608013"/>
          </p:xfrm>
          <a:graphic>
            <a:graphicData uri="http://schemas.openxmlformats.org/presentationml/2006/ole">
              <p:oleObj spid="_x0000_s1028" name="Equation" r:id="rId3" imgW="1752480" imgH="241200" progId="Equation.DSMT4">
                <p:embed/>
              </p:oleObj>
            </a:graphicData>
          </a:graphic>
        </p:graphicFrame>
        <p:sp>
          <p:nvSpPr>
            <p:cNvPr id="39943" name="Rectangle 7"/>
            <p:cNvSpPr>
              <a:spLocks noChangeArrowheads="1"/>
            </p:cNvSpPr>
            <p:nvPr/>
          </p:nvSpPr>
          <p:spPr bwMode="auto">
            <a:xfrm>
              <a:off x="1043756" y="2780928"/>
              <a:ext cx="7632700" cy="624595"/>
            </a:xfrm>
            <a:prstGeom prst="rect">
              <a:avLst/>
            </a:prstGeom>
            <a:noFill/>
            <a:ln w="28575">
              <a:noFill/>
              <a:miter lim="800000"/>
              <a:headEnd/>
              <a:tailEnd/>
            </a:ln>
          </p:spPr>
          <p:txBody>
            <a:bodyPr>
              <a:spAutoFit/>
            </a:bodyPr>
            <a:lstStyle/>
            <a:p>
              <a:pPr algn="just">
                <a:lnSpc>
                  <a:spcPct val="120000"/>
                </a:lnSpc>
                <a:spcBef>
                  <a:spcPct val="50000"/>
                </a:spcBef>
              </a:pPr>
              <a:r>
                <a:rPr lang="en-US" altLang="zh-CN" sz="3200" dirty="0" smtClean="0"/>
                <a:t>1 </a:t>
              </a:r>
              <a:r>
                <a:rPr lang="en-US" altLang="zh-CN" sz="3200" dirty="0"/>
                <a:t>mol</a:t>
              </a:r>
              <a:r>
                <a:rPr lang="en-US" altLang="zh-CN" sz="3200" b="1" dirty="0"/>
                <a:t> </a:t>
              </a:r>
              <a:r>
                <a:rPr lang="zh-CN" altLang="en-US" sz="3200" b="1" dirty="0"/>
                <a:t>任何气体所含的分子数目均相</a:t>
              </a:r>
              <a:r>
                <a:rPr lang="zh-CN" altLang="en-US" sz="3200" b="1" dirty="0" smtClean="0"/>
                <a:t>同：</a:t>
              </a:r>
              <a:endParaRPr lang="zh-CN" altLang="en-US" sz="3200" b="1" dirty="0"/>
            </a:p>
          </p:txBody>
        </p:sp>
      </p:grpSp>
      <p:grpSp>
        <p:nvGrpSpPr>
          <p:cNvPr id="3" name="Group 8"/>
          <p:cNvGrpSpPr>
            <a:grpSpLocks/>
          </p:cNvGrpSpPr>
          <p:nvPr/>
        </p:nvGrpSpPr>
        <p:grpSpPr bwMode="auto">
          <a:xfrm>
            <a:off x="1043200" y="5570563"/>
            <a:ext cx="6912266" cy="666749"/>
            <a:chOff x="585" y="2398"/>
            <a:chExt cx="3503" cy="420"/>
          </a:xfrm>
        </p:grpSpPr>
        <p:sp>
          <p:nvSpPr>
            <p:cNvPr id="1037" name="Text Box 9"/>
            <p:cNvSpPr txBox="1">
              <a:spLocks noChangeArrowheads="1"/>
            </p:cNvSpPr>
            <p:nvPr/>
          </p:nvSpPr>
          <p:spPr bwMode="auto">
            <a:xfrm>
              <a:off x="585" y="2431"/>
              <a:ext cx="3503" cy="368"/>
            </a:xfrm>
            <a:prstGeom prst="rect">
              <a:avLst/>
            </a:prstGeom>
            <a:noFill/>
            <a:ln w="28575">
              <a:noFill/>
              <a:miter lim="800000"/>
              <a:headEnd/>
              <a:tailEnd/>
            </a:ln>
          </p:spPr>
          <p:txBody>
            <a:bodyPr wrap="square">
              <a:spAutoFit/>
            </a:bodyPr>
            <a:lstStyle/>
            <a:p>
              <a:pPr>
                <a:spcBef>
                  <a:spcPct val="50000"/>
                </a:spcBef>
              </a:pPr>
              <a:r>
                <a:rPr lang="zh-CN" altLang="en-US" sz="3200" b="1" dirty="0">
                  <a:solidFill>
                    <a:srgbClr val="A50021"/>
                  </a:solidFill>
                </a:rPr>
                <a:t>例：</a:t>
              </a:r>
              <a:r>
                <a:rPr lang="zh-CN" altLang="en-US" sz="3200" b="1" dirty="0">
                  <a:solidFill>
                    <a:srgbClr val="000000"/>
                  </a:solidFill>
                </a:rPr>
                <a:t>标准状态下</a:t>
              </a:r>
              <a:endParaRPr lang="en-US" altLang="zh-CN" sz="3200" b="1" dirty="0">
                <a:solidFill>
                  <a:srgbClr val="000000"/>
                </a:solidFill>
              </a:endParaRPr>
            </a:p>
          </p:txBody>
        </p:sp>
        <p:graphicFrame>
          <p:nvGraphicFramePr>
            <p:cNvPr id="1027" name="Object 5"/>
            <p:cNvGraphicFramePr>
              <a:graphicFrameLocks noChangeAspect="1"/>
            </p:cNvGraphicFramePr>
            <p:nvPr/>
          </p:nvGraphicFramePr>
          <p:xfrm>
            <a:off x="2154" y="2398"/>
            <a:ext cx="1606" cy="420"/>
          </p:xfrm>
          <a:graphic>
            <a:graphicData uri="http://schemas.openxmlformats.org/presentationml/2006/ole">
              <p:oleObj spid="_x0000_s1027" name="Equation" r:id="rId4" imgW="1333440" imgH="253800" progId="Equation.DSMT4">
                <p:embed/>
              </p:oleObj>
            </a:graphicData>
          </a:graphic>
        </p:graphicFrame>
      </p:grpSp>
      <p:grpSp>
        <p:nvGrpSpPr>
          <p:cNvPr id="4" name="Group 22"/>
          <p:cNvGrpSpPr>
            <a:grpSpLocks/>
          </p:cNvGrpSpPr>
          <p:nvPr/>
        </p:nvGrpSpPr>
        <p:grpSpPr bwMode="auto">
          <a:xfrm>
            <a:off x="971600" y="4626314"/>
            <a:ext cx="7560443" cy="584200"/>
            <a:chOff x="593" y="2118"/>
            <a:chExt cx="3674" cy="368"/>
          </a:xfrm>
        </p:grpSpPr>
        <p:sp>
          <p:nvSpPr>
            <p:cNvPr id="1036" name="Text Box 23"/>
            <p:cNvSpPr txBox="1">
              <a:spLocks noChangeArrowheads="1"/>
            </p:cNvSpPr>
            <p:nvPr/>
          </p:nvSpPr>
          <p:spPr bwMode="auto">
            <a:xfrm>
              <a:off x="593" y="2118"/>
              <a:ext cx="3674" cy="368"/>
            </a:xfrm>
            <a:prstGeom prst="rect">
              <a:avLst/>
            </a:prstGeom>
            <a:noFill/>
            <a:ln w="28575">
              <a:noFill/>
              <a:miter lim="800000"/>
              <a:headEnd/>
              <a:tailEnd/>
            </a:ln>
          </p:spPr>
          <p:txBody>
            <a:bodyPr>
              <a:spAutoFit/>
            </a:bodyPr>
            <a:lstStyle/>
            <a:p>
              <a:pPr>
                <a:spcBef>
                  <a:spcPct val="50000"/>
                </a:spcBef>
              </a:pPr>
              <a:r>
                <a:rPr lang="zh-CN" altLang="en-US" sz="3200" b="1" dirty="0">
                  <a:solidFill>
                    <a:srgbClr val="000000"/>
                  </a:solidFill>
                </a:rPr>
                <a:t>分子数密</a:t>
              </a:r>
              <a:r>
                <a:rPr lang="zh-CN" altLang="en-US" sz="3200" b="1" dirty="0" smtClean="0">
                  <a:solidFill>
                    <a:srgbClr val="000000"/>
                  </a:solidFill>
                </a:rPr>
                <a:t>度</a:t>
              </a:r>
              <a:r>
                <a:rPr lang="en-US" altLang="zh-CN" sz="3200" b="1" dirty="0" smtClean="0">
                  <a:solidFill>
                    <a:srgbClr val="000000"/>
                  </a:solidFill>
                </a:rPr>
                <a:t>(    )</a:t>
              </a:r>
              <a:r>
                <a:rPr lang="zh-CN" altLang="en-US" sz="3200" b="1" dirty="0" smtClean="0">
                  <a:solidFill>
                    <a:srgbClr val="000000"/>
                  </a:solidFill>
                </a:rPr>
                <a:t>：</a:t>
              </a:r>
              <a:r>
                <a:rPr lang="zh-CN" altLang="en-US" sz="3200" b="1" dirty="0">
                  <a:solidFill>
                    <a:srgbClr val="000000"/>
                  </a:solidFill>
                </a:rPr>
                <a:t>单位体积内的分子数目。</a:t>
              </a:r>
            </a:p>
          </p:txBody>
        </p:sp>
        <p:graphicFrame>
          <p:nvGraphicFramePr>
            <p:cNvPr id="1026" name="Object 2"/>
            <p:cNvGraphicFramePr>
              <a:graphicFrameLocks noChangeAspect="1"/>
            </p:cNvGraphicFramePr>
            <p:nvPr/>
          </p:nvGraphicFramePr>
          <p:xfrm>
            <a:off x="1713" y="2168"/>
            <a:ext cx="280" cy="309"/>
          </p:xfrm>
          <a:graphic>
            <a:graphicData uri="http://schemas.openxmlformats.org/presentationml/2006/ole">
              <p:oleObj spid="_x0000_s1026" name="Equation" r:id="rId5" imgW="126720" imgH="139680" progId="Equation.DSMT4">
                <p:embed/>
              </p:oleObj>
            </a:graphicData>
          </a:graphic>
        </p:graphicFrame>
      </p:grpSp>
      <p:sp>
        <p:nvSpPr>
          <p:cNvPr id="16" name="矩形 15"/>
          <p:cNvSpPr/>
          <p:nvPr/>
        </p:nvSpPr>
        <p:spPr>
          <a:xfrm>
            <a:off x="2127017" y="332656"/>
            <a:ext cx="5469319" cy="584775"/>
          </a:xfrm>
          <a:prstGeom prst="rect">
            <a:avLst/>
          </a:prstGeom>
        </p:spPr>
        <p:txBody>
          <a:bodyPr wrap="square">
            <a:spAutoFit/>
          </a:bodyPr>
          <a:lstStyle/>
          <a:p>
            <a:pPr marL="342900" lvl="0" indent="-342900" algn="ctr"/>
            <a:r>
              <a:rPr lang="en-US" altLang="zh-CN" sz="3200" b="1" dirty="0" smtClean="0"/>
              <a:t>5-1 </a:t>
            </a:r>
            <a:r>
              <a:rPr lang="zh-CN" altLang="en-US" sz="3200" b="1" dirty="0" smtClean="0"/>
              <a:t>理想气体状态方程</a:t>
            </a:r>
            <a:endParaRPr lang="en-US" altLang="zh-CN" sz="3200" b="1" dirty="0" smtClean="0"/>
          </a:p>
        </p:txBody>
      </p:sp>
      <p:sp>
        <p:nvSpPr>
          <p:cNvPr id="17" name="Text Box 2"/>
          <p:cNvSpPr txBox="1">
            <a:spLocks noChangeArrowheads="1"/>
          </p:cNvSpPr>
          <p:nvPr/>
        </p:nvSpPr>
        <p:spPr bwMode="auto">
          <a:xfrm>
            <a:off x="611386" y="1980129"/>
            <a:ext cx="7993062" cy="584775"/>
          </a:xfrm>
          <a:prstGeom prst="rect">
            <a:avLst/>
          </a:prstGeom>
          <a:noFill/>
          <a:ln w="28575">
            <a:noFill/>
            <a:miter lim="800000"/>
            <a:headEnd/>
            <a:tailEnd/>
          </a:ln>
        </p:spPr>
        <p:txBody>
          <a:bodyPr>
            <a:spAutoFit/>
          </a:bodyPr>
          <a:lstStyle/>
          <a:p>
            <a:pPr eaLnBrk="0" hangingPunct="0">
              <a:spcBef>
                <a:spcPct val="50000"/>
              </a:spcBef>
            </a:pPr>
            <a:r>
              <a:rPr kumimoji="1" lang="en-US" altLang="zh-CN" sz="3200" b="1" dirty="0" smtClean="0">
                <a:solidFill>
                  <a:srgbClr val="0000FF"/>
                </a:solidFill>
                <a:latin typeface="宋体" pitchFamily="2" charset="-122"/>
              </a:rPr>
              <a:t>1</a:t>
            </a:r>
            <a:r>
              <a:rPr kumimoji="1" lang="zh-CN" altLang="en-US" sz="3200" b="1" dirty="0" smtClean="0">
                <a:solidFill>
                  <a:srgbClr val="0000FF"/>
                </a:solidFill>
                <a:latin typeface="宋体" pitchFamily="2" charset="-122"/>
              </a:rPr>
              <a:t>、气体是由大量分子构成的</a:t>
            </a:r>
            <a:endParaRPr kumimoji="1" lang="zh-CN" altLang="en-US" sz="3200" b="1" dirty="0">
              <a:solidFill>
                <a:srgbClr val="0000FF"/>
              </a:solidFill>
              <a:latin typeface="宋体" pitchFamily="2" charset="-122"/>
            </a:endParaRPr>
          </a:p>
        </p:txBody>
      </p:sp>
      <p:sp>
        <p:nvSpPr>
          <p:cNvPr id="13" name="灯片编号占位符 1"/>
          <p:cNvSpPr txBox="1">
            <a:spLocks/>
          </p:cNvSpPr>
          <p:nvPr/>
        </p:nvSpPr>
        <p:spPr bwMode="auto">
          <a:xfrm>
            <a:off x="8606357" y="6584504"/>
            <a:ext cx="574155" cy="300880"/>
          </a:xfrm>
          <a:prstGeom prst="rect">
            <a:avLst/>
          </a:prstGeom>
          <a:noFill/>
          <a:ln>
            <a:miter lim="800000"/>
            <a:headEnd/>
            <a:tailEnd/>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22E3302-AC1D-47C1-A1C9-47DFDD07C79E}" type="slidenum">
              <a:rPr kumimoji="0" lang="en-US" altLang="zh-CN" sz="1400" b="0" i="0" u="none" strike="noStrike" kern="1200" cap="none" spc="0" normalizeH="0" baseline="0" noProof="0" smtClean="0">
                <a:ln>
                  <a:noFill/>
                </a:ln>
                <a:solidFill>
                  <a:schemeClr val="tx1"/>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zh-CN" sz="1400" b="0" i="0" u="none" strike="noStrike" kern="1200" cap="none" spc="0" normalizeH="0" baseline="0" noProof="0" dirty="0">
              <a:ln>
                <a:noFill/>
              </a:ln>
              <a:solidFill>
                <a:schemeClr val="tx1"/>
              </a:solidFill>
              <a:effectLst/>
              <a:uLnTx/>
              <a:uFillTx/>
              <a:latin typeface="Arial" charset="0"/>
              <a:ea typeface="宋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395536" y="476672"/>
            <a:ext cx="7993062" cy="584775"/>
          </a:xfrm>
          <a:prstGeom prst="rect">
            <a:avLst/>
          </a:prstGeom>
          <a:noFill/>
          <a:ln w="28575">
            <a:noFill/>
            <a:miter lim="800000"/>
            <a:headEnd/>
            <a:tailEnd/>
          </a:ln>
        </p:spPr>
        <p:txBody>
          <a:bodyPr>
            <a:spAutoFit/>
          </a:bodyPr>
          <a:lstStyle/>
          <a:p>
            <a:pPr eaLnBrk="0" hangingPunct="0">
              <a:spcBef>
                <a:spcPct val="50000"/>
              </a:spcBef>
            </a:pPr>
            <a:r>
              <a:rPr kumimoji="1" lang="en-US" altLang="zh-CN" sz="3200" b="1" dirty="0">
                <a:solidFill>
                  <a:srgbClr val="3333FF"/>
                </a:solidFill>
                <a:latin typeface="宋体" pitchFamily="2" charset="-122"/>
              </a:rPr>
              <a:t>2</a:t>
            </a:r>
            <a:r>
              <a:rPr kumimoji="1" lang="zh-CN" altLang="en-US" sz="3200" b="1" dirty="0" smtClean="0">
                <a:solidFill>
                  <a:srgbClr val="3333FF"/>
                </a:solidFill>
                <a:latin typeface="宋体" pitchFamily="2" charset="-122"/>
              </a:rPr>
              <a:t>、大</a:t>
            </a:r>
            <a:r>
              <a:rPr kumimoji="1" lang="zh-CN" altLang="en-US" sz="3200" b="1" dirty="0">
                <a:solidFill>
                  <a:srgbClr val="3333FF"/>
                </a:solidFill>
                <a:latin typeface="宋体" pitchFamily="2" charset="-122"/>
              </a:rPr>
              <a:t>量分子在作永不停息的热运动</a:t>
            </a:r>
          </a:p>
        </p:txBody>
      </p:sp>
      <p:sp>
        <p:nvSpPr>
          <p:cNvPr id="40963" name="Text Box 3"/>
          <p:cNvSpPr txBox="1">
            <a:spLocks noChangeArrowheads="1"/>
          </p:cNvSpPr>
          <p:nvPr/>
        </p:nvSpPr>
        <p:spPr bwMode="auto">
          <a:xfrm>
            <a:off x="539552" y="2899279"/>
            <a:ext cx="7315200" cy="584775"/>
          </a:xfrm>
          <a:prstGeom prst="rect">
            <a:avLst/>
          </a:prstGeom>
          <a:noFill/>
          <a:ln w="28575">
            <a:noFill/>
            <a:miter lim="800000"/>
            <a:headEnd/>
            <a:tailEnd/>
          </a:ln>
        </p:spPr>
        <p:txBody>
          <a:bodyPr>
            <a:spAutoFit/>
          </a:bodyPr>
          <a:lstStyle/>
          <a:p>
            <a:pPr>
              <a:spcBef>
                <a:spcPct val="50000"/>
              </a:spcBef>
            </a:pPr>
            <a:r>
              <a:rPr lang="zh-CN" altLang="en-US" sz="3200" b="1" dirty="0">
                <a:solidFill>
                  <a:srgbClr val="A50021"/>
                </a:solidFill>
              </a:rPr>
              <a:t>例</a:t>
            </a:r>
            <a:r>
              <a:rPr lang="en-US" altLang="zh-CN" sz="3200" b="1" dirty="0">
                <a:solidFill>
                  <a:srgbClr val="A50021"/>
                </a:solidFill>
              </a:rPr>
              <a:t>:</a:t>
            </a:r>
            <a:r>
              <a:rPr lang="en-US" altLang="zh-CN" sz="3200" b="1" dirty="0"/>
              <a:t> </a:t>
            </a:r>
            <a:r>
              <a:rPr lang="zh-CN" altLang="en-US" sz="3200" b="1" dirty="0">
                <a:solidFill>
                  <a:srgbClr val="000000"/>
                </a:solidFill>
              </a:rPr>
              <a:t>常温和常压下的氧分子的平均速率</a:t>
            </a:r>
          </a:p>
        </p:txBody>
      </p:sp>
      <p:graphicFrame>
        <p:nvGraphicFramePr>
          <p:cNvPr id="40965" name="Object 3"/>
          <p:cNvGraphicFramePr>
            <a:graphicFrameLocks noChangeAspect="1"/>
          </p:cNvGraphicFramePr>
          <p:nvPr/>
        </p:nvGraphicFramePr>
        <p:xfrm>
          <a:off x="1259632" y="3638523"/>
          <a:ext cx="2520281" cy="582565"/>
        </p:xfrm>
        <a:graphic>
          <a:graphicData uri="http://schemas.openxmlformats.org/presentationml/2006/ole">
            <p:oleObj spid="_x0000_s2050" name="Equation" r:id="rId3" imgW="838080" imgH="203040" progId="Equation.DSMT4">
              <p:embed/>
            </p:oleObj>
          </a:graphicData>
        </a:graphic>
      </p:graphicFrame>
      <p:sp>
        <p:nvSpPr>
          <p:cNvPr id="40970" name="Text Box 10"/>
          <p:cNvSpPr txBox="1">
            <a:spLocks noChangeArrowheads="1"/>
          </p:cNvSpPr>
          <p:nvPr/>
        </p:nvSpPr>
        <p:spPr bwMode="auto">
          <a:xfrm>
            <a:off x="971599" y="1556792"/>
            <a:ext cx="3737399" cy="584775"/>
          </a:xfrm>
          <a:prstGeom prst="rect">
            <a:avLst/>
          </a:prstGeom>
          <a:noFill/>
          <a:ln w="28575">
            <a:noFill/>
            <a:miter lim="800000"/>
            <a:headEnd/>
            <a:tailEnd/>
          </a:ln>
        </p:spPr>
        <p:txBody>
          <a:bodyPr wrap="square">
            <a:spAutoFit/>
          </a:bodyPr>
          <a:lstStyle/>
          <a:p>
            <a:pPr eaLnBrk="0" hangingPunct="0">
              <a:spcBef>
                <a:spcPct val="50000"/>
              </a:spcBef>
              <a:buFont typeface="Wingdings" pitchFamily="2" charset="2"/>
              <a:buChar char="u"/>
            </a:pPr>
            <a:r>
              <a:rPr kumimoji="1" lang="zh-CN" altLang="en-US" sz="3200" b="1" dirty="0">
                <a:latin typeface="宋体" pitchFamily="2" charset="-122"/>
              </a:rPr>
              <a:t>扩散现象</a:t>
            </a:r>
          </a:p>
        </p:txBody>
      </p:sp>
      <p:sp>
        <p:nvSpPr>
          <p:cNvPr id="40971" name="Text Box 11"/>
          <p:cNvSpPr txBox="1">
            <a:spLocks noChangeArrowheads="1"/>
          </p:cNvSpPr>
          <p:nvPr/>
        </p:nvSpPr>
        <p:spPr bwMode="auto">
          <a:xfrm>
            <a:off x="4499992" y="1548081"/>
            <a:ext cx="3240360" cy="584775"/>
          </a:xfrm>
          <a:prstGeom prst="rect">
            <a:avLst/>
          </a:prstGeom>
          <a:noFill/>
          <a:ln w="28575">
            <a:noFill/>
            <a:miter lim="800000"/>
            <a:headEnd/>
            <a:tailEnd/>
          </a:ln>
        </p:spPr>
        <p:txBody>
          <a:bodyPr wrap="square">
            <a:spAutoFit/>
          </a:bodyPr>
          <a:lstStyle/>
          <a:p>
            <a:pPr eaLnBrk="0" hangingPunct="0">
              <a:spcBef>
                <a:spcPct val="50000"/>
              </a:spcBef>
              <a:buFont typeface="Wingdings" pitchFamily="2" charset="2"/>
              <a:buChar char="u"/>
            </a:pPr>
            <a:r>
              <a:rPr kumimoji="1" lang="zh-CN" altLang="en-US" sz="3200" b="1" dirty="0">
                <a:latin typeface="宋体" pitchFamily="2" charset="-122"/>
              </a:rPr>
              <a:t>布朗运动</a:t>
            </a:r>
          </a:p>
        </p:txBody>
      </p:sp>
      <p:sp>
        <p:nvSpPr>
          <p:cNvPr id="37" name="Rectangle 9"/>
          <p:cNvSpPr>
            <a:spLocks noChangeArrowheads="1"/>
          </p:cNvSpPr>
          <p:nvPr/>
        </p:nvSpPr>
        <p:spPr bwMode="auto">
          <a:xfrm>
            <a:off x="611560" y="4737282"/>
            <a:ext cx="8352927" cy="1569660"/>
          </a:xfrm>
          <a:prstGeom prst="rect">
            <a:avLst/>
          </a:prstGeom>
          <a:noFill/>
          <a:ln w="28575">
            <a:noFill/>
            <a:miter lim="800000"/>
            <a:headEnd/>
            <a:tailEnd/>
          </a:ln>
        </p:spPr>
        <p:txBody>
          <a:bodyPr wrap="square">
            <a:spAutoFit/>
          </a:bodyPr>
          <a:lstStyle/>
          <a:p>
            <a:pPr eaLnBrk="0" hangingPunct="0">
              <a:lnSpc>
                <a:spcPct val="150000"/>
              </a:lnSpc>
            </a:pPr>
            <a:r>
              <a:rPr lang="en-US" altLang="zh-CN" sz="3200" b="1" dirty="0">
                <a:latin typeface="Times New Roman" pitchFamily="18" charset="0"/>
              </a:rPr>
              <a:t>——</a:t>
            </a:r>
            <a:r>
              <a:rPr lang="zh-CN" altLang="en-US" sz="3200" b="1" dirty="0">
                <a:latin typeface="宋体" pitchFamily="2" charset="-122"/>
              </a:rPr>
              <a:t>由于分子热运动的这种无序性，只能应用其统计规律来研究分子热运动的宏观特性</a:t>
            </a:r>
            <a:r>
              <a:rPr lang="zh-CN" altLang="en-US" sz="3200" b="1" dirty="0" smtClean="0">
                <a:latin typeface="宋体" pitchFamily="2" charset="-122"/>
              </a:rPr>
              <a:t>。</a:t>
            </a:r>
            <a:endParaRPr lang="zh-CN" altLang="en-US" sz="3200" b="1" dirty="0">
              <a:latin typeface="宋体" pitchFamily="2" charset="-122"/>
            </a:endParaRPr>
          </a:p>
        </p:txBody>
      </p:sp>
      <p:sp>
        <p:nvSpPr>
          <p:cNvPr id="8" name="灯片编号占位符 1"/>
          <p:cNvSpPr txBox="1">
            <a:spLocks/>
          </p:cNvSpPr>
          <p:nvPr/>
        </p:nvSpPr>
        <p:spPr bwMode="auto">
          <a:xfrm>
            <a:off x="8606357" y="6584504"/>
            <a:ext cx="574155" cy="300880"/>
          </a:xfrm>
          <a:prstGeom prst="rect">
            <a:avLst/>
          </a:prstGeom>
          <a:noFill/>
          <a:ln>
            <a:miter lim="800000"/>
            <a:headEnd/>
            <a:tailEnd/>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22E3302-AC1D-47C1-A1C9-47DFDD07C79E}" type="slidenum">
              <a:rPr kumimoji="0" lang="en-US" altLang="zh-CN" sz="1400" b="0" i="0" u="none" strike="noStrike" kern="1200" cap="none" spc="0" normalizeH="0" baseline="0" noProof="0" smtClean="0">
                <a:ln>
                  <a:noFill/>
                </a:ln>
                <a:solidFill>
                  <a:schemeClr val="tx1"/>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zh-CN" sz="1400" b="0" i="0" u="none" strike="noStrike" kern="1200" cap="none" spc="0" normalizeH="0" baseline="0" noProof="0" dirty="0">
              <a:ln>
                <a:noFill/>
              </a:ln>
              <a:solidFill>
                <a:schemeClr val="tx1"/>
              </a:solidFill>
              <a:effectLst/>
              <a:uLnTx/>
              <a:uFillTx/>
              <a:latin typeface="Arial" charset="0"/>
              <a:ea typeface="宋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96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p:bldP spid="3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5" name="Text Box 26"/>
          <p:cNvSpPr txBox="1">
            <a:spLocks noChangeArrowheads="1"/>
          </p:cNvSpPr>
          <p:nvPr/>
        </p:nvSpPr>
        <p:spPr bwMode="auto">
          <a:xfrm>
            <a:off x="5315272" y="1340575"/>
            <a:ext cx="2133600" cy="523875"/>
          </a:xfrm>
          <a:prstGeom prst="rect">
            <a:avLst/>
          </a:prstGeom>
          <a:noFill/>
          <a:ln w="28575">
            <a:noFill/>
            <a:miter lim="800000"/>
            <a:headEnd/>
            <a:tailEnd/>
          </a:ln>
        </p:spPr>
        <p:txBody>
          <a:bodyPr>
            <a:spAutoFit/>
          </a:bodyPr>
          <a:lstStyle/>
          <a:p>
            <a:pPr>
              <a:spcBef>
                <a:spcPct val="50000"/>
              </a:spcBef>
            </a:pPr>
            <a:endParaRPr lang="zh-CN" altLang="en-US" sz="2800" b="1" dirty="0">
              <a:solidFill>
                <a:srgbClr val="000000"/>
              </a:solidFill>
            </a:endParaRPr>
          </a:p>
        </p:txBody>
      </p:sp>
      <p:sp>
        <p:nvSpPr>
          <p:cNvPr id="17" name="Text Box 6"/>
          <p:cNvSpPr txBox="1">
            <a:spLocks noChangeArrowheads="1"/>
          </p:cNvSpPr>
          <p:nvPr/>
        </p:nvSpPr>
        <p:spPr bwMode="auto">
          <a:xfrm>
            <a:off x="899592" y="764704"/>
            <a:ext cx="7775575" cy="523220"/>
          </a:xfrm>
          <a:prstGeom prst="rect">
            <a:avLst/>
          </a:prstGeom>
          <a:noFill/>
          <a:ln w="28575">
            <a:noFill/>
            <a:miter lim="800000"/>
            <a:headEnd/>
            <a:tailEnd/>
          </a:ln>
        </p:spPr>
        <p:txBody>
          <a:bodyPr>
            <a:spAutoFit/>
          </a:bodyPr>
          <a:lstStyle/>
          <a:p>
            <a:pPr>
              <a:spcBef>
                <a:spcPct val="50000"/>
              </a:spcBef>
            </a:pPr>
            <a:r>
              <a:rPr lang="zh-CN" altLang="en-US" sz="2800" b="1" dirty="0">
                <a:solidFill>
                  <a:srgbClr val="CC0000"/>
                </a:solidFill>
              </a:rPr>
              <a:t>分子之间有距离，可以被压</a:t>
            </a:r>
            <a:r>
              <a:rPr lang="zh-CN" altLang="en-US" sz="2800" b="1" dirty="0" smtClean="0">
                <a:solidFill>
                  <a:srgbClr val="CC0000"/>
                </a:solidFill>
              </a:rPr>
              <a:t>缩</a:t>
            </a:r>
            <a:r>
              <a:rPr lang="en-US" altLang="zh-CN" sz="2800" b="1" dirty="0" smtClean="0">
                <a:solidFill>
                  <a:srgbClr val="CC0000"/>
                </a:solidFill>
              </a:rPr>
              <a:t>.</a:t>
            </a:r>
            <a:endParaRPr lang="zh-CN" altLang="en-US" sz="2800" b="1" dirty="0">
              <a:solidFill>
                <a:srgbClr val="CC0000"/>
              </a:solidFill>
            </a:endParaRPr>
          </a:p>
        </p:txBody>
      </p:sp>
      <p:sp>
        <p:nvSpPr>
          <p:cNvPr id="18" name="Text Box 2"/>
          <p:cNvSpPr txBox="1">
            <a:spLocks noChangeArrowheads="1"/>
          </p:cNvSpPr>
          <p:nvPr/>
        </p:nvSpPr>
        <p:spPr bwMode="auto">
          <a:xfrm>
            <a:off x="323528" y="181362"/>
            <a:ext cx="7993062" cy="523220"/>
          </a:xfrm>
          <a:prstGeom prst="rect">
            <a:avLst/>
          </a:prstGeom>
          <a:noFill/>
          <a:ln w="28575">
            <a:noFill/>
            <a:miter lim="800000"/>
            <a:headEnd/>
            <a:tailEnd/>
          </a:ln>
        </p:spPr>
        <p:txBody>
          <a:bodyPr>
            <a:spAutoFit/>
          </a:bodyPr>
          <a:lstStyle/>
          <a:p>
            <a:pPr>
              <a:spcBef>
                <a:spcPct val="50000"/>
              </a:spcBef>
            </a:pPr>
            <a:r>
              <a:rPr kumimoji="1" lang="en-US" altLang="zh-CN" sz="2800" b="1" dirty="0" smtClean="0">
                <a:solidFill>
                  <a:srgbClr val="0000CC"/>
                </a:solidFill>
                <a:latin typeface="宋体" pitchFamily="2" charset="-122"/>
              </a:rPr>
              <a:t>3</a:t>
            </a:r>
            <a:r>
              <a:rPr kumimoji="1" lang="zh-CN" altLang="en-US" sz="2800" b="1" dirty="0" smtClean="0">
                <a:solidFill>
                  <a:srgbClr val="0000CC"/>
                </a:solidFill>
                <a:latin typeface="宋体" pitchFamily="2" charset="-122"/>
              </a:rPr>
              <a:t>、</a:t>
            </a:r>
            <a:r>
              <a:rPr lang="zh-CN" altLang="en-US" sz="2800" b="1" dirty="0" smtClean="0">
                <a:solidFill>
                  <a:srgbClr val="0000CC"/>
                </a:solidFill>
              </a:rPr>
              <a:t>分子的线度和分子力</a:t>
            </a:r>
            <a:endParaRPr lang="zh-CN" altLang="en-US" sz="2800" b="1" dirty="0">
              <a:solidFill>
                <a:srgbClr val="0000CC"/>
              </a:solidFill>
            </a:endParaRPr>
          </a:p>
        </p:txBody>
      </p:sp>
      <p:grpSp>
        <p:nvGrpSpPr>
          <p:cNvPr id="24" name="组合 23"/>
          <p:cNvGrpSpPr/>
          <p:nvPr/>
        </p:nvGrpSpPr>
        <p:grpSpPr>
          <a:xfrm>
            <a:off x="4572000" y="1988840"/>
            <a:ext cx="2716213" cy="1056620"/>
            <a:chOff x="2987824" y="4695800"/>
            <a:chExt cx="2716213" cy="1056620"/>
          </a:xfrm>
        </p:grpSpPr>
        <p:sp>
          <p:nvSpPr>
            <p:cNvPr id="19" name="Text Box 30"/>
            <p:cNvSpPr txBox="1">
              <a:spLocks noChangeArrowheads="1"/>
            </p:cNvSpPr>
            <p:nvPr/>
          </p:nvSpPr>
          <p:spPr bwMode="auto">
            <a:xfrm>
              <a:off x="2987824" y="4695800"/>
              <a:ext cx="2209800" cy="523220"/>
            </a:xfrm>
            <a:prstGeom prst="rect">
              <a:avLst/>
            </a:prstGeom>
            <a:noFill/>
            <a:ln w="28575">
              <a:noFill/>
              <a:miter lim="800000"/>
              <a:headEnd/>
              <a:tailEnd/>
            </a:ln>
          </p:spPr>
          <p:txBody>
            <a:bodyPr>
              <a:spAutoFit/>
            </a:bodyPr>
            <a:lstStyle/>
            <a:p>
              <a:pPr>
                <a:spcBef>
                  <a:spcPct val="50000"/>
                </a:spcBef>
              </a:pPr>
              <a:r>
                <a:rPr lang="zh-CN" altLang="en-US" sz="2800" b="1" dirty="0">
                  <a:solidFill>
                    <a:srgbClr val="0000CC"/>
                  </a:solidFill>
                </a:rPr>
                <a:t>分子间距</a:t>
              </a:r>
            </a:p>
          </p:txBody>
        </p:sp>
        <p:sp>
          <p:nvSpPr>
            <p:cNvPr id="20" name="Text Box 31"/>
            <p:cNvSpPr txBox="1">
              <a:spLocks noChangeArrowheads="1"/>
            </p:cNvSpPr>
            <p:nvPr/>
          </p:nvSpPr>
          <p:spPr bwMode="auto">
            <a:xfrm>
              <a:off x="2987824" y="5229200"/>
              <a:ext cx="2286000" cy="523220"/>
            </a:xfrm>
            <a:prstGeom prst="rect">
              <a:avLst/>
            </a:prstGeom>
            <a:noFill/>
            <a:ln w="28575">
              <a:noFill/>
              <a:miter lim="800000"/>
              <a:headEnd/>
              <a:tailEnd/>
            </a:ln>
          </p:spPr>
          <p:txBody>
            <a:bodyPr>
              <a:spAutoFit/>
            </a:bodyPr>
            <a:lstStyle/>
            <a:p>
              <a:pPr>
                <a:spcBef>
                  <a:spcPct val="50000"/>
                </a:spcBef>
              </a:pPr>
              <a:r>
                <a:rPr lang="zh-CN" altLang="en-US" sz="2800" b="1" dirty="0">
                  <a:solidFill>
                    <a:srgbClr val="0000CC"/>
                  </a:solidFill>
                </a:rPr>
                <a:t>分子线度</a:t>
              </a:r>
            </a:p>
          </p:txBody>
        </p:sp>
        <p:graphicFrame>
          <p:nvGraphicFramePr>
            <p:cNvPr id="21" name="Object 33"/>
            <p:cNvGraphicFramePr>
              <a:graphicFrameLocks noChangeAspect="1"/>
            </p:cNvGraphicFramePr>
            <p:nvPr/>
          </p:nvGraphicFramePr>
          <p:xfrm>
            <a:off x="4843612" y="4924400"/>
            <a:ext cx="860425" cy="498475"/>
          </p:xfrm>
          <a:graphic>
            <a:graphicData uri="http://schemas.openxmlformats.org/presentationml/2006/ole">
              <p:oleObj spid="_x0000_s44036" name="公式" r:id="rId3" imgW="304560" imgH="177480" progId="Equation.3">
                <p:embed/>
              </p:oleObj>
            </a:graphicData>
          </a:graphic>
        </p:graphicFrame>
        <p:sp>
          <p:nvSpPr>
            <p:cNvPr id="22" name="Line 32"/>
            <p:cNvSpPr>
              <a:spLocks noChangeShapeType="1"/>
            </p:cNvSpPr>
            <p:nvPr/>
          </p:nvSpPr>
          <p:spPr bwMode="auto">
            <a:xfrm>
              <a:off x="3059832" y="5229200"/>
              <a:ext cx="1738313" cy="0"/>
            </a:xfrm>
            <a:prstGeom prst="line">
              <a:avLst/>
            </a:prstGeom>
            <a:noFill/>
            <a:ln w="38100">
              <a:solidFill>
                <a:srgbClr val="FF0000"/>
              </a:solidFill>
              <a:round/>
              <a:headEnd/>
              <a:tailEnd/>
            </a:ln>
          </p:spPr>
          <p:txBody>
            <a:bodyPr wrap="none" anchor="ctr"/>
            <a:lstStyle/>
            <a:p>
              <a:endParaRPr lang="zh-CN" altLang="en-US" sz="2800">
                <a:solidFill>
                  <a:srgbClr val="0000CC"/>
                </a:solidFill>
              </a:endParaRPr>
            </a:p>
          </p:txBody>
        </p:sp>
      </p:grpSp>
      <p:grpSp>
        <p:nvGrpSpPr>
          <p:cNvPr id="37" name="组合 36"/>
          <p:cNvGrpSpPr/>
          <p:nvPr/>
        </p:nvGrpSpPr>
        <p:grpSpPr>
          <a:xfrm>
            <a:off x="683568" y="1268760"/>
            <a:ext cx="6479232" cy="609644"/>
            <a:chOff x="683568" y="1484784"/>
            <a:chExt cx="6479232" cy="609644"/>
          </a:xfrm>
        </p:grpSpPr>
        <p:sp>
          <p:nvSpPr>
            <p:cNvPr id="23" name="Text Box 24"/>
            <p:cNvSpPr txBox="1">
              <a:spLocks noChangeArrowheads="1"/>
            </p:cNvSpPr>
            <p:nvPr/>
          </p:nvSpPr>
          <p:spPr bwMode="auto">
            <a:xfrm>
              <a:off x="683568" y="1571208"/>
              <a:ext cx="4343400" cy="523220"/>
            </a:xfrm>
            <a:prstGeom prst="rect">
              <a:avLst/>
            </a:prstGeom>
            <a:noFill/>
            <a:ln w="28575">
              <a:noFill/>
              <a:miter lim="800000"/>
              <a:headEnd/>
              <a:tailEnd/>
            </a:ln>
          </p:spPr>
          <p:txBody>
            <a:bodyPr>
              <a:spAutoFit/>
            </a:bodyPr>
            <a:lstStyle/>
            <a:p>
              <a:pPr>
                <a:spcBef>
                  <a:spcPct val="50000"/>
                </a:spcBef>
              </a:pPr>
              <a:r>
                <a:rPr lang="zh-CN" altLang="en-US" sz="2800" b="1" dirty="0">
                  <a:solidFill>
                    <a:srgbClr val="CC0000"/>
                  </a:solidFill>
                </a:rPr>
                <a:t>例</a:t>
              </a:r>
              <a:r>
                <a:rPr lang="zh-CN" altLang="en-US" sz="2800" b="1" dirty="0">
                  <a:solidFill>
                    <a:srgbClr val="A50021"/>
                  </a:solidFill>
                </a:rPr>
                <a:t>  </a:t>
              </a:r>
              <a:r>
                <a:rPr lang="zh-CN" altLang="en-US" sz="2800" b="1" dirty="0">
                  <a:solidFill>
                    <a:srgbClr val="000000"/>
                  </a:solidFill>
                </a:rPr>
                <a:t>标准状态氧分</a:t>
              </a:r>
              <a:r>
                <a:rPr lang="zh-CN" altLang="en-US" sz="2800" b="1" dirty="0" smtClean="0">
                  <a:solidFill>
                    <a:srgbClr val="000000"/>
                  </a:solidFill>
                </a:rPr>
                <a:t>子直径</a:t>
              </a:r>
              <a:endParaRPr lang="zh-CN" altLang="en-US" sz="2800" b="1" dirty="0">
                <a:solidFill>
                  <a:srgbClr val="000000"/>
                </a:solidFill>
              </a:endParaRPr>
            </a:p>
          </p:txBody>
        </p:sp>
        <p:graphicFrame>
          <p:nvGraphicFramePr>
            <p:cNvPr id="36" name="Object 27"/>
            <p:cNvGraphicFramePr>
              <a:graphicFrameLocks noChangeAspect="1"/>
            </p:cNvGraphicFramePr>
            <p:nvPr/>
          </p:nvGraphicFramePr>
          <p:xfrm>
            <a:off x="4572000" y="1484784"/>
            <a:ext cx="2590800" cy="579438"/>
          </p:xfrm>
          <a:graphic>
            <a:graphicData uri="http://schemas.openxmlformats.org/presentationml/2006/ole">
              <p:oleObj spid="_x0000_s44042" name="Equation" r:id="rId4" imgW="901440" imgH="203040" progId="Equation.3">
                <p:embed/>
              </p:oleObj>
            </a:graphicData>
          </a:graphic>
        </p:graphicFrame>
      </p:grpSp>
      <p:grpSp>
        <p:nvGrpSpPr>
          <p:cNvPr id="39" name="组合 38"/>
          <p:cNvGrpSpPr/>
          <p:nvPr/>
        </p:nvGrpSpPr>
        <p:grpSpPr>
          <a:xfrm>
            <a:off x="971600" y="3718749"/>
            <a:ext cx="6768752" cy="2734587"/>
            <a:chOff x="971600" y="3718749"/>
            <a:chExt cx="6768752" cy="2734587"/>
          </a:xfrm>
        </p:grpSpPr>
        <p:grpSp>
          <p:nvGrpSpPr>
            <p:cNvPr id="25" name="Group 10"/>
            <p:cNvGrpSpPr>
              <a:grpSpLocks/>
            </p:cNvGrpSpPr>
            <p:nvPr/>
          </p:nvGrpSpPr>
          <p:grpSpPr bwMode="auto">
            <a:xfrm>
              <a:off x="3131840" y="3718749"/>
              <a:ext cx="4608512" cy="2734587"/>
              <a:chOff x="3408" y="576"/>
              <a:chExt cx="2265" cy="1344"/>
            </a:xfrm>
          </p:grpSpPr>
          <p:sp>
            <p:nvSpPr>
              <p:cNvPr id="27" name="Line 12"/>
              <p:cNvSpPr>
                <a:spLocks noChangeShapeType="1"/>
              </p:cNvSpPr>
              <p:nvPr/>
            </p:nvSpPr>
            <p:spPr bwMode="auto">
              <a:xfrm>
                <a:off x="3696" y="1488"/>
                <a:ext cx="1660" cy="0"/>
              </a:xfrm>
              <a:prstGeom prst="line">
                <a:avLst/>
              </a:prstGeom>
              <a:noFill/>
              <a:ln w="12700">
                <a:solidFill>
                  <a:srgbClr val="000000"/>
                </a:solidFill>
                <a:round/>
                <a:headEnd/>
                <a:tailEnd type="triangle" w="sm" len="lg"/>
              </a:ln>
            </p:spPr>
            <p:txBody>
              <a:bodyPr wrap="none" anchor="ctr"/>
              <a:lstStyle/>
              <a:p>
                <a:endParaRPr lang="zh-CN" altLang="en-US"/>
              </a:p>
            </p:txBody>
          </p:sp>
          <p:sp>
            <p:nvSpPr>
              <p:cNvPr id="28" name="Line 13"/>
              <p:cNvSpPr>
                <a:spLocks noChangeShapeType="1"/>
              </p:cNvSpPr>
              <p:nvPr/>
            </p:nvSpPr>
            <p:spPr bwMode="auto">
              <a:xfrm flipH="1" flipV="1">
                <a:off x="3696" y="576"/>
                <a:ext cx="0" cy="1344"/>
              </a:xfrm>
              <a:prstGeom prst="line">
                <a:avLst/>
              </a:prstGeom>
              <a:noFill/>
              <a:ln w="12700">
                <a:solidFill>
                  <a:srgbClr val="000000"/>
                </a:solidFill>
                <a:round/>
                <a:headEnd/>
                <a:tailEnd type="triangle" w="sm" len="lg"/>
              </a:ln>
            </p:spPr>
            <p:txBody>
              <a:bodyPr wrap="none" anchor="ctr"/>
              <a:lstStyle/>
              <a:p>
                <a:endParaRPr lang="zh-CN" altLang="en-US"/>
              </a:p>
            </p:txBody>
          </p:sp>
          <p:sp>
            <p:nvSpPr>
              <p:cNvPr id="29" name="Freeform 14"/>
              <p:cNvSpPr>
                <a:spLocks/>
              </p:cNvSpPr>
              <p:nvPr/>
            </p:nvSpPr>
            <p:spPr bwMode="auto">
              <a:xfrm>
                <a:off x="3762" y="694"/>
                <a:ext cx="1412" cy="1104"/>
              </a:xfrm>
              <a:custGeom>
                <a:avLst/>
                <a:gdLst>
                  <a:gd name="T0" fmla="*/ 0 w 1412"/>
                  <a:gd name="T1" fmla="*/ 0 h 1104"/>
                  <a:gd name="T2" fmla="*/ 20 w 1412"/>
                  <a:gd name="T3" fmla="*/ 217 h 1104"/>
                  <a:gd name="T4" fmla="*/ 54 w 1412"/>
                  <a:gd name="T5" fmla="*/ 433 h 1104"/>
                  <a:gd name="T6" fmla="*/ 89 w 1412"/>
                  <a:gd name="T7" fmla="*/ 614 h 1104"/>
                  <a:gd name="T8" fmla="*/ 191 w 1412"/>
                  <a:gd name="T9" fmla="*/ 939 h 1104"/>
                  <a:gd name="T10" fmla="*/ 328 w 1412"/>
                  <a:gd name="T11" fmla="*/ 1083 h 1104"/>
                  <a:gd name="T12" fmla="*/ 459 w 1412"/>
                  <a:gd name="T13" fmla="*/ 1063 h 1104"/>
                  <a:gd name="T14" fmla="*/ 567 w 1412"/>
                  <a:gd name="T15" fmla="*/ 975 h 1104"/>
                  <a:gd name="T16" fmla="*/ 806 w 1412"/>
                  <a:gd name="T17" fmla="*/ 866 h 1104"/>
                  <a:gd name="T18" fmla="*/ 1063 w 1412"/>
                  <a:gd name="T19" fmla="*/ 823 h 1104"/>
                  <a:gd name="T20" fmla="*/ 1412 w 1412"/>
                  <a:gd name="T21" fmla="*/ 809 h 11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12"/>
                  <a:gd name="T34" fmla="*/ 0 h 1104"/>
                  <a:gd name="T35" fmla="*/ 1412 w 1412"/>
                  <a:gd name="T36" fmla="*/ 1104 h 110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12" h="1104">
                    <a:moveTo>
                      <a:pt x="0" y="0"/>
                    </a:moveTo>
                    <a:cubicBezTo>
                      <a:pt x="4" y="36"/>
                      <a:pt x="11" y="145"/>
                      <a:pt x="20" y="217"/>
                    </a:cubicBezTo>
                    <a:cubicBezTo>
                      <a:pt x="29" y="289"/>
                      <a:pt x="43" y="367"/>
                      <a:pt x="54" y="433"/>
                    </a:cubicBezTo>
                    <a:cubicBezTo>
                      <a:pt x="66" y="499"/>
                      <a:pt x="66" y="529"/>
                      <a:pt x="89" y="614"/>
                    </a:cubicBezTo>
                    <a:cubicBezTo>
                      <a:pt x="111" y="698"/>
                      <a:pt x="151" y="860"/>
                      <a:pt x="191" y="939"/>
                    </a:cubicBezTo>
                    <a:cubicBezTo>
                      <a:pt x="231" y="1017"/>
                      <a:pt x="283" y="1062"/>
                      <a:pt x="328" y="1083"/>
                    </a:cubicBezTo>
                    <a:cubicBezTo>
                      <a:pt x="373" y="1104"/>
                      <a:pt x="419" y="1081"/>
                      <a:pt x="459" y="1063"/>
                    </a:cubicBezTo>
                    <a:cubicBezTo>
                      <a:pt x="499" y="1045"/>
                      <a:pt x="509" y="1008"/>
                      <a:pt x="567" y="975"/>
                    </a:cubicBezTo>
                    <a:cubicBezTo>
                      <a:pt x="625" y="942"/>
                      <a:pt x="723" y="891"/>
                      <a:pt x="806" y="866"/>
                    </a:cubicBezTo>
                    <a:cubicBezTo>
                      <a:pt x="889" y="841"/>
                      <a:pt x="962" y="832"/>
                      <a:pt x="1063" y="823"/>
                    </a:cubicBezTo>
                    <a:cubicBezTo>
                      <a:pt x="1164" y="814"/>
                      <a:pt x="1339" y="812"/>
                      <a:pt x="1412" y="809"/>
                    </a:cubicBezTo>
                  </a:path>
                </a:pathLst>
              </a:custGeom>
              <a:noFill/>
              <a:ln w="28575" cap="flat" cmpd="sng">
                <a:solidFill>
                  <a:srgbClr val="FF0000"/>
                </a:solidFill>
                <a:prstDash val="solid"/>
                <a:round/>
                <a:headEnd/>
                <a:tailEnd/>
              </a:ln>
            </p:spPr>
            <p:txBody>
              <a:bodyPr wrap="none" anchor="ctr"/>
              <a:lstStyle/>
              <a:p>
                <a:endParaRPr lang="zh-CN" altLang="en-US"/>
              </a:p>
            </p:txBody>
          </p:sp>
          <p:graphicFrame>
            <p:nvGraphicFramePr>
              <p:cNvPr id="30" name="Object 15"/>
              <p:cNvGraphicFramePr>
                <a:graphicFrameLocks noChangeAspect="1"/>
              </p:cNvGraphicFramePr>
              <p:nvPr/>
            </p:nvGraphicFramePr>
            <p:xfrm>
              <a:off x="3881" y="1104"/>
              <a:ext cx="247" cy="423"/>
            </p:xfrm>
            <a:graphic>
              <a:graphicData uri="http://schemas.openxmlformats.org/presentationml/2006/ole">
                <p:oleObj spid="_x0000_s44037" name="公式" r:id="rId5" imgW="139680" imgH="228600" progId="Equation.3">
                  <p:embed/>
                </p:oleObj>
              </a:graphicData>
            </a:graphic>
          </p:graphicFrame>
          <p:graphicFrame>
            <p:nvGraphicFramePr>
              <p:cNvPr id="31" name="Object 16"/>
              <p:cNvGraphicFramePr>
                <a:graphicFrameLocks noChangeAspect="1"/>
              </p:cNvGraphicFramePr>
              <p:nvPr/>
            </p:nvGraphicFramePr>
            <p:xfrm>
              <a:off x="3429" y="1392"/>
              <a:ext cx="267" cy="294"/>
            </p:xfrm>
            <a:graphic>
              <a:graphicData uri="http://schemas.openxmlformats.org/presentationml/2006/ole">
                <p:oleObj spid="_x0000_s44038" name="Equation" r:id="rId6" imgW="126720" imgH="139680" progId="Equation.3">
                  <p:embed/>
                </p:oleObj>
              </a:graphicData>
            </a:graphic>
          </p:graphicFrame>
          <p:graphicFrame>
            <p:nvGraphicFramePr>
              <p:cNvPr id="32" name="Object 17"/>
              <p:cNvGraphicFramePr>
                <a:graphicFrameLocks noChangeAspect="1"/>
              </p:cNvGraphicFramePr>
              <p:nvPr/>
            </p:nvGraphicFramePr>
            <p:xfrm>
              <a:off x="5424" y="1313"/>
              <a:ext cx="249" cy="276"/>
            </p:xfrm>
            <a:graphic>
              <a:graphicData uri="http://schemas.openxmlformats.org/presentationml/2006/ole">
                <p:oleObj spid="_x0000_s44039" name="Equation" r:id="rId7" imgW="114120" imgH="126720" progId="Equation.3">
                  <p:embed/>
                </p:oleObj>
              </a:graphicData>
            </a:graphic>
          </p:graphicFrame>
          <p:graphicFrame>
            <p:nvGraphicFramePr>
              <p:cNvPr id="33" name="Object 18"/>
              <p:cNvGraphicFramePr>
                <a:graphicFrameLocks noChangeAspect="1"/>
              </p:cNvGraphicFramePr>
              <p:nvPr/>
            </p:nvGraphicFramePr>
            <p:xfrm>
              <a:off x="3408" y="624"/>
              <a:ext cx="240" cy="240"/>
            </p:xfrm>
            <a:graphic>
              <a:graphicData uri="http://schemas.openxmlformats.org/presentationml/2006/ole">
                <p:oleObj spid="_x0000_s44040" name="Equation" r:id="rId8" imgW="228600" imgH="228600" progId="Equation.3">
                  <p:embed/>
                </p:oleObj>
              </a:graphicData>
            </a:graphic>
          </p:graphicFrame>
          <p:graphicFrame>
            <p:nvGraphicFramePr>
              <p:cNvPr id="34" name="Object 19"/>
              <p:cNvGraphicFramePr>
                <a:graphicFrameLocks noChangeAspect="1"/>
              </p:cNvGraphicFramePr>
              <p:nvPr/>
            </p:nvGraphicFramePr>
            <p:xfrm>
              <a:off x="4073" y="705"/>
              <a:ext cx="1076" cy="388"/>
            </p:xfrm>
            <a:graphic>
              <a:graphicData uri="http://schemas.openxmlformats.org/presentationml/2006/ole">
                <p:oleObj spid="_x0000_s44041" name="公式" r:id="rId9" imgW="723600" imgH="241200" progId="Equation.DSMT4">
                  <p:embed/>
                </p:oleObj>
              </a:graphicData>
            </a:graphic>
          </p:graphicFrame>
        </p:grpSp>
        <p:sp>
          <p:nvSpPr>
            <p:cNvPr id="38" name="矩形 37"/>
            <p:cNvSpPr/>
            <p:nvPr/>
          </p:nvSpPr>
          <p:spPr>
            <a:xfrm>
              <a:off x="971600" y="4725144"/>
              <a:ext cx="1266693" cy="523220"/>
            </a:xfrm>
            <a:prstGeom prst="rect">
              <a:avLst/>
            </a:prstGeom>
          </p:spPr>
          <p:txBody>
            <a:bodyPr wrap="none">
              <a:spAutoFit/>
            </a:bodyPr>
            <a:lstStyle/>
            <a:p>
              <a:r>
                <a:rPr lang="zh-CN" altLang="en-US" sz="2800" b="1" dirty="0" smtClean="0">
                  <a:solidFill>
                    <a:srgbClr val="0000CC"/>
                  </a:solidFill>
                </a:rPr>
                <a:t>分子力</a:t>
              </a:r>
              <a:endParaRPr lang="zh-CN" altLang="en-US" sz="2800" dirty="0"/>
            </a:p>
          </p:txBody>
        </p:sp>
      </p:grpSp>
      <p:sp>
        <p:nvSpPr>
          <p:cNvPr id="26" name="灯片编号占位符 1"/>
          <p:cNvSpPr txBox="1">
            <a:spLocks/>
          </p:cNvSpPr>
          <p:nvPr/>
        </p:nvSpPr>
        <p:spPr bwMode="auto">
          <a:xfrm>
            <a:off x="8606357" y="6584504"/>
            <a:ext cx="574155" cy="300880"/>
          </a:xfrm>
          <a:prstGeom prst="rect">
            <a:avLst/>
          </a:prstGeom>
          <a:noFill/>
          <a:ln>
            <a:miter lim="800000"/>
            <a:headEnd/>
            <a:tailEnd/>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22E3302-AC1D-47C1-A1C9-47DFDD07C79E}" type="slidenum">
              <a:rPr kumimoji="0" lang="en-US" altLang="zh-CN" sz="1400" b="0" i="0" u="none" strike="noStrike" kern="1200" cap="none" spc="0" normalizeH="0" baseline="0" noProof="0" smtClean="0">
                <a:ln>
                  <a:noFill/>
                </a:ln>
                <a:solidFill>
                  <a:schemeClr val="tx1"/>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zh-CN" sz="1400" b="0" i="0" u="none" strike="noStrike" kern="1200" cap="none" spc="0" normalizeH="0" baseline="0" noProof="0" dirty="0">
              <a:ln>
                <a:noFill/>
              </a:ln>
              <a:solidFill>
                <a:schemeClr val="tx1"/>
              </a:solidFill>
              <a:effectLst/>
              <a:uLnTx/>
              <a:uFillTx/>
              <a:latin typeface="Arial" charset="0"/>
              <a:ea typeface="宋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left)">
                                      <p:cBhvr>
                                        <p:cTn id="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Text Box 4"/>
          <p:cNvSpPr txBox="1">
            <a:spLocks noChangeArrowheads="1"/>
          </p:cNvSpPr>
          <p:nvPr/>
        </p:nvSpPr>
        <p:spPr bwMode="blackWhite">
          <a:xfrm>
            <a:off x="373063" y="533624"/>
            <a:ext cx="4343400" cy="584775"/>
          </a:xfrm>
          <a:prstGeom prst="rect">
            <a:avLst/>
          </a:prstGeom>
          <a:noFill/>
          <a:ln w="9525" algn="ctr">
            <a:noFill/>
            <a:miter lim="800000"/>
            <a:headEnd/>
            <a:tailEnd/>
          </a:ln>
          <a:effectLst/>
        </p:spPr>
        <p:txBody>
          <a:bodyPr>
            <a:spAutoFit/>
          </a:bodyPr>
          <a:lstStyle/>
          <a:p>
            <a:pPr>
              <a:spcBef>
                <a:spcPct val="50000"/>
              </a:spcBef>
              <a:buFont typeface="Wingdings" pitchFamily="2" charset="2"/>
              <a:buNone/>
              <a:defRPr/>
            </a:pPr>
            <a:r>
              <a:rPr kumimoji="1" lang="zh-CN" altLang="en-US" sz="3200" b="1" dirty="0" smtClean="0">
                <a:solidFill>
                  <a:srgbClr val="C00000"/>
                </a:solidFill>
                <a:latin typeface="Times New Roman" pitchFamily="18" charset="0"/>
                <a:cs typeface="Times New Roman" pitchFamily="18" charset="0"/>
              </a:rPr>
              <a:t>二、宏观状态参量</a:t>
            </a:r>
            <a:endParaRPr kumimoji="1" lang="zh-CN" altLang="en-US" sz="3200" b="1" dirty="0">
              <a:solidFill>
                <a:srgbClr val="C00000"/>
              </a:solidFill>
              <a:latin typeface="Times New Roman" pitchFamily="18" charset="0"/>
              <a:cs typeface="Times New Roman" pitchFamily="18" charset="0"/>
            </a:endParaRPr>
          </a:p>
        </p:txBody>
      </p:sp>
      <p:sp>
        <p:nvSpPr>
          <p:cNvPr id="41992" name="Rectangle 8"/>
          <p:cNvSpPr>
            <a:spLocks noChangeArrowheads="1"/>
          </p:cNvSpPr>
          <p:nvPr/>
        </p:nvSpPr>
        <p:spPr bwMode="auto">
          <a:xfrm>
            <a:off x="611188" y="1556792"/>
            <a:ext cx="8137525" cy="523875"/>
          </a:xfrm>
          <a:prstGeom prst="rect">
            <a:avLst/>
          </a:prstGeom>
          <a:noFill/>
          <a:ln w="28575">
            <a:noFill/>
            <a:miter lim="800000"/>
            <a:headEnd/>
            <a:tailEnd/>
          </a:ln>
        </p:spPr>
        <p:txBody>
          <a:bodyPr>
            <a:spAutoFit/>
          </a:bodyPr>
          <a:lstStyle/>
          <a:p>
            <a:r>
              <a:rPr kumimoji="1" lang="en-US" altLang="zh-CN" sz="2800" b="1" i="1" dirty="0">
                <a:solidFill>
                  <a:srgbClr val="FF0000"/>
                </a:solidFill>
                <a:latin typeface="Times New Roman" pitchFamily="18" charset="0"/>
                <a:cs typeface="Times New Roman" pitchFamily="18" charset="0"/>
              </a:rPr>
              <a:t>P</a:t>
            </a:r>
            <a:r>
              <a:rPr kumimoji="1" lang="zh-CN" altLang="en-US" sz="2800" b="1" dirty="0">
                <a:latin typeface="Times New Roman" pitchFamily="18" charset="0"/>
                <a:cs typeface="Times New Roman" pitchFamily="18" charset="0"/>
              </a:rPr>
              <a:t>：压强。单位为帕斯卡（</a:t>
            </a:r>
            <a:r>
              <a:rPr kumimoji="1" lang="en-US" altLang="zh-CN" sz="2800" b="1" dirty="0">
                <a:latin typeface="Times New Roman" pitchFamily="18" charset="0"/>
                <a:cs typeface="Times New Roman" pitchFamily="18" charset="0"/>
              </a:rPr>
              <a:t>Pa</a:t>
            </a:r>
            <a:r>
              <a:rPr kumimoji="1" lang="zh-CN" altLang="en-US" sz="2800" b="1" dirty="0">
                <a:latin typeface="Times New Roman" pitchFamily="18" charset="0"/>
                <a:cs typeface="Times New Roman" pitchFamily="18" charset="0"/>
              </a:rPr>
              <a:t>）</a:t>
            </a:r>
            <a:r>
              <a:rPr kumimoji="1" lang="en-US" altLang="zh-CN" sz="2800" b="1" dirty="0">
                <a:latin typeface="Times New Roman" pitchFamily="18" charset="0"/>
                <a:cs typeface="Times New Roman" pitchFamily="18" charset="0"/>
              </a:rPr>
              <a:t>, 1Pa=1N/1m</a:t>
            </a:r>
            <a:r>
              <a:rPr kumimoji="1" lang="en-US" altLang="zh-CN" sz="2800" b="1" baseline="30000" dirty="0">
                <a:latin typeface="Times New Roman" pitchFamily="18" charset="0"/>
                <a:cs typeface="Times New Roman" pitchFamily="18" charset="0"/>
              </a:rPr>
              <a:t>2</a:t>
            </a:r>
          </a:p>
        </p:txBody>
      </p:sp>
      <p:sp>
        <p:nvSpPr>
          <p:cNvPr id="41993" name="Rectangle 9"/>
          <p:cNvSpPr>
            <a:spLocks noChangeArrowheads="1"/>
          </p:cNvSpPr>
          <p:nvPr/>
        </p:nvSpPr>
        <p:spPr bwMode="auto">
          <a:xfrm>
            <a:off x="468313" y="3789040"/>
            <a:ext cx="6696075" cy="523875"/>
          </a:xfrm>
          <a:prstGeom prst="rect">
            <a:avLst/>
          </a:prstGeom>
          <a:noFill/>
          <a:ln w="28575">
            <a:noFill/>
            <a:miter lim="800000"/>
            <a:headEnd/>
            <a:tailEnd/>
          </a:ln>
        </p:spPr>
        <p:txBody>
          <a:bodyPr>
            <a:spAutoFit/>
          </a:bodyPr>
          <a:lstStyle/>
          <a:p>
            <a:r>
              <a:rPr kumimoji="1" lang="en-US" altLang="zh-CN" sz="2800" b="1" i="1" dirty="0">
                <a:solidFill>
                  <a:srgbClr val="FF0000"/>
                </a:solidFill>
                <a:latin typeface="Times New Roman" pitchFamily="18" charset="0"/>
                <a:cs typeface="Times New Roman" pitchFamily="18" charset="0"/>
              </a:rPr>
              <a:t>V</a:t>
            </a:r>
            <a:r>
              <a:rPr kumimoji="1" lang="zh-CN" altLang="en-US" sz="2800" b="1" dirty="0">
                <a:latin typeface="Times New Roman" pitchFamily="18" charset="0"/>
                <a:cs typeface="Times New Roman" pitchFamily="18" charset="0"/>
              </a:rPr>
              <a:t>：体</a:t>
            </a:r>
            <a:r>
              <a:rPr kumimoji="1" lang="zh-CN" altLang="en-US" sz="2800" b="1" dirty="0" smtClean="0">
                <a:latin typeface="Times New Roman" pitchFamily="18" charset="0"/>
                <a:cs typeface="Times New Roman" pitchFamily="18" charset="0"/>
              </a:rPr>
              <a:t>积。</a:t>
            </a:r>
            <a:r>
              <a:rPr kumimoji="1" lang="zh-CN" altLang="en-US" sz="2800" b="1" dirty="0">
                <a:latin typeface="Times New Roman" pitchFamily="18" charset="0"/>
                <a:cs typeface="Times New Roman" pitchFamily="18" charset="0"/>
              </a:rPr>
              <a:t>单位为 </a:t>
            </a:r>
            <a:r>
              <a:rPr kumimoji="1" lang="en-US" altLang="zh-CN" sz="2800" b="1" dirty="0">
                <a:latin typeface="Times New Roman" pitchFamily="18" charset="0"/>
                <a:cs typeface="Times New Roman" pitchFamily="18" charset="0"/>
              </a:rPr>
              <a:t>m</a:t>
            </a:r>
            <a:r>
              <a:rPr kumimoji="1" lang="en-US" altLang="zh-CN" sz="2800" b="1" baseline="30000" dirty="0">
                <a:latin typeface="Times New Roman" pitchFamily="18" charset="0"/>
                <a:cs typeface="Times New Roman" pitchFamily="18" charset="0"/>
              </a:rPr>
              <a:t>3</a:t>
            </a:r>
            <a:r>
              <a:rPr kumimoji="1" lang="zh-CN" altLang="en-US" sz="2800" b="1" dirty="0" smtClean="0">
                <a:latin typeface="Times New Roman" pitchFamily="18" charset="0"/>
                <a:cs typeface="Times New Roman" pitchFamily="18" charset="0"/>
              </a:rPr>
              <a:t>、</a:t>
            </a:r>
            <a:r>
              <a:rPr kumimoji="1" lang="en-US" altLang="zh-CN" sz="2800" b="1" dirty="0" smtClean="0">
                <a:latin typeface="Times New Roman" pitchFamily="18" charset="0"/>
                <a:cs typeface="Times New Roman" pitchFamily="18" charset="0"/>
              </a:rPr>
              <a:t>L</a:t>
            </a:r>
            <a:r>
              <a:rPr kumimoji="1" lang="zh-CN" altLang="en-US" sz="2800" b="1" dirty="0" smtClean="0">
                <a:latin typeface="Times New Roman" pitchFamily="18" charset="0"/>
                <a:cs typeface="Times New Roman" pitchFamily="18" charset="0"/>
              </a:rPr>
              <a:t>、</a:t>
            </a:r>
            <a:r>
              <a:rPr kumimoji="1" lang="en-US" altLang="zh-CN" sz="2800" b="1" dirty="0" err="1" smtClean="0">
                <a:latin typeface="Times New Roman" pitchFamily="18" charset="0"/>
                <a:cs typeface="Times New Roman" pitchFamily="18" charset="0"/>
              </a:rPr>
              <a:t>mL</a:t>
            </a:r>
            <a:r>
              <a:rPr kumimoji="1" lang="zh-CN" altLang="en-US" sz="2800" b="1" dirty="0" smtClean="0">
                <a:latin typeface="Times New Roman" pitchFamily="18" charset="0"/>
                <a:cs typeface="Times New Roman" pitchFamily="18" charset="0"/>
              </a:rPr>
              <a:t>。</a:t>
            </a:r>
            <a:endParaRPr kumimoji="1" lang="zh-CN" altLang="en-US" sz="2800" b="1" dirty="0">
              <a:latin typeface="Times New Roman" pitchFamily="18" charset="0"/>
              <a:cs typeface="Times New Roman" pitchFamily="18" charset="0"/>
            </a:endParaRPr>
          </a:p>
        </p:txBody>
      </p:sp>
      <p:sp>
        <p:nvSpPr>
          <p:cNvPr id="41994" name="Rectangle 10"/>
          <p:cNvSpPr>
            <a:spLocks noChangeArrowheads="1"/>
          </p:cNvSpPr>
          <p:nvPr/>
        </p:nvSpPr>
        <p:spPr bwMode="auto">
          <a:xfrm>
            <a:off x="468312" y="4652963"/>
            <a:ext cx="3311599" cy="523220"/>
          </a:xfrm>
          <a:prstGeom prst="rect">
            <a:avLst/>
          </a:prstGeom>
          <a:noFill/>
          <a:ln w="28575">
            <a:noFill/>
            <a:miter lim="800000"/>
            <a:headEnd/>
            <a:tailEnd/>
          </a:ln>
        </p:spPr>
        <p:txBody>
          <a:bodyPr wrap="square">
            <a:spAutoFit/>
          </a:bodyPr>
          <a:lstStyle/>
          <a:p>
            <a:r>
              <a:rPr kumimoji="1" lang="en-US" altLang="zh-CN" sz="2800" b="1" i="1" dirty="0">
                <a:solidFill>
                  <a:srgbClr val="FF0000"/>
                </a:solidFill>
                <a:latin typeface="Times New Roman" pitchFamily="18" charset="0"/>
                <a:cs typeface="Times New Roman" pitchFamily="18" charset="0"/>
              </a:rPr>
              <a:t>T</a:t>
            </a:r>
            <a:r>
              <a:rPr kumimoji="1" lang="zh-CN" altLang="en-US" sz="2800" b="1" dirty="0">
                <a:latin typeface="Times New Roman" pitchFamily="18" charset="0"/>
                <a:cs typeface="Times New Roman" pitchFamily="18" charset="0"/>
              </a:rPr>
              <a:t>：热力学温</a:t>
            </a:r>
            <a:r>
              <a:rPr kumimoji="1" lang="zh-CN" altLang="en-US" sz="2800" b="1" dirty="0" smtClean="0">
                <a:latin typeface="Times New Roman" pitchFamily="18" charset="0"/>
                <a:cs typeface="Times New Roman" pitchFamily="18" charset="0"/>
              </a:rPr>
              <a:t>度</a:t>
            </a:r>
            <a:endParaRPr kumimoji="1" lang="zh-CN" altLang="en-US" sz="2800" b="1" dirty="0">
              <a:latin typeface="Times New Roman" pitchFamily="18" charset="0"/>
              <a:cs typeface="Times New Roman" pitchFamily="18" charset="0"/>
            </a:endParaRPr>
          </a:p>
        </p:txBody>
      </p:sp>
      <p:graphicFrame>
        <p:nvGraphicFramePr>
          <p:cNvPr id="41995" name="Object 2"/>
          <p:cNvGraphicFramePr>
            <a:graphicFrameLocks noChangeAspect="1"/>
          </p:cNvGraphicFramePr>
          <p:nvPr/>
        </p:nvGraphicFramePr>
        <p:xfrm>
          <a:off x="3059832" y="4725963"/>
          <a:ext cx="2962275" cy="503237"/>
        </p:xfrm>
        <a:graphic>
          <a:graphicData uri="http://schemas.openxmlformats.org/presentationml/2006/ole">
            <p:oleObj spid="_x0000_s3074" name="Equation" r:id="rId3" imgW="1193760" imgH="203040" progId="Equation.DSMT4">
              <p:embed/>
            </p:oleObj>
          </a:graphicData>
        </a:graphic>
      </p:graphicFrame>
      <p:graphicFrame>
        <p:nvGraphicFramePr>
          <p:cNvPr id="41996" name="Object 3"/>
          <p:cNvGraphicFramePr>
            <a:graphicFrameLocks noChangeAspect="1"/>
          </p:cNvGraphicFramePr>
          <p:nvPr/>
        </p:nvGraphicFramePr>
        <p:xfrm>
          <a:off x="3059832" y="5589240"/>
          <a:ext cx="4215207" cy="575716"/>
        </p:xfrm>
        <a:graphic>
          <a:graphicData uri="http://schemas.openxmlformats.org/presentationml/2006/ole">
            <p:oleObj spid="_x0000_s3075" name="Equation" r:id="rId4" imgW="1676160" imgH="228600" progId="Equation.DSMT4">
              <p:embed/>
            </p:oleObj>
          </a:graphicData>
        </a:graphic>
      </p:graphicFrame>
      <p:graphicFrame>
        <p:nvGraphicFramePr>
          <p:cNvPr id="17" name="Object 6"/>
          <p:cNvGraphicFramePr>
            <a:graphicFrameLocks noChangeAspect="1"/>
          </p:cNvGraphicFramePr>
          <p:nvPr/>
        </p:nvGraphicFramePr>
        <p:xfrm>
          <a:off x="1766888" y="2492375"/>
          <a:ext cx="5105400" cy="617538"/>
        </p:xfrm>
        <a:graphic>
          <a:graphicData uri="http://schemas.openxmlformats.org/presentationml/2006/ole">
            <p:oleObj spid="_x0000_s3076" name="Equation" r:id="rId5" imgW="1892160" imgH="228600" progId="Equation.DSMT4">
              <p:embed/>
            </p:oleObj>
          </a:graphicData>
        </a:graphic>
      </p:graphicFrame>
      <p:sp>
        <p:nvSpPr>
          <p:cNvPr id="9" name="灯片编号占位符 1"/>
          <p:cNvSpPr txBox="1">
            <a:spLocks/>
          </p:cNvSpPr>
          <p:nvPr/>
        </p:nvSpPr>
        <p:spPr bwMode="auto">
          <a:xfrm>
            <a:off x="8606357" y="6584504"/>
            <a:ext cx="574155" cy="300880"/>
          </a:xfrm>
          <a:prstGeom prst="rect">
            <a:avLst/>
          </a:prstGeom>
          <a:noFill/>
          <a:ln>
            <a:miter lim="800000"/>
            <a:headEnd/>
            <a:tailEnd/>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22E3302-AC1D-47C1-A1C9-47DFDD07C79E}" type="slidenum">
              <a:rPr kumimoji="0" lang="en-US" altLang="zh-CN" sz="1400" b="0" i="0" u="none" strike="noStrike" kern="1200" cap="none" spc="0" normalizeH="0" baseline="0" noProof="0" smtClean="0">
                <a:ln>
                  <a:noFill/>
                </a:ln>
                <a:solidFill>
                  <a:schemeClr val="tx1"/>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zh-CN" sz="1400" b="0" i="0" u="none" strike="noStrike" kern="1200" cap="none" spc="0" normalizeH="0" baseline="0" noProof="0" dirty="0">
              <a:ln>
                <a:noFill/>
              </a:ln>
              <a:solidFill>
                <a:schemeClr val="tx1"/>
              </a:solidFill>
              <a:effectLst/>
              <a:uLnTx/>
              <a:uFillTx/>
              <a:latin typeface="Arial" charset="0"/>
              <a:ea typeface="宋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9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99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9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93" grpId="0"/>
      <p:bldP spid="4199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66" name="Text Box 22"/>
          <p:cNvSpPr txBox="1">
            <a:spLocks noChangeArrowheads="1"/>
          </p:cNvSpPr>
          <p:nvPr/>
        </p:nvSpPr>
        <p:spPr bwMode="auto">
          <a:xfrm>
            <a:off x="611560" y="476672"/>
            <a:ext cx="5183187" cy="646113"/>
          </a:xfrm>
          <a:prstGeom prst="rect">
            <a:avLst/>
          </a:prstGeom>
          <a:noFill/>
          <a:ln w="9525">
            <a:noFill/>
            <a:miter lim="800000"/>
            <a:headEnd/>
            <a:tailEnd/>
          </a:ln>
        </p:spPr>
        <p:txBody>
          <a:bodyPr>
            <a:spAutoFit/>
          </a:bodyPr>
          <a:lstStyle/>
          <a:p>
            <a:pPr>
              <a:spcBef>
                <a:spcPct val="50000"/>
              </a:spcBef>
            </a:pPr>
            <a:r>
              <a:rPr kumimoji="1" lang="zh-CN" altLang="en-US" sz="3600" b="1" dirty="0" smtClean="0">
                <a:solidFill>
                  <a:srgbClr val="CC0000"/>
                </a:solidFill>
                <a:latin typeface="Times New Roman" pitchFamily="18" charset="0"/>
              </a:rPr>
              <a:t>三、平</a:t>
            </a:r>
            <a:r>
              <a:rPr kumimoji="1" lang="zh-CN" altLang="en-US" sz="3600" b="1" dirty="0">
                <a:solidFill>
                  <a:srgbClr val="CC0000"/>
                </a:solidFill>
                <a:latin typeface="Times New Roman" pitchFamily="18" charset="0"/>
              </a:rPr>
              <a:t>衡态</a:t>
            </a:r>
          </a:p>
        </p:txBody>
      </p:sp>
      <p:sp>
        <p:nvSpPr>
          <p:cNvPr id="31767" name="Text Box 23"/>
          <p:cNvSpPr txBox="1">
            <a:spLocks noChangeArrowheads="1"/>
          </p:cNvSpPr>
          <p:nvPr/>
        </p:nvSpPr>
        <p:spPr bwMode="auto">
          <a:xfrm>
            <a:off x="612973" y="1268760"/>
            <a:ext cx="8063483" cy="2169825"/>
          </a:xfrm>
          <a:prstGeom prst="rect">
            <a:avLst/>
          </a:prstGeom>
          <a:noFill/>
          <a:ln w="9525">
            <a:noFill/>
            <a:miter lim="800000"/>
            <a:headEnd/>
            <a:tailEnd/>
          </a:ln>
        </p:spPr>
        <p:txBody>
          <a:bodyPr wrap="square">
            <a:spAutoFit/>
          </a:bodyPr>
          <a:lstStyle/>
          <a:p>
            <a:pPr>
              <a:lnSpc>
                <a:spcPct val="150000"/>
              </a:lnSpc>
            </a:pPr>
            <a:r>
              <a:rPr kumimoji="1" lang="en-US" altLang="zh-CN" sz="3000" b="1" dirty="0">
                <a:solidFill>
                  <a:srgbClr val="000000"/>
                </a:solidFill>
                <a:latin typeface="Times New Roman" pitchFamily="18" charset="0"/>
              </a:rPr>
              <a:t>        </a:t>
            </a:r>
            <a:r>
              <a:rPr kumimoji="1" lang="zh-CN" altLang="en-US" sz="3000" b="1" dirty="0">
                <a:solidFill>
                  <a:srgbClr val="000000"/>
                </a:solidFill>
                <a:latin typeface="Times New Roman" pitchFamily="18" charset="0"/>
              </a:rPr>
              <a:t>一定量的气体，</a:t>
            </a:r>
            <a:r>
              <a:rPr kumimoji="1" lang="zh-CN" altLang="en-US" sz="3000" b="1" dirty="0">
                <a:solidFill>
                  <a:srgbClr val="1C1C1C"/>
                </a:solidFill>
                <a:latin typeface="Times New Roman" pitchFamily="18" charset="0"/>
              </a:rPr>
              <a:t>在不受外界的影响下，经过一定的时间，系统达到一个</a:t>
            </a:r>
            <a:r>
              <a:rPr kumimoji="1" lang="zh-CN" altLang="en-US" sz="3000" b="1" dirty="0">
                <a:solidFill>
                  <a:srgbClr val="FF0000"/>
                </a:solidFill>
                <a:latin typeface="Times New Roman" pitchFamily="18" charset="0"/>
              </a:rPr>
              <a:t>稳定的宏观性质</a:t>
            </a:r>
            <a:r>
              <a:rPr kumimoji="1" lang="zh-CN" altLang="en-US" sz="3000" b="1" dirty="0">
                <a:solidFill>
                  <a:srgbClr val="1C1C1C"/>
                </a:solidFill>
                <a:latin typeface="Times New Roman" pitchFamily="18" charset="0"/>
              </a:rPr>
              <a:t>不随时间变化的状态称为</a:t>
            </a:r>
            <a:r>
              <a:rPr kumimoji="1" lang="zh-CN" altLang="en-US" sz="3000" b="1" dirty="0">
                <a:solidFill>
                  <a:srgbClr val="C00000"/>
                </a:solidFill>
                <a:latin typeface="Times New Roman" pitchFamily="18" charset="0"/>
              </a:rPr>
              <a:t>平衡态</a:t>
            </a:r>
            <a:r>
              <a:rPr kumimoji="1" lang="en-US" altLang="zh-CN" sz="3000" b="1" dirty="0">
                <a:solidFill>
                  <a:srgbClr val="1C1C1C"/>
                </a:solidFill>
                <a:latin typeface="Times New Roman" pitchFamily="18" charset="0"/>
              </a:rPr>
              <a:t>.</a:t>
            </a:r>
            <a:r>
              <a:rPr kumimoji="1" lang="zh-CN" altLang="en-US" sz="3000" b="1" dirty="0">
                <a:solidFill>
                  <a:srgbClr val="1C1C1C"/>
                </a:solidFill>
                <a:latin typeface="Times New Roman" pitchFamily="18" charset="0"/>
              </a:rPr>
              <a:t>　</a:t>
            </a:r>
          </a:p>
        </p:txBody>
      </p:sp>
      <p:sp>
        <p:nvSpPr>
          <p:cNvPr id="18" name="Line 27"/>
          <p:cNvSpPr>
            <a:spLocks noChangeShapeType="1"/>
          </p:cNvSpPr>
          <p:nvPr/>
        </p:nvSpPr>
        <p:spPr bwMode="auto">
          <a:xfrm>
            <a:off x="5723806" y="4438451"/>
            <a:ext cx="0" cy="0"/>
          </a:xfrm>
          <a:prstGeom prst="line">
            <a:avLst/>
          </a:prstGeom>
          <a:noFill/>
          <a:ln w="9525">
            <a:solidFill>
              <a:schemeClr val="tx1"/>
            </a:solidFill>
            <a:round/>
            <a:headEnd/>
            <a:tailEnd/>
          </a:ln>
        </p:spPr>
        <p:txBody>
          <a:bodyPr/>
          <a:lstStyle/>
          <a:p>
            <a:endParaRPr lang="zh-CN" altLang="en-US"/>
          </a:p>
        </p:txBody>
      </p:sp>
      <p:grpSp>
        <p:nvGrpSpPr>
          <p:cNvPr id="20" name="组合 19"/>
          <p:cNvGrpSpPr/>
          <p:nvPr/>
        </p:nvGrpSpPr>
        <p:grpSpPr>
          <a:xfrm>
            <a:off x="1475656" y="3818846"/>
            <a:ext cx="6644540" cy="2274450"/>
            <a:chOff x="1475656" y="3602822"/>
            <a:chExt cx="6644540" cy="2274450"/>
          </a:xfrm>
        </p:grpSpPr>
        <p:grpSp>
          <p:nvGrpSpPr>
            <p:cNvPr id="4" name="Group 26"/>
            <p:cNvGrpSpPr>
              <a:grpSpLocks/>
            </p:cNvGrpSpPr>
            <p:nvPr/>
          </p:nvGrpSpPr>
          <p:grpSpPr bwMode="auto">
            <a:xfrm>
              <a:off x="1475656" y="3602822"/>
              <a:ext cx="6644540" cy="2274450"/>
              <a:chOff x="930" y="898"/>
              <a:chExt cx="3656" cy="1094"/>
            </a:xfrm>
          </p:grpSpPr>
          <p:grpSp>
            <p:nvGrpSpPr>
              <p:cNvPr id="5" name="Group 7"/>
              <p:cNvGrpSpPr>
                <a:grpSpLocks/>
              </p:cNvGrpSpPr>
              <p:nvPr/>
            </p:nvGrpSpPr>
            <p:grpSpPr bwMode="auto">
              <a:xfrm>
                <a:off x="930" y="1270"/>
                <a:ext cx="1511" cy="556"/>
                <a:chOff x="864" y="3072"/>
                <a:chExt cx="1680" cy="768"/>
              </a:xfrm>
            </p:grpSpPr>
            <p:sp>
              <p:nvSpPr>
                <p:cNvPr id="15" name="AutoShape 8"/>
                <p:cNvSpPr>
                  <a:spLocks noChangeArrowheads="1"/>
                </p:cNvSpPr>
                <p:nvPr/>
              </p:nvSpPr>
              <p:spPr bwMode="auto">
                <a:xfrm>
                  <a:off x="864" y="3072"/>
                  <a:ext cx="1680" cy="768"/>
                </a:xfrm>
                <a:prstGeom prst="bevel">
                  <a:avLst>
                    <a:gd name="adj" fmla="val 0"/>
                  </a:avLst>
                </a:prstGeom>
                <a:solidFill>
                  <a:schemeClr val="accent1"/>
                </a:solidFill>
                <a:ln w="9525">
                  <a:solidFill>
                    <a:schemeClr val="tx1"/>
                  </a:solidFill>
                  <a:miter lim="800000"/>
                  <a:headEnd/>
                  <a:tailEnd/>
                </a:ln>
              </p:spPr>
              <p:txBody>
                <a:bodyPr wrap="none" anchor="ctr"/>
                <a:lstStyle/>
                <a:p>
                  <a:endParaRPr lang="zh-CN" altLang="en-US"/>
                </a:p>
              </p:txBody>
            </p:sp>
            <p:sp>
              <p:nvSpPr>
                <p:cNvPr id="16" name="Rectangle 9"/>
                <p:cNvSpPr>
                  <a:spLocks noChangeArrowheads="1"/>
                </p:cNvSpPr>
                <p:nvPr/>
              </p:nvSpPr>
              <p:spPr bwMode="auto">
                <a:xfrm>
                  <a:off x="960" y="3168"/>
                  <a:ext cx="1488" cy="576"/>
                </a:xfrm>
                <a:prstGeom prst="rect">
                  <a:avLst/>
                </a:prstGeom>
                <a:solidFill>
                  <a:srgbClr val="E1F9FB"/>
                </a:solidFill>
                <a:ln w="9525">
                  <a:solidFill>
                    <a:schemeClr val="tx1"/>
                  </a:solidFill>
                  <a:miter lim="800000"/>
                  <a:headEnd/>
                  <a:tailEnd/>
                </a:ln>
              </p:spPr>
              <p:txBody>
                <a:bodyPr wrap="none" anchor="ctr"/>
                <a:lstStyle/>
                <a:p>
                  <a:endParaRPr lang="zh-CN" altLang="en-US"/>
                </a:p>
              </p:txBody>
            </p:sp>
            <p:sp>
              <p:nvSpPr>
                <p:cNvPr id="17" name="Rectangle 10" descr="5%"/>
                <p:cNvSpPr>
                  <a:spLocks noChangeArrowheads="1"/>
                </p:cNvSpPr>
                <p:nvPr/>
              </p:nvSpPr>
              <p:spPr bwMode="auto">
                <a:xfrm>
                  <a:off x="960" y="3168"/>
                  <a:ext cx="1488" cy="576"/>
                </a:xfrm>
                <a:prstGeom prst="rect">
                  <a:avLst/>
                </a:prstGeom>
                <a:pattFill prst="pct5">
                  <a:fgClr>
                    <a:schemeClr val="tx1"/>
                  </a:fgClr>
                  <a:bgClr>
                    <a:srgbClr val="E1F9FB"/>
                  </a:bgClr>
                </a:pattFill>
                <a:ln w="9525">
                  <a:solidFill>
                    <a:schemeClr val="tx1"/>
                  </a:solidFill>
                  <a:miter lim="800000"/>
                  <a:headEnd/>
                  <a:tailEnd/>
                </a:ln>
              </p:spPr>
              <p:txBody>
                <a:bodyPr wrap="none" anchor="ctr"/>
                <a:lstStyle/>
                <a:p>
                  <a:endParaRPr lang="zh-CN" altLang="en-US"/>
                </a:p>
              </p:txBody>
            </p:sp>
          </p:grpSp>
          <p:graphicFrame>
            <p:nvGraphicFramePr>
              <p:cNvPr id="6" name="Object 11"/>
              <p:cNvGraphicFramePr>
                <a:graphicFrameLocks noChangeAspect="1"/>
              </p:cNvGraphicFramePr>
              <p:nvPr/>
            </p:nvGraphicFramePr>
            <p:xfrm>
              <a:off x="1261" y="1428"/>
              <a:ext cx="897" cy="244"/>
            </p:xfrm>
            <a:graphic>
              <a:graphicData uri="http://schemas.openxmlformats.org/presentationml/2006/ole">
                <p:oleObj spid="_x0000_s34817" name="Equation" r:id="rId3" imgW="888840" imgH="304560" progId="Equation.3">
                  <p:embed/>
                </p:oleObj>
              </a:graphicData>
            </a:graphic>
          </p:graphicFrame>
          <p:grpSp>
            <p:nvGrpSpPr>
              <p:cNvPr id="7" name="Group 25"/>
              <p:cNvGrpSpPr>
                <a:grpSpLocks/>
              </p:cNvGrpSpPr>
              <p:nvPr/>
            </p:nvGrpSpPr>
            <p:grpSpPr bwMode="auto">
              <a:xfrm>
                <a:off x="2871" y="898"/>
                <a:ext cx="1715" cy="1094"/>
                <a:chOff x="2871" y="898"/>
                <a:chExt cx="1715" cy="1094"/>
              </a:xfrm>
            </p:grpSpPr>
            <p:sp>
              <p:nvSpPr>
                <p:cNvPr id="8" name="Line 13"/>
                <p:cNvSpPr>
                  <a:spLocks noChangeShapeType="1"/>
                </p:cNvSpPr>
                <p:nvPr/>
              </p:nvSpPr>
              <p:spPr bwMode="auto">
                <a:xfrm flipV="1">
                  <a:off x="3149" y="1764"/>
                  <a:ext cx="1426" cy="4"/>
                </a:xfrm>
                <a:prstGeom prst="line">
                  <a:avLst/>
                </a:prstGeom>
                <a:noFill/>
                <a:ln w="19050">
                  <a:solidFill>
                    <a:srgbClr val="0000FF"/>
                  </a:solidFill>
                  <a:round/>
                  <a:headEnd/>
                  <a:tailEnd type="triangle" w="sm" len="lg"/>
                </a:ln>
              </p:spPr>
              <p:txBody>
                <a:bodyPr wrap="none" anchor="ctr"/>
                <a:lstStyle/>
                <a:p>
                  <a:endParaRPr lang="zh-CN" altLang="en-US"/>
                </a:p>
              </p:txBody>
            </p:sp>
            <p:sp>
              <p:nvSpPr>
                <p:cNvPr id="9" name="Line 14"/>
                <p:cNvSpPr>
                  <a:spLocks noChangeShapeType="1"/>
                </p:cNvSpPr>
                <p:nvPr/>
              </p:nvSpPr>
              <p:spPr bwMode="auto">
                <a:xfrm flipH="1" flipV="1">
                  <a:off x="3149" y="932"/>
                  <a:ext cx="0" cy="836"/>
                </a:xfrm>
                <a:prstGeom prst="line">
                  <a:avLst/>
                </a:prstGeom>
                <a:noFill/>
                <a:ln w="19050">
                  <a:solidFill>
                    <a:srgbClr val="0000FF"/>
                  </a:solidFill>
                  <a:round/>
                  <a:headEnd/>
                  <a:tailEnd type="triangle" w="sm" len="lg"/>
                </a:ln>
              </p:spPr>
              <p:txBody>
                <a:bodyPr wrap="none" anchor="ctr"/>
                <a:lstStyle/>
                <a:p>
                  <a:endParaRPr lang="zh-CN" altLang="en-US"/>
                </a:p>
              </p:txBody>
            </p:sp>
            <p:graphicFrame>
              <p:nvGraphicFramePr>
                <p:cNvPr id="10" name="Object 15"/>
                <p:cNvGraphicFramePr>
                  <a:graphicFrameLocks noChangeAspect="1"/>
                </p:cNvGraphicFramePr>
                <p:nvPr/>
              </p:nvGraphicFramePr>
              <p:xfrm>
                <a:off x="2871" y="898"/>
                <a:ext cx="276" cy="209"/>
              </p:xfrm>
              <a:graphic>
                <a:graphicData uri="http://schemas.openxmlformats.org/presentationml/2006/ole">
                  <p:oleObj spid="_x0000_s34818" name="Equation" r:id="rId4" imgW="203040" imgH="241200" progId="Equation.3">
                    <p:embed/>
                  </p:oleObj>
                </a:graphicData>
              </a:graphic>
            </p:graphicFrame>
            <p:graphicFrame>
              <p:nvGraphicFramePr>
                <p:cNvPr id="11" name="Object 16"/>
                <p:cNvGraphicFramePr>
                  <a:graphicFrameLocks noChangeAspect="1"/>
                </p:cNvGraphicFramePr>
                <p:nvPr/>
              </p:nvGraphicFramePr>
              <p:xfrm>
                <a:off x="4417" y="1833"/>
                <a:ext cx="169" cy="159"/>
              </p:xfrm>
              <a:graphic>
                <a:graphicData uri="http://schemas.openxmlformats.org/presentationml/2006/ole">
                  <p:oleObj spid="_x0000_s34819" name="Equation" r:id="rId5" imgW="215640" imgH="241200" progId="Equation.3">
                    <p:embed/>
                  </p:oleObj>
                </a:graphicData>
              </a:graphic>
            </p:graphicFrame>
            <p:graphicFrame>
              <p:nvGraphicFramePr>
                <p:cNvPr id="12" name="Object 17"/>
                <p:cNvGraphicFramePr>
                  <a:graphicFrameLocks noChangeAspect="1"/>
                </p:cNvGraphicFramePr>
                <p:nvPr/>
              </p:nvGraphicFramePr>
              <p:xfrm>
                <a:off x="3624" y="1210"/>
                <a:ext cx="849" cy="230"/>
              </p:xfrm>
              <a:graphic>
                <a:graphicData uri="http://schemas.openxmlformats.org/presentationml/2006/ole">
                  <p:oleObj spid="_x0000_s34820" name="公式" r:id="rId6" imgW="888840" imgH="304560" progId="Equation.3">
                    <p:embed/>
                  </p:oleObj>
                </a:graphicData>
              </a:graphic>
            </p:graphicFrame>
            <p:sp>
              <p:nvSpPr>
                <p:cNvPr id="13" name="Text Box 18"/>
                <p:cNvSpPr txBox="1">
                  <a:spLocks noChangeArrowheads="1"/>
                </p:cNvSpPr>
                <p:nvPr/>
              </p:nvSpPr>
              <p:spPr bwMode="auto">
                <a:xfrm>
                  <a:off x="3480" y="1235"/>
                  <a:ext cx="189" cy="288"/>
                </a:xfrm>
                <a:prstGeom prst="rect">
                  <a:avLst/>
                </a:prstGeom>
                <a:noFill/>
                <a:ln w="9525">
                  <a:noFill/>
                  <a:miter lim="800000"/>
                  <a:headEnd/>
                  <a:tailEnd/>
                </a:ln>
              </p:spPr>
              <p:txBody>
                <a:bodyPr>
                  <a:spAutoFit/>
                </a:bodyPr>
                <a:lstStyle/>
                <a:p>
                  <a:pPr eaLnBrk="0" hangingPunct="0">
                    <a:spcBef>
                      <a:spcPct val="50000"/>
                    </a:spcBef>
                  </a:pPr>
                  <a:endParaRPr kumimoji="1" lang="zh-CN" altLang="zh-CN" sz="2400" b="1">
                    <a:solidFill>
                      <a:srgbClr val="CC0000"/>
                    </a:solidFill>
                    <a:latin typeface="Times New Roman" pitchFamily="18" charset="0"/>
                  </a:endParaRPr>
                </a:p>
              </p:txBody>
            </p:sp>
            <p:graphicFrame>
              <p:nvGraphicFramePr>
                <p:cNvPr id="14" name="Object 19"/>
                <p:cNvGraphicFramePr>
                  <a:graphicFrameLocks noChangeAspect="1"/>
                </p:cNvGraphicFramePr>
                <p:nvPr/>
              </p:nvGraphicFramePr>
              <p:xfrm>
                <a:off x="3055" y="1751"/>
                <a:ext cx="163" cy="159"/>
              </p:xfrm>
              <a:graphic>
                <a:graphicData uri="http://schemas.openxmlformats.org/presentationml/2006/ole">
                  <p:oleObj spid="_x0000_s34821" name="Equation" r:id="rId7" imgW="164880" imgH="190440" progId="Equation.3">
                    <p:embed/>
                  </p:oleObj>
                </a:graphicData>
              </a:graphic>
            </p:graphicFrame>
          </p:grpSp>
        </p:grpSp>
        <p:sp>
          <p:nvSpPr>
            <p:cNvPr id="19" name="Oval 30"/>
            <p:cNvSpPr>
              <a:spLocks noChangeArrowheads="1"/>
            </p:cNvSpPr>
            <p:nvPr/>
          </p:nvSpPr>
          <p:spPr bwMode="auto">
            <a:xfrm>
              <a:off x="6228184" y="4509120"/>
              <a:ext cx="73025" cy="71437"/>
            </a:xfrm>
            <a:prstGeom prst="ellipse">
              <a:avLst/>
            </a:prstGeom>
            <a:solidFill>
              <a:srgbClr val="FF99CC"/>
            </a:solidFill>
            <a:ln w="9525">
              <a:solidFill>
                <a:schemeClr val="tx1"/>
              </a:solidFill>
              <a:round/>
              <a:headEnd/>
              <a:tailEnd/>
            </a:ln>
          </p:spPr>
          <p:txBody>
            <a:bodyPr wrap="none" anchor="ctr"/>
            <a:lstStyle/>
            <a:p>
              <a:endParaRPr lang="zh-CN" altLang="en-US"/>
            </a:p>
          </p:txBody>
        </p:sp>
      </p:grpSp>
      <p:sp>
        <p:nvSpPr>
          <p:cNvPr id="21" name="灯片编号占位符 1"/>
          <p:cNvSpPr txBox="1">
            <a:spLocks/>
          </p:cNvSpPr>
          <p:nvPr/>
        </p:nvSpPr>
        <p:spPr bwMode="auto">
          <a:xfrm>
            <a:off x="8606357" y="6584504"/>
            <a:ext cx="574155" cy="300880"/>
          </a:xfrm>
          <a:prstGeom prst="rect">
            <a:avLst/>
          </a:prstGeom>
          <a:noFill/>
          <a:ln>
            <a:miter lim="800000"/>
            <a:headEnd/>
            <a:tailEnd/>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22E3302-AC1D-47C1-A1C9-47DFDD07C79E}" type="slidenum">
              <a:rPr kumimoji="0" lang="en-US" altLang="zh-CN" sz="1400" b="0" i="0" u="none" strike="noStrike" kern="1200" cap="none" spc="0" normalizeH="0" baseline="0" noProof="0" smtClean="0">
                <a:ln>
                  <a:noFill/>
                </a:ln>
                <a:solidFill>
                  <a:schemeClr val="tx1"/>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zh-CN" sz="1400" b="0" i="0" u="none" strike="noStrike" kern="1200" cap="none" spc="0" normalizeH="0" baseline="0" noProof="0" dirty="0">
              <a:ln>
                <a:noFill/>
              </a:ln>
              <a:solidFill>
                <a:schemeClr val="tx1"/>
              </a:solidFill>
              <a:effectLst/>
              <a:uLnTx/>
              <a:uFillTx/>
              <a:latin typeface="Arial" charset="0"/>
              <a:ea typeface="宋体" pitchFamily="2" charset="-122"/>
              <a:cs typeface="+mn-cs"/>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03" name="Group 23"/>
          <p:cNvGrpSpPr>
            <a:grpSpLocks/>
          </p:cNvGrpSpPr>
          <p:nvPr/>
        </p:nvGrpSpPr>
        <p:grpSpPr bwMode="auto">
          <a:xfrm>
            <a:off x="539552" y="549176"/>
            <a:ext cx="2895600" cy="863600"/>
            <a:chOff x="512" y="482"/>
            <a:chExt cx="1824" cy="544"/>
          </a:xfrm>
          <a:noFill/>
        </p:grpSpPr>
        <p:sp>
          <p:nvSpPr>
            <p:cNvPr id="26627" name="AutoShape 3"/>
            <p:cNvSpPr>
              <a:spLocks noChangeArrowheads="1"/>
            </p:cNvSpPr>
            <p:nvPr/>
          </p:nvSpPr>
          <p:spPr bwMode="auto">
            <a:xfrm>
              <a:off x="521" y="482"/>
              <a:ext cx="1588" cy="544"/>
            </a:xfrm>
            <a:prstGeom prst="horizontalScroll">
              <a:avLst>
                <a:gd name="adj" fmla="val 12500"/>
              </a:avLst>
            </a:prstGeom>
            <a:solidFill>
              <a:schemeClr val="accent6">
                <a:lumMod val="20000"/>
                <a:lumOff val="80000"/>
              </a:schemeClr>
            </a:solidFill>
            <a:ln w="9525">
              <a:solidFill>
                <a:schemeClr val="tx1"/>
              </a:solidFill>
              <a:round/>
              <a:headEnd/>
              <a:tailEnd/>
            </a:ln>
            <a:effectLst>
              <a:outerShdw dist="107763" dir="13500000" algn="ctr" rotWithShape="0">
                <a:schemeClr val="tx2"/>
              </a:outerShdw>
            </a:effectLst>
          </p:spPr>
          <p:txBody>
            <a:bodyPr wrap="none" anchor="ctr"/>
            <a:lstStyle/>
            <a:p>
              <a:pPr>
                <a:defRPr/>
              </a:pPr>
              <a:endParaRPr lang="zh-CN" altLang="en-US"/>
            </a:p>
          </p:txBody>
        </p:sp>
        <p:sp>
          <p:nvSpPr>
            <p:cNvPr id="4117" name="Text Box 4"/>
            <p:cNvSpPr txBox="1">
              <a:spLocks noChangeArrowheads="1"/>
            </p:cNvSpPr>
            <p:nvPr/>
          </p:nvSpPr>
          <p:spPr bwMode="auto">
            <a:xfrm>
              <a:off x="512" y="578"/>
              <a:ext cx="1824" cy="365"/>
            </a:xfrm>
            <a:prstGeom prst="rect">
              <a:avLst/>
            </a:prstGeom>
            <a:grpFill/>
            <a:ln w="9525">
              <a:noFill/>
              <a:miter lim="800000"/>
              <a:headEnd/>
              <a:tailEnd/>
            </a:ln>
          </p:spPr>
          <p:txBody>
            <a:bodyPr>
              <a:spAutoFit/>
            </a:bodyPr>
            <a:lstStyle/>
            <a:p>
              <a:pPr>
                <a:spcBef>
                  <a:spcPct val="50000"/>
                </a:spcBef>
              </a:pPr>
              <a:r>
                <a:rPr kumimoji="1" lang="zh-CN" altLang="en-US" sz="3200" b="1" dirty="0">
                  <a:solidFill>
                    <a:srgbClr val="080808"/>
                  </a:solidFill>
                  <a:latin typeface="Times New Roman" pitchFamily="18" charset="0"/>
                </a:rPr>
                <a:t>平衡态的特点</a:t>
              </a:r>
            </a:p>
          </p:txBody>
        </p:sp>
      </p:grpSp>
      <p:sp>
        <p:nvSpPr>
          <p:cNvPr id="26645" name="Text Box 21"/>
          <p:cNvSpPr txBox="1">
            <a:spLocks noChangeArrowheads="1"/>
          </p:cNvSpPr>
          <p:nvPr/>
        </p:nvSpPr>
        <p:spPr bwMode="auto">
          <a:xfrm>
            <a:off x="762000" y="2132856"/>
            <a:ext cx="6840538" cy="3785652"/>
          </a:xfrm>
          <a:prstGeom prst="rect">
            <a:avLst/>
          </a:prstGeom>
          <a:noFill/>
          <a:ln w="9525">
            <a:noFill/>
            <a:miter lim="800000"/>
            <a:headEnd/>
            <a:tailEnd/>
          </a:ln>
        </p:spPr>
        <p:txBody>
          <a:bodyPr>
            <a:spAutoFit/>
          </a:bodyPr>
          <a:lstStyle/>
          <a:p>
            <a:pPr>
              <a:lnSpc>
                <a:spcPct val="150000"/>
              </a:lnSpc>
              <a:spcBef>
                <a:spcPct val="50000"/>
              </a:spcBef>
            </a:pPr>
            <a:r>
              <a:rPr kumimoji="1" lang="en-US" altLang="zh-CN" sz="3200" b="1" dirty="0">
                <a:solidFill>
                  <a:srgbClr val="CC0000"/>
                </a:solidFill>
                <a:latin typeface="宋体" pitchFamily="2" charset="-122"/>
              </a:rPr>
              <a:t>(</a:t>
            </a:r>
            <a:r>
              <a:rPr kumimoji="1" lang="en-US" altLang="zh-CN" sz="3200" b="1" dirty="0">
                <a:solidFill>
                  <a:srgbClr val="CC0000"/>
                </a:solidFill>
                <a:latin typeface="Times New Roman" pitchFamily="18" charset="0"/>
              </a:rPr>
              <a:t>1</a:t>
            </a:r>
            <a:r>
              <a:rPr kumimoji="1" lang="en-US" altLang="zh-CN" sz="3200" b="1" dirty="0">
                <a:solidFill>
                  <a:srgbClr val="CC0000"/>
                </a:solidFill>
                <a:latin typeface="宋体" pitchFamily="2" charset="-122"/>
              </a:rPr>
              <a:t>)</a:t>
            </a:r>
            <a:r>
              <a:rPr kumimoji="1" lang="zh-CN" altLang="en-US" sz="3200" b="1" dirty="0">
                <a:solidFill>
                  <a:srgbClr val="1C1C1C"/>
                </a:solidFill>
                <a:latin typeface="Times New Roman" pitchFamily="18" charset="0"/>
              </a:rPr>
              <a:t>单一性 </a:t>
            </a:r>
            <a:r>
              <a:rPr kumimoji="1" lang="en-US" altLang="zh-CN" sz="3200" b="1" dirty="0" smtClean="0">
                <a:solidFill>
                  <a:srgbClr val="1C1C1C"/>
                </a:solidFill>
                <a:latin typeface="宋体" pitchFamily="2" charset="-122"/>
              </a:rPr>
              <a:t>( </a:t>
            </a:r>
            <a:r>
              <a:rPr kumimoji="1" lang="en-US" altLang="zh-CN" sz="3200" i="1" dirty="0" smtClean="0">
                <a:solidFill>
                  <a:srgbClr val="1C1C1C"/>
                </a:solidFill>
                <a:latin typeface="Times New Roman" pitchFamily="18" charset="0"/>
              </a:rPr>
              <a:t>p</a:t>
            </a:r>
            <a:r>
              <a:rPr kumimoji="1" lang="zh-CN" altLang="en-US" sz="3200" b="1" dirty="0">
                <a:solidFill>
                  <a:srgbClr val="1C1C1C"/>
                </a:solidFill>
              </a:rPr>
              <a:t>，</a:t>
            </a:r>
            <a:r>
              <a:rPr kumimoji="1" lang="en-US" altLang="zh-CN" sz="3200" i="1" dirty="0">
                <a:solidFill>
                  <a:srgbClr val="1C1C1C"/>
                </a:solidFill>
                <a:latin typeface="Times New Roman" pitchFamily="18" charset="0"/>
              </a:rPr>
              <a:t>T</a:t>
            </a:r>
            <a:r>
              <a:rPr kumimoji="1" lang="en-US" altLang="zh-CN" sz="3200" b="1" dirty="0">
                <a:solidFill>
                  <a:srgbClr val="1C1C1C"/>
                </a:solidFill>
                <a:latin typeface="Times New Roman" pitchFamily="18" charset="0"/>
              </a:rPr>
              <a:t> </a:t>
            </a:r>
            <a:r>
              <a:rPr kumimoji="1" lang="zh-CN" altLang="en-US" sz="3200" b="1" dirty="0">
                <a:solidFill>
                  <a:srgbClr val="1C1C1C"/>
                </a:solidFill>
                <a:latin typeface="Times New Roman" pitchFamily="18" charset="0"/>
              </a:rPr>
              <a:t>处处相等</a:t>
            </a:r>
            <a:r>
              <a:rPr kumimoji="1" lang="en-US" altLang="zh-CN" sz="3200" b="1" dirty="0">
                <a:solidFill>
                  <a:srgbClr val="1C1C1C"/>
                </a:solidFill>
                <a:latin typeface="宋体" pitchFamily="2" charset="-122"/>
              </a:rPr>
              <a:t>)</a:t>
            </a:r>
            <a:r>
              <a:rPr kumimoji="1" lang="zh-CN" altLang="en-US" sz="3200" b="1" dirty="0">
                <a:solidFill>
                  <a:srgbClr val="1C1C1C"/>
                </a:solidFill>
                <a:latin typeface="宋体" pitchFamily="2" charset="-122"/>
              </a:rPr>
              <a:t>；</a:t>
            </a:r>
          </a:p>
          <a:p>
            <a:pPr>
              <a:lnSpc>
                <a:spcPct val="150000"/>
              </a:lnSpc>
              <a:spcBef>
                <a:spcPct val="50000"/>
              </a:spcBef>
            </a:pPr>
            <a:r>
              <a:rPr kumimoji="1" lang="en-US" altLang="zh-CN" sz="3200" b="1" dirty="0">
                <a:solidFill>
                  <a:srgbClr val="CC0000"/>
                </a:solidFill>
                <a:latin typeface="宋体" pitchFamily="2" charset="-122"/>
              </a:rPr>
              <a:t>(</a:t>
            </a:r>
            <a:r>
              <a:rPr kumimoji="1" lang="en-US" altLang="zh-CN" sz="3200" b="1" dirty="0">
                <a:solidFill>
                  <a:srgbClr val="CC0000"/>
                </a:solidFill>
                <a:latin typeface="Times New Roman" pitchFamily="18" charset="0"/>
              </a:rPr>
              <a:t>2</a:t>
            </a:r>
            <a:r>
              <a:rPr kumimoji="1" lang="en-US" altLang="zh-CN" sz="3200" b="1" dirty="0">
                <a:solidFill>
                  <a:srgbClr val="CC0000"/>
                </a:solidFill>
                <a:latin typeface="宋体" pitchFamily="2" charset="-122"/>
              </a:rPr>
              <a:t>)</a:t>
            </a:r>
            <a:r>
              <a:rPr kumimoji="1" lang="zh-CN" altLang="en-US" sz="3200" b="1" dirty="0">
                <a:solidFill>
                  <a:srgbClr val="000000"/>
                </a:solidFill>
                <a:latin typeface="Times New Roman" pitchFamily="18" charset="0"/>
              </a:rPr>
              <a:t>物态的</a:t>
            </a:r>
            <a:r>
              <a:rPr kumimoji="1" lang="zh-CN" altLang="en-US" sz="3200" b="1" dirty="0">
                <a:solidFill>
                  <a:srgbClr val="1C1C1C"/>
                </a:solidFill>
                <a:latin typeface="Times New Roman" pitchFamily="18" charset="0"/>
              </a:rPr>
              <a:t>稳定性</a:t>
            </a:r>
            <a:r>
              <a:rPr kumimoji="1" lang="en-US" altLang="zh-CN" sz="3200" b="1" dirty="0">
                <a:solidFill>
                  <a:srgbClr val="1C1C1C"/>
                </a:solidFill>
                <a:latin typeface="Times New Roman" pitchFamily="18" charset="0"/>
              </a:rPr>
              <a:t>—— </a:t>
            </a:r>
            <a:r>
              <a:rPr kumimoji="1" lang="zh-CN" altLang="en-US" sz="3200" b="1" dirty="0">
                <a:solidFill>
                  <a:srgbClr val="1C1C1C"/>
                </a:solidFill>
                <a:latin typeface="Times New Roman" pitchFamily="18" charset="0"/>
              </a:rPr>
              <a:t>与时间无关；</a:t>
            </a:r>
          </a:p>
          <a:p>
            <a:pPr>
              <a:lnSpc>
                <a:spcPct val="150000"/>
              </a:lnSpc>
              <a:spcBef>
                <a:spcPct val="50000"/>
              </a:spcBef>
            </a:pPr>
            <a:r>
              <a:rPr kumimoji="1" lang="en-US" altLang="zh-CN" sz="3200" b="1" dirty="0">
                <a:solidFill>
                  <a:srgbClr val="CC0000"/>
                </a:solidFill>
                <a:latin typeface="宋体" pitchFamily="2" charset="-122"/>
              </a:rPr>
              <a:t>(</a:t>
            </a:r>
            <a:r>
              <a:rPr kumimoji="1" lang="en-US" altLang="zh-CN" sz="3200" b="1" dirty="0">
                <a:solidFill>
                  <a:srgbClr val="CC0000"/>
                </a:solidFill>
                <a:latin typeface="Times New Roman" pitchFamily="18" charset="0"/>
              </a:rPr>
              <a:t>3</a:t>
            </a:r>
            <a:r>
              <a:rPr kumimoji="1" lang="en-US" altLang="zh-CN" sz="3200" b="1" dirty="0">
                <a:solidFill>
                  <a:srgbClr val="CC0000"/>
                </a:solidFill>
                <a:latin typeface="宋体" pitchFamily="2" charset="-122"/>
              </a:rPr>
              <a:t>)</a:t>
            </a:r>
            <a:r>
              <a:rPr kumimoji="1" lang="zh-CN" altLang="en-US" sz="3200" b="1" dirty="0">
                <a:solidFill>
                  <a:srgbClr val="1C1C1C"/>
                </a:solidFill>
                <a:latin typeface="Times New Roman" pitchFamily="18" charset="0"/>
              </a:rPr>
              <a:t>自发过程的终点；</a:t>
            </a:r>
          </a:p>
          <a:p>
            <a:pPr>
              <a:lnSpc>
                <a:spcPct val="150000"/>
              </a:lnSpc>
              <a:spcBef>
                <a:spcPct val="50000"/>
              </a:spcBef>
            </a:pPr>
            <a:r>
              <a:rPr kumimoji="1" lang="en-US" altLang="zh-CN" sz="3200" b="1" dirty="0">
                <a:solidFill>
                  <a:srgbClr val="CC0000"/>
                </a:solidFill>
                <a:latin typeface="宋体" pitchFamily="2" charset="-122"/>
              </a:rPr>
              <a:t>(</a:t>
            </a:r>
            <a:r>
              <a:rPr kumimoji="1" lang="en-US" altLang="zh-CN" sz="3200" b="1" dirty="0">
                <a:solidFill>
                  <a:srgbClr val="CC0000"/>
                </a:solidFill>
                <a:latin typeface="Times New Roman" pitchFamily="18" charset="0"/>
              </a:rPr>
              <a:t>4</a:t>
            </a:r>
            <a:r>
              <a:rPr kumimoji="1" lang="en-US" altLang="zh-CN" sz="3200" b="1" dirty="0">
                <a:solidFill>
                  <a:srgbClr val="CC0000"/>
                </a:solidFill>
                <a:latin typeface="宋体" pitchFamily="2" charset="-122"/>
              </a:rPr>
              <a:t>)</a:t>
            </a:r>
            <a:r>
              <a:rPr kumimoji="1" lang="zh-CN" altLang="en-US" sz="3200" b="1" dirty="0">
                <a:solidFill>
                  <a:srgbClr val="1C1C1C"/>
                </a:solidFill>
                <a:latin typeface="Times New Roman" pitchFamily="18" charset="0"/>
              </a:rPr>
              <a:t>热动平衡</a:t>
            </a:r>
            <a:r>
              <a:rPr kumimoji="1" lang="en-US" altLang="zh-CN" sz="3200" b="1" dirty="0">
                <a:solidFill>
                  <a:srgbClr val="1C1C1C"/>
                </a:solidFill>
                <a:latin typeface="宋体" pitchFamily="2" charset="-122"/>
              </a:rPr>
              <a:t>(</a:t>
            </a:r>
            <a:r>
              <a:rPr kumimoji="1" lang="zh-CN" altLang="en-US" sz="3200" b="1" dirty="0">
                <a:solidFill>
                  <a:srgbClr val="1C1C1C"/>
                </a:solidFill>
                <a:latin typeface="Times New Roman" pitchFamily="18" charset="0"/>
              </a:rPr>
              <a:t>有别于力平衡</a:t>
            </a:r>
            <a:r>
              <a:rPr kumimoji="1" lang="en-US" altLang="zh-CN" sz="3200" b="1" dirty="0">
                <a:solidFill>
                  <a:srgbClr val="1C1C1C"/>
                </a:solidFill>
                <a:latin typeface="宋体" pitchFamily="2" charset="-122"/>
              </a:rPr>
              <a:t>)</a:t>
            </a:r>
            <a:r>
              <a:rPr kumimoji="1" lang="en-US" altLang="zh-CN" sz="3200" b="1" dirty="0">
                <a:solidFill>
                  <a:srgbClr val="1C1C1C"/>
                </a:solidFill>
                <a:latin typeface="Times New Roman" pitchFamily="18" charset="0"/>
              </a:rPr>
              <a:t>.</a:t>
            </a:r>
          </a:p>
        </p:txBody>
      </p:sp>
      <p:sp>
        <p:nvSpPr>
          <p:cNvPr id="6" name="灯片编号占位符 1"/>
          <p:cNvSpPr txBox="1">
            <a:spLocks/>
          </p:cNvSpPr>
          <p:nvPr/>
        </p:nvSpPr>
        <p:spPr bwMode="auto">
          <a:xfrm>
            <a:off x="8606357" y="6584504"/>
            <a:ext cx="574155" cy="300880"/>
          </a:xfrm>
          <a:prstGeom prst="rect">
            <a:avLst/>
          </a:prstGeom>
          <a:noFill/>
          <a:ln>
            <a:miter lim="800000"/>
            <a:headEnd/>
            <a:tailEnd/>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22E3302-AC1D-47C1-A1C9-47DFDD07C79E}" type="slidenum">
              <a:rPr kumimoji="0" lang="en-US" altLang="zh-CN" sz="1400" b="0" i="0" u="none" strike="noStrike" kern="1200" cap="none" spc="0" normalizeH="0" baseline="0" noProof="0" smtClean="0">
                <a:ln>
                  <a:noFill/>
                </a:ln>
                <a:solidFill>
                  <a:schemeClr val="tx1"/>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zh-CN" sz="1400" b="0" i="0" u="none" strike="noStrike" kern="1200" cap="none" spc="0" normalizeH="0" baseline="0" noProof="0" dirty="0">
              <a:ln>
                <a:noFill/>
              </a:ln>
              <a:solidFill>
                <a:schemeClr val="tx1"/>
              </a:solidFill>
              <a:effectLst/>
              <a:uLnTx/>
              <a:uFillTx/>
              <a:latin typeface="Arial" charset="0"/>
              <a:ea typeface="宋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45"/>
                                        </p:tgtEl>
                                        <p:attrNameLst>
                                          <p:attrName>style.visibility</p:attrName>
                                        </p:attrNameLst>
                                      </p:cBhvr>
                                      <p:to>
                                        <p:strVal val="visible"/>
                                      </p:to>
                                    </p:set>
                                    <p:animEffect transition="in" filter="blinds(horizontal)">
                                      <p:cBhvr>
                                        <p:cTn id="7" dur="500"/>
                                        <p:tgtEl>
                                          <p:spTgt spid="266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45"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矩形 4"/>
          <p:cNvSpPr>
            <a:spLocks noChangeArrowheads="1"/>
          </p:cNvSpPr>
          <p:nvPr/>
        </p:nvSpPr>
        <p:spPr bwMode="auto">
          <a:xfrm>
            <a:off x="2484438" y="2133600"/>
            <a:ext cx="4103687" cy="768350"/>
          </a:xfrm>
          <a:prstGeom prst="rect">
            <a:avLst/>
          </a:prstGeom>
          <a:noFill/>
          <a:ln w="9525">
            <a:noFill/>
            <a:miter lim="800000"/>
            <a:headEnd/>
            <a:tailEnd/>
          </a:ln>
        </p:spPr>
        <p:txBody>
          <a:bodyPr>
            <a:spAutoFit/>
          </a:bodyPr>
          <a:lstStyle/>
          <a:p>
            <a:r>
              <a:rPr lang="zh-CN" altLang="en-US" sz="4400" b="1">
                <a:solidFill>
                  <a:srgbClr val="FF0000"/>
                </a:solidFill>
                <a:ea typeface="楷体_GB2312" pitchFamily="49" charset="-122"/>
              </a:rPr>
              <a:t>理想气体</a:t>
            </a:r>
            <a:r>
              <a:rPr lang="en-US" altLang="zh-CN" sz="4400" b="1">
                <a:solidFill>
                  <a:srgbClr val="FF0000"/>
                </a:solidFill>
                <a:ea typeface="楷体_GB2312" pitchFamily="49" charset="-122"/>
              </a:rPr>
              <a:t>?</a:t>
            </a:r>
            <a:endParaRPr lang="zh-CN" altLang="en-US" sz="4400">
              <a:solidFill>
                <a:srgbClr val="FF0000"/>
              </a:solidFill>
            </a:endParaRPr>
          </a:p>
        </p:txBody>
      </p:sp>
      <p:sp>
        <p:nvSpPr>
          <p:cNvPr id="29700" name="矩形 5"/>
          <p:cNvSpPr>
            <a:spLocks noChangeArrowheads="1"/>
          </p:cNvSpPr>
          <p:nvPr/>
        </p:nvSpPr>
        <p:spPr bwMode="auto">
          <a:xfrm>
            <a:off x="2484438" y="3644900"/>
            <a:ext cx="2792412" cy="769938"/>
          </a:xfrm>
          <a:prstGeom prst="rect">
            <a:avLst/>
          </a:prstGeom>
          <a:noFill/>
          <a:ln w="9525">
            <a:noFill/>
            <a:miter lim="800000"/>
            <a:headEnd/>
            <a:tailEnd/>
          </a:ln>
        </p:spPr>
        <p:txBody>
          <a:bodyPr wrap="none">
            <a:spAutoFit/>
          </a:bodyPr>
          <a:lstStyle/>
          <a:p>
            <a:r>
              <a:rPr lang="zh-CN" altLang="en-US" sz="4400" b="1">
                <a:solidFill>
                  <a:srgbClr val="FF0000"/>
                </a:solidFill>
                <a:ea typeface="楷体_GB2312" pitchFamily="49" charset="-122"/>
              </a:rPr>
              <a:t>状态方程</a:t>
            </a:r>
            <a:r>
              <a:rPr lang="en-US" altLang="zh-CN" sz="4400" b="1">
                <a:solidFill>
                  <a:srgbClr val="FF0000"/>
                </a:solidFill>
                <a:ea typeface="楷体_GB2312" pitchFamily="49" charset="-122"/>
              </a:rPr>
              <a:t>?</a:t>
            </a:r>
            <a:endParaRPr lang="zh-CN" altLang="en-US">
              <a:solidFill>
                <a:srgbClr val="FF0000"/>
              </a:solidFill>
            </a:endParaRPr>
          </a:p>
        </p:txBody>
      </p:sp>
      <p:sp>
        <p:nvSpPr>
          <p:cNvPr id="4" name="灯片编号占位符 1"/>
          <p:cNvSpPr txBox="1">
            <a:spLocks/>
          </p:cNvSpPr>
          <p:nvPr/>
        </p:nvSpPr>
        <p:spPr bwMode="auto">
          <a:xfrm>
            <a:off x="8606357" y="6584504"/>
            <a:ext cx="574155" cy="300880"/>
          </a:xfrm>
          <a:prstGeom prst="rect">
            <a:avLst/>
          </a:prstGeom>
          <a:noFill/>
          <a:ln>
            <a:miter lim="800000"/>
            <a:headEnd/>
            <a:tailEnd/>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22E3302-AC1D-47C1-A1C9-47DFDD07C79E}" type="slidenum">
              <a:rPr kumimoji="0" lang="en-US" altLang="zh-CN" sz="1400" b="0" i="0" u="none" strike="noStrike" kern="1200" cap="none" spc="0" normalizeH="0" baseline="0" noProof="0" smtClean="0">
                <a:ln>
                  <a:noFill/>
                </a:ln>
                <a:solidFill>
                  <a:schemeClr val="tx1"/>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zh-CN" sz="1400" b="0" i="0" u="none" strike="noStrike" kern="1200" cap="none" spc="0" normalizeH="0" baseline="0" noProof="0" dirty="0">
              <a:ln>
                <a:noFill/>
              </a:ln>
              <a:solidFill>
                <a:schemeClr val="tx1"/>
              </a:solidFill>
              <a:effectLst/>
              <a:uLnTx/>
              <a:uFillTx/>
              <a:latin typeface="Arial" charset="0"/>
              <a:ea typeface="宋体" pitchFamily="2" charset="-122"/>
              <a:cs typeface="+mn-cs"/>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Box 1"/>
          <p:cNvSpPr txBox="1">
            <a:spLocks noChangeArrowheads="1"/>
          </p:cNvSpPr>
          <p:nvPr/>
        </p:nvSpPr>
        <p:spPr bwMode="auto">
          <a:xfrm>
            <a:off x="395536" y="539973"/>
            <a:ext cx="6480720" cy="646112"/>
          </a:xfrm>
          <a:prstGeom prst="rect">
            <a:avLst/>
          </a:prstGeom>
          <a:noFill/>
          <a:ln w="9525">
            <a:noFill/>
            <a:miter lim="800000"/>
            <a:headEnd/>
            <a:tailEnd/>
          </a:ln>
        </p:spPr>
        <p:txBody>
          <a:bodyPr wrap="square">
            <a:spAutoFit/>
          </a:bodyPr>
          <a:lstStyle/>
          <a:p>
            <a:r>
              <a:rPr lang="zh-CN" altLang="en-US" sz="3600" b="1" dirty="0">
                <a:solidFill>
                  <a:srgbClr val="0000CC"/>
                </a:solidFill>
              </a:rPr>
              <a:t>理想气体是这样</a:t>
            </a:r>
            <a:r>
              <a:rPr lang="zh-CN" altLang="en-US" sz="3600" b="1" dirty="0" smtClean="0">
                <a:solidFill>
                  <a:srgbClr val="0000CC"/>
                </a:solidFill>
              </a:rPr>
              <a:t>的</a:t>
            </a:r>
            <a:r>
              <a:rPr lang="en-US" altLang="zh-CN" sz="3600" b="1" dirty="0" smtClean="0">
                <a:solidFill>
                  <a:srgbClr val="0000CC"/>
                </a:solidFill>
              </a:rPr>
              <a:t>:</a:t>
            </a:r>
            <a:endParaRPr lang="zh-CN" altLang="en-US" sz="3600" b="1" dirty="0">
              <a:solidFill>
                <a:srgbClr val="0000CC"/>
              </a:solidFill>
            </a:endParaRPr>
          </a:p>
        </p:txBody>
      </p:sp>
      <p:sp>
        <p:nvSpPr>
          <p:cNvPr id="7172" name="TextBox 2"/>
          <p:cNvSpPr txBox="1">
            <a:spLocks noChangeArrowheads="1"/>
          </p:cNvSpPr>
          <p:nvPr/>
        </p:nvSpPr>
        <p:spPr bwMode="auto">
          <a:xfrm>
            <a:off x="812169" y="1404069"/>
            <a:ext cx="8148951" cy="3786188"/>
          </a:xfrm>
          <a:prstGeom prst="rect">
            <a:avLst/>
          </a:prstGeom>
          <a:noFill/>
          <a:ln w="9525">
            <a:noFill/>
            <a:miter lim="800000"/>
            <a:headEnd/>
            <a:tailEnd/>
          </a:ln>
        </p:spPr>
        <p:txBody>
          <a:bodyPr wrap="square">
            <a:spAutoFit/>
          </a:bodyPr>
          <a:lstStyle/>
          <a:p>
            <a:pPr>
              <a:lnSpc>
                <a:spcPct val="150000"/>
              </a:lnSpc>
            </a:pPr>
            <a:r>
              <a:rPr lang="zh-CN" altLang="en-US" sz="3200" b="1" dirty="0" smtClean="0">
                <a:solidFill>
                  <a:srgbClr val="C00000"/>
                </a:solidFill>
              </a:rPr>
              <a:t>       把</a:t>
            </a:r>
            <a:r>
              <a:rPr lang="zh-CN" altLang="en-US" sz="3200" b="1" dirty="0">
                <a:solidFill>
                  <a:srgbClr val="C00000"/>
                </a:solidFill>
              </a:rPr>
              <a:t>理想气体分子看做一个个独立的小球，</a:t>
            </a:r>
            <a:endParaRPr lang="en-US" altLang="zh-CN" sz="3200" b="1" dirty="0">
              <a:solidFill>
                <a:srgbClr val="C00000"/>
              </a:solidFill>
            </a:endParaRPr>
          </a:p>
          <a:p>
            <a:pPr>
              <a:lnSpc>
                <a:spcPct val="150000"/>
              </a:lnSpc>
            </a:pPr>
            <a:r>
              <a:rPr lang="zh-CN" altLang="en-US" sz="3200" b="1" dirty="0" smtClean="0">
                <a:solidFill>
                  <a:srgbClr val="C00000"/>
                </a:solidFill>
              </a:rPr>
              <a:t>相</a:t>
            </a:r>
            <a:r>
              <a:rPr lang="zh-CN" altLang="en-US" sz="3200" b="1" dirty="0">
                <a:solidFill>
                  <a:srgbClr val="C00000"/>
                </a:solidFill>
              </a:rPr>
              <a:t>互之间没有作用力，每个分子都自由地运动着。</a:t>
            </a:r>
            <a:endParaRPr lang="en-US" altLang="zh-CN" sz="3200" b="1" dirty="0">
              <a:solidFill>
                <a:srgbClr val="C00000"/>
              </a:solidFill>
            </a:endParaRPr>
          </a:p>
          <a:p>
            <a:pPr>
              <a:lnSpc>
                <a:spcPct val="150000"/>
              </a:lnSpc>
            </a:pPr>
            <a:r>
              <a:rPr lang="zh-CN" altLang="en-US" sz="3200" b="1" dirty="0" smtClean="0">
                <a:solidFill>
                  <a:srgbClr val="C00000"/>
                </a:solidFill>
              </a:rPr>
              <a:t>        这</a:t>
            </a:r>
            <a:r>
              <a:rPr lang="zh-CN" altLang="en-US" sz="3200" b="1" dirty="0">
                <a:solidFill>
                  <a:srgbClr val="C00000"/>
                </a:solidFill>
              </a:rPr>
              <a:t>个系统总的能量是所有小球的动能之和（没有势能）。</a:t>
            </a:r>
          </a:p>
        </p:txBody>
      </p:sp>
      <p:sp>
        <p:nvSpPr>
          <p:cNvPr id="5" name="TextBox 4"/>
          <p:cNvSpPr txBox="1">
            <a:spLocks noChangeArrowheads="1"/>
          </p:cNvSpPr>
          <p:nvPr/>
        </p:nvSpPr>
        <p:spPr bwMode="auto">
          <a:xfrm>
            <a:off x="1672273" y="5323552"/>
            <a:ext cx="6776214" cy="830997"/>
          </a:xfrm>
          <a:prstGeom prst="rect">
            <a:avLst/>
          </a:prstGeom>
          <a:noFill/>
          <a:ln w="9525">
            <a:noFill/>
            <a:miter lim="800000"/>
            <a:headEnd/>
            <a:tailEnd/>
          </a:ln>
        </p:spPr>
        <p:txBody>
          <a:bodyPr wrap="square">
            <a:spAutoFit/>
          </a:bodyPr>
          <a:lstStyle/>
          <a:p>
            <a:pPr>
              <a:lnSpc>
                <a:spcPct val="150000"/>
              </a:lnSpc>
            </a:pPr>
            <a:r>
              <a:rPr lang="zh-CN" altLang="en-US" sz="3200" b="1" dirty="0">
                <a:solidFill>
                  <a:srgbClr val="C00000"/>
                </a:solidFill>
              </a:rPr>
              <a:t>满足阿伏伽德罗定律和三个实验定律</a:t>
            </a:r>
          </a:p>
        </p:txBody>
      </p:sp>
      <p:sp>
        <p:nvSpPr>
          <p:cNvPr id="6" name="灯片编号占位符 1"/>
          <p:cNvSpPr txBox="1">
            <a:spLocks/>
          </p:cNvSpPr>
          <p:nvPr/>
        </p:nvSpPr>
        <p:spPr bwMode="auto">
          <a:xfrm>
            <a:off x="8606357" y="6584504"/>
            <a:ext cx="574155" cy="300880"/>
          </a:xfrm>
          <a:prstGeom prst="rect">
            <a:avLst/>
          </a:prstGeom>
          <a:noFill/>
          <a:ln>
            <a:miter lim="800000"/>
            <a:headEnd/>
            <a:tailEnd/>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22E3302-AC1D-47C1-A1C9-47DFDD07C79E}" type="slidenum">
              <a:rPr kumimoji="0" lang="en-US" altLang="zh-CN" sz="1400" b="0" i="0" u="none" strike="noStrike" kern="1200" cap="none" spc="0" normalizeH="0" baseline="0" noProof="0" smtClean="0">
                <a:ln>
                  <a:noFill/>
                </a:ln>
                <a:solidFill>
                  <a:schemeClr val="tx1"/>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zh-CN" sz="1400" b="0" i="0" u="none" strike="noStrike" kern="1200" cap="none" spc="0" normalizeH="0" baseline="0" noProof="0" dirty="0">
              <a:ln>
                <a:noFill/>
              </a:ln>
              <a:solidFill>
                <a:schemeClr val="tx1"/>
              </a:solidFill>
              <a:effectLst/>
              <a:uLnTx/>
              <a:uFillTx/>
              <a:latin typeface="Arial" charset="0"/>
              <a:ea typeface="宋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20" name="Text Box 28"/>
          <p:cNvSpPr txBox="1">
            <a:spLocks noChangeArrowheads="1"/>
          </p:cNvSpPr>
          <p:nvPr/>
        </p:nvSpPr>
        <p:spPr bwMode="auto">
          <a:xfrm>
            <a:off x="539552" y="2996952"/>
            <a:ext cx="8424862" cy="579437"/>
          </a:xfrm>
          <a:prstGeom prst="rect">
            <a:avLst/>
          </a:prstGeom>
          <a:noFill/>
          <a:ln w="9525">
            <a:noFill/>
            <a:miter lim="800000"/>
            <a:headEnd/>
            <a:tailEnd/>
          </a:ln>
        </p:spPr>
        <p:txBody>
          <a:bodyPr>
            <a:spAutoFit/>
          </a:bodyPr>
          <a:lstStyle/>
          <a:p>
            <a:r>
              <a:rPr lang="zh-CN" altLang="en-US" sz="3200" b="1" dirty="0" smtClean="0"/>
              <a:t>     系</a:t>
            </a:r>
            <a:r>
              <a:rPr lang="zh-CN" altLang="en-US" sz="3200" b="1" dirty="0"/>
              <a:t>统总质</a:t>
            </a:r>
            <a:r>
              <a:rPr lang="zh-CN" altLang="en-US" sz="3200" b="1" dirty="0" smtClean="0"/>
              <a:t>量，   </a:t>
            </a:r>
            <a:r>
              <a:rPr lang="zh-CN" altLang="en-US" sz="3200" b="1" dirty="0"/>
              <a:t>摩尔质量，  物质的</a:t>
            </a:r>
            <a:r>
              <a:rPr lang="zh-CN" altLang="en-US" sz="3200" b="1" dirty="0" smtClean="0"/>
              <a:t>量</a:t>
            </a:r>
            <a:r>
              <a:rPr lang="en-US" altLang="zh-CN" sz="3200" b="1" dirty="0" smtClean="0"/>
              <a:t>.</a:t>
            </a:r>
            <a:endParaRPr lang="zh-CN" altLang="en-US" sz="3200" b="1" dirty="0"/>
          </a:p>
        </p:txBody>
      </p:sp>
      <p:graphicFrame>
        <p:nvGraphicFramePr>
          <p:cNvPr id="8198" name="Object 11"/>
          <p:cNvGraphicFramePr>
            <a:graphicFrameLocks noChangeAspect="1"/>
          </p:cNvGraphicFramePr>
          <p:nvPr/>
        </p:nvGraphicFramePr>
        <p:xfrm>
          <a:off x="1547664" y="1340768"/>
          <a:ext cx="3805238" cy="1144587"/>
        </p:xfrm>
        <a:graphic>
          <a:graphicData uri="http://schemas.openxmlformats.org/presentationml/2006/ole">
            <p:oleObj spid="_x0000_s8198" name="Equation" r:id="rId3" imgW="1269720" imgH="393480" progId="Equation.DSMT4">
              <p:embed/>
            </p:oleObj>
          </a:graphicData>
        </a:graphic>
      </p:graphicFrame>
      <p:graphicFrame>
        <p:nvGraphicFramePr>
          <p:cNvPr id="33811" name="Object 19"/>
          <p:cNvGraphicFramePr>
            <a:graphicFrameLocks noGrp="1" noChangeAspect="1"/>
          </p:cNvGraphicFramePr>
          <p:nvPr>
            <p:ph sz="half" idx="4294967295"/>
          </p:nvPr>
        </p:nvGraphicFramePr>
        <p:xfrm>
          <a:off x="647998" y="2962808"/>
          <a:ext cx="575990" cy="647725"/>
        </p:xfrm>
        <a:graphic>
          <a:graphicData uri="http://schemas.openxmlformats.org/presentationml/2006/ole">
            <p:oleObj spid="_x0000_s8194" name="公式" r:id="rId4" imgW="203040" imgH="228600" progId="Equation.DSMT4">
              <p:embed/>
            </p:oleObj>
          </a:graphicData>
        </a:graphic>
      </p:graphicFrame>
      <p:graphicFrame>
        <p:nvGraphicFramePr>
          <p:cNvPr id="33813" name="Object 21"/>
          <p:cNvGraphicFramePr>
            <a:graphicFrameLocks noGrp="1" noChangeAspect="1"/>
          </p:cNvGraphicFramePr>
          <p:nvPr>
            <p:ph sz="quarter" idx="4294967295"/>
          </p:nvPr>
        </p:nvGraphicFramePr>
        <p:xfrm>
          <a:off x="5832574" y="3073151"/>
          <a:ext cx="388938" cy="427038"/>
        </p:xfrm>
        <a:graphic>
          <a:graphicData uri="http://schemas.openxmlformats.org/presentationml/2006/ole">
            <p:oleObj spid="_x0000_s8195" name="公式" r:id="rId5" imgW="126720" imgH="139680" progId="Equation.3">
              <p:embed/>
            </p:oleObj>
          </a:graphicData>
        </a:graphic>
      </p:graphicFrame>
      <p:graphicFrame>
        <p:nvGraphicFramePr>
          <p:cNvPr id="33816" name="Object 24"/>
          <p:cNvGraphicFramePr>
            <a:graphicFrameLocks noGrp="1" noChangeAspect="1"/>
          </p:cNvGraphicFramePr>
          <p:nvPr>
            <p:ph sz="quarter" idx="4294967295"/>
          </p:nvPr>
        </p:nvGraphicFramePr>
        <p:xfrm>
          <a:off x="3487861" y="3066008"/>
          <a:ext cx="544513" cy="441325"/>
        </p:xfrm>
        <a:graphic>
          <a:graphicData uri="http://schemas.openxmlformats.org/presentationml/2006/ole">
            <p:oleObj spid="_x0000_s8196" name="公式" r:id="rId6" imgW="203040" imgH="164880" progId="Equation.3">
              <p:embed/>
            </p:oleObj>
          </a:graphicData>
        </a:graphic>
      </p:graphicFrame>
      <p:grpSp>
        <p:nvGrpSpPr>
          <p:cNvPr id="3" name="Group 18"/>
          <p:cNvGrpSpPr>
            <a:grpSpLocks/>
          </p:cNvGrpSpPr>
          <p:nvPr/>
        </p:nvGrpSpPr>
        <p:grpSpPr bwMode="auto">
          <a:xfrm>
            <a:off x="755650" y="3935415"/>
            <a:ext cx="6297614" cy="579438"/>
            <a:chOff x="612" y="1482"/>
            <a:chExt cx="3967" cy="365"/>
          </a:xfrm>
        </p:grpSpPr>
        <p:graphicFrame>
          <p:nvGraphicFramePr>
            <p:cNvPr id="8197" name="Object 5"/>
            <p:cNvGraphicFramePr>
              <a:graphicFrameLocks noChangeAspect="1"/>
            </p:cNvGraphicFramePr>
            <p:nvPr/>
          </p:nvGraphicFramePr>
          <p:xfrm>
            <a:off x="2314" y="1508"/>
            <a:ext cx="2265" cy="335"/>
          </p:xfrm>
          <a:graphic>
            <a:graphicData uri="http://schemas.openxmlformats.org/presentationml/2006/ole">
              <p:oleObj spid="_x0000_s8197" name="公式" r:id="rId7" imgW="1371600" imgH="203040" progId="Equation.DSMT4">
                <p:embed/>
              </p:oleObj>
            </a:graphicData>
          </a:graphic>
        </p:graphicFrame>
        <p:sp>
          <p:nvSpPr>
            <p:cNvPr id="8203" name="Text Box 6"/>
            <p:cNvSpPr txBox="1">
              <a:spLocks noChangeArrowheads="1"/>
            </p:cNvSpPr>
            <p:nvPr/>
          </p:nvSpPr>
          <p:spPr bwMode="auto">
            <a:xfrm>
              <a:off x="612" y="1482"/>
              <a:ext cx="1769" cy="365"/>
            </a:xfrm>
            <a:prstGeom prst="rect">
              <a:avLst/>
            </a:prstGeom>
            <a:noFill/>
            <a:ln w="9525">
              <a:noFill/>
              <a:miter lim="800000"/>
              <a:headEnd/>
              <a:tailEnd/>
            </a:ln>
          </p:spPr>
          <p:txBody>
            <a:bodyPr>
              <a:spAutoFit/>
            </a:bodyPr>
            <a:lstStyle/>
            <a:p>
              <a:pPr>
                <a:spcBef>
                  <a:spcPct val="50000"/>
                </a:spcBef>
              </a:pPr>
              <a:r>
                <a:rPr kumimoji="1" lang="zh-CN" altLang="en-US" sz="3200" b="1">
                  <a:solidFill>
                    <a:srgbClr val="080808"/>
                  </a:solidFill>
                  <a:latin typeface="Times New Roman" pitchFamily="18" charset="0"/>
                </a:rPr>
                <a:t>摩尔气体常量</a:t>
              </a:r>
              <a:endParaRPr kumimoji="1" lang="zh-CN" altLang="en-US" sz="3200" b="1">
                <a:solidFill>
                  <a:srgbClr val="000000"/>
                </a:solidFill>
                <a:latin typeface="Times New Roman" pitchFamily="18" charset="0"/>
              </a:endParaRPr>
            </a:p>
          </p:txBody>
        </p:sp>
      </p:grpSp>
      <p:sp>
        <p:nvSpPr>
          <p:cNvPr id="13" name="Text Box 2"/>
          <p:cNvSpPr txBox="1">
            <a:spLocks noChangeArrowheads="1"/>
          </p:cNvSpPr>
          <p:nvPr/>
        </p:nvSpPr>
        <p:spPr bwMode="auto">
          <a:xfrm>
            <a:off x="323528" y="332656"/>
            <a:ext cx="7058744" cy="646331"/>
          </a:xfrm>
          <a:prstGeom prst="rect">
            <a:avLst/>
          </a:prstGeom>
          <a:noFill/>
          <a:ln w="9525">
            <a:noFill/>
            <a:miter lim="800000"/>
            <a:headEnd/>
            <a:tailEnd/>
          </a:ln>
        </p:spPr>
        <p:txBody>
          <a:bodyPr wrap="square">
            <a:spAutoFit/>
          </a:bodyPr>
          <a:lstStyle/>
          <a:p>
            <a:pPr>
              <a:spcBef>
                <a:spcPct val="50000"/>
              </a:spcBef>
            </a:pPr>
            <a:r>
              <a:rPr kumimoji="1" lang="zh-CN" altLang="en-US" sz="3600" b="1" dirty="0" smtClean="0">
                <a:solidFill>
                  <a:srgbClr val="CC0000"/>
                </a:solidFill>
                <a:latin typeface="Times New Roman" pitchFamily="18" charset="0"/>
              </a:rPr>
              <a:t>四、理</a:t>
            </a:r>
            <a:r>
              <a:rPr kumimoji="1" lang="zh-CN" altLang="en-US" sz="3600" b="1" dirty="0">
                <a:solidFill>
                  <a:srgbClr val="CC0000"/>
                </a:solidFill>
                <a:latin typeface="Times New Roman" pitchFamily="18" charset="0"/>
              </a:rPr>
              <a:t>想气体状态方程</a:t>
            </a:r>
          </a:p>
        </p:txBody>
      </p:sp>
      <p:sp>
        <p:nvSpPr>
          <p:cNvPr id="14" name="灯片编号占位符 1"/>
          <p:cNvSpPr txBox="1">
            <a:spLocks/>
          </p:cNvSpPr>
          <p:nvPr/>
        </p:nvSpPr>
        <p:spPr bwMode="auto">
          <a:xfrm>
            <a:off x="8606357" y="6584504"/>
            <a:ext cx="574155" cy="300880"/>
          </a:xfrm>
          <a:prstGeom prst="rect">
            <a:avLst/>
          </a:prstGeom>
          <a:noFill/>
          <a:ln>
            <a:miter lim="800000"/>
            <a:headEnd/>
            <a:tailEnd/>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22E3302-AC1D-47C1-A1C9-47DFDD07C79E}" type="slidenum">
              <a:rPr kumimoji="0" lang="en-US" altLang="zh-CN" sz="1400" b="0" i="0" u="none" strike="noStrike" kern="1200" cap="none" spc="0" normalizeH="0" baseline="0" noProof="0" smtClean="0">
                <a:ln>
                  <a:noFill/>
                </a:ln>
                <a:solidFill>
                  <a:schemeClr val="tx1"/>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zh-CN" sz="1400" b="0" i="0" u="none" strike="noStrike" kern="1200" cap="none" spc="0" normalizeH="0" baseline="0" noProof="0" dirty="0">
              <a:ln>
                <a:noFill/>
              </a:ln>
              <a:solidFill>
                <a:schemeClr val="tx1"/>
              </a:solidFill>
              <a:effectLst/>
              <a:uLnTx/>
              <a:uFillTx/>
              <a:latin typeface="Arial" charset="0"/>
              <a:ea typeface="宋体" pitchFamily="2" charset="-122"/>
              <a:cs typeface="+mn-cs"/>
            </a:endParaRPr>
          </a:p>
        </p:txBody>
      </p:sp>
      <p:grpSp>
        <p:nvGrpSpPr>
          <p:cNvPr id="15" name="Group 18"/>
          <p:cNvGrpSpPr>
            <a:grpSpLocks/>
          </p:cNvGrpSpPr>
          <p:nvPr/>
        </p:nvGrpSpPr>
        <p:grpSpPr bwMode="auto">
          <a:xfrm>
            <a:off x="755576" y="5057922"/>
            <a:ext cx="6561140" cy="1395414"/>
            <a:chOff x="612" y="1482"/>
            <a:chExt cx="4133" cy="879"/>
          </a:xfrm>
        </p:grpSpPr>
        <p:graphicFrame>
          <p:nvGraphicFramePr>
            <p:cNvPr id="16" name="Object 5"/>
            <p:cNvGraphicFramePr>
              <a:graphicFrameLocks noChangeAspect="1"/>
            </p:cNvGraphicFramePr>
            <p:nvPr/>
          </p:nvGraphicFramePr>
          <p:xfrm>
            <a:off x="1829" y="2026"/>
            <a:ext cx="2916" cy="335"/>
          </p:xfrm>
          <a:graphic>
            <a:graphicData uri="http://schemas.openxmlformats.org/presentationml/2006/ole">
              <p:oleObj spid="_x0000_s8199" name="公式" r:id="rId8" imgW="1765080" imgH="203040" progId="Equation.DSMT4">
                <p:embed/>
              </p:oleObj>
            </a:graphicData>
          </a:graphic>
        </p:graphicFrame>
        <p:sp>
          <p:nvSpPr>
            <p:cNvPr id="17" name="Text Box 6"/>
            <p:cNvSpPr txBox="1">
              <a:spLocks noChangeArrowheads="1"/>
            </p:cNvSpPr>
            <p:nvPr/>
          </p:nvSpPr>
          <p:spPr bwMode="auto">
            <a:xfrm>
              <a:off x="612" y="1482"/>
              <a:ext cx="3810" cy="365"/>
            </a:xfrm>
            <a:prstGeom prst="rect">
              <a:avLst/>
            </a:prstGeom>
            <a:noFill/>
            <a:ln w="9525">
              <a:noFill/>
              <a:miter lim="800000"/>
              <a:headEnd/>
              <a:tailEnd/>
            </a:ln>
          </p:spPr>
          <p:txBody>
            <a:bodyPr wrap="square">
              <a:spAutoFit/>
            </a:bodyPr>
            <a:lstStyle/>
            <a:p>
              <a:pPr>
                <a:spcBef>
                  <a:spcPct val="50000"/>
                </a:spcBef>
              </a:pPr>
              <a:r>
                <a:rPr kumimoji="1" lang="zh-CN" altLang="en-US" sz="3200" b="1" dirty="0" smtClean="0">
                  <a:solidFill>
                    <a:srgbClr val="0000FF"/>
                  </a:solidFill>
                  <a:latin typeface="Times New Roman" pitchFamily="18" charset="0"/>
                </a:rPr>
                <a:t>若</a:t>
              </a:r>
              <a:r>
                <a:rPr kumimoji="1" lang="zh-CN" altLang="en-US" sz="3200" b="1" dirty="0" smtClean="0">
                  <a:solidFill>
                    <a:srgbClr val="080808"/>
                  </a:solidFill>
                  <a:latin typeface="Times New Roman" pitchFamily="18" charset="0"/>
                </a:rPr>
                <a:t>压强单位</a:t>
              </a:r>
              <a:r>
                <a:rPr kumimoji="1" lang="en-US" altLang="zh-CN" sz="3200" b="1" dirty="0" err="1" smtClean="0">
                  <a:solidFill>
                    <a:srgbClr val="080808"/>
                  </a:solidFill>
                  <a:latin typeface="Times New Roman" pitchFamily="18" charset="0"/>
                </a:rPr>
                <a:t>atm</a:t>
              </a:r>
              <a:r>
                <a:rPr kumimoji="1" lang="zh-CN" altLang="en-US" sz="3200" b="1" dirty="0" smtClean="0">
                  <a:solidFill>
                    <a:srgbClr val="080808"/>
                  </a:solidFill>
                  <a:latin typeface="Times New Roman" pitchFamily="18" charset="0"/>
                </a:rPr>
                <a:t>，体积单位</a:t>
              </a:r>
              <a:r>
                <a:rPr kumimoji="1" lang="en-US" altLang="zh-CN" sz="3200" b="1" dirty="0" smtClean="0">
                  <a:solidFill>
                    <a:srgbClr val="080808"/>
                  </a:solidFill>
                  <a:latin typeface="Times New Roman" pitchFamily="18" charset="0"/>
                </a:rPr>
                <a:t>L</a:t>
              </a:r>
              <a:endParaRPr kumimoji="1" lang="zh-CN" altLang="en-US" sz="3200" b="1" dirty="0">
                <a:solidFill>
                  <a:srgbClr val="000000"/>
                </a:solidFill>
                <a:latin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811"/>
                                        </p:tgtEl>
                                        <p:attrNameLst>
                                          <p:attrName>style.visibility</p:attrName>
                                        </p:attrNameLst>
                                      </p:cBhvr>
                                      <p:to>
                                        <p:strVal val="visible"/>
                                      </p:to>
                                    </p:set>
                                    <p:animEffect transition="in" filter="blinds(horizontal)">
                                      <p:cBhvr>
                                        <p:cTn id="7" dur="500"/>
                                        <p:tgtEl>
                                          <p:spTgt spid="33811"/>
                                        </p:tgtEl>
                                      </p:cBhvr>
                                    </p:animEffect>
                                  </p:childTnLst>
                                </p:cTn>
                              </p:par>
                              <p:par>
                                <p:cTn id="8" presetID="3" presetClass="entr" presetSubtype="10" fill="hold" nodeType="withEffect">
                                  <p:stCondLst>
                                    <p:cond delay="0"/>
                                  </p:stCondLst>
                                  <p:childTnLst>
                                    <p:set>
                                      <p:cBhvr>
                                        <p:cTn id="9" dur="1" fill="hold">
                                          <p:stCondLst>
                                            <p:cond delay="0"/>
                                          </p:stCondLst>
                                        </p:cTn>
                                        <p:tgtEl>
                                          <p:spTgt spid="33813"/>
                                        </p:tgtEl>
                                        <p:attrNameLst>
                                          <p:attrName>style.visibility</p:attrName>
                                        </p:attrNameLst>
                                      </p:cBhvr>
                                      <p:to>
                                        <p:strVal val="visible"/>
                                      </p:to>
                                    </p:set>
                                    <p:animEffect transition="in" filter="blinds(horizontal)">
                                      <p:cBhvr>
                                        <p:cTn id="10" dur="500"/>
                                        <p:tgtEl>
                                          <p:spTgt spid="33813"/>
                                        </p:tgtEl>
                                      </p:cBhvr>
                                    </p:animEffect>
                                  </p:childTnLst>
                                </p:cTn>
                              </p:par>
                              <p:par>
                                <p:cTn id="11" presetID="3" presetClass="entr" presetSubtype="10" fill="hold" nodeType="withEffect">
                                  <p:stCondLst>
                                    <p:cond delay="0"/>
                                  </p:stCondLst>
                                  <p:childTnLst>
                                    <p:set>
                                      <p:cBhvr>
                                        <p:cTn id="12" dur="1" fill="hold">
                                          <p:stCondLst>
                                            <p:cond delay="0"/>
                                          </p:stCondLst>
                                        </p:cTn>
                                        <p:tgtEl>
                                          <p:spTgt spid="33816"/>
                                        </p:tgtEl>
                                        <p:attrNameLst>
                                          <p:attrName>style.visibility</p:attrName>
                                        </p:attrNameLst>
                                      </p:cBhvr>
                                      <p:to>
                                        <p:strVal val="visible"/>
                                      </p:to>
                                    </p:set>
                                    <p:animEffect transition="in" filter="blinds(horizontal)">
                                      <p:cBhvr>
                                        <p:cTn id="13" dur="500"/>
                                        <p:tgtEl>
                                          <p:spTgt spid="33816"/>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33820"/>
                                        </p:tgtEl>
                                        <p:attrNameLst>
                                          <p:attrName>style.visibility</p:attrName>
                                        </p:attrNameLst>
                                      </p:cBhvr>
                                      <p:to>
                                        <p:strVal val="visible"/>
                                      </p:to>
                                    </p:set>
                                    <p:animEffect transition="in" filter="blinds(horizontal)">
                                      <p:cBhvr>
                                        <p:cTn id="16" dur="500"/>
                                        <p:tgtEl>
                                          <p:spTgt spid="33820"/>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blinds(horizontal)">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blinds(horizontal)">
                                      <p:cBhvr>
                                        <p:cTn id="2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2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a:spLocks/>
          </p:cNvSpPr>
          <p:nvPr/>
        </p:nvSpPr>
        <p:spPr>
          <a:xfrm>
            <a:off x="720725" y="354013"/>
            <a:ext cx="7772400" cy="626715"/>
          </a:xfrm>
          <a:prstGeom prst="rect">
            <a:avLst/>
          </a:prstGeom>
        </p:spPr>
        <p:txBody>
          <a:bodyPr/>
          <a:lstStyle/>
          <a:p>
            <a:pPr algn="ctr" eaLnBrk="0" hangingPunct="0">
              <a:defRPr/>
            </a:pPr>
            <a:r>
              <a:rPr lang="en-US" altLang="zh-CN" sz="3600" b="1" kern="0" dirty="0" smtClean="0">
                <a:latin typeface="+mj-lt"/>
                <a:ea typeface="+mj-ea"/>
                <a:cs typeface="+mj-cs"/>
              </a:rPr>
              <a:t>5-2 </a:t>
            </a:r>
            <a:r>
              <a:rPr lang="zh-CN" altLang="en-US" sz="3600" b="1" kern="0" dirty="0" smtClean="0">
                <a:latin typeface="+mj-lt"/>
                <a:ea typeface="+mj-ea"/>
                <a:cs typeface="+mj-cs"/>
              </a:rPr>
              <a:t>理</a:t>
            </a:r>
            <a:r>
              <a:rPr lang="zh-CN" altLang="en-US" sz="3600" b="1" kern="0" dirty="0">
                <a:latin typeface="+mj-lt"/>
                <a:ea typeface="+mj-ea"/>
                <a:cs typeface="+mj-cs"/>
              </a:rPr>
              <a:t>想气体的压强与温度</a:t>
            </a:r>
          </a:p>
        </p:txBody>
      </p:sp>
      <p:sp>
        <p:nvSpPr>
          <p:cNvPr id="13" name="TextBox 12"/>
          <p:cNvSpPr txBox="1">
            <a:spLocks noChangeArrowheads="1"/>
          </p:cNvSpPr>
          <p:nvPr/>
        </p:nvSpPr>
        <p:spPr bwMode="auto">
          <a:xfrm>
            <a:off x="395536" y="1678156"/>
            <a:ext cx="8496944" cy="3046988"/>
          </a:xfrm>
          <a:prstGeom prst="rect">
            <a:avLst/>
          </a:prstGeom>
          <a:noFill/>
          <a:ln w="9525">
            <a:noFill/>
            <a:miter lim="800000"/>
            <a:headEnd/>
            <a:tailEnd/>
          </a:ln>
        </p:spPr>
        <p:txBody>
          <a:bodyPr wrap="square">
            <a:spAutoFit/>
          </a:bodyPr>
          <a:lstStyle/>
          <a:p>
            <a:pPr>
              <a:lnSpc>
                <a:spcPct val="150000"/>
              </a:lnSpc>
            </a:pPr>
            <a:r>
              <a:rPr lang="zh-CN" altLang="en-US" sz="3200" b="1" dirty="0" smtClean="0"/>
              <a:t>研究压强与温度，目的在于：</a:t>
            </a:r>
            <a:endParaRPr lang="en-US" altLang="zh-CN" sz="3200" b="1" dirty="0" smtClean="0"/>
          </a:p>
          <a:p>
            <a:pPr>
              <a:lnSpc>
                <a:spcPct val="150000"/>
              </a:lnSpc>
            </a:pPr>
            <a:r>
              <a:rPr lang="en-US" altLang="zh-CN" sz="3200" b="1" dirty="0" smtClean="0"/>
              <a:t>        </a:t>
            </a:r>
            <a:r>
              <a:rPr lang="zh-CN" altLang="en-US" sz="3200" b="1" dirty="0" smtClean="0"/>
              <a:t>找出描述气体的</a:t>
            </a:r>
            <a:r>
              <a:rPr lang="zh-CN" altLang="en-US" sz="3200" b="1" dirty="0" smtClean="0">
                <a:solidFill>
                  <a:srgbClr val="0000FF"/>
                </a:solidFill>
              </a:rPr>
              <a:t>宏观量</a:t>
            </a:r>
            <a:r>
              <a:rPr lang="zh-CN" altLang="en-US" sz="3200" b="1" dirty="0" smtClean="0">
                <a:solidFill>
                  <a:srgbClr val="C00000"/>
                </a:solidFill>
              </a:rPr>
              <a:t>压强、温度、体积</a:t>
            </a:r>
            <a:r>
              <a:rPr lang="zh-CN" altLang="en-US" sz="3200" b="1" dirty="0" smtClean="0"/>
              <a:t>与描述气体</a:t>
            </a:r>
            <a:r>
              <a:rPr lang="zh-CN" altLang="en-US" sz="3200" b="1" dirty="0" smtClean="0">
                <a:solidFill>
                  <a:srgbClr val="3333FF"/>
                </a:solidFill>
              </a:rPr>
              <a:t>微观量</a:t>
            </a:r>
            <a:r>
              <a:rPr lang="zh-CN" altLang="en-US" sz="3200" b="1" dirty="0" smtClean="0"/>
              <a:t>的关系，从而认识压强与温度的本质</a:t>
            </a:r>
            <a:r>
              <a:rPr lang="en-US" altLang="zh-CN" sz="3200" b="1" dirty="0" smtClean="0"/>
              <a:t>.</a:t>
            </a:r>
            <a:endParaRPr lang="zh-CN" altLang="en-US" sz="3200" b="1" dirty="0"/>
          </a:p>
        </p:txBody>
      </p:sp>
      <p:sp>
        <p:nvSpPr>
          <p:cNvPr id="5" name="灯片编号占位符 1"/>
          <p:cNvSpPr txBox="1">
            <a:spLocks/>
          </p:cNvSpPr>
          <p:nvPr/>
        </p:nvSpPr>
        <p:spPr bwMode="auto">
          <a:xfrm>
            <a:off x="8606357" y="6584504"/>
            <a:ext cx="574155" cy="300880"/>
          </a:xfrm>
          <a:prstGeom prst="rect">
            <a:avLst/>
          </a:prstGeom>
          <a:noFill/>
          <a:ln>
            <a:miter lim="800000"/>
            <a:headEnd/>
            <a:tailEnd/>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22E3302-AC1D-47C1-A1C9-47DFDD07C79E}" type="slidenum">
              <a:rPr kumimoji="0" lang="en-US" altLang="zh-CN" sz="1400" b="0" i="0" u="none" strike="noStrike" kern="1200" cap="none" spc="0" normalizeH="0" baseline="0" noProof="0" smtClean="0">
                <a:ln>
                  <a:noFill/>
                </a:ln>
                <a:solidFill>
                  <a:schemeClr val="tx1"/>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zh-CN" sz="1400" b="0" i="0" u="none" strike="noStrike" kern="1200" cap="none" spc="0" normalizeH="0" baseline="0" noProof="0" dirty="0">
              <a:ln>
                <a:noFill/>
              </a:ln>
              <a:solidFill>
                <a:schemeClr val="tx1"/>
              </a:solidFill>
              <a:effectLst/>
              <a:uLnTx/>
              <a:uFillTx/>
              <a:latin typeface="Arial" charset="0"/>
              <a:ea typeface="宋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Text Box 3"/>
          <p:cNvSpPr txBox="1">
            <a:spLocks noChangeArrowheads="1"/>
          </p:cNvSpPr>
          <p:nvPr/>
        </p:nvSpPr>
        <p:spPr bwMode="auto">
          <a:xfrm>
            <a:off x="611188" y="1860203"/>
            <a:ext cx="7848600" cy="1311275"/>
          </a:xfrm>
          <a:prstGeom prst="rect">
            <a:avLst/>
          </a:prstGeom>
          <a:noFill/>
          <a:ln w="28575">
            <a:noFill/>
            <a:miter lim="800000"/>
            <a:headEnd/>
            <a:tailEnd/>
          </a:ln>
        </p:spPr>
        <p:txBody>
          <a:bodyPr>
            <a:spAutoFit/>
          </a:bodyPr>
          <a:lstStyle/>
          <a:p>
            <a:pPr>
              <a:spcBef>
                <a:spcPct val="50000"/>
              </a:spcBef>
            </a:pPr>
            <a:r>
              <a:rPr lang="zh-CN" altLang="en-US" sz="3200" b="1">
                <a:solidFill>
                  <a:srgbClr val="CC0000"/>
                </a:solidFill>
              </a:rPr>
              <a:t>（</a:t>
            </a:r>
            <a:r>
              <a:rPr lang="en-US" altLang="zh-CN" sz="3200" b="1">
                <a:solidFill>
                  <a:srgbClr val="CC0000"/>
                </a:solidFill>
                <a:latin typeface="Times New Roman" pitchFamily="18" charset="0"/>
              </a:rPr>
              <a:t>1</a:t>
            </a:r>
            <a:r>
              <a:rPr lang="zh-CN" altLang="en-US" sz="3200" b="1">
                <a:solidFill>
                  <a:srgbClr val="CC0000"/>
                </a:solidFill>
              </a:rPr>
              <a:t>）</a:t>
            </a:r>
            <a:r>
              <a:rPr lang="zh-CN" altLang="en-US" sz="3200" b="1">
                <a:solidFill>
                  <a:srgbClr val="1C1C1C"/>
                </a:solidFill>
              </a:rPr>
              <a:t>分子可视为质点； 线度</a:t>
            </a:r>
          </a:p>
          <a:p>
            <a:pPr>
              <a:spcBef>
                <a:spcPct val="50000"/>
              </a:spcBef>
            </a:pPr>
            <a:r>
              <a:rPr lang="zh-CN" altLang="en-US" sz="3200" b="1">
                <a:solidFill>
                  <a:srgbClr val="1C1C1C"/>
                </a:solidFill>
              </a:rPr>
              <a:t>间距</a:t>
            </a:r>
            <a:r>
              <a:rPr lang="zh-CN" altLang="en-US" sz="2800" b="1">
                <a:solidFill>
                  <a:srgbClr val="1C1C1C"/>
                </a:solidFill>
              </a:rPr>
              <a:t>                   ，              </a:t>
            </a:r>
            <a:r>
              <a:rPr lang="zh-CN" altLang="en-US" sz="3200" b="1">
                <a:solidFill>
                  <a:srgbClr val="1C1C1C"/>
                </a:solidFill>
              </a:rPr>
              <a:t>；</a:t>
            </a:r>
            <a:r>
              <a:rPr lang="zh-CN" altLang="en-US" sz="2400" b="1"/>
              <a:t> </a:t>
            </a:r>
          </a:p>
        </p:txBody>
      </p:sp>
      <p:graphicFrame>
        <p:nvGraphicFramePr>
          <p:cNvPr id="1026" name="Object 4"/>
          <p:cNvGraphicFramePr>
            <a:graphicFrameLocks noChangeAspect="1"/>
          </p:cNvGraphicFramePr>
          <p:nvPr/>
        </p:nvGraphicFramePr>
        <p:xfrm>
          <a:off x="6012160" y="1860203"/>
          <a:ext cx="2024063" cy="579437"/>
        </p:xfrm>
        <a:graphic>
          <a:graphicData uri="http://schemas.openxmlformats.org/presentationml/2006/ole">
            <p:oleObj spid="_x0000_s51202" name="公式" r:id="rId3" imgW="711000" imgH="203040" progId="Equation.3">
              <p:embed/>
            </p:oleObj>
          </a:graphicData>
        </a:graphic>
      </p:graphicFrame>
      <p:graphicFrame>
        <p:nvGraphicFramePr>
          <p:cNvPr id="1027" name="Object 5"/>
          <p:cNvGraphicFramePr>
            <a:graphicFrameLocks noChangeAspect="1"/>
          </p:cNvGraphicFramePr>
          <p:nvPr/>
        </p:nvGraphicFramePr>
        <p:xfrm>
          <a:off x="1692275" y="2560290"/>
          <a:ext cx="1570038" cy="549275"/>
        </p:xfrm>
        <a:graphic>
          <a:graphicData uri="http://schemas.openxmlformats.org/presentationml/2006/ole">
            <p:oleObj spid="_x0000_s51203" name="公式" r:id="rId4" imgW="647640" imgH="203040" progId="Equation.3">
              <p:embed/>
            </p:oleObj>
          </a:graphicData>
        </a:graphic>
      </p:graphicFrame>
      <p:sp>
        <p:nvSpPr>
          <p:cNvPr id="1031" name="Text Box 6"/>
          <p:cNvSpPr txBox="1">
            <a:spLocks noChangeArrowheads="1"/>
          </p:cNvSpPr>
          <p:nvPr/>
        </p:nvSpPr>
        <p:spPr bwMode="auto">
          <a:xfrm>
            <a:off x="403225" y="3281015"/>
            <a:ext cx="8129588" cy="579438"/>
          </a:xfrm>
          <a:prstGeom prst="rect">
            <a:avLst/>
          </a:prstGeom>
          <a:noFill/>
          <a:ln w="28575">
            <a:noFill/>
            <a:miter lim="800000"/>
            <a:headEnd/>
            <a:tailEnd/>
          </a:ln>
        </p:spPr>
        <p:txBody>
          <a:bodyPr>
            <a:spAutoFit/>
          </a:bodyPr>
          <a:lstStyle/>
          <a:p>
            <a:pPr>
              <a:spcBef>
                <a:spcPct val="50000"/>
              </a:spcBef>
            </a:pPr>
            <a:r>
              <a:rPr lang="en-US" altLang="zh-CN" sz="3200" b="1">
                <a:solidFill>
                  <a:srgbClr val="CC0000"/>
                </a:solidFill>
              </a:rPr>
              <a:t> </a:t>
            </a:r>
            <a:r>
              <a:rPr lang="zh-CN" altLang="en-US" sz="3200" b="1">
                <a:solidFill>
                  <a:srgbClr val="CC0000"/>
                </a:solidFill>
              </a:rPr>
              <a:t>（</a:t>
            </a:r>
            <a:r>
              <a:rPr lang="en-US" altLang="zh-CN" sz="3200" b="1">
                <a:solidFill>
                  <a:srgbClr val="CC0000"/>
                </a:solidFill>
                <a:latin typeface="Times New Roman" pitchFamily="18" charset="0"/>
              </a:rPr>
              <a:t>2</a:t>
            </a:r>
            <a:r>
              <a:rPr lang="zh-CN" altLang="en-US" sz="3200" b="1">
                <a:solidFill>
                  <a:srgbClr val="CC0000"/>
                </a:solidFill>
              </a:rPr>
              <a:t>）</a:t>
            </a:r>
            <a:r>
              <a:rPr lang="zh-CN" altLang="en-US" sz="3200" b="1">
                <a:solidFill>
                  <a:srgbClr val="000000"/>
                </a:solidFill>
              </a:rPr>
              <a:t>除碰撞瞬间</a:t>
            </a:r>
            <a:r>
              <a:rPr lang="en-US" altLang="zh-CN" sz="3200" b="1">
                <a:solidFill>
                  <a:srgbClr val="000000"/>
                </a:solidFill>
                <a:latin typeface="宋体" charset="-122"/>
              </a:rPr>
              <a:t>, </a:t>
            </a:r>
            <a:r>
              <a:rPr lang="en-US" altLang="zh-CN" sz="3200" b="1">
                <a:solidFill>
                  <a:srgbClr val="000000"/>
                </a:solidFill>
              </a:rPr>
              <a:t> </a:t>
            </a:r>
            <a:r>
              <a:rPr lang="zh-CN" altLang="en-US" sz="3200" b="1">
                <a:solidFill>
                  <a:srgbClr val="000000"/>
                </a:solidFill>
              </a:rPr>
              <a:t>分子间无相互作用力；</a:t>
            </a:r>
          </a:p>
        </p:txBody>
      </p:sp>
      <p:sp>
        <p:nvSpPr>
          <p:cNvPr id="2" name="Text Box 7"/>
          <p:cNvSpPr txBox="1">
            <a:spLocks noChangeArrowheads="1"/>
          </p:cNvSpPr>
          <p:nvPr/>
        </p:nvSpPr>
        <p:spPr bwMode="auto">
          <a:xfrm>
            <a:off x="371475" y="764233"/>
            <a:ext cx="5638800" cy="641350"/>
          </a:xfrm>
          <a:prstGeom prst="rect">
            <a:avLst/>
          </a:prstGeom>
          <a:noFill/>
          <a:ln w="28575">
            <a:noFill/>
            <a:miter lim="800000"/>
            <a:headEnd/>
            <a:tailEnd/>
          </a:ln>
        </p:spPr>
        <p:txBody>
          <a:bodyPr>
            <a:spAutoFit/>
          </a:bodyPr>
          <a:lstStyle/>
          <a:p>
            <a:pPr>
              <a:spcBef>
                <a:spcPct val="50000"/>
              </a:spcBef>
            </a:pPr>
            <a:r>
              <a:rPr lang="zh-CN" altLang="en-US" sz="3600" b="1" dirty="0" smtClean="0">
                <a:solidFill>
                  <a:srgbClr val="CC0000"/>
                </a:solidFill>
              </a:rPr>
              <a:t>一、  </a:t>
            </a:r>
            <a:r>
              <a:rPr lang="zh-CN" altLang="en-US" sz="3600" b="1" dirty="0">
                <a:solidFill>
                  <a:srgbClr val="CC0000"/>
                </a:solidFill>
              </a:rPr>
              <a:t>理想气体的微观模型</a:t>
            </a:r>
          </a:p>
        </p:txBody>
      </p:sp>
      <p:sp>
        <p:nvSpPr>
          <p:cNvPr id="1033" name="Text Box 8"/>
          <p:cNvSpPr txBox="1">
            <a:spLocks noChangeArrowheads="1"/>
          </p:cNvSpPr>
          <p:nvPr/>
        </p:nvSpPr>
        <p:spPr bwMode="auto">
          <a:xfrm>
            <a:off x="381000" y="5009803"/>
            <a:ext cx="8153400" cy="579437"/>
          </a:xfrm>
          <a:prstGeom prst="rect">
            <a:avLst/>
          </a:prstGeom>
          <a:noFill/>
          <a:ln w="9525">
            <a:noFill/>
            <a:miter lim="800000"/>
            <a:headEnd/>
            <a:tailEnd/>
          </a:ln>
        </p:spPr>
        <p:txBody>
          <a:bodyPr>
            <a:spAutoFit/>
          </a:bodyPr>
          <a:lstStyle/>
          <a:p>
            <a:pPr>
              <a:spcBef>
                <a:spcPct val="50000"/>
              </a:spcBef>
            </a:pPr>
            <a:r>
              <a:rPr lang="en-US" altLang="zh-CN" sz="3200" b="1">
                <a:solidFill>
                  <a:srgbClr val="CC0000"/>
                </a:solidFill>
                <a:latin typeface="Times New Roman" pitchFamily="18" charset="0"/>
              </a:rPr>
              <a:t> </a:t>
            </a:r>
            <a:r>
              <a:rPr lang="zh-CN" altLang="en-US" sz="3200" b="1">
                <a:solidFill>
                  <a:srgbClr val="CC0000"/>
                </a:solidFill>
                <a:latin typeface="Times New Roman" pitchFamily="18" charset="0"/>
              </a:rPr>
              <a:t>（</a:t>
            </a:r>
            <a:r>
              <a:rPr lang="en-US" altLang="zh-CN" sz="3200" b="1">
                <a:solidFill>
                  <a:srgbClr val="CC0000"/>
                </a:solidFill>
                <a:latin typeface="Times New Roman" pitchFamily="18" charset="0"/>
              </a:rPr>
              <a:t>4</a:t>
            </a:r>
            <a:r>
              <a:rPr lang="zh-CN" altLang="en-US" sz="3200" b="1">
                <a:solidFill>
                  <a:srgbClr val="CC0000"/>
                </a:solidFill>
                <a:latin typeface="Times New Roman" pitchFamily="18" charset="0"/>
              </a:rPr>
              <a:t>）</a:t>
            </a:r>
            <a:r>
              <a:rPr lang="zh-CN" altLang="en-US" sz="3200" b="1">
                <a:solidFill>
                  <a:srgbClr val="000000"/>
                </a:solidFill>
                <a:latin typeface="Times New Roman" pitchFamily="18" charset="0"/>
              </a:rPr>
              <a:t>分子的运动遵从经典力学的规律 </a:t>
            </a:r>
            <a:r>
              <a:rPr lang="en-US" altLang="zh-CN" sz="3200" b="1">
                <a:solidFill>
                  <a:srgbClr val="000000"/>
                </a:solidFill>
                <a:latin typeface="Times New Roman" pitchFamily="18" charset="0"/>
              </a:rPr>
              <a:t>.</a:t>
            </a:r>
          </a:p>
        </p:txBody>
      </p:sp>
      <p:sp>
        <p:nvSpPr>
          <p:cNvPr id="1034" name="Rectangle 9"/>
          <p:cNvSpPr>
            <a:spLocks noChangeArrowheads="1"/>
          </p:cNvSpPr>
          <p:nvPr/>
        </p:nvSpPr>
        <p:spPr bwMode="auto">
          <a:xfrm>
            <a:off x="395288" y="4146203"/>
            <a:ext cx="8424862" cy="579437"/>
          </a:xfrm>
          <a:prstGeom prst="rect">
            <a:avLst/>
          </a:prstGeom>
          <a:noFill/>
          <a:ln w="9525">
            <a:noFill/>
            <a:miter lim="800000"/>
            <a:headEnd/>
            <a:tailEnd/>
          </a:ln>
        </p:spPr>
        <p:txBody>
          <a:bodyPr>
            <a:spAutoFit/>
          </a:bodyPr>
          <a:lstStyle/>
          <a:p>
            <a:pPr>
              <a:spcBef>
                <a:spcPct val="50000"/>
              </a:spcBef>
            </a:pPr>
            <a:r>
              <a:rPr lang="en-US" altLang="zh-CN" sz="3200" b="1">
                <a:solidFill>
                  <a:srgbClr val="CC0000"/>
                </a:solidFill>
              </a:rPr>
              <a:t> </a:t>
            </a:r>
            <a:r>
              <a:rPr lang="zh-CN" altLang="en-US" sz="3200" b="1">
                <a:solidFill>
                  <a:srgbClr val="CC0000"/>
                </a:solidFill>
              </a:rPr>
              <a:t>（</a:t>
            </a:r>
            <a:r>
              <a:rPr lang="en-US" altLang="zh-CN" sz="3200" b="1">
                <a:solidFill>
                  <a:srgbClr val="CC0000"/>
                </a:solidFill>
                <a:latin typeface="Times New Roman" pitchFamily="18" charset="0"/>
              </a:rPr>
              <a:t>3</a:t>
            </a:r>
            <a:r>
              <a:rPr lang="zh-CN" altLang="en-US" sz="3200" b="1">
                <a:solidFill>
                  <a:srgbClr val="CC0000"/>
                </a:solidFill>
              </a:rPr>
              <a:t>）</a:t>
            </a:r>
            <a:r>
              <a:rPr lang="zh-CN" altLang="en-US" sz="3200" b="1">
                <a:solidFill>
                  <a:srgbClr val="000000"/>
                </a:solidFill>
              </a:rPr>
              <a:t>弹性质点（碰撞均为完全弹性碰撞）；</a:t>
            </a:r>
          </a:p>
        </p:txBody>
      </p:sp>
      <p:graphicFrame>
        <p:nvGraphicFramePr>
          <p:cNvPr id="1028" name="Object 10"/>
          <p:cNvGraphicFramePr>
            <a:graphicFrameLocks noChangeAspect="1"/>
          </p:cNvGraphicFramePr>
          <p:nvPr/>
        </p:nvGraphicFramePr>
        <p:xfrm>
          <a:off x="3851275" y="2633315"/>
          <a:ext cx="1077913" cy="481013"/>
        </p:xfrm>
        <a:graphic>
          <a:graphicData uri="http://schemas.openxmlformats.org/presentationml/2006/ole">
            <p:oleObj spid="_x0000_s51204" name="公式" r:id="rId5" imgW="444240" imgH="177480" progId="Equation.3">
              <p:embed/>
            </p:oleObj>
          </a:graphicData>
        </a:graphic>
      </p:graphicFrame>
      <p:sp>
        <p:nvSpPr>
          <p:cNvPr id="10" name="灯片编号占位符 1"/>
          <p:cNvSpPr txBox="1">
            <a:spLocks/>
          </p:cNvSpPr>
          <p:nvPr/>
        </p:nvSpPr>
        <p:spPr bwMode="auto">
          <a:xfrm>
            <a:off x="8606357" y="6584504"/>
            <a:ext cx="574155" cy="300880"/>
          </a:xfrm>
          <a:prstGeom prst="rect">
            <a:avLst/>
          </a:prstGeom>
          <a:noFill/>
          <a:ln>
            <a:miter lim="800000"/>
            <a:headEnd/>
            <a:tailEnd/>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22E3302-AC1D-47C1-A1C9-47DFDD07C79E}" type="slidenum">
              <a:rPr kumimoji="0" lang="en-US" altLang="zh-CN" sz="1400" b="0" i="0" u="none" strike="noStrike" kern="1200" cap="none" spc="0" normalizeH="0" baseline="0" noProof="0" smtClean="0">
                <a:ln>
                  <a:noFill/>
                </a:ln>
                <a:solidFill>
                  <a:schemeClr val="tx1"/>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zh-CN" sz="1400" b="0" i="0" u="none" strike="noStrike" kern="1200" cap="none" spc="0" normalizeH="0" baseline="0" noProof="0" dirty="0">
              <a:ln>
                <a:noFill/>
              </a:ln>
              <a:solidFill>
                <a:schemeClr val="tx1"/>
              </a:solidFill>
              <a:effectLst/>
              <a:uLnTx/>
              <a:uFillTx/>
              <a:latin typeface="Arial" charset="0"/>
              <a:ea typeface="宋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31"/>
                                        </p:tgtEl>
                                        <p:attrNameLst>
                                          <p:attrName>style.visibility</p:attrName>
                                        </p:attrNameLst>
                                      </p:cBhvr>
                                      <p:to>
                                        <p:strVal val="visible"/>
                                      </p:to>
                                    </p:set>
                                    <p:animEffect transition="in" filter="wipe(down)">
                                      <p:cBhvr>
                                        <p:cTn id="7" dur="500"/>
                                        <p:tgtEl>
                                          <p:spTgt spid="10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34"/>
                                        </p:tgtEl>
                                        <p:attrNameLst>
                                          <p:attrName>style.visibility</p:attrName>
                                        </p:attrNameLst>
                                      </p:cBhvr>
                                      <p:to>
                                        <p:strVal val="visible"/>
                                      </p:to>
                                    </p:set>
                                    <p:animEffect transition="in" filter="wipe(down)">
                                      <p:cBhvr>
                                        <p:cTn id="12" dur="500"/>
                                        <p:tgtEl>
                                          <p:spTgt spid="10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033"/>
                                        </p:tgtEl>
                                        <p:attrNameLst>
                                          <p:attrName>style.visibility</p:attrName>
                                        </p:attrNameLst>
                                      </p:cBhvr>
                                      <p:to>
                                        <p:strVal val="visible"/>
                                      </p:to>
                                    </p:set>
                                    <p:animEffect transition="in" filter="wipe(down)">
                                      <p:cBhvr>
                                        <p:cTn id="17" dur="500"/>
                                        <p:tgtEl>
                                          <p:spTgt spid="10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1" grpId="0"/>
      <p:bldP spid="1033" grpId="0"/>
      <p:bldP spid="103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0"/>
          <p:cNvGrpSpPr>
            <a:grpSpLocks/>
          </p:cNvGrpSpPr>
          <p:nvPr/>
        </p:nvGrpSpPr>
        <p:grpSpPr bwMode="auto">
          <a:xfrm>
            <a:off x="340866" y="1040780"/>
            <a:ext cx="8479606" cy="1384300"/>
            <a:chOff x="385" y="1219"/>
            <a:chExt cx="4808" cy="872"/>
          </a:xfrm>
        </p:grpSpPr>
        <p:sp>
          <p:nvSpPr>
            <p:cNvPr id="2054" name="Text Box 56"/>
            <p:cNvSpPr txBox="1">
              <a:spLocks noChangeArrowheads="1"/>
            </p:cNvSpPr>
            <p:nvPr/>
          </p:nvSpPr>
          <p:spPr bwMode="auto">
            <a:xfrm>
              <a:off x="385" y="1219"/>
              <a:ext cx="4808" cy="872"/>
            </a:xfrm>
            <a:prstGeom prst="rect">
              <a:avLst/>
            </a:prstGeom>
            <a:noFill/>
            <a:ln w="28575">
              <a:noFill/>
              <a:miter lim="800000"/>
              <a:headEnd/>
              <a:tailEnd/>
            </a:ln>
          </p:spPr>
          <p:txBody>
            <a:bodyPr>
              <a:spAutoFit/>
            </a:bodyPr>
            <a:lstStyle/>
            <a:p>
              <a:pPr>
                <a:lnSpc>
                  <a:spcPct val="150000"/>
                </a:lnSpc>
                <a:spcBef>
                  <a:spcPct val="50000"/>
                </a:spcBef>
              </a:pPr>
              <a:r>
                <a:rPr lang="en-US" altLang="zh-CN" sz="2800" b="1" dirty="0">
                  <a:solidFill>
                    <a:srgbClr val="A50021"/>
                  </a:solidFill>
                </a:rPr>
                <a:t>       </a:t>
              </a:r>
              <a:r>
                <a:rPr lang="zh-CN" altLang="en-US" sz="2800" b="1" dirty="0" smtClean="0">
                  <a:solidFill>
                    <a:srgbClr val="CC0000"/>
                  </a:solidFill>
                </a:rPr>
                <a:t>设</a:t>
              </a:r>
              <a:r>
                <a:rPr lang="zh-CN" altLang="en-US" sz="2800" b="1" dirty="0" smtClean="0">
                  <a:solidFill>
                    <a:srgbClr val="1C1C1C"/>
                  </a:solidFill>
                </a:rPr>
                <a:t>边</a:t>
              </a:r>
              <a:r>
                <a:rPr lang="zh-CN" altLang="en-US" sz="2800" b="1" dirty="0">
                  <a:solidFill>
                    <a:srgbClr val="1C1C1C"/>
                  </a:solidFill>
                </a:rPr>
                <a:t>长分别为 </a:t>
              </a:r>
              <a:r>
                <a:rPr lang="en-US" altLang="zh-CN" sz="2800" i="1" dirty="0">
                  <a:solidFill>
                    <a:srgbClr val="1C1C1C"/>
                  </a:solidFill>
                  <a:latin typeface="Times New Roman" pitchFamily="18" charset="0"/>
                </a:rPr>
                <a:t>x</a:t>
              </a:r>
              <a:r>
                <a:rPr lang="zh-CN" altLang="en-US" sz="2800" i="1" dirty="0">
                  <a:solidFill>
                    <a:srgbClr val="1C1C1C"/>
                  </a:solidFill>
                  <a:latin typeface="Times New Roman" pitchFamily="18" charset="0"/>
                </a:rPr>
                <a:t>、</a:t>
              </a:r>
              <a:r>
                <a:rPr lang="en-US" altLang="zh-CN" sz="2800" i="1" dirty="0">
                  <a:solidFill>
                    <a:srgbClr val="1C1C1C"/>
                  </a:solidFill>
                  <a:latin typeface="Times New Roman" pitchFamily="18" charset="0"/>
                </a:rPr>
                <a:t>y</a:t>
              </a:r>
              <a:r>
                <a:rPr lang="en-US" altLang="zh-CN" sz="2800" b="1" i="1" dirty="0">
                  <a:solidFill>
                    <a:srgbClr val="1C1C1C"/>
                  </a:solidFill>
                  <a:latin typeface="Times New Roman" pitchFamily="18" charset="0"/>
                </a:rPr>
                <a:t> </a:t>
              </a:r>
              <a:r>
                <a:rPr lang="zh-CN" altLang="en-US" sz="2800" b="1" dirty="0">
                  <a:solidFill>
                    <a:srgbClr val="1C1C1C"/>
                  </a:solidFill>
                  <a:latin typeface="Times New Roman" pitchFamily="18" charset="0"/>
                </a:rPr>
                <a:t>及 </a:t>
              </a:r>
              <a:r>
                <a:rPr lang="en-US" altLang="zh-CN" sz="2800" i="1" dirty="0">
                  <a:solidFill>
                    <a:srgbClr val="1C1C1C"/>
                  </a:solidFill>
                  <a:latin typeface="Times New Roman" pitchFamily="18" charset="0"/>
                </a:rPr>
                <a:t>z </a:t>
              </a:r>
              <a:r>
                <a:rPr lang="zh-CN" altLang="en-US" sz="2800" b="1" dirty="0">
                  <a:solidFill>
                    <a:srgbClr val="1C1C1C"/>
                  </a:solidFill>
                  <a:latin typeface="Times New Roman" pitchFamily="18" charset="0"/>
                </a:rPr>
                <a:t>的</a:t>
              </a:r>
              <a:r>
                <a:rPr lang="zh-CN" altLang="en-US" sz="2800" b="1" dirty="0">
                  <a:solidFill>
                    <a:srgbClr val="1C1C1C"/>
                  </a:solidFill>
                </a:rPr>
                <a:t>长方体中有</a:t>
              </a:r>
              <a:r>
                <a:rPr lang="zh-CN" altLang="en-US" sz="2800" b="1" i="1" dirty="0">
                  <a:solidFill>
                    <a:srgbClr val="1C1C1C"/>
                  </a:solidFill>
                </a:rPr>
                <a:t> </a:t>
              </a:r>
              <a:r>
                <a:rPr lang="en-US" altLang="zh-CN" sz="2800" b="1" i="1" dirty="0">
                  <a:solidFill>
                    <a:srgbClr val="1C1C1C"/>
                  </a:solidFill>
                  <a:latin typeface="Times New Roman" pitchFamily="18" charset="0"/>
                </a:rPr>
                <a:t>N</a:t>
              </a:r>
              <a:r>
                <a:rPr lang="en-US" altLang="zh-CN" sz="2800" b="1" i="1" dirty="0">
                  <a:solidFill>
                    <a:srgbClr val="1C1C1C"/>
                  </a:solidFill>
                </a:rPr>
                <a:t> </a:t>
              </a:r>
              <a:r>
                <a:rPr lang="zh-CN" altLang="en-US" sz="2800" b="1" dirty="0">
                  <a:solidFill>
                    <a:srgbClr val="1C1C1C"/>
                  </a:solidFill>
                </a:rPr>
                <a:t>个全同的质量为 </a:t>
              </a:r>
              <a:r>
                <a:rPr lang="en-US" altLang="zh-CN" sz="2800" i="1" dirty="0">
                  <a:solidFill>
                    <a:srgbClr val="1C1C1C"/>
                  </a:solidFill>
                  <a:latin typeface="Times New Roman" pitchFamily="18" charset="0"/>
                </a:rPr>
                <a:t>m</a:t>
              </a:r>
              <a:r>
                <a:rPr lang="en-US" altLang="zh-CN" sz="2800" b="1" i="1" dirty="0">
                  <a:solidFill>
                    <a:srgbClr val="1C1C1C"/>
                  </a:solidFill>
                  <a:latin typeface="Times New Roman" pitchFamily="18" charset="0"/>
                </a:rPr>
                <a:t> </a:t>
              </a:r>
              <a:r>
                <a:rPr lang="zh-CN" altLang="en-US" sz="2800" b="1" dirty="0">
                  <a:solidFill>
                    <a:srgbClr val="1C1C1C"/>
                  </a:solidFill>
                </a:rPr>
                <a:t>的气体分子，计算      </a:t>
              </a:r>
              <a:r>
                <a:rPr lang="zh-CN" altLang="en-US" sz="2800" b="1" dirty="0" smtClean="0">
                  <a:solidFill>
                    <a:srgbClr val="1C1C1C"/>
                  </a:solidFill>
                </a:rPr>
                <a:t>面</a:t>
              </a:r>
              <a:r>
                <a:rPr lang="zh-CN" altLang="en-US" sz="2800" b="1" dirty="0">
                  <a:solidFill>
                    <a:srgbClr val="1C1C1C"/>
                  </a:solidFill>
                </a:rPr>
                <a:t>所受</a:t>
              </a:r>
              <a:r>
                <a:rPr lang="zh-CN" altLang="en-US" sz="2800" b="1" dirty="0">
                  <a:solidFill>
                    <a:srgbClr val="FF0000"/>
                  </a:solidFill>
                </a:rPr>
                <a:t>压强</a:t>
              </a:r>
              <a:r>
                <a:rPr lang="en-US" altLang="zh-CN" sz="2800" b="1" dirty="0">
                  <a:solidFill>
                    <a:srgbClr val="1C1C1C"/>
                  </a:solidFill>
                  <a:latin typeface="Times New Roman" pitchFamily="18" charset="0"/>
                </a:rPr>
                <a:t>.</a:t>
              </a:r>
            </a:p>
          </p:txBody>
        </p:sp>
        <p:graphicFrame>
          <p:nvGraphicFramePr>
            <p:cNvPr id="2050" name="Object 57"/>
            <p:cNvGraphicFramePr>
              <a:graphicFrameLocks noChangeAspect="1"/>
            </p:cNvGraphicFramePr>
            <p:nvPr/>
          </p:nvGraphicFramePr>
          <p:xfrm>
            <a:off x="3161" y="1707"/>
            <a:ext cx="295" cy="336"/>
          </p:xfrm>
          <a:graphic>
            <a:graphicData uri="http://schemas.openxmlformats.org/presentationml/2006/ole">
              <p:oleObj spid="_x0000_s52226" name="Equation" r:id="rId3" imgW="253800" imgH="317160" progId="Equation.3">
                <p:embed/>
              </p:oleObj>
            </a:graphicData>
          </a:graphic>
        </p:graphicFrame>
      </p:grpSp>
      <p:sp>
        <p:nvSpPr>
          <p:cNvPr id="2053" name="Text Box 58"/>
          <p:cNvSpPr txBox="1">
            <a:spLocks noChangeArrowheads="1"/>
          </p:cNvSpPr>
          <p:nvPr/>
        </p:nvSpPr>
        <p:spPr bwMode="auto">
          <a:xfrm>
            <a:off x="179512" y="225456"/>
            <a:ext cx="5976664" cy="683264"/>
          </a:xfrm>
          <a:prstGeom prst="rect">
            <a:avLst/>
          </a:prstGeom>
          <a:noFill/>
          <a:ln w="28575">
            <a:noFill/>
            <a:miter lim="800000"/>
            <a:headEnd/>
            <a:tailEnd/>
          </a:ln>
        </p:spPr>
        <p:txBody>
          <a:bodyPr wrap="square">
            <a:spAutoFit/>
          </a:bodyPr>
          <a:lstStyle/>
          <a:p>
            <a:pPr>
              <a:lnSpc>
                <a:spcPct val="120000"/>
              </a:lnSpc>
              <a:spcBef>
                <a:spcPct val="50000"/>
              </a:spcBef>
            </a:pPr>
            <a:r>
              <a:rPr lang="zh-CN" altLang="en-US" sz="3200" b="1" dirty="0" smtClean="0">
                <a:solidFill>
                  <a:srgbClr val="CC0000"/>
                </a:solidFill>
              </a:rPr>
              <a:t>二、理</a:t>
            </a:r>
            <a:r>
              <a:rPr lang="zh-CN" altLang="en-US" sz="3200" b="1" dirty="0">
                <a:solidFill>
                  <a:srgbClr val="CC0000"/>
                </a:solidFill>
              </a:rPr>
              <a:t>想气体压强公</a:t>
            </a:r>
            <a:r>
              <a:rPr lang="zh-CN" altLang="en-US" sz="3200" b="1" dirty="0" smtClean="0">
                <a:solidFill>
                  <a:srgbClr val="CC0000"/>
                </a:solidFill>
              </a:rPr>
              <a:t>式</a:t>
            </a:r>
            <a:endParaRPr lang="zh-CN" altLang="en-US" sz="3200" b="1" dirty="0">
              <a:solidFill>
                <a:srgbClr val="CC0000"/>
              </a:solidFill>
            </a:endParaRPr>
          </a:p>
        </p:txBody>
      </p:sp>
      <p:grpSp>
        <p:nvGrpSpPr>
          <p:cNvPr id="60" name="Group 17"/>
          <p:cNvGrpSpPr>
            <a:grpSpLocks/>
          </p:cNvGrpSpPr>
          <p:nvPr/>
        </p:nvGrpSpPr>
        <p:grpSpPr bwMode="auto">
          <a:xfrm>
            <a:off x="611560" y="2924944"/>
            <a:ext cx="4932551" cy="3491428"/>
            <a:chOff x="576" y="1680"/>
            <a:chExt cx="3255" cy="2304"/>
          </a:xfrm>
        </p:grpSpPr>
        <p:sp>
          <p:nvSpPr>
            <p:cNvPr id="61" name="AutoShape 25"/>
            <p:cNvSpPr>
              <a:spLocks noChangeArrowheads="1"/>
            </p:cNvSpPr>
            <p:nvPr/>
          </p:nvSpPr>
          <p:spPr bwMode="auto">
            <a:xfrm>
              <a:off x="912" y="2064"/>
              <a:ext cx="2160" cy="1632"/>
            </a:xfrm>
            <a:prstGeom prst="cube">
              <a:avLst>
                <a:gd name="adj" fmla="val 24681"/>
              </a:avLst>
            </a:prstGeom>
            <a:solidFill>
              <a:srgbClr val="CCFFCC">
                <a:alpha val="50195"/>
              </a:srgbClr>
            </a:solidFill>
            <a:ln w="19050">
              <a:solidFill>
                <a:schemeClr val="tx2"/>
              </a:solidFill>
              <a:miter lim="800000"/>
              <a:headEnd/>
              <a:tailEnd/>
            </a:ln>
          </p:spPr>
          <p:txBody>
            <a:bodyPr wrap="none" anchor="ctr"/>
            <a:lstStyle/>
            <a:p>
              <a:endParaRPr lang="zh-CN" altLang="en-US"/>
            </a:p>
          </p:txBody>
        </p:sp>
        <p:sp>
          <p:nvSpPr>
            <p:cNvPr id="62" name="Line 18"/>
            <p:cNvSpPr>
              <a:spLocks noChangeShapeType="1"/>
            </p:cNvSpPr>
            <p:nvPr/>
          </p:nvSpPr>
          <p:spPr bwMode="auto">
            <a:xfrm flipV="1">
              <a:off x="1344" y="1728"/>
              <a:ext cx="0" cy="1584"/>
            </a:xfrm>
            <a:prstGeom prst="line">
              <a:avLst/>
            </a:prstGeom>
            <a:noFill/>
            <a:ln w="19050">
              <a:solidFill>
                <a:srgbClr val="000000"/>
              </a:solidFill>
              <a:prstDash val="sysDot"/>
              <a:round/>
              <a:headEnd/>
              <a:tailEnd type="triangle" w="sm" len="lg"/>
            </a:ln>
          </p:spPr>
          <p:txBody>
            <a:bodyPr wrap="none" anchor="ctr"/>
            <a:lstStyle/>
            <a:p>
              <a:endParaRPr lang="zh-CN" altLang="en-US"/>
            </a:p>
          </p:txBody>
        </p:sp>
        <p:graphicFrame>
          <p:nvGraphicFramePr>
            <p:cNvPr id="63" name="Object 19"/>
            <p:cNvGraphicFramePr>
              <a:graphicFrameLocks noChangeAspect="1"/>
            </p:cNvGraphicFramePr>
            <p:nvPr/>
          </p:nvGraphicFramePr>
          <p:xfrm>
            <a:off x="1148" y="3168"/>
            <a:ext cx="214" cy="236"/>
          </p:xfrm>
          <a:graphic>
            <a:graphicData uri="http://schemas.openxmlformats.org/presentationml/2006/ole">
              <p:oleObj spid="_x0000_s52244" name="Equation" r:id="rId4" imgW="126720" imgH="139680" progId="Equation.3">
                <p:embed/>
              </p:oleObj>
            </a:graphicData>
          </a:graphic>
        </p:graphicFrame>
        <p:sp>
          <p:nvSpPr>
            <p:cNvPr id="64" name="Line 20"/>
            <p:cNvSpPr>
              <a:spLocks noChangeShapeType="1"/>
            </p:cNvSpPr>
            <p:nvPr/>
          </p:nvSpPr>
          <p:spPr bwMode="auto">
            <a:xfrm flipV="1">
              <a:off x="1344" y="3312"/>
              <a:ext cx="2208" cy="0"/>
            </a:xfrm>
            <a:prstGeom prst="line">
              <a:avLst/>
            </a:prstGeom>
            <a:noFill/>
            <a:ln w="19050">
              <a:solidFill>
                <a:srgbClr val="000000"/>
              </a:solidFill>
              <a:prstDash val="sysDot"/>
              <a:round/>
              <a:headEnd/>
              <a:tailEnd type="triangle" w="sm" len="lg"/>
            </a:ln>
          </p:spPr>
          <p:txBody>
            <a:bodyPr wrap="none" anchor="ctr"/>
            <a:lstStyle/>
            <a:p>
              <a:endParaRPr lang="zh-CN" altLang="en-US"/>
            </a:p>
          </p:txBody>
        </p:sp>
        <p:sp>
          <p:nvSpPr>
            <p:cNvPr id="65" name="Line 21"/>
            <p:cNvSpPr>
              <a:spLocks noChangeShapeType="1"/>
            </p:cNvSpPr>
            <p:nvPr/>
          </p:nvSpPr>
          <p:spPr bwMode="auto">
            <a:xfrm flipH="1">
              <a:off x="624" y="3312"/>
              <a:ext cx="720" cy="624"/>
            </a:xfrm>
            <a:prstGeom prst="line">
              <a:avLst/>
            </a:prstGeom>
            <a:noFill/>
            <a:ln w="19050">
              <a:solidFill>
                <a:srgbClr val="000000"/>
              </a:solidFill>
              <a:prstDash val="sysDot"/>
              <a:round/>
              <a:headEnd/>
              <a:tailEnd type="triangle" w="sm" len="lg"/>
            </a:ln>
          </p:spPr>
          <p:txBody>
            <a:bodyPr wrap="none" anchor="ctr"/>
            <a:lstStyle/>
            <a:p>
              <a:endParaRPr lang="zh-CN" altLang="en-US"/>
            </a:p>
          </p:txBody>
        </p:sp>
        <p:graphicFrame>
          <p:nvGraphicFramePr>
            <p:cNvPr id="66" name="Object 22"/>
            <p:cNvGraphicFramePr>
              <a:graphicFrameLocks noChangeAspect="1"/>
            </p:cNvGraphicFramePr>
            <p:nvPr/>
          </p:nvGraphicFramePr>
          <p:xfrm>
            <a:off x="1344" y="1680"/>
            <a:ext cx="287" cy="340"/>
          </p:xfrm>
          <a:graphic>
            <a:graphicData uri="http://schemas.openxmlformats.org/presentationml/2006/ole">
              <p:oleObj spid="_x0000_s52245" name="Equation" r:id="rId5" imgW="139680" imgH="164880" progId="Equation.3">
                <p:embed/>
              </p:oleObj>
            </a:graphicData>
          </a:graphic>
        </p:graphicFrame>
        <p:graphicFrame>
          <p:nvGraphicFramePr>
            <p:cNvPr id="67" name="Object 23"/>
            <p:cNvGraphicFramePr>
              <a:graphicFrameLocks noChangeAspect="1"/>
            </p:cNvGraphicFramePr>
            <p:nvPr/>
          </p:nvGraphicFramePr>
          <p:xfrm>
            <a:off x="576" y="3552"/>
            <a:ext cx="288" cy="288"/>
          </p:xfrm>
          <a:graphic>
            <a:graphicData uri="http://schemas.openxmlformats.org/presentationml/2006/ole">
              <p:oleObj spid="_x0000_s52246" name="Equation" r:id="rId6" imgW="126720" imgH="126720" progId="Equation.3">
                <p:embed/>
              </p:oleObj>
            </a:graphicData>
          </a:graphic>
        </p:graphicFrame>
        <p:graphicFrame>
          <p:nvGraphicFramePr>
            <p:cNvPr id="68" name="Object 24"/>
            <p:cNvGraphicFramePr>
              <a:graphicFrameLocks noChangeAspect="1"/>
            </p:cNvGraphicFramePr>
            <p:nvPr/>
          </p:nvGraphicFramePr>
          <p:xfrm>
            <a:off x="3570" y="3201"/>
            <a:ext cx="261" cy="288"/>
          </p:xfrm>
          <a:graphic>
            <a:graphicData uri="http://schemas.openxmlformats.org/presentationml/2006/ole">
              <p:oleObj spid="_x0000_s52247" name="Equation" r:id="rId7" imgW="126720" imgH="139680" progId="Equation.3">
                <p:embed/>
              </p:oleObj>
            </a:graphicData>
          </a:graphic>
        </p:graphicFrame>
        <p:sp>
          <p:nvSpPr>
            <p:cNvPr id="69" name="Line 26"/>
            <p:cNvSpPr>
              <a:spLocks noChangeShapeType="1"/>
            </p:cNvSpPr>
            <p:nvPr/>
          </p:nvSpPr>
          <p:spPr bwMode="auto">
            <a:xfrm>
              <a:off x="3072" y="2064"/>
              <a:ext cx="288" cy="0"/>
            </a:xfrm>
            <a:prstGeom prst="line">
              <a:avLst/>
            </a:prstGeom>
            <a:noFill/>
            <a:ln w="12700">
              <a:solidFill>
                <a:srgbClr val="000000"/>
              </a:solidFill>
              <a:prstDash val="dash"/>
              <a:round/>
              <a:headEnd/>
              <a:tailEnd/>
            </a:ln>
          </p:spPr>
          <p:txBody>
            <a:bodyPr wrap="none"/>
            <a:lstStyle/>
            <a:p>
              <a:endParaRPr lang="zh-CN" altLang="en-US"/>
            </a:p>
          </p:txBody>
        </p:sp>
        <p:sp>
          <p:nvSpPr>
            <p:cNvPr id="70" name="Line 27"/>
            <p:cNvSpPr>
              <a:spLocks noChangeShapeType="1"/>
            </p:cNvSpPr>
            <p:nvPr/>
          </p:nvSpPr>
          <p:spPr bwMode="auto">
            <a:xfrm>
              <a:off x="3264" y="2880"/>
              <a:ext cx="0" cy="432"/>
            </a:xfrm>
            <a:prstGeom prst="line">
              <a:avLst/>
            </a:prstGeom>
            <a:noFill/>
            <a:ln w="19050">
              <a:solidFill>
                <a:srgbClr val="FF0066"/>
              </a:solidFill>
              <a:round/>
              <a:headEnd/>
              <a:tailEnd type="triangle" w="sm" len="lg"/>
            </a:ln>
          </p:spPr>
          <p:txBody>
            <a:bodyPr wrap="none"/>
            <a:lstStyle/>
            <a:p>
              <a:endParaRPr lang="zh-CN" altLang="en-US"/>
            </a:p>
          </p:txBody>
        </p:sp>
        <p:sp>
          <p:nvSpPr>
            <p:cNvPr id="71" name="Line 28"/>
            <p:cNvSpPr>
              <a:spLocks noChangeShapeType="1"/>
            </p:cNvSpPr>
            <p:nvPr/>
          </p:nvSpPr>
          <p:spPr bwMode="auto">
            <a:xfrm flipV="1">
              <a:off x="3264" y="2064"/>
              <a:ext cx="0" cy="528"/>
            </a:xfrm>
            <a:prstGeom prst="line">
              <a:avLst/>
            </a:prstGeom>
            <a:noFill/>
            <a:ln w="19050">
              <a:solidFill>
                <a:srgbClr val="FF0066"/>
              </a:solidFill>
              <a:round/>
              <a:headEnd/>
              <a:tailEnd type="triangle" w="sm" len="lg"/>
            </a:ln>
          </p:spPr>
          <p:txBody>
            <a:bodyPr wrap="none"/>
            <a:lstStyle/>
            <a:p>
              <a:endParaRPr lang="zh-CN" altLang="en-US"/>
            </a:p>
          </p:txBody>
        </p:sp>
        <p:graphicFrame>
          <p:nvGraphicFramePr>
            <p:cNvPr id="72" name="Object 29"/>
            <p:cNvGraphicFramePr>
              <a:graphicFrameLocks noChangeAspect="1"/>
            </p:cNvGraphicFramePr>
            <p:nvPr/>
          </p:nvGraphicFramePr>
          <p:xfrm>
            <a:off x="3120" y="2588"/>
            <a:ext cx="287" cy="340"/>
          </p:xfrm>
          <a:graphic>
            <a:graphicData uri="http://schemas.openxmlformats.org/presentationml/2006/ole">
              <p:oleObj spid="_x0000_s52248" name="Equation" r:id="rId8" imgW="139680" imgH="164880" progId="Equation.3">
                <p:embed/>
              </p:oleObj>
            </a:graphicData>
          </a:graphic>
        </p:graphicFrame>
        <p:sp>
          <p:nvSpPr>
            <p:cNvPr id="73" name="Line 30"/>
            <p:cNvSpPr>
              <a:spLocks noChangeShapeType="1"/>
            </p:cNvSpPr>
            <p:nvPr/>
          </p:nvSpPr>
          <p:spPr bwMode="auto">
            <a:xfrm>
              <a:off x="2688" y="3696"/>
              <a:ext cx="288" cy="0"/>
            </a:xfrm>
            <a:prstGeom prst="line">
              <a:avLst/>
            </a:prstGeom>
            <a:noFill/>
            <a:ln w="12700">
              <a:solidFill>
                <a:srgbClr val="000000"/>
              </a:solidFill>
              <a:prstDash val="dash"/>
              <a:round/>
              <a:headEnd/>
              <a:tailEnd/>
            </a:ln>
          </p:spPr>
          <p:txBody>
            <a:bodyPr wrap="none"/>
            <a:lstStyle/>
            <a:p>
              <a:endParaRPr lang="zh-CN" altLang="en-US"/>
            </a:p>
          </p:txBody>
        </p:sp>
        <p:sp>
          <p:nvSpPr>
            <p:cNvPr id="74" name="Line 31"/>
            <p:cNvSpPr>
              <a:spLocks noChangeShapeType="1"/>
            </p:cNvSpPr>
            <p:nvPr/>
          </p:nvSpPr>
          <p:spPr bwMode="auto">
            <a:xfrm flipH="1">
              <a:off x="2880" y="3552"/>
              <a:ext cx="144" cy="144"/>
            </a:xfrm>
            <a:prstGeom prst="line">
              <a:avLst/>
            </a:prstGeom>
            <a:noFill/>
            <a:ln w="19050">
              <a:solidFill>
                <a:srgbClr val="FF0066"/>
              </a:solidFill>
              <a:round/>
              <a:headEnd/>
              <a:tailEnd type="triangle" w="sm" len="lg"/>
            </a:ln>
          </p:spPr>
          <p:txBody>
            <a:bodyPr wrap="none"/>
            <a:lstStyle/>
            <a:p>
              <a:endParaRPr lang="zh-CN" altLang="en-US"/>
            </a:p>
          </p:txBody>
        </p:sp>
        <p:sp>
          <p:nvSpPr>
            <p:cNvPr id="75" name="Line 32"/>
            <p:cNvSpPr>
              <a:spLocks noChangeShapeType="1"/>
            </p:cNvSpPr>
            <p:nvPr/>
          </p:nvSpPr>
          <p:spPr bwMode="auto">
            <a:xfrm flipH="1">
              <a:off x="3120" y="3312"/>
              <a:ext cx="144" cy="144"/>
            </a:xfrm>
            <a:prstGeom prst="line">
              <a:avLst/>
            </a:prstGeom>
            <a:noFill/>
            <a:ln w="19050">
              <a:solidFill>
                <a:srgbClr val="FF0066"/>
              </a:solidFill>
              <a:round/>
              <a:headEnd type="triangle" w="sm" len="lg"/>
              <a:tailEnd type="none" w="sm" len="lg"/>
            </a:ln>
          </p:spPr>
          <p:txBody>
            <a:bodyPr wrap="none"/>
            <a:lstStyle/>
            <a:p>
              <a:endParaRPr lang="zh-CN" altLang="en-US"/>
            </a:p>
          </p:txBody>
        </p:sp>
        <p:graphicFrame>
          <p:nvGraphicFramePr>
            <p:cNvPr id="76" name="Object 33"/>
            <p:cNvGraphicFramePr>
              <a:graphicFrameLocks noChangeAspect="1"/>
            </p:cNvGraphicFramePr>
            <p:nvPr/>
          </p:nvGraphicFramePr>
          <p:xfrm>
            <a:off x="2976" y="3360"/>
            <a:ext cx="240" cy="240"/>
          </p:xfrm>
          <a:graphic>
            <a:graphicData uri="http://schemas.openxmlformats.org/presentationml/2006/ole">
              <p:oleObj spid="_x0000_s52249" name="Equation" r:id="rId9" imgW="126720" imgH="126720" progId="Equation.3">
                <p:embed/>
              </p:oleObj>
            </a:graphicData>
          </a:graphic>
        </p:graphicFrame>
        <p:sp>
          <p:nvSpPr>
            <p:cNvPr id="77" name="Line 34"/>
            <p:cNvSpPr>
              <a:spLocks noChangeShapeType="1"/>
            </p:cNvSpPr>
            <p:nvPr/>
          </p:nvSpPr>
          <p:spPr bwMode="auto">
            <a:xfrm>
              <a:off x="2688" y="3696"/>
              <a:ext cx="0" cy="240"/>
            </a:xfrm>
            <a:prstGeom prst="line">
              <a:avLst/>
            </a:prstGeom>
            <a:noFill/>
            <a:ln w="12700">
              <a:solidFill>
                <a:srgbClr val="000000"/>
              </a:solidFill>
              <a:prstDash val="dash"/>
              <a:round/>
              <a:headEnd/>
              <a:tailEnd/>
            </a:ln>
          </p:spPr>
          <p:txBody>
            <a:bodyPr wrap="none"/>
            <a:lstStyle/>
            <a:p>
              <a:endParaRPr lang="zh-CN" altLang="en-US"/>
            </a:p>
          </p:txBody>
        </p:sp>
        <p:sp>
          <p:nvSpPr>
            <p:cNvPr id="78" name="Line 35"/>
            <p:cNvSpPr>
              <a:spLocks noChangeShapeType="1"/>
            </p:cNvSpPr>
            <p:nvPr/>
          </p:nvSpPr>
          <p:spPr bwMode="auto">
            <a:xfrm>
              <a:off x="912" y="3696"/>
              <a:ext cx="0" cy="240"/>
            </a:xfrm>
            <a:prstGeom prst="line">
              <a:avLst/>
            </a:prstGeom>
            <a:noFill/>
            <a:ln w="12700">
              <a:solidFill>
                <a:srgbClr val="000000"/>
              </a:solidFill>
              <a:prstDash val="dash"/>
              <a:round/>
              <a:headEnd/>
              <a:tailEnd/>
            </a:ln>
          </p:spPr>
          <p:txBody>
            <a:bodyPr wrap="none"/>
            <a:lstStyle/>
            <a:p>
              <a:endParaRPr lang="zh-CN" altLang="en-US"/>
            </a:p>
          </p:txBody>
        </p:sp>
        <p:sp>
          <p:nvSpPr>
            <p:cNvPr id="79" name="Line 36"/>
            <p:cNvSpPr>
              <a:spLocks noChangeShapeType="1"/>
            </p:cNvSpPr>
            <p:nvPr/>
          </p:nvSpPr>
          <p:spPr bwMode="auto">
            <a:xfrm>
              <a:off x="1872" y="3840"/>
              <a:ext cx="816" cy="0"/>
            </a:xfrm>
            <a:prstGeom prst="line">
              <a:avLst/>
            </a:prstGeom>
            <a:noFill/>
            <a:ln w="19050">
              <a:solidFill>
                <a:srgbClr val="FF0066"/>
              </a:solidFill>
              <a:round/>
              <a:headEnd/>
              <a:tailEnd type="triangle" w="sm" len="lg"/>
            </a:ln>
          </p:spPr>
          <p:txBody>
            <a:bodyPr wrap="none"/>
            <a:lstStyle/>
            <a:p>
              <a:endParaRPr lang="zh-CN" altLang="en-US"/>
            </a:p>
          </p:txBody>
        </p:sp>
        <p:sp>
          <p:nvSpPr>
            <p:cNvPr id="80" name="Line 37"/>
            <p:cNvSpPr>
              <a:spLocks noChangeShapeType="1"/>
            </p:cNvSpPr>
            <p:nvPr/>
          </p:nvSpPr>
          <p:spPr bwMode="auto">
            <a:xfrm flipH="1">
              <a:off x="912" y="3840"/>
              <a:ext cx="672" cy="0"/>
            </a:xfrm>
            <a:prstGeom prst="line">
              <a:avLst/>
            </a:prstGeom>
            <a:noFill/>
            <a:ln w="19050">
              <a:solidFill>
                <a:srgbClr val="FF0066"/>
              </a:solidFill>
              <a:round/>
              <a:headEnd/>
              <a:tailEnd type="triangle" w="sm" len="lg"/>
            </a:ln>
          </p:spPr>
          <p:txBody>
            <a:bodyPr wrap="none"/>
            <a:lstStyle/>
            <a:p>
              <a:endParaRPr lang="zh-CN" altLang="en-US"/>
            </a:p>
          </p:txBody>
        </p:sp>
        <p:graphicFrame>
          <p:nvGraphicFramePr>
            <p:cNvPr id="81" name="Object 38"/>
            <p:cNvGraphicFramePr>
              <a:graphicFrameLocks noChangeAspect="1"/>
            </p:cNvGraphicFramePr>
            <p:nvPr/>
          </p:nvGraphicFramePr>
          <p:xfrm>
            <a:off x="1584" y="3696"/>
            <a:ext cx="261" cy="288"/>
          </p:xfrm>
          <a:graphic>
            <a:graphicData uri="http://schemas.openxmlformats.org/presentationml/2006/ole">
              <p:oleObj spid="_x0000_s52250" name="Equation" r:id="rId10" imgW="126720" imgH="139680" progId="Equation.3">
                <p:embed/>
              </p:oleObj>
            </a:graphicData>
          </a:graphic>
        </p:graphicFrame>
      </p:grpSp>
      <p:grpSp>
        <p:nvGrpSpPr>
          <p:cNvPr id="82" name="Group 9"/>
          <p:cNvGrpSpPr>
            <a:grpSpLocks/>
          </p:cNvGrpSpPr>
          <p:nvPr/>
        </p:nvGrpSpPr>
        <p:grpSpPr bwMode="auto">
          <a:xfrm>
            <a:off x="2738361" y="4562465"/>
            <a:ext cx="1438091" cy="507650"/>
            <a:chOff x="1979" y="2737"/>
            <a:chExt cx="949" cy="335"/>
          </a:xfrm>
        </p:grpSpPr>
        <p:graphicFrame>
          <p:nvGraphicFramePr>
            <p:cNvPr id="83" name="Object 10"/>
            <p:cNvGraphicFramePr>
              <a:graphicFrameLocks noChangeAspect="1"/>
            </p:cNvGraphicFramePr>
            <p:nvPr/>
          </p:nvGraphicFramePr>
          <p:xfrm>
            <a:off x="1979" y="2737"/>
            <a:ext cx="506" cy="322"/>
          </p:xfrm>
          <a:graphic>
            <a:graphicData uri="http://schemas.openxmlformats.org/presentationml/2006/ole">
              <p:oleObj spid="_x0000_s52251" name="Equation" r:id="rId11" imgW="342720" imgH="228600" progId="Equation.DSMT4">
                <p:embed/>
              </p:oleObj>
            </a:graphicData>
          </a:graphic>
        </p:graphicFrame>
        <p:sp>
          <p:nvSpPr>
            <p:cNvPr id="84" name="Line 11"/>
            <p:cNvSpPr>
              <a:spLocks noChangeShapeType="1"/>
            </p:cNvSpPr>
            <p:nvPr/>
          </p:nvSpPr>
          <p:spPr bwMode="auto">
            <a:xfrm flipH="1">
              <a:off x="2352" y="3072"/>
              <a:ext cx="576" cy="0"/>
            </a:xfrm>
            <a:prstGeom prst="line">
              <a:avLst/>
            </a:prstGeom>
            <a:noFill/>
            <a:ln w="28575">
              <a:solidFill>
                <a:srgbClr val="CC3399"/>
              </a:solidFill>
              <a:round/>
              <a:headEnd/>
              <a:tailEnd type="triangle" w="sm" len="lg"/>
            </a:ln>
          </p:spPr>
          <p:txBody>
            <a:bodyPr wrap="none"/>
            <a:lstStyle/>
            <a:p>
              <a:endParaRPr lang="zh-CN" altLang="en-US"/>
            </a:p>
          </p:txBody>
        </p:sp>
      </p:grpSp>
      <p:graphicFrame>
        <p:nvGraphicFramePr>
          <p:cNvPr id="85" name="Object 12"/>
          <p:cNvGraphicFramePr>
            <a:graphicFrameLocks noChangeAspect="1"/>
          </p:cNvGraphicFramePr>
          <p:nvPr/>
        </p:nvGraphicFramePr>
        <p:xfrm>
          <a:off x="1194195" y="4415480"/>
          <a:ext cx="412182" cy="448551"/>
        </p:xfrm>
        <a:graphic>
          <a:graphicData uri="http://schemas.openxmlformats.org/presentationml/2006/ole">
            <p:oleObj spid="_x0000_s52252" name="Equation" r:id="rId12" imgW="291960" imgH="317160" progId="Equation.3">
              <p:embed/>
            </p:oleObj>
          </a:graphicData>
        </a:graphic>
      </p:graphicFrame>
      <p:grpSp>
        <p:nvGrpSpPr>
          <p:cNvPr id="86" name="Group 13"/>
          <p:cNvGrpSpPr>
            <a:grpSpLocks/>
          </p:cNvGrpSpPr>
          <p:nvPr/>
        </p:nvGrpSpPr>
        <p:grpSpPr bwMode="auto">
          <a:xfrm>
            <a:off x="1921575" y="4197265"/>
            <a:ext cx="1139563" cy="945595"/>
            <a:chOff x="3840" y="2736"/>
            <a:chExt cx="752" cy="624"/>
          </a:xfrm>
        </p:grpSpPr>
        <p:sp>
          <p:nvSpPr>
            <p:cNvPr id="87" name="Oval 14"/>
            <p:cNvSpPr>
              <a:spLocks noChangeArrowheads="1"/>
            </p:cNvSpPr>
            <p:nvPr/>
          </p:nvSpPr>
          <p:spPr bwMode="auto">
            <a:xfrm>
              <a:off x="3840" y="3216"/>
              <a:ext cx="144" cy="144"/>
            </a:xfrm>
            <a:prstGeom prst="ellipse">
              <a:avLst/>
            </a:prstGeom>
            <a:gradFill rotWithShape="0">
              <a:gsLst>
                <a:gs pos="0">
                  <a:srgbClr val="FF0000"/>
                </a:gs>
                <a:gs pos="100000">
                  <a:srgbClr val="760000"/>
                </a:gs>
              </a:gsLst>
              <a:path path="shape">
                <a:fillToRect l="50000" t="50000" r="50000" b="50000"/>
              </a:path>
            </a:gradFill>
            <a:ln w="28575">
              <a:solidFill>
                <a:schemeClr val="accent1"/>
              </a:solidFill>
              <a:round/>
              <a:headEnd/>
              <a:tailEnd/>
            </a:ln>
          </p:spPr>
          <p:txBody>
            <a:bodyPr wrap="none" anchor="ctr"/>
            <a:lstStyle/>
            <a:p>
              <a:endParaRPr lang="zh-CN" altLang="en-US"/>
            </a:p>
          </p:txBody>
        </p:sp>
        <p:sp>
          <p:nvSpPr>
            <p:cNvPr id="88" name="Line 15"/>
            <p:cNvSpPr>
              <a:spLocks noChangeShapeType="1"/>
            </p:cNvSpPr>
            <p:nvPr/>
          </p:nvSpPr>
          <p:spPr bwMode="auto">
            <a:xfrm flipV="1">
              <a:off x="3936" y="2928"/>
              <a:ext cx="480" cy="336"/>
            </a:xfrm>
            <a:prstGeom prst="line">
              <a:avLst/>
            </a:prstGeom>
            <a:noFill/>
            <a:ln w="28575">
              <a:solidFill>
                <a:srgbClr val="0000FF"/>
              </a:solidFill>
              <a:round/>
              <a:headEnd/>
              <a:tailEnd type="triangle" w="sm" len="lg"/>
            </a:ln>
          </p:spPr>
          <p:txBody>
            <a:bodyPr wrap="none" anchor="ctr"/>
            <a:lstStyle/>
            <a:p>
              <a:endParaRPr lang="zh-CN" altLang="en-US"/>
            </a:p>
          </p:txBody>
        </p:sp>
        <p:graphicFrame>
          <p:nvGraphicFramePr>
            <p:cNvPr id="89" name="Object 16"/>
            <p:cNvGraphicFramePr>
              <a:graphicFrameLocks noChangeAspect="1"/>
            </p:cNvGraphicFramePr>
            <p:nvPr/>
          </p:nvGraphicFramePr>
          <p:xfrm>
            <a:off x="4368" y="2736"/>
            <a:ext cx="224" cy="288"/>
          </p:xfrm>
          <a:graphic>
            <a:graphicData uri="http://schemas.openxmlformats.org/presentationml/2006/ole">
              <p:oleObj spid="_x0000_s52253" name="Equation" r:id="rId13" imgW="177480" imgH="228600" progId="Equation.3">
                <p:embed/>
              </p:oleObj>
            </a:graphicData>
          </a:graphic>
        </p:graphicFrame>
      </p:grpSp>
      <p:grpSp>
        <p:nvGrpSpPr>
          <p:cNvPr id="107" name="Group 6"/>
          <p:cNvGrpSpPr>
            <a:grpSpLocks/>
          </p:cNvGrpSpPr>
          <p:nvPr/>
        </p:nvGrpSpPr>
        <p:grpSpPr bwMode="auto">
          <a:xfrm>
            <a:off x="2671688" y="4917069"/>
            <a:ext cx="1504770" cy="524320"/>
            <a:chOff x="1935" y="2971"/>
            <a:chExt cx="993" cy="346"/>
          </a:xfrm>
        </p:grpSpPr>
        <p:graphicFrame>
          <p:nvGraphicFramePr>
            <p:cNvPr id="108" name="Object 7"/>
            <p:cNvGraphicFramePr>
              <a:graphicFrameLocks noChangeAspect="1"/>
            </p:cNvGraphicFramePr>
            <p:nvPr/>
          </p:nvGraphicFramePr>
          <p:xfrm>
            <a:off x="1935" y="2971"/>
            <a:ext cx="473" cy="346"/>
          </p:xfrm>
          <a:graphic>
            <a:graphicData uri="http://schemas.openxmlformats.org/presentationml/2006/ole">
              <p:oleObj spid="_x0000_s52259" name="Equation" r:id="rId14" imgW="291960" imgH="228600" progId="Equation.DSMT4">
                <p:embed/>
              </p:oleObj>
            </a:graphicData>
          </a:graphic>
        </p:graphicFrame>
        <p:sp>
          <p:nvSpPr>
            <p:cNvPr id="109" name="Line 8"/>
            <p:cNvSpPr>
              <a:spLocks noChangeShapeType="1"/>
            </p:cNvSpPr>
            <p:nvPr/>
          </p:nvSpPr>
          <p:spPr bwMode="auto">
            <a:xfrm>
              <a:off x="2352" y="3159"/>
              <a:ext cx="576" cy="0"/>
            </a:xfrm>
            <a:prstGeom prst="line">
              <a:avLst/>
            </a:prstGeom>
            <a:noFill/>
            <a:ln w="28575">
              <a:solidFill>
                <a:srgbClr val="CC3399"/>
              </a:solidFill>
              <a:round/>
              <a:headEnd/>
              <a:tailEnd type="triangle" w="sm" len="lg"/>
            </a:ln>
          </p:spPr>
          <p:txBody>
            <a:bodyPr wrap="none"/>
            <a:lstStyle/>
            <a:p>
              <a:endParaRPr lang="zh-CN" altLang="en-US"/>
            </a:p>
          </p:txBody>
        </p:sp>
      </p:grpSp>
      <p:graphicFrame>
        <p:nvGraphicFramePr>
          <p:cNvPr id="110" name="Object 39"/>
          <p:cNvGraphicFramePr>
            <a:graphicFrameLocks noChangeAspect="1"/>
          </p:cNvGraphicFramePr>
          <p:nvPr/>
        </p:nvGraphicFramePr>
        <p:xfrm>
          <a:off x="3923928" y="4276593"/>
          <a:ext cx="359144" cy="448551"/>
        </p:xfrm>
        <a:graphic>
          <a:graphicData uri="http://schemas.openxmlformats.org/presentationml/2006/ole">
            <p:oleObj spid="_x0000_s52260" name="Equation" r:id="rId15" imgW="253800" imgH="317160" progId="Equation.DSMT4">
              <p:embed/>
            </p:oleObj>
          </a:graphicData>
        </a:graphic>
      </p:graphicFrame>
      <p:sp>
        <p:nvSpPr>
          <p:cNvPr id="111" name="灯片编号占位符 1"/>
          <p:cNvSpPr txBox="1">
            <a:spLocks/>
          </p:cNvSpPr>
          <p:nvPr/>
        </p:nvSpPr>
        <p:spPr bwMode="auto">
          <a:xfrm>
            <a:off x="8606357" y="6584504"/>
            <a:ext cx="574155" cy="300880"/>
          </a:xfrm>
          <a:prstGeom prst="rect">
            <a:avLst/>
          </a:prstGeom>
          <a:noFill/>
          <a:ln>
            <a:miter lim="800000"/>
            <a:headEnd/>
            <a:tailEnd/>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22E3302-AC1D-47C1-A1C9-47DFDD07C79E}" type="slidenum">
              <a:rPr kumimoji="0" lang="en-US" altLang="zh-CN" sz="1400" b="0" i="0" u="none" strike="noStrike" kern="1200" cap="none" spc="0" normalizeH="0" baseline="0" noProof="0" smtClean="0">
                <a:ln>
                  <a:noFill/>
                </a:ln>
                <a:solidFill>
                  <a:schemeClr val="tx1"/>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zh-CN" sz="1400" b="0" i="0" u="none" strike="noStrike" kern="1200" cap="none" spc="0" normalizeH="0" baseline="0" noProof="0" dirty="0">
              <a:ln>
                <a:noFill/>
              </a:ln>
              <a:solidFill>
                <a:schemeClr val="tx1"/>
              </a:solidFill>
              <a:effectLst/>
              <a:uLnTx/>
              <a:uFillTx/>
              <a:latin typeface="Arial" charset="0"/>
              <a:ea typeface="宋体" pitchFamily="2" charset="-122"/>
              <a:cs typeface="+mn-cs"/>
            </a:endParaRPr>
          </a:p>
        </p:txBody>
      </p:sp>
      <p:grpSp>
        <p:nvGrpSpPr>
          <p:cNvPr id="58" name="Group 58"/>
          <p:cNvGrpSpPr>
            <a:grpSpLocks/>
          </p:cNvGrpSpPr>
          <p:nvPr/>
        </p:nvGrpSpPr>
        <p:grpSpPr bwMode="auto">
          <a:xfrm>
            <a:off x="5907982" y="3241936"/>
            <a:ext cx="2930526" cy="3073400"/>
            <a:chOff x="3497" y="1494"/>
            <a:chExt cx="1846" cy="1936"/>
          </a:xfrm>
        </p:grpSpPr>
        <p:grpSp>
          <p:nvGrpSpPr>
            <p:cNvPr id="59" name="Group 57"/>
            <p:cNvGrpSpPr>
              <a:grpSpLocks/>
            </p:cNvGrpSpPr>
            <p:nvPr/>
          </p:nvGrpSpPr>
          <p:grpSpPr bwMode="auto">
            <a:xfrm>
              <a:off x="4065" y="1960"/>
              <a:ext cx="1007" cy="840"/>
              <a:chOff x="4065" y="1960"/>
              <a:chExt cx="1007" cy="840"/>
            </a:xfrm>
          </p:grpSpPr>
          <p:sp>
            <p:nvSpPr>
              <p:cNvPr id="124" name="Oval 42"/>
              <p:cNvSpPr>
                <a:spLocks noChangeArrowheads="1"/>
              </p:cNvSpPr>
              <p:nvPr/>
            </p:nvSpPr>
            <p:spPr bwMode="auto">
              <a:xfrm>
                <a:off x="4065" y="2656"/>
                <a:ext cx="144" cy="144"/>
              </a:xfrm>
              <a:prstGeom prst="ellipse">
                <a:avLst/>
              </a:prstGeom>
              <a:gradFill rotWithShape="0">
                <a:gsLst>
                  <a:gs pos="0">
                    <a:srgbClr val="FF0000"/>
                  </a:gs>
                  <a:gs pos="100000">
                    <a:srgbClr val="760000"/>
                  </a:gs>
                </a:gsLst>
                <a:path path="shape">
                  <a:fillToRect l="50000" t="50000" r="50000" b="50000"/>
                </a:path>
              </a:gradFill>
              <a:ln w="28575">
                <a:solidFill>
                  <a:schemeClr val="accent1"/>
                </a:solidFill>
                <a:round/>
                <a:headEnd/>
                <a:tailEnd/>
              </a:ln>
            </p:spPr>
            <p:txBody>
              <a:bodyPr wrap="none" anchor="ctr"/>
              <a:lstStyle/>
              <a:p>
                <a:endParaRPr lang="zh-CN" altLang="en-US"/>
              </a:p>
            </p:txBody>
          </p:sp>
          <p:sp>
            <p:nvSpPr>
              <p:cNvPr id="125" name="Line 43"/>
              <p:cNvSpPr>
                <a:spLocks noChangeShapeType="1"/>
              </p:cNvSpPr>
              <p:nvPr/>
            </p:nvSpPr>
            <p:spPr bwMode="auto">
              <a:xfrm flipV="1">
                <a:off x="4128" y="2200"/>
                <a:ext cx="720" cy="528"/>
              </a:xfrm>
              <a:prstGeom prst="line">
                <a:avLst/>
              </a:prstGeom>
              <a:noFill/>
              <a:ln w="28575">
                <a:solidFill>
                  <a:srgbClr val="0000FF"/>
                </a:solidFill>
                <a:round/>
                <a:headEnd/>
                <a:tailEnd type="triangle" w="sm" len="lg"/>
              </a:ln>
            </p:spPr>
            <p:txBody>
              <a:bodyPr wrap="none" anchor="ctr"/>
              <a:lstStyle/>
              <a:p>
                <a:endParaRPr lang="zh-CN" altLang="en-US"/>
              </a:p>
            </p:txBody>
          </p:sp>
          <p:graphicFrame>
            <p:nvGraphicFramePr>
              <p:cNvPr id="126" name="Object 44"/>
              <p:cNvGraphicFramePr>
                <a:graphicFrameLocks noChangeAspect="1"/>
              </p:cNvGraphicFramePr>
              <p:nvPr/>
            </p:nvGraphicFramePr>
            <p:xfrm>
              <a:off x="4848" y="1960"/>
              <a:ext cx="224" cy="288"/>
            </p:xfrm>
            <a:graphic>
              <a:graphicData uri="http://schemas.openxmlformats.org/presentationml/2006/ole">
                <p:oleObj spid="_x0000_s52261" name="Equation" r:id="rId16" imgW="177480" imgH="228600" progId="Equation.3">
                  <p:embed/>
                </p:oleObj>
              </a:graphicData>
            </a:graphic>
          </p:graphicFrame>
        </p:grpSp>
        <p:sp>
          <p:nvSpPr>
            <p:cNvPr id="112" name="Line 45"/>
            <p:cNvSpPr>
              <a:spLocks noChangeShapeType="1"/>
            </p:cNvSpPr>
            <p:nvPr/>
          </p:nvSpPr>
          <p:spPr bwMode="auto">
            <a:xfrm>
              <a:off x="3696" y="3160"/>
              <a:ext cx="1152" cy="0"/>
            </a:xfrm>
            <a:prstGeom prst="line">
              <a:avLst/>
            </a:prstGeom>
            <a:noFill/>
            <a:ln w="12700">
              <a:solidFill>
                <a:srgbClr val="333333"/>
              </a:solidFill>
              <a:prstDash val="dash"/>
              <a:round/>
              <a:headEnd/>
              <a:tailEnd/>
            </a:ln>
          </p:spPr>
          <p:txBody>
            <a:bodyPr wrap="none" anchor="ctr"/>
            <a:lstStyle/>
            <a:p>
              <a:endParaRPr lang="zh-CN" altLang="en-US"/>
            </a:p>
          </p:txBody>
        </p:sp>
        <p:sp>
          <p:nvSpPr>
            <p:cNvPr id="113" name="Line 46"/>
            <p:cNvSpPr>
              <a:spLocks noChangeShapeType="1"/>
            </p:cNvSpPr>
            <p:nvPr/>
          </p:nvSpPr>
          <p:spPr bwMode="auto">
            <a:xfrm>
              <a:off x="4848" y="2200"/>
              <a:ext cx="0" cy="960"/>
            </a:xfrm>
            <a:prstGeom prst="line">
              <a:avLst/>
            </a:prstGeom>
            <a:noFill/>
            <a:ln w="12700">
              <a:solidFill>
                <a:srgbClr val="333333"/>
              </a:solidFill>
              <a:prstDash val="dash"/>
              <a:round/>
              <a:headEnd/>
              <a:tailEnd/>
            </a:ln>
          </p:spPr>
          <p:txBody>
            <a:bodyPr wrap="none" anchor="ctr"/>
            <a:lstStyle/>
            <a:p>
              <a:endParaRPr lang="zh-CN" altLang="en-US"/>
            </a:p>
          </p:txBody>
        </p:sp>
        <p:sp>
          <p:nvSpPr>
            <p:cNvPr id="114" name="Line 47"/>
            <p:cNvSpPr>
              <a:spLocks noChangeShapeType="1"/>
            </p:cNvSpPr>
            <p:nvPr/>
          </p:nvSpPr>
          <p:spPr bwMode="auto">
            <a:xfrm flipV="1">
              <a:off x="4848" y="2728"/>
              <a:ext cx="384" cy="432"/>
            </a:xfrm>
            <a:prstGeom prst="line">
              <a:avLst/>
            </a:prstGeom>
            <a:noFill/>
            <a:ln w="12700">
              <a:solidFill>
                <a:srgbClr val="333333"/>
              </a:solidFill>
              <a:prstDash val="dash"/>
              <a:round/>
              <a:headEnd/>
              <a:tailEnd/>
            </a:ln>
          </p:spPr>
          <p:txBody>
            <a:bodyPr wrap="none" anchor="ctr"/>
            <a:lstStyle/>
            <a:p>
              <a:endParaRPr lang="zh-CN" altLang="en-US"/>
            </a:p>
          </p:txBody>
        </p:sp>
        <p:sp>
          <p:nvSpPr>
            <p:cNvPr id="115" name="Line 48"/>
            <p:cNvSpPr>
              <a:spLocks noChangeShapeType="1"/>
            </p:cNvSpPr>
            <p:nvPr/>
          </p:nvSpPr>
          <p:spPr bwMode="auto">
            <a:xfrm flipH="1" flipV="1">
              <a:off x="4128" y="2728"/>
              <a:ext cx="720" cy="432"/>
            </a:xfrm>
            <a:prstGeom prst="line">
              <a:avLst/>
            </a:prstGeom>
            <a:noFill/>
            <a:ln w="12700">
              <a:solidFill>
                <a:srgbClr val="333333"/>
              </a:solidFill>
              <a:prstDash val="dash"/>
              <a:round/>
              <a:headEnd/>
              <a:tailEnd/>
            </a:ln>
          </p:spPr>
          <p:txBody>
            <a:bodyPr wrap="none" anchor="ctr"/>
            <a:lstStyle/>
            <a:p>
              <a:endParaRPr lang="zh-CN" altLang="en-US"/>
            </a:p>
          </p:txBody>
        </p:sp>
        <p:sp>
          <p:nvSpPr>
            <p:cNvPr id="116" name="Line 49"/>
            <p:cNvSpPr>
              <a:spLocks noChangeShapeType="1"/>
            </p:cNvSpPr>
            <p:nvPr/>
          </p:nvSpPr>
          <p:spPr bwMode="auto">
            <a:xfrm>
              <a:off x="4128" y="2728"/>
              <a:ext cx="1104" cy="0"/>
            </a:xfrm>
            <a:prstGeom prst="line">
              <a:avLst/>
            </a:prstGeom>
            <a:noFill/>
            <a:ln w="19050">
              <a:solidFill>
                <a:srgbClr val="008000"/>
              </a:solidFill>
              <a:round/>
              <a:headEnd/>
              <a:tailEnd type="triangle" w="sm" len="lg"/>
            </a:ln>
          </p:spPr>
          <p:txBody>
            <a:bodyPr wrap="none" anchor="ctr"/>
            <a:lstStyle/>
            <a:p>
              <a:endParaRPr lang="zh-CN" altLang="en-US"/>
            </a:p>
          </p:txBody>
        </p:sp>
        <p:graphicFrame>
          <p:nvGraphicFramePr>
            <p:cNvPr id="117" name="Object 50"/>
            <p:cNvGraphicFramePr>
              <a:graphicFrameLocks noChangeAspect="1"/>
            </p:cNvGraphicFramePr>
            <p:nvPr/>
          </p:nvGraphicFramePr>
          <p:xfrm>
            <a:off x="3835" y="1494"/>
            <a:ext cx="294" cy="447"/>
          </p:xfrm>
          <a:graphic>
            <a:graphicData uri="http://schemas.openxmlformats.org/presentationml/2006/ole">
              <p:oleObj spid="_x0000_s52262" name="Equation" r:id="rId17" imgW="177480" imgH="241200" progId="Equation.DSMT4">
                <p:embed/>
              </p:oleObj>
            </a:graphicData>
          </a:graphic>
        </p:graphicFrame>
        <p:sp>
          <p:nvSpPr>
            <p:cNvPr id="118" name="Line 51"/>
            <p:cNvSpPr>
              <a:spLocks noChangeShapeType="1"/>
            </p:cNvSpPr>
            <p:nvPr/>
          </p:nvSpPr>
          <p:spPr bwMode="auto">
            <a:xfrm flipV="1">
              <a:off x="4128" y="1768"/>
              <a:ext cx="0" cy="960"/>
            </a:xfrm>
            <a:prstGeom prst="line">
              <a:avLst/>
            </a:prstGeom>
            <a:noFill/>
            <a:ln w="19050">
              <a:solidFill>
                <a:srgbClr val="008000"/>
              </a:solidFill>
              <a:round/>
              <a:headEnd/>
              <a:tailEnd type="triangle" w="sm" len="lg"/>
            </a:ln>
          </p:spPr>
          <p:txBody>
            <a:bodyPr wrap="none" anchor="ctr"/>
            <a:lstStyle/>
            <a:p>
              <a:endParaRPr lang="zh-CN" altLang="en-US"/>
            </a:p>
          </p:txBody>
        </p:sp>
        <p:sp>
          <p:nvSpPr>
            <p:cNvPr id="119" name="Line 52"/>
            <p:cNvSpPr>
              <a:spLocks noChangeShapeType="1"/>
            </p:cNvSpPr>
            <p:nvPr/>
          </p:nvSpPr>
          <p:spPr bwMode="auto">
            <a:xfrm flipH="1">
              <a:off x="3696" y="2728"/>
              <a:ext cx="432" cy="432"/>
            </a:xfrm>
            <a:prstGeom prst="line">
              <a:avLst/>
            </a:prstGeom>
            <a:noFill/>
            <a:ln w="19050">
              <a:solidFill>
                <a:srgbClr val="008000"/>
              </a:solidFill>
              <a:round/>
              <a:headEnd/>
              <a:tailEnd type="triangle" w="sm" len="lg"/>
            </a:ln>
          </p:spPr>
          <p:txBody>
            <a:bodyPr wrap="none" anchor="ctr"/>
            <a:lstStyle/>
            <a:p>
              <a:endParaRPr lang="zh-CN" altLang="en-US"/>
            </a:p>
          </p:txBody>
        </p:sp>
        <p:sp>
          <p:nvSpPr>
            <p:cNvPr id="120" name="Line 53"/>
            <p:cNvSpPr>
              <a:spLocks noChangeShapeType="1"/>
            </p:cNvSpPr>
            <p:nvPr/>
          </p:nvSpPr>
          <p:spPr bwMode="auto">
            <a:xfrm flipH="1" flipV="1">
              <a:off x="4128" y="1768"/>
              <a:ext cx="720" cy="432"/>
            </a:xfrm>
            <a:prstGeom prst="line">
              <a:avLst/>
            </a:prstGeom>
            <a:noFill/>
            <a:ln w="12700">
              <a:solidFill>
                <a:srgbClr val="333333"/>
              </a:solidFill>
              <a:prstDash val="dash"/>
              <a:round/>
              <a:headEnd/>
              <a:tailEnd/>
            </a:ln>
          </p:spPr>
          <p:txBody>
            <a:bodyPr wrap="none" anchor="ctr"/>
            <a:lstStyle/>
            <a:p>
              <a:endParaRPr lang="zh-CN" altLang="en-US"/>
            </a:p>
          </p:txBody>
        </p:sp>
        <p:graphicFrame>
          <p:nvGraphicFramePr>
            <p:cNvPr id="121" name="Object 54"/>
            <p:cNvGraphicFramePr>
              <a:graphicFrameLocks noChangeAspect="1"/>
            </p:cNvGraphicFramePr>
            <p:nvPr/>
          </p:nvGraphicFramePr>
          <p:xfrm>
            <a:off x="5051" y="2329"/>
            <a:ext cx="292" cy="424"/>
          </p:xfrm>
          <a:graphic>
            <a:graphicData uri="http://schemas.openxmlformats.org/presentationml/2006/ole">
              <p:oleObj spid="_x0000_s52263" name="Equation" r:id="rId18" imgW="177480" imgH="228600" progId="Equation.DSMT4">
                <p:embed/>
              </p:oleObj>
            </a:graphicData>
          </a:graphic>
        </p:graphicFrame>
        <p:graphicFrame>
          <p:nvGraphicFramePr>
            <p:cNvPr id="122" name="Object 55"/>
            <p:cNvGraphicFramePr>
              <a:graphicFrameLocks noChangeAspect="1"/>
            </p:cNvGraphicFramePr>
            <p:nvPr/>
          </p:nvGraphicFramePr>
          <p:xfrm>
            <a:off x="3497" y="3006"/>
            <a:ext cx="273" cy="424"/>
          </p:xfrm>
          <a:graphic>
            <a:graphicData uri="http://schemas.openxmlformats.org/presentationml/2006/ole">
              <p:oleObj spid="_x0000_s52264" name="Equation" r:id="rId19" imgW="164880" imgH="228600" progId="Equation.DSMT4">
                <p:embed/>
              </p:oleObj>
            </a:graphicData>
          </a:graphic>
        </p:graphicFrame>
        <p:graphicFrame>
          <p:nvGraphicFramePr>
            <p:cNvPr id="123" name="Object 56"/>
            <p:cNvGraphicFramePr>
              <a:graphicFrameLocks noChangeAspect="1"/>
            </p:cNvGraphicFramePr>
            <p:nvPr/>
          </p:nvGraphicFramePr>
          <p:xfrm>
            <a:off x="3893" y="2560"/>
            <a:ext cx="187" cy="216"/>
          </p:xfrm>
          <a:graphic>
            <a:graphicData uri="http://schemas.openxmlformats.org/presentationml/2006/ole">
              <p:oleObj spid="_x0000_s52265" name="Equation" r:id="rId20" imgW="164880" imgH="190440" progId="Equation.3">
                <p:embed/>
              </p:oleObj>
            </a:graphicData>
          </a:graphic>
        </p:graphicFrame>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84" name="Text Box 428"/>
          <p:cNvSpPr txBox="1">
            <a:spLocks noChangeArrowheads="1"/>
          </p:cNvSpPr>
          <p:nvPr/>
        </p:nvSpPr>
        <p:spPr bwMode="auto">
          <a:xfrm>
            <a:off x="467544" y="384647"/>
            <a:ext cx="1958975" cy="523220"/>
          </a:xfrm>
          <a:prstGeom prst="rect">
            <a:avLst/>
          </a:prstGeom>
          <a:noFill/>
          <a:ln w="9525">
            <a:noFill/>
            <a:miter lim="800000"/>
            <a:headEnd/>
            <a:tailEnd/>
          </a:ln>
        </p:spPr>
        <p:txBody>
          <a:bodyPr>
            <a:spAutoFit/>
          </a:bodyPr>
          <a:lstStyle/>
          <a:p>
            <a:r>
              <a:rPr kumimoji="1" lang="zh-CN" altLang="en-US" sz="2800" b="1" dirty="0">
                <a:solidFill>
                  <a:srgbClr val="CC0000"/>
                </a:solidFill>
                <a:latin typeface="Times New Roman" pitchFamily="18" charset="0"/>
              </a:rPr>
              <a:t>压强</a:t>
            </a:r>
            <a:r>
              <a:rPr kumimoji="1" lang="zh-CN" altLang="en-US" sz="2800" b="1" dirty="0">
                <a:solidFill>
                  <a:srgbClr val="CC0000"/>
                </a:solidFill>
                <a:latin typeface="Times New Roman" pitchFamily="18" charset="0"/>
                <a:ea typeface="楷体_GB2312" pitchFamily="49" charset="-122"/>
              </a:rPr>
              <a:t> </a:t>
            </a:r>
            <a:r>
              <a:rPr kumimoji="1" lang="en-US" altLang="zh-CN" sz="2800" b="1" i="1" dirty="0" smtClean="0">
                <a:solidFill>
                  <a:srgbClr val="CC0000"/>
                </a:solidFill>
                <a:latin typeface="Times New Roman" pitchFamily="18" charset="0"/>
                <a:ea typeface="楷体_GB2312" pitchFamily="49" charset="-122"/>
              </a:rPr>
              <a:t>  </a:t>
            </a:r>
            <a:endParaRPr kumimoji="1" lang="en-US" altLang="zh-CN" sz="2800" b="1" i="1" dirty="0">
              <a:solidFill>
                <a:srgbClr val="CC0000"/>
              </a:solidFill>
              <a:latin typeface="Times New Roman" pitchFamily="18" charset="0"/>
              <a:ea typeface="楷体_GB2312" pitchFamily="49" charset="-122"/>
            </a:endParaRPr>
          </a:p>
        </p:txBody>
      </p:sp>
      <p:sp>
        <p:nvSpPr>
          <p:cNvPr id="45486" name="Text Box 430"/>
          <p:cNvSpPr txBox="1">
            <a:spLocks noChangeArrowheads="1"/>
          </p:cNvSpPr>
          <p:nvPr/>
        </p:nvSpPr>
        <p:spPr bwMode="auto">
          <a:xfrm>
            <a:off x="624209" y="1124744"/>
            <a:ext cx="8196263" cy="1629677"/>
          </a:xfrm>
          <a:prstGeom prst="rect">
            <a:avLst/>
          </a:prstGeom>
          <a:noFill/>
          <a:ln w="9525">
            <a:noFill/>
            <a:miter lim="800000"/>
            <a:headEnd/>
            <a:tailEnd/>
          </a:ln>
        </p:spPr>
        <p:txBody>
          <a:bodyPr>
            <a:spAutoFit/>
          </a:bodyPr>
          <a:lstStyle/>
          <a:p>
            <a:pPr eaLnBrk="0" hangingPunct="0">
              <a:lnSpc>
                <a:spcPct val="120000"/>
              </a:lnSpc>
            </a:pPr>
            <a:r>
              <a:rPr lang="en-US" altLang="zh-CN" sz="2800" b="1" dirty="0">
                <a:solidFill>
                  <a:srgbClr val="000404"/>
                </a:solidFill>
                <a:latin typeface="Times New Roman" pitchFamily="18" charset="0"/>
              </a:rPr>
              <a:t>        </a:t>
            </a:r>
            <a:r>
              <a:rPr lang="zh-CN" altLang="en-US" sz="2800" b="1" dirty="0">
                <a:solidFill>
                  <a:srgbClr val="000404"/>
                </a:solidFill>
                <a:latin typeface="Times New Roman" pitchFamily="18" charset="0"/>
              </a:rPr>
              <a:t>微观上看，气体作无规热运动，气体的压强等于大量分子在单位时间内施加在单位面积器壁上的平均冲量</a:t>
            </a:r>
            <a:r>
              <a:rPr lang="zh-CN" altLang="en-US" sz="2800" b="1" dirty="0" smtClean="0">
                <a:solidFill>
                  <a:srgbClr val="000404"/>
                </a:solidFill>
                <a:latin typeface="Times New Roman" pitchFamily="18" charset="0"/>
              </a:rPr>
              <a:t>。</a:t>
            </a:r>
            <a:endParaRPr lang="zh-CN" altLang="en-US" sz="2800" dirty="0">
              <a:solidFill>
                <a:srgbClr val="000404"/>
              </a:solidFill>
              <a:latin typeface="Times New Roman" pitchFamily="18" charset="0"/>
            </a:endParaRPr>
          </a:p>
        </p:txBody>
      </p:sp>
      <p:graphicFrame>
        <p:nvGraphicFramePr>
          <p:cNvPr id="45487" name="Object 431"/>
          <p:cNvGraphicFramePr>
            <a:graphicFrameLocks noChangeAspect="1"/>
          </p:cNvGraphicFramePr>
          <p:nvPr/>
        </p:nvGraphicFramePr>
        <p:xfrm>
          <a:off x="1403648" y="116632"/>
          <a:ext cx="1070870" cy="948973"/>
        </p:xfrm>
        <a:graphic>
          <a:graphicData uri="http://schemas.openxmlformats.org/presentationml/2006/ole">
            <p:oleObj spid="_x0000_s53250" name="公式" r:id="rId3" imgW="335880" imgH="292680" progId="Equation.3">
              <p:embed/>
            </p:oleObj>
          </a:graphicData>
        </a:graphic>
      </p:graphicFrame>
      <p:grpSp>
        <p:nvGrpSpPr>
          <p:cNvPr id="43" name="Group 58"/>
          <p:cNvGrpSpPr>
            <a:grpSpLocks/>
          </p:cNvGrpSpPr>
          <p:nvPr/>
        </p:nvGrpSpPr>
        <p:grpSpPr bwMode="auto">
          <a:xfrm>
            <a:off x="5907982" y="3241936"/>
            <a:ext cx="2930526" cy="3073400"/>
            <a:chOff x="3497" y="1494"/>
            <a:chExt cx="1846" cy="1936"/>
          </a:xfrm>
        </p:grpSpPr>
        <p:grpSp>
          <p:nvGrpSpPr>
            <p:cNvPr id="44" name="Group 57"/>
            <p:cNvGrpSpPr>
              <a:grpSpLocks/>
            </p:cNvGrpSpPr>
            <p:nvPr/>
          </p:nvGrpSpPr>
          <p:grpSpPr bwMode="auto">
            <a:xfrm>
              <a:off x="4065" y="1960"/>
              <a:ext cx="1007" cy="840"/>
              <a:chOff x="4065" y="1960"/>
              <a:chExt cx="1007" cy="840"/>
            </a:xfrm>
          </p:grpSpPr>
          <p:sp>
            <p:nvSpPr>
              <p:cNvPr id="57" name="Oval 42"/>
              <p:cNvSpPr>
                <a:spLocks noChangeArrowheads="1"/>
              </p:cNvSpPr>
              <p:nvPr/>
            </p:nvSpPr>
            <p:spPr bwMode="auto">
              <a:xfrm>
                <a:off x="4065" y="2656"/>
                <a:ext cx="144" cy="144"/>
              </a:xfrm>
              <a:prstGeom prst="ellipse">
                <a:avLst/>
              </a:prstGeom>
              <a:gradFill rotWithShape="0">
                <a:gsLst>
                  <a:gs pos="0">
                    <a:srgbClr val="FF0000"/>
                  </a:gs>
                  <a:gs pos="100000">
                    <a:srgbClr val="760000"/>
                  </a:gs>
                </a:gsLst>
                <a:path path="shape">
                  <a:fillToRect l="50000" t="50000" r="50000" b="50000"/>
                </a:path>
              </a:gradFill>
              <a:ln w="28575">
                <a:solidFill>
                  <a:schemeClr val="accent1"/>
                </a:solidFill>
                <a:round/>
                <a:headEnd/>
                <a:tailEnd/>
              </a:ln>
            </p:spPr>
            <p:txBody>
              <a:bodyPr wrap="none" anchor="ctr"/>
              <a:lstStyle/>
              <a:p>
                <a:endParaRPr lang="zh-CN" altLang="en-US"/>
              </a:p>
            </p:txBody>
          </p:sp>
          <p:sp>
            <p:nvSpPr>
              <p:cNvPr id="58" name="Line 43"/>
              <p:cNvSpPr>
                <a:spLocks noChangeShapeType="1"/>
              </p:cNvSpPr>
              <p:nvPr/>
            </p:nvSpPr>
            <p:spPr bwMode="auto">
              <a:xfrm flipV="1">
                <a:off x="4128" y="2200"/>
                <a:ext cx="720" cy="528"/>
              </a:xfrm>
              <a:prstGeom prst="line">
                <a:avLst/>
              </a:prstGeom>
              <a:noFill/>
              <a:ln w="28575">
                <a:solidFill>
                  <a:srgbClr val="0000FF"/>
                </a:solidFill>
                <a:round/>
                <a:headEnd/>
                <a:tailEnd type="triangle" w="sm" len="lg"/>
              </a:ln>
            </p:spPr>
            <p:txBody>
              <a:bodyPr wrap="none" anchor="ctr"/>
              <a:lstStyle/>
              <a:p>
                <a:endParaRPr lang="zh-CN" altLang="en-US"/>
              </a:p>
            </p:txBody>
          </p:sp>
          <p:graphicFrame>
            <p:nvGraphicFramePr>
              <p:cNvPr id="59" name="Object 44"/>
              <p:cNvGraphicFramePr>
                <a:graphicFrameLocks noChangeAspect="1"/>
              </p:cNvGraphicFramePr>
              <p:nvPr/>
            </p:nvGraphicFramePr>
            <p:xfrm>
              <a:off x="4848" y="1960"/>
              <a:ext cx="224" cy="288"/>
            </p:xfrm>
            <a:graphic>
              <a:graphicData uri="http://schemas.openxmlformats.org/presentationml/2006/ole">
                <p:oleObj spid="_x0000_s53263" name="Equation" r:id="rId4" imgW="177480" imgH="228600" progId="Equation.3">
                  <p:embed/>
                </p:oleObj>
              </a:graphicData>
            </a:graphic>
          </p:graphicFrame>
        </p:grpSp>
        <p:sp>
          <p:nvSpPr>
            <p:cNvPr id="45" name="Line 45"/>
            <p:cNvSpPr>
              <a:spLocks noChangeShapeType="1"/>
            </p:cNvSpPr>
            <p:nvPr/>
          </p:nvSpPr>
          <p:spPr bwMode="auto">
            <a:xfrm>
              <a:off x="3696" y="3160"/>
              <a:ext cx="1152" cy="0"/>
            </a:xfrm>
            <a:prstGeom prst="line">
              <a:avLst/>
            </a:prstGeom>
            <a:noFill/>
            <a:ln w="12700">
              <a:solidFill>
                <a:srgbClr val="333333"/>
              </a:solidFill>
              <a:prstDash val="dash"/>
              <a:round/>
              <a:headEnd/>
              <a:tailEnd/>
            </a:ln>
          </p:spPr>
          <p:txBody>
            <a:bodyPr wrap="none" anchor="ctr"/>
            <a:lstStyle/>
            <a:p>
              <a:endParaRPr lang="zh-CN" altLang="en-US"/>
            </a:p>
          </p:txBody>
        </p:sp>
        <p:sp>
          <p:nvSpPr>
            <p:cNvPr id="46" name="Line 46"/>
            <p:cNvSpPr>
              <a:spLocks noChangeShapeType="1"/>
            </p:cNvSpPr>
            <p:nvPr/>
          </p:nvSpPr>
          <p:spPr bwMode="auto">
            <a:xfrm>
              <a:off x="4848" y="2200"/>
              <a:ext cx="0" cy="960"/>
            </a:xfrm>
            <a:prstGeom prst="line">
              <a:avLst/>
            </a:prstGeom>
            <a:noFill/>
            <a:ln w="12700">
              <a:solidFill>
                <a:srgbClr val="333333"/>
              </a:solidFill>
              <a:prstDash val="dash"/>
              <a:round/>
              <a:headEnd/>
              <a:tailEnd/>
            </a:ln>
          </p:spPr>
          <p:txBody>
            <a:bodyPr wrap="none" anchor="ctr"/>
            <a:lstStyle/>
            <a:p>
              <a:endParaRPr lang="zh-CN" altLang="en-US"/>
            </a:p>
          </p:txBody>
        </p:sp>
        <p:sp>
          <p:nvSpPr>
            <p:cNvPr id="47" name="Line 47"/>
            <p:cNvSpPr>
              <a:spLocks noChangeShapeType="1"/>
            </p:cNvSpPr>
            <p:nvPr/>
          </p:nvSpPr>
          <p:spPr bwMode="auto">
            <a:xfrm flipV="1">
              <a:off x="4848" y="2728"/>
              <a:ext cx="384" cy="432"/>
            </a:xfrm>
            <a:prstGeom prst="line">
              <a:avLst/>
            </a:prstGeom>
            <a:noFill/>
            <a:ln w="12700">
              <a:solidFill>
                <a:srgbClr val="333333"/>
              </a:solidFill>
              <a:prstDash val="dash"/>
              <a:round/>
              <a:headEnd/>
              <a:tailEnd/>
            </a:ln>
          </p:spPr>
          <p:txBody>
            <a:bodyPr wrap="none" anchor="ctr"/>
            <a:lstStyle/>
            <a:p>
              <a:endParaRPr lang="zh-CN" altLang="en-US"/>
            </a:p>
          </p:txBody>
        </p:sp>
        <p:sp>
          <p:nvSpPr>
            <p:cNvPr id="48" name="Line 48"/>
            <p:cNvSpPr>
              <a:spLocks noChangeShapeType="1"/>
            </p:cNvSpPr>
            <p:nvPr/>
          </p:nvSpPr>
          <p:spPr bwMode="auto">
            <a:xfrm flipH="1" flipV="1">
              <a:off x="4128" y="2728"/>
              <a:ext cx="720" cy="432"/>
            </a:xfrm>
            <a:prstGeom prst="line">
              <a:avLst/>
            </a:prstGeom>
            <a:noFill/>
            <a:ln w="12700">
              <a:solidFill>
                <a:srgbClr val="333333"/>
              </a:solidFill>
              <a:prstDash val="dash"/>
              <a:round/>
              <a:headEnd/>
              <a:tailEnd/>
            </a:ln>
          </p:spPr>
          <p:txBody>
            <a:bodyPr wrap="none" anchor="ctr"/>
            <a:lstStyle/>
            <a:p>
              <a:endParaRPr lang="zh-CN" altLang="en-US"/>
            </a:p>
          </p:txBody>
        </p:sp>
        <p:sp>
          <p:nvSpPr>
            <p:cNvPr id="49" name="Line 49"/>
            <p:cNvSpPr>
              <a:spLocks noChangeShapeType="1"/>
            </p:cNvSpPr>
            <p:nvPr/>
          </p:nvSpPr>
          <p:spPr bwMode="auto">
            <a:xfrm>
              <a:off x="4128" y="2728"/>
              <a:ext cx="1104" cy="0"/>
            </a:xfrm>
            <a:prstGeom prst="line">
              <a:avLst/>
            </a:prstGeom>
            <a:noFill/>
            <a:ln w="19050">
              <a:solidFill>
                <a:srgbClr val="008000"/>
              </a:solidFill>
              <a:round/>
              <a:headEnd/>
              <a:tailEnd type="triangle" w="sm" len="lg"/>
            </a:ln>
          </p:spPr>
          <p:txBody>
            <a:bodyPr wrap="none" anchor="ctr"/>
            <a:lstStyle/>
            <a:p>
              <a:endParaRPr lang="zh-CN" altLang="en-US"/>
            </a:p>
          </p:txBody>
        </p:sp>
        <p:graphicFrame>
          <p:nvGraphicFramePr>
            <p:cNvPr id="50" name="Object 50"/>
            <p:cNvGraphicFramePr>
              <a:graphicFrameLocks noChangeAspect="1"/>
            </p:cNvGraphicFramePr>
            <p:nvPr/>
          </p:nvGraphicFramePr>
          <p:xfrm>
            <a:off x="3835" y="1494"/>
            <a:ext cx="294" cy="447"/>
          </p:xfrm>
          <a:graphic>
            <a:graphicData uri="http://schemas.openxmlformats.org/presentationml/2006/ole">
              <p:oleObj spid="_x0000_s53264" name="Equation" r:id="rId5" imgW="177480" imgH="241200" progId="Equation.DSMT4">
                <p:embed/>
              </p:oleObj>
            </a:graphicData>
          </a:graphic>
        </p:graphicFrame>
        <p:sp>
          <p:nvSpPr>
            <p:cNvPr id="51" name="Line 51"/>
            <p:cNvSpPr>
              <a:spLocks noChangeShapeType="1"/>
            </p:cNvSpPr>
            <p:nvPr/>
          </p:nvSpPr>
          <p:spPr bwMode="auto">
            <a:xfrm flipV="1">
              <a:off x="4128" y="1768"/>
              <a:ext cx="0" cy="960"/>
            </a:xfrm>
            <a:prstGeom prst="line">
              <a:avLst/>
            </a:prstGeom>
            <a:noFill/>
            <a:ln w="19050">
              <a:solidFill>
                <a:srgbClr val="008000"/>
              </a:solidFill>
              <a:round/>
              <a:headEnd/>
              <a:tailEnd type="triangle" w="sm" len="lg"/>
            </a:ln>
          </p:spPr>
          <p:txBody>
            <a:bodyPr wrap="none" anchor="ctr"/>
            <a:lstStyle/>
            <a:p>
              <a:endParaRPr lang="zh-CN" altLang="en-US"/>
            </a:p>
          </p:txBody>
        </p:sp>
        <p:sp>
          <p:nvSpPr>
            <p:cNvPr id="52" name="Line 52"/>
            <p:cNvSpPr>
              <a:spLocks noChangeShapeType="1"/>
            </p:cNvSpPr>
            <p:nvPr/>
          </p:nvSpPr>
          <p:spPr bwMode="auto">
            <a:xfrm flipH="1">
              <a:off x="3696" y="2728"/>
              <a:ext cx="432" cy="432"/>
            </a:xfrm>
            <a:prstGeom prst="line">
              <a:avLst/>
            </a:prstGeom>
            <a:noFill/>
            <a:ln w="19050">
              <a:solidFill>
                <a:srgbClr val="008000"/>
              </a:solidFill>
              <a:round/>
              <a:headEnd/>
              <a:tailEnd type="triangle" w="sm" len="lg"/>
            </a:ln>
          </p:spPr>
          <p:txBody>
            <a:bodyPr wrap="none" anchor="ctr"/>
            <a:lstStyle/>
            <a:p>
              <a:endParaRPr lang="zh-CN" altLang="en-US"/>
            </a:p>
          </p:txBody>
        </p:sp>
        <p:sp>
          <p:nvSpPr>
            <p:cNvPr id="53" name="Line 53"/>
            <p:cNvSpPr>
              <a:spLocks noChangeShapeType="1"/>
            </p:cNvSpPr>
            <p:nvPr/>
          </p:nvSpPr>
          <p:spPr bwMode="auto">
            <a:xfrm flipH="1" flipV="1">
              <a:off x="4128" y="1768"/>
              <a:ext cx="720" cy="432"/>
            </a:xfrm>
            <a:prstGeom prst="line">
              <a:avLst/>
            </a:prstGeom>
            <a:noFill/>
            <a:ln w="12700">
              <a:solidFill>
                <a:srgbClr val="333333"/>
              </a:solidFill>
              <a:prstDash val="dash"/>
              <a:round/>
              <a:headEnd/>
              <a:tailEnd/>
            </a:ln>
          </p:spPr>
          <p:txBody>
            <a:bodyPr wrap="none" anchor="ctr"/>
            <a:lstStyle/>
            <a:p>
              <a:endParaRPr lang="zh-CN" altLang="en-US"/>
            </a:p>
          </p:txBody>
        </p:sp>
        <p:graphicFrame>
          <p:nvGraphicFramePr>
            <p:cNvPr id="54" name="Object 54"/>
            <p:cNvGraphicFramePr>
              <a:graphicFrameLocks noChangeAspect="1"/>
            </p:cNvGraphicFramePr>
            <p:nvPr/>
          </p:nvGraphicFramePr>
          <p:xfrm>
            <a:off x="5051" y="2329"/>
            <a:ext cx="292" cy="424"/>
          </p:xfrm>
          <a:graphic>
            <a:graphicData uri="http://schemas.openxmlformats.org/presentationml/2006/ole">
              <p:oleObj spid="_x0000_s53265" name="Equation" r:id="rId6" imgW="177480" imgH="228600" progId="Equation.DSMT4">
                <p:embed/>
              </p:oleObj>
            </a:graphicData>
          </a:graphic>
        </p:graphicFrame>
        <p:graphicFrame>
          <p:nvGraphicFramePr>
            <p:cNvPr id="55" name="Object 55"/>
            <p:cNvGraphicFramePr>
              <a:graphicFrameLocks noChangeAspect="1"/>
            </p:cNvGraphicFramePr>
            <p:nvPr/>
          </p:nvGraphicFramePr>
          <p:xfrm>
            <a:off x="3497" y="3006"/>
            <a:ext cx="273" cy="424"/>
          </p:xfrm>
          <a:graphic>
            <a:graphicData uri="http://schemas.openxmlformats.org/presentationml/2006/ole">
              <p:oleObj spid="_x0000_s53266" name="Equation" r:id="rId7" imgW="164880" imgH="228600" progId="Equation.DSMT4">
                <p:embed/>
              </p:oleObj>
            </a:graphicData>
          </a:graphic>
        </p:graphicFrame>
        <p:graphicFrame>
          <p:nvGraphicFramePr>
            <p:cNvPr id="56" name="Object 56"/>
            <p:cNvGraphicFramePr>
              <a:graphicFrameLocks noChangeAspect="1"/>
            </p:cNvGraphicFramePr>
            <p:nvPr/>
          </p:nvGraphicFramePr>
          <p:xfrm>
            <a:off x="3893" y="2560"/>
            <a:ext cx="187" cy="216"/>
          </p:xfrm>
          <a:graphic>
            <a:graphicData uri="http://schemas.openxmlformats.org/presentationml/2006/ole">
              <p:oleObj spid="_x0000_s53267" name="Equation" r:id="rId8" imgW="164880" imgH="190440" progId="Equation.3">
                <p:embed/>
              </p:oleObj>
            </a:graphicData>
          </a:graphic>
        </p:graphicFrame>
      </p:grpSp>
      <p:sp>
        <p:nvSpPr>
          <p:cNvPr id="63" name="灯片编号占位符 1"/>
          <p:cNvSpPr txBox="1">
            <a:spLocks/>
          </p:cNvSpPr>
          <p:nvPr/>
        </p:nvSpPr>
        <p:spPr bwMode="auto">
          <a:xfrm>
            <a:off x="8606357" y="6584504"/>
            <a:ext cx="574155" cy="300880"/>
          </a:xfrm>
          <a:prstGeom prst="rect">
            <a:avLst/>
          </a:prstGeom>
          <a:noFill/>
          <a:ln>
            <a:miter lim="800000"/>
            <a:headEnd/>
            <a:tailEnd/>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22E3302-AC1D-47C1-A1C9-47DFDD07C79E}" type="slidenum">
              <a:rPr kumimoji="0" lang="en-US" altLang="zh-CN" sz="1400" b="0" i="0" u="none" strike="noStrike" kern="1200" cap="none" spc="0" normalizeH="0" baseline="0" noProof="0" smtClean="0">
                <a:ln>
                  <a:noFill/>
                </a:ln>
                <a:solidFill>
                  <a:schemeClr val="tx1"/>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zh-CN" sz="1400" b="0" i="0" u="none" strike="noStrike" kern="1200" cap="none" spc="0" normalizeH="0" baseline="0" noProof="0" dirty="0">
              <a:ln>
                <a:noFill/>
              </a:ln>
              <a:solidFill>
                <a:schemeClr val="tx1"/>
              </a:solidFill>
              <a:effectLst/>
              <a:uLnTx/>
              <a:uFillTx/>
              <a:latin typeface="Arial" charset="0"/>
              <a:ea typeface="宋体" pitchFamily="2" charset="-122"/>
              <a:cs typeface="+mn-cs"/>
            </a:endParaRPr>
          </a:p>
        </p:txBody>
      </p:sp>
      <p:grpSp>
        <p:nvGrpSpPr>
          <p:cNvPr id="98" name="Group 17"/>
          <p:cNvGrpSpPr>
            <a:grpSpLocks/>
          </p:cNvGrpSpPr>
          <p:nvPr/>
        </p:nvGrpSpPr>
        <p:grpSpPr bwMode="auto">
          <a:xfrm>
            <a:off x="611560" y="2924944"/>
            <a:ext cx="4932551" cy="3491428"/>
            <a:chOff x="576" y="1680"/>
            <a:chExt cx="3255" cy="2304"/>
          </a:xfrm>
        </p:grpSpPr>
        <p:sp>
          <p:nvSpPr>
            <p:cNvPr id="99" name="AutoShape 25"/>
            <p:cNvSpPr>
              <a:spLocks noChangeArrowheads="1"/>
            </p:cNvSpPr>
            <p:nvPr/>
          </p:nvSpPr>
          <p:spPr bwMode="auto">
            <a:xfrm>
              <a:off x="912" y="2064"/>
              <a:ext cx="2160" cy="1632"/>
            </a:xfrm>
            <a:prstGeom prst="cube">
              <a:avLst>
                <a:gd name="adj" fmla="val 24681"/>
              </a:avLst>
            </a:prstGeom>
            <a:solidFill>
              <a:srgbClr val="CCFFCC">
                <a:alpha val="50195"/>
              </a:srgbClr>
            </a:solidFill>
            <a:ln w="19050">
              <a:solidFill>
                <a:schemeClr val="tx2"/>
              </a:solidFill>
              <a:miter lim="800000"/>
              <a:headEnd/>
              <a:tailEnd/>
            </a:ln>
          </p:spPr>
          <p:txBody>
            <a:bodyPr wrap="none" anchor="ctr"/>
            <a:lstStyle/>
            <a:p>
              <a:endParaRPr lang="zh-CN" altLang="en-US"/>
            </a:p>
          </p:txBody>
        </p:sp>
        <p:sp>
          <p:nvSpPr>
            <p:cNvPr id="100" name="Line 18"/>
            <p:cNvSpPr>
              <a:spLocks noChangeShapeType="1"/>
            </p:cNvSpPr>
            <p:nvPr/>
          </p:nvSpPr>
          <p:spPr bwMode="auto">
            <a:xfrm flipV="1">
              <a:off x="1344" y="1728"/>
              <a:ext cx="0" cy="1584"/>
            </a:xfrm>
            <a:prstGeom prst="line">
              <a:avLst/>
            </a:prstGeom>
            <a:noFill/>
            <a:ln w="19050">
              <a:solidFill>
                <a:srgbClr val="000000"/>
              </a:solidFill>
              <a:prstDash val="sysDot"/>
              <a:round/>
              <a:headEnd/>
              <a:tailEnd type="triangle" w="sm" len="lg"/>
            </a:ln>
          </p:spPr>
          <p:txBody>
            <a:bodyPr wrap="none" anchor="ctr"/>
            <a:lstStyle/>
            <a:p>
              <a:endParaRPr lang="zh-CN" altLang="en-US"/>
            </a:p>
          </p:txBody>
        </p:sp>
        <p:graphicFrame>
          <p:nvGraphicFramePr>
            <p:cNvPr id="101" name="Object 19"/>
            <p:cNvGraphicFramePr>
              <a:graphicFrameLocks noChangeAspect="1"/>
            </p:cNvGraphicFramePr>
            <p:nvPr/>
          </p:nvGraphicFramePr>
          <p:xfrm>
            <a:off x="1148" y="3168"/>
            <a:ext cx="214" cy="236"/>
          </p:xfrm>
          <a:graphic>
            <a:graphicData uri="http://schemas.openxmlformats.org/presentationml/2006/ole">
              <p:oleObj spid="_x0000_s53281" name="Equation" r:id="rId9" imgW="126720" imgH="139680" progId="Equation.3">
                <p:embed/>
              </p:oleObj>
            </a:graphicData>
          </a:graphic>
        </p:graphicFrame>
        <p:sp>
          <p:nvSpPr>
            <p:cNvPr id="102" name="Line 20"/>
            <p:cNvSpPr>
              <a:spLocks noChangeShapeType="1"/>
            </p:cNvSpPr>
            <p:nvPr/>
          </p:nvSpPr>
          <p:spPr bwMode="auto">
            <a:xfrm flipV="1">
              <a:off x="1344" y="3312"/>
              <a:ext cx="2208" cy="0"/>
            </a:xfrm>
            <a:prstGeom prst="line">
              <a:avLst/>
            </a:prstGeom>
            <a:noFill/>
            <a:ln w="19050">
              <a:solidFill>
                <a:srgbClr val="000000"/>
              </a:solidFill>
              <a:prstDash val="sysDot"/>
              <a:round/>
              <a:headEnd/>
              <a:tailEnd type="triangle" w="sm" len="lg"/>
            </a:ln>
          </p:spPr>
          <p:txBody>
            <a:bodyPr wrap="none" anchor="ctr"/>
            <a:lstStyle/>
            <a:p>
              <a:endParaRPr lang="zh-CN" altLang="en-US"/>
            </a:p>
          </p:txBody>
        </p:sp>
        <p:sp>
          <p:nvSpPr>
            <p:cNvPr id="103" name="Line 21"/>
            <p:cNvSpPr>
              <a:spLocks noChangeShapeType="1"/>
            </p:cNvSpPr>
            <p:nvPr/>
          </p:nvSpPr>
          <p:spPr bwMode="auto">
            <a:xfrm flipH="1">
              <a:off x="624" y="3312"/>
              <a:ext cx="720" cy="624"/>
            </a:xfrm>
            <a:prstGeom prst="line">
              <a:avLst/>
            </a:prstGeom>
            <a:noFill/>
            <a:ln w="19050">
              <a:solidFill>
                <a:srgbClr val="000000"/>
              </a:solidFill>
              <a:prstDash val="sysDot"/>
              <a:round/>
              <a:headEnd/>
              <a:tailEnd type="triangle" w="sm" len="lg"/>
            </a:ln>
          </p:spPr>
          <p:txBody>
            <a:bodyPr wrap="none" anchor="ctr"/>
            <a:lstStyle/>
            <a:p>
              <a:endParaRPr lang="zh-CN" altLang="en-US"/>
            </a:p>
          </p:txBody>
        </p:sp>
        <p:graphicFrame>
          <p:nvGraphicFramePr>
            <p:cNvPr id="104" name="Object 22"/>
            <p:cNvGraphicFramePr>
              <a:graphicFrameLocks noChangeAspect="1"/>
            </p:cNvGraphicFramePr>
            <p:nvPr/>
          </p:nvGraphicFramePr>
          <p:xfrm>
            <a:off x="1344" y="1680"/>
            <a:ext cx="287" cy="340"/>
          </p:xfrm>
          <a:graphic>
            <a:graphicData uri="http://schemas.openxmlformats.org/presentationml/2006/ole">
              <p:oleObj spid="_x0000_s53282" name="Equation" r:id="rId10" imgW="139680" imgH="164880" progId="Equation.3">
                <p:embed/>
              </p:oleObj>
            </a:graphicData>
          </a:graphic>
        </p:graphicFrame>
        <p:graphicFrame>
          <p:nvGraphicFramePr>
            <p:cNvPr id="105" name="Object 23"/>
            <p:cNvGraphicFramePr>
              <a:graphicFrameLocks noChangeAspect="1"/>
            </p:cNvGraphicFramePr>
            <p:nvPr/>
          </p:nvGraphicFramePr>
          <p:xfrm>
            <a:off x="576" y="3552"/>
            <a:ext cx="288" cy="288"/>
          </p:xfrm>
          <a:graphic>
            <a:graphicData uri="http://schemas.openxmlformats.org/presentationml/2006/ole">
              <p:oleObj spid="_x0000_s53283" name="Equation" r:id="rId11" imgW="126720" imgH="126720" progId="Equation.3">
                <p:embed/>
              </p:oleObj>
            </a:graphicData>
          </a:graphic>
        </p:graphicFrame>
        <p:graphicFrame>
          <p:nvGraphicFramePr>
            <p:cNvPr id="106" name="Object 24"/>
            <p:cNvGraphicFramePr>
              <a:graphicFrameLocks noChangeAspect="1"/>
            </p:cNvGraphicFramePr>
            <p:nvPr/>
          </p:nvGraphicFramePr>
          <p:xfrm>
            <a:off x="3570" y="3201"/>
            <a:ext cx="261" cy="288"/>
          </p:xfrm>
          <a:graphic>
            <a:graphicData uri="http://schemas.openxmlformats.org/presentationml/2006/ole">
              <p:oleObj spid="_x0000_s53284" name="Equation" r:id="rId12" imgW="126720" imgH="139680" progId="Equation.3">
                <p:embed/>
              </p:oleObj>
            </a:graphicData>
          </a:graphic>
        </p:graphicFrame>
        <p:sp>
          <p:nvSpPr>
            <p:cNvPr id="107" name="Line 26"/>
            <p:cNvSpPr>
              <a:spLocks noChangeShapeType="1"/>
            </p:cNvSpPr>
            <p:nvPr/>
          </p:nvSpPr>
          <p:spPr bwMode="auto">
            <a:xfrm>
              <a:off x="3072" y="2064"/>
              <a:ext cx="288" cy="0"/>
            </a:xfrm>
            <a:prstGeom prst="line">
              <a:avLst/>
            </a:prstGeom>
            <a:noFill/>
            <a:ln w="12700">
              <a:solidFill>
                <a:srgbClr val="000000"/>
              </a:solidFill>
              <a:prstDash val="dash"/>
              <a:round/>
              <a:headEnd/>
              <a:tailEnd/>
            </a:ln>
          </p:spPr>
          <p:txBody>
            <a:bodyPr wrap="none"/>
            <a:lstStyle/>
            <a:p>
              <a:endParaRPr lang="zh-CN" altLang="en-US"/>
            </a:p>
          </p:txBody>
        </p:sp>
        <p:sp>
          <p:nvSpPr>
            <p:cNvPr id="108" name="Line 27"/>
            <p:cNvSpPr>
              <a:spLocks noChangeShapeType="1"/>
            </p:cNvSpPr>
            <p:nvPr/>
          </p:nvSpPr>
          <p:spPr bwMode="auto">
            <a:xfrm>
              <a:off x="3264" y="2880"/>
              <a:ext cx="0" cy="432"/>
            </a:xfrm>
            <a:prstGeom prst="line">
              <a:avLst/>
            </a:prstGeom>
            <a:noFill/>
            <a:ln w="19050">
              <a:solidFill>
                <a:srgbClr val="FF0066"/>
              </a:solidFill>
              <a:round/>
              <a:headEnd/>
              <a:tailEnd type="triangle" w="sm" len="lg"/>
            </a:ln>
          </p:spPr>
          <p:txBody>
            <a:bodyPr wrap="none"/>
            <a:lstStyle/>
            <a:p>
              <a:endParaRPr lang="zh-CN" altLang="en-US"/>
            </a:p>
          </p:txBody>
        </p:sp>
        <p:sp>
          <p:nvSpPr>
            <p:cNvPr id="109" name="Line 28"/>
            <p:cNvSpPr>
              <a:spLocks noChangeShapeType="1"/>
            </p:cNvSpPr>
            <p:nvPr/>
          </p:nvSpPr>
          <p:spPr bwMode="auto">
            <a:xfrm flipV="1">
              <a:off x="3264" y="2064"/>
              <a:ext cx="0" cy="528"/>
            </a:xfrm>
            <a:prstGeom prst="line">
              <a:avLst/>
            </a:prstGeom>
            <a:noFill/>
            <a:ln w="19050">
              <a:solidFill>
                <a:srgbClr val="FF0066"/>
              </a:solidFill>
              <a:round/>
              <a:headEnd/>
              <a:tailEnd type="triangle" w="sm" len="lg"/>
            </a:ln>
          </p:spPr>
          <p:txBody>
            <a:bodyPr wrap="none"/>
            <a:lstStyle/>
            <a:p>
              <a:endParaRPr lang="zh-CN" altLang="en-US"/>
            </a:p>
          </p:txBody>
        </p:sp>
        <p:graphicFrame>
          <p:nvGraphicFramePr>
            <p:cNvPr id="110" name="Object 29"/>
            <p:cNvGraphicFramePr>
              <a:graphicFrameLocks noChangeAspect="1"/>
            </p:cNvGraphicFramePr>
            <p:nvPr/>
          </p:nvGraphicFramePr>
          <p:xfrm>
            <a:off x="3120" y="2588"/>
            <a:ext cx="287" cy="340"/>
          </p:xfrm>
          <a:graphic>
            <a:graphicData uri="http://schemas.openxmlformats.org/presentationml/2006/ole">
              <p:oleObj spid="_x0000_s53285" name="Equation" r:id="rId13" imgW="139680" imgH="164880" progId="Equation.3">
                <p:embed/>
              </p:oleObj>
            </a:graphicData>
          </a:graphic>
        </p:graphicFrame>
        <p:sp>
          <p:nvSpPr>
            <p:cNvPr id="111" name="Line 30"/>
            <p:cNvSpPr>
              <a:spLocks noChangeShapeType="1"/>
            </p:cNvSpPr>
            <p:nvPr/>
          </p:nvSpPr>
          <p:spPr bwMode="auto">
            <a:xfrm>
              <a:off x="2688" y="3696"/>
              <a:ext cx="288" cy="0"/>
            </a:xfrm>
            <a:prstGeom prst="line">
              <a:avLst/>
            </a:prstGeom>
            <a:noFill/>
            <a:ln w="12700">
              <a:solidFill>
                <a:srgbClr val="000000"/>
              </a:solidFill>
              <a:prstDash val="dash"/>
              <a:round/>
              <a:headEnd/>
              <a:tailEnd/>
            </a:ln>
          </p:spPr>
          <p:txBody>
            <a:bodyPr wrap="none"/>
            <a:lstStyle/>
            <a:p>
              <a:endParaRPr lang="zh-CN" altLang="en-US"/>
            </a:p>
          </p:txBody>
        </p:sp>
        <p:sp>
          <p:nvSpPr>
            <p:cNvPr id="112" name="Line 31"/>
            <p:cNvSpPr>
              <a:spLocks noChangeShapeType="1"/>
            </p:cNvSpPr>
            <p:nvPr/>
          </p:nvSpPr>
          <p:spPr bwMode="auto">
            <a:xfrm flipH="1">
              <a:off x="2880" y="3552"/>
              <a:ext cx="144" cy="144"/>
            </a:xfrm>
            <a:prstGeom prst="line">
              <a:avLst/>
            </a:prstGeom>
            <a:noFill/>
            <a:ln w="19050">
              <a:solidFill>
                <a:srgbClr val="FF0066"/>
              </a:solidFill>
              <a:round/>
              <a:headEnd/>
              <a:tailEnd type="triangle" w="sm" len="lg"/>
            </a:ln>
          </p:spPr>
          <p:txBody>
            <a:bodyPr wrap="none"/>
            <a:lstStyle/>
            <a:p>
              <a:endParaRPr lang="zh-CN" altLang="en-US"/>
            </a:p>
          </p:txBody>
        </p:sp>
        <p:sp>
          <p:nvSpPr>
            <p:cNvPr id="113" name="Line 32"/>
            <p:cNvSpPr>
              <a:spLocks noChangeShapeType="1"/>
            </p:cNvSpPr>
            <p:nvPr/>
          </p:nvSpPr>
          <p:spPr bwMode="auto">
            <a:xfrm flipH="1">
              <a:off x="3120" y="3312"/>
              <a:ext cx="144" cy="144"/>
            </a:xfrm>
            <a:prstGeom prst="line">
              <a:avLst/>
            </a:prstGeom>
            <a:noFill/>
            <a:ln w="19050">
              <a:solidFill>
                <a:srgbClr val="FF0066"/>
              </a:solidFill>
              <a:round/>
              <a:headEnd type="triangle" w="sm" len="lg"/>
              <a:tailEnd type="none" w="sm" len="lg"/>
            </a:ln>
          </p:spPr>
          <p:txBody>
            <a:bodyPr wrap="none"/>
            <a:lstStyle/>
            <a:p>
              <a:endParaRPr lang="zh-CN" altLang="en-US"/>
            </a:p>
          </p:txBody>
        </p:sp>
        <p:graphicFrame>
          <p:nvGraphicFramePr>
            <p:cNvPr id="114" name="Object 33"/>
            <p:cNvGraphicFramePr>
              <a:graphicFrameLocks noChangeAspect="1"/>
            </p:cNvGraphicFramePr>
            <p:nvPr/>
          </p:nvGraphicFramePr>
          <p:xfrm>
            <a:off x="2976" y="3360"/>
            <a:ext cx="240" cy="240"/>
          </p:xfrm>
          <a:graphic>
            <a:graphicData uri="http://schemas.openxmlformats.org/presentationml/2006/ole">
              <p:oleObj spid="_x0000_s53286" name="Equation" r:id="rId14" imgW="126720" imgH="126720" progId="Equation.3">
                <p:embed/>
              </p:oleObj>
            </a:graphicData>
          </a:graphic>
        </p:graphicFrame>
        <p:sp>
          <p:nvSpPr>
            <p:cNvPr id="115" name="Line 34"/>
            <p:cNvSpPr>
              <a:spLocks noChangeShapeType="1"/>
            </p:cNvSpPr>
            <p:nvPr/>
          </p:nvSpPr>
          <p:spPr bwMode="auto">
            <a:xfrm>
              <a:off x="2688" y="3696"/>
              <a:ext cx="0" cy="240"/>
            </a:xfrm>
            <a:prstGeom prst="line">
              <a:avLst/>
            </a:prstGeom>
            <a:noFill/>
            <a:ln w="12700">
              <a:solidFill>
                <a:srgbClr val="000000"/>
              </a:solidFill>
              <a:prstDash val="dash"/>
              <a:round/>
              <a:headEnd/>
              <a:tailEnd/>
            </a:ln>
          </p:spPr>
          <p:txBody>
            <a:bodyPr wrap="none"/>
            <a:lstStyle/>
            <a:p>
              <a:endParaRPr lang="zh-CN" altLang="en-US"/>
            </a:p>
          </p:txBody>
        </p:sp>
        <p:sp>
          <p:nvSpPr>
            <p:cNvPr id="116" name="Line 35"/>
            <p:cNvSpPr>
              <a:spLocks noChangeShapeType="1"/>
            </p:cNvSpPr>
            <p:nvPr/>
          </p:nvSpPr>
          <p:spPr bwMode="auto">
            <a:xfrm>
              <a:off x="912" y="3696"/>
              <a:ext cx="0" cy="240"/>
            </a:xfrm>
            <a:prstGeom prst="line">
              <a:avLst/>
            </a:prstGeom>
            <a:noFill/>
            <a:ln w="12700">
              <a:solidFill>
                <a:srgbClr val="000000"/>
              </a:solidFill>
              <a:prstDash val="dash"/>
              <a:round/>
              <a:headEnd/>
              <a:tailEnd/>
            </a:ln>
          </p:spPr>
          <p:txBody>
            <a:bodyPr wrap="none"/>
            <a:lstStyle/>
            <a:p>
              <a:endParaRPr lang="zh-CN" altLang="en-US"/>
            </a:p>
          </p:txBody>
        </p:sp>
        <p:sp>
          <p:nvSpPr>
            <p:cNvPr id="117" name="Line 36"/>
            <p:cNvSpPr>
              <a:spLocks noChangeShapeType="1"/>
            </p:cNvSpPr>
            <p:nvPr/>
          </p:nvSpPr>
          <p:spPr bwMode="auto">
            <a:xfrm>
              <a:off x="1872" y="3840"/>
              <a:ext cx="816" cy="0"/>
            </a:xfrm>
            <a:prstGeom prst="line">
              <a:avLst/>
            </a:prstGeom>
            <a:noFill/>
            <a:ln w="19050">
              <a:solidFill>
                <a:srgbClr val="FF0066"/>
              </a:solidFill>
              <a:round/>
              <a:headEnd/>
              <a:tailEnd type="triangle" w="sm" len="lg"/>
            </a:ln>
          </p:spPr>
          <p:txBody>
            <a:bodyPr wrap="none"/>
            <a:lstStyle/>
            <a:p>
              <a:endParaRPr lang="zh-CN" altLang="en-US"/>
            </a:p>
          </p:txBody>
        </p:sp>
        <p:sp>
          <p:nvSpPr>
            <p:cNvPr id="118" name="Line 37"/>
            <p:cNvSpPr>
              <a:spLocks noChangeShapeType="1"/>
            </p:cNvSpPr>
            <p:nvPr/>
          </p:nvSpPr>
          <p:spPr bwMode="auto">
            <a:xfrm flipH="1">
              <a:off x="912" y="3840"/>
              <a:ext cx="672" cy="0"/>
            </a:xfrm>
            <a:prstGeom prst="line">
              <a:avLst/>
            </a:prstGeom>
            <a:noFill/>
            <a:ln w="19050">
              <a:solidFill>
                <a:srgbClr val="FF0066"/>
              </a:solidFill>
              <a:round/>
              <a:headEnd/>
              <a:tailEnd type="triangle" w="sm" len="lg"/>
            </a:ln>
          </p:spPr>
          <p:txBody>
            <a:bodyPr wrap="none"/>
            <a:lstStyle/>
            <a:p>
              <a:endParaRPr lang="zh-CN" altLang="en-US"/>
            </a:p>
          </p:txBody>
        </p:sp>
        <p:graphicFrame>
          <p:nvGraphicFramePr>
            <p:cNvPr id="119" name="Object 38"/>
            <p:cNvGraphicFramePr>
              <a:graphicFrameLocks noChangeAspect="1"/>
            </p:cNvGraphicFramePr>
            <p:nvPr/>
          </p:nvGraphicFramePr>
          <p:xfrm>
            <a:off x="1584" y="3696"/>
            <a:ext cx="261" cy="288"/>
          </p:xfrm>
          <a:graphic>
            <a:graphicData uri="http://schemas.openxmlformats.org/presentationml/2006/ole">
              <p:oleObj spid="_x0000_s53287" name="Equation" r:id="rId15" imgW="126720" imgH="139680" progId="Equation.3">
                <p:embed/>
              </p:oleObj>
            </a:graphicData>
          </a:graphic>
        </p:graphicFrame>
      </p:grpSp>
      <p:grpSp>
        <p:nvGrpSpPr>
          <p:cNvPr id="120" name="Group 9"/>
          <p:cNvGrpSpPr>
            <a:grpSpLocks/>
          </p:cNvGrpSpPr>
          <p:nvPr/>
        </p:nvGrpSpPr>
        <p:grpSpPr bwMode="auto">
          <a:xfrm>
            <a:off x="2738361" y="4582162"/>
            <a:ext cx="1438091" cy="487950"/>
            <a:chOff x="1979" y="2750"/>
            <a:chExt cx="949" cy="322"/>
          </a:xfrm>
        </p:grpSpPr>
        <p:graphicFrame>
          <p:nvGraphicFramePr>
            <p:cNvPr id="121" name="Object 10"/>
            <p:cNvGraphicFramePr>
              <a:graphicFrameLocks noChangeAspect="1"/>
            </p:cNvGraphicFramePr>
            <p:nvPr/>
          </p:nvGraphicFramePr>
          <p:xfrm>
            <a:off x="1979" y="2750"/>
            <a:ext cx="506" cy="322"/>
          </p:xfrm>
          <a:graphic>
            <a:graphicData uri="http://schemas.openxmlformats.org/presentationml/2006/ole">
              <p:oleObj spid="_x0000_s53288" name="Equation" r:id="rId16" imgW="342720" imgH="228600" progId="Equation.DSMT4">
                <p:embed/>
              </p:oleObj>
            </a:graphicData>
          </a:graphic>
        </p:graphicFrame>
        <p:sp>
          <p:nvSpPr>
            <p:cNvPr id="122" name="Line 11"/>
            <p:cNvSpPr>
              <a:spLocks noChangeShapeType="1"/>
            </p:cNvSpPr>
            <p:nvPr/>
          </p:nvSpPr>
          <p:spPr bwMode="auto">
            <a:xfrm flipH="1">
              <a:off x="2352" y="3072"/>
              <a:ext cx="576" cy="0"/>
            </a:xfrm>
            <a:prstGeom prst="line">
              <a:avLst/>
            </a:prstGeom>
            <a:noFill/>
            <a:ln w="28575">
              <a:solidFill>
                <a:srgbClr val="CC3399"/>
              </a:solidFill>
              <a:round/>
              <a:headEnd/>
              <a:tailEnd type="triangle" w="sm" len="lg"/>
            </a:ln>
          </p:spPr>
          <p:txBody>
            <a:bodyPr wrap="none"/>
            <a:lstStyle/>
            <a:p>
              <a:endParaRPr lang="zh-CN" altLang="en-US"/>
            </a:p>
          </p:txBody>
        </p:sp>
      </p:grpSp>
      <p:graphicFrame>
        <p:nvGraphicFramePr>
          <p:cNvPr id="123" name="Object 12"/>
          <p:cNvGraphicFramePr>
            <a:graphicFrameLocks noChangeAspect="1"/>
          </p:cNvGraphicFramePr>
          <p:nvPr/>
        </p:nvGraphicFramePr>
        <p:xfrm>
          <a:off x="1194195" y="4415480"/>
          <a:ext cx="412182" cy="448551"/>
        </p:xfrm>
        <a:graphic>
          <a:graphicData uri="http://schemas.openxmlformats.org/presentationml/2006/ole">
            <p:oleObj spid="_x0000_s53289" name="Equation" r:id="rId17" imgW="291960" imgH="317160" progId="Equation.3">
              <p:embed/>
            </p:oleObj>
          </a:graphicData>
        </a:graphic>
      </p:graphicFrame>
      <p:grpSp>
        <p:nvGrpSpPr>
          <p:cNvPr id="124" name="Group 13"/>
          <p:cNvGrpSpPr>
            <a:grpSpLocks/>
          </p:cNvGrpSpPr>
          <p:nvPr/>
        </p:nvGrpSpPr>
        <p:grpSpPr bwMode="auto">
          <a:xfrm>
            <a:off x="1921575" y="4197265"/>
            <a:ext cx="1139563" cy="945595"/>
            <a:chOff x="3840" y="2736"/>
            <a:chExt cx="752" cy="624"/>
          </a:xfrm>
        </p:grpSpPr>
        <p:sp>
          <p:nvSpPr>
            <p:cNvPr id="125" name="Oval 14"/>
            <p:cNvSpPr>
              <a:spLocks noChangeArrowheads="1"/>
            </p:cNvSpPr>
            <p:nvPr/>
          </p:nvSpPr>
          <p:spPr bwMode="auto">
            <a:xfrm>
              <a:off x="3840" y="3216"/>
              <a:ext cx="144" cy="144"/>
            </a:xfrm>
            <a:prstGeom prst="ellipse">
              <a:avLst/>
            </a:prstGeom>
            <a:gradFill rotWithShape="0">
              <a:gsLst>
                <a:gs pos="0">
                  <a:srgbClr val="FF0000"/>
                </a:gs>
                <a:gs pos="100000">
                  <a:srgbClr val="760000"/>
                </a:gs>
              </a:gsLst>
              <a:path path="shape">
                <a:fillToRect l="50000" t="50000" r="50000" b="50000"/>
              </a:path>
            </a:gradFill>
            <a:ln w="28575">
              <a:solidFill>
                <a:schemeClr val="accent1"/>
              </a:solidFill>
              <a:round/>
              <a:headEnd/>
              <a:tailEnd/>
            </a:ln>
          </p:spPr>
          <p:txBody>
            <a:bodyPr wrap="none" anchor="ctr"/>
            <a:lstStyle/>
            <a:p>
              <a:endParaRPr lang="zh-CN" altLang="en-US"/>
            </a:p>
          </p:txBody>
        </p:sp>
        <p:sp>
          <p:nvSpPr>
            <p:cNvPr id="126" name="Line 15"/>
            <p:cNvSpPr>
              <a:spLocks noChangeShapeType="1"/>
            </p:cNvSpPr>
            <p:nvPr/>
          </p:nvSpPr>
          <p:spPr bwMode="auto">
            <a:xfrm flipV="1">
              <a:off x="3936" y="2928"/>
              <a:ext cx="480" cy="336"/>
            </a:xfrm>
            <a:prstGeom prst="line">
              <a:avLst/>
            </a:prstGeom>
            <a:noFill/>
            <a:ln w="28575">
              <a:solidFill>
                <a:srgbClr val="0000FF"/>
              </a:solidFill>
              <a:round/>
              <a:headEnd/>
              <a:tailEnd type="triangle" w="sm" len="lg"/>
            </a:ln>
          </p:spPr>
          <p:txBody>
            <a:bodyPr wrap="none" anchor="ctr"/>
            <a:lstStyle/>
            <a:p>
              <a:endParaRPr lang="zh-CN" altLang="en-US"/>
            </a:p>
          </p:txBody>
        </p:sp>
        <p:graphicFrame>
          <p:nvGraphicFramePr>
            <p:cNvPr id="127" name="Object 16"/>
            <p:cNvGraphicFramePr>
              <a:graphicFrameLocks noChangeAspect="1"/>
            </p:cNvGraphicFramePr>
            <p:nvPr/>
          </p:nvGraphicFramePr>
          <p:xfrm>
            <a:off x="4368" y="2736"/>
            <a:ext cx="224" cy="288"/>
          </p:xfrm>
          <a:graphic>
            <a:graphicData uri="http://schemas.openxmlformats.org/presentationml/2006/ole">
              <p:oleObj spid="_x0000_s53290" name="Equation" r:id="rId18" imgW="177480" imgH="228600" progId="Equation.3">
                <p:embed/>
              </p:oleObj>
            </a:graphicData>
          </a:graphic>
        </p:graphicFrame>
      </p:grpSp>
      <p:grpSp>
        <p:nvGrpSpPr>
          <p:cNvPr id="128" name="Group 6"/>
          <p:cNvGrpSpPr>
            <a:grpSpLocks/>
          </p:cNvGrpSpPr>
          <p:nvPr/>
        </p:nvGrpSpPr>
        <p:grpSpPr bwMode="auto">
          <a:xfrm>
            <a:off x="2671688" y="4917069"/>
            <a:ext cx="1504770" cy="524320"/>
            <a:chOff x="1935" y="2971"/>
            <a:chExt cx="993" cy="346"/>
          </a:xfrm>
        </p:grpSpPr>
        <p:graphicFrame>
          <p:nvGraphicFramePr>
            <p:cNvPr id="129" name="Object 7"/>
            <p:cNvGraphicFramePr>
              <a:graphicFrameLocks noChangeAspect="1"/>
            </p:cNvGraphicFramePr>
            <p:nvPr/>
          </p:nvGraphicFramePr>
          <p:xfrm>
            <a:off x="1935" y="2971"/>
            <a:ext cx="473" cy="346"/>
          </p:xfrm>
          <a:graphic>
            <a:graphicData uri="http://schemas.openxmlformats.org/presentationml/2006/ole">
              <p:oleObj spid="_x0000_s53291" name="Equation" r:id="rId19" imgW="291960" imgH="228600" progId="Equation.DSMT4">
                <p:embed/>
              </p:oleObj>
            </a:graphicData>
          </a:graphic>
        </p:graphicFrame>
        <p:sp>
          <p:nvSpPr>
            <p:cNvPr id="130" name="Line 8"/>
            <p:cNvSpPr>
              <a:spLocks noChangeShapeType="1"/>
            </p:cNvSpPr>
            <p:nvPr/>
          </p:nvSpPr>
          <p:spPr bwMode="auto">
            <a:xfrm>
              <a:off x="2352" y="3159"/>
              <a:ext cx="576" cy="0"/>
            </a:xfrm>
            <a:prstGeom prst="line">
              <a:avLst/>
            </a:prstGeom>
            <a:noFill/>
            <a:ln w="28575">
              <a:solidFill>
                <a:srgbClr val="CC3399"/>
              </a:solidFill>
              <a:round/>
              <a:headEnd/>
              <a:tailEnd type="triangle" w="sm" len="lg"/>
            </a:ln>
          </p:spPr>
          <p:txBody>
            <a:bodyPr wrap="none"/>
            <a:lstStyle/>
            <a:p>
              <a:endParaRPr lang="zh-CN" altLang="en-US"/>
            </a:p>
          </p:txBody>
        </p:sp>
      </p:grpSp>
      <p:graphicFrame>
        <p:nvGraphicFramePr>
          <p:cNvPr id="131" name="Object 39"/>
          <p:cNvGraphicFramePr>
            <a:graphicFrameLocks noChangeAspect="1"/>
          </p:cNvGraphicFramePr>
          <p:nvPr/>
        </p:nvGraphicFramePr>
        <p:xfrm>
          <a:off x="3923928" y="4276593"/>
          <a:ext cx="359144" cy="448551"/>
        </p:xfrm>
        <a:graphic>
          <a:graphicData uri="http://schemas.openxmlformats.org/presentationml/2006/ole">
            <p:oleObj spid="_x0000_s53292" name="Equation" r:id="rId20" imgW="253800" imgH="317160" progId="Equation.DSMT4">
              <p:embed/>
            </p:oleObj>
          </a:graphicData>
        </a:graphic>
      </p:graphicFrame>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Text Box 5"/>
          <p:cNvSpPr txBox="1">
            <a:spLocks noChangeArrowheads="1"/>
          </p:cNvSpPr>
          <p:nvPr/>
        </p:nvSpPr>
        <p:spPr bwMode="auto">
          <a:xfrm>
            <a:off x="370856" y="216024"/>
            <a:ext cx="8064896" cy="609398"/>
          </a:xfrm>
          <a:prstGeom prst="rect">
            <a:avLst/>
          </a:prstGeom>
          <a:noFill/>
          <a:ln w="28575">
            <a:noFill/>
            <a:miter lim="800000"/>
            <a:headEnd/>
            <a:tailEnd/>
          </a:ln>
        </p:spPr>
        <p:txBody>
          <a:bodyPr wrap="square">
            <a:spAutoFit/>
          </a:bodyPr>
          <a:lstStyle/>
          <a:p>
            <a:pPr>
              <a:lnSpc>
                <a:spcPct val="120000"/>
              </a:lnSpc>
              <a:spcBef>
                <a:spcPct val="50000"/>
              </a:spcBef>
            </a:pPr>
            <a:r>
              <a:rPr lang="zh-CN" altLang="en-US" sz="2800" b="1" dirty="0" smtClean="0">
                <a:solidFill>
                  <a:srgbClr val="CC0000"/>
                </a:solidFill>
              </a:rPr>
              <a:t>三、热</a:t>
            </a:r>
            <a:r>
              <a:rPr lang="zh-CN" altLang="en-US" sz="2800" b="1" dirty="0">
                <a:solidFill>
                  <a:srgbClr val="CC0000"/>
                </a:solidFill>
              </a:rPr>
              <a:t>动平衡的统计规律</a:t>
            </a:r>
            <a:r>
              <a:rPr lang="zh-CN" altLang="en-US" sz="2800" b="1" dirty="0" smtClean="0">
                <a:solidFill>
                  <a:srgbClr val="CC0000"/>
                </a:solidFill>
              </a:rPr>
              <a:t>（</a:t>
            </a:r>
            <a:r>
              <a:rPr lang="zh-CN" altLang="en-US" sz="2800" b="1" dirty="0" smtClean="0">
                <a:solidFill>
                  <a:srgbClr val="0000CC"/>
                </a:solidFill>
              </a:rPr>
              <a:t>准备工作</a:t>
            </a:r>
            <a:r>
              <a:rPr lang="zh-CN" altLang="en-US" sz="2800" b="1" dirty="0" smtClean="0">
                <a:solidFill>
                  <a:srgbClr val="CC0000"/>
                </a:solidFill>
              </a:rPr>
              <a:t>）</a:t>
            </a:r>
            <a:endParaRPr lang="zh-CN" altLang="en-US" sz="2800" b="1" dirty="0">
              <a:solidFill>
                <a:srgbClr val="CC0000"/>
              </a:solidFill>
            </a:endParaRPr>
          </a:p>
        </p:txBody>
      </p:sp>
      <p:sp>
        <p:nvSpPr>
          <p:cNvPr id="8" name="Text Box 11"/>
          <p:cNvSpPr txBox="1">
            <a:spLocks noChangeArrowheads="1"/>
          </p:cNvSpPr>
          <p:nvPr/>
        </p:nvSpPr>
        <p:spPr bwMode="auto">
          <a:xfrm>
            <a:off x="179512" y="1656184"/>
            <a:ext cx="6096000" cy="523220"/>
          </a:xfrm>
          <a:prstGeom prst="rect">
            <a:avLst/>
          </a:prstGeom>
          <a:noFill/>
          <a:ln w="28575">
            <a:noFill/>
            <a:miter lim="800000"/>
            <a:headEnd/>
            <a:tailEnd/>
          </a:ln>
        </p:spPr>
        <p:txBody>
          <a:bodyPr>
            <a:spAutoFit/>
          </a:bodyPr>
          <a:lstStyle/>
          <a:p>
            <a:pPr>
              <a:spcBef>
                <a:spcPct val="50000"/>
              </a:spcBef>
            </a:pPr>
            <a:r>
              <a:rPr lang="zh-CN" altLang="en-US" sz="2800" b="1" dirty="0">
                <a:solidFill>
                  <a:srgbClr val="CC0000"/>
                </a:solidFill>
              </a:rPr>
              <a:t>（</a:t>
            </a:r>
            <a:r>
              <a:rPr lang="en-US" altLang="zh-CN" sz="2800" b="1" dirty="0">
                <a:solidFill>
                  <a:srgbClr val="CC0000"/>
                </a:solidFill>
                <a:latin typeface="Times New Roman" pitchFamily="18" charset="0"/>
              </a:rPr>
              <a:t>2</a:t>
            </a:r>
            <a:r>
              <a:rPr lang="zh-CN" altLang="en-US" sz="2800" b="1" dirty="0">
                <a:solidFill>
                  <a:srgbClr val="CC0000"/>
                </a:solidFill>
              </a:rPr>
              <a:t>）</a:t>
            </a:r>
            <a:r>
              <a:rPr lang="zh-CN" altLang="en-US" sz="2800" b="1" dirty="0">
                <a:solidFill>
                  <a:srgbClr val="000000"/>
                </a:solidFill>
              </a:rPr>
              <a:t>分子各方向运动概率均等</a:t>
            </a:r>
            <a:r>
              <a:rPr lang="en-US" altLang="zh-CN" sz="2800" b="1" dirty="0" smtClean="0">
                <a:solidFill>
                  <a:srgbClr val="000000"/>
                </a:solidFill>
                <a:latin typeface="Times New Roman" pitchFamily="18" charset="0"/>
              </a:rPr>
              <a:t>.</a:t>
            </a:r>
            <a:endParaRPr lang="en-US" altLang="zh-CN" sz="2800" b="1" dirty="0">
              <a:solidFill>
                <a:srgbClr val="000000"/>
              </a:solidFill>
              <a:latin typeface="Times New Roman" pitchFamily="18" charset="0"/>
            </a:endParaRPr>
          </a:p>
        </p:txBody>
      </p:sp>
      <p:grpSp>
        <p:nvGrpSpPr>
          <p:cNvPr id="37" name="组合 36"/>
          <p:cNvGrpSpPr/>
          <p:nvPr/>
        </p:nvGrpSpPr>
        <p:grpSpPr>
          <a:xfrm>
            <a:off x="226840" y="720081"/>
            <a:ext cx="8189957" cy="1008111"/>
            <a:chOff x="226840" y="692697"/>
            <a:chExt cx="8189957" cy="1008111"/>
          </a:xfrm>
        </p:grpSpPr>
        <p:sp>
          <p:nvSpPr>
            <p:cNvPr id="5127" name="Text Box 8"/>
            <p:cNvSpPr txBox="1">
              <a:spLocks noChangeArrowheads="1"/>
            </p:cNvSpPr>
            <p:nvPr/>
          </p:nvSpPr>
          <p:spPr bwMode="auto">
            <a:xfrm>
              <a:off x="226840" y="836712"/>
              <a:ext cx="6872287" cy="559897"/>
            </a:xfrm>
            <a:prstGeom prst="rect">
              <a:avLst/>
            </a:prstGeom>
            <a:noFill/>
            <a:ln w="28575">
              <a:noFill/>
              <a:miter lim="800000"/>
              <a:headEnd/>
              <a:tailEnd/>
            </a:ln>
          </p:spPr>
          <p:txBody>
            <a:bodyPr>
              <a:spAutoFit/>
            </a:bodyPr>
            <a:lstStyle/>
            <a:p>
              <a:pPr>
                <a:lnSpc>
                  <a:spcPct val="120000"/>
                </a:lnSpc>
                <a:spcBef>
                  <a:spcPct val="50000"/>
                </a:spcBef>
              </a:pPr>
              <a:r>
                <a:rPr lang="zh-CN" altLang="en-US" sz="2800" b="1" dirty="0">
                  <a:solidFill>
                    <a:srgbClr val="CC0000"/>
                  </a:solidFill>
                </a:rPr>
                <a:t>（</a:t>
              </a:r>
              <a:r>
                <a:rPr lang="en-US" altLang="zh-CN" sz="2800" b="1" dirty="0">
                  <a:solidFill>
                    <a:srgbClr val="CC0000"/>
                  </a:solidFill>
                  <a:latin typeface="Times New Roman" pitchFamily="18" charset="0"/>
                </a:rPr>
                <a:t>1</a:t>
              </a:r>
              <a:r>
                <a:rPr lang="zh-CN" altLang="en-US" sz="2800" b="1" dirty="0">
                  <a:solidFill>
                    <a:srgbClr val="CC0000"/>
                  </a:solidFill>
                </a:rPr>
                <a:t>）</a:t>
              </a:r>
              <a:r>
                <a:rPr lang="zh-CN" altLang="en-US" sz="2800" b="1" dirty="0">
                  <a:solidFill>
                    <a:srgbClr val="1C1C1C"/>
                  </a:solidFill>
                </a:rPr>
                <a:t>分子按位置的分布是均匀的</a:t>
              </a:r>
              <a:r>
                <a:rPr lang="en-US" altLang="zh-CN" sz="2800" b="1" dirty="0">
                  <a:solidFill>
                    <a:srgbClr val="1C1C1C"/>
                  </a:solidFill>
                  <a:latin typeface="Times New Roman" pitchFamily="18" charset="0"/>
                </a:rPr>
                <a:t>.</a:t>
              </a:r>
              <a:r>
                <a:rPr lang="en-US" altLang="zh-CN" sz="2800" b="1" dirty="0">
                  <a:solidFill>
                    <a:srgbClr val="1C1C1C"/>
                  </a:solidFill>
                </a:rPr>
                <a:t> </a:t>
              </a:r>
            </a:p>
          </p:txBody>
        </p:sp>
        <p:graphicFrame>
          <p:nvGraphicFramePr>
            <p:cNvPr id="9" name="Object 7"/>
            <p:cNvGraphicFramePr>
              <a:graphicFrameLocks noChangeAspect="1"/>
            </p:cNvGraphicFramePr>
            <p:nvPr/>
          </p:nvGraphicFramePr>
          <p:xfrm>
            <a:off x="5697076" y="692697"/>
            <a:ext cx="2719721" cy="1008111"/>
          </p:xfrm>
          <a:graphic>
            <a:graphicData uri="http://schemas.openxmlformats.org/presentationml/2006/ole">
              <p:oleObj spid="_x0000_s55299" name="Equation" r:id="rId3" imgW="812520" imgH="393480" progId="Equation.DSMT4">
                <p:embed/>
              </p:oleObj>
            </a:graphicData>
          </a:graphic>
        </p:graphicFrame>
      </p:grpSp>
      <p:grpSp>
        <p:nvGrpSpPr>
          <p:cNvPr id="32" name="组合 31"/>
          <p:cNvGrpSpPr/>
          <p:nvPr/>
        </p:nvGrpSpPr>
        <p:grpSpPr>
          <a:xfrm>
            <a:off x="514872" y="2232248"/>
            <a:ext cx="6028559" cy="710456"/>
            <a:chOff x="667272" y="2204864"/>
            <a:chExt cx="6028559" cy="710456"/>
          </a:xfrm>
        </p:grpSpPr>
        <p:graphicFrame>
          <p:nvGraphicFramePr>
            <p:cNvPr id="25" name="Object 13"/>
            <p:cNvGraphicFramePr>
              <a:graphicFrameLocks noChangeAspect="1"/>
            </p:cNvGraphicFramePr>
            <p:nvPr/>
          </p:nvGraphicFramePr>
          <p:xfrm>
            <a:off x="3059832" y="2204864"/>
            <a:ext cx="3635999" cy="710456"/>
          </p:xfrm>
          <a:graphic>
            <a:graphicData uri="http://schemas.openxmlformats.org/presentationml/2006/ole">
              <p:oleObj spid="_x0000_s55305" name="Equation" r:id="rId4" imgW="1295280" imgH="253800" progId="Equation.DSMT4">
                <p:embed/>
              </p:oleObj>
            </a:graphicData>
          </a:graphic>
        </p:graphicFrame>
        <p:sp>
          <p:nvSpPr>
            <p:cNvPr id="26" name="Text Box 14"/>
            <p:cNvSpPr txBox="1">
              <a:spLocks noChangeArrowheads="1"/>
            </p:cNvSpPr>
            <p:nvPr/>
          </p:nvSpPr>
          <p:spPr bwMode="auto">
            <a:xfrm>
              <a:off x="667272" y="2328491"/>
              <a:ext cx="2971800" cy="523875"/>
            </a:xfrm>
            <a:prstGeom prst="rect">
              <a:avLst/>
            </a:prstGeom>
            <a:noFill/>
            <a:ln w="28575">
              <a:noFill/>
              <a:miter lim="800000"/>
              <a:headEnd/>
              <a:tailEnd/>
            </a:ln>
          </p:spPr>
          <p:txBody>
            <a:bodyPr>
              <a:spAutoFit/>
            </a:bodyPr>
            <a:lstStyle/>
            <a:p>
              <a:pPr>
                <a:spcBef>
                  <a:spcPct val="50000"/>
                </a:spcBef>
              </a:pPr>
              <a:r>
                <a:rPr lang="zh-CN" altLang="en-US" sz="2800" b="1" dirty="0">
                  <a:solidFill>
                    <a:srgbClr val="000000"/>
                  </a:solidFill>
                </a:rPr>
                <a:t>分子运动速度</a:t>
              </a:r>
            </a:p>
          </p:txBody>
        </p:sp>
      </p:grpSp>
      <p:grpSp>
        <p:nvGrpSpPr>
          <p:cNvPr id="36" name="组合 35"/>
          <p:cNvGrpSpPr/>
          <p:nvPr/>
        </p:nvGrpSpPr>
        <p:grpSpPr>
          <a:xfrm>
            <a:off x="514872" y="4104456"/>
            <a:ext cx="6721424" cy="1105670"/>
            <a:chOff x="514872" y="4339555"/>
            <a:chExt cx="6721424" cy="1105670"/>
          </a:xfrm>
        </p:grpSpPr>
        <p:grpSp>
          <p:nvGrpSpPr>
            <p:cNvPr id="34" name="组合 33"/>
            <p:cNvGrpSpPr/>
            <p:nvPr/>
          </p:nvGrpSpPr>
          <p:grpSpPr>
            <a:xfrm>
              <a:off x="514872" y="4339555"/>
              <a:ext cx="6721424" cy="1105670"/>
              <a:chOff x="514872" y="3907507"/>
              <a:chExt cx="6721424" cy="1105670"/>
            </a:xfrm>
          </p:grpSpPr>
          <p:graphicFrame>
            <p:nvGraphicFramePr>
              <p:cNvPr id="27" name="Object 5"/>
              <p:cNvGraphicFramePr>
                <a:graphicFrameLocks noChangeAspect="1"/>
              </p:cNvGraphicFramePr>
              <p:nvPr/>
            </p:nvGraphicFramePr>
            <p:xfrm>
              <a:off x="4788024" y="3907507"/>
              <a:ext cx="2448272" cy="1105670"/>
            </p:xfrm>
            <a:graphic>
              <a:graphicData uri="http://schemas.openxmlformats.org/presentationml/2006/ole">
                <p:oleObj spid="_x0000_s55306" name="Equation" r:id="rId5" imgW="850680" imgH="419040" progId="Equation.DSMT4">
                  <p:embed/>
                </p:oleObj>
              </a:graphicData>
            </a:graphic>
          </p:graphicFrame>
          <p:sp>
            <p:nvSpPr>
              <p:cNvPr id="28" name="Rectangle 6"/>
              <p:cNvSpPr>
                <a:spLocks noChangeArrowheads="1"/>
              </p:cNvSpPr>
              <p:nvPr/>
            </p:nvSpPr>
            <p:spPr bwMode="auto">
              <a:xfrm>
                <a:off x="514872" y="4133478"/>
                <a:ext cx="5334000" cy="523875"/>
              </a:xfrm>
              <a:prstGeom prst="rect">
                <a:avLst/>
              </a:prstGeom>
              <a:noFill/>
              <a:ln w="28575">
                <a:noFill/>
                <a:miter lim="800000"/>
                <a:headEnd/>
                <a:tailEnd/>
              </a:ln>
            </p:spPr>
            <p:txBody>
              <a:bodyPr>
                <a:spAutoFit/>
              </a:bodyPr>
              <a:lstStyle/>
              <a:p>
                <a:r>
                  <a:rPr lang="en-US" altLang="zh-CN" sz="2800" b="1" i="1" dirty="0">
                    <a:solidFill>
                      <a:srgbClr val="1C1C1C"/>
                    </a:solidFill>
                    <a:latin typeface="Times New Roman" pitchFamily="18" charset="0"/>
                  </a:rPr>
                  <a:t>    </a:t>
                </a:r>
                <a:r>
                  <a:rPr lang="en-US" altLang="zh-CN" sz="2800" b="1" dirty="0">
                    <a:solidFill>
                      <a:srgbClr val="1C1C1C"/>
                    </a:solidFill>
                  </a:rPr>
                  <a:t> </a:t>
                </a:r>
                <a:r>
                  <a:rPr lang="zh-CN" altLang="en-US" sz="2800" b="1" dirty="0">
                    <a:solidFill>
                      <a:srgbClr val="000000"/>
                    </a:solidFill>
                  </a:rPr>
                  <a:t>方向</a:t>
                </a:r>
                <a:r>
                  <a:rPr lang="zh-CN" altLang="en-US" sz="2800" b="1" dirty="0">
                    <a:solidFill>
                      <a:srgbClr val="FF0000"/>
                    </a:solidFill>
                  </a:rPr>
                  <a:t>速度平方</a:t>
                </a:r>
                <a:r>
                  <a:rPr lang="zh-CN" altLang="en-US" sz="2800" b="1" dirty="0">
                    <a:solidFill>
                      <a:srgbClr val="000000"/>
                    </a:solidFill>
                  </a:rPr>
                  <a:t>的平均值</a:t>
                </a:r>
              </a:p>
            </p:txBody>
          </p:sp>
        </p:grpSp>
        <p:graphicFrame>
          <p:nvGraphicFramePr>
            <p:cNvPr id="29" name="Object 7"/>
            <p:cNvGraphicFramePr>
              <a:graphicFrameLocks noChangeAspect="1"/>
            </p:cNvGraphicFramePr>
            <p:nvPr/>
          </p:nvGraphicFramePr>
          <p:xfrm>
            <a:off x="692477" y="4653136"/>
            <a:ext cx="351131" cy="376212"/>
          </p:xfrm>
          <a:graphic>
            <a:graphicData uri="http://schemas.openxmlformats.org/presentationml/2006/ole">
              <p:oleObj spid="_x0000_s55307" name="Equation" r:id="rId6" imgW="177480" imgH="190440" progId="Equation.3">
                <p:embed/>
              </p:oleObj>
            </a:graphicData>
          </a:graphic>
        </p:graphicFrame>
      </p:grpSp>
      <p:grpSp>
        <p:nvGrpSpPr>
          <p:cNvPr id="35" name="组合 34"/>
          <p:cNvGrpSpPr/>
          <p:nvPr/>
        </p:nvGrpSpPr>
        <p:grpSpPr>
          <a:xfrm>
            <a:off x="514872" y="5472608"/>
            <a:ext cx="7062101" cy="1196752"/>
            <a:chOff x="1547664" y="5068893"/>
            <a:chExt cx="7062101" cy="1196752"/>
          </a:xfrm>
        </p:grpSpPr>
        <p:sp>
          <p:nvSpPr>
            <p:cNvPr id="17" name="Text Box 4"/>
            <p:cNvSpPr txBox="1">
              <a:spLocks noChangeArrowheads="1"/>
            </p:cNvSpPr>
            <p:nvPr/>
          </p:nvSpPr>
          <p:spPr bwMode="auto">
            <a:xfrm>
              <a:off x="1547664" y="5301208"/>
              <a:ext cx="5029200" cy="523875"/>
            </a:xfrm>
            <a:prstGeom prst="rect">
              <a:avLst/>
            </a:prstGeom>
            <a:noFill/>
            <a:ln w="28575">
              <a:noFill/>
              <a:miter lim="800000"/>
              <a:headEnd/>
              <a:tailEnd/>
            </a:ln>
          </p:spPr>
          <p:txBody>
            <a:bodyPr>
              <a:spAutoFit/>
            </a:bodyPr>
            <a:lstStyle/>
            <a:p>
              <a:pPr>
                <a:spcBef>
                  <a:spcPct val="50000"/>
                </a:spcBef>
              </a:pPr>
              <a:r>
                <a:rPr lang="zh-CN" altLang="en-US" sz="2800" b="1" dirty="0">
                  <a:solidFill>
                    <a:srgbClr val="1C1C1C"/>
                  </a:solidFill>
                </a:rPr>
                <a:t>各方向运动</a:t>
              </a:r>
              <a:r>
                <a:rPr lang="zh-CN" altLang="en-US" sz="2800" b="1" dirty="0">
                  <a:solidFill>
                    <a:srgbClr val="FF0000"/>
                  </a:solidFill>
                </a:rPr>
                <a:t>概率均等</a:t>
              </a:r>
            </a:p>
          </p:txBody>
        </p:sp>
        <p:graphicFrame>
          <p:nvGraphicFramePr>
            <p:cNvPr id="30" name="Object 3"/>
            <p:cNvGraphicFramePr>
              <a:graphicFrameLocks noChangeAspect="1"/>
            </p:cNvGraphicFramePr>
            <p:nvPr/>
          </p:nvGraphicFramePr>
          <p:xfrm>
            <a:off x="4979368" y="5068893"/>
            <a:ext cx="3630397" cy="1196752"/>
          </p:xfrm>
          <a:graphic>
            <a:graphicData uri="http://schemas.openxmlformats.org/presentationml/2006/ole">
              <p:oleObj spid="_x0000_s55308" name="Equation" r:id="rId7" imgW="1193760" imgH="393480" progId="Equation.DSMT4">
                <p:embed/>
              </p:oleObj>
            </a:graphicData>
          </a:graphic>
        </p:graphicFrame>
      </p:grpSp>
      <p:grpSp>
        <p:nvGrpSpPr>
          <p:cNvPr id="33" name="组合 32"/>
          <p:cNvGrpSpPr/>
          <p:nvPr/>
        </p:nvGrpSpPr>
        <p:grpSpPr>
          <a:xfrm>
            <a:off x="514872" y="3189693"/>
            <a:ext cx="6136976" cy="626731"/>
            <a:chOff x="667272" y="3140968"/>
            <a:chExt cx="6136976" cy="626731"/>
          </a:xfrm>
        </p:grpSpPr>
        <p:sp>
          <p:nvSpPr>
            <p:cNvPr id="24" name="Rectangle 10"/>
            <p:cNvSpPr>
              <a:spLocks noChangeArrowheads="1"/>
            </p:cNvSpPr>
            <p:nvPr/>
          </p:nvSpPr>
          <p:spPr bwMode="auto">
            <a:xfrm>
              <a:off x="667272" y="3150817"/>
              <a:ext cx="4724400" cy="523875"/>
            </a:xfrm>
            <a:prstGeom prst="rect">
              <a:avLst/>
            </a:prstGeom>
            <a:noFill/>
            <a:ln w="28575">
              <a:noFill/>
              <a:miter lim="800000"/>
              <a:headEnd/>
              <a:tailEnd/>
            </a:ln>
          </p:spPr>
          <p:txBody>
            <a:bodyPr>
              <a:spAutoFit/>
            </a:bodyPr>
            <a:lstStyle/>
            <a:p>
              <a:r>
                <a:rPr lang="zh-CN" altLang="en-US" sz="2800" b="1" dirty="0">
                  <a:solidFill>
                    <a:srgbClr val="000000"/>
                  </a:solidFill>
                </a:rPr>
                <a:t>各方向运动</a:t>
              </a:r>
              <a:r>
                <a:rPr lang="zh-CN" altLang="en-US" sz="2800" b="1" dirty="0">
                  <a:solidFill>
                    <a:srgbClr val="FF0000"/>
                  </a:solidFill>
                </a:rPr>
                <a:t>概率均等</a:t>
              </a:r>
            </a:p>
          </p:txBody>
        </p:sp>
        <p:graphicFrame>
          <p:nvGraphicFramePr>
            <p:cNvPr id="31" name="Object 9"/>
            <p:cNvGraphicFramePr>
              <a:graphicFrameLocks noChangeAspect="1"/>
            </p:cNvGraphicFramePr>
            <p:nvPr/>
          </p:nvGraphicFramePr>
          <p:xfrm>
            <a:off x="4180110" y="3140968"/>
            <a:ext cx="2624138" cy="626731"/>
          </p:xfrm>
          <a:graphic>
            <a:graphicData uri="http://schemas.openxmlformats.org/presentationml/2006/ole">
              <p:oleObj spid="_x0000_s55309" name="Equation" r:id="rId8" imgW="1002960" imgH="241200" progId="Equation.DSMT4">
                <p:embed/>
              </p:oleObj>
            </a:graphicData>
          </a:graphic>
        </p:graphicFrame>
      </p:grpSp>
      <p:sp>
        <p:nvSpPr>
          <p:cNvPr id="38" name="灯片编号占位符 1"/>
          <p:cNvSpPr txBox="1">
            <a:spLocks/>
          </p:cNvSpPr>
          <p:nvPr/>
        </p:nvSpPr>
        <p:spPr bwMode="auto">
          <a:xfrm>
            <a:off x="8606357" y="6584504"/>
            <a:ext cx="574155" cy="300880"/>
          </a:xfrm>
          <a:prstGeom prst="rect">
            <a:avLst/>
          </a:prstGeom>
          <a:noFill/>
          <a:ln>
            <a:miter lim="800000"/>
            <a:headEnd/>
            <a:tailEnd/>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22E3302-AC1D-47C1-A1C9-47DFDD07C79E}" type="slidenum">
              <a:rPr kumimoji="0" lang="en-US" altLang="zh-CN" sz="1400" b="0" i="0" u="none" strike="noStrike" kern="1200" cap="none" spc="0" normalizeH="0" baseline="0" noProof="0" smtClean="0">
                <a:ln>
                  <a:noFill/>
                </a:ln>
                <a:solidFill>
                  <a:schemeClr val="tx1"/>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zh-CN" sz="1400" b="0" i="0" u="none" strike="noStrike" kern="1200" cap="none" spc="0" normalizeH="0" baseline="0" noProof="0" dirty="0">
              <a:ln>
                <a:noFill/>
              </a:ln>
              <a:solidFill>
                <a:schemeClr val="tx1"/>
              </a:solidFill>
              <a:effectLst/>
              <a:uLnTx/>
              <a:uFillTx/>
              <a:latin typeface="Arial" charset="0"/>
              <a:ea typeface="宋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wipe(left)">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wipe(left)">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ipe(left)">
                                      <p:cBhvr>
                                        <p:cTn id="22" dur="5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wipe(left)">
                                      <p:cBhvr>
                                        <p:cTn id="2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251520" y="4653136"/>
            <a:ext cx="4038600" cy="1441449"/>
            <a:chOff x="3072" y="1344"/>
            <a:chExt cx="2544" cy="908"/>
          </a:xfrm>
        </p:grpSpPr>
        <p:sp>
          <p:nvSpPr>
            <p:cNvPr id="7214" name="Text Box 3"/>
            <p:cNvSpPr txBox="1">
              <a:spLocks noChangeArrowheads="1"/>
            </p:cNvSpPr>
            <p:nvPr/>
          </p:nvSpPr>
          <p:spPr bwMode="auto">
            <a:xfrm>
              <a:off x="3072" y="1344"/>
              <a:ext cx="2544" cy="365"/>
            </a:xfrm>
            <a:prstGeom prst="rect">
              <a:avLst/>
            </a:prstGeom>
            <a:noFill/>
            <a:ln w="28575">
              <a:noFill/>
              <a:miter lim="800000"/>
              <a:headEnd/>
              <a:tailEnd/>
            </a:ln>
          </p:spPr>
          <p:txBody>
            <a:bodyPr>
              <a:spAutoFit/>
            </a:bodyPr>
            <a:lstStyle/>
            <a:p>
              <a:pPr>
                <a:spcBef>
                  <a:spcPct val="50000"/>
                </a:spcBef>
              </a:pPr>
              <a:r>
                <a:rPr lang="zh-CN" altLang="en-US" sz="3200" b="1">
                  <a:solidFill>
                    <a:srgbClr val="1C1C1C"/>
                  </a:solidFill>
                </a:rPr>
                <a:t>分子施于器壁的冲量</a:t>
              </a:r>
              <a:r>
                <a:rPr lang="en-US" altLang="zh-CN" sz="3200" b="1">
                  <a:solidFill>
                    <a:srgbClr val="1C1C1C"/>
                  </a:solidFill>
                  <a:latin typeface="Times New Roman" pitchFamily="18" charset="0"/>
                </a:rPr>
                <a:t>:</a:t>
              </a:r>
            </a:p>
          </p:txBody>
        </p:sp>
        <p:graphicFrame>
          <p:nvGraphicFramePr>
            <p:cNvPr id="7183" name="Object 4"/>
            <p:cNvGraphicFramePr>
              <a:graphicFrameLocks noChangeAspect="1"/>
            </p:cNvGraphicFramePr>
            <p:nvPr/>
          </p:nvGraphicFramePr>
          <p:xfrm>
            <a:off x="4387" y="1815"/>
            <a:ext cx="726" cy="437"/>
          </p:xfrm>
          <a:graphic>
            <a:graphicData uri="http://schemas.openxmlformats.org/presentationml/2006/ole">
              <p:oleObj spid="_x0000_s57359" name="Equation" r:id="rId3" imgW="380880" imgH="228600" progId="Equation.DSMT4">
                <p:embed/>
              </p:oleObj>
            </a:graphicData>
          </a:graphic>
        </p:graphicFrame>
      </p:grpSp>
      <p:grpSp>
        <p:nvGrpSpPr>
          <p:cNvPr id="8" name="Group 44"/>
          <p:cNvGrpSpPr>
            <a:grpSpLocks/>
          </p:cNvGrpSpPr>
          <p:nvPr/>
        </p:nvGrpSpPr>
        <p:grpSpPr bwMode="auto">
          <a:xfrm>
            <a:off x="323529" y="2605906"/>
            <a:ext cx="3313113" cy="1365250"/>
            <a:chOff x="3072" y="480"/>
            <a:chExt cx="2087" cy="860"/>
          </a:xfrm>
        </p:grpSpPr>
        <p:graphicFrame>
          <p:nvGraphicFramePr>
            <p:cNvPr id="7170" name="Object 45"/>
            <p:cNvGraphicFramePr>
              <a:graphicFrameLocks noChangeAspect="1"/>
            </p:cNvGraphicFramePr>
            <p:nvPr/>
          </p:nvGraphicFramePr>
          <p:xfrm>
            <a:off x="3365" y="908"/>
            <a:ext cx="1794" cy="432"/>
          </p:xfrm>
          <a:graphic>
            <a:graphicData uri="http://schemas.openxmlformats.org/presentationml/2006/ole">
              <p:oleObj spid="_x0000_s57346" name="Equation" r:id="rId4" imgW="876240" imgH="228600" progId="Equation.DSMT4">
                <p:embed/>
              </p:oleObj>
            </a:graphicData>
          </a:graphic>
        </p:graphicFrame>
        <p:sp>
          <p:nvSpPr>
            <p:cNvPr id="7190" name="Text Box 46"/>
            <p:cNvSpPr txBox="1">
              <a:spLocks noChangeArrowheads="1"/>
            </p:cNvSpPr>
            <p:nvPr/>
          </p:nvSpPr>
          <p:spPr bwMode="auto">
            <a:xfrm>
              <a:off x="3072" y="480"/>
              <a:ext cx="2016" cy="365"/>
            </a:xfrm>
            <a:prstGeom prst="rect">
              <a:avLst/>
            </a:prstGeom>
            <a:noFill/>
            <a:ln w="28575">
              <a:noFill/>
              <a:miter lim="800000"/>
              <a:headEnd/>
              <a:tailEnd/>
            </a:ln>
          </p:spPr>
          <p:txBody>
            <a:bodyPr>
              <a:spAutoFit/>
            </a:bodyPr>
            <a:lstStyle/>
            <a:p>
              <a:pPr>
                <a:spcBef>
                  <a:spcPct val="50000"/>
                </a:spcBef>
              </a:pPr>
              <a:r>
                <a:rPr lang="en-US" altLang="zh-CN" sz="3200" i="1" dirty="0">
                  <a:solidFill>
                    <a:srgbClr val="1C1C1C"/>
                  </a:solidFill>
                  <a:latin typeface="Times New Roman" pitchFamily="18" charset="0"/>
                </a:rPr>
                <a:t> x</a:t>
              </a:r>
              <a:r>
                <a:rPr lang="zh-CN" altLang="en-US" sz="3200" b="1" dirty="0">
                  <a:solidFill>
                    <a:srgbClr val="1C1C1C"/>
                  </a:solidFill>
                </a:rPr>
                <a:t>方向动量变化</a:t>
              </a:r>
              <a:r>
                <a:rPr lang="en-US" altLang="zh-CN" sz="3200" b="1" dirty="0">
                  <a:solidFill>
                    <a:srgbClr val="1C1C1C"/>
                  </a:solidFill>
                  <a:latin typeface="Times New Roman" pitchFamily="18" charset="0"/>
                </a:rPr>
                <a:t>:</a:t>
              </a:r>
            </a:p>
          </p:txBody>
        </p:sp>
      </p:grpSp>
      <p:sp>
        <p:nvSpPr>
          <p:cNvPr id="7188" name="Text Box 53"/>
          <p:cNvSpPr txBox="1">
            <a:spLocks noChangeArrowheads="1"/>
          </p:cNvSpPr>
          <p:nvPr/>
        </p:nvSpPr>
        <p:spPr bwMode="auto">
          <a:xfrm>
            <a:off x="323528" y="1305848"/>
            <a:ext cx="6931025" cy="579438"/>
          </a:xfrm>
          <a:prstGeom prst="rect">
            <a:avLst/>
          </a:prstGeom>
          <a:noFill/>
          <a:ln w="28575">
            <a:noFill/>
            <a:miter lim="800000"/>
            <a:headEnd/>
            <a:tailEnd/>
          </a:ln>
        </p:spPr>
        <p:txBody>
          <a:bodyPr>
            <a:spAutoFit/>
          </a:bodyPr>
          <a:lstStyle/>
          <a:p>
            <a:pPr>
              <a:spcBef>
                <a:spcPct val="50000"/>
              </a:spcBef>
              <a:buFontTx/>
              <a:buBlip>
                <a:blip r:embed="rId5"/>
              </a:buBlip>
            </a:pPr>
            <a:r>
              <a:rPr lang="en-US" altLang="zh-CN" sz="3200" b="1">
                <a:solidFill>
                  <a:srgbClr val="1C1C1C"/>
                </a:solidFill>
              </a:rPr>
              <a:t>  </a:t>
            </a:r>
            <a:r>
              <a:rPr lang="zh-CN" altLang="en-US" sz="3200" b="1">
                <a:solidFill>
                  <a:srgbClr val="CC0000"/>
                </a:solidFill>
              </a:rPr>
              <a:t>单个</a:t>
            </a:r>
            <a:r>
              <a:rPr lang="zh-CN" altLang="en-US" sz="3200" b="1">
                <a:solidFill>
                  <a:srgbClr val="1C1C1C"/>
                </a:solidFill>
              </a:rPr>
              <a:t>分子遵循力学规律</a:t>
            </a:r>
            <a:r>
              <a:rPr lang="en-US" altLang="zh-CN" sz="3200" b="1">
                <a:solidFill>
                  <a:srgbClr val="1C1C1C"/>
                </a:solidFill>
                <a:latin typeface="Times New Roman" pitchFamily="18" charset="0"/>
              </a:rPr>
              <a:t>.</a:t>
            </a:r>
          </a:p>
        </p:txBody>
      </p:sp>
      <p:sp>
        <p:nvSpPr>
          <p:cNvPr id="7189" name="TextBox 45"/>
          <p:cNvSpPr txBox="1">
            <a:spLocks noChangeArrowheads="1"/>
          </p:cNvSpPr>
          <p:nvPr/>
        </p:nvSpPr>
        <p:spPr bwMode="auto">
          <a:xfrm>
            <a:off x="949325" y="260648"/>
            <a:ext cx="5929313" cy="584200"/>
          </a:xfrm>
          <a:prstGeom prst="rect">
            <a:avLst/>
          </a:prstGeom>
          <a:noFill/>
          <a:ln w="9525">
            <a:noFill/>
            <a:miter lim="800000"/>
            <a:headEnd/>
            <a:tailEnd/>
          </a:ln>
        </p:spPr>
        <p:txBody>
          <a:bodyPr wrap="none">
            <a:spAutoFit/>
          </a:bodyPr>
          <a:lstStyle/>
          <a:p>
            <a:r>
              <a:rPr lang="zh-CN" altLang="en-US" sz="3200" b="1">
                <a:solidFill>
                  <a:srgbClr val="FF0000"/>
                </a:solidFill>
              </a:rPr>
              <a:t>庖丁解牛</a:t>
            </a:r>
            <a:r>
              <a:rPr lang="en-US" altLang="zh-CN" sz="3200" b="1">
                <a:solidFill>
                  <a:srgbClr val="FF0000"/>
                </a:solidFill>
              </a:rPr>
              <a:t>——</a:t>
            </a:r>
            <a:r>
              <a:rPr lang="zh-CN" altLang="en-US" sz="3200" b="1">
                <a:solidFill>
                  <a:srgbClr val="FF0000"/>
                </a:solidFill>
              </a:rPr>
              <a:t>将复杂过程简单化</a:t>
            </a:r>
          </a:p>
        </p:txBody>
      </p:sp>
      <p:sp>
        <p:nvSpPr>
          <p:cNvPr id="47" name="灯片编号占位符 1"/>
          <p:cNvSpPr txBox="1">
            <a:spLocks/>
          </p:cNvSpPr>
          <p:nvPr/>
        </p:nvSpPr>
        <p:spPr bwMode="auto">
          <a:xfrm>
            <a:off x="8606357" y="6584504"/>
            <a:ext cx="574155" cy="300880"/>
          </a:xfrm>
          <a:prstGeom prst="rect">
            <a:avLst/>
          </a:prstGeom>
          <a:noFill/>
          <a:ln>
            <a:miter lim="800000"/>
            <a:headEnd/>
            <a:tailEnd/>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22E3302-AC1D-47C1-A1C9-47DFDD07C79E}" type="slidenum">
              <a:rPr kumimoji="0" lang="en-US" altLang="zh-CN" sz="1400" b="0" i="0" u="none" strike="noStrike" kern="1200" cap="none" spc="0" normalizeH="0" baseline="0" noProof="0" smtClean="0">
                <a:ln>
                  <a:noFill/>
                </a:ln>
                <a:solidFill>
                  <a:schemeClr val="tx1"/>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zh-CN" sz="1400" b="0" i="0" u="none" strike="noStrike" kern="1200" cap="none" spc="0" normalizeH="0" baseline="0" noProof="0" dirty="0">
              <a:ln>
                <a:noFill/>
              </a:ln>
              <a:solidFill>
                <a:schemeClr val="tx1"/>
              </a:solidFill>
              <a:effectLst/>
              <a:uLnTx/>
              <a:uFillTx/>
              <a:latin typeface="Arial" charset="0"/>
              <a:ea typeface="宋体" pitchFamily="2" charset="-122"/>
              <a:cs typeface="+mn-cs"/>
            </a:endParaRPr>
          </a:p>
        </p:txBody>
      </p:sp>
      <p:grpSp>
        <p:nvGrpSpPr>
          <p:cNvPr id="114" name="Group 17"/>
          <p:cNvGrpSpPr>
            <a:grpSpLocks/>
          </p:cNvGrpSpPr>
          <p:nvPr/>
        </p:nvGrpSpPr>
        <p:grpSpPr bwMode="auto">
          <a:xfrm>
            <a:off x="4282569" y="2589664"/>
            <a:ext cx="4932551" cy="3491428"/>
            <a:chOff x="576" y="1680"/>
            <a:chExt cx="3255" cy="2304"/>
          </a:xfrm>
        </p:grpSpPr>
        <p:sp>
          <p:nvSpPr>
            <p:cNvPr id="115" name="AutoShape 25"/>
            <p:cNvSpPr>
              <a:spLocks noChangeArrowheads="1"/>
            </p:cNvSpPr>
            <p:nvPr/>
          </p:nvSpPr>
          <p:spPr bwMode="auto">
            <a:xfrm>
              <a:off x="912" y="2064"/>
              <a:ext cx="2160" cy="1632"/>
            </a:xfrm>
            <a:prstGeom prst="cube">
              <a:avLst>
                <a:gd name="adj" fmla="val 24681"/>
              </a:avLst>
            </a:prstGeom>
            <a:solidFill>
              <a:srgbClr val="CCFFCC">
                <a:alpha val="50195"/>
              </a:srgbClr>
            </a:solidFill>
            <a:ln w="19050">
              <a:solidFill>
                <a:schemeClr val="tx2"/>
              </a:solidFill>
              <a:miter lim="800000"/>
              <a:headEnd/>
              <a:tailEnd/>
            </a:ln>
          </p:spPr>
          <p:txBody>
            <a:bodyPr wrap="none" anchor="ctr"/>
            <a:lstStyle/>
            <a:p>
              <a:endParaRPr lang="zh-CN" altLang="en-US"/>
            </a:p>
          </p:txBody>
        </p:sp>
        <p:sp>
          <p:nvSpPr>
            <p:cNvPr id="116" name="Line 18"/>
            <p:cNvSpPr>
              <a:spLocks noChangeShapeType="1"/>
            </p:cNvSpPr>
            <p:nvPr/>
          </p:nvSpPr>
          <p:spPr bwMode="auto">
            <a:xfrm flipV="1">
              <a:off x="1344" y="1728"/>
              <a:ext cx="0" cy="1584"/>
            </a:xfrm>
            <a:prstGeom prst="line">
              <a:avLst/>
            </a:prstGeom>
            <a:noFill/>
            <a:ln w="19050">
              <a:solidFill>
                <a:srgbClr val="000000"/>
              </a:solidFill>
              <a:prstDash val="sysDot"/>
              <a:round/>
              <a:headEnd/>
              <a:tailEnd type="triangle" w="sm" len="lg"/>
            </a:ln>
          </p:spPr>
          <p:txBody>
            <a:bodyPr wrap="none" anchor="ctr"/>
            <a:lstStyle/>
            <a:p>
              <a:endParaRPr lang="zh-CN" altLang="en-US"/>
            </a:p>
          </p:txBody>
        </p:sp>
        <p:graphicFrame>
          <p:nvGraphicFramePr>
            <p:cNvPr id="117" name="Object 19"/>
            <p:cNvGraphicFramePr>
              <a:graphicFrameLocks noChangeAspect="1"/>
            </p:cNvGraphicFramePr>
            <p:nvPr/>
          </p:nvGraphicFramePr>
          <p:xfrm>
            <a:off x="1148" y="3168"/>
            <a:ext cx="214" cy="236"/>
          </p:xfrm>
          <a:graphic>
            <a:graphicData uri="http://schemas.openxmlformats.org/presentationml/2006/ole">
              <p:oleObj spid="_x0000_s57384" name="Equation" r:id="rId6" imgW="126720" imgH="139680" progId="Equation.3">
                <p:embed/>
              </p:oleObj>
            </a:graphicData>
          </a:graphic>
        </p:graphicFrame>
        <p:sp>
          <p:nvSpPr>
            <p:cNvPr id="118" name="Line 20"/>
            <p:cNvSpPr>
              <a:spLocks noChangeShapeType="1"/>
            </p:cNvSpPr>
            <p:nvPr/>
          </p:nvSpPr>
          <p:spPr bwMode="auto">
            <a:xfrm flipV="1">
              <a:off x="1344" y="3312"/>
              <a:ext cx="2208" cy="0"/>
            </a:xfrm>
            <a:prstGeom prst="line">
              <a:avLst/>
            </a:prstGeom>
            <a:noFill/>
            <a:ln w="19050">
              <a:solidFill>
                <a:srgbClr val="000000"/>
              </a:solidFill>
              <a:prstDash val="sysDot"/>
              <a:round/>
              <a:headEnd/>
              <a:tailEnd type="triangle" w="sm" len="lg"/>
            </a:ln>
          </p:spPr>
          <p:txBody>
            <a:bodyPr wrap="none" anchor="ctr"/>
            <a:lstStyle/>
            <a:p>
              <a:endParaRPr lang="zh-CN" altLang="en-US"/>
            </a:p>
          </p:txBody>
        </p:sp>
        <p:sp>
          <p:nvSpPr>
            <p:cNvPr id="119" name="Line 21"/>
            <p:cNvSpPr>
              <a:spLocks noChangeShapeType="1"/>
            </p:cNvSpPr>
            <p:nvPr/>
          </p:nvSpPr>
          <p:spPr bwMode="auto">
            <a:xfrm flipH="1">
              <a:off x="624" y="3312"/>
              <a:ext cx="720" cy="624"/>
            </a:xfrm>
            <a:prstGeom prst="line">
              <a:avLst/>
            </a:prstGeom>
            <a:noFill/>
            <a:ln w="19050">
              <a:solidFill>
                <a:srgbClr val="000000"/>
              </a:solidFill>
              <a:prstDash val="sysDot"/>
              <a:round/>
              <a:headEnd/>
              <a:tailEnd type="triangle" w="sm" len="lg"/>
            </a:ln>
          </p:spPr>
          <p:txBody>
            <a:bodyPr wrap="none" anchor="ctr"/>
            <a:lstStyle/>
            <a:p>
              <a:endParaRPr lang="zh-CN" altLang="en-US"/>
            </a:p>
          </p:txBody>
        </p:sp>
        <p:graphicFrame>
          <p:nvGraphicFramePr>
            <p:cNvPr id="120" name="Object 22"/>
            <p:cNvGraphicFramePr>
              <a:graphicFrameLocks noChangeAspect="1"/>
            </p:cNvGraphicFramePr>
            <p:nvPr/>
          </p:nvGraphicFramePr>
          <p:xfrm>
            <a:off x="1344" y="1680"/>
            <a:ext cx="287" cy="340"/>
          </p:xfrm>
          <a:graphic>
            <a:graphicData uri="http://schemas.openxmlformats.org/presentationml/2006/ole">
              <p:oleObj spid="_x0000_s57385" name="Equation" r:id="rId7" imgW="139680" imgH="164880" progId="Equation.3">
                <p:embed/>
              </p:oleObj>
            </a:graphicData>
          </a:graphic>
        </p:graphicFrame>
        <p:graphicFrame>
          <p:nvGraphicFramePr>
            <p:cNvPr id="121" name="Object 23"/>
            <p:cNvGraphicFramePr>
              <a:graphicFrameLocks noChangeAspect="1"/>
            </p:cNvGraphicFramePr>
            <p:nvPr/>
          </p:nvGraphicFramePr>
          <p:xfrm>
            <a:off x="576" y="3552"/>
            <a:ext cx="288" cy="288"/>
          </p:xfrm>
          <a:graphic>
            <a:graphicData uri="http://schemas.openxmlformats.org/presentationml/2006/ole">
              <p:oleObj spid="_x0000_s57386" name="Equation" r:id="rId8" imgW="126720" imgH="126720" progId="Equation.3">
                <p:embed/>
              </p:oleObj>
            </a:graphicData>
          </a:graphic>
        </p:graphicFrame>
        <p:graphicFrame>
          <p:nvGraphicFramePr>
            <p:cNvPr id="122" name="Object 24"/>
            <p:cNvGraphicFramePr>
              <a:graphicFrameLocks noChangeAspect="1"/>
            </p:cNvGraphicFramePr>
            <p:nvPr/>
          </p:nvGraphicFramePr>
          <p:xfrm>
            <a:off x="3570" y="3201"/>
            <a:ext cx="261" cy="288"/>
          </p:xfrm>
          <a:graphic>
            <a:graphicData uri="http://schemas.openxmlformats.org/presentationml/2006/ole">
              <p:oleObj spid="_x0000_s57387" name="Equation" r:id="rId9" imgW="126720" imgH="139680" progId="Equation.3">
                <p:embed/>
              </p:oleObj>
            </a:graphicData>
          </a:graphic>
        </p:graphicFrame>
        <p:sp>
          <p:nvSpPr>
            <p:cNvPr id="123" name="Line 26"/>
            <p:cNvSpPr>
              <a:spLocks noChangeShapeType="1"/>
            </p:cNvSpPr>
            <p:nvPr/>
          </p:nvSpPr>
          <p:spPr bwMode="auto">
            <a:xfrm>
              <a:off x="3072" y="2064"/>
              <a:ext cx="288" cy="0"/>
            </a:xfrm>
            <a:prstGeom prst="line">
              <a:avLst/>
            </a:prstGeom>
            <a:noFill/>
            <a:ln w="12700">
              <a:solidFill>
                <a:srgbClr val="000000"/>
              </a:solidFill>
              <a:prstDash val="dash"/>
              <a:round/>
              <a:headEnd/>
              <a:tailEnd/>
            </a:ln>
          </p:spPr>
          <p:txBody>
            <a:bodyPr wrap="none"/>
            <a:lstStyle/>
            <a:p>
              <a:endParaRPr lang="zh-CN" altLang="en-US"/>
            </a:p>
          </p:txBody>
        </p:sp>
        <p:sp>
          <p:nvSpPr>
            <p:cNvPr id="124" name="Line 27"/>
            <p:cNvSpPr>
              <a:spLocks noChangeShapeType="1"/>
            </p:cNvSpPr>
            <p:nvPr/>
          </p:nvSpPr>
          <p:spPr bwMode="auto">
            <a:xfrm>
              <a:off x="3264" y="2880"/>
              <a:ext cx="0" cy="432"/>
            </a:xfrm>
            <a:prstGeom prst="line">
              <a:avLst/>
            </a:prstGeom>
            <a:noFill/>
            <a:ln w="19050">
              <a:solidFill>
                <a:srgbClr val="FF0066"/>
              </a:solidFill>
              <a:round/>
              <a:headEnd/>
              <a:tailEnd type="triangle" w="sm" len="lg"/>
            </a:ln>
          </p:spPr>
          <p:txBody>
            <a:bodyPr wrap="none"/>
            <a:lstStyle/>
            <a:p>
              <a:endParaRPr lang="zh-CN" altLang="en-US"/>
            </a:p>
          </p:txBody>
        </p:sp>
        <p:sp>
          <p:nvSpPr>
            <p:cNvPr id="125" name="Line 28"/>
            <p:cNvSpPr>
              <a:spLocks noChangeShapeType="1"/>
            </p:cNvSpPr>
            <p:nvPr/>
          </p:nvSpPr>
          <p:spPr bwMode="auto">
            <a:xfrm flipV="1">
              <a:off x="3264" y="2064"/>
              <a:ext cx="0" cy="528"/>
            </a:xfrm>
            <a:prstGeom prst="line">
              <a:avLst/>
            </a:prstGeom>
            <a:noFill/>
            <a:ln w="19050">
              <a:solidFill>
                <a:srgbClr val="FF0066"/>
              </a:solidFill>
              <a:round/>
              <a:headEnd/>
              <a:tailEnd type="triangle" w="sm" len="lg"/>
            </a:ln>
          </p:spPr>
          <p:txBody>
            <a:bodyPr wrap="none"/>
            <a:lstStyle/>
            <a:p>
              <a:endParaRPr lang="zh-CN" altLang="en-US"/>
            </a:p>
          </p:txBody>
        </p:sp>
        <p:graphicFrame>
          <p:nvGraphicFramePr>
            <p:cNvPr id="126" name="Object 29"/>
            <p:cNvGraphicFramePr>
              <a:graphicFrameLocks noChangeAspect="1"/>
            </p:cNvGraphicFramePr>
            <p:nvPr/>
          </p:nvGraphicFramePr>
          <p:xfrm>
            <a:off x="3120" y="2588"/>
            <a:ext cx="287" cy="340"/>
          </p:xfrm>
          <a:graphic>
            <a:graphicData uri="http://schemas.openxmlformats.org/presentationml/2006/ole">
              <p:oleObj spid="_x0000_s57388" name="Equation" r:id="rId10" imgW="139680" imgH="164880" progId="Equation.3">
                <p:embed/>
              </p:oleObj>
            </a:graphicData>
          </a:graphic>
        </p:graphicFrame>
        <p:sp>
          <p:nvSpPr>
            <p:cNvPr id="127" name="Line 30"/>
            <p:cNvSpPr>
              <a:spLocks noChangeShapeType="1"/>
            </p:cNvSpPr>
            <p:nvPr/>
          </p:nvSpPr>
          <p:spPr bwMode="auto">
            <a:xfrm>
              <a:off x="2688" y="3696"/>
              <a:ext cx="288" cy="0"/>
            </a:xfrm>
            <a:prstGeom prst="line">
              <a:avLst/>
            </a:prstGeom>
            <a:noFill/>
            <a:ln w="12700">
              <a:solidFill>
                <a:srgbClr val="000000"/>
              </a:solidFill>
              <a:prstDash val="dash"/>
              <a:round/>
              <a:headEnd/>
              <a:tailEnd/>
            </a:ln>
          </p:spPr>
          <p:txBody>
            <a:bodyPr wrap="none"/>
            <a:lstStyle/>
            <a:p>
              <a:endParaRPr lang="zh-CN" altLang="en-US"/>
            </a:p>
          </p:txBody>
        </p:sp>
        <p:sp>
          <p:nvSpPr>
            <p:cNvPr id="128" name="Line 31"/>
            <p:cNvSpPr>
              <a:spLocks noChangeShapeType="1"/>
            </p:cNvSpPr>
            <p:nvPr/>
          </p:nvSpPr>
          <p:spPr bwMode="auto">
            <a:xfrm flipH="1">
              <a:off x="2880" y="3552"/>
              <a:ext cx="144" cy="144"/>
            </a:xfrm>
            <a:prstGeom prst="line">
              <a:avLst/>
            </a:prstGeom>
            <a:noFill/>
            <a:ln w="19050">
              <a:solidFill>
                <a:srgbClr val="FF0066"/>
              </a:solidFill>
              <a:round/>
              <a:headEnd/>
              <a:tailEnd type="triangle" w="sm" len="lg"/>
            </a:ln>
          </p:spPr>
          <p:txBody>
            <a:bodyPr wrap="none"/>
            <a:lstStyle/>
            <a:p>
              <a:endParaRPr lang="zh-CN" altLang="en-US"/>
            </a:p>
          </p:txBody>
        </p:sp>
        <p:sp>
          <p:nvSpPr>
            <p:cNvPr id="129" name="Line 32"/>
            <p:cNvSpPr>
              <a:spLocks noChangeShapeType="1"/>
            </p:cNvSpPr>
            <p:nvPr/>
          </p:nvSpPr>
          <p:spPr bwMode="auto">
            <a:xfrm flipH="1">
              <a:off x="3120" y="3312"/>
              <a:ext cx="144" cy="144"/>
            </a:xfrm>
            <a:prstGeom prst="line">
              <a:avLst/>
            </a:prstGeom>
            <a:noFill/>
            <a:ln w="19050">
              <a:solidFill>
                <a:srgbClr val="FF0066"/>
              </a:solidFill>
              <a:round/>
              <a:headEnd type="triangle" w="sm" len="lg"/>
              <a:tailEnd type="none" w="sm" len="lg"/>
            </a:ln>
          </p:spPr>
          <p:txBody>
            <a:bodyPr wrap="none"/>
            <a:lstStyle/>
            <a:p>
              <a:endParaRPr lang="zh-CN" altLang="en-US"/>
            </a:p>
          </p:txBody>
        </p:sp>
        <p:graphicFrame>
          <p:nvGraphicFramePr>
            <p:cNvPr id="130" name="Object 33"/>
            <p:cNvGraphicFramePr>
              <a:graphicFrameLocks noChangeAspect="1"/>
            </p:cNvGraphicFramePr>
            <p:nvPr/>
          </p:nvGraphicFramePr>
          <p:xfrm>
            <a:off x="2976" y="3360"/>
            <a:ext cx="240" cy="240"/>
          </p:xfrm>
          <a:graphic>
            <a:graphicData uri="http://schemas.openxmlformats.org/presentationml/2006/ole">
              <p:oleObj spid="_x0000_s57389" name="Equation" r:id="rId11" imgW="126720" imgH="126720" progId="Equation.3">
                <p:embed/>
              </p:oleObj>
            </a:graphicData>
          </a:graphic>
        </p:graphicFrame>
        <p:sp>
          <p:nvSpPr>
            <p:cNvPr id="131" name="Line 34"/>
            <p:cNvSpPr>
              <a:spLocks noChangeShapeType="1"/>
            </p:cNvSpPr>
            <p:nvPr/>
          </p:nvSpPr>
          <p:spPr bwMode="auto">
            <a:xfrm>
              <a:off x="2688" y="3696"/>
              <a:ext cx="0" cy="240"/>
            </a:xfrm>
            <a:prstGeom prst="line">
              <a:avLst/>
            </a:prstGeom>
            <a:noFill/>
            <a:ln w="12700">
              <a:solidFill>
                <a:srgbClr val="000000"/>
              </a:solidFill>
              <a:prstDash val="dash"/>
              <a:round/>
              <a:headEnd/>
              <a:tailEnd/>
            </a:ln>
          </p:spPr>
          <p:txBody>
            <a:bodyPr wrap="none"/>
            <a:lstStyle/>
            <a:p>
              <a:endParaRPr lang="zh-CN" altLang="en-US"/>
            </a:p>
          </p:txBody>
        </p:sp>
        <p:sp>
          <p:nvSpPr>
            <p:cNvPr id="132" name="Line 35"/>
            <p:cNvSpPr>
              <a:spLocks noChangeShapeType="1"/>
            </p:cNvSpPr>
            <p:nvPr/>
          </p:nvSpPr>
          <p:spPr bwMode="auto">
            <a:xfrm>
              <a:off x="912" y="3696"/>
              <a:ext cx="0" cy="240"/>
            </a:xfrm>
            <a:prstGeom prst="line">
              <a:avLst/>
            </a:prstGeom>
            <a:noFill/>
            <a:ln w="12700">
              <a:solidFill>
                <a:srgbClr val="000000"/>
              </a:solidFill>
              <a:prstDash val="dash"/>
              <a:round/>
              <a:headEnd/>
              <a:tailEnd/>
            </a:ln>
          </p:spPr>
          <p:txBody>
            <a:bodyPr wrap="none"/>
            <a:lstStyle/>
            <a:p>
              <a:endParaRPr lang="zh-CN" altLang="en-US"/>
            </a:p>
          </p:txBody>
        </p:sp>
        <p:sp>
          <p:nvSpPr>
            <p:cNvPr id="133" name="Line 36"/>
            <p:cNvSpPr>
              <a:spLocks noChangeShapeType="1"/>
            </p:cNvSpPr>
            <p:nvPr/>
          </p:nvSpPr>
          <p:spPr bwMode="auto">
            <a:xfrm>
              <a:off x="1872" y="3840"/>
              <a:ext cx="816" cy="0"/>
            </a:xfrm>
            <a:prstGeom prst="line">
              <a:avLst/>
            </a:prstGeom>
            <a:noFill/>
            <a:ln w="19050">
              <a:solidFill>
                <a:srgbClr val="FF0066"/>
              </a:solidFill>
              <a:round/>
              <a:headEnd/>
              <a:tailEnd type="triangle" w="sm" len="lg"/>
            </a:ln>
          </p:spPr>
          <p:txBody>
            <a:bodyPr wrap="none"/>
            <a:lstStyle/>
            <a:p>
              <a:endParaRPr lang="zh-CN" altLang="en-US"/>
            </a:p>
          </p:txBody>
        </p:sp>
        <p:sp>
          <p:nvSpPr>
            <p:cNvPr id="134" name="Line 37"/>
            <p:cNvSpPr>
              <a:spLocks noChangeShapeType="1"/>
            </p:cNvSpPr>
            <p:nvPr/>
          </p:nvSpPr>
          <p:spPr bwMode="auto">
            <a:xfrm flipH="1">
              <a:off x="912" y="3840"/>
              <a:ext cx="672" cy="0"/>
            </a:xfrm>
            <a:prstGeom prst="line">
              <a:avLst/>
            </a:prstGeom>
            <a:noFill/>
            <a:ln w="19050">
              <a:solidFill>
                <a:srgbClr val="FF0066"/>
              </a:solidFill>
              <a:round/>
              <a:headEnd/>
              <a:tailEnd type="triangle" w="sm" len="lg"/>
            </a:ln>
          </p:spPr>
          <p:txBody>
            <a:bodyPr wrap="none"/>
            <a:lstStyle/>
            <a:p>
              <a:endParaRPr lang="zh-CN" altLang="en-US"/>
            </a:p>
          </p:txBody>
        </p:sp>
        <p:graphicFrame>
          <p:nvGraphicFramePr>
            <p:cNvPr id="135" name="Object 38"/>
            <p:cNvGraphicFramePr>
              <a:graphicFrameLocks noChangeAspect="1"/>
            </p:cNvGraphicFramePr>
            <p:nvPr/>
          </p:nvGraphicFramePr>
          <p:xfrm>
            <a:off x="1584" y="3696"/>
            <a:ext cx="261" cy="288"/>
          </p:xfrm>
          <a:graphic>
            <a:graphicData uri="http://schemas.openxmlformats.org/presentationml/2006/ole">
              <p:oleObj spid="_x0000_s57390" name="Equation" r:id="rId12" imgW="126720" imgH="139680" progId="Equation.3">
                <p:embed/>
              </p:oleObj>
            </a:graphicData>
          </a:graphic>
        </p:graphicFrame>
      </p:grpSp>
      <p:grpSp>
        <p:nvGrpSpPr>
          <p:cNvPr id="136" name="Group 9"/>
          <p:cNvGrpSpPr>
            <a:grpSpLocks/>
          </p:cNvGrpSpPr>
          <p:nvPr/>
        </p:nvGrpSpPr>
        <p:grpSpPr bwMode="auto">
          <a:xfrm>
            <a:off x="6409370" y="4266582"/>
            <a:ext cx="1438091" cy="487950"/>
            <a:chOff x="1979" y="2763"/>
            <a:chExt cx="949" cy="322"/>
          </a:xfrm>
        </p:grpSpPr>
        <p:graphicFrame>
          <p:nvGraphicFramePr>
            <p:cNvPr id="137" name="Object 10"/>
            <p:cNvGraphicFramePr>
              <a:graphicFrameLocks noChangeAspect="1"/>
            </p:cNvGraphicFramePr>
            <p:nvPr/>
          </p:nvGraphicFramePr>
          <p:xfrm>
            <a:off x="1979" y="2763"/>
            <a:ext cx="506" cy="322"/>
          </p:xfrm>
          <a:graphic>
            <a:graphicData uri="http://schemas.openxmlformats.org/presentationml/2006/ole">
              <p:oleObj spid="_x0000_s57391" name="Equation" r:id="rId13" imgW="342720" imgH="228600" progId="Equation.DSMT4">
                <p:embed/>
              </p:oleObj>
            </a:graphicData>
          </a:graphic>
        </p:graphicFrame>
        <p:sp>
          <p:nvSpPr>
            <p:cNvPr id="138" name="Line 11"/>
            <p:cNvSpPr>
              <a:spLocks noChangeShapeType="1"/>
            </p:cNvSpPr>
            <p:nvPr/>
          </p:nvSpPr>
          <p:spPr bwMode="auto">
            <a:xfrm flipH="1">
              <a:off x="2352" y="3072"/>
              <a:ext cx="576" cy="0"/>
            </a:xfrm>
            <a:prstGeom prst="line">
              <a:avLst/>
            </a:prstGeom>
            <a:noFill/>
            <a:ln w="28575">
              <a:solidFill>
                <a:srgbClr val="CC3399"/>
              </a:solidFill>
              <a:round/>
              <a:headEnd/>
              <a:tailEnd type="triangle" w="sm" len="lg"/>
            </a:ln>
          </p:spPr>
          <p:txBody>
            <a:bodyPr wrap="none"/>
            <a:lstStyle/>
            <a:p>
              <a:endParaRPr lang="zh-CN" altLang="en-US"/>
            </a:p>
          </p:txBody>
        </p:sp>
      </p:grpSp>
      <p:graphicFrame>
        <p:nvGraphicFramePr>
          <p:cNvPr id="139" name="Object 12"/>
          <p:cNvGraphicFramePr>
            <a:graphicFrameLocks noChangeAspect="1"/>
          </p:cNvGraphicFramePr>
          <p:nvPr/>
        </p:nvGraphicFramePr>
        <p:xfrm>
          <a:off x="4865204" y="4080200"/>
          <a:ext cx="412182" cy="448551"/>
        </p:xfrm>
        <a:graphic>
          <a:graphicData uri="http://schemas.openxmlformats.org/presentationml/2006/ole">
            <p:oleObj spid="_x0000_s57392" name="Equation" r:id="rId14" imgW="291960" imgH="317160" progId="Equation.3">
              <p:embed/>
            </p:oleObj>
          </a:graphicData>
        </a:graphic>
      </p:graphicFrame>
      <p:grpSp>
        <p:nvGrpSpPr>
          <p:cNvPr id="140" name="Group 13"/>
          <p:cNvGrpSpPr>
            <a:grpSpLocks/>
          </p:cNvGrpSpPr>
          <p:nvPr/>
        </p:nvGrpSpPr>
        <p:grpSpPr bwMode="auto">
          <a:xfrm>
            <a:off x="5592584" y="3861985"/>
            <a:ext cx="1139563" cy="945595"/>
            <a:chOff x="3840" y="2736"/>
            <a:chExt cx="752" cy="624"/>
          </a:xfrm>
        </p:grpSpPr>
        <p:sp>
          <p:nvSpPr>
            <p:cNvPr id="141" name="Oval 14"/>
            <p:cNvSpPr>
              <a:spLocks noChangeArrowheads="1"/>
            </p:cNvSpPr>
            <p:nvPr/>
          </p:nvSpPr>
          <p:spPr bwMode="auto">
            <a:xfrm>
              <a:off x="3840" y="3216"/>
              <a:ext cx="144" cy="144"/>
            </a:xfrm>
            <a:prstGeom prst="ellipse">
              <a:avLst/>
            </a:prstGeom>
            <a:gradFill rotWithShape="0">
              <a:gsLst>
                <a:gs pos="0">
                  <a:srgbClr val="FF0000"/>
                </a:gs>
                <a:gs pos="100000">
                  <a:srgbClr val="760000"/>
                </a:gs>
              </a:gsLst>
              <a:path path="shape">
                <a:fillToRect l="50000" t="50000" r="50000" b="50000"/>
              </a:path>
            </a:gradFill>
            <a:ln w="28575">
              <a:solidFill>
                <a:schemeClr val="accent1"/>
              </a:solidFill>
              <a:round/>
              <a:headEnd/>
              <a:tailEnd/>
            </a:ln>
          </p:spPr>
          <p:txBody>
            <a:bodyPr wrap="none" anchor="ctr"/>
            <a:lstStyle/>
            <a:p>
              <a:endParaRPr lang="zh-CN" altLang="en-US"/>
            </a:p>
          </p:txBody>
        </p:sp>
        <p:sp>
          <p:nvSpPr>
            <p:cNvPr id="142" name="Line 15"/>
            <p:cNvSpPr>
              <a:spLocks noChangeShapeType="1"/>
            </p:cNvSpPr>
            <p:nvPr/>
          </p:nvSpPr>
          <p:spPr bwMode="auto">
            <a:xfrm flipV="1">
              <a:off x="3936" y="2928"/>
              <a:ext cx="480" cy="336"/>
            </a:xfrm>
            <a:prstGeom prst="line">
              <a:avLst/>
            </a:prstGeom>
            <a:noFill/>
            <a:ln w="28575">
              <a:solidFill>
                <a:srgbClr val="0000FF"/>
              </a:solidFill>
              <a:round/>
              <a:headEnd/>
              <a:tailEnd type="triangle" w="sm" len="lg"/>
            </a:ln>
          </p:spPr>
          <p:txBody>
            <a:bodyPr wrap="none" anchor="ctr"/>
            <a:lstStyle/>
            <a:p>
              <a:endParaRPr lang="zh-CN" altLang="en-US"/>
            </a:p>
          </p:txBody>
        </p:sp>
        <p:graphicFrame>
          <p:nvGraphicFramePr>
            <p:cNvPr id="143" name="Object 16"/>
            <p:cNvGraphicFramePr>
              <a:graphicFrameLocks noChangeAspect="1"/>
            </p:cNvGraphicFramePr>
            <p:nvPr/>
          </p:nvGraphicFramePr>
          <p:xfrm>
            <a:off x="4368" y="2736"/>
            <a:ext cx="224" cy="288"/>
          </p:xfrm>
          <a:graphic>
            <a:graphicData uri="http://schemas.openxmlformats.org/presentationml/2006/ole">
              <p:oleObj spid="_x0000_s57393" name="Equation" r:id="rId15" imgW="177480" imgH="228600" progId="Equation.3">
                <p:embed/>
              </p:oleObj>
            </a:graphicData>
          </a:graphic>
        </p:graphicFrame>
      </p:grpSp>
      <p:grpSp>
        <p:nvGrpSpPr>
          <p:cNvPr id="144" name="Group 6"/>
          <p:cNvGrpSpPr>
            <a:grpSpLocks/>
          </p:cNvGrpSpPr>
          <p:nvPr/>
        </p:nvGrpSpPr>
        <p:grpSpPr bwMode="auto">
          <a:xfrm>
            <a:off x="6342697" y="4581789"/>
            <a:ext cx="1504770" cy="524320"/>
            <a:chOff x="1935" y="2971"/>
            <a:chExt cx="993" cy="346"/>
          </a:xfrm>
        </p:grpSpPr>
        <p:graphicFrame>
          <p:nvGraphicFramePr>
            <p:cNvPr id="145" name="Object 7"/>
            <p:cNvGraphicFramePr>
              <a:graphicFrameLocks noChangeAspect="1"/>
            </p:cNvGraphicFramePr>
            <p:nvPr/>
          </p:nvGraphicFramePr>
          <p:xfrm>
            <a:off x="1935" y="2971"/>
            <a:ext cx="473" cy="346"/>
          </p:xfrm>
          <a:graphic>
            <a:graphicData uri="http://schemas.openxmlformats.org/presentationml/2006/ole">
              <p:oleObj spid="_x0000_s57394" name="Equation" r:id="rId16" imgW="291960" imgH="228600" progId="Equation.DSMT4">
                <p:embed/>
              </p:oleObj>
            </a:graphicData>
          </a:graphic>
        </p:graphicFrame>
        <p:sp>
          <p:nvSpPr>
            <p:cNvPr id="146" name="Line 8"/>
            <p:cNvSpPr>
              <a:spLocks noChangeShapeType="1"/>
            </p:cNvSpPr>
            <p:nvPr/>
          </p:nvSpPr>
          <p:spPr bwMode="auto">
            <a:xfrm>
              <a:off x="2352" y="3159"/>
              <a:ext cx="576" cy="0"/>
            </a:xfrm>
            <a:prstGeom prst="line">
              <a:avLst/>
            </a:prstGeom>
            <a:noFill/>
            <a:ln w="28575">
              <a:solidFill>
                <a:srgbClr val="CC3399"/>
              </a:solidFill>
              <a:round/>
              <a:headEnd/>
              <a:tailEnd type="triangle" w="sm" len="lg"/>
            </a:ln>
          </p:spPr>
          <p:txBody>
            <a:bodyPr wrap="none"/>
            <a:lstStyle/>
            <a:p>
              <a:endParaRPr lang="zh-CN" altLang="en-US"/>
            </a:p>
          </p:txBody>
        </p:sp>
      </p:grpSp>
      <p:graphicFrame>
        <p:nvGraphicFramePr>
          <p:cNvPr id="147" name="Object 39"/>
          <p:cNvGraphicFramePr>
            <a:graphicFrameLocks noChangeAspect="1"/>
          </p:cNvGraphicFramePr>
          <p:nvPr/>
        </p:nvGraphicFramePr>
        <p:xfrm>
          <a:off x="7594937" y="3941313"/>
          <a:ext cx="359144" cy="448551"/>
        </p:xfrm>
        <a:graphic>
          <a:graphicData uri="http://schemas.openxmlformats.org/presentationml/2006/ole">
            <p:oleObj spid="_x0000_s57395" name="Equation" r:id="rId17" imgW="253800" imgH="31716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467544" y="2039813"/>
            <a:ext cx="6961956" cy="1173163"/>
            <a:chOff x="1155700" y="3503464"/>
            <a:chExt cx="6961956" cy="1173163"/>
          </a:xfrm>
        </p:grpSpPr>
        <p:sp>
          <p:nvSpPr>
            <p:cNvPr id="33797" name="Text Box 5"/>
            <p:cNvSpPr txBox="1">
              <a:spLocks noChangeArrowheads="1"/>
            </p:cNvSpPr>
            <p:nvPr/>
          </p:nvSpPr>
          <p:spPr bwMode="auto">
            <a:xfrm>
              <a:off x="1155700" y="3538538"/>
              <a:ext cx="6467475" cy="1077218"/>
            </a:xfrm>
            <a:prstGeom prst="rect">
              <a:avLst/>
            </a:prstGeom>
            <a:noFill/>
            <a:ln w="28575">
              <a:noFill/>
              <a:miter lim="800000"/>
              <a:headEnd/>
              <a:tailEnd/>
            </a:ln>
          </p:spPr>
          <p:txBody>
            <a:bodyPr>
              <a:spAutoFit/>
            </a:bodyPr>
            <a:lstStyle/>
            <a:p>
              <a:r>
                <a:rPr lang="zh-CN" altLang="en-US" sz="3200" b="1" dirty="0">
                  <a:solidFill>
                    <a:srgbClr val="FF0000"/>
                  </a:solidFill>
                </a:rPr>
                <a:t>单</a:t>
              </a:r>
              <a:r>
                <a:rPr lang="zh-CN" altLang="en-US" sz="3200" b="1" dirty="0">
                  <a:solidFill>
                    <a:srgbClr val="1C1C1C"/>
                  </a:solidFill>
                </a:rPr>
                <a:t>个分子</a:t>
              </a:r>
              <a:r>
                <a:rPr lang="zh-CN" altLang="en-US" sz="3200" b="1" dirty="0">
                  <a:solidFill>
                    <a:srgbClr val="FF0000"/>
                  </a:solidFill>
                </a:rPr>
                <a:t>单位时</a:t>
              </a:r>
              <a:r>
                <a:rPr lang="zh-CN" altLang="en-US" sz="3200" b="1" dirty="0" smtClean="0">
                  <a:solidFill>
                    <a:srgbClr val="FF0000"/>
                  </a:solidFill>
                </a:rPr>
                <a:t>间</a:t>
              </a:r>
              <a:endParaRPr lang="en-US" altLang="zh-CN" sz="3200" b="1" dirty="0" smtClean="0">
                <a:solidFill>
                  <a:srgbClr val="FF0000"/>
                </a:solidFill>
              </a:endParaRPr>
            </a:p>
            <a:p>
              <a:r>
                <a:rPr lang="zh-CN" altLang="en-US" sz="3200" b="1" dirty="0" smtClean="0">
                  <a:solidFill>
                    <a:srgbClr val="1C1C1C"/>
                  </a:solidFill>
                </a:rPr>
                <a:t>施</a:t>
              </a:r>
              <a:r>
                <a:rPr lang="zh-CN" altLang="en-US" sz="3200" b="1" dirty="0">
                  <a:solidFill>
                    <a:srgbClr val="1C1C1C"/>
                  </a:solidFill>
                </a:rPr>
                <a:t>于器壁的冲量</a:t>
              </a:r>
              <a:r>
                <a:rPr lang="en-US" altLang="zh-CN" sz="3200" b="1" dirty="0">
                  <a:solidFill>
                    <a:srgbClr val="1C1C1C"/>
                  </a:solidFill>
                  <a:latin typeface="Times New Roman" pitchFamily="18" charset="0"/>
                </a:rPr>
                <a:t>:</a:t>
              </a:r>
            </a:p>
          </p:txBody>
        </p:sp>
        <p:graphicFrame>
          <p:nvGraphicFramePr>
            <p:cNvPr id="33798" name="Object 6"/>
            <p:cNvGraphicFramePr>
              <a:graphicFrameLocks noChangeAspect="1"/>
            </p:cNvGraphicFramePr>
            <p:nvPr/>
          </p:nvGraphicFramePr>
          <p:xfrm>
            <a:off x="4755331" y="3503464"/>
            <a:ext cx="3362325" cy="1173163"/>
          </p:xfrm>
          <a:graphic>
            <a:graphicData uri="http://schemas.openxmlformats.org/presentationml/2006/ole">
              <p:oleObj spid="_x0000_s58370" name="Equation" r:id="rId3" imgW="1079280" imgH="419040" progId="Equation.DSMT4">
                <p:embed/>
              </p:oleObj>
            </a:graphicData>
          </a:graphic>
        </p:graphicFrame>
      </p:grpSp>
      <p:grpSp>
        <p:nvGrpSpPr>
          <p:cNvPr id="14" name="组合 13"/>
          <p:cNvGrpSpPr/>
          <p:nvPr/>
        </p:nvGrpSpPr>
        <p:grpSpPr>
          <a:xfrm>
            <a:off x="443406" y="332655"/>
            <a:ext cx="4880908" cy="648073"/>
            <a:chOff x="1258888" y="908720"/>
            <a:chExt cx="4880908" cy="648073"/>
          </a:xfrm>
        </p:grpSpPr>
        <p:sp>
          <p:nvSpPr>
            <p:cNvPr id="8199" name="Text Box 8"/>
            <p:cNvSpPr txBox="1">
              <a:spLocks noChangeArrowheads="1"/>
            </p:cNvSpPr>
            <p:nvPr/>
          </p:nvSpPr>
          <p:spPr bwMode="auto">
            <a:xfrm>
              <a:off x="1258888" y="921789"/>
              <a:ext cx="3886200" cy="579437"/>
            </a:xfrm>
            <a:prstGeom prst="rect">
              <a:avLst/>
            </a:prstGeom>
            <a:noFill/>
            <a:ln w="28575">
              <a:noFill/>
              <a:miter lim="800000"/>
              <a:headEnd/>
              <a:tailEnd/>
            </a:ln>
          </p:spPr>
          <p:txBody>
            <a:bodyPr>
              <a:spAutoFit/>
            </a:bodyPr>
            <a:lstStyle/>
            <a:p>
              <a:pPr>
                <a:spcBef>
                  <a:spcPct val="50000"/>
                </a:spcBef>
              </a:pPr>
              <a:r>
                <a:rPr lang="zh-CN" altLang="en-US" sz="3200" b="1">
                  <a:solidFill>
                    <a:srgbClr val="1C1C1C"/>
                  </a:solidFill>
                </a:rPr>
                <a:t>两次碰撞间隔时间</a:t>
              </a:r>
              <a:r>
                <a:rPr lang="en-US" altLang="zh-CN" sz="3200" b="1">
                  <a:solidFill>
                    <a:srgbClr val="1C1C1C"/>
                  </a:solidFill>
                  <a:latin typeface="Times New Roman" pitchFamily="18" charset="0"/>
                </a:rPr>
                <a:t>:</a:t>
              </a:r>
            </a:p>
          </p:txBody>
        </p:sp>
        <p:graphicFrame>
          <p:nvGraphicFramePr>
            <p:cNvPr id="33801" name="Object 9"/>
            <p:cNvGraphicFramePr>
              <a:graphicFrameLocks noChangeAspect="1"/>
            </p:cNvGraphicFramePr>
            <p:nvPr/>
          </p:nvGraphicFramePr>
          <p:xfrm>
            <a:off x="4883426" y="908720"/>
            <a:ext cx="1256370" cy="648073"/>
          </p:xfrm>
          <a:graphic>
            <a:graphicData uri="http://schemas.openxmlformats.org/presentationml/2006/ole">
              <p:oleObj spid="_x0000_s58371" name="Equation" r:id="rId4" imgW="419040" imgH="228600" progId="Equation.DSMT4">
                <p:embed/>
              </p:oleObj>
            </a:graphicData>
          </a:graphic>
        </p:graphicFrame>
      </p:grpSp>
      <p:sp>
        <p:nvSpPr>
          <p:cNvPr id="10" name="灯片编号占位符 1"/>
          <p:cNvSpPr txBox="1">
            <a:spLocks/>
          </p:cNvSpPr>
          <p:nvPr/>
        </p:nvSpPr>
        <p:spPr bwMode="auto">
          <a:xfrm>
            <a:off x="8606357" y="6584504"/>
            <a:ext cx="574155" cy="300880"/>
          </a:xfrm>
          <a:prstGeom prst="rect">
            <a:avLst/>
          </a:prstGeom>
          <a:noFill/>
          <a:ln>
            <a:miter lim="800000"/>
            <a:headEnd/>
            <a:tailEnd/>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22E3302-AC1D-47C1-A1C9-47DFDD07C79E}" type="slidenum">
              <a:rPr kumimoji="0" lang="en-US" altLang="zh-CN" sz="1400" b="0" i="0" u="none" strike="noStrike" kern="1200" cap="none" spc="0" normalizeH="0" baseline="0" noProof="0" smtClean="0">
                <a:ln>
                  <a:noFill/>
                </a:ln>
                <a:solidFill>
                  <a:schemeClr val="tx1"/>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zh-CN" sz="1400" b="0" i="0" u="none" strike="noStrike" kern="1200" cap="none" spc="0" normalizeH="0" baseline="0" noProof="0" dirty="0">
              <a:ln>
                <a:noFill/>
              </a:ln>
              <a:solidFill>
                <a:schemeClr val="tx1"/>
              </a:solidFill>
              <a:effectLst/>
              <a:uLnTx/>
              <a:uFillTx/>
              <a:latin typeface="Arial" charset="0"/>
              <a:ea typeface="宋体" pitchFamily="2" charset="-122"/>
              <a:cs typeface="+mn-cs"/>
            </a:endParaRPr>
          </a:p>
        </p:txBody>
      </p:sp>
      <p:grpSp>
        <p:nvGrpSpPr>
          <p:cNvPr id="13" name="组合 12"/>
          <p:cNvGrpSpPr/>
          <p:nvPr/>
        </p:nvGrpSpPr>
        <p:grpSpPr>
          <a:xfrm>
            <a:off x="467544" y="1196678"/>
            <a:ext cx="4896544" cy="648146"/>
            <a:chOff x="1270000" y="2420888"/>
            <a:chExt cx="4896544" cy="648146"/>
          </a:xfrm>
        </p:grpSpPr>
        <p:sp>
          <p:nvSpPr>
            <p:cNvPr id="8201" name="Text Box 11"/>
            <p:cNvSpPr txBox="1">
              <a:spLocks noChangeArrowheads="1"/>
            </p:cNvSpPr>
            <p:nvPr/>
          </p:nvSpPr>
          <p:spPr bwMode="auto">
            <a:xfrm>
              <a:off x="1270000" y="2466975"/>
              <a:ext cx="4343400" cy="579438"/>
            </a:xfrm>
            <a:prstGeom prst="rect">
              <a:avLst/>
            </a:prstGeom>
            <a:noFill/>
            <a:ln w="28575">
              <a:noFill/>
              <a:miter lim="800000"/>
              <a:headEnd/>
              <a:tailEnd/>
            </a:ln>
          </p:spPr>
          <p:txBody>
            <a:bodyPr>
              <a:spAutoFit/>
            </a:bodyPr>
            <a:lstStyle/>
            <a:p>
              <a:pPr>
                <a:spcBef>
                  <a:spcPct val="50000"/>
                </a:spcBef>
              </a:pPr>
              <a:r>
                <a:rPr lang="zh-CN" altLang="en-US" sz="3200" b="1">
                  <a:solidFill>
                    <a:srgbClr val="1C1C1C"/>
                  </a:solidFill>
                </a:rPr>
                <a:t>单位时间碰撞次数</a:t>
              </a:r>
              <a:r>
                <a:rPr lang="en-US" altLang="zh-CN" sz="3200" b="1">
                  <a:solidFill>
                    <a:srgbClr val="1C1C1C"/>
                  </a:solidFill>
                  <a:latin typeface="Times New Roman" pitchFamily="18" charset="0"/>
                </a:rPr>
                <a:t>:</a:t>
              </a:r>
            </a:p>
          </p:txBody>
        </p:sp>
        <p:graphicFrame>
          <p:nvGraphicFramePr>
            <p:cNvPr id="11" name="Object 9"/>
            <p:cNvGraphicFramePr>
              <a:graphicFrameLocks noChangeAspect="1"/>
            </p:cNvGraphicFramePr>
            <p:nvPr/>
          </p:nvGraphicFramePr>
          <p:xfrm>
            <a:off x="4870251" y="2420888"/>
            <a:ext cx="1296293" cy="648146"/>
          </p:xfrm>
          <a:graphic>
            <a:graphicData uri="http://schemas.openxmlformats.org/presentationml/2006/ole">
              <p:oleObj spid="_x0000_s58373" name="Equation" r:id="rId5" imgW="431640" imgH="228600" progId="Equation.DSMT4">
                <p:embed/>
              </p:oleObj>
            </a:graphicData>
          </a:graphic>
        </p:graphicFrame>
      </p:grpSp>
      <p:grpSp>
        <p:nvGrpSpPr>
          <p:cNvPr id="25" name="组合 24"/>
          <p:cNvGrpSpPr/>
          <p:nvPr/>
        </p:nvGrpSpPr>
        <p:grpSpPr>
          <a:xfrm>
            <a:off x="467544" y="3356992"/>
            <a:ext cx="7910022" cy="1800200"/>
            <a:chOff x="467544" y="3068960"/>
            <a:chExt cx="7910022" cy="1800200"/>
          </a:xfrm>
        </p:grpSpPr>
        <p:sp>
          <p:nvSpPr>
            <p:cNvPr id="15" name="Text Box 2"/>
            <p:cNvSpPr txBox="1">
              <a:spLocks noChangeArrowheads="1"/>
            </p:cNvSpPr>
            <p:nvPr/>
          </p:nvSpPr>
          <p:spPr bwMode="auto">
            <a:xfrm>
              <a:off x="467544" y="3068960"/>
              <a:ext cx="6985000" cy="579437"/>
            </a:xfrm>
            <a:prstGeom prst="rect">
              <a:avLst/>
            </a:prstGeom>
            <a:noFill/>
            <a:ln w="28575">
              <a:noFill/>
              <a:miter lim="800000"/>
              <a:headEnd/>
              <a:tailEnd/>
            </a:ln>
          </p:spPr>
          <p:txBody>
            <a:bodyPr>
              <a:spAutoFit/>
            </a:bodyPr>
            <a:lstStyle/>
            <a:p>
              <a:pPr>
                <a:spcBef>
                  <a:spcPct val="50000"/>
                </a:spcBef>
              </a:pPr>
              <a:r>
                <a:rPr lang="zh-CN" altLang="en-US" sz="3200" b="1" dirty="0" smtClean="0">
                  <a:solidFill>
                    <a:srgbClr val="FF0000"/>
                  </a:solidFill>
                </a:rPr>
                <a:t>单</a:t>
              </a:r>
              <a:r>
                <a:rPr lang="zh-CN" altLang="en-US" sz="3200" b="1" dirty="0">
                  <a:solidFill>
                    <a:srgbClr val="FF0000"/>
                  </a:solidFill>
                </a:rPr>
                <a:t>位</a:t>
              </a:r>
              <a:r>
                <a:rPr lang="zh-CN" altLang="en-US" sz="3200" b="1" dirty="0"/>
                <a:t>时间 </a:t>
              </a:r>
              <a:r>
                <a:rPr lang="en-US" altLang="zh-CN" sz="3200" b="1" i="1" dirty="0">
                  <a:solidFill>
                    <a:srgbClr val="FF0000"/>
                  </a:solidFill>
                  <a:latin typeface="Times New Roman" pitchFamily="18" charset="0"/>
                </a:rPr>
                <a:t>N</a:t>
              </a:r>
              <a:r>
                <a:rPr lang="en-US" altLang="zh-CN" sz="3200" b="1" dirty="0">
                  <a:solidFill>
                    <a:srgbClr val="FF0000"/>
                  </a:solidFill>
                </a:rPr>
                <a:t> </a:t>
              </a:r>
              <a:r>
                <a:rPr lang="zh-CN" altLang="en-US" sz="3200" b="1" dirty="0">
                  <a:solidFill>
                    <a:srgbClr val="1C1C1C"/>
                  </a:solidFill>
                </a:rPr>
                <a:t>个粒子对器壁总冲量</a:t>
              </a:r>
              <a:r>
                <a:rPr lang="en-US" altLang="zh-CN" sz="3200" b="1" dirty="0">
                  <a:solidFill>
                    <a:srgbClr val="1C1C1C"/>
                  </a:solidFill>
                  <a:latin typeface="Times New Roman" pitchFamily="18" charset="0"/>
                </a:rPr>
                <a:t>:</a:t>
              </a:r>
              <a:r>
                <a:rPr lang="en-US" altLang="zh-CN" sz="3200" b="1" dirty="0">
                  <a:solidFill>
                    <a:srgbClr val="1C1C1C"/>
                  </a:solidFill>
                </a:rPr>
                <a:t> </a:t>
              </a:r>
            </a:p>
          </p:txBody>
        </p:sp>
        <p:graphicFrame>
          <p:nvGraphicFramePr>
            <p:cNvPr id="16" name="Object 3"/>
            <p:cNvGraphicFramePr>
              <a:graphicFrameLocks noChangeAspect="1"/>
            </p:cNvGraphicFramePr>
            <p:nvPr/>
          </p:nvGraphicFramePr>
          <p:xfrm>
            <a:off x="1619672" y="3717032"/>
            <a:ext cx="6757894" cy="1152128"/>
          </p:xfrm>
          <a:graphic>
            <a:graphicData uri="http://schemas.openxmlformats.org/presentationml/2006/ole">
              <p:oleObj spid="_x0000_s58374" name="Equation" r:id="rId6" imgW="2501640" imgH="444240" progId="Equation.DSMT4">
                <p:embed/>
              </p:oleObj>
            </a:graphicData>
          </a:graphic>
        </p:graphicFrame>
      </p:grpSp>
      <p:grpSp>
        <p:nvGrpSpPr>
          <p:cNvPr id="24" name="组合 23"/>
          <p:cNvGrpSpPr/>
          <p:nvPr/>
        </p:nvGrpSpPr>
        <p:grpSpPr>
          <a:xfrm>
            <a:off x="609178" y="5544727"/>
            <a:ext cx="6051054" cy="1052625"/>
            <a:chOff x="681186" y="5459463"/>
            <a:chExt cx="6051054" cy="1052625"/>
          </a:xfrm>
        </p:grpSpPr>
        <p:grpSp>
          <p:nvGrpSpPr>
            <p:cNvPr id="17" name="Group 51"/>
            <p:cNvGrpSpPr>
              <a:grpSpLocks/>
            </p:cNvGrpSpPr>
            <p:nvPr/>
          </p:nvGrpSpPr>
          <p:grpSpPr bwMode="auto">
            <a:xfrm>
              <a:off x="681186" y="5649937"/>
              <a:ext cx="4114800" cy="579438"/>
              <a:chOff x="656" y="2923"/>
              <a:chExt cx="2592" cy="365"/>
            </a:xfrm>
          </p:grpSpPr>
          <p:sp>
            <p:nvSpPr>
              <p:cNvPr id="20" name="Text Box 45"/>
              <p:cNvSpPr txBox="1">
                <a:spLocks noChangeArrowheads="1"/>
              </p:cNvSpPr>
              <p:nvPr/>
            </p:nvSpPr>
            <p:spPr bwMode="auto">
              <a:xfrm>
                <a:off x="656" y="2923"/>
                <a:ext cx="2592" cy="365"/>
              </a:xfrm>
              <a:prstGeom prst="rect">
                <a:avLst/>
              </a:prstGeom>
              <a:noFill/>
              <a:ln w="28575">
                <a:noFill/>
                <a:miter lim="800000"/>
                <a:headEnd/>
                <a:tailEnd/>
              </a:ln>
            </p:spPr>
            <p:txBody>
              <a:bodyPr>
                <a:spAutoFit/>
              </a:bodyPr>
              <a:lstStyle/>
              <a:p>
                <a:pPr>
                  <a:spcBef>
                    <a:spcPct val="50000"/>
                  </a:spcBef>
                </a:pPr>
                <a:r>
                  <a:rPr lang="zh-CN" altLang="en-US" sz="3200" b="1" dirty="0">
                    <a:solidFill>
                      <a:srgbClr val="000000"/>
                    </a:solidFill>
                  </a:rPr>
                  <a:t>器壁    所受平均</a:t>
                </a:r>
                <a:r>
                  <a:rPr lang="zh-CN" altLang="en-US" sz="3200" b="1" dirty="0">
                    <a:solidFill>
                      <a:srgbClr val="FF0000"/>
                    </a:solidFill>
                  </a:rPr>
                  <a:t>冲力</a:t>
                </a:r>
                <a:r>
                  <a:rPr lang="en-US" altLang="zh-CN" sz="3200" b="1" dirty="0">
                    <a:solidFill>
                      <a:srgbClr val="000000"/>
                    </a:solidFill>
                    <a:latin typeface="Times New Roman" pitchFamily="18" charset="0"/>
                  </a:rPr>
                  <a:t>:</a:t>
                </a:r>
                <a:r>
                  <a:rPr lang="en-US" altLang="zh-CN" sz="3200" b="1" dirty="0">
                    <a:solidFill>
                      <a:srgbClr val="000000"/>
                    </a:solidFill>
                  </a:rPr>
                  <a:t> </a:t>
                </a:r>
              </a:p>
            </p:txBody>
          </p:sp>
          <p:graphicFrame>
            <p:nvGraphicFramePr>
              <p:cNvPr id="19" name="Object 47"/>
              <p:cNvGraphicFramePr>
                <a:graphicFrameLocks noChangeAspect="1"/>
              </p:cNvGraphicFramePr>
              <p:nvPr/>
            </p:nvGraphicFramePr>
            <p:xfrm>
              <a:off x="1186" y="2948"/>
              <a:ext cx="288" cy="310"/>
            </p:xfrm>
            <a:graphic>
              <a:graphicData uri="http://schemas.openxmlformats.org/presentationml/2006/ole">
                <p:oleObj spid="_x0000_s58376" name="Equation" r:id="rId7" imgW="253800" imgH="317160" progId="Equation.3">
                  <p:embed/>
                </p:oleObj>
              </a:graphicData>
            </a:graphic>
          </p:graphicFrame>
        </p:grpSp>
        <p:graphicFrame>
          <p:nvGraphicFramePr>
            <p:cNvPr id="29699" name="Object 3"/>
            <p:cNvGraphicFramePr>
              <a:graphicFrameLocks noChangeAspect="1"/>
            </p:cNvGraphicFramePr>
            <p:nvPr/>
          </p:nvGraphicFramePr>
          <p:xfrm>
            <a:off x="4716016" y="5459463"/>
            <a:ext cx="2016224" cy="1052625"/>
          </p:xfrm>
          <a:graphic>
            <a:graphicData uri="http://schemas.openxmlformats.org/presentationml/2006/ole">
              <p:oleObj spid="_x0000_s58378" name="Equation" r:id="rId8" imgW="723600" imgH="393480" progId="Equation.DSMT4">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left)">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7" name="灯片编号占位符 1"/>
          <p:cNvSpPr>
            <a:spLocks noGrp="1"/>
          </p:cNvSpPr>
          <p:nvPr>
            <p:ph type="sldNum" sz="quarter" idx="4294967295"/>
          </p:nvPr>
        </p:nvSpPr>
        <p:spPr bwMode="auto">
          <a:xfrm>
            <a:off x="8606357" y="6584504"/>
            <a:ext cx="574155" cy="300880"/>
          </a:xfrm>
          <a:prstGeom prst="rect">
            <a:avLst/>
          </a:prstGeom>
          <a:noFill/>
          <a:ln>
            <a:miter lim="800000"/>
            <a:headEnd/>
            <a:tailEnd/>
          </a:ln>
        </p:spPr>
        <p:txBody>
          <a:bodyPr/>
          <a:lstStyle/>
          <a:p>
            <a:pPr algn="r"/>
            <a:fld id="{522E3302-AC1D-47C1-A1C9-47DFDD07C79E}" type="slidenum">
              <a:rPr lang="en-US" altLang="zh-CN" sz="1400"/>
              <a:pPr algn="r"/>
              <a:t>19</a:t>
            </a:fld>
            <a:endParaRPr lang="en-US" altLang="zh-CN" sz="1400" dirty="0"/>
          </a:p>
        </p:txBody>
      </p:sp>
      <p:grpSp>
        <p:nvGrpSpPr>
          <p:cNvPr id="13" name="组合 12"/>
          <p:cNvGrpSpPr/>
          <p:nvPr/>
        </p:nvGrpSpPr>
        <p:grpSpPr>
          <a:xfrm>
            <a:off x="942975" y="404664"/>
            <a:ext cx="5051339" cy="1296144"/>
            <a:chOff x="942975" y="959123"/>
            <a:chExt cx="5051339" cy="1296144"/>
          </a:xfrm>
        </p:grpSpPr>
        <p:sp>
          <p:nvSpPr>
            <p:cNvPr id="10248" name="Text Box 2"/>
            <p:cNvSpPr txBox="1">
              <a:spLocks noChangeArrowheads="1"/>
            </p:cNvSpPr>
            <p:nvPr/>
          </p:nvSpPr>
          <p:spPr bwMode="auto">
            <a:xfrm>
              <a:off x="942975" y="1339850"/>
              <a:ext cx="1943100" cy="588963"/>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a:spAutoFit/>
            </a:bodyPr>
            <a:lstStyle/>
            <a:p>
              <a:pPr>
                <a:spcBef>
                  <a:spcPct val="50000"/>
                </a:spcBef>
              </a:pPr>
              <a:r>
                <a:rPr lang="zh-CN" altLang="en-US" sz="3200" b="1" dirty="0">
                  <a:solidFill>
                    <a:srgbClr val="1C1C1C"/>
                  </a:solidFill>
                </a:rPr>
                <a:t>气体压强</a:t>
              </a:r>
            </a:p>
          </p:txBody>
        </p:sp>
        <p:graphicFrame>
          <p:nvGraphicFramePr>
            <p:cNvPr id="10242" name="Object 3"/>
            <p:cNvGraphicFramePr>
              <a:graphicFrameLocks noChangeAspect="1"/>
            </p:cNvGraphicFramePr>
            <p:nvPr/>
          </p:nvGraphicFramePr>
          <p:xfrm>
            <a:off x="2699791" y="959123"/>
            <a:ext cx="3294523" cy="1296144"/>
          </p:xfrm>
          <a:graphic>
            <a:graphicData uri="http://schemas.openxmlformats.org/presentationml/2006/ole">
              <p:oleObj spid="_x0000_s60418" name="公式" r:id="rId3" imgW="1041120" imgH="431640" progId="Equation.DSMT4">
                <p:embed/>
              </p:oleObj>
            </a:graphicData>
          </a:graphic>
        </p:graphicFrame>
      </p:grpSp>
      <p:grpSp>
        <p:nvGrpSpPr>
          <p:cNvPr id="14" name="组合 13"/>
          <p:cNvGrpSpPr/>
          <p:nvPr/>
        </p:nvGrpSpPr>
        <p:grpSpPr>
          <a:xfrm>
            <a:off x="930275" y="2091328"/>
            <a:ext cx="6171565" cy="1098550"/>
            <a:chOff x="930275" y="2091328"/>
            <a:chExt cx="6171565" cy="1098550"/>
          </a:xfrm>
        </p:grpSpPr>
        <p:sp>
          <p:nvSpPr>
            <p:cNvPr id="30724" name="Text Box 4"/>
            <p:cNvSpPr txBox="1">
              <a:spLocks noChangeArrowheads="1"/>
            </p:cNvSpPr>
            <p:nvPr/>
          </p:nvSpPr>
          <p:spPr bwMode="auto">
            <a:xfrm>
              <a:off x="930275" y="2346598"/>
              <a:ext cx="1981200" cy="592138"/>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a:spAutoFit/>
            </a:bodyPr>
            <a:lstStyle/>
            <a:p>
              <a:pPr algn="ctr">
                <a:spcBef>
                  <a:spcPct val="50000"/>
                </a:spcBef>
              </a:pPr>
              <a:r>
                <a:rPr lang="zh-CN" altLang="en-US" sz="3200" b="1" dirty="0">
                  <a:solidFill>
                    <a:srgbClr val="000000"/>
                  </a:solidFill>
                </a:rPr>
                <a:t>统计规律</a:t>
              </a:r>
              <a:endParaRPr lang="zh-CN" altLang="en-US" sz="3200" b="1" dirty="0">
                <a:solidFill>
                  <a:srgbClr val="1C1C1C"/>
                </a:solidFill>
              </a:endParaRPr>
            </a:p>
          </p:txBody>
        </p:sp>
        <p:graphicFrame>
          <p:nvGraphicFramePr>
            <p:cNvPr id="30725" name="Object 5"/>
            <p:cNvGraphicFramePr>
              <a:graphicFrameLocks noChangeAspect="1"/>
            </p:cNvGraphicFramePr>
            <p:nvPr/>
          </p:nvGraphicFramePr>
          <p:xfrm>
            <a:off x="5601653" y="2091328"/>
            <a:ext cx="1500187" cy="1098550"/>
          </p:xfrm>
          <a:graphic>
            <a:graphicData uri="http://schemas.openxmlformats.org/presentationml/2006/ole">
              <p:oleObj spid="_x0000_s60419" name="公式" r:id="rId4" imgW="520560" imgH="419040" progId="Equation.DSMT4">
                <p:embed/>
              </p:oleObj>
            </a:graphicData>
          </a:graphic>
        </p:graphicFrame>
        <p:graphicFrame>
          <p:nvGraphicFramePr>
            <p:cNvPr id="30726" name="Object 6"/>
            <p:cNvGraphicFramePr>
              <a:graphicFrameLocks noChangeAspect="1"/>
            </p:cNvGraphicFramePr>
            <p:nvPr/>
          </p:nvGraphicFramePr>
          <p:xfrm>
            <a:off x="2941414" y="2125886"/>
            <a:ext cx="1763266" cy="1057960"/>
          </p:xfrm>
          <a:graphic>
            <a:graphicData uri="http://schemas.openxmlformats.org/presentationml/2006/ole">
              <p:oleObj spid="_x0000_s60420" name="公式" r:id="rId5" imgW="596880" imgH="393480" progId="Equation.DSMT4">
                <p:embed/>
              </p:oleObj>
            </a:graphicData>
          </a:graphic>
        </p:graphicFrame>
      </p:grpSp>
      <p:grpSp>
        <p:nvGrpSpPr>
          <p:cNvPr id="16" name="组合 15"/>
          <p:cNvGrpSpPr/>
          <p:nvPr/>
        </p:nvGrpSpPr>
        <p:grpSpPr>
          <a:xfrm>
            <a:off x="899592" y="3661073"/>
            <a:ext cx="7416824" cy="1208087"/>
            <a:chOff x="971550" y="4813265"/>
            <a:chExt cx="7416824" cy="1208087"/>
          </a:xfrm>
        </p:grpSpPr>
        <p:sp>
          <p:nvSpPr>
            <p:cNvPr id="30770" name="Text Box 50"/>
            <p:cNvSpPr txBox="1">
              <a:spLocks noChangeArrowheads="1"/>
            </p:cNvSpPr>
            <p:nvPr/>
          </p:nvSpPr>
          <p:spPr bwMode="auto">
            <a:xfrm>
              <a:off x="971550" y="5216302"/>
              <a:ext cx="2879725" cy="588962"/>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a:spAutoFit/>
            </a:bodyPr>
            <a:lstStyle/>
            <a:p>
              <a:pPr>
                <a:spcBef>
                  <a:spcPct val="50000"/>
                </a:spcBef>
              </a:pPr>
              <a:r>
                <a:rPr lang="zh-CN" altLang="en-US" sz="3200" b="1" dirty="0">
                  <a:solidFill>
                    <a:srgbClr val="1C1C1C"/>
                  </a:solidFill>
                </a:rPr>
                <a:t>气体压强公式</a:t>
              </a:r>
            </a:p>
          </p:txBody>
        </p:sp>
        <p:graphicFrame>
          <p:nvGraphicFramePr>
            <p:cNvPr id="30729" name="Object 9"/>
            <p:cNvGraphicFramePr>
              <a:graphicFrameLocks noChangeAspect="1"/>
            </p:cNvGraphicFramePr>
            <p:nvPr/>
          </p:nvGraphicFramePr>
          <p:xfrm>
            <a:off x="3624287" y="4813265"/>
            <a:ext cx="4764087" cy="1208087"/>
          </p:xfrm>
          <a:graphic>
            <a:graphicData uri="http://schemas.openxmlformats.org/presentationml/2006/ole">
              <p:oleObj spid="_x0000_s60422" name="公式" r:id="rId6" imgW="1218960" imgH="393480" progId="Equation.DSMT4">
                <p:embed/>
              </p:oleObj>
            </a:graphicData>
          </a:graphic>
        </p:graphicFrame>
      </p:grpSp>
      <p:grpSp>
        <p:nvGrpSpPr>
          <p:cNvPr id="18" name="组合 17"/>
          <p:cNvGrpSpPr/>
          <p:nvPr/>
        </p:nvGrpSpPr>
        <p:grpSpPr>
          <a:xfrm>
            <a:off x="971600" y="5229200"/>
            <a:ext cx="6840760" cy="1118468"/>
            <a:chOff x="1403648" y="5262860"/>
            <a:chExt cx="6840760" cy="1118468"/>
          </a:xfrm>
        </p:grpSpPr>
        <p:grpSp>
          <p:nvGrpSpPr>
            <p:cNvPr id="15" name="组合 14"/>
            <p:cNvGrpSpPr/>
            <p:nvPr/>
          </p:nvGrpSpPr>
          <p:grpSpPr>
            <a:xfrm>
              <a:off x="2478385" y="5262860"/>
              <a:ext cx="5766023" cy="1118468"/>
              <a:chOff x="-1193452" y="3683372"/>
              <a:chExt cx="5766023" cy="1118468"/>
            </a:xfrm>
          </p:grpSpPr>
          <p:sp>
            <p:nvSpPr>
              <p:cNvPr id="30727" name="Text Box 7"/>
              <p:cNvSpPr txBox="1">
                <a:spLocks noChangeArrowheads="1"/>
              </p:cNvSpPr>
              <p:nvPr/>
            </p:nvSpPr>
            <p:spPr bwMode="auto">
              <a:xfrm>
                <a:off x="1038796" y="3993679"/>
                <a:ext cx="3533775" cy="592137"/>
              </a:xfrm>
              <a:prstGeom prst="rect">
                <a:avLst/>
              </a:prstGeom>
              <a:noFill/>
              <a:ln>
                <a:headEnd/>
                <a:tailEnd/>
              </a:ln>
            </p:spPr>
            <p:style>
              <a:lnRef idx="2">
                <a:schemeClr val="accent3"/>
              </a:lnRef>
              <a:fillRef idx="1">
                <a:schemeClr val="lt1"/>
              </a:fillRef>
              <a:effectRef idx="0">
                <a:schemeClr val="accent3"/>
              </a:effectRef>
              <a:fontRef idx="minor">
                <a:schemeClr val="dk1"/>
              </a:fontRef>
            </p:style>
            <p:txBody>
              <a:bodyPr>
                <a:spAutoFit/>
              </a:bodyPr>
              <a:lstStyle/>
              <a:p>
                <a:pPr>
                  <a:spcBef>
                    <a:spcPct val="50000"/>
                  </a:spcBef>
                </a:pPr>
                <a:r>
                  <a:rPr lang="zh-CN" altLang="en-US" sz="3200" b="1" dirty="0">
                    <a:solidFill>
                      <a:srgbClr val="000000"/>
                    </a:solidFill>
                  </a:rPr>
                  <a:t>分子</a:t>
                </a:r>
                <a:r>
                  <a:rPr lang="zh-CN" altLang="en-US" sz="3200" b="1" dirty="0">
                    <a:solidFill>
                      <a:srgbClr val="FF0000"/>
                    </a:solidFill>
                  </a:rPr>
                  <a:t>平</a:t>
                </a:r>
                <a:r>
                  <a:rPr lang="zh-CN" altLang="en-US" sz="3200" b="1" dirty="0">
                    <a:solidFill>
                      <a:srgbClr val="000000"/>
                    </a:solidFill>
                  </a:rPr>
                  <a:t>均</a:t>
                </a:r>
                <a:r>
                  <a:rPr lang="zh-CN" altLang="en-US" sz="3200" b="1" dirty="0">
                    <a:solidFill>
                      <a:srgbClr val="FF0000"/>
                    </a:solidFill>
                  </a:rPr>
                  <a:t>平</a:t>
                </a:r>
                <a:r>
                  <a:rPr lang="zh-CN" altLang="en-US" sz="3200" b="1" dirty="0">
                    <a:solidFill>
                      <a:srgbClr val="000000"/>
                    </a:solidFill>
                  </a:rPr>
                  <a:t>动</a:t>
                </a:r>
                <a:r>
                  <a:rPr lang="zh-CN" altLang="en-US" sz="3200" b="1" dirty="0">
                    <a:solidFill>
                      <a:srgbClr val="FF0000"/>
                    </a:solidFill>
                  </a:rPr>
                  <a:t>动</a:t>
                </a:r>
                <a:r>
                  <a:rPr lang="zh-CN" altLang="en-US" sz="3200" b="1" dirty="0">
                    <a:solidFill>
                      <a:srgbClr val="000000"/>
                    </a:solidFill>
                  </a:rPr>
                  <a:t>能</a:t>
                </a:r>
              </a:p>
            </p:txBody>
          </p:sp>
          <p:graphicFrame>
            <p:nvGraphicFramePr>
              <p:cNvPr id="30728" name="Object 8"/>
              <p:cNvGraphicFramePr>
                <a:graphicFrameLocks noChangeAspect="1"/>
              </p:cNvGraphicFramePr>
              <p:nvPr/>
            </p:nvGraphicFramePr>
            <p:xfrm>
              <a:off x="-1193452" y="3683372"/>
              <a:ext cx="2241952" cy="1118468"/>
            </p:xfrm>
            <a:graphic>
              <a:graphicData uri="http://schemas.openxmlformats.org/presentationml/2006/ole">
                <p:oleObj spid="_x0000_s60421" name="Equation" r:id="rId7" imgW="711000" imgH="393480" progId="Equation.DSMT4">
                  <p:embed/>
                </p:oleObj>
              </a:graphicData>
            </a:graphic>
          </p:graphicFrame>
        </p:grpSp>
        <p:sp>
          <p:nvSpPr>
            <p:cNvPr id="17" name="矩形 16"/>
            <p:cNvSpPr/>
            <p:nvPr/>
          </p:nvSpPr>
          <p:spPr>
            <a:xfrm>
              <a:off x="1403648" y="5517232"/>
              <a:ext cx="1512168" cy="584775"/>
            </a:xfrm>
            <a:prstGeom prst="rect">
              <a:avLst/>
            </a:prstGeom>
          </p:spPr>
          <p:txBody>
            <a:bodyPr wrap="square">
              <a:spAutoFit/>
            </a:bodyPr>
            <a:lstStyle/>
            <a:p>
              <a:r>
                <a:rPr lang="zh-CN" altLang="en-US" sz="3200" b="1" dirty="0" smtClean="0">
                  <a:solidFill>
                    <a:srgbClr val="1C1C1C"/>
                  </a:solidFill>
                </a:rPr>
                <a:t>其中</a:t>
              </a:r>
              <a:endParaRPr lang="zh-CN" altLang="en-US" sz="3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66" name="Object 3"/>
          <p:cNvGraphicFramePr>
            <a:graphicFrameLocks noChangeAspect="1"/>
          </p:cNvGraphicFramePr>
          <p:nvPr/>
        </p:nvGraphicFramePr>
        <p:xfrm>
          <a:off x="4197465" y="1194318"/>
          <a:ext cx="2976671" cy="1584176"/>
        </p:xfrm>
        <a:graphic>
          <a:graphicData uri="http://schemas.openxmlformats.org/presentationml/2006/ole">
            <p:oleObj spid="_x0000_s61442" name="Equation" r:id="rId3" imgW="1002960" imgH="609480" progId="Equation.DSMT4">
              <p:embed/>
            </p:oleObj>
          </a:graphicData>
        </a:graphic>
      </p:graphicFrame>
      <p:grpSp>
        <p:nvGrpSpPr>
          <p:cNvPr id="3" name="Group 6"/>
          <p:cNvGrpSpPr>
            <a:grpSpLocks/>
          </p:cNvGrpSpPr>
          <p:nvPr/>
        </p:nvGrpSpPr>
        <p:grpSpPr bwMode="auto">
          <a:xfrm>
            <a:off x="395536" y="332656"/>
            <a:ext cx="4178300" cy="914400"/>
            <a:chOff x="384" y="528"/>
            <a:chExt cx="2112" cy="576"/>
          </a:xfrm>
        </p:grpSpPr>
        <p:sp>
          <p:nvSpPr>
            <p:cNvPr id="37895" name="AutoShape 7"/>
            <p:cNvSpPr>
              <a:spLocks noChangeArrowheads="1"/>
            </p:cNvSpPr>
            <p:nvPr/>
          </p:nvSpPr>
          <p:spPr bwMode="auto">
            <a:xfrm>
              <a:off x="384" y="528"/>
              <a:ext cx="1872" cy="576"/>
            </a:xfrm>
            <a:prstGeom prst="horizontalScroll">
              <a:avLst>
                <a:gd name="adj" fmla="val 12500"/>
              </a:avLst>
            </a:prstGeom>
            <a:noFill/>
            <a:ln w="9525">
              <a:solidFill>
                <a:schemeClr val="tx1"/>
              </a:solidFill>
              <a:round/>
              <a:headEnd/>
              <a:tailEnd/>
            </a:ln>
            <a:effectLst>
              <a:outerShdw dist="107763" dir="13500000" algn="ctr" rotWithShape="0">
                <a:schemeClr val="tx2"/>
              </a:outerShdw>
            </a:effectLst>
          </p:spPr>
          <p:txBody>
            <a:bodyPr wrap="none" anchor="ctr"/>
            <a:lstStyle/>
            <a:p>
              <a:pPr>
                <a:defRPr/>
              </a:pPr>
              <a:endParaRPr lang="zh-CN" altLang="en-US">
                <a:ea typeface="宋体" pitchFamily="2" charset="-122"/>
              </a:endParaRPr>
            </a:p>
          </p:txBody>
        </p:sp>
        <p:sp>
          <p:nvSpPr>
            <p:cNvPr id="11276" name="Text Box 8"/>
            <p:cNvSpPr txBox="1">
              <a:spLocks noChangeArrowheads="1"/>
            </p:cNvSpPr>
            <p:nvPr/>
          </p:nvSpPr>
          <p:spPr bwMode="auto">
            <a:xfrm>
              <a:off x="480" y="633"/>
              <a:ext cx="2016" cy="404"/>
            </a:xfrm>
            <a:prstGeom prst="rect">
              <a:avLst/>
            </a:prstGeom>
            <a:noFill/>
            <a:ln w="28575">
              <a:noFill/>
              <a:miter lim="800000"/>
              <a:headEnd/>
              <a:tailEnd/>
            </a:ln>
          </p:spPr>
          <p:txBody>
            <a:bodyPr>
              <a:spAutoFit/>
            </a:bodyPr>
            <a:lstStyle/>
            <a:p>
              <a:pPr>
                <a:spcBef>
                  <a:spcPct val="50000"/>
                </a:spcBef>
              </a:pPr>
              <a:r>
                <a:rPr lang="zh-CN" altLang="en-US" sz="3600" b="1" dirty="0">
                  <a:solidFill>
                    <a:srgbClr val="000000"/>
                  </a:solidFill>
                </a:rPr>
                <a:t>压强的物理</a:t>
              </a:r>
              <a:r>
                <a:rPr lang="zh-CN" altLang="en-US" sz="3600" b="1" dirty="0">
                  <a:solidFill>
                    <a:srgbClr val="CC0000"/>
                  </a:solidFill>
                </a:rPr>
                <a:t>意义</a:t>
              </a:r>
            </a:p>
          </p:txBody>
        </p:sp>
      </p:grpSp>
      <p:grpSp>
        <p:nvGrpSpPr>
          <p:cNvPr id="4" name="Group 9"/>
          <p:cNvGrpSpPr>
            <a:grpSpLocks/>
          </p:cNvGrpSpPr>
          <p:nvPr/>
        </p:nvGrpSpPr>
        <p:grpSpPr bwMode="auto">
          <a:xfrm>
            <a:off x="884980" y="2346446"/>
            <a:ext cx="3599801" cy="1514602"/>
            <a:chOff x="298" y="978"/>
            <a:chExt cx="2169" cy="889"/>
          </a:xfrm>
        </p:grpSpPr>
        <p:sp>
          <p:nvSpPr>
            <p:cNvPr id="11273" name="Freeform 10"/>
            <p:cNvSpPr>
              <a:spLocks/>
            </p:cNvSpPr>
            <p:nvPr/>
          </p:nvSpPr>
          <p:spPr bwMode="auto">
            <a:xfrm>
              <a:off x="341" y="978"/>
              <a:ext cx="2126" cy="889"/>
            </a:xfrm>
            <a:custGeom>
              <a:avLst/>
              <a:gdLst>
                <a:gd name="T0" fmla="*/ 0 w 2112"/>
                <a:gd name="T1" fmla="*/ 384 h 720"/>
                <a:gd name="T2" fmla="*/ 0 w 2112"/>
                <a:gd name="T3" fmla="*/ 720 h 720"/>
                <a:gd name="T4" fmla="*/ 1536 w 2112"/>
                <a:gd name="T5" fmla="*/ 720 h 720"/>
                <a:gd name="T6" fmla="*/ 1536 w 2112"/>
                <a:gd name="T7" fmla="*/ 432 h 720"/>
                <a:gd name="T8" fmla="*/ 1536 w 2112"/>
                <a:gd name="T9" fmla="*/ 384 h 720"/>
                <a:gd name="T10" fmla="*/ 2112 w 2112"/>
                <a:gd name="T11" fmla="*/ 0 h 720"/>
                <a:gd name="T12" fmla="*/ 1344 w 2112"/>
                <a:gd name="T13" fmla="*/ 384 h 720"/>
                <a:gd name="T14" fmla="*/ 0 w 2112"/>
                <a:gd name="T15" fmla="*/ 384 h 720"/>
                <a:gd name="T16" fmla="*/ 0 60000 65536"/>
                <a:gd name="T17" fmla="*/ 0 60000 65536"/>
                <a:gd name="T18" fmla="*/ 0 60000 65536"/>
                <a:gd name="T19" fmla="*/ 0 60000 65536"/>
                <a:gd name="T20" fmla="*/ 0 60000 65536"/>
                <a:gd name="T21" fmla="*/ 0 60000 65536"/>
                <a:gd name="T22" fmla="*/ 0 60000 65536"/>
                <a:gd name="T23" fmla="*/ 0 60000 65536"/>
                <a:gd name="T24" fmla="*/ 0 w 2112"/>
                <a:gd name="T25" fmla="*/ 0 h 720"/>
                <a:gd name="T26" fmla="*/ 2112 w 2112"/>
                <a:gd name="T27" fmla="*/ 720 h 72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12" h="720">
                  <a:moveTo>
                    <a:pt x="0" y="384"/>
                  </a:moveTo>
                  <a:lnTo>
                    <a:pt x="0" y="720"/>
                  </a:lnTo>
                  <a:lnTo>
                    <a:pt x="1536" y="720"/>
                  </a:lnTo>
                  <a:lnTo>
                    <a:pt x="1536" y="432"/>
                  </a:lnTo>
                  <a:lnTo>
                    <a:pt x="1536" y="384"/>
                  </a:lnTo>
                  <a:lnTo>
                    <a:pt x="2112" y="0"/>
                  </a:lnTo>
                  <a:lnTo>
                    <a:pt x="1344" y="384"/>
                  </a:lnTo>
                  <a:lnTo>
                    <a:pt x="0" y="384"/>
                  </a:lnTo>
                  <a:close/>
                </a:path>
              </a:pathLst>
            </a:cu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wrap="none"/>
            <a:lstStyle/>
            <a:p>
              <a:endParaRPr lang="zh-CN" altLang="en-US"/>
            </a:p>
          </p:txBody>
        </p:sp>
        <p:sp>
          <p:nvSpPr>
            <p:cNvPr id="11274" name="Text Box 11"/>
            <p:cNvSpPr txBox="1">
              <a:spLocks noChangeArrowheads="1"/>
            </p:cNvSpPr>
            <p:nvPr/>
          </p:nvSpPr>
          <p:spPr bwMode="auto">
            <a:xfrm>
              <a:off x="298" y="1485"/>
              <a:ext cx="1779" cy="340"/>
            </a:xfrm>
            <a:prstGeom prst="rect">
              <a:avLst/>
            </a:prstGeom>
            <a:noFill/>
            <a:ln w="9525">
              <a:noFill/>
              <a:miter lim="800000"/>
              <a:headEnd/>
              <a:tailEnd/>
            </a:ln>
          </p:spPr>
          <p:txBody>
            <a:bodyPr wrap="square">
              <a:spAutoFit/>
            </a:bodyPr>
            <a:lstStyle/>
            <a:p>
              <a:pPr>
                <a:spcBef>
                  <a:spcPct val="50000"/>
                </a:spcBef>
              </a:pPr>
              <a:r>
                <a:rPr lang="zh-CN" altLang="en-US" sz="3200" b="1" dirty="0">
                  <a:solidFill>
                    <a:srgbClr val="1C1C1C"/>
                  </a:solidFill>
                </a:rPr>
                <a:t>宏观可测量量</a:t>
              </a:r>
            </a:p>
          </p:txBody>
        </p:sp>
      </p:grpSp>
      <p:grpSp>
        <p:nvGrpSpPr>
          <p:cNvPr id="5" name="Group 12"/>
          <p:cNvGrpSpPr>
            <a:grpSpLocks/>
          </p:cNvGrpSpPr>
          <p:nvPr/>
        </p:nvGrpSpPr>
        <p:grpSpPr bwMode="auto">
          <a:xfrm>
            <a:off x="4269473" y="2419184"/>
            <a:ext cx="4262967" cy="1433668"/>
            <a:chOff x="3024" y="1377"/>
            <a:chExt cx="2544" cy="879"/>
          </a:xfrm>
        </p:grpSpPr>
        <p:sp>
          <p:nvSpPr>
            <p:cNvPr id="11271" name="Freeform 13"/>
            <p:cNvSpPr>
              <a:spLocks/>
            </p:cNvSpPr>
            <p:nvPr/>
          </p:nvSpPr>
          <p:spPr bwMode="auto">
            <a:xfrm>
              <a:off x="3024" y="1377"/>
              <a:ext cx="2304" cy="879"/>
            </a:xfrm>
            <a:custGeom>
              <a:avLst/>
              <a:gdLst>
                <a:gd name="T0" fmla="*/ 0 w 2304"/>
                <a:gd name="T1" fmla="*/ 411 h 747"/>
                <a:gd name="T2" fmla="*/ 0 w 2304"/>
                <a:gd name="T3" fmla="*/ 747 h 747"/>
                <a:gd name="T4" fmla="*/ 2304 w 2304"/>
                <a:gd name="T5" fmla="*/ 747 h 747"/>
                <a:gd name="T6" fmla="*/ 2304 w 2304"/>
                <a:gd name="T7" fmla="*/ 363 h 747"/>
                <a:gd name="T8" fmla="*/ 1728 w 2304"/>
                <a:gd name="T9" fmla="*/ 363 h 747"/>
                <a:gd name="T10" fmla="*/ 1488 w 2304"/>
                <a:gd name="T11" fmla="*/ 27 h 747"/>
                <a:gd name="T12" fmla="*/ 1632 w 2304"/>
                <a:gd name="T13" fmla="*/ 363 h 747"/>
                <a:gd name="T14" fmla="*/ 1248 w 2304"/>
                <a:gd name="T15" fmla="*/ 363 h 747"/>
                <a:gd name="T16" fmla="*/ 1200 w 2304"/>
                <a:gd name="T17" fmla="*/ 0 h 747"/>
                <a:gd name="T18" fmla="*/ 1152 w 2304"/>
                <a:gd name="T19" fmla="*/ 363 h 747"/>
                <a:gd name="T20" fmla="*/ 0 w 2304"/>
                <a:gd name="T21" fmla="*/ 363 h 747"/>
                <a:gd name="T22" fmla="*/ 0 w 2304"/>
                <a:gd name="T23" fmla="*/ 507 h 7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304"/>
                <a:gd name="T37" fmla="*/ 0 h 747"/>
                <a:gd name="T38" fmla="*/ 2304 w 2304"/>
                <a:gd name="T39" fmla="*/ 747 h 7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304" h="747">
                  <a:moveTo>
                    <a:pt x="0" y="411"/>
                  </a:moveTo>
                  <a:lnTo>
                    <a:pt x="0" y="747"/>
                  </a:lnTo>
                  <a:lnTo>
                    <a:pt x="2304" y="747"/>
                  </a:lnTo>
                  <a:lnTo>
                    <a:pt x="2304" y="363"/>
                  </a:lnTo>
                  <a:lnTo>
                    <a:pt x="1728" y="363"/>
                  </a:lnTo>
                  <a:lnTo>
                    <a:pt x="1488" y="27"/>
                  </a:lnTo>
                  <a:lnTo>
                    <a:pt x="1632" y="363"/>
                  </a:lnTo>
                  <a:lnTo>
                    <a:pt x="1248" y="363"/>
                  </a:lnTo>
                  <a:lnTo>
                    <a:pt x="1200" y="0"/>
                  </a:lnTo>
                  <a:lnTo>
                    <a:pt x="1152" y="363"/>
                  </a:lnTo>
                  <a:lnTo>
                    <a:pt x="0" y="363"/>
                  </a:lnTo>
                  <a:lnTo>
                    <a:pt x="0" y="507"/>
                  </a:lnTo>
                </a:path>
              </a:pathLst>
            </a:custGeom>
            <a:gradFill rotWithShape="0">
              <a:gsLst>
                <a:gs pos="0">
                  <a:srgbClr val="FFFFFF"/>
                </a:gs>
                <a:gs pos="100000">
                  <a:srgbClr val="FFEFFF"/>
                </a:gs>
              </a:gsLst>
              <a:lin ang="5400000" scaled="1"/>
            </a:gradFill>
            <a:ln w="12700" cap="flat" cmpd="sng">
              <a:solidFill>
                <a:srgbClr val="CC0099"/>
              </a:solidFill>
              <a:prstDash val="solid"/>
              <a:round/>
              <a:headEnd type="none" w="med" len="med"/>
              <a:tailEnd type="none" w="med" len="med"/>
            </a:ln>
          </p:spPr>
          <p:txBody>
            <a:bodyPr wrap="none"/>
            <a:lstStyle/>
            <a:p>
              <a:endParaRPr lang="zh-CN" altLang="en-US"/>
            </a:p>
          </p:txBody>
        </p:sp>
        <p:sp>
          <p:nvSpPr>
            <p:cNvPr id="11272" name="Text Box 14"/>
            <p:cNvSpPr txBox="1">
              <a:spLocks noChangeArrowheads="1"/>
            </p:cNvSpPr>
            <p:nvPr/>
          </p:nvSpPr>
          <p:spPr bwMode="auto">
            <a:xfrm>
              <a:off x="3024" y="1862"/>
              <a:ext cx="2544" cy="355"/>
            </a:xfrm>
            <a:prstGeom prst="rect">
              <a:avLst/>
            </a:prstGeom>
            <a:noFill/>
            <a:ln w="3175">
              <a:noFill/>
              <a:miter lim="800000"/>
              <a:headEnd/>
              <a:tailEnd/>
            </a:ln>
          </p:spPr>
          <p:txBody>
            <a:bodyPr>
              <a:spAutoFit/>
            </a:bodyPr>
            <a:lstStyle/>
            <a:p>
              <a:pPr>
                <a:spcBef>
                  <a:spcPct val="50000"/>
                </a:spcBef>
              </a:pPr>
              <a:r>
                <a:rPr lang="zh-CN" altLang="en-US" sz="3200" b="1" dirty="0">
                  <a:solidFill>
                    <a:srgbClr val="1C1C1C"/>
                  </a:solidFill>
                </a:rPr>
                <a:t>微观量的统计平均值</a:t>
              </a:r>
            </a:p>
          </p:txBody>
        </p:sp>
      </p:grpSp>
      <p:sp>
        <p:nvSpPr>
          <p:cNvPr id="15" name="灯片编号占位符 1"/>
          <p:cNvSpPr txBox="1">
            <a:spLocks/>
          </p:cNvSpPr>
          <p:nvPr/>
        </p:nvSpPr>
        <p:spPr bwMode="auto">
          <a:xfrm>
            <a:off x="8606357" y="6584504"/>
            <a:ext cx="574155" cy="300880"/>
          </a:xfrm>
          <a:prstGeom prst="rect">
            <a:avLst/>
          </a:prstGeom>
          <a:noFill/>
          <a:ln>
            <a:miter lim="800000"/>
            <a:headEnd/>
            <a:tailEnd/>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22E3302-AC1D-47C1-A1C9-47DFDD07C79E}" type="slidenum">
              <a:rPr kumimoji="0" lang="en-US" altLang="zh-CN" sz="1400" b="0" i="0" u="none" strike="noStrike" kern="1200" cap="none" spc="0" normalizeH="0" baseline="0" noProof="0" smtClean="0">
                <a:ln>
                  <a:noFill/>
                </a:ln>
                <a:solidFill>
                  <a:schemeClr val="tx1"/>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zh-CN" sz="1400" b="0" i="0" u="none" strike="noStrike" kern="1200" cap="none" spc="0" normalizeH="0" baseline="0" noProof="0" dirty="0">
              <a:ln>
                <a:noFill/>
              </a:ln>
              <a:solidFill>
                <a:schemeClr val="tx1"/>
              </a:solidFill>
              <a:effectLst/>
              <a:uLnTx/>
              <a:uFillTx/>
              <a:latin typeface="Arial" charset="0"/>
              <a:ea typeface="宋体" pitchFamily="2" charset="-122"/>
              <a:cs typeface="+mn-cs"/>
            </a:endParaRPr>
          </a:p>
        </p:txBody>
      </p:sp>
      <p:sp>
        <p:nvSpPr>
          <p:cNvPr id="16" name="矩形 15"/>
          <p:cNvSpPr/>
          <p:nvPr/>
        </p:nvSpPr>
        <p:spPr>
          <a:xfrm>
            <a:off x="755576" y="4482986"/>
            <a:ext cx="7920880" cy="1754326"/>
          </a:xfrm>
          <a:prstGeom prst="rect">
            <a:avLst/>
          </a:prstGeom>
        </p:spPr>
        <p:txBody>
          <a:bodyPr wrap="square">
            <a:spAutoFit/>
          </a:bodyPr>
          <a:lstStyle/>
          <a:p>
            <a:pPr marL="0" marR="0" lvl="1" indent="0" defTabSz="914400" eaLnBrk="1" fontAlgn="auto" latinLnBrk="0" hangingPunct="1">
              <a:lnSpc>
                <a:spcPct val="150000"/>
              </a:lnSpc>
              <a:spcBef>
                <a:spcPts val="0"/>
              </a:spcBef>
              <a:spcAft>
                <a:spcPts val="0"/>
              </a:spcAft>
              <a:buClrTx/>
              <a:buSzTx/>
              <a:buFontTx/>
              <a:buNone/>
              <a:tabLst/>
              <a:defRPr/>
            </a:pPr>
            <a:r>
              <a:rPr lang="zh-CN" altLang="en-US" sz="3600" b="1" kern="0" dirty="0" smtClean="0">
                <a:solidFill>
                  <a:srgbClr val="FF0000"/>
                </a:solidFill>
                <a:latin typeface="Times New Roman" pitchFamily="18" charset="0"/>
                <a:cs typeface="Times New Roman" pitchFamily="18" charset="0"/>
              </a:rPr>
              <a:t>        气体的压强是一个统计平均量，对单个分子来说压强是没有意义的。</a:t>
            </a:r>
            <a:endParaRPr lang="zh-CN" altLang="zh-CN" sz="3600" b="1" kern="0" dirty="0" smtClean="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upRight)">
                                      <p:cBhvr>
                                        <p:cTn id="7" dur="500"/>
                                        <p:tgtEl>
                                          <p:spTgt spid="4"/>
                                        </p:tgtEl>
                                      </p:cBhvr>
                                    </p:animEffect>
                                  </p:childTnLst>
                                </p:cTn>
                              </p:par>
                              <p:par>
                                <p:cTn id="8" presetID="18" presetClass="entr" presetSubtype="9"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strips(upLeft)">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5" name="Text Box 2"/>
          <p:cNvSpPr txBox="1">
            <a:spLocks noChangeArrowheads="1"/>
          </p:cNvSpPr>
          <p:nvPr/>
        </p:nvSpPr>
        <p:spPr bwMode="auto">
          <a:xfrm>
            <a:off x="231527" y="332656"/>
            <a:ext cx="8516937" cy="3046988"/>
          </a:xfrm>
          <a:prstGeom prst="rect">
            <a:avLst/>
          </a:prstGeom>
          <a:noFill/>
          <a:ln w="9525">
            <a:noFill/>
            <a:miter lim="800000"/>
            <a:headEnd/>
            <a:tailEnd/>
          </a:ln>
        </p:spPr>
        <p:txBody>
          <a:bodyPr>
            <a:spAutoFit/>
          </a:bodyPr>
          <a:lstStyle/>
          <a:p>
            <a:pPr>
              <a:lnSpc>
                <a:spcPct val="150000"/>
              </a:lnSpc>
            </a:pPr>
            <a:r>
              <a:rPr lang="zh-CN" altLang="en-US" sz="3200" b="1" dirty="0">
                <a:solidFill>
                  <a:srgbClr val="FF0000"/>
                </a:solidFill>
                <a:latin typeface="Times New Roman" pitchFamily="18" charset="0"/>
              </a:rPr>
              <a:t>例</a:t>
            </a:r>
            <a:r>
              <a:rPr lang="en-US" altLang="zh-CN" sz="3200" b="1" dirty="0">
                <a:solidFill>
                  <a:srgbClr val="FF0000"/>
                </a:solidFill>
                <a:latin typeface="Times New Roman" pitchFamily="18" charset="0"/>
              </a:rPr>
              <a:t>1</a:t>
            </a:r>
            <a:r>
              <a:rPr lang="en-US" altLang="zh-CN" sz="3200" b="1" dirty="0">
                <a:solidFill>
                  <a:srgbClr val="000000"/>
                </a:solidFill>
                <a:latin typeface="Times New Roman" pitchFamily="18" charset="0"/>
              </a:rPr>
              <a:t> </a:t>
            </a:r>
            <a:r>
              <a:rPr lang="zh-CN" altLang="en-US" sz="3200" b="1" dirty="0">
                <a:solidFill>
                  <a:srgbClr val="000000"/>
                </a:solidFill>
                <a:latin typeface="Times New Roman" pitchFamily="18" charset="0"/>
              </a:rPr>
              <a:t>体积</a:t>
            </a:r>
            <a:r>
              <a:rPr lang="en-US" altLang="zh-CN" sz="3200" i="1" dirty="0">
                <a:solidFill>
                  <a:srgbClr val="000000"/>
                </a:solidFill>
                <a:latin typeface="Times New Roman" pitchFamily="18" charset="0"/>
              </a:rPr>
              <a:t>V </a:t>
            </a:r>
            <a:r>
              <a:rPr lang="en-US" altLang="zh-CN" sz="3200" dirty="0">
                <a:solidFill>
                  <a:srgbClr val="000000"/>
                </a:solidFill>
                <a:latin typeface="Times New Roman" pitchFamily="18" charset="0"/>
              </a:rPr>
              <a:t>=10</a:t>
            </a:r>
            <a:r>
              <a:rPr lang="en-US" altLang="zh-CN" sz="3200" baseline="30000" dirty="0">
                <a:solidFill>
                  <a:srgbClr val="000000"/>
                </a:solidFill>
                <a:latin typeface="Times New Roman" pitchFamily="18" charset="0"/>
              </a:rPr>
              <a:t>-3</a:t>
            </a:r>
            <a:r>
              <a:rPr lang="en-US" altLang="zh-CN" sz="3200" dirty="0">
                <a:solidFill>
                  <a:srgbClr val="000000"/>
                </a:solidFill>
                <a:latin typeface="Times New Roman" pitchFamily="18" charset="0"/>
              </a:rPr>
              <a:t>m</a:t>
            </a:r>
            <a:r>
              <a:rPr lang="en-US" altLang="zh-CN" sz="3200" baseline="30000" dirty="0">
                <a:solidFill>
                  <a:srgbClr val="000000"/>
                </a:solidFill>
                <a:latin typeface="Times New Roman" pitchFamily="18" charset="0"/>
              </a:rPr>
              <a:t>3</a:t>
            </a:r>
            <a:r>
              <a:rPr lang="zh-CN" altLang="en-US" sz="3200" b="1" dirty="0">
                <a:solidFill>
                  <a:srgbClr val="000000"/>
                </a:solidFill>
                <a:latin typeface="Times New Roman" pitchFamily="18" charset="0"/>
              </a:rPr>
              <a:t>的容器中贮有理想气体，其分子总数</a:t>
            </a:r>
            <a:r>
              <a:rPr lang="en-US" altLang="zh-CN" sz="3200" i="1" dirty="0">
                <a:solidFill>
                  <a:srgbClr val="000000"/>
                </a:solidFill>
                <a:latin typeface="Times New Roman" pitchFamily="18" charset="0"/>
              </a:rPr>
              <a:t>N</a:t>
            </a:r>
            <a:r>
              <a:rPr lang="en-US" altLang="zh-CN" sz="3200" dirty="0">
                <a:solidFill>
                  <a:srgbClr val="000000"/>
                </a:solidFill>
                <a:latin typeface="Times New Roman" pitchFamily="18" charset="0"/>
              </a:rPr>
              <a:t>=10</a:t>
            </a:r>
            <a:r>
              <a:rPr lang="en-US" altLang="zh-CN" sz="3200" baseline="30000" dirty="0">
                <a:solidFill>
                  <a:srgbClr val="000000"/>
                </a:solidFill>
                <a:latin typeface="Times New Roman" pitchFamily="18" charset="0"/>
              </a:rPr>
              <a:t>23</a:t>
            </a:r>
            <a:r>
              <a:rPr lang="zh-CN" altLang="en-US" sz="3200" b="1" dirty="0">
                <a:solidFill>
                  <a:srgbClr val="000000"/>
                </a:solidFill>
                <a:latin typeface="Times New Roman" pitchFamily="18" charset="0"/>
              </a:rPr>
              <a:t>，每个分子质量         </a:t>
            </a:r>
            <a:r>
              <a:rPr lang="zh-CN" altLang="en-US" sz="3200" b="1" dirty="0" smtClean="0">
                <a:solidFill>
                  <a:srgbClr val="000000"/>
                </a:solidFill>
                <a:latin typeface="Times New Roman" pitchFamily="18" charset="0"/>
              </a:rPr>
              <a:t>                </a:t>
            </a:r>
            <a:r>
              <a:rPr lang="en-US" altLang="zh-CN" sz="3200" b="1" dirty="0">
                <a:solidFill>
                  <a:srgbClr val="000000"/>
                </a:solidFill>
                <a:latin typeface="Times New Roman" pitchFamily="18" charset="0"/>
              </a:rPr>
              <a:t>,</a:t>
            </a:r>
            <a:r>
              <a:rPr lang="zh-CN" altLang="en-US" sz="3200" b="1" dirty="0">
                <a:solidFill>
                  <a:srgbClr val="000000"/>
                </a:solidFill>
                <a:latin typeface="Times New Roman" pitchFamily="18" charset="0"/>
              </a:rPr>
              <a:t>分子方均根速率               </a:t>
            </a:r>
            <a:r>
              <a:rPr lang="zh-CN" altLang="en-US" sz="3200" b="1" dirty="0" smtClean="0">
                <a:solidFill>
                  <a:srgbClr val="000000"/>
                </a:solidFill>
                <a:latin typeface="Times New Roman" pitchFamily="18" charset="0"/>
              </a:rPr>
              <a:t>           </a:t>
            </a:r>
            <a:r>
              <a:rPr lang="zh-CN" altLang="en-US" sz="3200" b="1" dirty="0">
                <a:solidFill>
                  <a:srgbClr val="000000"/>
                </a:solidFill>
                <a:latin typeface="Times New Roman" pitchFamily="18" charset="0"/>
              </a:rPr>
              <a:t>。</a:t>
            </a:r>
          </a:p>
          <a:p>
            <a:pPr>
              <a:lnSpc>
                <a:spcPct val="150000"/>
              </a:lnSpc>
            </a:pPr>
            <a:r>
              <a:rPr lang="zh-CN" altLang="en-US" sz="3200" b="1" dirty="0">
                <a:solidFill>
                  <a:srgbClr val="FF0000"/>
                </a:solidFill>
                <a:latin typeface="Times New Roman" pitchFamily="18" charset="0"/>
              </a:rPr>
              <a:t>求 </a:t>
            </a:r>
            <a:r>
              <a:rPr lang="zh-CN" altLang="en-US" sz="3200" b="1" dirty="0">
                <a:solidFill>
                  <a:srgbClr val="000000"/>
                </a:solidFill>
                <a:latin typeface="Times New Roman" pitchFamily="18" charset="0"/>
              </a:rPr>
              <a:t>气体的</a:t>
            </a:r>
            <a:r>
              <a:rPr lang="zh-CN" altLang="en-US" sz="3200" b="1" dirty="0">
                <a:solidFill>
                  <a:srgbClr val="FF0000"/>
                </a:solidFill>
                <a:latin typeface="Times New Roman" pitchFamily="18" charset="0"/>
              </a:rPr>
              <a:t>压强、温度</a:t>
            </a:r>
            <a:r>
              <a:rPr lang="zh-CN" altLang="en-US" sz="3200" b="1" dirty="0">
                <a:solidFill>
                  <a:srgbClr val="000000"/>
                </a:solidFill>
                <a:latin typeface="Times New Roman" pitchFamily="18" charset="0"/>
              </a:rPr>
              <a:t>和分子</a:t>
            </a:r>
            <a:r>
              <a:rPr lang="zh-CN" altLang="en-US" sz="3200" b="1" dirty="0">
                <a:solidFill>
                  <a:srgbClr val="FF0000"/>
                </a:solidFill>
                <a:latin typeface="Times New Roman" pitchFamily="18" charset="0"/>
              </a:rPr>
              <a:t>总平均平动动能</a:t>
            </a:r>
            <a:r>
              <a:rPr lang="zh-CN" altLang="en-US" sz="3200" b="1" dirty="0">
                <a:solidFill>
                  <a:srgbClr val="000000"/>
                </a:solidFill>
                <a:latin typeface="Times New Roman" pitchFamily="18" charset="0"/>
              </a:rPr>
              <a:t>。</a:t>
            </a:r>
            <a:endParaRPr lang="zh-CN" altLang="en-US" sz="3200" i="1" dirty="0">
              <a:solidFill>
                <a:srgbClr val="000000"/>
              </a:solidFill>
              <a:latin typeface="Symbol" pitchFamily="18" charset="2"/>
            </a:endParaRPr>
          </a:p>
        </p:txBody>
      </p:sp>
      <p:graphicFrame>
        <p:nvGraphicFramePr>
          <p:cNvPr id="12290" name="Object 3"/>
          <p:cNvGraphicFramePr>
            <a:graphicFrameLocks noChangeAspect="1"/>
          </p:cNvGraphicFramePr>
          <p:nvPr/>
        </p:nvGraphicFramePr>
        <p:xfrm>
          <a:off x="5978525" y="1196752"/>
          <a:ext cx="2514600" cy="595312"/>
        </p:xfrm>
        <a:graphic>
          <a:graphicData uri="http://schemas.openxmlformats.org/presentationml/2006/ole">
            <p:oleObj spid="_x0000_s62466" name="公式" r:id="rId3" imgW="965160" imgH="228600" progId="Equation.DSMT4">
              <p:embed/>
            </p:oleObj>
          </a:graphicData>
        </a:graphic>
      </p:graphicFrame>
      <p:graphicFrame>
        <p:nvGraphicFramePr>
          <p:cNvPr id="12291" name="Object 4"/>
          <p:cNvGraphicFramePr>
            <a:graphicFrameLocks noChangeAspect="1"/>
          </p:cNvGraphicFramePr>
          <p:nvPr/>
        </p:nvGraphicFramePr>
        <p:xfrm>
          <a:off x="3290888" y="1828800"/>
          <a:ext cx="2522537" cy="752475"/>
        </p:xfrm>
        <a:graphic>
          <a:graphicData uri="http://schemas.openxmlformats.org/presentationml/2006/ole">
            <p:oleObj spid="_x0000_s62467" name="公式" r:id="rId4" imgW="977760" imgH="291960" progId="Equation.DSMT4">
              <p:embed/>
            </p:oleObj>
          </a:graphicData>
        </a:graphic>
      </p:graphicFrame>
      <p:sp>
        <p:nvSpPr>
          <p:cNvPr id="216069" name="Text Box 5"/>
          <p:cNvSpPr txBox="1">
            <a:spLocks noChangeArrowheads="1"/>
          </p:cNvSpPr>
          <p:nvPr/>
        </p:nvSpPr>
        <p:spPr bwMode="auto">
          <a:xfrm>
            <a:off x="278556" y="3429000"/>
            <a:ext cx="6957740" cy="579438"/>
          </a:xfrm>
          <a:prstGeom prst="rect">
            <a:avLst/>
          </a:prstGeom>
          <a:noFill/>
          <a:ln w="9525">
            <a:noFill/>
            <a:miter lim="800000"/>
            <a:headEnd/>
            <a:tailEnd/>
          </a:ln>
        </p:spPr>
        <p:txBody>
          <a:bodyPr wrap="square">
            <a:spAutoFit/>
          </a:bodyPr>
          <a:lstStyle/>
          <a:p>
            <a:r>
              <a:rPr lang="zh-CN" altLang="en-US" sz="3200" b="1" dirty="0">
                <a:solidFill>
                  <a:srgbClr val="FF0000"/>
                </a:solidFill>
                <a:latin typeface="Times New Roman" pitchFamily="18" charset="0"/>
              </a:rPr>
              <a:t>解</a:t>
            </a:r>
            <a:r>
              <a:rPr lang="zh-CN" altLang="en-US" sz="3200" b="1" dirty="0">
                <a:solidFill>
                  <a:srgbClr val="000000"/>
                </a:solidFill>
                <a:latin typeface="Times New Roman" pitchFamily="18" charset="0"/>
              </a:rPr>
              <a:t> 根据理想气体压强公式，有</a:t>
            </a:r>
          </a:p>
        </p:txBody>
      </p:sp>
      <p:graphicFrame>
        <p:nvGraphicFramePr>
          <p:cNvPr id="216070" name="Object 6"/>
          <p:cNvGraphicFramePr>
            <a:graphicFrameLocks noChangeAspect="1"/>
          </p:cNvGraphicFramePr>
          <p:nvPr/>
        </p:nvGraphicFramePr>
        <p:xfrm>
          <a:off x="2123728" y="4221088"/>
          <a:ext cx="4599334" cy="1132028"/>
        </p:xfrm>
        <a:graphic>
          <a:graphicData uri="http://schemas.openxmlformats.org/presentationml/2006/ole">
            <p:oleObj spid="_x0000_s62468" name="公式" r:id="rId5" imgW="1562040" imgH="393480" progId="Equation.DSMT4">
              <p:embed/>
            </p:oleObj>
          </a:graphicData>
        </a:graphic>
      </p:graphicFrame>
      <p:grpSp>
        <p:nvGrpSpPr>
          <p:cNvPr id="13" name="组合 12"/>
          <p:cNvGrpSpPr/>
          <p:nvPr/>
        </p:nvGrpSpPr>
        <p:grpSpPr>
          <a:xfrm>
            <a:off x="899592" y="5502275"/>
            <a:ext cx="7590358" cy="677863"/>
            <a:chOff x="1052513" y="5718299"/>
            <a:chExt cx="7590358" cy="677863"/>
          </a:xfrm>
        </p:grpSpPr>
        <p:sp>
          <p:nvSpPr>
            <p:cNvPr id="216071" name="Text Box 7"/>
            <p:cNvSpPr txBox="1">
              <a:spLocks noChangeArrowheads="1"/>
            </p:cNvSpPr>
            <p:nvPr/>
          </p:nvSpPr>
          <p:spPr bwMode="auto">
            <a:xfrm>
              <a:off x="1052513" y="5786958"/>
              <a:ext cx="4467225" cy="579437"/>
            </a:xfrm>
            <a:prstGeom prst="rect">
              <a:avLst/>
            </a:prstGeom>
            <a:noFill/>
            <a:ln w="9525">
              <a:noFill/>
              <a:miter lim="800000"/>
              <a:headEnd/>
              <a:tailEnd/>
            </a:ln>
          </p:spPr>
          <p:txBody>
            <a:bodyPr wrap="none">
              <a:spAutoFit/>
            </a:bodyPr>
            <a:lstStyle/>
            <a:p>
              <a:r>
                <a:rPr lang="zh-CN" altLang="en-US" sz="3200" b="1" dirty="0">
                  <a:solidFill>
                    <a:srgbClr val="000000"/>
                  </a:solidFill>
                  <a:latin typeface="Times New Roman" pitchFamily="18" charset="0"/>
                </a:rPr>
                <a:t>代入已知数据，得</a:t>
              </a:r>
              <a:r>
                <a:rPr lang="zh-CN" altLang="en-US" sz="3200" b="1" dirty="0">
                  <a:solidFill>
                    <a:srgbClr val="FF0000"/>
                  </a:solidFill>
                  <a:latin typeface="Times New Roman" pitchFamily="18" charset="0"/>
                </a:rPr>
                <a:t>压强</a:t>
              </a:r>
              <a:r>
                <a:rPr lang="zh-CN" altLang="en-US" sz="3200" b="1" dirty="0">
                  <a:solidFill>
                    <a:srgbClr val="000000"/>
                  </a:solidFill>
                  <a:latin typeface="Times New Roman" pitchFamily="18" charset="0"/>
                </a:rPr>
                <a:t>  </a:t>
              </a:r>
            </a:p>
          </p:txBody>
        </p:sp>
        <p:graphicFrame>
          <p:nvGraphicFramePr>
            <p:cNvPr id="216072" name="Object 8"/>
            <p:cNvGraphicFramePr>
              <a:graphicFrameLocks noChangeAspect="1"/>
            </p:cNvGraphicFramePr>
            <p:nvPr/>
          </p:nvGraphicFramePr>
          <p:xfrm>
            <a:off x="5221809" y="5718299"/>
            <a:ext cx="3421062" cy="677863"/>
          </p:xfrm>
          <a:graphic>
            <a:graphicData uri="http://schemas.openxmlformats.org/presentationml/2006/ole">
              <p:oleObj spid="_x0000_s62469" name="公式" r:id="rId6" imgW="1193760" imgH="228600" progId="Equation.DSMT4">
                <p:embed/>
              </p:oleObj>
            </a:graphicData>
          </a:graphic>
        </p:graphicFrame>
      </p:grpSp>
      <p:sp>
        <p:nvSpPr>
          <p:cNvPr id="12" name="灯片编号占位符 1"/>
          <p:cNvSpPr txBox="1">
            <a:spLocks/>
          </p:cNvSpPr>
          <p:nvPr/>
        </p:nvSpPr>
        <p:spPr bwMode="auto">
          <a:xfrm>
            <a:off x="8606357" y="6584504"/>
            <a:ext cx="574155" cy="300880"/>
          </a:xfrm>
          <a:prstGeom prst="rect">
            <a:avLst/>
          </a:prstGeom>
          <a:noFill/>
          <a:ln>
            <a:miter lim="800000"/>
            <a:headEnd/>
            <a:tailEnd/>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22E3302-AC1D-47C1-A1C9-47DFDD07C79E}" type="slidenum">
              <a:rPr kumimoji="0" lang="en-US" altLang="zh-CN" sz="1400" b="0" i="0" u="none" strike="noStrike" kern="1200" cap="none" spc="0" normalizeH="0" baseline="0" noProof="0" smtClean="0">
                <a:ln>
                  <a:noFill/>
                </a:ln>
                <a:solidFill>
                  <a:schemeClr val="tx1"/>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zh-CN" sz="1400" b="0" i="0" u="none" strike="noStrike" kern="1200" cap="none" spc="0" normalizeH="0" baseline="0" noProof="0" dirty="0">
              <a:ln>
                <a:noFill/>
              </a:ln>
              <a:solidFill>
                <a:schemeClr val="tx1"/>
              </a:solidFill>
              <a:effectLst/>
              <a:uLnTx/>
              <a:uFillTx/>
              <a:latin typeface="Arial" charset="0"/>
              <a:ea typeface="宋体"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6069"/>
                                        </p:tgtEl>
                                        <p:attrNameLst>
                                          <p:attrName>style.visibility</p:attrName>
                                        </p:attrNameLst>
                                      </p:cBhvr>
                                      <p:to>
                                        <p:strVal val="visible"/>
                                      </p:to>
                                    </p:set>
                                    <p:animEffect transition="in" filter="wipe(left)">
                                      <p:cBhvr>
                                        <p:cTn id="7" dur="1000"/>
                                        <p:tgtEl>
                                          <p:spTgt spid="2160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16070"/>
                                        </p:tgtEl>
                                        <p:attrNameLst>
                                          <p:attrName>style.visibility</p:attrName>
                                        </p:attrNameLst>
                                      </p:cBhvr>
                                      <p:to>
                                        <p:strVal val="visible"/>
                                      </p:to>
                                    </p:set>
                                    <p:animEffect transition="in" filter="wipe(left)">
                                      <p:cBhvr>
                                        <p:cTn id="12" dur="500"/>
                                        <p:tgtEl>
                                          <p:spTgt spid="21607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Text Box 2"/>
          <p:cNvSpPr txBox="1">
            <a:spLocks noChangeArrowheads="1"/>
          </p:cNvSpPr>
          <p:nvPr/>
        </p:nvSpPr>
        <p:spPr bwMode="auto">
          <a:xfrm>
            <a:off x="1482724" y="476672"/>
            <a:ext cx="5969595" cy="579437"/>
          </a:xfrm>
          <a:prstGeom prst="rect">
            <a:avLst/>
          </a:prstGeom>
          <a:noFill/>
          <a:ln w="9525">
            <a:noFill/>
            <a:miter lim="800000"/>
            <a:headEnd/>
            <a:tailEnd/>
          </a:ln>
        </p:spPr>
        <p:txBody>
          <a:bodyPr wrap="square">
            <a:spAutoFit/>
          </a:bodyPr>
          <a:lstStyle/>
          <a:p>
            <a:r>
              <a:rPr lang="zh-CN" altLang="en-US" sz="3200" b="1" dirty="0">
                <a:solidFill>
                  <a:srgbClr val="000000"/>
                </a:solidFill>
                <a:latin typeface="Times New Roman" pitchFamily="18" charset="0"/>
              </a:rPr>
              <a:t>根据理想气体状态方程，有  </a:t>
            </a:r>
          </a:p>
        </p:txBody>
      </p:sp>
      <p:graphicFrame>
        <p:nvGraphicFramePr>
          <p:cNvPr id="217091" name="Object 3"/>
          <p:cNvGraphicFramePr>
            <a:graphicFrameLocks noChangeAspect="1"/>
          </p:cNvGraphicFramePr>
          <p:nvPr/>
        </p:nvGraphicFramePr>
        <p:xfrm>
          <a:off x="1603375" y="1341438"/>
          <a:ext cx="4081463" cy="1158875"/>
        </p:xfrm>
        <a:graphic>
          <a:graphicData uri="http://schemas.openxmlformats.org/presentationml/2006/ole">
            <p:oleObj spid="_x0000_s63490" name="公式" r:id="rId3" imgW="1523880" imgH="431640" progId="Equation.DSMT4">
              <p:embed/>
            </p:oleObj>
          </a:graphicData>
        </a:graphic>
      </p:graphicFrame>
      <p:sp>
        <p:nvSpPr>
          <p:cNvPr id="13319" name="Text Box 4"/>
          <p:cNvSpPr txBox="1">
            <a:spLocks noChangeArrowheads="1"/>
          </p:cNvSpPr>
          <p:nvPr/>
        </p:nvSpPr>
        <p:spPr bwMode="auto">
          <a:xfrm>
            <a:off x="592138" y="476672"/>
            <a:ext cx="1000125" cy="579437"/>
          </a:xfrm>
          <a:prstGeom prst="rect">
            <a:avLst/>
          </a:prstGeom>
          <a:noFill/>
          <a:ln w="9525">
            <a:noFill/>
            <a:miter lim="800000"/>
            <a:headEnd/>
            <a:tailEnd/>
          </a:ln>
        </p:spPr>
        <p:txBody>
          <a:bodyPr wrap="none">
            <a:spAutoFit/>
          </a:bodyPr>
          <a:lstStyle/>
          <a:p>
            <a:r>
              <a:rPr lang="zh-CN" altLang="en-US" sz="3200" b="1" dirty="0">
                <a:solidFill>
                  <a:srgbClr val="FF0000"/>
                </a:solidFill>
                <a:latin typeface="Times New Roman" pitchFamily="18" charset="0"/>
              </a:rPr>
              <a:t>温度</a:t>
            </a:r>
          </a:p>
        </p:txBody>
      </p:sp>
      <p:graphicFrame>
        <p:nvGraphicFramePr>
          <p:cNvPr id="217093" name="Object 5"/>
          <p:cNvGraphicFramePr>
            <a:graphicFrameLocks noChangeAspect="1"/>
          </p:cNvGraphicFramePr>
          <p:nvPr/>
        </p:nvGraphicFramePr>
        <p:xfrm>
          <a:off x="1617464" y="2835275"/>
          <a:ext cx="3530600" cy="1093788"/>
        </p:xfrm>
        <a:graphic>
          <a:graphicData uri="http://schemas.openxmlformats.org/presentationml/2006/ole">
            <p:oleObj spid="_x0000_s63491" name="公式" r:id="rId4" imgW="1307880" imgH="393480" progId="Equation.DSMT4">
              <p:embed/>
            </p:oleObj>
          </a:graphicData>
        </a:graphic>
      </p:graphicFrame>
      <p:sp>
        <p:nvSpPr>
          <p:cNvPr id="217094" name="Text Box 6"/>
          <p:cNvSpPr txBox="1">
            <a:spLocks noChangeArrowheads="1"/>
          </p:cNvSpPr>
          <p:nvPr/>
        </p:nvSpPr>
        <p:spPr bwMode="auto">
          <a:xfrm>
            <a:off x="611188" y="4149080"/>
            <a:ext cx="5328964" cy="579437"/>
          </a:xfrm>
          <a:prstGeom prst="rect">
            <a:avLst/>
          </a:prstGeom>
          <a:noFill/>
          <a:ln w="9525">
            <a:noFill/>
            <a:miter lim="800000"/>
            <a:headEnd/>
            <a:tailEnd/>
          </a:ln>
        </p:spPr>
        <p:txBody>
          <a:bodyPr wrap="square">
            <a:spAutoFit/>
          </a:bodyPr>
          <a:lstStyle/>
          <a:p>
            <a:r>
              <a:rPr lang="zh-CN" altLang="en-US" sz="3200" b="1" dirty="0">
                <a:latin typeface="Times New Roman" pitchFamily="18" charset="0"/>
              </a:rPr>
              <a:t>分子总平均平动动能 </a:t>
            </a:r>
            <a:r>
              <a:rPr lang="en-US" altLang="zh-CN" sz="3200" i="1" dirty="0" err="1">
                <a:latin typeface="Times New Roman" pitchFamily="18" charset="0"/>
              </a:rPr>
              <a:t>E</a:t>
            </a:r>
            <a:r>
              <a:rPr lang="en-US" altLang="zh-CN" sz="3200" baseline="-25000" dirty="0" err="1">
                <a:latin typeface="Times New Roman" pitchFamily="18" charset="0"/>
              </a:rPr>
              <a:t>k</a:t>
            </a:r>
            <a:r>
              <a:rPr lang="en-US" altLang="zh-CN" sz="3200" baseline="-25000" dirty="0">
                <a:latin typeface="Times New Roman" pitchFamily="18" charset="0"/>
              </a:rPr>
              <a:t> </a:t>
            </a:r>
            <a:r>
              <a:rPr lang="zh-CN" altLang="en-US" sz="3200" b="1" dirty="0">
                <a:latin typeface="Times New Roman" pitchFamily="18" charset="0"/>
              </a:rPr>
              <a:t>为</a:t>
            </a:r>
          </a:p>
        </p:txBody>
      </p:sp>
      <p:graphicFrame>
        <p:nvGraphicFramePr>
          <p:cNvPr id="217095" name="Object 7"/>
          <p:cNvGraphicFramePr>
            <a:graphicFrameLocks noChangeAspect="1"/>
          </p:cNvGraphicFramePr>
          <p:nvPr/>
        </p:nvGraphicFramePr>
        <p:xfrm>
          <a:off x="1513681" y="5062538"/>
          <a:ext cx="5362575" cy="1192212"/>
        </p:xfrm>
        <a:graphic>
          <a:graphicData uri="http://schemas.openxmlformats.org/presentationml/2006/ole">
            <p:oleObj spid="_x0000_s63492" name="公式" r:id="rId5" imgW="1993680" imgH="431640" progId="Equation.DSMT4">
              <p:embed/>
            </p:oleObj>
          </a:graphicData>
        </a:graphic>
      </p:graphicFrame>
      <p:sp>
        <p:nvSpPr>
          <p:cNvPr id="11" name="灯片编号占位符 1"/>
          <p:cNvSpPr txBox="1">
            <a:spLocks/>
          </p:cNvSpPr>
          <p:nvPr/>
        </p:nvSpPr>
        <p:spPr bwMode="auto">
          <a:xfrm>
            <a:off x="8606357" y="6584504"/>
            <a:ext cx="574155" cy="300880"/>
          </a:xfrm>
          <a:prstGeom prst="rect">
            <a:avLst/>
          </a:prstGeom>
          <a:noFill/>
          <a:ln>
            <a:miter lim="800000"/>
            <a:headEnd/>
            <a:tailEnd/>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22E3302-AC1D-47C1-A1C9-47DFDD07C79E}" type="slidenum">
              <a:rPr kumimoji="0" lang="en-US" altLang="zh-CN" sz="1400" b="0" i="0" u="none" strike="noStrike" kern="1200" cap="none" spc="0" normalizeH="0" baseline="0" noProof="0" smtClean="0">
                <a:ln>
                  <a:noFill/>
                </a:ln>
                <a:solidFill>
                  <a:schemeClr val="tx1"/>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zh-CN" sz="1400" b="0" i="0" u="none" strike="noStrike" kern="1200" cap="none" spc="0" normalizeH="0" baseline="0" noProof="0" dirty="0">
              <a:ln>
                <a:noFill/>
              </a:ln>
              <a:solidFill>
                <a:schemeClr val="tx1"/>
              </a:solidFill>
              <a:effectLst/>
              <a:uLnTx/>
              <a:uFillTx/>
              <a:latin typeface="Arial" charset="0"/>
              <a:ea typeface="宋体"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7090"/>
                                        </p:tgtEl>
                                        <p:attrNameLst>
                                          <p:attrName>style.visibility</p:attrName>
                                        </p:attrNameLst>
                                      </p:cBhvr>
                                      <p:to>
                                        <p:strVal val="visible"/>
                                      </p:to>
                                    </p:set>
                                    <p:animEffect transition="in" filter="wipe(left)">
                                      <p:cBhvr>
                                        <p:cTn id="7" dur="1000"/>
                                        <p:tgtEl>
                                          <p:spTgt spid="2170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17091"/>
                                        </p:tgtEl>
                                        <p:attrNameLst>
                                          <p:attrName>style.visibility</p:attrName>
                                        </p:attrNameLst>
                                      </p:cBhvr>
                                      <p:to>
                                        <p:strVal val="visible"/>
                                      </p:to>
                                    </p:set>
                                    <p:animEffect transition="in" filter="wipe(left)">
                                      <p:cBhvr>
                                        <p:cTn id="12" dur="1000"/>
                                        <p:tgtEl>
                                          <p:spTgt spid="2170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17093"/>
                                        </p:tgtEl>
                                        <p:attrNameLst>
                                          <p:attrName>style.visibility</p:attrName>
                                        </p:attrNameLst>
                                      </p:cBhvr>
                                      <p:to>
                                        <p:strVal val="visible"/>
                                      </p:to>
                                    </p:set>
                                    <p:animEffect transition="in" filter="wipe(left)">
                                      <p:cBhvr>
                                        <p:cTn id="17" dur="1000"/>
                                        <p:tgtEl>
                                          <p:spTgt spid="21709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7094"/>
                                        </p:tgtEl>
                                        <p:attrNameLst>
                                          <p:attrName>style.visibility</p:attrName>
                                        </p:attrNameLst>
                                      </p:cBhvr>
                                      <p:to>
                                        <p:strVal val="visible"/>
                                      </p:to>
                                    </p:set>
                                    <p:animEffect transition="in" filter="wipe(left)">
                                      <p:cBhvr>
                                        <p:cTn id="22" dur="1000"/>
                                        <p:tgtEl>
                                          <p:spTgt spid="217094"/>
                                        </p:tgtEl>
                                      </p:cBhvr>
                                    </p:animEffect>
                                  </p:childTnLst>
                                </p:cTn>
                              </p:par>
                            </p:childTnLst>
                          </p:cTn>
                        </p:par>
                        <p:par>
                          <p:cTn id="23" fill="hold" nodeType="withGroup">
                            <p:stCondLst>
                              <p:cond delay="1000"/>
                            </p:stCondLst>
                            <p:childTnLst>
                              <p:par>
                                <p:cTn id="24" presetID="22" presetClass="entr" presetSubtype="8" fill="hold" nodeType="afterEffect">
                                  <p:stCondLst>
                                    <p:cond delay="0"/>
                                  </p:stCondLst>
                                  <p:childTnLst>
                                    <p:set>
                                      <p:cBhvr>
                                        <p:cTn id="25" dur="1" fill="hold">
                                          <p:stCondLst>
                                            <p:cond delay="0"/>
                                          </p:stCondLst>
                                        </p:cTn>
                                        <p:tgtEl>
                                          <p:spTgt spid="217095"/>
                                        </p:tgtEl>
                                        <p:attrNameLst>
                                          <p:attrName>style.visibility</p:attrName>
                                        </p:attrNameLst>
                                      </p:cBhvr>
                                      <p:to>
                                        <p:strVal val="visible"/>
                                      </p:to>
                                    </p:set>
                                    <p:animEffect transition="in" filter="wipe(left)">
                                      <p:cBhvr>
                                        <p:cTn id="26" dur="2000"/>
                                        <p:tgtEl>
                                          <p:spTgt spid="2170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0" grpId="0"/>
      <p:bldP spid="21709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3" name="Object 8"/>
          <p:cNvGraphicFramePr>
            <a:graphicFrameLocks noChangeAspect="1"/>
          </p:cNvGraphicFramePr>
          <p:nvPr/>
        </p:nvGraphicFramePr>
        <p:xfrm>
          <a:off x="1178892" y="1105580"/>
          <a:ext cx="2312988" cy="1069975"/>
        </p:xfrm>
        <a:graphic>
          <a:graphicData uri="http://schemas.openxmlformats.org/presentationml/2006/ole">
            <p:oleObj spid="_x0000_s65538" name="Equation" r:id="rId3" imgW="825480" imgH="393480" progId="Equation.DSMT4">
              <p:embed/>
            </p:oleObj>
          </a:graphicData>
        </a:graphic>
      </p:graphicFrame>
      <p:grpSp>
        <p:nvGrpSpPr>
          <p:cNvPr id="11" name="组合 10"/>
          <p:cNvGrpSpPr/>
          <p:nvPr/>
        </p:nvGrpSpPr>
        <p:grpSpPr>
          <a:xfrm>
            <a:off x="395536" y="2607940"/>
            <a:ext cx="2536924" cy="1416943"/>
            <a:chOff x="523751" y="3544044"/>
            <a:chExt cx="2536924" cy="1416943"/>
          </a:xfrm>
        </p:grpSpPr>
        <p:graphicFrame>
          <p:nvGraphicFramePr>
            <p:cNvPr id="40969" name="Object 13"/>
            <p:cNvGraphicFramePr>
              <a:graphicFrameLocks noChangeAspect="1"/>
            </p:cNvGraphicFramePr>
            <p:nvPr/>
          </p:nvGraphicFramePr>
          <p:xfrm>
            <a:off x="1763688" y="3544044"/>
            <a:ext cx="1296987" cy="1181100"/>
          </p:xfrm>
          <a:graphic>
            <a:graphicData uri="http://schemas.openxmlformats.org/presentationml/2006/ole">
              <p:oleObj spid="_x0000_s65539" name="Equation" r:id="rId4" imgW="431640" imgH="393480" progId="Equation.DSMT4">
                <p:embed/>
              </p:oleObj>
            </a:graphicData>
          </a:graphic>
        </p:graphicFrame>
        <p:sp>
          <p:nvSpPr>
            <p:cNvPr id="17" name="TextBox 16"/>
            <p:cNvSpPr txBox="1">
              <a:spLocks noChangeArrowheads="1"/>
            </p:cNvSpPr>
            <p:nvPr/>
          </p:nvSpPr>
          <p:spPr bwMode="auto">
            <a:xfrm>
              <a:off x="523751" y="4437112"/>
              <a:ext cx="1262063" cy="523875"/>
            </a:xfrm>
            <a:prstGeom prst="rect">
              <a:avLst/>
            </a:prstGeom>
            <a:noFill/>
            <a:ln w="9525">
              <a:noFill/>
              <a:miter lim="800000"/>
              <a:headEnd/>
              <a:tailEnd/>
            </a:ln>
          </p:spPr>
          <p:txBody>
            <a:bodyPr wrap="none">
              <a:spAutoFit/>
            </a:bodyPr>
            <a:lstStyle/>
            <a:p>
              <a:r>
                <a:rPr lang="zh-CN" altLang="en-US" sz="2800" b="1" dirty="0">
                  <a:solidFill>
                    <a:srgbClr val="000000"/>
                  </a:solidFill>
                </a:rPr>
                <a:t>定义：</a:t>
              </a:r>
            </a:p>
          </p:txBody>
        </p:sp>
      </p:grpSp>
      <p:grpSp>
        <p:nvGrpSpPr>
          <p:cNvPr id="20" name="组合 19"/>
          <p:cNvGrpSpPr/>
          <p:nvPr/>
        </p:nvGrpSpPr>
        <p:grpSpPr>
          <a:xfrm>
            <a:off x="1619672" y="3956471"/>
            <a:ext cx="7272808" cy="1128713"/>
            <a:chOff x="1187624" y="2276872"/>
            <a:chExt cx="7272808" cy="1128713"/>
          </a:xfrm>
        </p:grpSpPr>
        <p:graphicFrame>
          <p:nvGraphicFramePr>
            <p:cNvPr id="16" name="Object 4"/>
            <p:cNvGraphicFramePr>
              <a:graphicFrameLocks noChangeAspect="1"/>
            </p:cNvGraphicFramePr>
            <p:nvPr/>
          </p:nvGraphicFramePr>
          <p:xfrm>
            <a:off x="1187624" y="2276872"/>
            <a:ext cx="4318000" cy="1128713"/>
          </p:xfrm>
          <a:graphic>
            <a:graphicData uri="http://schemas.openxmlformats.org/presentationml/2006/ole">
              <p:oleObj spid="_x0000_s65540" name="Equation" r:id="rId5" imgW="1650960" imgH="431640" progId="Equation.DSMT4">
                <p:embed/>
              </p:oleObj>
            </a:graphicData>
          </a:graphic>
        </p:graphicFrame>
        <p:sp>
          <p:nvSpPr>
            <p:cNvPr id="18" name="TextBox 17"/>
            <p:cNvSpPr txBox="1">
              <a:spLocks noChangeArrowheads="1"/>
            </p:cNvSpPr>
            <p:nvPr/>
          </p:nvSpPr>
          <p:spPr bwMode="auto">
            <a:xfrm>
              <a:off x="5580112" y="2564904"/>
              <a:ext cx="2880320" cy="523875"/>
            </a:xfrm>
            <a:prstGeom prst="rect">
              <a:avLst/>
            </a:prstGeom>
            <a:noFill/>
            <a:ln w="9525">
              <a:noFill/>
              <a:miter lim="800000"/>
              <a:headEnd/>
              <a:tailEnd/>
            </a:ln>
          </p:spPr>
          <p:txBody>
            <a:bodyPr wrap="square">
              <a:spAutoFit/>
            </a:bodyPr>
            <a:lstStyle/>
            <a:p>
              <a:r>
                <a:rPr lang="zh-CN" altLang="en-US" sz="2800" b="1" dirty="0">
                  <a:solidFill>
                    <a:srgbClr val="000000"/>
                  </a:solidFill>
                </a:rPr>
                <a:t>为玻尔兹曼</a:t>
              </a:r>
              <a:r>
                <a:rPr lang="zh-CN" altLang="en-US" sz="2800" b="1" dirty="0" smtClean="0">
                  <a:solidFill>
                    <a:srgbClr val="000000"/>
                  </a:solidFill>
                </a:rPr>
                <a:t>常数</a:t>
              </a:r>
              <a:endParaRPr lang="zh-CN" altLang="en-US" sz="2800" b="1" dirty="0">
                <a:solidFill>
                  <a:srgbClr val="000000"/>
                </a:solidFill>
              </a:endParaRPr>
            </a:p>
          </p:txBody>
        </p:sp>
      </p:grpSp>
      <p:sp>
        <p:nvSpPr>
          <p:cNvPr id="15369" name="Text Box 58"/>
          <p:cNvSpPr txBox="1">
            <a:spLocks noChangeArrowheads="1"/>
          </p:cNvSpPr>
          <p:nvPr/>
        </p:nvSpPr>
        <p:spPr bwMode="auto">
          <a:xfrm>
            <a:off x="271264" y="457508"/>
            <a:ext cx="4876800" cy="624595"/>
          </a:xfrm>
          <a:prstGeom prst="rect">
            <a:avLst/>
          </a:prstGeom>
          <a:noFill/>
          <a:ln w="28575">
            <a:noFill/>
            <a:miter lim="800000"/>
            <a:headEnd/>
            <a:tailEnd/>
          </a:ln>
        </p:spPr>
        <p:txBody>
          <a:bodyPr>
            <a:spAutoFit/>
          </a:bodyPr>
          <a:lstStyle/>
          <a:p>
            <a:pPr>
              <a:lnSpc>
                <a:spcPct val="120000"/>
              </a:lnSpc>
              <a:spcBef>
                <a:spcPct val="50000"/>
              </a:spcBef>
            </a:pPr>
            <a:r>
              <a:rPr lang="zh-CN" altLang="en-US" sz="3200" b="1" dirty="0" smtClean="0">
                <a:solidFill>
                  <a:srgbClr val="CC0000"/>
                </a:solidFill>
              </a:rPr>
              <a:t>四、理</a:t>
            </a:r>
            <a:r>
              <a:rPr lang="zh-CN" altLang="en-US" sz="3200" b="1" dirty="0">
                <a:solidFill>
                  <a:srgbClr val="CC0000"/>
                </a:solidFill>
              </a:rPr>
              <a:t>想气体的温度</a:t>
            </a:r>
          </a:p>
        </p:txBody>
      </p:sp>
      <p:sp>
        <p:nvSpPr>
          <p:cNvPr id="10" name="灯片编号占位符 1"/>
          <p:cNvSpPr txBox="1">
            <a:spLocks/>
          </p:cNvSpPr>
          <p:nvPr/>
        </p:nvSpPr>
        <p:spPr bwMode="auto">
          <a:xfrm>
            <a:off x="8606357" y="6584504"/>
            <a:ext cx="574155" cy="300880"/>
          </a:xfrm>
          <a:prstGeom prst="rect">
            <a:avLst/>
          </a:prstGeom>
          <a:noFill/>
          <a:ln>
            <a:miter lim="800000"/>
            <a:headEnd/>
            <a:tailEnd/>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22E3302-AC1D-47C1-A1C9-47DFDD07C79E}" type="slidenum">
              <a:rPr kumimoji="0" lang="en-US" altLang="zh-CN" sz="1400" b="0" i="0" u="none" strike="noStrike" kern="1200" cap="none" spc="0" normalizeH="0" baseline="0" noProof="0" smtClean="0">
                <a:ln>
                  <a:noFill/>
                </a:ln>
                <a:solidFill>
                  <a:schemeClr val="tx1"/>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zh-CN" sz="1400" b="0" i="0" u="none" strike="noStrike" kern="1200" cap="none" spc="0" normalizeH="0" baseline="0" noProof="0" dirty="0">
              <a:ln>
                <a:noFill/>
              </a:ln>
              <a:solidFill>
                <a:schemeClr val="tx1"/>
              </a:solidFill>
              <a:effectLst/>
              <a:uLnTx/>
              <a:uFillTx/>
              <a:latin typeface="Arial" charset="0"/>
              <a:ea typeface="宋体" pitchFamily="2" charset="-122"/>
              <a:cs typeface="+mn-cs"/>
            </a:endParaRPr>
          </a:p>
        </p:txBody>
      </p:sp>
      <p:graphicFrame>
        <p:nvGraphicFramePr>
          <p:cNvPr id="2" name="Object 8"/>
          <p:cNvGraphicFramePr>
            <a:graphicFrameLocks noChangeAspect="1"/>
          </p:cNvGraphicFramePr>
          <p:nvPr/>
        </p:nvGraphicFramePr>
        <p:xfrm>
          <a:off x="1187624" y="5529520"/>
          <a:ext cx="3913188" cy="1174750"/>
        </p:xfrm>
        <a:graphic>
          <a:graphicData uri="http://schemas.openxmlformats.org/presentationml/2006/ole">
            <p:oleObj spid="_x0000_s65542" name="Equation" r:id="rId6" imgW="1396800" imgH="431640" progId="Equation.DSMT4">
              <p:embed/>
            </p:oleObj>
          </a:graphicData>
        </a:graphic>
      </p:graphicFrame>
      <p:sp>
        <p:nvSpPr>
          <p:cNvPr id="13" name="任意多边形 12"/>
          <p:cNvSpPr/>
          <p:nvPr/>
        </p:nvSpPr>
        <p:spPr>
          <a:xfrm>
            <a:off x="1891941" y="5517088"/>
            <a:ext cx="945338" cy="1056915"/>
          </a:xfrm>
          <a:custGeom>
            <a:avLst/>
            <a:gdLst>
              <a:gd name="connsiteX0" fmla="*/ 614027 w 945338"/>
              <a:gd name="connsiteY0" fmla="*/ 157480 h 1056915"/>
              <a:gd name="connsiteX1" fmla="*/ 608947 w 945338"/>
              <a:gd name="connsiteY1" fmla="*/ 314960 h 1056915"/>
              <a:gd name="connsiteX2" fmla="*/ 598787 w 945338"/>
              <a:gd name="connsiteY2" fmla="*/ 335280 h 1056915"/>
              <a:gd name="connsiteX3" fmla="*/ 588627 w 945338"/>
              <a:gd name="connsiteY3" fmla="*/ 386080 h 1056915"/>
              <a:gd name="connsiteX4" fmla="*/ 583547 w 945338"/>
              <a:gd name="connsiteY4" fmla="*/ 401320 h 1056915"/>
              <a:gd name="connsiteX5" fmla="*/ 542907 w 945338"/>
              <a:gd name="connsiteY5" fmla="*/ 452120 h 1056915"/>
              <a:gd name="connsiteX6" fmla="*/ 517507 w 945338"/>
              <a:gd name="connsiteY6" fmla="*/ 477520 h 1056915"/>
              <a:gd name="connsiteX7" fmla="*/ 492107 w 945338"/>
              <a:gd name="connsiteY7" fmla="*/ 502920 h 1056915"/>
              <a:gd name="connsiteX8" fmla="*/ 476867 w 945338"/>
              <a:gd name="connsiteY8" fmla="*/ 518160 h 1056915"/>
              <a:gd name="connsiteX9" fmla="*/ 456547 w 945338"/>
              <a:gd name="connsiteY9" fmla="*/ 528320 h 1056915"/>
              <a:gd name="connsiteX10" fmla="*/ 405747 w 945338"/>
              <a:gd name="connsiteY10" fmla="*/ 543560 h 1056915"/>
              <a:gd name="connsiteX11" fmla="*/ 365107 w 945338"/>
              <a:gd name="connsiteY11" fmla="*/ 563880 h 1056915"/>
              <a:gd name="connsiteX12" fmla="*/ 314307 w 945338"/>
              <a:gd name="connsiteY12" fmla="*/ 568960 h 1056915"/>
              <a:gd name="connsiteX13" fmla="*/ 258427 w 945338"/>
              <a:gd name="connsiteY13" fmla="*/ 589280 h 1056915"/>
              <a:gd name="connsiteX14" fmla="*/ 243187 w 945338"/>
              <a:gd name="connsiteY14" fmla="*/ 594360 h 1056915"/>
              <a:gd name="connsiteX15" fmla="*/ 222867 w 945338"/>
              <a:gd name="connsiteY15" fmla="*/ 599440 h 1056915"/>
              <a:gd name="connsiteX16" fmla="*/ 202547 w 945338"/>
              <a:gd name="connsiteY16" fmla="*/ 609600 h 1056915"/>
              <a:gd name="connsiteX17" fmla="*/ 182227 w 945338"/>
              <a:gd name="connsiteY17" fmla="*/ 614680 h 1056915"/>
              <a:gd name="connsiteX18" fmla="*/ 146667 w 945338"/>
              <a:gd name="connsiteY18" fmla="*/ 635000 h 1056915"/>
              <a:gd name="connsiteX19" fmla="*/ 116187 w 945338"/>
              <a:gd name="connsiteY19" fmla="*/ 645160 h 1056915"/>
              <a:gd name="connsiteX20" fmla="*/ 100947 w 945338"/>
              <a:gd name="connsiteY20" fmla="*/ 650240 h 1056915"/>
              <a:gd name="connsiteX21" fmla="*/ 55227 w 945338"/>
              <a:gd name="connsiteY21" fmla="*/ 675640 h 1056915"/>
              <a:gd name="connsiteX22" fmla="*/ 39987 w 945338"/>
              <a:gd name="connsiteY22" fmla="*/ 690880 h 1056915"/>
              <a:gd name="connsiteX23" fmla="*/ 19667 w 945338"/>
              <a:gd name="connsiteY23" fmla="*/ 878840 h 1056915"/>
              <a:gd name="connsiteX24" fmla="*/ 29827 w 945338"/>
              <a:gd name="connsiteY24" fmla="*/ 909320 h 1056915"/>
              <a:gd name="connsiteX25" fmla="*/ 39987 w 945338"/>
              <a:gd name="connsiteY25" fmla="*/ 924560 h 1056915"/>
              <a:gd name="connsiteX26" fmla="*/ 50147 w 945338"/>
              <a:gd name="connsiteY26" fmla="*/ 955040 h 1056915"/>
              <a:gd name="connsiteX27" fmla="*/ 65387 w 945338"/>
              <a:gd name="connsiteY27" fmla="*/ 970280 h 1056915"/>
              <a:gd name="connsiteX28" fmla="*/ 95867 w 945338"/>
              <a:gd name="connsiteY28" fmla="*/ 995680 h 1056915"/>
              <a:gd name="connsiteX29" fmla="*/ 106027 w 945338"/>
              <a:gd name="connsiteY29" fmla="*/ 1010920 h 1056915"/>
              <a:gd name="connsiteX30" fmla="*/ 121267 w 945338"/>
              <a:gd name="connsiteY30" fmla="*/ 1026160 h 1056915"/>
              <a:gd name="connsiteX31" fmla="*/ 161907 w 945338"/>
              <a:gd name="connsiteY31" fmla="*/ 1051560 h 1056915"/>
              <a:gd name="connsiteX32" fmla="*/ 182227 w 945338"/>
              <a:gd name="connsiteY32" fmla="*/ 1056640 h 1056915"/>
              <a:gd name="connsiteX33" fmla="*/ 217787 w 945338"/>
              <a:gd name="connsiteY33" fmla="*/ 1051560 h 1056915"/>
              <a:gd name="connsiteX34" fmla="*/ 222867 w 945338"/>
              <a:gd name="connsiteY34" fmla="*/ 1036320 h 1056915"/>
              <a:gd name="connsiteX35" fmla="*/ 258427 w 945338"/>
              <a:gd name="connsiteY35" fmla="*/ 1005840 h 1056915"/>
              <a:gd name="connsiteX36" fmla="*/ 288907 w 945338"/>
              <a:gd name="connsiteY36" fmla="*/ 980440 h 1056915"/>
              <a:gd name="connsiteX37" fmla="*/ 314307 w 945338"/>
              <a:gd name="connsiteY37" fmla="*/ 949960 h 1056915"/>
              <a:gd name="connsiteX38" fmla="*/ 324467 w 945338"/>
              <a:gd name="connsiteY38" fmla="*/ 934720 h 1056915"/>
              <a:gd name="connsiteX39" fmla="*/ 354947 w 945338"/>
              <a:gd name="connsiteY39" fmla="*/ 904240 h 1056915"/>
              <a:gd name="connsiteX40" fmla="*/ 385427 w 945338"/>
              <a:gd name="connsiteY40" fmla="*/ 858520 h 1056915"/>
              <a:gd name="connsiteX41" fmla="*/ 395587 w 945338"/>
              <a:gd name="connsiteY41" fmla="*/ 843280 h 1056915"/>
              <a:gd name="connsiteX42" fmla="*/ 400667 w 945338"/>
              <a:gd name="connsiteY42" fmla="*/ 828040 h 1056915"/>
              <a:gd name="connsiteX43" fmla="*/ 431147 w 945338"/>
              <a:gd name="connsiteY43" fmla="*/ 802640 h 1056915"/>
              <a:gd name="connsiteX44" fmla="*/ 461627 w 945338"/>
              <a:gd name="connsiteY44" fmla="*/ 767080 h 1056915"/>
              <a:gd name="connsiteX45" fmla="*/ 476867 w 945338"/>
              <a:gd name="connsiteY45" fmla="*/ 741680 h 1056915"/>
              <a:gd name="connsiteX46" fmla="*/ 502267 w 945338"/>
              <a:gd name="connsiteY46" fmla="*/ 731520 h 1056915"/>
              <a:gd name="connsiteX47" fmla="*/ 532747 w 945338"/>
              <a:gd name="connsiteY47" fmla="*/ 711200 h 1056915"/>
              <a:gd name="connsiteX48" fmla="*/ 558147 w 945338"/>
              <a:gd name="connsiteY48" fmla="*/ 690880 h 1056915"/>
              <a:gd name="connsiteX49" fmla="*/ 583547 w 945338"/>
              <a:gd name="connsiteY49" fmla="*/ 670560 h 1056915"/>
              <a:gd name="connsiteX50" fmla="*/ 614027 w 945338"/>
              <a:gd name="connsiteY50" fmla="*/ 640080 h 1056915"/>
              <a:gd name="connsiteX51" fmla="*/ 629267 w 945338"/>
              <a:gd name="connsiteY51" fmla="*/ 624840 h 1056915"/>
              <a:gd name="connsiteX52" fmla="*/ 639427 w 945338"/>
              <a:gd name="connsiteY52" fmla="*/ 609600 h 1056915"/>
              <a:gd name="connsiteX53" fmla="*/ 654667 w 945338"/>
              <a:gd name="connsiteY53" fmla="*/ 599440 h 1056915"/>
              <a:gd name="connsiteX54" fmla="*/ 669907 w 945338"/>
              <a:gd name="connsiteY54" fmla="*/ 584200 h 1056915"/>
              <a:gd name="connsiteX55" fmla="*/ 685147 w 945338"/>
              <a:gd name="connsiteY55" fmla="*/ 574040 h 1056915"/>
              <a:gd name="connsiteX56" fmla="*/ 715627 w 945338"/>
              <a:gd name="connsiteY56" fmla="*/ 553720 h 1056915"/>
              <a:gd name="connsiteX57" fmla="*/ 746107 w 945338"/>
              <a:gd name="connsiteY57" fmla="*/ 533400 h 1056915"/>
              <a:gd name="connsiteX58" fmla="*/ 781667 w 945338"/>
              <a:gd name="connsiteY58" fmla="*/ 502920 h 1056915"/>
              <a:gd name="connsiteX59" fmla="*/ 812147 w 945338"/>
              <a:gd name="connsiteY59" fmla="*/ 482600 h 1056915"/>
              <a:gd name="connsiteX60" fmla="*/ 837547 w 945338"/>
              <a:gd name="connsiteY60" fmla="*/ 457200 h 1056915"/>
              <a:gd name="connsiteX61" fmla="*/ 868027 w 945338"/>
              <a:gd name="connsiteY61" fmla="*/ 426720 h 1056915"/>
              <a:gd name="connsiteX62" fmla="*/ 878187 w 945338"/>
              <a:gd name="connsiteY62" fmla="*/ 396240 h 1056915"/>
              <a:gd name="connsiteX63" fmla="*/ 893427 w 945338"/>
              <a:gd name="connsiteY63" fmla="*/ 340360 h 1056915"/>
              <a:gd name="connsiteX64" fmla="*/ 903587 w 945338"/>
              <a:gd name="connsiteY64" fmla="*/ 309880 h 1056915"/>
              <a:gd name="connsiteX65" fmla="*/ 923907 w 945338"/>
              <a:gd name="connsiteY65" fmla="*/ 259080 h 1056915"/>
              <a:gd name="connsiteX66" fmla="*/ 928987 w 945338"/>
              <a:gd name="connsiteY66" fmla="*/ 243840 h 1056915"/>
              <a:gd name="connsiteX67" fmla="*/ 944227 w 945338"/>
              <a:gd name="connsiteY67" fmla="*/ 213360 h 1056915"/>
              <a:gd name="connsiteX68" fmla="*/ 939147 w 945338"/>
              <a:gd name="connsiteY68" fmla="*/ 40640 h 1056915"/>
              <a:gd name="connsiteX69" fmla="*/ 923907 w 945338"/>
              <a:gd name="connsiteY69" fmla="*/ 25400 h 1056915"/>
              <a:gd name="connsiteX70" fmla="*/ 903587 w 945338"/>
              <a:gd name="connsiteY70" fmla="*/ 20320 h 1056915"/>
              <a:gd name="connsiteX71" fmla="*/ 862947 w 945338"/>
              <a:gd name="connsiteY71" fmla="*/ 0 h 1056915"/>
              <a:gd name="connsiteX72" fmla="*/ 771507 w 945338"/>
              <a:gd name="connsiteY72" fmla="*/ 5080 h 1056915"/>
              <a:gd name="connsiteX73" fmla="*/ 751187 w 945338"/>
              <a:gd name="connsiteY73" fmla="*/ 10160 h 1056915"/>
              <a:gd name="connsiteX74" fmla="*/ 690227 w 945338"/>
              <a:gd name="connsiteY74" fmla="*/ 60960 h 1056915"/>
              <a:gd name="connsiteX75" fmla="*/ 654667 w 945338"/>
              <a:gd name="connsiteY75" fmla="*/ 86360 h 1056915"/>
              <a:gd name="connsiteX76" fmla="*/ 644507 w 945338"/>
              <a:gd name="connsiteY76" fmla="*/ 101600 h 1056915"/>
              <a:gd name="connsiteX77" fmla="*/ 629267 w 945338"/>
              <a:gd name="connsiteY77" fmla="*/ 116840 h 1056915"/>
              <a:gd name="connsiteX78" fmla="*/ 614027 w 945338"/>
              <a:gd name="connsiteY78" fmla="*/ 157480 h 1056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945338" h="1056915">
                <a:moveTo>
                  <a:pt x="614027" y="157480"/>
                </a:moveTo>
                <a:cubicBezTo>
                  <a:pt x="610640" y="190500"/>
                  <a:pt x="613432" y="262631"/>
                  <a:pt x="608947" y="314960"/>
                </a:cubicBezTo>
                <a:cubicBezTo>
                  <a:pt x="608300" y="322505"/>
                  <a:pt x="600867" y="327999"/>
                  <a:pt x="598787" y="335280"/>
                </a:cubicBezTo>
                <a:cubicBezTo>
                  <a:pt x="594043" y="351884"/>
                  <a:pt x="594088" y="369697"/>
                  <a:pt x="588627" y="386080"/>
                </a:cubicBezTo>
                <a:cubicBezTo>
                  <a:pt x="586934" y="391160"/>
                  <a:pt x="586148" y="396639"/>
                  <a:pt x="583547" y="401320"/>
                </a:cubicBezTo>
                <a:cubicBezTo>
                  <a:pt x="560343" y="443088"/>
                  <a:pt x="569956" y="420563"/>
                  <a:pt x="542907" y="452120"/>
                </a:cubicBezTo>
                <a:cubicBezTo>
                  <a:pt x="520329" y="478461"/>
                  <a:pt x="546858" y="457953"/>
                  <a:pt x="517507" y="477520"/>
                </a:cubicBezTo>
                <a:cubicBezTo>
                  <a:pt x="498880" y="505460"/>
                  <a:pt x="517507" y="481753"/>
                  <a:pt x="492107" y="502920"/>
                </a:cubicBezTo>
                <a:cubicBezTo>
                  <a:pt x="486588" y="507519"/>
                  <a:pt x="482713" y="513984"/>
                  <a:pt x="476867" y="518160"/>
                </a:cubicBezTo>
                <a:cubicBezTo>
                  <a:pt x="470705" y="522562"/>
                  <a:pt x="463578" y="525508"/>
                  <a:pt x="456547" y="528320"/>
                </a:cubicBezTo>
                <a:cubicBezTo>
                  <a:pt x="435934" y="536565"/>
                  <a:pt x="425706" y="538570"/>
                  <a:pt x="405747" y="543560"/>
                </a:cubicBezTo>
                <a:cubicBezTo>
                  <a:pt x="391835" y="552835"/>
                  <a:pt x="382861" y="560329"/>
                  <a:pt x="365107" y="563880"/>
                </a:cubicBezTo>
                <a:cubicBezTo>
                  <a:pt x="348420" y="567217"/>
                  <a:pt x="331240" y="567267"/>
                  <a:pt x="314307" y="568960"/>
                </a:cubicBezTo>
                <a:cubicBezTo>
                  <a:pt x="250271" y="590305"/>
                  <a:pt x="314977" y="568074"/>
                  <a:pt x="258427" y="589280"/>
                </a:cubicBezTo>
                <a:cubicBezTo>
                  <a:pt x="253413" y="591160"/>
                  <a:pt x="248336" y="592889"/>
                  <a:pt x="243187" y="594360"/>
                </a:cubicBezTo>
                <a:cubicBezTo>
                  <a:pt x="236474" y="596278"/>
                  <a:pt x="229404" y="596989"/>
                  <a:pt x="222867" y="599440"/>
                </a:cubicBezTo>
                <a:cubicBezTo>
                  <a:pt x="215776" y="602099"/>
                  <a:pt x="209638" y="606941"/>
                  <a:pt x="202547" y="609600"/>
                </a:cubicBezTo>
                <a:cubicBezTo>
                  <a:pt x="196010" y="612051"/>
                  <a:pt x="188764" y="612229"/>
                  <a:pt x="182227" y="614680"/>
                </a:cubicBezTo>
                <a:cubicBezTo>
                  <a:pt x="117353" y="639008"/>
                  <a:pt x="199726" y="611418"/>
                  <a:pt x="146667" y="635000"/>
                </a:cubicBezTo>
                <a:cubicBezTo>
                  <a:pt x="136880" y="639350"/>
                  <a:pt x="126347" y="641773"/>
                  <a:pt x="116187" y="645160"/>
                </a:cubicBezTo>
                <a:cubicBezTo>
                  <a:pt x="111107" y="646853"/>
                  <a:pt x="105402" y="647270"/>
                  <a:pt x="100947" y="650240"/>
                </a:cubicBezTo>
                <a:cubicBezTo>
                  <a:pt x="66012" y="673530"/>
                  <a:pt x="82051" y="666699"/>
                  <a:pt x="55227" y="675640"/>
                </a:cubicBezTo>
                <a:cubicBezTo>
                  <a:pt x="50147" y="680720"/>
                  <a:pt x="42935" y="684329"/>
                  <a:pt x="39987" y="690880"/>
                </a:cubicBezTo>
                <a:cubicBezTo>
                  <a:pt x="0" y="779740"/>
                  <a:pt x="4439" y="779861"/>
                  <a:pt x="19667" y="878840"/>
                </a:cubicBezTo>
                <a:cubicBezTo>
                  <a:pt x="21295" y="889425"/>
                  <a:pt x="23886" y="900409"/>
                  <a:pt x="29827" y="909320"/>
                </a:cubicBezTo>
                <a:cubicBezTo>
                  <a:pt x="33214" y="914400"/>
                  <a:pt x="37507" y="918981"/>
                  <a:pt x="39987" y="924560"/>
                </a:cubicBezTo>
                <a:cubicBezTo>
                  <a:pt x="44337" y="934347"/>
                  <a:pt x="42574" y="947467"/>
                  <a:pt x="50147" y="955040"/>
                </a:cubicBezTo>
                <a:cubicBezTo>
                  <a:pt x="55227" y="960120"/>
                  <a:pt x="59868" y="965681"/>
                  <a:pt x="65387" y="970280"/>
                </a:cubicBezTo>
                <a:cubicBezTo>
                  <a:pt x="87183" y="988444"/>
                  <a:pt x="75629" y="971394"/>
                  <a:pt x="95867" y="995680"/>
                </a:cubicBezTo>
                <a:cubicBezTo>
                  <a:pt x="99776" y="1000370"/>
                  <a:pt x="102118" y="1006230"/>
                  <a:pt x="106027" y="1010920"/>
                </a:cubicBezTo>
                <a:cubicBezTo>
                  <a:pt x="110626" y="1016439"/>
                  <a:pt x="115812" y="1021485"/>
                  <a:pt x="121267" y="1026160"/>
                </a:cubicBezTo>
                <a:cubicBezTo>
                  <a:pt x="133698" y="1036815"/>
                  <a:pt x="146489" y="1045778"/>
                  <a:pt x="161907" y="1051560"/>
                </a:cubicBezTo>
                <a:cubicBezTo>
                  <a:pt x="168444" y="1054011"/>
                  <a:pt x="175454" y="1054947"/>
                  <a:pt x="182227" y="1056640"/>
                </a:cubicBezTo>
                <a:cubicBezTo>
                  <a:pt x="194080" y="1054947"/>
                  <a:pt x="207077" y="1056915"/>
                  <a:pt x="217787" y="1051560"/>
                </a:cubicBezTo>
                <a:cubicBezTo>
                  <a:pt x="222576" y="1049165"/>
                  <a:pt x="219897" y="1040775"/>
                  <a:pt x="222867" y="1036320"/>
                </a:cubicBezTo>
                <a:cubicBezTo>
                  <a:pt x="231271" y="1023715"/>
                  <a:pt x="247472" y="1015230"/>
                  <a:pt x="258427" y="1005840"/>
                </a:cubicBezTo>
                <a:cubicBezTo>
                  <a:pt x="292652" y="976504"/>
                  <a:pt x="255224" y="1002895"/>
                  <a:pt x="288907" y="980440"/>
                </a:cubicBezTo>
                <a:cubicBezTo>
                  <a:pt x="298609" y="951333"/>
                  <a:pt x="286628" y="977639"/>
                  <a:pt x="314307" y="949960"/>
                </a:cubicBezTo>
                <a:cubicBezTo>
                  <a:pt x="318624" y="945643"/>
                  <a:pt x="320411" y="939283"/>
                  <a:pt x="324467" y="934720"/>
                </a:cubicBezTo>
                <a:cubicBezTo>
                  <a:pt x="334013" y="923981"/>
                  <a:pt x="346977" y="916195"/>
                  <a:pt x="354947" y="904240"/>
                </a:cubicBezTo>
                <a:lnTo>
                  <a:pt x="385427" y="858520"/>
                </a:lnTo>
                <a:cubicBezTo>
                  <a:pt x="388814" y="853440"/>
                  <a:pt x="393656" y="849072"/>
                  <a:pt x="395587" y="843280"/>
                </a:cubicBezTo>
                <a:cubicBezTo>
                  <a:pt x="397280" y="838200"/>
                  <a:pt x="397697" y="832495"/>
                  <a:pt x="400667" y="828040"/>
                </a:cubicBezTo>
                <a:cubicBezTo>
                  <a:pt x="408490" y="816306"/>
                  <a:pt x="419902" y="810137"/>
                  <a:pt x="431147" y="802640"/>
                </a:cubicBezTo>
                <a:cubicBezTo>
                  <a:pt x="467558" y="748023"/>
                  <a:pt x="404140" y="840992"/>
                  <a:pt x="461627" y="767080"/>
                </a:cubicBezTo>
                <a:cubicBezTo>
                  <a:pt x="467689" y="759286"/>
                  <a:pt x="469436" y="748182"/>
                  <a:pt x="476867" y="741680"/>
                </a:cubicBezTo>
                <a:cubicBezTo>
                  <a:pt x="483730" y="735675"/>
                  <a:pt x="494262" y="735887"/>
                  <a:pt x="502267" y="731520"/>
                </a:cubicBezTo>
                <a:cubicBezTo>
                  <a:pt x="512987" y="725673"/>
                  <a:pt x="532747" y="711200"/>
                  <a:pt x="532747" y="711200"/>
                </a:cubicBezTo>
                <a:cubicBezTo>
                  <a:pt x="561864" y="667524"/>
                  <a:pt x="523094" y="718923"/>
                  <a:pt x="558147" y="690880"/>
                </a:cubicBezTo>
                <a:cubicBezTo>
                  <a:pt x="590973" y="664619"/>
                  <a:pt x="545241" y="683329"/>
                  <a:pt x="583547" y="670560"/>
                </a:cubicBezTo>
                <a:lnTo>
                  <a:pt x="614027" y="640080"/>
                </a:lnTo>
                <a:cubicBezTo>
                  <a:pt x="619107" y="635000"/>
                  <a:pt x="625282" y="630818"/>
                  <a:pt x="629267" y="624840"/>
                </a:cubicBezTo>
                <a:cubicBezTo>
                  <a:pt x="632654" y="619760"/>
                  <a:pt x="635110" y="613917"/>
                  <a:pt x="639427" y="609600"/>
                </a:cubicBezTo>
                <a:cubicBezTo>
                  <a:pt x="643744" y="605283"/>
                  <a:pt x="649977" y="603349"/>
                  <a:pt x="654667" y="599440"/>
                </a:cubicBezTo>
                <a:cubicBezTo>
                  <a:pt x="660186" y="594841"/>
                  <a:pt x="664388" y="588799"/>
                  <a:pt x="669907" y="584200"/>
                </a:cubicBezTo>
                <a:cubicBezTo>
                  <a:pt x="674597" y="580291"/>
                  <a:pt x="680457" y="577949"/>
                  <a:pt x="685147" y="574040"/>
                </a:cubicBezTo>
                <a:cubicBezTo>
                  <a:pt x="710516" y="552900"/>
                  <a:pt x="688844" y="562648"/>
                  <a:pt x="715627" y="553720"/>
                </a:cubicBezTo>
                <a:cubicBezTo>
                  <a:pt x="751093" y="518254"/>
                  <a:pt x="711798" y="553005"/>
                  <a:pt x="746107" y="533400"/>
                </a:cubicBezTo>
                <a:cubicBezTo>
                  <a:pt x="776556" y="516000"/>
                  <a:pt x="756722" y="522322"/>
                  <a:pt x="781667" y="502920"/>
                </a:cubicBezTo>
                <a:cubicBezTo>
                  <a:pt x="791306" y="495423"/>
                  <a:pt x="812147" y="482600"/>
                  <a:pt x="812147" y="482600"/>
                </a:cubicBezTo>
                <a:cubicBezTo>
                  <a:pt x="833083" y="451196"/>
                  <a:pt x="809838" y="481830"/>
                  <a:pt x="837547" y="457200"/>
                </a:cubicBezTo>
                <a:cubicBezTo>
                  <a:pt x="848286" y="447654"/>
                  <a:pt x="868027" y="426720"/>
                  <a:pt x="868027" y="426720"/>
                </a:cubicBezTo>
                <a:cubicBezTo>
                  <a:pt x="871414" y="416560"/>
                  <a:pt x="875590" y="406630"/>
                  <a:pt x="878187" y="396240"/>
                </a:cubicBezTo>
                <a:cubicBezTo>
                  <a:pt x="883977" y="373081"/>
                  <a:pt x="885375" y="366529"/>
                  <a:pt x="893427" y="340360"/>
                </a:cubicBezTo>
                <a:cubicBezTo>
                  <a:pt x="896577" y="330124"/>
                  <a:pt x="898798" y="319459"/>
                  <a:pt x="903587" y="309880"/>
                </a:cubicBezTo>
                <a:cubicBezTo>
                  <a:pt x="918536" y="279981"/>
                  <a:pt x="911352" y="296744"/>
                  <a:pt x="923907" y="259080"/>
                </a:cubicBezTo>
                <a:cubicBezTo>
                  <a:pt x="925600" y="254000"/>
                  <a:pt x="926017" y="248295"/>
                  <a:pt x="928987" y="243840"/>
                </a:cubicBezTo>
                <a:cubicBezTo>
                  <a:pt x="942117" y="224145"/>
                  <a:pt x="937216" y="234392"/>
                  <a:pt x="944227" y="213360"/>
                </a:cubicBezTo>
                <a:cubicBezTo>
                  <a:pt x="942534" y="155787"/>
                  <a:pt x="945338" y="97905"/>
                  <a:pt x="939147" y="40640"/>
                </a:cubicBezTo>
                <a:cubicBezTo>
                  <a:pt x="938375" y="33497"/>
                  <a:pt x="930145" y="28964"/>
                  <a:pt x="923907" y="25400"/>
                </a:cubicBezTo>
                <a:cubicBezTo>
                  <a:pt x="917845" y="21936"/>
                  <a:pt x="910211" y="22528"/>
                  <a:pt x="903587" y="20320"/>
                </a:cubicBezTo>
                <a:cubicBezTo>
                  <a:pt x="878732" y="12035"/>
                  <a:pt x="881614" y="12445"/>
                  <a:pt x="862947" y="0"/>
                </a:cubicBezTo>
                <a:cubicBezTo>
                  <a:pt x="832467" y="1693"/>
                  <a:pt x="801909" y="2316"/>
                  <a:pt x="771507" y="5080"/>
                </a:cubicBezTo>
                <a:cubicBezTo>
                  <a:pt x="764554" y="5712"/>
                  <a:pt x="757432" y="7038"/>
                  <a:pt x="751187" y="10160"/>
                </a:cubicBezTo>
                <a:cubicBezTo>
                  <a:pt x="684705" y="43401"/>
                  <a:pt x="757637" y="16020"/>
                  <a:pt x="690227" y="60960"/>
                </a:cubicBezTo>
                <a:cubicBezTo>
                  <a:pt x="681574" y="66729"/>
                  <a:pt x="660968" y="80059"/>
                  <a:pt x="654667" y="86360"/>
                </a:cubicBezTo>
                <a:cubicBezTo>
                  <a:pt x="650350" y="90677"/>
                  <a:pt x="648416" y="96910"/>
                  <a:pt x="644507" y="101600"/>
                </a:cubicBezTo>
                <a:cubicBezTo>
                  <a:pt x="639908" y="107119"/>
                  <a:pt x="633678" y="111169"/>
                  <a:pt x="629267" y="116840"/>
                </a:cubicBezTo>
                <a:cubicBezTo>
                  <a:pt x="613573" y="137018"/>
                  <a:pt x="617414" y="124460"/>
                  <a:pt x="614027" y="157480"/>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13"/>
          <p:cNvSpPr/>
          <p:nvPr/>
        </p:nvSpPr>
        <p:spPr>
          <a:xfrm>
            <a:off x="2403038" y="5766008"/>
            <a:ext cx="1220530" cy="975360"/>
          </a:xfrm>
          <a:custGeom>
            <a:avLst/>
            <a:gdLst>
              <a:gd name="connsiteX0" fmla="*/ 1057970 w 1220530"/>
              <a:gd name="connsiteY0" fmla="*/ 45720 h 975360"/>
              <a:gd name="connsiteX1" fmla="*/ 997010 w 1220530"/>
              <a:gd name="connsiteY1" fmla="*/ 60960 h 975360"/>
              <a:gd name="connsiteX2" fmla="*/ 966530 w 1220530"/>
              <a:gd name="connsiteY2" fmla="*/ 76200 h 975360"/>
              <a:gd name="connsiteX3" fmla="*/ 951290 w 1220530"/>
              <a:gd name="connsiteY3" fmla="*/ 91440 h 975360"/>
              <a:gd name="connsiteX4" fmla="*/ 920810 w 1220530"/>
              <a:gd name="connsiteY4" fmla="*/ 106680 h 975360"/>
              <a:gd name="connsiteX5" fmla="*/ 880170 w 1220530"/>
              <a:gd name="connsiteY5" fmla="*/ 147320 h 975360"/>
              <a:gd name="connsiteX6" fmla="*/ 859850 w 1220530"/>
              <a:gd name="connsiteY6" fmla="*/ 167640 h 975360"/>
              <a:gd name="connsiteX7" fmla="*/ 844610 w 1220530"/>
              <a:gd name="connsiteY7" fmla="*/ 187960 h 975360"/>
              <a:gd name="connsiteX8" fmla="*/ 829370 w 1220530"/>
              <a:gd name="connsiteY8" fmla="*/ 198120 h 975360"/>
              <a:gd name="connsiteX9" fmla="*/ 809050 w 1220530"/>
              <a:gd name="connsiteY9" fmla="*/ 218440 h 975360"/>
              <a:gd name="connsiteX10" fmla="*/ 793810 w 1220530"/>
              <a:gd name="connsiteY10" fmla="*/ 238760 h 975360"/>
              <a:gd name="connsiteX11" fmla="*/ 763330 w 1220530"/>
              <a:gd name="connsiteY11" fmla="*/ 248920 h 975360"/>
              <a:gd name="connsiteX12" fmla="*/ 748090 w 1220530"/>
              <a:gd name="connsiteY12" fmla="*/ 259080 h 975360"/>
              <a:gd name="connsiteX13" fmla="*/ 732850 w 1220530"/>
              <a:gd name="connsiteY13" fmla="*/ 274320 h 975360"/>
              <a:gd name="connsiteX14" fmla="*/ 702370 w 1220530"/>
              <a:gd name="connsiteY14" fmla="*/ 284480 h 975360"/>
              <a:gd name="connsiteX15" fmla="*/ 666810 w 1220530"/>
              <a:gd name="connsiteY15" fmla="*/ 299720 h 975360"/>
              <a:gd name="connsiteX16" fmla="*/ 626170 w 1220530"/>
              <a:gd name="connsiteY16" fmla="*/ 309880 h 975360"/>
              <a:gd name="connsiteX17" fmla="*/ 605850 w 1220530"/>
              <a:gd name="connsiteY17" fmla="*/ 320040 h 975360"/>
              <a:gd name="connsiteX18" fmla="*/ 565210 w 1220530"/>
              <a:gd name="connsiteY18" fmla="*/ 330200 h 975360"/>
              <a:gd name="connsiteX19" fmla="*/ 544890 w 1220530"/>
              <a:gd name="connsiteY19" fmla="*/ 340360 h 975360"/>
              <a:gd name="connsiteX20" fmla="*/ 514410 w 1220530"/>
              <a:gd name="connsiteY20" fmla="*/ 345440 h 975360"/>
              <a:gd name="connsiteX21" fmla="*/ 438210 w 1220530"/>
              <a:gd name="connsiteY21" fmla="*/ 355600 h 975360"/>
              <a:gd name="connsiteX22" fmla="*/ 422970 w 1220530"/>
              <a:gd name="connsiteY22" fmla="*/ 360680 h 975360"/>
              <a:gd name="connsiteX23" fmla="*/ 341690 w 1220530"/>
              <a:gd name="connsiteY23" fmla="*/ 370840 h 975360"/>
              <a:gd name="connsiteX24" fmla="*/ 326450 w 1220530"/>
              <a:gd name="connsiteY24" fmla="*/ 375920 h 975360"/>
              <a:gd name="connsiteX25" fmla="*/ 275650 w 1220530"/>
              <a:gd name="connsiteY25" fmla="*/ 391160 h 975360"/>
              <a:gd name="connsiteX26" fmla="*/ 260410 w 1220530"/>
              <a:gd name="connsiteY26" fmla="*/ 396240 h 975360"/>
              <a:gd name="connsiteX27" fmla="*/ 184210 w 1220530"/>
              <a:gd name="connsiteY27" fmla="*/ 406400 h 975360"/>
              <a:gd name="connsiteX28" fmla="*/ 148650 w 1220530"/>
              <a:gd name="connsiteY28" fmla="*/ 421640 h 975360"/>
              <a:gd name="connsiteX29" fmla="*/ 118170 w 1220530"/>
              <a:gd name="connsiteY29" fmla="*/ 426720 h 975360"/>
              <a:gd name="connsiteX30" fmla="*/ 102930 w 1220530"/>
              <a:gd name="connsiteY30" fmla="*/ 436880 h 975360"/>
              <a:gd name="connsiteX31" fmla="*/ 72450 w 1220530"/>
              <a:gd name="connsiteY31" fmla="*/ 452120 h 975360"/>
              <a:gd name="connsiteX32" fmla="*/ 62290 w 1220530"/>
              <a:gd name="connsiteY32" fmla="*/ 467360 h 975360"/>
              <a:gd name="connsiteX33" fmla="*/ 52130 w 1220530"/>
              <a:gd name="connsiteY33" fmla="*/ 508000 h 975360"/>
              <a:gd name="connsiteX34" fmla="*/ 31810 w 1220530"/>
              <a:gd name="connsiteY34" fmla="*/ 553720 h 975360"/>
              <a:gd name="connsiteX35" fmla="*/ 21650 w 1220530"/>
              <a:gd name="connsiteY35" fmla="*/ 584200 h 975360"/>
              <a:gd name="connsiteX36" fmla="*/ 16570 w 1220530"/>
              <a:gd name="connsiteY36" fmla="*/ 599440 h 975360"/>
              <a:gd name="connsiteX37" fmla="*/ 11490 w 1220530"/>
              <a:gd name="connsiteY37" fmla="*/ 650240 h 975360"/>
              <a:gd name="connsiteX38" fmla="*/ 1330 w 1220530"/>
              <a:gd name="connsiteY38" fmla="*/ 680720 h 975360"/>
              <a:gd name="connsiteX39" fmla="*/ 6410 w 1220530"/>
              <a:gd name="connsiteY39" fmla="*/ 812800 h 975360"/>
              <a:gd name="connsiteX40" fmla="*/ 41970 w 1220530"/>
              <a:gd name="connsiteY40" fmla="*/ 868680 h 975360"/>
              <a:gd name="connsiteX41" fmla="*/ 87690 w 1220530"/>
              <a:gd name="connsiteY41" fmla="*/ 919480 h 975360"/>
              <a:gd name="connsiteX42" fmla="*/ 102930 w 1220530"/>
              <a:gd name="connsiteY42" fmla="*/ 929640 h 975360"/>
              <a:gd name="connsiteX43" fmla="*/ 153730 w 1220530"/>
              <a:gd name="connsiteY43" fmla="*/ 944880 h 975360"/>
              <a:gd name="connsiteX44" fmla="*/ 179130 w 1220530"/>
              <a:gd name="connsiteY44" fmla="*/ 949960 h 975360"/>
              <a:gd name="connsiteX45" fmla="*/ 194370 w 1220530"/>
              <a:gd name="connsiteY45" fmla="*/ 955040 h 975360"/>
              <a:gd name="connsiteX46" fmla="*/ 214690 w 1220530"/>
              <a:gd name="connsiteY46" fmla="*/ 970280 h 975360"/>
              <a:gd name="connsiteX47" fmla="*/ 235010 w 1220530"/>
              <a:gd name="connsiteY47" fmla="*/ 975360 h 975360"/>
              <a:gd name="connsiteX48" fmla="*/ 387410 w 1220530"/>
              <a:gd name="connsiteY48" fmla="*/ 970280 h 975360"/>
              <a:gd name="connsiteX49" fmla="*/ 428050 w 1220530"/>
              <a:gd name="connsiteY49" fmla="*/ 955040 h 975360"/>
              <a:gd name="connsiteX50" fmla="*/ 443290 w 1220530"/>
              <a:gd name="connsiteY50" fmla="*/ 949960 h 975360"/>
              <a:gd name="connsiteX51" fmla="*/ 473770 w 1220530"/>
              <a:gd name="connsiteY51" fmla="*/ 929640 h 975360"/>
              <a:gd name="connsiteX52" fmla="*/ 499170 w 1220530"/>
              <a:gd name="connsiteY52" fmla="*/ 909320 h 975360"/>
              <a:gd name="connsiteX53" fmla="*/ 509330 w 1220530"/>
              <a:gd name="connsiteY53" fmla="*/ 894080 h 975360"/>
              <a:gd name="connsiteX54" fmla="*/ 504250 w 1220530"/>
              <a:gd name="connsiteY54" fmla="*/ 802640 h 975360"/>
              <a:gd name="connsiteX55" fmla="*/ 499170 w 1220530"/>
              <a:gd name="connsiteY55" fmla="*/ 782320 h 975360"/>
              <a:gd name="connsiteX56" fmla="*/ 494090 w 1220530"/>
              <a:gd name="connsiteY56" fmla="*/ 736600 h 975360"/>
              <a:gd name="connsiteX57" fmla="*/ 489010 w 1220530"/>
              <a:gd name="connsiteY57" fmla="*/ 635000 h 975360"/>
              <a:gd name="connsiteX58" fmla="*/ 483930 w 1220530"/>
              <a:gd name="connsiteY58" fmla="*/ 619760 h 975360"/>
              <a:gd name="connsiteX59" fmla="*/ 499170 w 1220530"/>
              <a:gd name="connsiteY59" fmla="*/ 538480 h 975360"/>
              <a:gd name="connsiteX60" fmla="*/ 514410 w 1220530"/>
              <a:gd name="connsiteY60" fmla="*/ 518160 h 975360"/>
              <a:gd name="connsiteX61" fmla="*/ 534730 w 1220530"/>
              <a:gd name="connsiteY61" fmla="*/ 513080 h 975360"/>
              <a:gd name="connsiteX62" fmla="*/ 549970 w 1220530"/>
              <a:gd name="connsiteY62" fmla="*/ 508000 h 975360"/>
              <a:gd name="connsiteX63" fmla="*/ 565210 w 1220530"/>
              <a:gd name="connsiteY63" fmla="*/ 497840 h 975360"/>
              <a:gd name="connsiteX64" fmla="*/ 610930 w 1220530"/>
              <a:gd name="connsiteY64" fmla="*/ 487680 h 975360"/>
              <a:gd name="connsiteX65" fmla="*/ 991930 w 1220530"/>
              <a:gd name="connsiteY65" fmla="*/ 508000 h 975360"/>
              <a:gd name="connsiteX66" fmla="*/ 1052890 w 1220530"/>
              <a:gd name="connsiteY66" fmla="*/ 502920 h 975360"/>
              <a:gd name="connsiteX67" fmla="*/ 1068130 w 1220530"/>
              <a:gd name="connsiteY67" fmla="*/ 497840 h 975360"/>
              <a:gd name="connsiteX68" fmla="*/ 1088450 w 1220530"/>
              <a:gd name="connsiteY68" fmla="*/ 492760 h 975360"/>
              <a:gd name="connsiteX69" fmla="*/ 1103690 w 1220530"/>
              <a:gd name="connsiteY69" fmla="*/ 482600 h 975360"/>
              <a:gd name="connsiteX70" fmla="*/ 1144330 w 1220530"/>
              <a:gd name="connsiteY70" fmla="*/ 462280 h 975360"/>
              <a:gd name="connsiteX71" fmla="*/ 1179890 w 1220530"/>
              <a:gd name="connsiteY71" fmla="*/ 436880 h 975360"/>
              <a:gd name="connsiteX72" fmla="*/ 1190050 w 1220530"/>
              <a:gd name="connsiteY72" fmla="*/ 421640 h 975360"/>
              <a:gd name="connsiteX73" fmla="*/ 1205290 w 1220530"/>
              <a:gd name="connsiteY73" fmla="*/ 406400 h 975360"/>
              <a:gd name="connsiteX74" fmla="*/ 1210370 w 1220530"/>
              <a:gd name="connsiteY74" fmla="*/ 340360 h 975360"/>
              <a:gd name="connsiteX75" fmla="*/ 1220530 w 1220530"/>
              <a:gd name="connsiteY75" fmla="*/ 294640 h 975360"/>
              <a:gd name="connsiteX76" fmla="*/ 1215450 w 1220530"/>
              <a:gd name="connsiteY76" fmla="*/ 157480 h 975360"/>
              <a:gd name="connsiteX77" fmla="*/ 1210370 w 1220530"/>
              <a:gd name="connsiteY77" fmla="*/ 121920 h 975360"/>
              <a:gd name="connsiteX78" fmla="*/ 1200210 w 1220530"/>
              <a:gd name="connsiteY78" fmla="*/ 106680 h 975360"/>
              <a:gd name="connsiteX79" fmla="*/ 1184970 w 1220530"/>
              <a:gd name="connsiteY79" fmla="*/ 71120 h 975360"/>
              <a:gd name="connsiteX80" fmla="*/ 1174810 w 1220530"/>
              <a:gd name="connsiteY80" fmla="*/ 50800 h 975360"/>
              <a:gd name="connsiteX81" fmla="*/ 1144330 w 1220530"/>
              <a:gd name="connsiteY81" fmla="*/ 20320 h 975360"/>
              <a:gd name="connsiteX82" fmla="*/ 1124010 w 1220530"/>
              <a:gd name="connsiteY82" fmla="*/ 0 h 975360"/>
              <a:gd name="connsiteX83" fmla="*/ 1063050 w 1220530"/>
              <a:gd name="connsiteY83" fmla="*/ 25400 h 975360"/>
              <a:gd name="connsiteX84" fmla="*/ 1057970 w 1220530"/>
              <a:gd name="connsiteY84" fmla="*/ 45720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220530" h="975360">
                <a:moveTo>
                  <a:pt x="1057970" y="45720"/>
                </a:moveTo>
                <a:cubicBezTo>
                  <a:pt x="1042735" y="48259"/>
                  <a:pt x="1010427" y="52015"/>
                  <a:pt x="997010" y="60960"/>
                </a:cubicBezTo>
                <a:cubicBezTo>
                  <a:pt x="977315" y="74090"/>
                  <a:pt x="987562" y="69189"/>
                  <a:pt x="966530" y="76200"/>
                </a:cubicBezTo>
                <a:cubicBezTo>
                  <a:pt x="961450" y="81280"/>
                  <a:pt x="957268" y="87455"/>
                  <a:pt x="951290" y="91440"/>
                </a:cubicBezTo>
                <a:cubicBezTo>
                  <a:pt x="918613" y="113225"/>
                  <a:pt x="953783" y="76705"/>
                  <a:pt x="920810" y="106680"/>
                </a:cubicBezTo>
                <a:cubicBezTo>
                  <a:pt x="906634" y="119567"/>
                  <a:pt x="893717" y="133773"/>
                  <a:pt x="880170" y="147320"/>
                </a:cubicBezTo>
                <a:cubicBezTo>
                  <a:pt x="873397" y="154093"/>
                  <a:pt x="865597" y="159977"/>
                  <a:pt x="859850" y="167640"/>
                </a:cubicBezTo>
                <a:cubicBezTo>
                  <a:pt x="854770" y="174413"/>
                  <a:pt x="850597" y="181973"/>
                  <a:pt x="844610" y="187960"/>
                </a:cubicBezTo>
                <a:cubicBezTo>
                  <a:pt x="840293" y="192277"/>
                  <a:pt x="834006" y="194147"/>
                  <a:pt x="829370" y="198120"/>
                </a:cubicBezTo>
                <a:cubicBezTo>
                  <a:pt x="822097" y="204354"/>
                  <a:pt x="815358" y="211231"/>
                  <a:pt x="809050" y="218440"/>
                </a:cubicBezTo>
                <a:cubicBezTo>
                  <a:pt x="803475" y="224812"/>
                  <a:pt x="800855" y="234064"/>
                  <a:pt x="793810" y="238760"/>
                </a:cubicBezTo>
                <a:cubicBezTo>
                  <a:pt x="784899" y="244701"/>
                  <a:pt x="772241" y="242979"/>
                  <a:pt x="763330" y="248920"/>
                </a:cubicBezTo>
                <a:cubicBezTo>
                  <a:pt x="758250" y="252307"/>
                  <a:pt x="752780" y="255171"/>
                  <a:pt x="748090" y="259080"/>
                </a:cubicBezTo>
                <a:cubicBezTo>
                  <a:pt x="742571" y="263679"/>
                  <a:pt x="739130" y="270831"/>
                  <a:pt x="732850" y="274320"/>
                </a:cubicBezTo>
                <a:cubicBezTo>
                  <a:pt x="723488" y="279521"/>
                  <a:pt x="711949" y="279691"/>
                  <a:pt x="702370" y="284480"/>
                </a:cubicBezTo>
                <a:cubicBezTo>
                  <a:pt x="685717" y="292806"/>
                  <a:pt x="683254" y="295235"/>
                  <a:pt x="666810" y="299720"/>
                </a:cubicBezTo>
                <a:cubicBezTo>
                  <a:pt x="653338" y="303394"/>
                  <a:pt x="638659" y="303635"/>
                  <a:pt x="626170" y="309880"/>
                </a:cubicBezTo>
                <a:cubicBezTo>
                  <a:pt x="619397" y="313267"/>
                  <a:pt x="612811" y="317057"/>
                  <a:pt x="605850" y="320040"/>
                </a:cubicBezTo>
                <a:cubicBezTo>
                  <a:pt x="592182" y="325898"/>
                  <a:pt x="580118" y="327218"/>
                  <a:pt x="565210" y="330200"/>
                </a:cubicBezTo>
                <a:cubicBezTo>
                  <a:pt x="558437" y="333587"/>
                  <a:pt x="552143" y="338184"/>
                  <a:pt x="544890" y="340360"/>
                </a:cubicBezTo>
                <a:cubicBezTo>
                  <a:pt x="535024" y="343320"/>
                  <a:pt x="524590" y="343874"/>
                  <a:pt x="514410" y="345440"/>
                </a:cubicBezTo>
                <a:cubicBezTo>
                  <a:pt x="484030" y="350114"/>
                  <a:pt x="469415" y="351699"/>
                  <a:pt x="438210" y="355600"/>
                </a:cubicBezTo>
                <a:cubicBezTo>
                  <a:pt x="433130" y="357293"/>
                  <a:pt x="428271" y="359923"/>
                  <a:pt x="422970" y="360680"/>
                </a:cubicBezTo>
                <a:cubicBezTo>
                  <a:pt x="371445" y="368041"/>
                  <a:pt x="379450" y="361400"/>
                  <a:pt x="341690" y="370840"/>
                </a:cubicBezTo>
                <a:cubicBezTo>
                  <a:pt x="336495" y="372139"/>
                  <a:pt x="331599" y="374449"/>
                  <a:pt x="326450" y="375920"/>
                </a:cubicBezTo>
                <a:cubicBezTo>
                  <a:pt x="272708" y="391275"/>
                  <a:pt x="348084" y="367015"/>
                  <a:pt x="275650" y="391160"/>
                </a:cubicBezTo>
                <a:cubicBezTo>
                  <a:pt x="270570" y="392853"/>
                  <a:pt x="265661" y="395190"/>
                  <a:pt x="260410" y="396240"/>
                </a:cubicBezTo>
                <a:cubicBezTo>
                  <a:pt x="218323" y="404657"/>
                  <a:pt x="243601" y="400461"/>
                  <a:pt x="184210" y="406400"/>
                </a:cubicBezTo>
                <a:cubicBezTo>
                  <a:pt x="171786" y="412612"/>
                  <a:pt x="162105" y="418650"/>
                  <a:pt x="148650" y="421640"/>
                </a:cubicBezTo>
                <a:cubicBezTo>
                  <a:pt x="138595" y="423874"/>
                  <a:pt x="128330" y="425027"/>
                  <a:pt x="118170" y="426720"/>
                </a:cubicBezTo>
                <a:cubicBezTo>
                  <a:pt x="113090" y="430107"/>
                  <a:pt x="108391" y="434150"/>
                  <a:pt x="102930" y="436880"/>
                </a:cubicBezTo>
                <a:cubicBezTo>
                  <a:pt x="60866" y="457912"/>
                  <a:pt x="116126" y="423003"/>
                  <a:pt x="72450" y="452120"/>
                </a:cubicBezTo>
                <a:cubicBezTo>
                  <a:pt x="69063" y="457200"/>
                  <a:pt x="64376" y="461622"/>
                  <a:pt x="62290" y="467360"/>
                </a:cubicBezTo>
                <a:cubicBezTo>
                  <a:pt x="57518" y="480483"/>
                  <a:pt x="59876" y="496382"/>
                  <a:pt x="52130" y="508000"/>
                </a:cubicBezTo>
                <a:cubicBezTo>
                  <a:pt x="36029" y="532151"/>
                  <a:pt x="43901" y="517448"/>
                  <a:pt x="31810" y="553720"/>
                </a:cubicBezTo>
                <a:lnTo>
                  <a:pt x="21650" y="584200"/>
                </a:lnTo>
                <a:lnTo>
                  <a:pt x="16570" y="599440"/>
                </a:lnTo>
                <a:cubicBezTo>
                  <a:pt x="14877" y="616373"/>
                  <a:pt x="14626" y="633514"/>
                  <a:pt x="11490" y="650240"/>
                </a:cubicBezTo>
                <a:cubicBezTo>
                  <a:pt x="9516" y="660766"/>
                  <a:pt x="1330" y="680720"/>
                  <a:pt x="1330" y="680720"/>
                </a:cubicBezTo>
                <a:cubicBezTo>
                  <a:pt x="3023" y="724747"/>
                  <a:pt x="0" y="769210"/>
                  <a:pt x="6410" y="812800"/>
                </a:cubicBezTo>
                <a:cubicBezTo>
                  <a:pt x="11510" y="847478"/>
                  <a:pt x="24764" y="848606"/>
                  <a:pt x="41970" y="868680"/>
                </a:cubicBezTo>
                <a:cubicBezTo>
                  <a:pt x="59459" y="889084"/>
                  <a:pt x="62037" y="902378"/>
                  <a:pt x="87690" y="919480"/>
                </a:cubicBezTo>
                <a:cubicBezTo>
                  <a:pt x="92770" y="922867"/>
                  <a:pt x="97351" y="927160"/>
                  <a:pt x="102930" y="929640"/>
                </a:cubicBezTo>
                <a:cubicBezTo>
                  <a:pt x="115593" y="935268"/>
                  <a:pt x="138953" y="941596"/>
                  <a:pt x="153730" y="944880"/>
                </a:cubicBezTo>
                <a:cubicBezTo>
                  <a:pt x="162159" y="946753"/>
                  <a:pt x="170753" y="947866"/>
                  <a:pt x="179130" y="949960"/>
                </a:cubicBezTo>
                <a:cubicBezTo>
                  <a:pt x="184325" y="951259"/>
                  <a:pt x="189290" y="953347"/>
                  <a:pt x="194370" y="955040"/>
                </a:cubicBezTo>
                <a:cubicBezTo>
                  <a:pt x="201143" y="960120"/>
                  <a:pt x="207117" y="966494"/>
                  <a:pt x="214690" y="970280"/>
                </a:cubicBezTo>
                <a:cubicBezTo>
                  <a:pt x="220935" y="973402"/>
                  <a:pt x="228028" y="975360"/>
                  <a:pt x="235010" y="975360"/>
                </a:cubicBezTo>
                <a:cubicBezTo>
                  <a:pt x="285838" y="975360"/>
                  <a:pt x="336610" y="971973"/>
                  <a:pt x="387410" y="970280"/>
                </a:cubicBezTo>
                <a:cubicBezTo>
                  <a:pt x="436415" y="960479"/>
                  <a:pt x="393168" y="972481"/>
                  <a:pt x="428050" y="955040"/>
                </a:cubicBezTo>
                <a:cubicBezTo>
                  <a:pt x="432839" y="952645"/>
                  <a:pt x="438609" y="952561"/>
                  <a:pt x="443290" y="949960"/>
                </a:cubicBezTo>
                <a:cubicBezTo>
                  <a:pt x="453964" y="944030"/>
                  <a:pt x="473770" y="929640"/>
                  <a:pt x="473770" y="929640"/>
                </a:cubicBezTo>
                <a:cubicBezTo>
                  <a:pt x="502887" y="885964"/>
                  <a:pt x="464117" y="937363"/>
                  <a:pt x="499170" y="909320"/>
                </a:cubicBezTo>
                <a:cubicBezTo>
                  <a:pt x="503938" y="905506"/>
                  <a:pt x="505943" y="899160"/>
                  <a:pt x="509330" y="894080"/>
                </a:cubicBezTo>
                <a:cubicBezTo>
                  <a:pt x="507637" y="863600"/>
                  <a:pt x="507014" y="833042"/>
                  <a:pt x="504250" y="802640"/>
                </a:cubicBezTo>
                <a:cubicBezTo>
                  <a:pt x="503618" y="795687"/>
                  <a:pt x="500232" y="789221"/>
                  <a:pt x="499170" y="782320"/>
                </a:cubicBezTo>
                <a:cubicBezTo>
                  <a:pt x="496838" y="767165"/>
                  <a:pt x="495783" y="751840"/>
                  <a:pt x="494090" y="736600"/>
                </a:cubicBezTo>
                <a:cubicBezTo>
                  <a:pt x="492397" y="702733"/>
                  <a:pt x="491948" y="668781"/>
                  <a:pt x="489010" y="635000"/>
                </a:cubicBezTo>
                <a:cubicBezTo>
                  <a:pt x="488546" y="629665"/>
                  <a:pt x="483930" y="625115"/>
                  <a:pt x="483930" y="619760"/>
                </a:cubicBezTo>
                <a:cubicBezTo>
                  <a:pt x="483930" y="589989"/>
                  <a:pt x="484943" y="564089"/>
                  <a:pt x="499170" y="538480"/>
                </a:cubicBezTo>
                <a:cubicBezTo>
                  <a:pt x="503282" y="531079"/>
                  <a:pt x="507520" y="523081"/>
                  <a:pt x="514410" y="518160"/>
                </a:cubicBezTo>
                <a:cubicBezTo>
                  <a:pt x="520091" y="514102"/>
                  <a:pt x="528017" y="514998"/>
                  <a:pt x="534730" y="513080"/>
                </a:cubicBezTo>
                <a:cubicBezTo>
                  <a:pt x="539879" y="511609"/>
                  <a:pt x="545181" y="510395"/>
                  <a:pt x="549970" y="508000"/>
                </a:cubicBezTo>
                <a:cubicBezTo>
                  <a:pt x="555431" y="505270"/>
                  <a:pt x="559598" y="500245"/>
                  <a:pt x="565210" y="497840"/>
                </a:cubicBezTo>
                <a:cubicBezTo>
                  <a:pt x="571487" y="495150"/>
                  <a:pt x="606409" y="488584"/>
                  <a:pt x="610930" y="487680"/>
                </a:cubicBezTo>
                <a:cubicBezTo>
                  <a:pt x="758134" y="498584"/>
                  <a:pt x="828420" y="505275"/>
                  <a:pt x="991930" y="508000"/>
                </a:cubicBezTo>
                <a:cubicBezTo>
                  <a:pt x="1012318" y="508340"/>
                  <a:pt x="1032570" y="504613"/>
                  <a:pt x="1052890" y="502920"/>
                </a:cubicBezTo>
                <a:cubicBezTo>
                  <a:pt x="1057970" y="501227"/>
                  <a:pt x="1062981" y="499311"/>
                  <a:pt x="1068130" y="497840"/>
                </a:cubicBezTo>
                <a:cubicBezTo>
                  <a:pt x="1074843" y="495922"/>
                  <a:pt x="1082033" y="495510"/>
                  <a:pt x="1088450" y="492760"/>
                </a:cubicBezTo>
                <a:cubicBezTo>
                  <a:pt x="1094062" y="490355"/>
                  <a:pt x="1098330" y="485524"/>
                  <a:pt x="1103690" y="482600"/>
                </a:cubicBezTo>
                <a:cubicBezTo>
                  <a:pt x="1116986" y="475347"/>
                  <a:pt x="1133620" y="472990"/>
                  <a:pt x="1144330" y="462280"/>
                </a:cubicBezTo>
                <a:cubicBezTo>
                  <a:pt x="1168436" y="438174"/>
                  <a:pt x="1155563" y="444989"/>
                  <a:pt x="1179890" y="436880"/>
                </a:cubicBezTo>
                <a:cubicBezTo>
                  <a:pt x="1183277" y="431800"/>
                  <a:pt x="1186141" y="426330"/>
                  <a:pt x="1190050" y="421640"/>
                </a:cubicBezTo>
                <a:cubicBezTo>
                  <a:pt x="1194649" y="416121"/>
                  <a:pt x="1203548" y="413370"/>
                  <a:pt x="1205290" y="406400"/>
                </a:cubicBezTo>
                <a:cubicBezTo>
                  <a:pt x="1210645" y="384981"/>
                  <a:pt x="1207387" y="362236"/>
                  <a:pt x="1210370" y="340360"/>
                </a:cubicBezTo>
                <a:cubicBezTo>
                  <a:pt x="1212479" y="324891"/>
                  <a:pt x="1217143" y="309880"/>
                  <a:pt x="1220530" y="294640"/>
                </a:cubicBezTo>
                <a:cubicBezTo>
                  <a:pt x="1218837" y="248920"/>
                  <a:pt x="1218137" y="203152"/>
                  <a:pt x="1215450" y="157480"/>
                </a:cubicBezTo>
                <a:cubicBezTo>
                  <a:pt x="1214747" y="145527"/>
                  <a:pt x="1213811" y="133389"/>
                  <a:pt x="1210370" y="121920"/>
                </a:cubicBezTo>
                <a:cubicBezTo>
                  <a:pt x="1208616" y="116072"/>
                  <a:pt x="1203597" y="111760"/>
                  <a:pt x="1200210" y="106680"/>
                </a:cubicBezTo>
                <a:cubicBezTo>
                  <a:pt x="1191866" y="73305"/>
                  <a:pt x="1200562" y="98406"/>
                  <a:pt x="1184970" y="71120"/>
                </a:cubicBezTo>
                <a:cubicBezTo>
                  <a:pt x="1181213" y="64545"/>
                  <a:pt x="1179541" y="56713"/>
                  <a:pt x="1174810" y="50800"/>
                </a:cubicBezTo>
                <a:cubicBezTo>
                  <a:pt x="1165834" y="39580"/>
                  <a:pt x="1154490" y="30480"/>
                  <a:pt x="1144330" y="20320"/>
                </a:cubicBezTo>
                <a:lnTo>
                  <a:pt x="1124010" y="0"/>
                </a:lnTo>
                <a:cubicBezTo>
                  <a:pt x="1114425" y="1597"/>
                  <a:pt x="1063050" y="5875"/>
                  <a:pt x="1063050" y="25400"/>
                </a:cubicBezTo>
                <a:lnTo>
                  <a:pt x="1057970" y="45720"/>
                </a:lnTo>
                <a:close/>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20"/>
          <p:cNvSpPr txBox="1"/>
          <p:nvPr/>
        </p:nvSpPr>
        <p:spPr>
          <a:xfrm>
            <a:off x="5364088" y="5752420"/>
            <a:ext cx="3779912" cy="523220"/>
          </a:xfrm>
          <a:prstGeom prst="rect">
            <a:avLst/>
          </a:prstGeom>
          <a:noFill/>
        </p:spPr>
        <p:txBody>
          <a:bodyPr wrap="square" rtlCol="0">
            <a:spAutoFit/>
          </a:bodyPr>
          <a:lstStyle/>
          <a:p>
            <a:pPr lvl="0"/>
            <a:r>
              <a:rPr kumimoji="1" lang="zh-CN" altLang="en-US" sz="2800" b="1" dirty="0" smtClean="0">
                <a:latin typeface="Times New Roman" pitchFamily="18" charset="0"/>
              </a:rPr>
              <a:t>理想气体物态方程二</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2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5"/>
          <p:cNvGrpSpPr>
            <a:grpSpLocks/>
          </p:cNvGrpSpPr>
          <p:nvPr/>
        </p:nvGrpSpPr>
        <p:grpSpPr bwMode="auto">
          <a:xfrm>
            <a:off x="827035" y="3788568"/>
            <a:ext cx="7345365" cy="1944688"/>
            <a:chOff x="657" y="2296"/>
            <a:chExt cx="4627" cy="1225"/>
          </a:xfrm>
        </p:grpSpPr>
        <p:graphicFrame>
          <p:nvGraphicFramePr>
            <p:cNvPr id="17412" name="Object 23"/>
            <p:cNvGraphicFramePr>
              <a:graphicFrameLocks noChangeAspect="1"/>
            </p:cNvGraphicFramePr>
            <p:nvPr/>
          </p:nvGraphicFramePr>
          <p:xfrm>
            <a:off x="2412" y="2296"/>
            <a:ext cx="2464" cy="731"/>
          </p:xfrm>
          <a:graphic>
            <a:graphicData uri="http://schemas.openxmlformats.org/presentationml/2006/ole">
              <p:oleObj spid="_x0000_s67588" name="公式" r:id="rId3" imgW="1168200" imgH="393480" progId="Equation.DSMT4">
                <p:embed/>
              </p:oleObj>
            </a:graphicData>
          </a:graphic>
        </p:graphicFrame>
        <p:grpSp>
          <p:nvGrpSpPr>
            <p:cNvPr id="3" name="Group 33"/>
            <p:cNvGrpSpPr>
              <a:grpSpLocks/>
            </p:cNvGrpSpPr>
            <p:nvPr/>
          </p:nvGrpSpPr>
          <p:grpSpPr bwMode="auto">
            <a:xfrm>
              <a:off x="3327" y="2432"/>
              <a:ext cx="1957" cy="1089"/>
              <a:chOff x="3372" y="2441"/>
              <a:chExt cx="1957" cy="1089"/>
            </a:xfrm>
          </p:grpSpPr>
          <p:sp>
            <p:nvSpPr>
              <p:cNvPr id="17424" name="Rectangle 9"/>
              <p:cNvSpPr>
                <a:spLocks noChangeArrowheads="1"/>
              </p:cNvSpPr>
              <p:nvPr/>
            </p:nvSpPr>
            <p:spPr bwMode="auto">
              <a:xfrm>
                <a:off x="4382" y="2441"/>
                <a:ext cx="219" cy="384"/>
              </a:xfrm>
              <a:prstGeom prst="rect">
                <a:avLst/>
              </a:prstGeom>
              <a:noFill/>
              <a:ln w="3175">
                <a:noFill/>
                <a:miter lim="800000"/>
                <a:headEnd/>
                <a:tailEnd/>
              </a:ln>
            </p:spPr>
            <p:txBody>
              <a:bodyPr wrap="none" anchor="ctr"/>
              <a:lstStyle/>
              <a:p>
                <a:endParaRPr lang="zh-CN" altLang="en-US">
                  <a:solidFill>
                    <a:srgbClr val="000000"/>
                  </a:solidFill>
                </a:endParaRPr>
              </a:p>
            </p:txBody>
          </p:sp>
          <p:sp>
            <p:nvSpPr>
              <p:cNvPr id="17425" name="Freeform 10"/>
              <p:cNvSpPr>
                <a:spLocks/>
              </p:cNvSpPr>
              <p:nvPr/>
            </p:nvSpPr>
            <p:spPr bwMode="auto">
              <a:xfrm>
                <a:off x="3372" y="2810"/>
                <a:ext cx="1867" cy="720"/>
              </a:xfrm>
              <a:custGeom>
                <a:avLst/>
                <a:gdLst>
                  <a:gd name="T0" fmla="*/ 0 w 1632"/>
                  <a:gd name="T1" fmla="*/ 336 h 720"/>
                  <a:gd name="T2" fmla="*/ 0 w 1632"/>
                  <a:gd name="T3" fmla="*/ 720 h 720"/>
                  <a:gd name="T4" fmla="*/ 3199 w 1632"/>
                  <a:gd name="T5" fmla="*/ 720 h 720"/>
                  <a:gd name="T6" fmla="*/ 3199 w 1632"/>
                  <a:gd name="T7" fmla="*/ 336 h 720"/>
                  <a:gd name="T8" fmla="*/ 2352 w 1632"/>
                  <a:gd name="T9" fmla="*/ 336 h 720"/>
                  <a:gd name="T10" fmla="*/ 2257 w 1632"/>
                  <a:gd name="T11" fmla="*/ 0 h 720"/>
                  <a:gd name="T12" fmla="*/ 2069 w 1632"/>
                  <a:gd name="T13" fmla="*/ 336 h 720"/>
                  <a:gd name="T14" fmla="*/ 0 w 1632"/>
                  <a:gd name="T15" fmla="*/ 336 h 720"/>
                  <a:gd name="T16" fmla="*/ 0 60000 65536"/>
                  <a:gd name="T17" fmla="*/ 0 60000 65536"/>
                  <a:gd name="T18" fmla="*/ 0 60000 65536"/>
                  <a:gd name="T19" fmla="*/ 0 60000 65536"/>
                  <a:gd name="T20" fmla="*/ 0 60000 65536"/>
                  <a:gd name="T21" fmla="*/ 0 60000 65536"/>
                  <a:gd name="T22" fmla="*/ 0 60000 65536"/>
                  <a:gd name="T23" fmla="*/ 0 60000 65536"/>
                  <a:gd name="T24" fmla="*/ 0 w 1632"/>
                  <a:gd name="T25" fmla="*/ 0 h 720"/>
                  <a:gd name="T26" fmla="*/ 1632 w 1632"/>
                  <a:gd name="T27" fmla="*/ 720 h 72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32" h="720">
                    <a:moveTo>
                      <a:pt x="0" y="336"/>
                    </a:moveTo>
                    <a:lnTo>
                      <a:pt x="0" y="720"/>
                    </a:lnTo>
                    <a:lnTo>
                      <a:pt x="1632" y="720"/>
                    </a:lnTo>
                    <a:lnTo>
                      <a:pt x="1632" y="336"/>
                    </a:lnTo>
                    <a:lnTo>
                      <a:pt x="1200" y="336"/>
                    </a:lnTo>
                    <a:lnTo>
                      <a:pt x="1152" y="0"/>
                    </a:lnTo>
                    <a:lnTo>
                      <a:pt x="1056" y="336"/>
                    </a:lnTo>
                    <a:lnTo>
                      <a:pt x="0" y="336"/>
                    </a:lnTo>
                    <a:close/>
                  </a:path>
                </a:pathLst>
              </a:custGeom>
              <a:noFill/>
              <a:ln w="19050" cmpd="sng">
                <a:solidFill>
                  <a:schemeClr val="tx2"/>
                </a:solidFill>
                <a:round/>
                <a:headEnd/>
                <a:tailEnd/>
              </a:ln>
            </p:spPr>
            <p:txBody>
              <a:bodyPr wrap="none"/>
              <a:lstStyle/>
              <a:p>
                <a:endParaRPr lang="zh-CN" altLang="en-US"/>
              </a:p>
            </p:txBody>
          </p:sp>
          <p:sp>
            <p:nvSpPr>
              <p:cNvPr id="17426" name="Text Box 11"/>
              <p:cNvSpPr txBox="1">
                <a:spLocks noChangeArrowheads="1"/>
              </p:cNvSpPr>
              <p:nvPr/>
            </p:nvSpPr>
            <p:spPr bwMode="auto">
              <a:xfrm>
                <a:off x="3470" y="3165"/>
                <a:ext cx="1859" cy="365"/>
              </a:xfrm>
              <a:prstGeom prst="rect">
                <a:avLst/>
              </a:prstGeom>
              <a:noFill/>
              <a:ln w="12700">
                <a:noFill/>
                <a:miter lim="800000"/>
                <a:headEnd/>
                <a:tailEnd/>
              </a:ln>
            </p:spPr>
            <p:txBody>
              <a:bodyPr>
                <a:spAutoFit/>
              </a:bodyPr>
              <a:lstStyle/>
              <a:p>
                <a:pPr>
                  <a:spcBef>
                    <a:spcPct val="50000"/>
                  </a:spcBef>
                </a:pPr>
                <a:r>
                  <a:rPr lang="zh-CN" altLang="en-US" sz="3200" b="1" dirty="0">
                    <a:solidFill>
                      <a:srgbClr val="000000"/>
                    </a:solidFill>
                  </a:rPr>
                  <a:t>宏观可测量量</a:t>
                </a:r>
              </a:p>
            </p:txBody>
          </p:sp>
        </p:grpSp>
        <p:grpSp>
          <p:nvGrpSpPr>
            <p:cNvPr id="4" name="Group 17"/>
            <p:cNvGrpSpPr>
              <a:grpSpLocks/>
            </p:cNvGrpSpPr>
            <p:nvPr/>
          </p:nvGrpSpPr>
          <p:grpSpPr bwMode="auto">
            <a:xfrm>
              <a:off x="657" y="2849"/>
              <a:ext cx="2448" cy="672"/>
              <a:chOff x="1104" y="3456"/>
              <a:chExt cx="2448" cy="672"/>
            </a:xfrm>
          </p:grpSpPr>
          <p:sp>
            <p:nvSpPr>
              <p:cNvPr id="17422" name="Freeform 19"/>
              <p:cNvSpPr>
                <a:spLocks/>
              </p:cNvSpPr>
              <p:nvPr/>
            </p:nvSpPr>
            <p:spPr bwMode="auto">
              <a:xfrm>
                <a:off x="1104" y="3456"/>
                <a:ext cx="2208" cy="672"/>
              </a:xfrm>
              <a:custGeom>
                <a:avLst/>
                <a:gdLst>
                  <a:gd name="T0" fmla="*/ 0 w 2208"/>
                  <a:gd name="T1" fmla="*/ 288 h 672"/>
                  <a:gd name="T2" fmla="*/ 0 w 2208"/>
                  <a:gd name="T3" fmla="*/ 672 h 672"/>
                  <a:gd name="T4" fmla="*/ 2208 w 2208"/>
                  <a:gd name="T5" fmla="*/ 672 h 672"/>
                  <a:gd name="T6" fmla="*/ 2208 w 2208"/>
                  <a:gd name="T7" fmla="*/ 288 h 672"/>
                  <a:gd name="T8" fmla="*/ 1776 w 2208"/>
                  <a:gd name="T9" fmla="*/ 288 h 672"/>
                  <a:gd name="T10" fmla="*/ 1824 w 2208"/>
                  <a:gd name="T11" fmla="*/ 0 h 672"/>
                  <a:gd name="T12" fmla="*/ 1632 w 2208"/>
                  <a:gd name="T13" fmla="*/ 288 h 672"/>
                  <a:gd name="T14" fmla="*/ 0 w 2208"/>
                  <a:gd name="T15" fmla="*/ 288 h 672"/>
                  <a:gd name="T16" fmla="*/ 0 60000 65536"/>
                  <a:gd name="T17" fmla="*/ 0 60000 65536"/>
                  <a:gd name="T18" fmla="*/ 0 60000 65536"/>
                  <a:gd name="T19" fmla="*/ 0 60000 65536"/>
                  <a:gd name="T20" fmla="*/ 0 60000 65536"/>
                  <a:gd name="T21" fmla="*/ 0 60000 65536"/>
                  <a:gd name="T22" fmla="*/ 0 60000 65536"/>
                  <a:gd name="T23" fmla="*/ 0 60000 65536"/>
                  <a:gd name="T24" fmla="*/ 0 w 2208"/>
                  <a:gd name="T25" fmla="*/ 0 h 672"/>
                  <a:gd name="T26" fmla="*/ 2208 w 2208"/>
                  <a:gd name="T27" fmla="*/ 672 h 6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08" h="672">
                    <a:moveTo>
                      <a:pt x="0" y="288"/>
                    </a:moveTo>
                    <a:lnTo>
                      <a:pt x="0" y="672"/>
                    </a:lnTo>
                    <a:lnTo>
                      <a:pt x="2208" y="672"/>
                    </a:lnTo>
                    <a:lnTo>
                      <a:pt x="2208" y="288"/>
                    </a:lnTo>
                    <a:lnTo>
                      <a:pt x="1776" y="288"/>
                    </a:lnTo>
                    <a:lnTo>
                      <a:pt x="1824" y="0"/>
                    </a:lnTo>
                    <a:lnTo>
                      <a:pt x="1632" y="288"/>
                    </a:lnTo>
                    <a:lnTo>
                      <a:pt x="0" y="288"/>
                    </a:lnTo>
                    <a:close/>
                  </a:path>
                </a:pathLst>
              </a:custGeom>
              <a:solidFill>
                <a:srgbClr val="FFFFEB"/>
              </a:solidFill>
              <a:ln w="19050" cmpd="sng">
                <a:solidFill>
                  <a:srgbClr val="996633"/>
                </a:solidFill>
                <a:round/>
                <a:headEnd/>
                <a:tailEnd/>
              </a:ln>
            </p:spPr>
            <p:txBody>
              <a:bodyPr wrap="none"/>
              <a:lstStyle/>
              <a:p>
                <a:endParaRPr lang="zh-CN" altLang="en-US"/>
              </a:p>
            </p:txBody>
          </p:sp>
          <p:sp>
            <p:nvSpPr>
              <p:cNvPr id="17423" name="Text Box 20"/>
              <p:cNvSpPr txBox="1">
                <a:spLocks noChangeArrowheads="1"/>
              </p:cNvSpPr>
              <p:nvPr/>
            </p:nvSpPr>
            <p:spPr bwMode="auto">
              <a:xfrm>
                <a:off x="1152" y="3753"/>
                <a:ext cx="2400" cy="365"/>
              </a:xfrm>
              <a:prstGeom prst="rect">
                <a:avLst/>
              </a:prstGeom>
              <a:noFill/>
              <a:ln w="12700">
                <a:noFill/>
                <a:miter lim="800000"/>
                <a:headEnd/>
                <a:tailEnd/>
              </a:ln>
            </p:spPr>
            <p:txBody>
              <a:bodyPr>
                <a:spAutoFit/>
              </a:bodyPr>
              <a:lstStyle/>
              <a:p>
                <a:pPr>
                  <a:spcBef>
                    <a:spcPct val="50000"/>
                  </a:spcBef>
                </a:pPr>
                <a:r>
                  <a:rPr lang="zh-CN" altLang="en-US" sz="3200" b="1" dirty="0">
                    <a:solidFill>
                      <a:srgbClr val="000000"/>
                    </a:solidFill>
                  </a:rPr>
                  <a:t>微观量的统计平均</a:t>
                </a:r>
              </a:p>
            </p:txBody>
          </p:sp>
        </p:grpSp>
      </p:grpSp>
      <p:grpSp>
        <p:nvGrpSpPr>
          <p:cNvPr id="5" name="Group 31"/>
          <p:cNvGrpSpPr>
            <a:grpSpLocks/>
          </p:cNvGrpSpPr>
          <p:nvPr/>
        </p:nvGrpSpPr>
        <p:grpSpPr bwMode="auto">
          <a:xfrm>
            <a:off x="683568" y="404639"/>
            <a:ext cx="5802313" cy="1800225"/>
            <a:chOff x="249" y="300"/>
            <a:chExt cx="3655" cy="1134"/>
          </a:xfrm>
        </p:grpSpPr>
        <p:grpSp>
          <p:nvGrpSpPr>
            <p:cNvPr id="6" name="Group 30"/>
            <p:cNvGrpSpPr>
              <a:grpSpLocks/>
            </p:cNvGrpSpPr>
            <p:nvPr/>
          </p:nvGrpSpPr>
          <p:grpSpPr bwMode="auto">
            <a:xfrm>
              <a:off x="249" y="300"/>
              <a:ext cx="3655" cy="1133"/>
              <a:chOff x="249" y="300"/>
              <a:chExt cx="3655" cy="1133"/>
            </a:xfrm>
          </p:grpSpPr>
          <p:graphicFrame>
            <p:nvGraphicFramePr>
              <p:cNvPr id="17411" name="Object 14"/>
              <p:cNvGraphicFramePr>
                <a:graphicFrameLocks noChangeAspect="1"/>
              </p:cNvGraphicFramePr>
              <p:nvPr/>
            </p:nvGraphicFramePr>
            <p:xfrm>
              <a:off x="2608" y="300"/>
              <a:ext cx="1296" cy="654"/>
            </p:xfrm>
            <a:graphic>
              <a:graphicData uri="http://schemas.openxmlformats.org/presentationml/2006/ole">
                <p:oleObj spid="_x0000_s67587" name="Equation" r:id="rId4" imgW="1002960" imgH="609480" progId="Equation.3">
                  <p:embed/>
                </p:oleObj>
              </a:graphicData>
            </a:graphic>
          </p:graphicFrame>
          <p:sp>
            <p:nvSpPr>
              <p:cNvPr id="17417" name="Text Box 15"/>
              <p:cNvSpPr txBox="1">
                <a:spLocks noChangeArrowheads="1"/>
              </p:cNvSpPr>
              <p:nvPr/>
            </p:nvSpPr>
            <p:spPr bwMode="auto">
              <a:xfrm>
                <a:off x="249" y="444"/>
                <a:ext cx="2352" cy="365"/>
              </a:xfrm>
              <a:prstGeom prst="rect">
                <a:avLst/>
              </a:prstGeom>
              <a:noFill/>
              <a:ln w="9525">
                <a:noFill/>
                <a:miter lim="800000"/>
                <a:headEnd/>
                <a:tailEnd/>
              </a:ln>
            </p:spPr>
            <p:txBody>
              <a:bodyPr>
                <a:spAutoFit/>
              </a:bodyPr>
              <a:lstStyle/>
              <a:p>
                <a:pPr>
                  <a:spcBef>
                    <a:spcPct val="50000"/>
                  </a:spcBef>
                </a:pPr>
                <a:r>
                  <a:rPr lang="zh-CN" altLang="en-US" sz="3200" b="1">
                    <a:solidFill>
                      <a:srgbClr val="000000"/>
                    </a:solidFill>
                    <a:latin typeface="Times New Roman" pitchFamily="18" charset="0"/>
                  </a:rPr>
                  <a:t>理想气体压强公式</a:t>
                </a:r>
              </a:p>
            </p:txBody>
          </p:sp>
          <p:sp>
            <p:nvSpPr>
              <p:cNvPr id="17418" name="Rectangle 16"/>
              <p:cNvSpPr>
                <a:spLocks noChangeArrowheads="1"/>
              </p:cNvSpPr>
              <p:nvPr/>
            </p:nvSpPr>
            <p:spPr bwMode="auto">
              <a:xfrm>
                <a:off x="249" y="1068"/>
                <a:ext cx="2304" cy="365"/>
              </a:xfrm>
              <a:prstGeom prst="rect">
                <a:avLst/>
              </a:prstGeom>
              <a:noFill/>
              <a:ln w="9525">
                <a:noFill/>
                <a:miter lim="800000"/>
                <a:headEnd/>
                <a:tailEnd/>
              </a:ln>
            </p:spPr>
            <p:txBody>
              <a:bodyPr>
                <a:spAutoFit/>
              </a:bodyPr>
              <a:lstStyle/>
              <a:p>
                <a:r>
                  <a:rPr lang="zh-CN" altLang="en-US" sz="3200" b="1">
                    <a:solidFill>
                      <a:srgbClr val="000000"/>
                    </a:solidFill>
                    <a:latin typeface="Times New Roman" pitchFamily="18" charset="0"/>
                  </a:rPr>
                  <a:t>理想气体物态方程</a:t>
                </a:r>
              </a:p>
            </p:txBody>
          </p:sp>
        </p:grpSp>
        <p:graphicFrame>
          <p:nvGraphicFramePr>
            <p:cNvPr id="17410" name="Object 29"/>
            <p:cNvGraphicFramePr>
              <a:graphicFrameLocks noChangeAspect="1"/>
            </p:cNvGraphicFramePr>
            <p:nvPr/>
          </p:nvGraphicFramePr>
          <p:xfrm>
            <a:off x="2608" y="1053"/>
            <a:ext cx="1222" cy="381"/>
          </p:xfrm>
          <a:graphic>
            <a:graphicData uri="http://schemas.openxmlformats.org/presentationml/2006/ole">
              <p:oleObj spid="_x0000_s67586" name="公式" r:id="rId5" imgW="507960" imgH="190440" progId="Equation.3">
                <p:embed/>
              </p:oleObj>
            </a:graphicData>
          </a:graphic>
        </p:graphicFrame>
      </p:grpSp>
      <p:sp>
        <p:nvSpPr>
          <p:cNvPr id="19" name="灯片编号占位符 1"/>
          <p:cNvSpPr txBox="1">
            <a:spLocks/>
          </p:cNvSpPr>
          <p:nvPr/>
        </p:nvSpPr>
        <p:spPr bwMode="auto">
          <a:xfrm>
            <a:off x="8606357" y="6584504"/>
            <a:ext cx="574155" cy="300880"/>
          </a:xfrm>
          <a:prstGeom prst="rect">
            <a:avLst/>
          </a:prstGeom>
          <a:noFill/>
          <a:ln>
            <a:miter lim="800000"/>
            <a:headEnd/>
            <a:tailEnd/>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22E3302-AC1D-47C1-A1C9-47DFDD07C79E}" type="slidenum">
              <a:rPr kumimoji="0" lang="en-US" altLang="zh-CN" sz="1400" b="0" i="0" u="none" strike="noStrike" kern="1200" cap="none" spc="0" normalizeH="0" baseline="0" noProof="0" smtClean="0">
                <a:ln>
                  <a:noFill/>
                </a:ln>
                <a:solidFill>
                  <a:schemeClr val="tx1"/>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zh-CN" sz="1400" b="0" i="0" u="none" strike="noStrike" kern="1200" cap="none" spc="0" normalizeH="0" baseline="0" noProof="0" dirty="0">
              <a:ln>
                <a:noFill/>
              </a:ln>
              <a:solidFill>
                <a:schemeClr val="tx1"/>
              </a:solidFill>
              <a:effectLst/>
              <a:uLnTx/>
              <a:uFillTx/>
              <a:latin typeface="Arial" charset="0"/>
              <a:ea typeface="宋体" pitchFamily="2" charset="-122"/>
              <a:cs typeface="+mn-cs"/>
            </a:endParaRPr>
          </a:p>
        </p:txBody>
      </p:sp>
      <p:sp>
        <p:nvSpPr>
          <p:cNvPr id="20" name="Text Box 58"/>
          <p:cNvSpPr txBox="1">
            <a:spLocks noChangeArrowheads="1"/>
          </p:cNvSpPr>
          <p:nvPr/>
        </p:nvSpPr>
        <p:spPr bwMode="auto">
          <a:xfrm>
            <a:off x="755576" y="2889752"/>
            <a:ext cx="5976664" cy="683264"/>
          </a:xfrm>
          <a:prstGeom prst="rect">
            <a:avLst/>
          </a:prstGeom>
          <a:noFill/>
          <a:ln w="28575">
            <a:noFill/>
            <a:miter lim="800000"/>
            <a:headEnd/>
            <a:tailEnd/>
          </a:ln>
        </p:spPr>
        <p:txBody>
          <a:bodyPr wrap="square">
            <a:spAutoFit/>
          </a:bodyPr>
          <a:lstStyle/>
          <a:p>
            <a:pPr>
              <a:lnSpc>
                <a:spcPct val="120000"/>
              </a:lnSpc>
              <a:spcBef>
                <a:spcPct val="50000"/>
              </a:spcBef>
              <a:buFont typeface="Wingdings" pitchFamily="2" charset="2"/>
              <a:buChar char="u"/>
            </a:pPr>
            <a:r>
              <a:rPr lang="zh-CN" altLang="en-US" sz="3200" b="1" dirty="0" smtClean="0">
                <a:solidFill>
                  <a:srgbClr val="CC0000"/>
                </a:solidFill>
              </a:rPr>
              <a:t>理</a:t>
            </a:r>
            <a:r>
              <a:rPr lang="zh-CN" altLang="en-US" sz="3200" b="1" dirty="0">
                <a:solidFill>
                  <a:srgbClr val="CC0000"/>
                </a:solidFill>
              </a:rPr>
              <a:t>想气</a:t>
            </a:r>
            <a:r>
              <a:rPr lang="zh-CN" altLang="en-US" sz="3200" b="1" dirty="0" smtClean="0">
                <a:solidFill>
                  <a:srgbClr val="CC0000"/>
                </a:solidFill>
              </a:rPr>
              <a:t>体温度公式：</a:t>
            </a:r>
            <a:endParaRPr lang="zh-CN" altLang="en-US" sz="3200" b="1" dirty="0">
              <a:solidFill>
                <a:srgbClr val="CC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611560" y="980728"/>
            <a:ext cx="5041900" cy="990600"/>
            <a:chOff x="288" y="384"/>
            <a:chExt cx="2592" cy="624"/>
          </a:xfrm>
        </p:grpSpPr>
        <p:sp>
          <p:nvSpPr>
            <p:cNvPr id="25603" name="AutoShape 3"/>
            <p:cNvSpPr>
              <a:spLocks noChangeArrowheads="1"/>
            </p:cNvSpPr>
            <p:nvPr/>
          </p:nvSpPr>
          <p:spPr bwMode="auto">
            <a:xfrm>
              <a:off x="288" y="384"/>
              <a:ext cx="2112" cy="624"/>
            </a:xfrm>
            <a:prstGeom prst="horizontalScroll">
              <a:avLst>
                <a:gd name="adj" fmla="val 12500"/>
              </a:avLst>
            </a:prstGeom>
            <a:solidFill>
              <a:srgbClr val="FFFFEB"/>
            </a:solidFill>
            <a:ln w="9525">
              <a:solidFill>
                <a:schemeClr val="tx1"/>
              </a:solidFill>
              <a:round/>
              <a:headEnd/>
              <a:tailEnd/>
            </a:ln>
            <a:effectLst>
              <a:outerShdw dist="107763" dir="13500000" algn="ctr" rotWithShape="0">
                <a:srgbClr val="996633"/>
              </a:outerShdw>
            </a:effectLst>
          </p:spPr>
          <p:txBody>
            <a:bodyPr wrap="none" anchor="ctr"/>
            <a:lstStyle/>
            <a:p>
              <a:pPr>
                <a:defRPr/>
              </a:pPr>
              <a:endParaRPr lang="zh-CN" altLang="en-US">
                <a:solidFill>
                  <a:srgbClr val="000000"/>
                </a:solidFill>
                <a:ea typeface="宋体" pitchFamily="2" charset="-122"/>
              </a:endParaRPr>
            </a:p>
          </p:txBody>
        </p:sp>
        <p:sp>
          <p:nvSpPr>
            <p:cNvPr id="18442" name="Text Box 4"/>
            <p:cNvSpPr txBox="1">
              <a:spLocks noChangeArrowheads="1"/>
            </p:cNvSpPr>
            <p:nvPr/>
          </p:nvSpPr>
          <p:spPr bwMode="auto">
            <a:xfrm>
              <a:off x="384" y="528"/>
              <a:ext cx="2496" cy="404"/>
            </a:xfrm>
            <a:prstGeom prst="rect">
              <a:avLst/>
            </a:prstGeom>
            <a:noFill/>
            <a:ln w="28575">
              <a:noFill/>
              <a:miter lim="800000"/>
              <a:headEnd/>
              <a:tailEnd/>
            </a:ln>
          </p:spPr>
          <p:txBody>
            <a:bodyPr>
              <a:spAutoFit/>
            </a:bodyPr>
            <a:lstStyle/>
            <a:p>
              <a:pPr>
                <a:spcBef>
                  <a:spcPct val="50000"/>
                </a:spcBef>
              </a:pPr>
              <a:r>
                <a:rPr lang="zh-CN" altLang="en-US" sz="3600" b="1">
                  <a:solidFill>
                    <a:srgbClr val="333333"/>
                  </a:solidFill>
                </a:rPr>
                <a:t>温度 </a:t>
              </a:r>
              <a:r>
                <a:rPr lang="en-US" altLang="zh-CN" sz="3600" b="1" i="1">
                  <a:solidFill>
                    <a:srgbClr val="CC0000"/>
                  </a:solidFill>
                  <a:latin typeface="Times New Roman" pitchFamily="18" charset="0"/>
                </a:rPr>
                <a:t>T</a:t>
              </a:r>
              <a:r>
                <a:rPr lang="en-US" altLang="zh-CN" sz="3600" b="1">
                  <a:solidFill>
                    <a:srgbClr val="333333"/>
                  </a:solidFill>
                </a:rPr>
                <a:t> </a:t>
              </a:r>
              <a:r>
                <a:rPr lang="zh-CN" altLang="en-US" sz="3600" b="1">
                  <a:solidFill>
                    <a:srgbClr val="333333"/>
                  </a:solidFill>
                </a:rPr>
                <a:t>的物理</a:t>
              </a:r>
              <a:r>
                <a:rPr lang="zh-CN" altLang="en-US" sz="3600" b="1">
                  <a:solidFill>
                    <a:srgbClr val="CC0000"/>
                  </a:solidFill>
                </a:rPr>
                <a:t>意义</a:t>
              </a:r>
            </a:p>
          </p:txBody>
        </p:sp>
      </p:grpSp>
      <p:sp>
        <p:nvSpPr>
          <p:cNvPr id="25605" name="Rectangle 5"/>
          <p:cNvSpPr>
            <a:spLocks noChangeArrowheads="1"/>
          </p:cNvSpPr>
          <p:nvPr/>
        </p:nvSpPr>
        <p:spPr bwMode="auto">
          <a:xfrm>
            <a:off x="614041" y="4400773"/>
            <a:ext cx="7920037" cy="1260475"/>
          </a:xfrm>
          <a:prstGeom prst="rect">
            <a:avLst/>
          </a:prstGeom>
          <a:noFill/>
          <a:ln w="28575">
            <a:noFill/>
            <a:miter lim="800000"/>
            <a:headEnd/>
            <a:tailEnd/>
          </a:ln>
        </p:spPr>
        <p:txBody>
          <a:bodyPr>
            <a:spAutoFit/>
          </a:bodyPr>
          <a:lstStyle/>
          <a:p>
            <a:pPr>
              <a:lnSpc>
                <a:spcPct val="120000"/>
              </a:lnSpc>
              <a:spcBef>
                <a:spcPct val="50000"/>
              </a:spcBef>
            </a:pPr>
            <a:r>
              <a:rPr lang="en-US" altLang="zh-CN" sz="2800" b="1">
                <a:solidFill>
                  <a:srgbClr val="CC0000"/>
                </a:solidFill>
              </a:rPr>
              <a:t>     </a:t>
            </a:r>
            <a:r>
              <a:rPr lang="zh-CN" altLang="en-US" sz="3200" b="1">
                <a:solidFill>
                  <a:srgbClr val="CC0000"/>
                </a:solidFill>
              </a:rPr>
              <a:t>（</a:t>
            </a:r>
            <a:r>
              <a:rPr lang="en-US" altLang="zh-CN" sz="3200" b="1">
                <a:solidFill>
                  <a:srgbClr val="CC0000"/>
                </a:solidFill>
                <a:latin typeface="Times New Roman" pitchFamily="18" charset="0"/>
              </a:rPr>
              <a:t>3</a:t>
            </a:r>
            <a:r>
              <a:rPr lang="zh-CN" altLang="en-US" sz="3200" b="1">
                <a:solidFill>
                  <a:srgbClr val="CC0000"/>
                </a:solidFill>
              </a:rPr>
              <a:t>）</a:t>
            </a:r>
            <a:r>
              <a:rPr lang="zh-CN" altLang="en-US" sz="3200" b="1">
                <a:solidFill>
                  <a:srgbClr val="C00000"/>
                </a:solidFill>
              </a:rPr>
              <a:t>在同一温度下各种气体分子平均平动动能均相等</a:t>
            </a:r>
            <a:r>
              <a:rPr lang="en-US" altLang="zh-CN" sz="3200" b="1">
                <a:solidFill>
                  <a:srgbClr val="C00000"/>
                </a:solidFill>
                <a:latin typeface="Times New Roman" pitchFamily="18" charset="0"/>
              </a:rPr>
              <a:t>.</a:t>
            </a:r>
          </a:p>
        </p:txBody>
      </p:sp>
      <p:grpSp>
        <p:nvGrpSpPr>
          <p:cNvPr id="3" name="Group 12"/>
          <p:cNvGrpSpPr>
            <a:grpSpLocks/>
          </p:cNvGrpSpPr>
          <p:nvPr/>
        </p:nvGrpSpPr>
        <p:grpSpPr bwMode="auto">
          <a:xfrm>
            <a:off x="323528" y="2275111"/>
            <a:ext cx="8750300" cy="1311275"/>
            <a:chOff x="248" y="1365"/>
            <a:chExt cx="5217" cy="826"/>
          </a:xfrm>
        </p:grpSpPr>
        <p:sp>
          <p:nvSpPr>
            <p:cNvPr id="18440" name="Text Box 7"/>
            <p:cNvSpPr txBox="1">
              <a:spLocks noChangeArrowheads="1"/>
            </p:cNvSpPr>
            <p:nvPr/>
          </p:nvSpPr>
          <p:spPr bwMode="auto">
            <a:xfrm>
              <a:off x="248" y="1365"/>
              <a:ext cx="5217" cy="826"/>
            </a:xfrm>
            <a:prstGeom prst="rect">
              <a:avLst/>
            </a:prstGeom>
            <a:noFill/>
            <a:ln w="28575">
              <a:noFill/>
              <a:miter lim="800000"/>
              <a:headEnd/>
              <a:tailEnd/>
            </a:ln>
          </p:spPr>
          <p:txBody>
            <a:bodyPr>
              <a:spAutoFit/>
            </a:bodyPr>
            <a:lstStyle/>
            <a:p>
              <a:pPr>
                <a:spcBef>
                  <a:spcPct val="50000"/>
                </a:spcBef>
              </a:pPr>
              <a:r>
                <a:rPr lang="en-US" altLang="zh-CN" sz="3200" b="1">
                  <a:solidFill>
                    <a:srgbClr val="CC0000"/>
                  </a:solidFill>
                </a:rPr>
                <a:t>       </a:t>
              </a:r>
              <a:r>
                <a:rPr lang="zh-CN" altLang="en-US" sz="3200" b="1">
                  <a:solidFill>
                    <a:srgbClr val="CC0000"/>
                  </a:solidFill>
                </a:rPr>
                <a:t>（</a:t>
              </a:r>
              <a:r>
                <a:rPr lang="en-US" altLang="zh-CN" sz="3200" b="1">
                  <a:solidFill>
                    <a:srgbClr val="CC0000"/>
                  </a:solidFill>
                  <a:latin typeface="Times New Roman" pitchFamily="18" charset="0"/>
                </a:rPr>
                <a:t>1</a:t>
              </a:r>
              <a:r>
                <a:rPr lang="zh-CN" altLang="en-US" sz="3200" b="1">
                  <a:solidFill>
                    <a:srgbClr val="CC0000"/>
                  </a:solidFill>
                </a:rPr>
                <a:t>）</a:t>
              </a:r>
              <a:r>
                <a:rPr lang="zh-CN" altLang="en-US" sz="3200" b="1">
                  <a:solidFill>
                    <a:srgbClr val="000000"/>
                  </a:solidFill>
                </a:rPr>
                <a:t>温度是分子平均平动动能的量度</a:t>
              </a:r>
              <a:r>
                <a:rPr lang="en-US" altLang="zh-CN" sz="3200" b="1">
                  <a:solidFill>
                    <a:srgbClr val="000000"/>
                  </a:solidFill>
                  <a:latin typeface="Times New Roman" pitchFamily="18" charset="0"/>
                </a:rPr>
                <a:t>.</a:t>
              </a:r>
              <a:r>
                <a:rPr lang="en-US" altLang="zh-CN" sz="3200" b="1">
                  <a:solidFill>
                    <a:srgbClr val="333333"/>
                  </a:solidFill>
                  <a:latin typeface="Times New Roman" pitchFamily="18" charset="0"/>
                </a:rPr>
                <a:t> </a:t>
              </a:r>
              <a:r>
                <a:rPr lang="en-US" altLang="zh-CN" sz="3200" b="1">
                  <a:solidFill>
                    <a:srgbClr val="333333"/>
                  </a:solidFill>
                </a:rPr>
                <a:t>  </a:t>
              </a:r>
            </a:p>
            <a:p>
              <a:pPr>
                <a:spcBef>
                  <a:spcPct val="50000"/>
                </a:spcBef>
              </a:pPr>
              <a:endParaRPr lang="en-US" altLang="zh-CN" sz="3200" b="1">
                <a:solidFill>
                  <a:srgbClr val="333333"/>
                </a:solidFill>
                <a:latin typeface="Times New Roman" pitchFamily="18" charset="0"/>
              </a:endParaRPr>
            </a:p>
          </p:txBody>
        </p:sp>
        <p:graphicFrame>
          <p:nvGraphicFramePr>
            <p:cNvPr id="18435" name="Object 8"/>
            <p:cNvGraphicFramePr>
              <a:graphicFrameLocks noChangeAspect="1"/>
            </p:cNvGraphicFramePr>
            <p:nvPr/>
          </p:nvGraphicFramePr>
          <p:xfrm>
            <a:off x="2109" y="1797"/>
            <a:ext cx="930" cy="376"/>
          </p:xfrm>
          <a:graphic>
            <a:graphicData uri="http://schemas.openxmlformats.org/presentationml/2006/ole">
              <p:oleObj spid="_x0000_s68611" name="Equation" r:id="rId3" imgW="736560" imgH="317160" progId="Equation.3">
                <p:embed/>
              </p:oleObj>
            </a:graphicData>
          </a:graphic>
        </p:graphicFrame>
      </p:grpSp>
      <p:sp>
        <p:nvSpPr>
          <p:cNvPr id="25609" name="Rectangle 9"/>
          <p:cNvSpPr>
            <a:spLocks noChangeArrowheads="1"/>
          </p:cNvSpPr>
          <p:nvPr/>
        </p:nvSpPr>
        <p:spPr bwMode="auto">
          <a:xfrm>
            <a:off x="325116" y="3608611"/>
            <a:ext cx="8142287" cy="676275"/>
          </a:xfrm>
          <a:prstGeom prst="rect">
            <a:avLst/>
          </a:prstGeom>
          <a:noFill/>
          <a:ln w="9525">
            <a:noFill/>
            <a:miter lim="800000"/>
            <a:headEnd/>
            <a:tailEnd/>
          </a:ln>
        </p:spPr>
        <p:txBody>
          <a:bodyPr>
            <a:spAutoFit/>
          </a:bodyPr>
          <a:lstStyle/>
          <a:p>
            <a:pPr>
              <a:lnSpc>
                <a:spcPct val="120000"/>
              </a:lnSpc>
              <a:spcBef>
                <a:spcPct val="50000"/>
              </a:spcBef>
            </a:pPr>
            <a:r>
              <a:rPr lang="en-US" altLang="zh-CN" sz="3200" b="1">
                <a:solidFill>
                  <a:srgbClr val="CC0000"/>
                </a:solidFill>
              </a:rPr>
              <a:t>       </a:t>
            </a:r>
            <a:r>
              <a:rPr lang="zh-CN" altLang="en-US" sz="3200" b="1">
                <a:solidFill>
                  <a:srgbClr val="CC0000"/>
                </a:solidFill>
              </a:rPr>
              <a:t>（</a:t>
            </a:r>
            <a:r>
              <a:rPr lang="en-US" altLang="zh-CN" sz="3200" b="1">
                <a:solidFill>
                  <a:srgbClr val="CC0000"/>
                </a:solidFill>
                <a:latin typeface="Times New Roman" pitchFamily="18" charset="0"/>
              </a:rPr>
              <a:t>2</a:t>
            </a:r>
            <a:r>
              <a:rPr lang="zh-CN" altLang="en-US" sz="3200" b="1">
                <a:solidFill>
                  <a:srgbClr val="CC0000"/>
                </a:solidFill>
              </a:rPr>
              <a:t>）</a:t>
            </a:r>
            <a:r>
              <a:rPr lang="zh-CN" altLang="en-US" sz="3200" b="1">
                <a:solidFill>
                  <a:srgbClr val="000000"/>
                </a:solidFill>
              </a:rPr>
              <a:t>温度是大量分子的集体表现</a:t>
            </a:r>
            <a:r>
              <a:rPr lang="en-US" altLang="zh-CN" sz="3200" b="1">
                <a:solidFill>
                  <a:srgbClr val="000000"/>
                </a:solidFill>
                <a:latin typeface="Times New Roman" pitchFamily="18" charset="0"/>
              </a:rPr>
              <a:t>.</a:t>
            </a:r>
          </a:p>
        </p:txBody>
      </p:sp>
      <p:sp>
        <p:nvSpPr>
          <p:cNvPr id="11" name="灯片编号占位符 1"/>
          <p:cNvSpPr txBox="1">
            <a:spLocks/>
          </p:cNvSpPr>
          <p:nvPr/>
        </p:nvSpPr>
        <p:spPr bwMode="auto">
          <a:xfrm>
            <a:off x="8606357" y="6584504"/>
            <a:ext cx="574155" cy="300880"/>
          </a:xfrm>
          <a:prstGeom prst="rect">
            <a:avLst/>
          </a:prstGeom>
          <a:noFill/>
          <a:ln>
            <a:miter lim="800000"/>
            <a:headEnd/>
            <a:tailEnd/>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22E3302-AC1D-47C1-A1C9-47DFDD07C79E}" type="slidenum">
              <a:rPr kumimoji="0" lang="en-US" altLang="zh-CN" sz="1400" b="0" i="0" u="none" strike="noStrike" kern="1200" cap="none" spc="0" normalizeH="0" baseline="0" noProof="0" smtClean="0">
                <a:ln>
                  <a:noFill/>
                </a:ln>
                <a:solidFill>
                  <a:schemeClr val="tx1"/>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zh-CN" sz="1400" b="0" i="0" u="none" strike="noStrike" kern="1200" cap="none" spc="0" normalizeH="0" baseline="0" noProof="0" dirty="0">
              <a:ln>
                <a:noFill/>
              </a:ln>
              <a:solidFill>
                <a:schemeClr val="tx1"/>
              </a:solidFill>
              <a:effectLst/>
              <a:uLnTx/>
              <a:uFillTx/>
              <a:latin typeface="Arial" charset="0"/>
              <a:ea typeface="宋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609"/>
                                        </p:tgtEl>
                                        <p:attrNameLst>
                                          <p:attrName>style.visibility</p:attrName>
                                        </p:attrNameLst>
                                      </p:cBhvr>
                                      <p:to>
                                        <p:strVal val="visible"/>
                                      </p:to>
                                    </p:set>
                                    <p:animEffect transition="in" filter="blinds(horizontal)">
                                      <p:cBhvr>
                                        <p:cTn id="12" dur="500"/>
                                        <p:tgtEl>
                                          <p:spTgt spid="2560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605"/>
                                        </p:tgtEl>
                                        <p:attrNameLst>
                                          <p:attrName>style.visibility</p:attrName>
                                        </p:attrNameLst>
                                      </p:cBhvr>
                                      <p:to>
                                        <p:strVal val="visible"/>
                                      </p:to>
                                    </p:set>
                                    <p:animEffect transition="in" filter="blinds(horizontal)">
                                      <p:cBhvr>
                                        <p:cTn id="17" dur="500"/>
                                        <p:tgtEl>
                                          <p:spTgt spid="256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5" grpId="0" autoUpdateAnimBg="0"/>
      <p:bldP spid="25609"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a:spLocks noChangeArrowheads="1"/>
          </p:cNvSpPr>
          <p:nvPr/>
        </p:nvSpPr>
        <p:spPr bwMode="auto">
          <a:xfrm>
            <a:off x="-253802" y="2038474"/>
            <a:ext cx="8064500" cy="2399503"/>
          </a:xfrm>
          <a:prstGeom prst="rect">
            <a:avLst/>
          </a:prstGeom>
          <a:noFill/>
          <a:ln w="9525">
            <a:noFill/>
            <a:miter lim="800000"/>
            <a:headEnd/>
            <a:tailEnd/>
          </a:ln>
          <a:effectLst/>
        </p:spPr>
        <p:txBody>
          <a:bodyPr>
            <a:spAutoFit/>
          </a:bodyPr>
          <a:lstStyle/>
          <a:p>
            <a:pPr>
              <a:lnSpc>
                <a:spcPct val="120000"/>
              </a:lnSpc>
            </a:pPr>
            <a:r>
              <a:rPr lang="en-US" altLang="zh-CN" sz="3200" b="1" smtClean="0">
                <a:solidFill>
                  <a:srgbClr val="333333"/>
                </a:solidFill>
                <a:latin typeface="Times New Roman" pitchFamily="18" charset="0"/>
              </a:rPr>
              <a:t>      </a:t>
            </a:r>
            <a:r>
              <a:rPr lang="zh-CN" altLang="en-US" sz="3200" b="1" smtClean="0">
                <a:solidFill>
                  <a:srgbClr val="CC0000"/>
                </a:solidFill>
                <a:latin typeface="Times New Roman" pitchFamily="18" charset="0"/>
              </a:rPr>
              <a:t>（</a:t>
            </a:r>
            <a:r>
              <a:rPr lang="en-US" altLang="zh-CN" sz="3200" b="1" smtClean="0">
                <a:solidFill>
                  <a:srgbClr val="CC0000"/>
                </a:solidFill>
                <a:latin typeface="Times New Roman" pitchFamily="18" charset="0"/>
              </a:rPr>
              <a:t>A</a:t>
            </a:r>
            <a:r>
              <a:rPr lang="zh-CN" altLang="en-US" sz="3200" b="1" smtClean="0">
                <a:solidFill>
                  <a:srgbClr val="CC0000"/>
                </a:solidFill>
                <a:latin typeface="Times New Roman" pitchFamily="18" charset="0"/>
              </a:rPr>
              <a:t>）</a:t>
            </a:r>
            <a:r>
              <a:rPr lang="zh-CN" altLang="en-US" sz="3200" b="1" smtClean="0">
                <a:solidFill>
                  <a:srgbClr val="000000"/>
                </a:solidFill>
                <a:latin typeface="Times New Roman" pitchFamily="18" charset="0"/>
              </a:rPr>
              <a:t>温度相同、压强相同</a:t>
            </a:r>
            <a:r>
              <a:rPr lang="en-US" altLang="zh-CN" sz="3200" b="1" smtClean="0">
                <a:solidFill>
                  <a:srgbClr val="000000"/>
                </a:solidFill>
                <a:latin typeface="Times New Roman" pitchFamily="18" charset="0"/>
              </a:rPr>
              <a:t>.</a:t>
            </a:r>
          </a:p>
          <a:p>
            <a:pPr>
              <a:lnSpc>
                <a:spcPct val="120000"/>
              </a:lnSpc>
            </a:pPr>
            <a:r>
              <a:rPr lang="en-US" altLang="zh-CN" sz="3200" b="1" smtClean="0">
                <a:solidFill>
                  <a:srgbClr val="333333"/>
                </a:solidFill>
                <a:latin typeface="Times New Roman" pitchFamily="18" charset="0"/>
              </a:rPr>
              <a:t>      </a:t>
            </a:r>
            <a:r>
              <a:rPr lang="zh-CN" altLang="en-US" sz="3200" b="1" smtClean="0">
                <a:solidFill>
                  <a:srgbClr val="CC0000"/>
                </a:solidFill>
                <a:latin typeface="Times New Roman" pitchFamily="18" charset="0"/>
              </a:rPr>
              <a:t>（</a:t>
            </a:r>
            <a:r>
              <a:rPr lang="en-US" altLang="zh-CN" sz="3200" b="1" smtClean="0">
                <a:solidFill>
                  <a:srgbClr val="CC0000"/>
                </a:solidFill>
                <a:latin typeface="Times New Roman" pitchFamily="18" charset="0"/>
              </a:rPr>
              <a:t>B</a:t>
            </a:r>
            <a:r>
              <a:rPr lang="zh-CN" altLang="en-US" sz="3200" b="1" smtClean="0">
                <a:solidFill>
                  <a:srgbClr val="CC0000"/>
                </a:solidFill>
                <a:latin typeface="Times New Roman" pitchFamily="18" charset="0"/>
              </a:rPr>
              <a:t>）</a:t>
            </a:r>
            <a:r>
              <a:rPr lang="zh-CN" altLang="en-US" sz="3200" b="1" smtClean="0">
                <a:solidFill>
                  <a:srgbClr val="000000"/>
                </a:solidFill>
                <a:latin typeface="Times New Roman" pitchFamily="18" charset="0"/>
              </a:rPr>
              <a:t>温度、压强都不同</a:t>
            </a:r>
            <a:r>
              <a:rPr lang="en-US" altLang="zh-CN" sz="3200" b="1" smtClean="0">
                <a:solidFill>
                  <a:srgbClr val="000000"/>
                </a:solidFill>
                <a:latin typeface="Times New Roman" pitchFamily="18" charset="0"/>
              </a:rPr>
              <a:t>.</a:t>
            </a:r>
          </a:p>
          <a:p>
            <a:pPr>
              <a:lnSpc>
                <a:spcPct val="120000"/>
              </a:lnSpc>
            </a:pPr>
            <a:r>
              <a:rPr lang="en-US" altLang="zh-CN" sz="3200" b="1" smtClean="0">
                <a:solidFill>
                  <a:srgbClr val="333333"/>
                </a:solidFill>
                <a:latin typeface="Times New Roman" pitchFamily="18" charset="0"/>
              </a:rPr>
              <a:t>      </a:t>
            </a:r>
            <a:r>
              <a:rPr lang="zh-CN" altLang="en-US" sz="3200" b="1" smtClean="0">
                <a:solidFill>
                  <a:srgbClr val="CC0000"/>
                </a:solidFill>
                <a:latin typeface="Times New Roman" pitchFamily="18" charset="0"/>
              </a:rPr>
              <a:t>（</a:t>
            </a:r>
            <a:r>
              <a:rPr lang="en-US" altLang="zh-CN" sz="3200" b="1" smtClean="0">
                <a:solidFill>
                  <a:srgbClr val="CC0000"/>
                </a:solidFill>
                <a:latin typeface="Times New Roman" pitchFamily="18" charset="0"/>
              </a:rPr>
              <a:t>C</a:t>
            </a:r>
            <a:r>
              <a:rPr lang="zh-CN" altLang="en-US" sz="3200" b="1" smtClean="0">
                <a:solidFill>
                  <a:srgbClr val="CC0000"/>
                </a:solidFill>
                <a:latin typeface="Times New Roman" pitchFamily="18" charset="0"/>
              </a:rPr>
              <a:t>）</a:t>
            </a:r>
            <a:r>
              <a:rPr lang="zh-CN" altLang="en-US" sz="3200" b="1" smtClean="0">
                <a:solidFill>
                  <a:srgbClr val="000000"/>
                </a:solidFill>
                <a:latin typeface="Times New Roman" pitchFamily="18" charset="0"/>
              </a:rPr>
              <a:t>温度相同，氦气压强大于氮气压强</a:t>
            </a:r>
            <a:r>
              <a:rPr lang="en-US" altLang="zh-CN" sz="3200" b="1" smtClean="0">
                <a:solidFill>
                  <a:srgbClr val="000000"/>
                </a:solidFill>
                <a:latin typeface="Times New Roman" pitchFamily="18" charset="0"/>
              </a:rPr>
              <a:t>.</a:t>
            </a:r>
          </a:p>
          <a:p>
            <a:pPr>
              <a:lnSpc>
                <a:spcPct val="120000"/>
              </a:lnSpc>
            </a:pPr>
            <a:r>
              <a:rPr lang="en-US" altLang="zh-CN" sz="3200" b="1" smtClean="0">
                <a:solidFill>
                  <a:srgbClr val="333333"/>
                </a:solidFill>
                <a:latin typeface="Times New Roman" pitchFamily="18" charset="0"/>
              </a:rPr>
              <a:t>      </a:t>
            </a:r>
            <a:r>
              <a:rPr lang="zh-CN" altLang="en-US" sz="3200" b="1" smtClean="0">
                <a:solidFill>
                  <a:srgbClr val="CC0000"/>
                </a:solidFill>
                <a:latin typeface="Times New Roman" pitchFamily="18" charset="0"/>
              </a:rPr>
              <a:t>（</a:t>
            </a:r>
            <a:r>
              <a:rPr lang="en-US" altLang="zh-CN" sz="3200" b="1" smtClean="0">
                <a:solidFill>
                  <a:srgbClr val="CC0000"/>
                </a:solidFill>
                <a:latin typeface="Times New Roman" pitchFamily="18" charset="0"/>
              </a:rPr>
              <a:t>D</a:t>
            </a:r>
            <a:r>
              <a:rPr lang="zh-CN" altLang="en-US" sz="3200" b="1" smtClean="0">
                <a:solidFill>
                  <a:srgbClr val="CC0000"/>
                </a:solidFill>
                <a:latin typeface="Times New Roman" pitchFamily="18" charset="0"/>
              </a:rPr>
              <a:t>）</a:t>
            </a:r>
            <a:r>
              <a:rPr lang="zh-CN" altLang="en-US" sz="3200" b="1" smtClean="0">
                <a:solidFill>
                  <a:srgbClr val="000000"/>
                </a:solidFill>
                <a:latin typeface="Times New Roman" pitchFamily="18" charset="0"/>
              </a:rPr>
              <a:t>温度相同，氦气压强小于氮气压强</a:t>
            </a:r>
            <a:r>
              <a:rPr lang="en-US" altLang="zh-CN" sz="3200" b="1" smtClean="0">
                <a:solidFill>
                  <a:srgbClr val="000000"/>
                </a:solidFill>
                <a:latin typeface="Times New Roman" pitchFamily="18" charset="0"/>
              </a:rPr>
              <a:t>.</a:t>
            </a:r>
            <a:endParaRPr lang="zh-CN" altLang="zh-CN" sz="3200" b="1" smtClean="0">
              <a:solidFill>
                <a:srgbClr val="000000"/>
              </a:solidFill>
              <a:latin typeface="Times New Roman" pitchFamily="18" charset="0"/>
            </a:endParaRPr>
          </a:p>
        </p:txBody>
      </p:sp>
      <p:sp>
        <p:nvSpPr>
          <p:cNvPr id="81926" name="Rectangle 6"/>
          <p:cNvSpPr>
            <a:spLocks noChangeArrowheads="1"/>
          </p:cNvSpPr>
          <p:nvPr/>
        </p:nvSpPr>
        <p:spPr bwMode="auto">
          <a:xfrm>
            <a:off x="357385" y="814511"/>
            <a:ext cx="8247063" cy="1217641"/>
          </a:xfrm>
          <a:prstGeom prst="rect">
            <a:avLst/>
          </a:prstGeom>
          <a:noFill/>
          <a:ln w="9525">
            <a:noFill/>
            <a:miter lim="800000"/>
            <a:headEnd/>
            <a:tailEnd/>
          </a:ln>
          <a:effectLst/>
        </p:spPr>
        <p:txBody>
          <a:bodyPr>
            <a:spAutoFit/>
          </a:bodyPr>
          <a:lstStyle/>
          <a:p>
            <a:pPr>
              <a:lnSpc>
                <a:spcPct val="120000"/>
              </a:lnSpc>
              <a:spcBef>
                <a:spcPct val="50000"/>
              </a:spcBef>
            </a:pPr>
            <a:r>
              <a:rPr lang="en-US" altLang="zh-CN" sz="3200" b="1" dirty="0" smtClean="0">
                <a:solidFill>
                  <a:srgbClr val="A50021"/>
                </a:solidFill>
                <a:latin typeface="Times New Roman" pitchFamily="18" charset="0"/>
              </a:rPr>
              <a:t> 1.</a:t>
            </a:r>
            <a:r>
              <a:rPr lang="zh-CN" altLang="en-US" sz="3200" b="1" dirty="0" smtClean="0">
                <a:solidFill>
                  <a:srgbClr val="000000"/>
                </a:solidFill>
                <a:latin typeface="Times New Roman" pitchFamily="18" charset="0"/>
              </a:rPr>
              <a:t>一瓶</a:t>
            </a:r>
            <a:r>
              <a:rPr lang="zh-CN" altLang="en-US" sz="3200" b="1" dirty="0" smtClean="0">
                <a:solidFill>
                  <a:srgbClr val="0000FF"/>
                </a:solidFill>
                <a:latin typeface="Times New Roman" pitchFamily="18" charset="0"/>
              </a:rPr>
              <a:t>氦气</a:t>
            </a:r>
            <a:r>
              <a:rPr lang="zh-CN" altLang="en-US" sz="3200" b="1" dirty="0" smtClean="0">
                <a:solidFill>
                  <a:srgbClr val="000000"/>
                </a:solidFill>
                <a:latin typeface="Times New Roman" pitchFamily="18" charset="0"/>
              </a:rPr>
              <a:t>和一瓶</a:t>
            </a:r>
            <a:r>
              <a:rPr lang="zh-CN" altLang="en-US" sz="3200" b="1" dirty="0" smtClean="0">
                <a:solidFill>
                  <a:srgbClr val="0000FF"/>
                </a:solidFill>
                <a:latin typeface="Times New Roman" pitchFamily="18" charset="0"/>
              </a:rPr>
              <a:t>氮气</a:t>
            </a:r>
            <a:r>
              <a:rPr lang="zh-CN" altLang="en-US" sz="3200" b="1" dirty="0" smtClean="0">
                <a:solidFill>
                  <a:srgbClr val="FF0000"/>
                </a:solidFill>
                <a:latin typeface="Times New Roman" pitchFamily="18" charset="0"/>
              </a:rPr>
              <a:t>密度相同</a:t>
            </a:r>
            <a:r>
              <a:rPr lang="zh-CN" altLang="en-US" sz="3200" b="1" dirty="0" smtClean="0">
                <a:solidFill>
                  <a:srgbClr val="000000"/>
                </a:solidFill>
                <a:latin typeface="Times New Roman" pitchFamily="18" charset="0"/>
              </a:rPr>
              <a:t>，分子</a:t>
            </a:r>
            <a:r>
              <a:rPr lang="zh-CN" altLang="en-US" sz="3200" b="1" dirty="0" smtClean="0">
                <a:solidFill>
                  <a:srgbClr val="0000FF"/>
                </a:solidFill>
                <a:latin typeface="Times New Roman" pitchFamily="18" charset="0"/>
              </a:rPr>
              <a:t>平均 平动动能</a:t>
            </a:r>
            <a:r>
              <a:rPr lang="zh-CN" altLang="en-US" sz="3200" b="1" dirty="0" smtClean="0">
                <a:solidFill>
                  <a:srgbClr val="000000"/>
                </a:solidFill>
                <a:latin typeface="Times New Roman" pitchFamily="18" charset="0"/>
              </a:rPr>
              <a:t>相同，而且都处于平衡状态，则：</a:t>
            </a:r>
          </a:p>
        </p:txBody>
      </p:sp>
      <p:pic>
        <p:nvPicPr>
          <p:cNvPr id="81927" name="Picture 7" descr="4C70BBA977B88F3DF7393CB7443DAF2A"/>
          <p:cNvPicPr>
            <a:picLocks noChangeAspect="1" noChangeArrowheads="1" noCrop="1"/>
          </p:cNvPicPr>
          <p:nvPr/>
        </p:nvPicPr>
        <p:blipFill>
          <a:blip r:embed="rId4" cstate="print"/>
          <a:srcRect/>
          <a:stretch>
            <a:fillRect/>
          </a:stretch>
        </p:blipFill>
        <p:spPr bwMode="auto">
          <a:xfrm>
            <a:off x="117673" y="3279899"/>
            <a:ext cx="538162" cy="533400"/>
          </a:xfrm>
          <a:prstGeom prst="rect">
            <a:avLst/>
          </a:prstGeom>
          <a:noFill/>
        </p:spPr>
      </p:pic>
      <p:grpSp>
        <p:nvGrpSpPr>
          <p:cNvPr id="2" name="Group 8"/>
          <p:cNvGrpSpPr>
            <a:grpSpLocks/>
          </p:cNvGrpSpPr>
          <p:nvPr/>
        </p:nvGrpSpPr>
        <p:grpSpPr bwMode="auto">
          <a:xfrm>
            <a:off x="257373" y="94034"/>
            <a:ext cx="3060700" cy="862012"/>
            <a:chOff x="408" y="279"/>
            <a:chExt cx="1928" cy="543"/>
          </a:xfrm>
        </p:grpSpPr>
        <p:sp>
          <p:nvSpPr>
            <p:cNvPr id="81929" name="AutoShape 9"/>
            <p:cNvSpPr>
              <a:spLocks noChangeArrowheads="1"/>
            </p:cNvSpPr>
            <p:nvPr/>
          </p:nvSpPr>
          <p:spPr bwMode="auto">
            <a:xfrm>
              <a:off x="408" y="279"/>
              <a:ext cx="1928" cy="543"/>
            </a:xfrm>
            <a:prstGeom prst="horizontalScroll">
              <a:avLst>
                <a:gd name="adj" fmla="val 12500"/>
              </a:avLst>
            </a:prstGeom>
            <a:solidFill>
              <a:srgbClr val="FF99CC">
                <a:alpha val="23000"/>
              </a:srgbClr>
            </a:solidFill>
            <a:ln w="9525">
              <a:solidFill>
                <a:schemeClr val="tx1"/>
              </a:solidFill>
              <a:round/>
              <a:headEnd/>
              <a:tailEnd/>
            </a:ln>
            <a:effectLst/>
          </p:spPr>
          <p:txBody>
            <a:bodyPr wrap="none" anchor="ctr"/>
            <a:lstStyle/>
            <a:p>
              <a:endParaRPr kumimoji="1" lang="zh-CN" altLang="en-US" sz="2800" smtClean="0">
                <a:solidFill>
                  <a:srgbClr val="000000"/>
                </a:solidFill>
                <a:latin typeface="Times New Roman" pitchFamily="18" charset="0"/>
              </a:endParaRPr>
            </a:p>
          </p:txBody>
        </p:sp>
        <p:sp>
          <p:nvSpPr>
            <p:cNvPr id="81930" name="Text Box 10"/>
            <p:cNvSpPr txBox="1">
              <a:spLocks noChangeArrowheads="1"/>
            </p:cNvSpPr>
            <p:nvPr/>
          </p:nvSpPr>
          <p:spPr bwMode="auto">
            <a:xfrm>
              <a:off x="507" y="364"/>
              <a:ext cx="1627" cy="404"/>
            </a:xfrm>
            <a:prstGeom prst="rect">
              <a:avLst/>
            </a:prstGeom>
            <a:noFill/>
            <a:ln w="9525">
              <a:noFill/>
              <a:miter lim="800000"/>
              <a:headEnd/>
              <a:tailEnd/>
            </a:ln>
            <a:effectLst/>
          </p:spPr>
          <p:txBody>
            <a:bodyPr>
              <a:spAutoFit/>
            </a:bodyPr>
            <a:lstStyle/>
            <a:p>
              <a:pPr algn="ctr">
                <a:spcBef>
                  <a:spcPct val="50000"/>
                </a:spcBef>
              </a:pPr>
              <a:r>
                <a:rPr lang="zh-CN" altLang="en-US" sz="3600" b="1" smtClean="0">
                  <a:solidFill>
                    <a:srgbClr val="1C1C1C"/>
                  </a:solidFill>
                  <a:latin typeface="Times New Roman" pitchFamily="18" charset="0"/>
                </a:rPr>
                <a:t>讨   论</a:t>
              </a:r>
            </a:p>
          </p:txBody>
        </p:sp>
      </p:grpSp>
      <p:grpSp>
        <p:nvGrpSpPr>
          <p:cNvPr id="3" name="Group 15"/>
          <p:cNvGrpSpPr>
            <a:grpSpLocks/>
          </p:cNvGrpSpPr>
          <p:nvPr/>
        </p:nvGrpSpPr>
        <p:grpSpPr bwMode="auto">
          <a:xfrm>
            <a:off x="682302" y="4371081"/>
            <a:ext cx="2892425" cy="1123950"/>
            <a:chOff x="657" y="3272"/>
            <a:chExt cx="1822" cy="708"/>
          </a:xfrm>
        </p:grpSpPr>
        <p:sp>
          <p:nvSpPr>
            <p:cNvPr id="81924" name="Text Box 4"/>
            <p:cNvSpPr txBox="1">
              <a:spLocks noChangeArrowheads="1"/>
            </p:cNvSpPr>
            <p:nvPr/>
          </p:nvSpPr>
          <p:spPr bwMode="auto">
            <a:xfrm>
              <a:off x="657" y="3414"/>
              <a:ext cx="817" cy="395"/>
            </a:xfrm>
            <a:prstGeom prst="rect">
              <a:avLst/>
            </a:prstGeom>
            <a:noFill/>
            <a:ln w="9525">
              <a:noFill/>
              <a:miter lim="800000"/>
              <a:headEnd/>
              <a:tailEnd/>
            </a:ln>
            <a:effectLst/>
          </p:spPr>
          <p:txBody>
            <a:bodyPr>
              <a:spAutoFit/>
            </a:bodyPr>
            <a:lstStyle/>
            <a:p>
              <a:pPr>
                <a:lnSpc>
                  <a:spcPct val="120000"/>
                </a:lnSpc>
              </a:pPr>
              <a:r>
                <a:rPr lang="zh-CN" altLang="zh-CN" sz="3200" b="1" smtClean="0">
                  <a:solidFill>
                    <a:srgbClr val="CC0000"/>
                  </a:solidFill>
                  <a:latin typeface="Times New Roman" pitchFamily="18" charset="0"/>
                </a:rPr>
                <a:t>解：</a:t>
              </a:r>
              <a:endParaRPr lang="zh-CN" altLang="en-US" sz="3200" b="1" smtClean="0">
                <a:solidFill>
                  <a:srgbClr val="CC0000"/>
                </a:solidFill>
                <a:latin typeface="Times New Roman" pitchFamily="18" charset="0"/>
              </a:endParaRPr>
            </a:p>
          </p:txBody>
        </p:sp>
        <p:graphicFrame>
          <p:nvGraphicFramePr>
            <p:cNvPr id="81931" name="Object 11"/>
            <p:cNvGraphicFramePr>
              <a:graphicFrameLocks noChangeAspect="1"/>
            </p:cNvGraphicFramePr>
            <p:nvPr/>
          </p:nvGraphicFramePr>
          <p:xfrm>
            <a:off x="1172" y="3272"/>
            <a:ext cx="1307" cy="708"/>
          </p:xfrm>
          <a:graphic>
            <a:graphicData uri="http://schemas.openxmlformats.org/presentationml/2006/ole">
              <p:oleObj spid="_x0000_s71684" name="公式" r:id="rId5" imgW="660240" imgH="406080" progId="Equation.3">
                <p:embed/>
              </p:oleObj>
            </a:graphicData>
          </a:graphic>
        </p:graphicFrame>
      </p:grpSp>
      <p:graphicFrame>
        <p:nvGraphicFramePr>
          <p:cNvPr id="12293" name="Object 8"/>
          <p:cNvGraphicFramePr>
            <a:graphicFrameLocks noChangeAspect="1"/>
          </p:cNvGraphicFramePr>
          <p:nvPr/>
        </p:nvGraphicFramePr>
        <p:xfrm>
          <a:off x="1453833" y="5534819"/>
          <a:ext cx="2312987" cy="1069975"/>
        </p:xfrm>
        <a:graphic>
          <a:graphicData uri="http://schemas.openxmlformats.org/presentationml/2006/ole">
            <p:oleObj spid="_x0000_s71688" name="Equation" r:id="rId6" imgW="825480" imgH="393480" progId="Equation.DSMT4">
              <p:embed/>
            </p:oleObj>
          </a:graphicData>
        </a:graphic>
      </p:graphicFrame>
      <p:graphicFrame>
        <p:nvGraphicFramePr>
          <p:cNvPr id="20" name="Object 8"/>
          <p:cNvGraphicFramePr>
            <a:graphicFrameLocks noChangeAspect="1"/>
          </p:cNvGraphicFramePr>
          <p:nvPr/>
        </p:nvGraphicFramePr>
        <p:xfrm>
          <a:off x="5266373" y="5534819"/>
          <a:ext cx="3735387" cy="1069975"/>
        </p:xfrm>
        <a:graphic>
          <a:graphicData uri="http://schemas.openxmlformats.org/presentationml/2006/ole">
            <p:oleObj spid="_x0000_s71689" name="Equation" r:id="rId7" imgW="1333440" imgH="393480" progId="Equation.DSMT4">
              <p:embed/>
            </p:oleObj>
          </a:graphicData>
        </a:graphic>
      </p:graphicFrame>
      <p:sp>
        <p:nvSpPr>
          <p:cNvPr id="22" name="AutoShape 9"/>
          <p:cNvSpPr>
            <a:spLocks noChangeArrowheads="1"/>
          </p:cNvSpPr>
          <p:nvPr/>
        </p:nvSpPr>
        <p:spPr bwMode="auto">
          <a:xfrm>
            <a:off x="4144952" y="6010543"/>
            <a:ext cx="649288" cy="144463"/>
          </a:xfrm>
          <a:prstGeom prst="rightArrow">
            <a:avLst>
              <a:gd name="adj1" fmla="val 50000"/>
              <a:gd name="adj2" fmla="val 112362"/>
            </a:avLst>
          </a:prstGeom>
          <a:solidFill>
            <a:srgbClr val="FFFF00"/>
          </a:solidFill>
          <a:ln w="25400">
            <a:solidFill>
              <a:srgbClr val="FF0000"/>
            </a:solidFill>
            <a:miter lim="800000"/>
            <a:headEnd/>
            <a:tailEnd/>
          </a:ln>
        </p:spPr>
        <p:txBody>
          <a:bodyPr wrap="none" anchor="ctr"/>
          <a:lstStyle/>
          <a:p>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293"/>
                                        </p:tgtEl>
                                        <p:attrNameLst>
                                          <p:attrName>style.visibility</p:attrName>
                                        </p:attrNameLst>
                                      </p:cBhvr>
                                      <p:to>
                                        <p:strVal val="visible"/>
                                      </p:to>
                                    </p:set>
                                    <p:animEffect transition="in" filter="wipe(left)">
                                      <p:cBhvr>
                                        <p:cTn id="12" dur="500"/>
                                        <p:tgtEl>
                                          <p:spTgt spid="1229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left)">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81927"/>
                                        </p:tgtEl>
                                        <p:attrNameLst>
                                          <p:attrName>style.visibility</p:attrName>
                                        </p:attrNameLst>
                                      </p:cBhvr>
                                      <p:to>
                                        <p:strVal val="visible"/>
                                      </p:to>
                                    </p:set>
                                    <p:animEffect transition="in" filter="slide(fromBottom)">
                                      <p:cBhvr>
                                        <p:cTn id="27" dur="500"/>
                                        <p:tgtEl>
                                          <p:spTgt spid="819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2"/>
          <p:cNvSpPr txBox="1">
            <a:spLocks noChangeArrowheads="1"/>
          </p:cNvSpPr>
          <p:nvPr/>
        </p:nvSpPr>
        <p:spPr bwMode="auto">
          <a:xfrm>
            <a:off x="655638" y="693738"/>
            <a:ext cx="7920037" cy="2428875"/>
          </a:xfrm>
          <a:prstGeom prst="rect">
            <a:avLst/>
          </a:prstGeom>
          <a:noFill/>
          <a:ln w="9525">
            <a:noFill/>
            <a:miter lim="800000"/>
            <a:headEnd/>
            <a:tailEnd/>
          </a:ln>
          <a:effectLst/>
        </p:spPr>
        <p:txBody>
          <a:bodyPr>
            <a:spAutoFit/>
          </a:bodyPr>
          <a:lstStyle/>
          <a:p>
            <a:pPr>
              <a:lnSpc>
                <a:spcPct val="120000"/>
              </a:lnSpc>
              <a:spcBef>
                <a:spcPct val="50000"/>
              </a:spcBef>
            </a:pPr>
            <a:r>
              <a:rPr lang="en-US" altLang="zh-CN" sz="3200" b="1" smtClean="0">
                <a:solidFill>
                  <a:srgbClr val="CC0000"/>
                </a:solidFill>
                <a:latin typeface="Times New Roman" pitchFamily="18" charset="0"/>
              </a:rPr>
              <a:t>2.  </a:t>
            </a:r>
            <a:r>
              <a:rPr lang="zh-CN" altLang="en-US" sz="3200" b="1" smtClean="0">
                <a:solidFill>
                  <a:srgbClr val="000000"/>
                </a:solidFill>
                <a:latin typeface="Times New Roman" pitchFamily="18" charset="0"/>
              </a:rPr>
              <a:t>理想气体体积为 </a:t>
            </a:r>
            <a:r>
              <a:rPr lang="en-US" altLang="zh-CN" sz="3200" i="1" smtClean="0">
                <a:solidFill>
                  <a:srgbClr val="000000"/>
                </a:solidFill>
                <a:latin typeface="Times New Roman" pitchFamily="18" charset="0"/>
              </a:rPr>
              <a:t>V</a:t>
            </a:r>
            <a:r>
              <a:rPr lang="en-US" altLang="zh-CN" sz="3200" b="1" smtClean="0">
                <a:solidFill>
                  <a:srgbClr val="000000"/>
                </a:solidFill>
                <a:latin typeface="Times New Roman" pitchFamily="18" charset="0"/>
              </a:rPr>
              <a:t> </a:t>
            </a:r>
            <a:r>
              <a:rPr lang="zh-CN" altLang="en-US" sz="3200" b="1" smtClean="0">
                <a:solidFill>
                  <a:srgbClr val="000000"/>
                </a:solidFill>
                <a:latin typeface="Times New Roman" pitchFamily="18" charset="0"/>
              </a:rPr>
              <a:t>，压强为 </a:t>
            </a:r>
            <a:r>
              <a:rPr lang="en-US" altLang="zh-CN" sz="3200" i="1" smtClean="0">
                <a:solidFill>
                  <a:srgbClr val="000000"/>
                </a:solidFill>
                <a:latin typeface="Times New Roman" pitchFamily="18" charset="0"/>
              </a:rPr>
              <a:t>p</a:t>
            </a:r>
            <a:r>
              <a:rPr lang="en-US" altLang="zh-CN" sz="3200" b="1" i="1" smtClean="0">
                <a:solidFill>
                  <a:srgbClr val="000000"/>
                </a:solidFill>
                <a:latin typeface="Times New Roman" pitchFamily="18" charset="0"/>
              </a:rPr>
              <a:t> </a:t>
            </a:r>
            <a:r>
              <a:rPr lang="zh-CN" altLang="en-US" sz="3200" b="1" smtClean="0">
                <a:solidFill>
                  <a:srgbClr val="000000"/>
                </a:solidFill>
                <a:latin typeface="Times New Roman" pitchFamily="18" charset="0"/>
              </a:rPr>
              <a:t>，温度为 </a:t>
            </a:r>
            <a:r>
              <a:rPr lang="en-US" altLang="zh-CN" sz="3200" i="1" smtClean="0">
                <a:solidFill>
                  <a:srgbClr val="000000"/>
                </a:solidFill>
                <a:latin typeface="Times New Roman" pitchFamily="18" charset="0"/>
              </a:rPr>
              <a:t>T</a:t>
            </a:r>
            <a:r>
              <a:rPr lang="en-US" altLang="zh-CN" sz="3200" b="1" i="1" smtClean="0">
                <a:solidFill>
                  <a:srgbClr val="000000"/>
                </a:solidFill>
                <a:latin typeface="Times New Roman" pitchFamily="18" charset="0"/>
              </a:rPr>
              <a:t> .  </a:t>
            </a:r>
            <a:r>
              <a:rPr lang="zh-CN" altLang="en-US" sz="3200" b="1" smtClean="0">
                <a:solidFill>
                  <a:srgbClr val="000000"/>
                </a:solidFill>
                <a:latin typeface="Times New Roman" pitchFamily="18" charset="0"/>
              </a:rPr>
              <a:t>一个分子 的质量为 </a:t>
            </a:r>
            <a:r>
              <a:rPr lang="en-US" altLang="zh-CN" sz="3200" i="1" smtClean="0">
                <a:solidFill>
                  <a:srgbClr val="000000"/>
                </a:solidFill>
                <a:latin typeface="Times New Roman" pitchFamily="18" charset="0"/>
              </a:rPr>
              <a:t>m</a:t>
            </a:r>
            <a:r>
              <a:rPr lang="en-US" altLang="zh-CN" sz="3200" b="1" smtClean="0">
                <a:solidFill>
                  <a:srgbClr val="000000"/>
                </a:solidFill>
                <a:latin typeface="Times New Roman" pitchFamily="18" charset="0"/>
              </a:rPr>
              <a:t> </a:t>
            </a:r>
            <a:r>
              <a:rPr lang="zh-CN" altLang="en-US" sz="3200" b="1" smtClean="0">
                <a:solidFill>
                  <a:srgbClr val="000000"/>
                </a:solidFill>
                <a:latin typeface="Times New Roman" pitchFamily="18" charset="0"/>
              </a:rPr>
              <a:t>，</a:t>
            </a:r>
            <a:r>
              <a:rPr lang="en-US" altLang="zh-CN" sz="3200" i="1" smtClean="0">
                <a:solidFill>
                  <a:srgbClr val="000000"/>
                </a:solidFill>
                <a:latin typeface="Times New Roman" pitchFamily="18" charset="0"/>
              </a:rPr>
              <a:t>k</a:t>
            </a:r>
            <a:r>
              <a:rPr lang="en-US" altLang="zh-CN" sz="3200" b="1" smtClean="0">
                <a:solidFill>
                  <a:srgbClr val="000000"/>
                </a:solidFill>
                <a:latin typeface="Times New Roman" pitchFamily="18" charset="0"/>
              </a:rPr>
              <a:t> </a:t>
            </a:r>
            <a:r>
              <a:rPr lang="zh-CN" altLang="en-US" sz="3200" b="1" smtClean="0">
                <a:solidFill>
                  <a:srgbClr val="000000"/>
                </a:solidFill>
                <a:latin typeface="Times New Roman" pitchFamily="18" charset="0"/>
              </a:rPr>
              <a:t>为玻耳兹曼常量，</a:t>
            </a:r>
            <a:r>
              <a:rPr lang="en-US" altLang="zh-CN" sz="3200" i="1" smtClean="0">
                <a:solidFill>
                  <a:srgbClr val="000000"/>
                </a:solidFill>
                <a:latin typeface="Times New Roman" pitchFamily="18" charset="0"/>
              </a:rPr>
              <a:t>R</a:t>
            </a:r>
            <a:r>
              <a:rPr lang="en-US" altLang="zh-CN" sz="3200" b="1" smtClean="0">
                <a:solidFill>
                  <a:srgbClr val="000000"/>
                </a:solidFill>
                <a:latin typeface="Times New Roman" pitchFamily="18" charset="0"/>
              </a:rPr>
              <a:t> </a:t>
            </a:r>
            <a:r>
              <a:rPr lang="zh-CN" altLang="en-US" sz="3200" b="1" smtClean="0">
                <a:solidFill>
                  <a:srgbClr val="000000"/>
                </a:solidFill>
                <a:latin typeface="Times New Roman" pitchFamily="18" charset="0"/>
              </a:rPr>
              <a:t>为摩尔气体常量，则该理想气体的分子数为：</a:t>
            </a:r>
          </a:p>
        </p:txBody>
      </p:sp>
      <p:grpSp>
        <p:nvGrpSpPr>
          <p:cNvPr id="2" name="Group 3"/>
          <p:cNvGrpSpPr>
            <a:grpSpLocks/>
          </p:cNvGrpSpPr>
          <p:nvPr/>
        </p:nvGrpSpPr>
        <p:grpSpPr bwMode="auto">
          <a:xfrm>
            <a:off x="914400" y="3559175"/>
            <a:ext cx="6408738" cy="1322388"/>
            <a:chOff x="567" y="1661"/>
            <a:chExt cx="4080" cy="878"/>
          </a:xfrm>
        </p:grpSpPr>
        <p:sp>
          <p:nvSpPr>
            <p:cNvPr id="82948" name="Rectangle 4"/>
            <p:cNvSpPr>
              <a:spLocks noChangeArrowheads="1"/>
            </p:cNvSpPr>
            <p:nvPr/>
          </p:nvSpPr>
          <p:spPr bwMode="auto">
            <a:xfrm>
              <a:off x="567" y="1661"/>
              <a:ext cx="4080" cy="871"/>
            </a:xfrm>
            <a:prstGeom prst="rect">
              <a:avLst/>
            </a:prstGeom>
            <a:noFill/>
            <a:ln w="9525">
              <a:noFill/>
              <a:miter lim="800000"/>
              <a:headEnd/>
              <a:tailEnd/>
            </a:ln>
            <a:effectLst/>
          </p:spPr>
          <p:txBody>
            <a:bodyPr>
              <a:spAutoFit/>
            </a:bodyPr>
            <a:lstStyle/>
            <a:p>
              <a:pPr>
                <a:spcBef>
                  <a:spcPct val="50000"/>
                </a:spcBef>
              </a:pPr>
              <a:r>
                <a:rPr lang="zh-CN" altLang="en-US" sz="3200" b="1" smtClean="0">
                  <a:solidFill>
                    <a:srgbClr val="CC0000"/>
                  </a:solidFill>
                  <a:latin typeface="Times New Roman" pitchFamily="18" charset="0"/>
                </a:rPr>
                <a:t>（</a:t>
              </a:r>
              <a:r>
                <a:rPr lang="en-US" altLang="zh-CN" sz="3200" b="1" smtClean="0">
                  <a:solidFill>
                    <a:srgbClr val="CC0000"/>
                  </a:solidFill>
                  <a:latin typeface="Times New Roman" pitchFamily="18" charset="0"/>
                </a:rPr>
                <a:t>A</a:t>
              </a:r>
              <a:r>
                <a:rPr lang="zh-CN" altLang="en-US" sz="3200" b="1" smtClean="0">
                  <a:solidFill>
                    <a:srgbClr val="CC0000"/>
                  </a:solidFill>
                  <a:latin typeface="Times New Roman" pitchFamily="18" charset="0"/>
                </a:rPr>
                <a:t>）                     （</a:t>
              </a:r>
              <a:r>
                <a:rPr lang="en-US" altLang="zh-CN" sz="3200" b="1" smtClean="0">
                  <a:solidFill>
                    <a:srgbClr val="CC0000"/>
                  </a:solidFill>
                  <a:latin typeface="Times New Roman" pitchFamily="18" charset="0"/>
                </a:rPr>
                <a:t>B</a:t>
              </a:r>
              <a:r>
                <a:rPr lang="zh-CN" altLang="en-US" sz="3200" b="1" smtClean="0">
                  <a:solidFill>
                    <a:srgbClr val="CC0000"/>
                  </a:solidFill>
                  <a:latin typeface="Times New Roman" pitchFamily="18" charset="0"/>
                </a:rPr>
                <a:t>）</a:t>
              </a:r>
            </a:p>
            <a:p>
              <a:pPr>
                <a:spcBef>
                  <a:spcPct val="50000"/>
                </a:spcBef>
              </a:pPr>
              <a:r>
                <a:rPr lang="zh-CN" altLang="en-US" sz="3200" b="1" smtClean="0">
                  <a:solidFill>
                    <a:srgbClr val="CC0000"/>
                  </a:solidFill>
                  <a:latin typeface="Times New Roman" pitchFamily="18" charset="0"/>
                </a:rPr>
                <a:t>（</a:t>
              </a:r>
              <a:r>
                <a:rPr lang="en-US" altLang="zh-CN" sz="3200" b="1" smtClean="0">
                  <a:solidFill>
                    <a:srgbClr val="CC0000"/>
                  </a:solidFill>
                  <a:latin typeface="Times New Roman" pitchFamily="18" charset="0"/>
                </a:rPr>
                <a:t>C</a:t>
              </a:r>
              <a:r>
                <a:rPr lang="zh-CN" altLang="en-US" sz="3200" b="1" smtClean="0">
                  <a:solidFill>
                    <a:srgbClr val="CC0000"/>
                  </a:solidFill>
                  <a:latin typeface="Times New Roman" pitchFamily="18" charset="0"/>
                </a:rPr>
                <a:t>）                     （</a:t>
              </a:r>
              <a:r>
                <a:rPr lang="en-US" altLang="zh-CN" sz="3200" b="1" smtClean="0">
                  <a:solidFill>
                    <a:srgbClr val="CC0000"/>
                  </a:solidFill>
                  <a:latin typeface="Times New Roman" pitchFamily="18" charset="0"/>
                </a:rPr>
                <a:t>D</a:t>
              </a:r>
              <a:r>
                <a:rPr lang="zh-CN" altLang="en-US" sz="3200" b="1" smtClean="0">
                  <a:solidFill>
                    <a:srgbClr val="CC0000"/>
                  </a:solidFill>
                  <a:latin typeface="Times New Roman" pitchFamily="18" charset="0"/>
                </a:rPr>
                <a:t>）</a:t>
              </a:r>
            </a:p>
          </p:txBody>
        </p:sp>
        <p:graphicFrame>
          <p:nvGraphicFramePr>
            <p:cNvPr id="82949" name="Object 5"/>
            <p:cNvGraphicFramePr>
              <a:graphicFrameLocks noChangeAspect="1"/>
            </p:cNvGraphicFramePr>
            <p:nvPr/>
          </p:nvGraphicFramePr>
          <p:xfrm>
            <a:off x="1421" y="1661"/>
            <a:ext cx="733" cy="331"/>
          </p:xfrm>
          <a:graphic>
            <a:graphicData uri="http://schemas.openxmlformats.org/presentationml/2006/ole">
              <p:oleObj spid="_x0000_s72708" name="Equation" r:id="rId3" imgW="698400" imgH="317160" progId="Equation.3">
                <p:embed/>
              </p:oleObj>
            </a:graphicData>
          </a:graphic>
        </p:graphicFrame>
        <p:graphicFrame>
          <p:nvGraphicFramePr>
            <p:cNvPr id="82950" name="Object 6"/>
            <p:cNvGraphicFramePr>
              <a:graphicFrameLocks noChangeAspect="1"/>
            </p:cNvGraphicFramePr>
            <p:nvPr/>
          </p:nvGraphicFramePr>
          <p:xfrm>
            <a:off x="1383" y="2160"/>
            <a:ext cx="957" cy="336"/>
          </p:xfrm>
          <a:graphic>
            <a:graphicData uri="http://schemas.openxmlformats.org/presentationml/2006/ole">
              <p:oleObj spid="_x0000_s72709" name="Equation" r:id="rId4" imgW="1015920" imgH="317160" progId="Equation.3">
                <p:embed/>
              </p:oleObj>
            </a:graphicData>
          </a:graphic>
        </p:graphicFrame>
        <p:graphicFrame>
          <p:nvGraphicFramePr>
            <p:cNvPr id="82951" name="Object 7"/>
            <p:cNvGraphicFramePr>
              <a:graphicFrameLocks noChangeAspect="1"/>
            </p:cNvGraphicFramePr>
            <p:nvPr/>
          </p:nvGraphicFramePr>
          <p:xfrm>
            <a:off x="3488" y="1674"/>
            <a:ext cx="1070" cy="350"/>
          </p:xfrm>
          <a:graphic>
            <a:graphicData uri="http://schemas.openxmlformats.org/presentationml/2006/ole">
              <p:oleObj spid="_x0000_s72710" name="Equation" r:id="rId5" imgW="965160" imgH="317160" progId="Equation.DSMT4">
                <p:embed/>
              </p:oleObj>
            </a:graphicData>
          </a:graphic>
        </p:graphicFrame>
        <p:graphicFrame>
          <p:nvGraphicFramePr>
            <p:cNvPr id="82952" name="Object 8"/>
            <p:cNvGraphicFramePr>
              <a:graphicFrameLocks noChangeAspect="1"/>
            </p:cNvGraphicFramePr>
            <p:nvPr/>
          </p:nvGraphicFramePr>
          <p:xfrm>
            <a:off x="3470" y="2205"/>
            <a:ext cx="1117" cy="334"/>
          </p:xfrm>
          <a:graphic>
            <a:graphicData uri="http://schemas.openxmlformats.org/presentationml/2006/ole">
              <p:oleObj spid="_x0000_s72711" name="Equation" r:id="rId6" imgW="1054080" imgH="317160" progId="Equation.3">
                <p:embed/>
              </p:oleObj>
            </a:graphicData>
          </a:graphic>
        </p:graphicFrame>
      </p:grpSp>
      <p:sp>
        <p:nvSpPr>
          <p:cNvPr id="82956" name="Text Box 12"/>
          <p:cNvSpPr txBox="1">
            <a:spLocks noChangeArrowheads="1"/>
          </p:cNvSpPr>
          <p:nvPr/>
        </p:nvSpPr>
        <p:spPr bwMode="auto">
          <a:xfrm>
            <a:off x="277178" y="5547196"/>
            <a:ext cx="1524000" cy="579438"/>
          </a:xfrm>
          <a:prstGeom prst="rect">
            <a:avLst/>
          </a:prstGeom>
          <a:noFill/>
          <a:ln w="9525">
            <a:noFill/>
            <a:miter lim="800000"/>
            <a:headEnd/>
            <a:tailEnd/>
          </a:ln>
          <a:effectLst/>
        </p:spPr>
        <p:txBody>
          <a:bodyPr>
            <a:spAutoFit/>
          </a:bodyPr>
          <a:lstStyle/>
          <a:p>
            <a:r>
              <a:rPr lang="zh-CN" altLang="zh-CN" sz="3200" b="1" smtClean="0">
                <a:solidFill>
                  <a:srgbClr val="CC0000"/>
                </a:solidFill>
                <a:latin typeface="Times New Roman" pitchFamily="18" charset="0"/>
              </a:rPr>
              <a:t>解</a:t>
            </a:r>
            <a:endParaRPr lang="zh-CN" altLang="en-US" sz="3200" b="1" smtClean="0">
              <a:solidFill>
                <a:srgbClr val="CC0000"/>
              </a:solidFill>
              <a:latin typeface="Times New Roman" pitchFamily="18" charset="0"/>
            </a:endParaRPr>
          </a:p>
        </p:txBody>
      </p:sp>
      <p:pic>
        <p:nvPicPr>
          <p:cNvPr id="82957" name="Picture 13" descr="4C70BBA977B88F3DF7393CB7443DAF2A"/>
          <p:cNvPicPr>
            <a:picLocks noChangeAspect="1" noChangeArrowheads="1" noCrop="1"/>
          </p:cNvPicPr>
          <p:nvPr/>
        </p:nvPicPr>
        <p:blipFill>
          <a:blip r:embed="rId7" cstate="print"/>
          <a:srcRect/>
          <a:stretch>
            <a:fillRect/>
          </a:stretch>
        </p:blipFill>
        <p:spPr bwMode="auto">
          <a:xfrm>
            <a:off x="3984625" y="3513138"/>
            <a:ext cx="538163" cy="576262"/>
          </a:xfrm>
          <a:prstGeom prst="rect">
            <a:avLst/>
          </a:prstGeom>
          <a:noFill/>
        </p:spPr>
      </p:pic>
      <p:sp>
        <p:nvSpPr>
          <p:cNvPr id="16" name="灯片编号占位符 1"/>
          <p:cNvSpPr txBox="1">
            <a:spLocks/>
          </p:cNvSpPr>
          <p:nvPr/>
        </p:nvSpPr>
        <p:spPr bwMode="auto">
          <a:xfrm>
            <a:off x="8606357" y="6584504"/>
            <a:ext cx="574155" cy="300880"/>
          </a:xfrm>
          <a:prstGeom prst="rect">
            <a:avLst/>
          </a:prstGeom>
          <a:noFill/>
          <a:ln>
            <a:miter lim="800000"/>
            <a:headEnd/>
            <a:tailEnd/>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22E3302-AC1D-47C1-A1C9-47DFDD07C79E}" type="slidenum">
              <a:rPr kumimoji="0" lang="en-US" altLang="zh-CN" sz="1400" b="0" i="0" u="none" strike="noStrike" kern="1200" cap="none" spc="0" normalizeH="0" baseline="0" noProof="0" smtClean="0">
                <a:ln>
                  <a:noFill/>
                </a:ln>
                <a:solidFill>
                  <a:schemeClr val="tx1"/>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zh-CN" sz="1400" b="0" i="0" u="none" strike="noStrike" kern="1200" cap="none" spc="0" normalizeH="0" baseline="0" noProof="0" dirty="0">
              <a:ln>
                <a:noFill/>
              </a:ln>
              <a:solidFill>
                <a:schemeClr val="tx1"/>
              </a:solidFill>
              <a:effectLst/>
              <a:uLnTx/>
              <a:uFillTx/>
              <a:latin typeface="Arial" charset="0"/>
              <a:ea typeface="宋体" pitchFamily="2" charset="-122"/>
              <a:cs typeface="+mn-cs"/>
            </a:endParaRPr>
          </a:p>
        </p:txBody>
      </p:sp>
      <p:graphicFrame>
        <p:nvGraphicFramePr>
          <p:cNvPr id="12293" name="Object 8"/>
          <p:cNvGraphicFramePr>
            <a:graphicFrameLocks noChangeAspect="1"/>
          </p:cNvGraphicFramePr>
          <p:nvPr/>
        </p:nvGraphicFramePr>
        <p:xfrm>
          <a:off x="6627812" y="5327333"/>
          <a:ext cx="2312988" cy="1069975"/>
        </p:xfrm>
        <a:graphic>
          <a:graphicData uri="http://schemas.openxmlformats.org/presentationml/2006/ole">
            <p:oleObj spid="_x0000_s72712" name="Equation" r:id="rId8" imgW="825480" imgH="393480" progId="Equation.DSMT4">
              <p:embed/>
            </p:oleObj>
          </a:graphicData>
        </a:graphic>
      </p:graphicFrame>
      <p:graphicFrame>
        <p:nvGraphicFramePr>
          <p:cNvPr id="18" name="Object 8"/>
          <p:cNvGraphicFramePr>
            <a:graphicFrameLocks noChangeAspect="1"/>
          </p:cNvGraphicFramePr>
          <p:nvPr/>
        </p:nvGraphicFramePr>
        <p:xfrm>
          <a:off x="892175" y="5357813"/>
          <a:ext cx="1992313" cy="1069975"/>
        </p:xfrm>
        <a:graphic>
          <a:graphicData uri="http://schemas.openxmlformats.org/presentationml/2006/ole">
            <p:oleObj spid="_x0000_s72713" name="Equation" r:id="rId9" imgW="711000" imgH="393480" progId="Equation.DSMT4">
              <p:embed/>
            </p:oleObj>
          </a:graphicData>
        </a:graphic>
      </p:graphicFrame>
      <p:graphicFrame>
        <p:nvGraphicFramePr>
          <p:cNvPr id="15" name="Object 8"/>
          <p:cNvGraphicFramePr>
            <a:graphicFrameLocks noChangeAspect="1"/>
          </p:cNvGraphicFramePr>
          <p:nvPr/>
        </p:nvGraphicFramePr>
        <p:xfrm>
          <a:off x="2881313" y="5357813"/>
          <a:ext cx="1671637" cy="1069975"/>
        </p:xfrm>
        <a:graphic>
          <a:graphicData uri="http://schemas.openxmlformats.org/presentationml/2006/ole">
            <p:oleObj spid="_x0000_s72714" name="Equation" r:id="rId10" imgW="596880" imgH="393480" progId="Equation.DSMT4">
              <p:embed/>
            </p:oleObj>
          </a:graphicData>
        </a:graphic>
      </p:graphicFrame>
      <p:graphicFrame>
        <p:nvGraphicFramePr>
          <p:cNvPr id="19" name="Object 8"/>
          <p:cNvGraphicFramePr>
            <a:graphicFrameLocks noChangeAspect="1"/>
          </p:cNvGraphicFramePr>
          <p:nvPr/>
        </p:nvGraphicFramePr>
        <p:xfrm>
          <a:off x="4506913" y="5357813"/>
          <a:ext cx="1138237" cy="1069975"/>
        </p:xfrm>
        <a:graphic>
          <a:graphicData uri="http://schemas.openxmlformats.org/presentationml/2006/ole">
            <p:oleObj spid="_x0000_s72715" name="Equation" r:id="rId11" imgW="406080" imgH="39348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2293"/>
                                        </p:tgtEl>
                                        <p:attrNameLst>
                                          <p:attrName>style.visibility</p:attrName>
                                        </p:attrNameLst>
                                      </p:cBhvr>
                                      <p:to>
                                        <p:strVal val="visible"/>
                                      </p:to>
                                    </p:set>
                                    <p:animEffect transition="in" filter="wipe(down)">
                                      <p:cBhvr>
                                        <p:cTn id="12" dur="500"/>
                                        <p:tgtEl>
                                          <p:spTgt spid="1229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down)">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down)">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82957"/>
                                        </p:tgtEl>
                                        <p:attrNameLst>
                                          <p:attrName>style.visibility</p:attrName>
                                        </p:attrNameLst>
                                      </p:cBhvr>
                                      <p:to>
                                        <p:strVal val="visible"/>
                                      </p:to>
                                    </p:set>
                                    <p:animEffect transition="in" filter="slide(fromBottom)">
                                      <p:cBhvr>
                                        <p:cTn id="27" dur="500"/>
                                        <p:tgtEl>
                                          <p:spTgt spid="829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1ebced8aee7aa3d05746f3b76ee7bb91d5d9d6"/>
</p:tagLst>
</file>

<file path=ppt/theme/theme1.xml><?xml version="1.0" encoding="utf-8"?>
<a:theme xmlns:a="http://schemas.openxmlformats.org/drawingml/2006/main" name="2_第六版母版">
  <a:themeElements>
    <a:clrScheme name="2_第六版母版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第六版母版">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第六版母版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第六版母版">
  <a:themeElements>
    <a:clrScheme name="1_第六版母版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第六版母版">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zh-CN" altLang="en-US" sz="32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zh-CN" altLang="en-US" sz="32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1_第六版母版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1887</TotalTime>
  <Words>1640</Words>
  <Application>Microsoft Office PowerPoint</Application>
  <PresentationFormat>全屏显示(4:3)</PresentationFormat>
  <Paragraphs>153</Paragraphs>
  <Slides>27</Slides>
  <Notes>1</Notes>
  <HiddenSlides>0</HiddenSlides>
  <MMClips>0</MMClips>
  <ScaleCrop>false</ScaleCrop>
  <HeadingPairs>
    <vt:vector size="6" baseType="variant">
      <vt:variant>
        <vt:lpstr>主题</vt:lpstr>
      </vt:variant>
      <vt:variant>
        <vt:i4>2</vt:i4>
      </vt:variant>
      <vt:variant>
        <vt:lpstr>嵌入 OLE 服务器</vt:lpstr>
      </vt:variant>
      <vt:variant>
        <vt:i4>2</vt:i4>
      </vt:variant>
      <vt:variant>
        <vt:lpstr>幻灯片标题</vt:lpstr>
      </vt:variant>
      <vt:variant>
        <vt:i4>27</vt:i4>
      </vt:variant>
    </vt:vector>
  </HeadingPairs>
  <TitlesOfParts>
    <vt:vector size="31" baseType="lpstr">
      <vt:lpstr>2_第六版母版</vt:lpstr>
      <vt:lpstr>1_第六版母版</vt:lpstr>
      <vt:lpstr>Equation</vt:lpstr>
      <vt:lpstr>公式</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vector>
  </TitlesOfParts>
  <Company>江南大学理学院物理系</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12-1平衡态理想气体物态方程</dc:title>
  <dc:creator>何跃娟</dc:creator>
  <cp:lastModifiedBy>Administrator</cp:lastModifiedBy>
  <cp:revision>200</cp:revision>
  <dcterms:created xsi:type="dcterms:W3CDTF">2005-09-11T15:39:18Z</dcterms:created>
  <dcterms:modified xsi:type="dcterms:W3CDTF">2018-09-27T05:26:33Z</dcterms:modified>
</cp:coreProperties>
</file>