
<file path=[Content_Types].xml><?xml version="1.0" encoding="utf-8"?>
<Types xmlns="http://schemas.openxmlformats.org/package/2006/content-types">
  <Default Extension="png" ContentType="image/png"/>
  <Default Extension="bin" ContentType="application/vnd.ms-office.activeX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notesSlides/notesSlide2.xml" ContentType="application/vnd.openxmlformats-officedocument.presentationml.notesSlide+xml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ink/ink1.xml" ContentType="application/inkml+xml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ink/ink2.xml" ContentType="application/inkml+xml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notesSlides/notesSlide3.xml" ContentType="application/vnd.openxmlformats-officedocument.presentationml.notesSlide+xml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0.bin" ContentType="application/vnd.openxmlformats-officedocument.oleObject"/>
  <Override PartName="/ppt/embeddings/oleObject81.bin" ContentType="application/vnd.openxmlformats-officedocument.oleObject"/>
  <Override PartName="/ppt/embeddings/oleObject82.bin" ContentType="application/vnd.openxmlformats-officedocument.oleObject"/>
  <Override PartName="/ppt/embeddings/oleObject83.bin" ContentType="application/vnd.openxmlformats-officedocument.oleObject"/>
  <Override PartName="/ppt/embeddings/oleObject84.bin" ContentType="application/vnd.openxmlformats-officedocument.oleObject"/>
  <Override PartName="/ppt/embeddings/oleObject85.bin" ContentType="application/vnd.openxmlformats-officedocument.oleObject"/>
  <Override PartName="/ppt/embeddings/oleObject86.bin" ContentType="application/vnd.openxmlformats-officedocument.oleObject"/>
  <Override PartName="/ppt/embeddings/oleObject87.bin" ContentType="application/vnd.openxmlformats-officedocument.oleObject"/>
  <Override PartName="/ppt/embeddings/oleObject88.bin" ContentType="application/vnd.openxmlformats-officedocument.oleObject"/>
  <Override PartName="/ppt/embeddings/oleObject89.bin" ContentType="application/vnd.openxmlformats-officedocument.oleObject"/>
  <Override PartName="/ppt/embeddings/oleObject90.bin" ContentType="application/vnd.openxmlformats-officedocument.oleObject"/>
  <Override PartName="/ppt/embeddings/oleObject91.bin" ContentType="application/vnd.openxmlformats-officedocument.oleObject"/>
  <Override PartName="/ppt/embeddings/oleObject92.bin" ContentType="application/vnd.openxmlformats-officedocument.oleObject"/>
  <Override PartName="/ppt/embeddings/oleObject93.bin" ContentType="application/vnd.openxmlformats-officedocument.oleObject"/>
  <Override PartName="/ppt/embeddings/oleObject94.bin" ContentType="application/vnd.openxmlformats-officedocument.oleObject"/>
  <Override PartName="/ppt/embeddings/oleObject95.bin" ContentType="application/vnd.openxmlformats-officedocument.oleObject"/>
  <Override PartName="/ppt/embeddings/oleObject96.bin" ContentType="application/vnd.openxmlformats-officedocument.oleObject"/>
  <Override PartName="/ppt/embeddings/oleObject97.bin" ContentType="application/vnd.openxmlformats-officedocument.oleObject"/>
  <Override PartName="/ppt/embeddings/oleObject98.bin" ContentType="application/vnd.openxmlformats-officedocument.oleObject"/>
  <Override PartName="/ppt/embeddings/oleObject99.bin" ContentType="application/vnd.openxmlformats-officedocument.oleObject"/>
  <Override PartName="/ppt/embeddings/oleObject100.bin" ContentType="application/vnd.openxmlformats-officedocument.oleObject"/>
  <Override PartName="/ppt/embeddings/oleObject101.bin" ContentType="application/vnd.openxmlformats-officedocument.oleObject"/>
  <Override PartName="/ppt/embeddings/oleObject102.bin" ContentType="application/vnd.openxmlformats-officedocument.oleObject"/>
  <Override PartName="/ppt/embeddings/oleObject103.bin" ContentType="application/vnd.openxmlformats-officedocument.oleObject"/>
  <Override PartName="/ppt/embeddings/oleObject104.bin" ContentType="application/vnd.openxmlformats-officedocument.oleObject"/>
  <Override PartName="/ppt/embeddings/oleObject105.bin" ContentType="application/vnd.openxmlformats-officedocument.oleObject"/>
  <Override PartName="/ppt/embeddings/oleObject106.bin" ContentType="application/vnd.openxmlformats-officedocument.oleObject"/>
  <Override PartName="/ppt/embeddings/oleObject107.bin" ContentType="application/vnd.openxmlformats-officedocument.oleObject"/>
  <Override PartName="/ppt/embeddings/oleObject108.bin" ContentType="application/vnd.openxmlformats-officedocument.oleObject"/>
  <Override PartName="/ppt/embeddings/oleObject109.bin" ContentType="application/vnd.openxmlformats-officedocument.oleObject"/>
  <Override PartName="/ppt/activeX/activeX2.xml" ContentType="application/vnd.ms-office.activeX+xml"/>
  <Override PartName="/ppt/embeddings/oleObject110.bin" ContentType="application/vnd.openxmlformats-officedocument.oleObject"/>
  <Override PartName="/ppt/embeddings/oleObject111.bin" ContentType="application/vnd.openxmlformats-officedocument.oleObject"/>
  <Override PartName="/ppt/embeddings/oleObject112.bin" ContentType="application/vnd.openxmlformats-officedocument.oleObject"/>
  <Override PartName="/ppt/embeddings/oleObject113.bin" ContentType="application/vnd.openxmlformats-officedocument.oleObject"/>
  <Override PartName="/ppt/embeddings/oleObject114.bin" ContentType="application/vnd.openxmlformats-officedocument.oleObject"/>
  <Override PartName="/ppt/embeddings/oleObject115.bin" ContentType="application/vnd.openxmlformats-officedocument.oleObject"/>
  <Override PartName="/ppt/embeddings/oleObject116.bin" ContentType="application/vnd.openxmlformats-officedocument.oleObject"/>
  <Override PartName="/ppt/embeddings/oleObject117.bin" ContentType="application/vnd.openxmlformats-officedocument.oleObject"/>
  <Override PartName="/ppt/embeddings/oleObject118.bin" ContentType="application/vnd.openxmlformats-officedocument.oleObject"/>
  <Override PartName="/ppt/embeddings/oleObject119.bin" ContentType="application/vnd.openxmlformats-officedocument.oleObject"/>
  <Override PartName="/ppt/embeddings/oleObject120.bin" ContentType="application/vnd.openxmlformats-officedocument.oleObject"/>
  <Override PartName="/ppt/embeddings/oleObject121.bin" ContentType="application/vnd.openxmlformats-officedocument.oleObject"/>
  <Override PartName="/ppt/embeddings/oleObject122.bin" ContentType="application/vnd.openxmlformats-officedocument.oleObject"/>
  <Override PartName="/ppt/embeddings/oleObject123.bin" ContentType="application/vnd.openxmlformats-officedocument.oleObject"/>
  <Override PartName="/ppt/embeddings/oleObject124.bin" ContentType="application/vnd.openxmlformats-officedocument.oleObject"/>
  <Override PartName="/ppt/embeddings/oleObject125.bin" ContentType="application/vnd.openxmlformats-officedocument.oleObject"/>
  <Override PartName="/ppt/embeddings/oleObject126.bin" ContentType="application/vnd.openxmlformats-officedocument.oleObject"/>
  <Override PartName="/ppt/embeddings/oleObject127.bin" ContentType="application/vnd.openxmlformats-officedocument.oleObject"/>
  <Override PartName="/ppt/embeddings/oleObject128.bin" ContentType="application/vnd.openxmlformats-officedocument.oleObject"/>
  <Override PartName="/ppt/embeddings/oleObject129.bin" ContentType="application/vnd.openxmlformats-officedocument.oleObject"/>
  <Override PartName="/ppt/embeddings/oleObject130.bin" ContentType="application/vnd.openxmlformats-officedocument.oleObject"/>
  <Override PartName="/ppt/embeddings/oleObject131.bin" ContentType="application/vnd.openxmlformats-officedocument.oleObject"/>
  <Override PartName="/ppt/embeddings/oleObject132.bin" ContentType="application/vnd.openxmlformats-officedocument.oleObject"/>
  <Override PartName="/ppt/embeddings/oleObject133.bin" ContentType="application/vnd.openxmlformats-officedocument.oleObject"/>
  <Override PartName="/ppt/embeddings/oleObject134.bin" ContentType="application/vnd.openxmlformats-officedocument.oleObject"/>
  <Override PartName="/ppt/embeddings/oleObject135.bin" ContentType="application/vnd.openxmlformats-officedocument.oleObject"/>
  <Override PartName="/ppt/embeddings/oleObject136.bin" ContentType="application/vnd.openxmlformats-officedocument.oleObject"/>
  <Override PartName="/ppt/embeddings/oleObject137.bin" ContentType="application/vnd.openxmlformats-officedocument.oleObject"/>
  <Override PartName="/ppt/embeddings/oleObject138.bin" ContentType="application/vnd.openxmlformats-officedocument.oleObject"/>
  <Override PartName="/ppt/embeddings/oleObject139.bin" ContentType="application/vnd.openxmlformats-officedocument.oleObject"/>
  <Override PartName="/ppt/embeddings/oleObject140.bin" ContentType="application/vnd.openxmlformats-officedocument.oleObject"/>
  <Override PartName="/ppt/embeddings/oleObject141.bin" ContentType="application/vnd.openxmlformats-officedocument.oleObject"/>
  <Override PartName="/ppt/embeddings/oleObject142.bin" ContentType="application/vnd.openxmlformats-officedocument.oleObject"/>
  <Override PartName="/ppt/embeddings/oleObject143.bin" ContentType="application/vnd.openxmlformats-officedocument.oleObject"/>
  <Override PartName="/ppt/embeddings/oleObject144.bin" ContentType="application/vnd.openxmlformats-officedocument.oleObject"/>
  <Override PartName="/ppt/embeddings/oleObject145.bin" ContentType="application/vnd.openxmlformats-officedocument.oleObject"/>
  <Override PartName="/ppt/embeddings/oleObject146.bin" ContentType="application/vnd.openxmlformats-officedocument.oleObject"/>
  <Override PartName="/ppt/embeddings/oleObject147.bin" ContentType="application/vnd.openxmlformats-officedocument.oleObject"/>
  <Override PartName="/ppt/embeddings/oleObject148.bin" ContentType="application/vnd.openxmlformats-officedocument.oleObject"/>
  <Override PartName="/ppt/embeddings/oleObject149.bin" ContentType="application/vnd.openxmlformats-officedocument.oleObject"/>
  <Override PartName="/ppt/embeddings/oleObject150.bin" ContentType="application/vnd.openxmlformats-officedocument.oleObject"/>
  <Override PartName="/ppt/embeddings/oleObject151.bin" ContentType="application/vnd.openxmlformats-officedocument.oleObject"/>
  <Override PartName="/ppt/embeddings/oleObject152.bin" ContentType="application/vnd.openxmlformats-officedocument.oleObject"/>
  <Override PartName="/ppt/embeddings/oleObject153.bin" ContentType="application/vnd.openxmlformats-officedocument.oleObject"/>
  <Override PartName="/ppt/embeddings/oleObject154.bin" ContentType="application/vnd.openxmlformats-officedocument.oleObject"/>
  <Override PartName="/ppt/embeddings/oleObject155.bin" ContentType="application/vnd.openxmlformats-officedocument.oleObject"/>
  <Override PartName="/ppt/embeddings/oleObject156.bin" ContentType="application/vnd.openxmlformats-officedocument.oleObject"/>
  <Override PartName="/ppt/embeddings/oleObject157.bin" ContentType="application/vnd.openxmlformats-officedocument.oleObject"/>
  <Override PartName="/ppt/embeddings/oleObject158.bin" ContentType="application/vnd.openxmlformats-officedocument.oleObject"/>
  <Override PartName="/ppt/embeddings/oleObject159.bin" ContentType="application/vnd.openxmlformats-officedocument.oleObject"/>
  <Override PartName="/ppt/embeddings/oleObject160.bin" ContentType="application/vnd.openxmlformats-officedocument.oleObject"/>
  <Override PartName="/ppt/embeddings/oleObject161.bin" ContentType="application/vnd.openxmlformats-officedocument.oleObject"/>
  <Override PartName="/ppt/embeddings/oleObject162.bin" ContentType="application/vnd.openxmlformats-officedocument.oleObject"/>
  <Override PartName="/ppt/embeddings/oleObject163.bin" ContentType="application/vnd.openxmlformats-officedocument.oleObject"/>
  <Override PartName="/ppt/embeddings/oleObject164.bin" ContentType="application/vnd.openxmlformats-officedocument.oleObject"/>
  <Override PartName="/ppt/embeddings/oleObject165.bin" ContentType="application/vnd.openxmlformats-officedocument.oleObject"/>
  <Override PartName="/ppt/embeddings/oleObject166.bin" ContentType="application/vnd.openxmlformats-officedocument.oleObject"/>
  <Override PartName="/ppt/embeddings/oleObject167.bin" ContentType="application/vnd.openxmlformats-officedocument.oleObject"/>
  <Override PartName="/ppt/embeddings/oleObject168.bin" ContentType="application/vnd.openxmlformats-officedocument.oleObject"/>
  <Override PartName="/ppt/embeddings/oleObject169.bin" ContentType="application/vnd.openxmlformats-officedocument.oleObject"/>
  <Override PartName="/ppt/embeddings/oleObject170.bin" ContentType="application/vnd.openxmlformats-officedocument.oleObject"/>
  <Override PartName="/ppt/embeddings/oleObject171.bin" ContentType="application/vnd.openxmlformats-officedocument.oleObject"/>
  <Override PartName="/ppt/embeddings/oleObject172.bin" ContentType="application/vnd.openxmlformats-officedocument.oleObject"/>
  <Override PartName="/ppt/embeddings/oleObject173.bin" ContentType="application/vnd.openxmlformats-officedocument.oleObject"/>
  <Override PartName="/ppt/embeddings/oleObject174.bin" ContentType="application/vnd.openxmlformats-officedocument.oleObject"/>
  <Override PartName="/ppt/embeddings/oleObject175.bin" ContentType="application/vnd.openxmlformats-officedocument.oleObject"/>
  <Override PartName="/ppt/embeddings/oleObject176.bin" ContentType="application/vnd.openxmlformats-officedocument.oleObject"/>
  <Override PartName="/ppt/embeddings/oleObject177.bin" ContentType="application/vnd.openxmlformats-officedocument.oleObject"/>
  <Override PartName="/ppt/embeddings/oleObject178.bin" ContentType="application/vnd.openxmlformats-officedocument.oleObject"/>
  <Override PartName="/ppt/embeddings/oleObject179.bin" ContentType="application/vnd.openxmlformats-officedocument.oleObject"/>
  <Override PartName="/ppt/embeddings/oleObject180.bin" ContentType="application/vnd.openxmlformats-officedocument.oleObject"/>
  <Override PartName="/ppt/embeddings/oleObject181.bin" ContentType="application/vnd.openxmlformats-officedocument.oleObject"/>
  <Override PartName="/ppt/embeddings/oleObject182.bin" ContentType="application/vnd.openxmlformats-officedocument.oleObject"/>
  <Override PartName="/ppt/embeddings/oleObject183.bin" ContentType="application/vnd.openxmlformats-officedocument.oleObject"/>
  <Override PartName="/ppt/embeddings/oleObject184.bin" ContentType="application/vnd.openxmlformats-officedocument.oleObject"/>
  <Override PartName="/ppt/embeddings/oleObject185.bin" ContentType="application/vnd.openxmlformats-officedocument.oleObject"/>
  <Override PartName="/ppt/embeddings/oleObject186.bin" ContentType="application/vnd.openxmlformats-officedocument.oleObject"/>
  <Override PartName="/ppt/embeddings/oleObject187.bin" ContentType="application/vnd.openxmlformats-officedocument.oleObject"/>
  <Override PartName="/ppt/embeddings/oleObject188.bin" ContentType="application/vnd.openxmlformats-officedocument.oleObject"/>
  <Override PartName="/ppt/embeddings/oleObject189.bin" ContentType="application/vnd.openxmlformats-officedocument.oleObject"/>
  <Override PartName="/ppt/embeddings/oleObject190.bin" ContentType="application/vnd.openxmlformats-officedocument.oleObject"/>
  <Override PartName="/ppt/embeddings/oleObject191.bin" ContentType="application/vnd.openxmlformats-officedocument.oleObject"/>
  <Override PartName="/ppt/embeddings/oleObject192.bin" ContentType="application/vnd.openxmlformats-officedocument.oleObject"/>
  <Override PartName="/ppt/embeddings/oleObject193.bin" ContentType="application/vnd.openxmlformats-officedocument.oleObject"/>
  <Override PartName="/ppt/embeddings/oleObject194.bin" ContentType="application/vnd.openxmlformats-officedocument.oleObject"/>
  <Override PartName="/ppt/embeddings/oleObject195.bin" ContentType="application/vnd.openxmlformats-officedocument.oleObject"/>
  <Override PartName="/ppt/notesSlides/notesSlide4.xml" ContentType="application/vnd.openxmlformats-officedocument.presentationml.notesSlide+xml"/>
  <Override PartName="/ppt/embeddings/oleObject196.bin" ContentType="application/vnd.openxmlformats-officedocument.oleObject"/>
  <Override PartName="/ppt/embeddings/oleObject197.bin" ContentType="application/vnd.openxmlformats-officedocument.oleObject"/>
  <Override PartName="/ppt/embeddings/oleObject198.bin" ContentType="application/vnd.openxmlformats-officedocument.oleObject"/>
  <Override PartName="/ppt/embeddings/oleObject199.bin" ContentType="application/vnd.openxmlformats-officedocument.oleObject"/>
  <Override PartName="/ppt/embeddings/oleObject200.bin" ContentType="application/vnd.openxmlformats-officedocument.oleObject"/>
  <Override PartName="/ppt/embeddings/oleObject201.bin" ContentType="application/vnd.openxmlformats-officedocument.oleObject"/>
  <Override PartName="/ppt/embeddings/oleObject202.bin" ContentType="application/vnd.openxmlformats-officedocument.oleObject"/>
  <Override PartName="/ppt/embeddings/oleObject203.bin" ContentType="application/vnd.openxmlformats-officedocument.oleObject"/>
  <Override PartName="/ppt/embeddings/oleObject204.bin" ContentType="application/vnd.openxmlformats-officedocument.oleObject"/>
  <Override PartName="/ppt/embeddings/oleObject205.bin" ContentType="application/vnd.openxmlformats-officedocument.oleObject"/>
  <Override PartName="/ppt/embeddings/oleObject206.bin" ContentType="application/vnd.openxmlformats-officedocument.oleObject"/>
  <Override PartName="/ppt/embeddings/oleObject207.bin" ContentType="application/vnd.openxmlformats-officedocument.oleObject"/>
  <Override PartName="/ppt/embeddings/oleObject208.bin" ContentType="application/vnd.openxmlformats-officedocument.oleObject"/>
  <Override PartName="/ppt/embeddings/oleObject209.bin" ContentType="application/vnd.openxmlformats-officedocument.oleObject"/>
  <Override PartName="/ppt/embeddings/oleObject210.bin" ContentType="application/vnd.openxmlformats-officedocument.oleObject"/>
  <Override PartName="/ppt/embeddings/oleObject211.bin" ContentType="application/vnd.openxmlformats-officedocument.oleObject"/>
  <Override PartName="/ppt/embeddings/oleObject212.bin" ContentType="application/vnd.openxmlformats-officedocument.oleObject"/>
  <Override PartName="/ppt/embeddings/oleObject213.bin" ContentType="application/vnd.openxmlformats-officedocument.oleObject"/>
  <Override PartName="/ppt/embeddings/oleObject214.bin" ContentType="application/vnd.openxmlformats-officedocument.oleObject"/>
  <Override PartName="/ppt/embeddings/oleObject215.bin" ContentType="application/vnd.openxmlformats-officedocument.oleObject"/>
  <Override PartName="/ppt/embeddings/oleObject216.bin" ContentType="application/vnd.openxmlformats-officedocument.oleObject"/>
  <Override PartName="/ppt/embeddings/oleObject217.bin" ContentType="application/vnd.openxmlformats-officedocument.oleObject"/>
  <Override PartName="/ppt/embeddings/oleObject218.bin" ContentType="application/vnd.openxmlformats-officedocument.oleObject"/>
  <Override PartName="/ppt/embeddings/oleObject219.bin" ContentType="application/vnd.openxmlformats-officedocument.oleObject"/>
  <Override PartName="/ppt/embeddings/oleObject220.bin" ContentType="application/vnd.openxmlformats-officedocument.oleObject"/>
  <Override PartName="/ppt/embeddings/oleObject221.bin" ContentType="application/vnd.openxmlformats-officedocument.oleObject"/>
  <Override PartName="/ppt/embeddings/oleObject222.bin" ContentType="application/vnd.openxmlformats-officedocument.oleObject"/>
  <Override PartName="/ppt/embeddings/oleObject223.bin" ContentType="application/vnd.openxmlformats-officedocument.oleObject"/>
  <Override PartName="/ppt/embeddings/oleObject224.bin" ContentType="application/vnd.openxmlformats-officedocument.oleObject"/>
  <Override PartName="/ppt/embeddings/oleObject225.bin" ContentType="application/vnd.openxmlformats-officedocument.oleObject"/>
  <Override PartName="/ppt/embeddings/oleObject226.bin" ContentType="application/vnd.openxmlformats-officedocument.oleObject"/>
  <Override PartName="/ppt/embeddings/oleObject227.bin" ContentType="application/vnd.openxmlformats-officedocument.oleObject"/>
  <Override PartName="/ppt/embeddings/oleObject228.bin" ContentType="application/vnd.openxmlformats-officedocument.oleObject"/>
  <Override PartName="/ppt/embeddings/oleObject229.bin" ContentType="application/vnd.openxmlformats-officedocument.oleObject"/>
  <Override PartName="/ppt/embeddings/oleObject230.bin" ContentType="application/vnd.openxmlformats-officedocument.oleObject"/>
  <Override PartName="/ppt/embeddings/oleObject231.bin" ContentType="application/vnd.openxmlformats-officedocument.oleObject"/>
  <Override PartName="/ppt/embeddings/oleObject232.bin" ContentType="application/vnd.openxmlformats-officedocument.oleObject"/>
  <Override PartName="/ppt/embeddings/oleObject233.bin" ContentType="application/vnd.openxmlformats-officedocument.oleObject"/>
  <Override PartName="/ppt/embeddings/oleObject234.bin" ContentType="application/vnd.openxmlformats-officedocument.oleObject"/>
  <Override PartName="/ppt/embeddings/oleObject235.bin" ContentType="application/vnd.openxmlformats-officedocument.oleObject"/>
  <Override PartName="/ppt/embeddings/oleObject236.bin" ContentType="application/vnd.openxmlformats-officedocument.oleObject"/>
  <Override PartName="/ppt/embeddings/oleObject237.bin" ContentType="application/vnd.openxmlformats-officedocument.oleObject"/>
  <Override PartName="/ppt/embeddings/oleObject238.bin" ContentType="application/vnd.openxmlformats-officedocument.oleObject"/>
  <Override PartName="/ppt/embeddings/oleObject239.bin" ContentType="application/vnd.openxmlformats-officedocument.oleObject"/>
  <Override PartName="/ppt/embeddings/oleObject240.bin" ContentType="application/vnd.openxmlformats-officedocument.oleObject"/>
  <Override PartName="/ppt/embeddings/oleObject241.bin" ContentType="application/vnd.openxmlformats-officedocument.oleObject"/>
  <Override PartName="/ppt/embeddings/oleObject242.bin" ContentType="application/vnd.openxmlformats-officedocument.oleObject"/>
  <Override PartName="/ppt/embeddings/oleObject243.bin" ContentType="application/vnd.openxmlformats-officedocument.oleObject"/>
  <Override PartName="/ppt/embeddings/oleObject244.bin" ContentType="application/vnd.openxmlformats-officedocument.oleObject"/>
  <Override PartName="/ppt/embeddings/oleObject245.bin" ContentType="application/vnd.openxmlformats-officedocument.oleObject"/>
  <Override PartName="/ppt/embeddings/oleObject246.bin" ContentType="application/vnd.openxmlformats-officedocument.oleObject"/>
  <Override PartName="/ppt/embeddings/oleObject247.bin" ContentType="application/vnd.openxmlformats-officedocument.oleObject"/>
  <Override PartName="/ppt/embeddings/oleObject248.bin" ContentType="application/vnd.openxmlformats-officedocument.oleObject"/>
  <Override PartName="/ppt/embeddings/oleObject249.bin" ContentType="application/vnd.openxmlformats-officedocument.oleObject"/>
  <Override PartName="/ppt/embeddings/oleObject250.bin" ContentType="application/vnd.openxmlformats-officedocument.oleObject"/>
  <Override PartName="/ppt/embeddings/oleObject251.bin" ContentType="application/vnd.openxmlformats-officedocument.oleObject"/>
  <Override PartName="/ppt/embeddings/oleObject252.bin" ContentType="application/vnd.openxmlformats-officedocument.oleObject"/>
  <Override PartName="/ppt/embeddings/oleObject253.bin" ContentType="application/vnd.openxmlformats-officedocument.oleObject"/>
  <Override PartName="/ppt/embeddings/oleObject254.bin" ContentType="application/vnd.openxmlformats-officedocument.oleObject"/>
  <Override PartName="/ppt/embeddings/oleObject255.bin" ContentType="application/vnd.openxmlformats-officedocument.oleObject"/>
  <Override PartName="/ppt/embeddings/oleObject256.bin" ContentType="application/vnd.openxmlformats-officedocument.oleObject"/>
  <Override PartName="/ppt/embeddings/oleObject257.bin" ContentType="application/vnd.openxmlformats-officedocument.oleObject"/>
  <Override PartName="/ppt/embeddings/oleObject258.bin" ContentType="application/vnd.openxmlformats-officedocument.oleObject"/>
  <Override PartName="/ppt/embeddings/oleObject259.bin" ContentType="application/vnd.openxmlformats-officedocument.oleObject"/>
  <Override PartName="/ppt/embeddings/oleObject260.bin" ContentType="application/vnd.openxmlformats-officedocument.oleObject"/>
  <Override PartName="/ppt/embeddings/oleObject261.bin" ContentType="application/vnd.openxmlformats-officedocument.oleObject"/>
  <Override PartName="/ppt/embeddings/oleObject262.bin" ContentType="application/vnd.openxmlformats-officedocument.oleObject"/>
  <Override PartName="/ppt/embeddings/oleObject263.bin" ContentType="application/vnd.openxmlformats-officedocument.oleObject"/>
  <Override PartName="/ppt/embeddings/oleObject264.bin" ContentType="application/vnd.openxmlformats-officedocument.oleObject"/>
  <Override PartName="/ppt/embeddings/oleObject265.bin" ContentType="application/vnd.openxmlformats-officedocument.oleObject"/>
  <Override PartName="/ppt/embeddings/oleObject266.bin" ContentType="application/vnd.openxmlformats-officedocument.oleObject"/>
  <Override PartName="/ppt/embeddings/oleObject267.bin" ContentType="application/vnd.openxmlformats-officedocument.oleObject"/>
  <Override PartName="/ppt/embeddings/oleObject268.bin" ContentType="application/vnd.openxmlformats-officedocument.oleObject"/>
  <Override PartName="/ppt/embeddings/oleObject269.bin" ContentType="application/vnd.openxmlformats-officedocument.oleObject"/>
  <Override PartName="/ppt/embeddings/oleObject270.bin" ContentType="application/vnd.openxmlformats-officedocument.oleObject"/>
  <Override PartName="/ppt/embeddings/oleObject271.bin" ContentType="application/vnd.openxmlformats-officedocument.oleObject"/>
  <Override PartName="/ppt/embeddings/oleObject272.bin" ContentType="application/vnd.openxmlformats-officedocument.oleObject"/>
  <Override PartName="/ppt/embeddings/oleObject273.bin" ContentType="application/vnd.openxmlformats-officedocument.oleObject"/>
  <Override PartName="/ppt/embeddings/oleObject274.bin" ContentType="application/vnd.openxmlformats-officedocument.oleObject"/>
  <Override PartName="/ppt/embeddings/oleObject275.bin" ContentType="application/vnd.openxmlformats-officedocument.oleObject"/>
  <Override PartName="/ppt/embeddings/oleObject276.bin" ContentType="application/vnd.openxmlformats-officedocument.oleObject"/>
  <Override PartName="/ppt/embeddings/oleObject277.bin" ContentType="application/vnd.openxmlformats-officedocument.oleObject"/>
  <Override PartName="/ppt/embeddings/oleObject278.bin" ContentType="application/vnd.openxmlformats-officedocument.oleObject"/>
  <Override PartName="/ppt/embeddings/oleObject279.bin" ContentType="application/vnd.openxmlformats-officedocument.oleObject"/>
  <Override PartName="/ppt/embeddings/oleObject280.bin" ContentType="application/vnd.openxmlformats-officedocument.oleObject"/>
  <Override PartName="/ppt/embeddings/oleObject281.bin" ContentType="application/vnd.openxmlformats-officedocument.oleObject"/>
  <Override PartName="/ppt/embeddings/oleObject282.bin" ContentType="application/vnd.openxmlformats-officedocument.oleObject"/>
  <Override PartName="/ppt/embeddings/oleObject283.bin" ContentType="application/vnd.openxmlformats-officedocument.oleObject"/>
  <Override PartName="/ppt/embeddings/oleObject284.bin" ContentType="application/vnd.openxmlformats-officedocument.oleObject"/>
  <Override PartName="/ppt/embeddings/oleObject285.bin" ContentType="application/vnd.openxmlformats-officedocument.oleObject"/>
  <Override PartName="/ppt/embeddings/oleObject286.bin" ContentType="application/vnd.openxmlformats-officedocument.oleObject"/>
  <Override PartName="/ppt/embeddings/oleObject287.bin" ContentType="application/vnd.openxmlformats-officedocument.oleObject"/>
  <Override PartName="/ppt/embeddings/oleObject288.bin" ContentType="application/vnd.openxmlformats-officedocument.oleObject"/>
  <Override PartName="/ppt/embeddings/oleObject289.bin" ContentType="application/vnd.openxmlformats-officedocument.oleObject"/>
  <Override PartName="/ppt/embeddings/oleObject290.bin" ContentType="application/vnd.openxmlformats-officedocument.oleObject"/>
  <Override PartName="/ppt/embeddings/oleObject291.bin" ContentType="application/vnd.openxmlformats-officedocument.oleObject"/>
  <Override PartName="/ppt/embeddings/oleObject292.bin" ContentType="application/vnd.openxmlformats-officedocument.oleObject"/>
  <Override PartName="/ppt/embeddings/oleObject293.bin" ContentType="application/vnd.openxmlformats-officedocument.oleObject"/>
  <Override PartName="/ppt/embeddings/oleObject294.bin" ContentType="application/vnd.openxmlformats-officedocument.oleObject"/>
  <Override PartName="/ppt/embeddings/oleObject295.bin" ContentType="application/vnd.openxmlformats-officedocument.oleObject"/>
  <Override PartName="/ppt/embeddings/oleObject296.bin" ContentType="application/vnd.openxmlformats-officedocument.oleObject"/>
  <Override PartName="/ppt/embeddings/oleObject297.bin" ContentType="application/vnd.openxmlformats-officedocument.oleObject"/>
  <Override PartName="/ppt/embeddings/oleObject298.bin" ContentType="application/vnd.openxmlformats-officedocument.oleObject"/>
  <Override PartName="/ppt/embeddings/oleObject299.bin" ContentType="application/vnd.openxmlformats-officedocument.oleObject"/>
  <Override PartName="/ppt/embeddings/oleObject300.bin" ContentType="application/vnd.openxmlformats-officedocument.oleObject"/>
  <Override PartName="/ppt/embeddings/oleObject301.bin" ContentType="application/vnd.openxmlformats-officedocument.oleObject"/>
  <Override PartName="/ppt/embeddings/oleObject302.bin" ContentType="application/vnd.openxmlformats-officedocument.oleObject"/>
  <Override PartName="/ppt/embeddings/oleObject303.bin" ContentType="application/vnd.openxmlformats-officedocument.oleObject"/>
  <Override PartName="/ppt/embeddings/oleObject304.bin" ContentType="application/vnd.openxmlformats-officedocument.oleObject"/>
  <Override PartName="/ppt/embeddings/oleObject305.bin" ContentType="application/vnd.openxmlformats-officedocument.oleObject"/>
  <Override PartName="/ppt/embeddings/oleObject306.bin" ContentType="application/vnd.openxmlformats-officedocument.oleObject"/>
  <Override PartName="/ppt/embeddings/oleObject307.bin" ContentType="application/vnd.openxmlformats-officedocument.oleObject"/>
  <Override PartName="/ppt/embeddings/oleObject308.bin" ContentType="application/vnd.openxmlformats-officedocument.oleObject"/>
  <Override PartName="/ppt/embeddings/oleObject309.bin" ContentType="application/vnd.openxmlformats-officedocument.oleObject"/>
  <Override PartName="/ppt/embeddings/oleObject310.bin" ContentType="application/vnd.openxmlformats-officedocument.oleObject"/>
  <Override PartName="/ppt/embeddings/oleObject311.bin" ContentType="application/vnd.openxmlformats-officedocument.oleObject"/>
  <Override PartName="/ppt/embeddings/oleObject312.bin" ContentType="application/vnd.openxmlformats-officedocument.oleObject"/>
  <Override PartName="/ppt/embeddings/oleObject313.bin" ContentType="application/vnd.openxmlformats-officedocument.oleObject"/>
  <Override PartName="/ppt/embeddings/oleObject314.bin" ContentType="application/vnd.openxmlformats-officedocument.oleObject"/>
  <Override PartName="/ppt/embeddings/oleObject315.bin" ContentType="application/vnd.openxmlformats-officedocument.oleObject"/>
  <Override PartName="/ppt/embeddings/oleObject316.bin" ContentType="application/vnd.openxmlformats-officedocument.oleObject"/>
  <Override PartName="/ppt/embeddings/oleObject317.bin" ContentType="application/vnd.openxmlformats-officedocument.oleObject"/>
  <Override PartName="/ppt/embeddings/oleObject318.bin" ContentType="application/vnd.openxmlformats-officedocument.oleObject"/>
  <Override PartName="/ppt/embeddings/oleObject319.bin" ContentType="application/vnd.openxmlformats-officedocument.oleObject"/>
  <Override PartName="/ppt/embeddings/oleObject320.bin" ContentType="application/vnd.openxmlformats-officedocument.oleObject"/>
  <Override PartName="/ppt/embeddings/oleObject321.bin" ContentType="application/vnd.openxmlformats-officedocument.oleObject"/>
  <Override PartName="/ppt/embeddings/oleObject322.bin" ContentType="application/vnd.openxmlformats-officedocument.oleObject"/>
  <Override PartName="/ppt/embeddings/oleObject323.bin" ContentType="application/vnd.openxmlformats-officedocument.oleObject"/>
  <Override PartName="/ppt/embeddings/oleObject324.bin" ContentType="application/vnd.openxmlformats-officedocument.oleObject"/>
  <Override PartName="/ppt/embeddings/oleObject325.bin" ContentType="application/vnd.openxmlformats-officedocument.oleObject"/>
  <Override PartName="/ppt/embeddings/oleObject326.bin" ContentType="application/vnd.openxmlformats-officedocument.oleObject"/>
  <Override PartName="/ppt/embeddings/oleObject327.bin" ContentType="application/vnd.openxmlformats-officedocument.oleObject"/>
  <Override PartName="/ppt/embeddings/oleObject328.bin" ContentType="application/vnd.openxmlformats-officedocument.oleObject"/>
  <Override PartName="/ppt/embeddings/oleObject329.bin" ContentType="application/vnd.openxmlformats-officedocument.oleObject"/>
  <Override PartName="/ppt/embeddings/oleObject330.bin" ContentType="application/vnd.openxmlformats-officedocument.oleObject"/>
  <Override PartName="/ppt/embeddings/oleObject331.bin" ContentType="application/vnd.openxmlformats-officedocument.oleObject"/>
  <Override PartName="/ppt/embeddings/oleObject332.bin" ContentType="application/vnd.openxmlformats-officedocument.oleObject"/>
  <Override PartName="/ppt/embeddings/oleObject333.bin" ContentType="application/vnd.openxmlformats-officedocument.oleObject"/>
  <Override PartName="/ppt/embeddings/oleObject334.bin" ContentType="application/vnd.openxmlformats-officedocument.oleObject"/>
  <Override PartName="/ppt/embeddings/oleObject335.bin" ContentType="application/vnd.openxmlformats-officedocument.oleObject"/>
  <Override PartName="/ppt/embeddings/oleObject336.bin" ContentType="application/vnd.openxmlformats-officedocument.oleObject"/>
  <Override PartName="/ppt/embeddings/oleObject337.bin" ContentType="application/vnd.openxmlformats-officedocument.oleObject"/>
  <Override PartName="/ppt/embeddings/oleObject338.bin" ContentType="application/vnd.openxmlformats-officedocument.oleObject"/>
  <Override PartName="/ppt/embeddings/oleObject339.bin" ContentType="application/vnd.openxmlformats-officedocument.oleObject"/>
  <Override PartName="/ppt/embeddings/oleObject340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97" r:id="rId1"/>
    <p:sldMasterId id="2147483909" r:id="rId2"/>
    <p:sldMasterId id="2147483922" r:id="rId3"/>
  </p:sldMasterIdLst>
  <p:notesMasterIdLst>
    <p:notesMasterId r:id="rId43"/>
  </p:notesMasterIdLst>
  <p:sldIdLst>
    <p:sldId id="335" r:id="rId4"/>
    <p:sldId id="298" r:id="rId5"/>
    <p:sldId id="303" r:id="rId6"/>
    <p:sldId id="304" r:id="rId7"/>
    <p:sldId id="300" r:id="rId8"/>
    <p:sldId id="305" r:id="rId9"/>
    <p:sldId id="302" r:id="rId10"/>
    <p:sldId id="310" r:id="rId11"/>
    <p:sldId id="311" r:id="rId12"/>
    <p:sldId id="312" r:id="rId13"/>
    <p:sldId id="313" r:id="rId14"/>
    <p:sldId id="315" r:id="rId15"/>
    <p:sldId id="316" r:id="rId16"/>
    <p:sldId id="317" r:id="rId17"/>
    <p:sldId id="319" r:id="rId18"/>
    <p:sldId id="336" r:id="rId19"/>
    <p:sldId id="337" r:id="rId20"/>
    <p:sldId id="338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</p:sldIdLst>
  <p:sldSz cx="9144000" cy="6858000" type="screen4x3"/>
  <p:notesSz cx="6858000" cy="9144000"/>
  <p:custShowLst>
    <p:custShow name="自定义放映 1" id="0">
      <p:sldLst/>
    </p:custShow>
  </p:custShowLst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00"/>
    <a:srgbClr val="CCFFCC"/>
    <a:srgbClr val="009900"/>
    <a:srgbClr val="000099"/>
    <a:srgbClr val="000066"/>
    <a:srgbClr val="FFFF66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105" autoAdjust="0"/>
  </p:normalViewPr>
  <p:slideViewPr>
    <p:cSldViewPr snapToGrid="0">
      <p:cViewPr>
        <p:scale>
          <a:sx n="100" d="100"/>
          <a:sy n="100" d="100"/>
        </p:scale>
        <p:origin x="-1932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emf"/><Relationship Id="rId10" Type="http://schemas.openxmlformats.org/officeDocument/2006/relationships/image" Target="../media/image15.wmf"/><Relationship Id="rId4" Type="http://schemas.openxmlformats.org/officeDocument/2006/relationships/image" Target="../media/image9.e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2.wmf"/><Relationship Id="rId18" Type="http://schemas.openxmlformats.org/officeDocument/2006/relationships/image" Target="../media/image37.wmf"/><Relationship Id="rId3" Type="http://schemas.openxmlformats.org/officeDocument/2006/relationships/image" Target="../media/image23.wmf"/><Relationship Id="rId21" Type="http://schemas.openxmlformats.org/officeDocument/2006/relationships/image" Target="../media/image40.wmf"/><Relationship Id="rId7" Type="http://schemas.openxmlformats.org/officeDocument/2006/relationships/image" Target="../media/image27.wmf"/><Relationship Id="rId12" Type="http://schemas.openxmlformats.org/officeDocument/2006/relationships/image" Target="../media/image31.wmf"/><Relationship Id="rId17" Type="http://schemas.openxmlformats.org/officeDocument/2006/relationships/image" Target="../media/image36.wmf"/><Relationship Id="rId2" Type="http://schemas.openxmlformats.org/officeDocument/2006/relationships/image" Target="../media/image22.wmf"/><Relationship Id="rId16" Type="http://schemas.openxmlformats.org/officeDocument/2006/relationships/image" Target="../media/image35.wmf"/><Relationship Id="rId20" Type="http://schemas.openxmlformats.org/officeDocument/2006/relationships/image" Target="../media/image39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0.wmf"/><Relationship Id="rId5" Type="http://schemas.openxmlformats.org/officeDocument/2006/relationships/image" Target="../media/image25.wmf"/><Relationship Id="rId15" Type="http://schemas.openxmlformats.org/officeDocument/2006/relationships/image" Target="../media/image34.wmf"/><Relationship Id="rId10" Type="http://schemas.openxmlformats.org/officeDocument/2006/relationships/image" Target="../media/image7.wmf"/><Relationship Id="rId19" Type="http://schemas.openxmlformats.org/officeDocument/2006/relationships/image" Target="../media/image38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3.wmf"/><Relationship Id="rId22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2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53.wmf"/><Relationship Id="rId7" Type="http://schemas.openxmlformats.org/officeDocument/2006/relationships/image" Target="../media/image45.wmf"/><Relationship Id="rId12" Type="http://schemas.openxmlformats.org/officeDocument/2006/relationships/image" Target="../media/image50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44.wmf"/><Relationship Id="rId11" Type="http://schemas.openxmlformats.org/officeDocument/2006/relationships/image" Target="../media/image49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54.wmf"/><Relationship Id="rId9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47.wmf"/><Relationship Id="rId18" Type="http://schemas.openxmlformats.org/officeDocument/2006/relationships/image" Target="../media/image80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12" Type="http://schemas.openxmlformats.org/officeDocument/2006/relationships/image" Target="../media/image46.wmf"/><Relationship Id="rId17" Type="http://schemas.openxmlformats.org/officeDocument/2006/relationships/image" Target="../media/image79.wmf"/><Relationship Id="rId2" Type="http://schemas.openxmlformats.org/officeDocument/2006/relationships/image" Target="../media/image72.wmf"/><Relationship Id="rId16" Type="http://schemas.openxmlformats.org/officeDocument/2006/relationships/image" Target="../media/image50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11" Type="http://schemas.openxmlformats.org/officeDocument/2006/relationships/image" Target="../media/image45.wmf"/><Relationship Id="rId5" Type="http://schemas.openxmlformats.org/officeDocument/2006/relationships/image" Target="../media/image75.wmf"/><Relationship Id="rId15" Type="http://schemas.openxmlformats.org/officeDocument/2006/relationships/image" Target="../media/image49.wmf"/><Relationship Id="rId10" Type="http://schemas.openxmlformats.org/officeDocument/2006/relationships/image" Target="../media/image44.wmf"/><Relationship Id="rId19" Type="http://schemas.openxmlformats.org/officeDocument/2006/relationships/image" Target="../media/image81.wmf"/><Relationship Id="rId4" Type="http://schemas.openxmlformats.org/officeDocument/2006/relationships/image" Target="../media/image74.wmf"/><Relationship Id="rId9" Type="http://schemas.openxmlformats.org/officeDocument/2006/relationships/image" Target="../media/image43.wmf"/><Relationship Id="rId14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emf"/><Relationship Id="rId1" Type="http://schemas.openxmlformats.org/officeDocument/2006/relationships/image" Target="../media/image82.png"/><Relationship Id="rId4" Type="http://schemas.openxmlformats.org/officeDocument/2006/relationships/image" Target="../media/image85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emf"/><Relationship Id="rId6" Type="http://schemas.openxmlformats.org/officeDocument/2006/relationships/image" Target="../media/image92.emf"/><Relationship Id="rId5" Type="http://schemas.openxmlformats.org/officeDocument/2006/relationships/image" Target="../media/image91.wmf"/><Relationship Id="rId10" Type="http://schemas.openxmlformats.org/officeDocument/2006/relationships/image" Target="../media/image96.e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99.wmf"/><Relationship Id="rId7" Type="http://schemas.openxmlformats.org/officeDocument/2006/relationships/image" Target="../media/image102.wmf"/><Relationship Id="rId2" Type="http://schemas.openxmlformats.org/officeDocument/2006/relationships/image" Target="../media/image98.emf"/><Relationship Id="rId1" Type="http://schemas.openxmlformats.org/officeDocument/2006/relationships/image" Target="../media/image97.wmf"/><Relationship Id="rId6" Type="http://schemas.openxmlformats.org/officeDocument/2006/relationships/image" Target="../media/image101.wmf"/><Relationship Id="rId5" Type="http://schemas.openxmlformats.org/officeDocument/2006/relationships/image" Target="../media/image100.emf"/><Relationship Id="rId4" Type="http://schemas.openxmlformats.org/officeDocument/2006/relationships/image" Target="../media/image89.wmf"/><Relationship Id="rId9" Type="http://schemas.openxmlformats.org/officeDocument/2006/relationships/image" Target="../media/image9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image" Target="../media/image33.wmf"/><Relationship Id="rId7" Type="http://schemas.openxmlformats.org/officeDocument/2006/relationships/image" Target="../media/image108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9" Type="http://schemas.openxmlformats.org/officeDocument/2006/relationships/image" Target="../media/image110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06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05.wmf"/><Relationship Id="rId17" Type="http://schemas.openxmlformats.org/officeDocument/2006/relationships/image" Target="../media/image121.emf"/><Relationship Id="rId2" Type="http://schemas.openxmlformats.org/officeDocument/2006/relationships/image" Target="../media/image112.wmf"/><Relationship Id="rId16" Type="http://schemas.openxmlformats.org/officeDocument/2006/relationships/image" Target="../media/image109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33.wmf"/><Relationship Id="rId5" Type="http://schemas.openxmlformats.org/officeDocument/2006/relationships/image" Target="../media/image115.wmf"/><Relationship Id="rId15" Type="http://schemas.openxmlformats.org/officeDocument/2006/relationships/image" Target="../media/image108.wmf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0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127.emf"/><Relationship Id="rId3" Type="http://schemas.openxmlformats.org/officeDocument/2006/relationships/image" Target="../media/image124.wmf"/><Relationship Id="rId7" Type="http://schemas.openxmlformats.org/officeDocument/2006/relationships/image" Target="../media/image33.wmf"/><Relationship Id="rId12" Type="http://schemas.openxmlformats.org/officeDocument/2006/relationships/image" Target="../media/image109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26.wmf"/><Relationship Id="rId10" Type="http://schemas.openxmlformats.org/officeDocument/2006/relationships/image" Target="../media/image107.wmf"/><Relationship Id="rId4" Type="http://schemas.openxmlformats.org/officeDocument/2006/relationships/image" Target="../media/image125.wmf"/><Relationship Id="rId9" Type="http://schemas.openxmlformats.org/officeDocument/2006/relationships/image" Target="../media/image10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133.emf"/><Relationship Id="rId18" Type="http://schemas.openxmlformats.org/officeDocument/2006/relationships/image" Target="../media/image138.wmf"/><Relationship Id="rId3" Type="http://schemas.openxmlformats.org/officeDocument/2006/relationships/image" Target="../media/image103.wmf"/><Relationship Id="rId7" Type="http://schemas.openxmlformats.org/officeDocument/2006/relationships/image" Target="../media/image33.wmf"/><Relationship Id="rId12" Type="http://schemas.openxmlformats.org/officeDocument/2006/relationships/image" Target="../media/image109.wmf"/><Relationship Id="rId17" Type="http://schemas.openxmlformats.org/officeDocument/2006/relationships/image" Target="../media/image137.wmf"/><Relationship Id="rId2" Type="http://schemas.openxmlformats.org/officeDocument/2006/relationships/image" Target="../media/image129.wmf"/><Relationship Id="rId16" Type="http://schemas.openxmlformats.org/officeDocument/2006/relationships/image" Target="../media/image136.wmf"/><Relationship Id="rId1" Type="http://schemas.openxmlformats.org/officeDocument/2006/relationships/image" Target="../media/image128.emf"/><Relationship Id="rId6" Type="http://schemas.openxmlformats.org/officeDocument/2006/relationships/image" Target="../media/image132.wmf"/><Relationship Id="rId11" Type="http://schemas.openxmlformats.org/officeDocument/2006/relationships/image" Target="../media/image108.wmf"/><Relationship Id="rId5" Type="http://schemas.openxmlformats.org/officeDocument/2006/relationships/image" Target="../media/image131.wmf"/><Relationship Id="rId15" Type="http://schemas.openxmlformats.org/officeDocument/2006/relationships/image" Target="../media/image135.emf"/><Relationship Id="rId10" Type="http://schemas.openxmlformats.org/officeDocument/2006/relationships/image" Target="../media/image107.wmf"/><Relationship Id="rId4" Type="http://schemas.openxmlformats.org/officeDocument/2006/relationships/image" Target="../media/image130.wmf"/><Relationship Id="rId9" Type="http://schemas.openxmlformats.org/officeDocument/2006/relationships/image" Target="../media/image106.wmf"/><Relationship Id="rId14" Type="http://schemas.openxmlformats.org/officeDocument/2006/relationships/image" Target="../media/image13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4" Type="http://schemas.openxmlformats.org/officeDocument/2006/relationships/image" Target="../media/image14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4" Type="http://schemas.openxmlformats.org/officeDocument/2006/relationships/image" Target="../media/image16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30.wmf"/><Relationship Id="rId18" Type="http://schemas.openxmlformats.org/officeDocument/2006/relationships/image" Target="../media/image184.wmf"/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12" Type="http://schemas.openxmlformats.org/officeDocument/2006/relationships/image" Target="../media/image179.wmf"/><Relationship Id="rId17" Type="http://schemas.openxmlformats.org/officeDocument/2006/relationships/image" Target="../media/image183.wmf"/><Relationship Id="rId2" Type="http://schemas.openxmlformats.org/officeDocument/2006/relationships/image" Target="../media/image169.wmf"/><Relationship Id="rId16" Type="http://schemas.openxmlformats.org/officeDocument/2006/relationships/image" Target="../media/image182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11" Type="http://schemas.openxmlformats.org/officeDocument/2006/relationships/image" Target="../media/image178.wmf"/><Relationship Id="rId5" Type="http://schemas.openxmlformats.org/officeDocument/2006/relationships/image" Target="../media/image172.emf"/><Relationship Id="rId15" Type="http://schemas.openxmlformats.org/officeDocument/2006/relationships/image" Target="../media/image181.wmf"/><Relationship Id="rId10" Type="http://schemas.openxmlformats.org/officeDocument/2006/relationships/image" Target="../media/image177.emf"/><Relationship Id="rId4" Type="http://schemas.openxmlformats.org/officeDocument/2006/relationships/image" Target="../media/image171.wmf"/><Relationship Id="rId9" Type="http://schemas.openxmlformats.org/officeDocument/2006/relationships/image" Target="../media/image176.wmf"/><Relationship Id="rId14" Type="http://schemas.openxmlformats.org/officeDocument/2006/relationships/image" Target="../media/image18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emf"/><Relationship Id="rId3" Type="http://schemas.openxmlformats.org/officeDocument/2006/relationships/image" Target="../media/image187.e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2" Type="http://schemas.openxmlformats.org/officeDocument/2006/relationships/image" Target="../media/image186.emf"/><Relationship Id="rId1" Type="http://schemas.openxmlformats.org/officeDocument/2006/relationships/image" Target="../media/image185.e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0" Type="http://schemas.openxmlformats.org/officeDocument/2006/relationships/image" Target="../media/image194.e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4" Type="http://schemas.openxmlformats.org/officeDocument/2006/relationships/image" Target="../media/image20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4" Type="http://schemas.openxmlformats.org/officeDocument/2006/relationships/image" Target="../media/image20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10" Type="http://schemas.openxmlformats.org/officeDocument/2006/relationships/image" Target="../media/image222.wmf"/><Relationship Id="rId4" Type="http://schemas.openxmlformats.org/officeDocument/2006/relationships/image" Target="../media/image217.wmf"/><Relationship Id="rId9" Type="http://schemas.openxmlformats.org/officeDocument/2006/relationships/image" Target="../media/image211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34.emf"/><Relationship Id="rId3" Type="http://schemas.openxmlformats.org/officeDocument/2006/relationships/image" Target="../media/image225.emf"/><Relationship Id="rId7" Type="http://schemas.openxmlformats.org/officeDocument/2006/relationships/image" Target="../media/image228.wmf"/><Relationship Id="rId12" Type="http://schemas.openxmlformats.org/officeDocument/2006/relationships/image" Target="../media/image233.emf"/><Relationship Id="rId17" Type="http://schemas.openxmlformats.org/officeDocument/2006/relationships/image" Target="../media/image238.emf"/><Relationship Id="rId2" Type="http://schemas.openxmlformats.org/officeDocument/2006/relationships/image" Target="../media/image224.wmf"/><Relationship Id="rId16" Type="http://schemas.openxmlformats.org/officeDocument/2006/relationships/image" Target="../media/image237.emf"/><Relationship Id="rId1" Type="http://schemas.openxmlformats.org/officeDocument/2006/relationships/image" Target="../media/image223.wmf"/><Relationship Id="rId6" Type="http://schemas.openxmlformats.org/officeDocument/2006/relationships/image" Target="../media/image192.wmf"/><Relationship Id="rId11" Type="http://schemas.openxmlformats.org/officeDocument/2006/relationships/image" Target="../media/image232.emf"/><Relationship Id="rId5" Type="http://schemas.openxmlformats.org/officeDocument/2006/relationships/image" Target="../media/image227.emf"/><Relationship Id="rId15" Type="http://schemas.openxmlformats.org/officeDocument/2006/relationships/image" Target="../media/image236.wmf"/><Relationship Id="rId10" Type="http://schemas.openxmlformats.org/officeDocument/2006/relationships/image" Target="../media/image231.emf"/><Relationship Id="rId4" Type="http://schemas.openxmlformats.org/officeDocument/2006/relationships/image" Target="../media/image226.emf"/><Relationship Id="rId9" Type="http://schemas.openxmlformats.org/officeDocument/2006/relationships/image" Target="../media/image230.emf"/><Relationship Id="rId14" Type="http://schemas.openxmlformats.org/officeDocument/2006/relationships/image" Target="../media/image235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emf"/><Relationship Id="rId13" Type="http://schemas.openxmlformats.org/officeDocument/2006/relationships/image" Target="../media/image256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12" Type="http://schemas.openxmlformats.org/officeDocument/2006/relationships/image" Target="../media/image192.wmf"/><Relationship Id="rId2" Type="http://schemas.openxmlformats.org/officeDocument/2006/relationships/image" Target="../media/image246.wmf"/><Relationship Id="rId1" Type="http://schemas.openxmlformats.org/officeDocument/2006/relationships/image" Target="../media/image30.wmf"/><Relationship Id="rId6" Type="http://schemas.openxmlformats.org/officeDocument/2006/relationships/image" Target="../media/image250.wmf"/><Relationship Id="rId11" Type="http://schemas.openxmlformats.org/officeDocument/2006/relationships/image" Target="../media/image255.wmf"/><Relationship Id="rId5" Type="http://schemas.openxmlformats.org/officeDocument/2006/relationships/image" Target="../media/image249.emf"/><Relationship Id="rId10" Type="http://schemas.openxmlformats.org/officeDocument/2006/relationships/image" Target="../media/image254.emf"/><Relationship Id="rId4" Type="http://schemas.openxmlformats.org/officeDocument/2006/relationships/image" Target="../media/image248.wmf"/><Relationship Id="rId9" Type="http://schemas.openxmlformats.org/officeDocument/2006/relationships/image" Target="../media/image253.emf"/><Relationship Id="rId14" Type="http://schemas.openxmlformats.org/officeDocument/2006/relationships/image" Target="../media/image257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emf"/><Relationship Id="rId13" Type="http://schemas.openxmlformats.org/officeDocument/2006/relationships/image" Target="../media/image265.wmf"/><Relationship Id="rId3" Type="http://schemas.openxmlformats.org/officeDocument/2006/relationships/image" Target="../media/image33.wmf"/><Relationship Id="rId7" Type="http://schemas.openxmlformats.org/officeDocument/2006/relationships/image" Target="../media/image259.emf"/><Relationship Id="rId12" Type="http://schemas.openxmlformats.org/officeDocument/2006/relationships/image" Target="../media/image264.emf"/><Relationship Id="rId2" Type="http://schemas.openxmlformats.org/officeDocument/2006/relationships/image" Target="../media/image30.wmf"/><Relationship Id="rId1" Type="http://schemas.openxmlformats.org/officeDocument/2006/relationships/image" Target="../media/image192.wmf"/><Relationship Id="rId6" Type="http://schemas.openxmlformats.org/officeDocument/2006/relationships/image" Target="../media/image255.wmf"/><Relationship Id="rId11" Type="http://schemas.openxmlformats.org/officeDocument/2006/relationships/image" Target="../media/image263.wmf"/><Relationship Id="rId5" Type="http://schemas.openxmlformats.org/officeDocument/2006/relationships/image" Target="../media/image229.wmf"/><Relationship Id="rId10" Type="http://schemas.openxmlformats.org/officeDocument/2006/relationships/image" Target="../media/image262.emf"/><Relationship Id="rId4" Type="http://schemas.openxmlformats.org/officeDocument/2006/relationships/image" Target="../media/image258.wmf"/><Relationship Id="rId9" Type="http://schemas.openxmlformats.org/officeDocument/2006/relationships/image" Target="../media/image261.emf"/><Relationship Id="rId14" Type="http://schemas.openxmlformats.org/officeDocument/2006/relationships/image" Target="../media/image26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1024" units="cm"/>
        </inkml:traceFormat>
        <inkml:channelProperties>
          <inkml:channelProperty channel="X" name="resolution" value="28" units="1/cm"/>
          <inkml:channelProperty channel="Y" name="resolution" value="28" units="1/cm"/>
        </inkml:channelProperties>
      </inkml:inkSource>
      <inkml:timestamp xml:id="ts0" timeString="2016-08-25T14:25:33.9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1024" units="cm"/>
        </inkml:traceFormat>
        <inkml:channelProperties>
          <inkml:channelProperty channel="X" name="resolution" value="28" units="1/cm"/>
          <inkml:channelProperty channel="Y" name="resolution" value="28" units="1/cm"/>
        </inkml:channelProperties>
      </inkml:inkSource>
      <inkml:timestamp xml:id="ts0" timeString="2016-08-25T14:35:46.13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0,'0'0,"20"19,0-19,-1 20,1 0,0-20,-20 0,20 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5E52EC-E000-46E6-AE9F-8692113301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18155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BC0865-F286-490A-BCD7-AAF85A4B701C}" type="slidenum">
              <a:rPr lang="zh-CN" altLang="en-US" smtClean="0"/>
              <a:pPr/>
              <a:t>2</a:t>
            </a:fld>
            <a:endParaRPr lang="en-US" altLang="zh-CN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F122F-D869-4D44-87B4-37BA89B171D8}" type="slidenum">
              <a:rPr lang="zh-CN" altLang="en-US" smtClean="0"/>
              <a:pPr/>
              <a:t>6</a:t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A63018-A9FE-4AC3-B1C1-5E4C97936290}" type="slidenum">
              <a:rPr lang="zh-CN" altLang="en-US" smtClean="0"/>
              <a:pPr/>
              <a:t>12</a:t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9AACBD-8FE4-4F3D-BC83-A9087EE39F00}" type="slidenum">
              <a:rPr lang="en-US" altLang="zh-CN" smtClean="0">
                <a:solidFill>
                  <a:srgbClr val="000000"/>
                </a:solidFill>
              </a:rPr>
              <a:pPr/>
              <a:t>25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FEB12-DF49-4987-B486-6A667D67F30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E931BE-7E60-400C-9D52-DF0CEAA15ED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796F8-710D-4A4E-BCB5-768F8DCCC23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140E47-FBFD-49AA-A2AC-AD49F877432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EC2B3-7610-46EB-A06E-4A35904AA735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77B762-41FE-4E97-B958-582073188BE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2677AE-5707-4AF7-B612-105AC8FE16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C7911-0CE5-4F11-A6A9-EDEF27F637C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D0604-4569-4BD6-B41A-15908FBF4CF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5AB79-93E4-4528-8D2F-376649B00795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1C2B48-9570-4C6F-AD8B-8AFCCC27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5CBCCD-B73D-4378-A249-F5C7D92D19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94771A-440B-4173-8626-65683480CE8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5A36FA-37C6-40BD-814D-15A9F2D71D1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7BE390-AD0E-4475-8636-2768C35E161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662CE0-69C7-40D9-BCB4-DBC8451271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9A6BAD-B7E3-4B6B-98A9-86F179AFE4E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E52E6B-5F2D-46CE-9115-57242FFDAC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57244-2BAA-4A13-9683-C053EE0A94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5C4639-A1FC-444F-B896-0DC2F03C75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13B58-AF9B-468D-9AAE-C118883479A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65975-3E4B-4BAA-BC9C-EA0E0A22688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CB9E10-5EAA-42FD-BED7-E8943B99613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F96413-C741-4921-BC8F-98B01A96A27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A4023-029B-46BA-AB13-F8A4A31F7A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19EEEF-819A-4B60-ACC4-AED6B249561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3DA2D-AE4E-42B5-B711-0060635B6F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D23F6-6792-4D35-AC83-1DAE7903562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DA9D86-BAE6-418B-AE86-0C73048B228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F780DF-8FDB-4117-A537-FE2BF97E626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3B4B8-A9F5-49E3-93F0-4E1C04A881E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16A8A-F395-418F-BC83-26B4FF92153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EBAAB5-E465-405A-A160-955A9E6FCE6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F1FF178-EBD2-4A76-97A5-385E82EA77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5" name="Rectangle 24"/>
          <p:cNvSpPr>
            <a:spLocks noChangeArrowheads="1"/>
          </p:cNvSpPr>
          <p:nvPr userDrawn="1"/>
        </p:nvSpPr>
        <p:spPr bwMode="auto">
          <a:xfrm>
            <a:off x="7019925" y="6545263"/>
            <a:ext cx="21336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0"/>
              </a:spcBef>
              <a:defRPr/>
            </a:pPr>
            <a:fld id="{368CE117-6AC5-4583-B6FB-4CEBD22E9269}" type="slidenum">
              <a:rPr lang="zh-CN" altLang="en-US" sz="1400" b="0">
                <a:solidFill>
                  <a:srgbClr val="0000CC"/>
                </a:solidFill>
                <a:latin typeface="Calibri" pitchFamily="34" charset="0"/>
              </a:rPr>
              <a:pPr algn="r">
                <a:spcBef>
                  <a:spcPct val="0"/>
                </a:spcBef>
                <a:defRPr/>
              </a:pPr>
              <a:t>‹#›</a:t>
            </a:fld>
            <a:endParaRPr lang="en-US" altLang="zh-CN" sz="1400" b="0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F1FF178-EBD2-4A76-97A5-385E82EA77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F1FF178-EBD2-4A76-97A5-385E82EA77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9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wmf"/><Relationship Id="rId12" Type="http://schemas.openxmlformats.org/officeDocument/2006/relationships/customXml" Target="../ink/ink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9.wmf"/><Relationship Id="rId1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8.wmf"/><Relationship Id="rId26" Type="http://schemas.openxmlformats.org/officeDocument/2006/relationships/image" Target="../media/image31.wmf"/><Relationship Id="rId39" Type="http://schemas.openxmlformats.org/officeDocument/2006/relationships/oleObject" Target="../embeddings/oleObject34.bin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34" Type="http://schemas.openxmlformats.org/officeDocument/2006/relationships/image" Target="../media/image35.wmf"/><Relationship Id="rId42" Type="http://schemas.openxmlformats.org/officeDocument/2006/relationships/oleObject" Target="../embeddings/oleObject37.bin"/><Relationship Id="rId47" Type="http://schemas.openxmlformats.org/officeDocument/2006/relationships/image" Target="../media/image40.wmf"/><Relationship Id="rId50" Type="http://schemas.openxmlformats.org/officeDocument/2006/relationships/oleObject" Target="../embeddings/oleObject41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3.bin"/><Relationship Id="rId25" Type="http://schemas.openxmlformats.org/officeDocument/2006/relationships/oleObject" Target="../embeddings/oleObject27.bin"/><Relationship Id="rId33" Type="http://schemas.openxmlformats.org/officeDocument/2006/relationships/oleObject" Target="../embeddings/oleObject31.bin"/><Relationship Id="rId38" Type="http://schemas.openxmlformats.org/officeDocument/2006/relationships/image" Target="../media/image37.wmf"/><Relationship Id="rId46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29" Type="http://schemas.openxmlformats.org/officeDocument/2006/relationships/oleObject" Target="../embeddings/oleObject29.bin"/><Relationship Id="rId41" Type="http://schemas.openxmlformats.org/officeDocument/2006/relationships/oleObject" Target="../embeddings/oleObject36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30.wmf"/><Relationship Id="rId32" Type="http://schemas.openxmlformats.org/officeDocument/2006/relationships/image" Target="../media/image34.wmf"/><Relationship Id="rId37" Type="http://schemas.openxmlformats.org/officeDocument/2006/relationships/oleObject" Target="../embeddings/oleObject33.bin"/><Relationship Id="rId40" Type="http://schemas.openxmlformats.org/officeDocument/2006/relationships/oleObject" Target="../embeddings/oleObject35.bin"/><Relationship Id="rId45" Type="http://schemas.openxmlformats.org/officeDocument/2006/relationships/image" Target="../media/image39.wmf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32.wmf"/><Relationship Id="rId36" Type="http://schemas.openxmlformats.org/officeDocument/2006/relationships/image" Target="../media/image36.wmf"/><Relationship Id="rId49" Type="http://schemas.openxmlformats.org/officeDocument/2006/relationships/image" Target="../media/image41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4.bin"/><Relationship Id="rId31" Type="http://schemas.openxmlformats.org/officeDocument/2006/relationships/oleObject" Target="../embeddings/oleObject30.bin"/><Relationship Id="rId44" Type="http://schemas.openxmlformats.org/officeDocument/2006/relationships/oleObject" Target="../embeddings/oleObject38.bin"/><Relationship Id="rId52" Type="http://schemas.openxmlformats.org/officeDocument/2006/relationships/oleObject" Target="../embeddings/oleObject43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6.wmf"/><Relationship Id="rId22" Type="http://schemas.openxmlformats.org/officeDocument/2006/relationships/image" Target="../media/image7.wmf"/><Relationship Id="rId27" Type="http://schemas.openxmlformats.org/officeDocument/2006/relationships/oleObject" Target="../embeddings/oleObject28.bin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32.bin"/><Relationship Id="rId43" Type="http://schemas.openxmlformats.org/officeDocument/2006/relationships/image" Target="../media/image38.wmf"/><Relationship Id="rId48" Type="http://schemas.openxmlformats.org/officeDocument/2006/relationships/oleObject" Target="../embeddings/oleObject40.bin"/><Relationship Id="rId8" Type="http://schemas.openxmlformats.org/officeDocument/2006/relationships/image" Target="../media/image23.wmf"/><Relationship Id="rId51" Type="http://schemas.openxmlformats.org/officeDocument/2006/relationships/oleObject" Target="../embeddings/oleObject4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7.wmf"/><Relationship Id="rId22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43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" Type="http://schemas.openxmlformats.org/officeDocument/2006/relationships/oleObject" Target="../embeddings/oleObject54.bin"/><Relationship Id="rId21" Type="http://schemas.openxmlformats.org/officeDocument/2006/relationships/image" Target="../media/image47.wmf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45.wmf"/><Relationship Id="rId25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57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2.wmf"/><Relationship Id="rId11" Type="http://schemas.openxmlformats.org/officeDocument/2006/relationships/image" Target="../media/image54.wmf"/><Relationship Id="rId24" Type="http://schemas.openxmlformats.org/officeDocument/2006/relationships/oleObject" Target="../embeddings/oleObject64.bin"/><Relationship Id="rId5" Type="http://schemas.openxmlformats.org/officeDocument/2006/relationships/oleObject" Target="../embeddings/oleObject55.bin"/><Relationship Id="rId15" Type="http://schemas.openxmlformats.org/officeDocument/2006/relationships/image" Target="../media/image44.wmf"/><Relationship Id="rId23" Type="http://schemas.openxmlformats.org/officeDocument/2006/relationships/image" Target="../media/image48.wmf"/><Relationship Id="rId28" Type="http://schemas.openxmlformats.org/officeDocument/2006/relationships/customXml" Target="../ink/ink2.xml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46.wmf"/><Relationship Id="rId4" Type="http://schemas.openxmlformats.org/officeDocument/2006/relationships/image" Target="../media/image51.wmf"/><Relationship Id="rId9" Type="http://schemas.openxmlformats.org/officeDocument/2006/relationships/image" Target="../media/image3.png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73.bin"/><Relationship Id="rId3" Type="http://schemas.openxmlformats.org/officeDocument/2006/relationships/oleObject" Target="../embeddings/oleObject66.bin"/><Relationship Id="rId21" Type="http://schemas.openxmlformats.org/officeDocument/2006/relationships/image" Target="../media/image49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44.wmf"/><Relationship Id="rId5" Type="http://schemas.openxmlformats.org/officeDocument/2006/relationships/image" Target="../media/image3.png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48.wmf"/><Relationship Id="rId4" Type="http://schemas.openxmlformats.org/officeDocument/2006/relationships/image" Target="../media/image55.wmf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5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61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6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67.e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78.wmf"/><Relationship Id="rId26" Type="http://schemas.openxmlformats.org/officeDocument/2006/relationships/image" Target="../media/image46.wmf"/><Relationship Id="rId39" Type="http://schemas.openxmlformats.org/officeDocument/2006/relationships/oleObject" Target="../embeddings/oleObject109.bin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34" Type="http://schemas.openxmlformats.org/officeDocument/2006/relationships/image" Target="../media/image50.wmf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33" Type="http://schemas.openxmlformats.org/officeDocument/2006/relationships/oleObject" Target="../embeddings/oleObject106.bin"/><Relationship Id="rId38" Type="http://schemas.openxmlformats.org/officeDocument/2006/relationships/image" Target="../media/image8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43.wmf"/><Relationship Id="rId29" Type="http://schemas.openxmlformats.org/officeDocument/2006/relationships/oleObject" Target="../embeddings/oleObject104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45.wmf"/><Relationship Id="rId32" Type="http://schemas.openxmlformats.org/officeDocument/2006/relationships/image" Target="../media/image49.wmf"/><Relationship Id="rId37" Type="http://schemas.openxmlformats.org/officeDocument/2006/relationships/oleObject" Target="../embeddings/oleObject108.bin"/><Relationship Id="rId40" Type="http://schemas.openxmlformats.org/officeDocument/2006/relationships/image" Target="../media/image81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47.wmf"/><Relationship Id="rId36" Type="http://schemas.openxmlformats.org/officeDocument/2006/relationships/image" Target="../media/image79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99.bin"/><Relationship Id="rId31" Type="http://schemas.openxmlformats.org/officeDocument/2006/relationships/oleObject" Target="../embeddings/oleObject105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6.wmf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103.bin"/><Relationship Id="rId30" Type="http://schemas.openxmlformats.org/officeDocument/2006/relationships/image" Target="../media/image48.wmf"/><Relationship Id="rId35" Type="http://schemas.openxmlformats.org/officeDocument/2006/relationships/oleObject" Target="../embeddings/oleObject10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84.wmf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83.emf"/><Relationship Id="rId10" Type="http://schemas.openxmlformats.org/officeDocument/2006/relationships/image" Target="../media/image86.png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8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image" Target="../media/image96.emf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87.e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92.emf"/><Relationship Id="rId22" Type="http://schemas.openxmlformats.org/officeDocument/2006/relationships/oleObject" Target="../embeddings/oleObject1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88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00.emf"/><Relationship Id="rId17" Type="http://schemas.openxmlformats.org/officeDocument/2006/relationships/oleObject" Target="../embeddings/oleObject131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02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132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0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4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08.wmf"/><Relationship Id="rId20" Type="http://schemas.openxmlformats.org/officeDocument/2006/relationships/image" Target="../media/image110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0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18.wmf"/><Relationship Id="rId26" Type="http://schemas.openxmlformats.org/officeDocument/2006/relationships/image" Target="../media/image105.w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1.bin"/><Relationship Id="rId34" Type="http://schemas.openxmlformats.org/officeDocument/2006/relationships/image" Target="../media/image109.wmf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3.bin"/><Relationship Id="rId33" Type="http://schemas.openxmlformats.org/officeDocument/2006/relationships/oleObject" Target="../embeddings/oleObject15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29" Type="http://schemas.openxmlformats.org/officeDocument/2006/relationships/oleObject" Target="../embeddings/oleObject155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33.wmf"/><Relationship Id="rId32" Type="http://schemas.openxmlformats.org/officeDocument/2006/relationships/image" Target="../media/image108.w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23" Type="http://schemas.openxmlformats.org/officeDocument/2006/relationships/oleObject" Target="../embeddings/oleObject152.bin"/><Relationship Id="rId28" Type="http://schemas.openxmlformats.org/officeDocument/2006/relationships/image" Target="../media/image106.wmf"/><Relationship Id="rId36" Type="http://schemas.openxmlformats.org/officeDocument/2006/relationships/image" Target="../media/image121.emf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50.bin"/><Relationship Id="rId31" Type="http://schemas.openxmlformats.org/officeDocument/2006/relationships/oleObject" Target="../embeddings/oleObject156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154.bin"/><Relationship Id="rId30" Type="http://schemas.openxmlformats.org/officeDocument/2006/relationships/image" Target="../media/image107.wmf"/><Relationship Id="rId35" Type="http://schemas.openxmlformats.org/officeDocument/2006/relationships/oleObject" Target="../embeddings/oleObject15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05.wmf"/><Relationship Id="rId26" Type="http://schemas.openxmlformats.org/officeDocument/2006/relationships/image" Target="../media/image109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3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08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27.emf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Relationship Id="rId27" Type="http://schemas.openxmlformats.org/officeDocument/2006/relationships/oleObject" Target="../embeddings/oleObject17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05.wmf"/><Relationship Id="rId26" Type="http://schemas.openxmlformats.org/officeDocument/2006/relationships/image" Target="../media/image109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34" Type="http://schemas.openxmlformats.org/officeDocument/2006/relationships/image" Target="../media/image136.wmf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33" Type="http://schemas.openxmlformats.org/officeDocument/2006/relationships/oleObject" Target="../embeddings/oleObject187.bin"/><Relationship Id="rId38" Type="http://schemas.openxmlformats.org/officeDocument/2006/relationships/image" Target="../media/image13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3.wmf"/><Relationship Id="rId20" Type="http://schemas.openxmlformats.org/officeDocument/2006/relationships/image" Target="../media/image106.wmf"/><Relationship Id="rId29" Type="http://schemas.openxmlformats.org/officeDocument/2006/relationships/oleObject" Target="../embeddings/oleObject185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08.wmf"/><Relationship Id="rId32" Type="http://schemas.openxmlformats.org/officeDocument/2006/relationships/image" Target="../media/image135.emf"/><Relationship Id="rId37" Type="http://schemas.openxmlformats.org/officeDocument/2006/relationships/oleObject" Target="../embeddings/oleObject189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33.emf"/><Relationship Id="rId36" Type="http://schemas.openxmlformats.org/officeDocument/2006/relationships/image" Target="../media/image137.wmf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80.bin"/><Relationship Id="rId31" Type="http://schemas.openxmlformats.org/officeDocument/2006/relationships/oleObject" Target="../embeddings/oleObject186.bin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32.wmf"/><Relationship Id="rId22" Type="http://schemas.openxmlformats.org/officeDocument/2006/relationships/image" Target="../media/image107.w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34.emf"/><Relationship Id="rId35" Type="http://schemas.openxmlformats.org/officeDocument/2006/relationships/oleObject" Target="../embeddings/oleObject18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9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4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20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48.wmf"/><Relationship Id="rId5" Type="http://schemas.openxmlformats.org/officeDocument/2006/relationships/image" Target="../media/image145.wmf"/><Relationship Id="rId15" Type="http://schemas.openxmlformats.org/officeDocument/2006/relationships/image" Target="../media/image150.w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20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207.bin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7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5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214.bin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16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9.e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0" Type="http://schemas.openxmlformats.org/officeDocument/2006/relationships/image" Target="../media/image161.wmf"/><Relationship Id="rId4" Type="http://schemas.openxmlformats.org/officeDocument/2006/relationships/image" Target="../media/image158.e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16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216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21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175.wmf"/><Relationship Id="rId26" Type="http://schemas.openxmlformats.org/officeDocument/2006/relationships/image" Target="../media/image179.wmf"/><Relationship Id="rId39" Type="http://schemas.openxmlformats.org/officeDocument/2006/relationships/image" Target="../media/image184.wmf"/><Relationship Id="rId3" Type="http://schemas.openxmlformats.org/officeDocument/2006/relationships/oleObject" Target="../embeddings/oleObject219.bin"/><Relationship Id="rId21" Type="http://schemas.openxmlformats.org/officeDocument/2006/relationships/oleObject" Target="../embeddings/oleObject228.bin"/><Relationship Id="rId34" Type="http://schemas.openxmlformats.org/officeDocument/2006/relationships/image" Target="../media/image182.wmf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172.emf"/><Relationship Id="rId17" Type="http://schemas.openxmlformats.org/officeDocument/2006/relationships/oleObject" Target="../embeddings/oleObject226.bin"/><Relationship Id="rId25" Type="http://schemas.openxmlformats.org/officeDocument/2006/relationships/oleObject" Target="../embeddings/oleObject230.bin"/><Relationship Id="rId33" Type="http://schemas.openxmlformats.org/officeDocument/2006/relationships/oleObject" Target="../embeddings/oleObject234.bin"/><Relationship Id="rId38" Type="http://schemas.openxmlformats.org/officeDocument/2006/relationships/oleObject" Target="../embeddings/oleObject23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4.wmf"/><Relationship Id="rId20" Type="http://schemas.openxmlformats.org/officeDocument/2006/relationships/image" Target="../media/image176.wmf"/><Relationship Id="rId29" Type="http://schemas.openxmlformats.org/officeDocument/2006/relationships/oleObject" Target="../embeddings/oleObject232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223.bin"/><Relationship Id="rId24" Type="http://schemas.openxmlformats.org/officeDocument/2006/relationships/image" Target="../media/image178.wmf"/><Relationship Id="rId32" Type="http://schemas.openxmlformats.org/officeDocument/2006/relationships/image" Target="../media/image181.wmf"/><Relationship Id="rId37" Type="http://schemas.openxmlformats.org/officeDocument/2006/relationships/oleObject" Target="../embeddings/oleObject236.bin"/><Relationship Id="rId40" Type="http://schemas.openxmlformats.org/officeDocument/2006/relationships/oleObject" Target="../embeddings/oleObject238.bin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23" Type="http://schemas.openxmlformats.org/officeDocument/2006/relationships/oleObject" Target="../embeddings/oleObject229.bin"/><Relationship Id="rId28" Type="http://schemas.openxmlformats.org/officeDocument/2006/relationships/image" Target="../media/image30.wmf"/><Relationship Id="rId36" Type="http://schemas.openxmlformats.org/officeDocument/2006/relationships/image" Target="../media/image183.wmf"/><Relationship Id="rId10" Type="http://schemas.openxmlformats.org/officeDocument/2006/relationships/image" Target="../media/image171.wmf"/><Relationship Id="rId19" Type="http://schemas.openxmlformats.org/officeDocument/2006/relationships/oleObject" Target="../embeddings/oleObject227.bin"/><Relationship Id="rId31" Type="http://schemas.openxmlformats.org/officeDocument/2006/relationships/oleObject" Target="../embeddings/oleObject233.bin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173.wmf"/><Relationship Id="rId22" Type="http://schemas.openxmlformats.org/officeDocument/2006/relationships/image" Target="../media/image177.emf"/><Relationship Id="rId27" Type="http://schemas.openxmlformats.org/officeDocument/2006/relationships/oleObject" Target="../embeddings/oleObject231.bin"/><Relationship Id="rId30" Type="http://schemas.openxmlformats.org/officeDocument/2006/relationships/image" Target="../media/image180.wmf"/><Relationship Id="rId35" Type="http://schemas.openxmlformats.org/officeDocument/2006/relationships/oleObject" Target="../embeddings/oleObject23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" Type="http://schemas.openxmlformats.org/officeDocument/2006/relationships/oleObject" Target="../embeddings/oleObject239.bin"/><Relationship Id="rId21" Type="http://schemas.openxmlformats.org/officeDocument/2006/relationships/oleObject" Target="../embeddings/oleObject248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246.bin"/><Relationship Id="rId25" Type="http://schemas.openxmlformats.org/officeDocument/2006/relationships/oleObject" Target="../embeddings/oleObject25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6.emf"/><Relationship Id="rId11" Type="http://schemas.openxmlformats.org/officeDocument/2006/relationships/oleObject" Target="../embeddings/oleObject243.bin"/><Relationship Id="rId24" Type="http://schemas.openxmlformats.org/officeDocument/2006/relationships/image" Target="../media/image195.wmf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23" Type="http://schemas.openxmlformats.org/officeDocument/2006/relationships/oleObject" Target="../embeddings/oleObject249.bin"/><Relationship Id="rId28" Type="http://schemas.openxmlformats.org/officeDocument/2006/relationships/image" Target="../media/image197.emf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247.bin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190.wmf"/><Relationship Id="rId22" Type="http://schemas.openxmlformats.org/officeDocument/2006/relationships/image" Target="../media/image194.emf"/><Relationship Id="rId27" Type="http://schemas.openxmlformats.org/officeDocument/2006/relationships/oleObject" Target="../embeddings/oleObject25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53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5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3.wmf"/><Relationship Id="rId5" Type="http://schemas.openxmlformats.org/officeDocument/2006/relationships/oleObject" Target="../embeddings/oleObject257.bin"/><Relationship Id="rId10" Type="http://schemas.openxmlformats.org/officeDocument/2006/relationships/image" Target="../media/image205.wmf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5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13.wmf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2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21.wmf"/><Relationship Id="rId3" Type="http://schemas.openxmlformats.org/officeDocument/2006/relationships/oleObject" Target="../embeddings/oleObject268.bin"/><Relationship Id="rId21" Type="http://schemas.openxmlformats.org/officeDocument/2006/relationships/oleObject" Target="../embeddings/oleObject277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7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0.wmf"/><Relationship Id="rId20" Type="http://schemas.openxmlformats.org/officeDocument/2006/relationships/image" Target="../media/image211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76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19.wmf"/><Relationship Id="rId22" Type="http://schemas.openxmlformats.org/officeDocument/2006/relationships/image" Target="../media/image22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29.wmf"/><Relationship Id="rId26" Type="http://schemas.openxmlformats.org/officeDocument/2006/relationships/image" Target="../media/image233.emf"/><Relationship Id="rId3" Type="http://schemas.openxmlformats.org/officeDocument/2006/relationships/oleObject" Target="../embeddings/oleObject278.bin"/><Relationship Id="rId21" Type="http://schemas.openxmlformats.org/officeDocument/2006/relationships/oleObject" Target="../embeddings/oleObject287.bin"/><Relationship Id="rId34" Type="http://schemas.openxmlformats.org/officeDocument/2006/relationships/image" Target="../media/image237.emf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27.emf"/><Relationship Id="rId17" Type="http://schemas.openxmlformats.org/officeDocument/2006/relationships/oleObject" Target="../embeddings/oleObject285.bin"/><Relationship Id="rId25" Type="http://schemas.openxmlformats.org/officeDocument/2006/relationships/oleObject" Target="../embeddings/oleObject289.bin"/><Relationship Id="rId33" Type="http://schemas.openxmlformats.org/officeDocument/2006/relationships/oleObject" Target="../embeddings/oleObject29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8.wmf"/><Relationship Id="rId20" Type="http://schemas.openxmlformats.org/officeDocument/2006/relationships/image" Target="../media/image230.emf"/><Relationship Id="rId29" Type="http://schemas.openxmlformats.org/officeDocument/2006/relationships/oleObject" Target="../embeddings/oleObject291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82.bin"/><Relationship Id="rId24" Type="http://schemas.openxmlformats.org/officeDocument/2006/relationships/image" Target="../media/image232.emf"/><Relationship Id="rId32" Type="http://schemas.openxmlformats.org/officeDocument/2006/relationships/image" Target="../media/image236.wmf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23" Type="http://schemas.openxmlformats.org/officeDocument/2006/relationships/oleObject" Target="../embeddings/oleObject288.bin"/><Relationship Id="rId28" Type="http://schemas.openxmlformats.org/officeDocument/2006/relationships/image" Target="../media/image234.emf"/><Relationship Id="rId36" Type="http://schemas.openxmlformats.org/officeDocument/2006/relationships/image" Target="../media/image238.emf"/><Relationship Id="rId10" Type="http://schemas.openxmlformats.org/officeDocument/2006/relationships/image" Target="../media/image226.emf"/><Relationship Id="rId19" Type="http://schemas.openxmlformats.org/officeDocument/2006/relationships/oleObject" Target="../embeddings/oleObject286.bin"/><Relationship Id="rId31" Type="http://schemas.openxmlformats.org/officeDocument/2006/relationships/oleObject" Target="../embeddings/oleObject292.bin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192.wmf"/><Relationship Id="rId22" Type="http://schemas.openxmlformats.org/officeDocument/2006/relationships/image" Target="../media/image231.emf"/><Relationship Id="rId27" Type="http://schemas.openxmlformats.org/officeDocument/2006/relationships/oleObject" Target="../embeddings/oleObject290.bin"/><Relationship Id="rId30" Type="http://schemas.openxmlformats.org/officeDocument/2006/relationships/image" Target="../media/image235.emf"/><Relationship Id="rId35" Type="http://schemas.openxmlformats.org/officeDocument/2006/relationships/oleObject" Target="../embeddings/oleObject29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300.bin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44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49.e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oleObject" Target="../embeddings/oleObject302.bin"/><Relationship Id="rId21" Type="http://schemas.openxmlformats.org/officeDocument/2006/relationships/image" Target="../media/image253.emf"/><Relationship Id="rId7" Type="http://schemas.openxmlformats.org/officeDocument/2006/relationships/oleObject" Target="../embeddings/oleObject304.bin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51.wmf"/><Relationship Id="rId25" Type="http://schemas.openxmlformats.org/officeDocument/2006/relationships/image" Target="../media/image255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29" Type="http://schemas.openxmlformats.org/officeDocument/2006/relationships/oleObject" Target="../embeddings/oleObject316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6.wmf"/><Relationship Id="rId11" Type="http://schemas.openxmlformats.org/officeDocument/2006/relationships/image" Target="../media/image248.wmf"/><Relationship Id="rId24" Type="http://schemas.openxmlformats.org/officeDocument/2006/relationships/oleObject" Target="../embeddings/oleObject313.bin"/><Relationship Id="rId32" Type="http://schemas.openxmlformats.org/officeDocument/2006/relationships/image" Target="../media/image257.emf"/><Relationship Id="rId5" Type="http://schemas.openxmlformats.org/officeDocument/2006/relationships/oleObject" Target="../embeddings/oleObject303.bin"/><Relationship Id="rId15" Type="http://schemas.openxmlformats.org/officeDocument/2006/relationships/image" Target="../media/image250.wmf"/><Relationship Id="rId23" Type="http://schemas.openxmlformats.org/officeDocument/2006/relationships/image" Target="../media/image254.emf"/><Relationship Id="rId28" Type="http://schemas.openxmlformats.org/officeDocument/2006/relationships/oleObject" Target="../embeddings/oleObject315.bin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52.emf"/><Relationship Id="rId31" Type="http://schemas.openxmlformats.org/officeDocument/2006/relationships/oleObject" Target="../embeddings/oleObject317.bin"/><Relationship Id="rId4" Type="http://schemas.openxmlformats.org/officeDocument/2006/relationships/image" Target="../media/image30.wmf"/><Relationship Id="rId9" Type="http://schemas.openxmlformats.org/officeDocument/2006/relationships/image" Target="../media/image247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192.wmf"/><Relationship Id="rId30" Type="http://schemas.openxmlformats.org/officeDocument/2006/relationships/image" Target="../media/image25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23.bin"/><Relationship Id="rId18" Type="http://schemas.openxmlformats.org/officeDocument/2006/relationships/image" Target="../media/image260.emf"/><Relationship Id="rId26" Type="http://schemas.openxmlformats.org/officeDocument/2006/relationships/image" Target="../media/image264.emf"/><Relationship Id="rId3" Type="http://schemas.openxmlformats.org/officeDocument/2006/relationships/oleObject" Target="../embeddings/oleObject318.bin"/><Relationship Id="rId21" Type="http://schemas.openxmlformats.org/officeDocument/2006/relationships/oleObject" Target="../embeddings/oleObject327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229.wmf"/><Relationship Id="rId17" Type="http://schemas.openxmlformats.org/officeDocument/2006/relationships/oleObject" Target="../embeddings/oleObject325.bin"/><Relationship Id="rId25" Type="http://schemas.openxmlformats.org/officeDocument/2006/relationships/oleObject" Target="../embeddings/oleObject32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9.emf"/><Relationship Id="rId20" Type="http://schemas.openxmlformats.org/officeDocument/2006/relationships/image" Target="../media/image261.emf"/><Relationship Id="rId29" Type="http://schemas.openxmlformats.org/officeDocument/2006/relationships/oleObject" Target="../embeddings/oleObject331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2.bin"/><Relationship Id="rId24" Type="http://schemas.openxmlformats.org/officeDocument/2006/relationships/image" Target="../media/image263.wmf"/><Relationship Id="rId32" Type="http://schemas.openxmlformats.org/officeDocument/2006/relationships/oleObject" Target="../embeddings/oleObject333.bin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23" Type="http://schemas.openxmlformats.org/officeDocument/2006/relationships/oleObject" Target="../embeddings/oleObject328.bin"/><Relationship Id="rId28" Type="http://schemas.openxmlformats.org/officeDocument/2006/relationships/image" Target="../media/image265.wmf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326.bin"/><Relationship Id="rId31" Type="http://schemas.openxmlformats.org/officeDocument/2006/relationships/oleObject" Target="../embeddings/oleObject332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255.wmf"/><Relationship Id="rId22" Type="http://schemas.openxmlformats.org/officeDocument/2006/relationships/image" Target="../media/image262.emf"/><Relationship Id="rId27" Type="http://schemas.openxmlformats.org/officeDocument/2006/relationships/oleObject" Target="../embeddings/oleObject330.bin"/><Relationship Id="rId30" Type="http://schemas.openxmlformats.org/officeDocument/2006/relationships/image" Target="../media/image26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339.bin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27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10" Type="http://schemas.openxmlformats.org/officeDocument/2006/relationships/image" Target="../media/image27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27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1439334" y="2745318"/>
            <a:ext cx="463126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5050B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ahoma" pitchFamily="34" charset="0"/>
              </a:rPr>
              <a:t>§</a:t>
            </a:r>
            <a:r>
              <a:rPr lang="en-US" altLang="zh-CN" b="0" dirty="0">
                <a:latin typeface="Tahoma" pitchFamily="34" charset="0"/>
              </a:rPr>
              <a:t> </a:t>
            </a:r>
            <a:r>
              <a:rPr lang="en-US" altLang="zh-CN" dirty="0" smtClean="0">
                <a:solidFill>
                  <a:srgbClr val="05050B"/>
                </a:solidFill>
              </a:rPr>
              <a:t>10.1  </a:t>
            </a:r>
            <a:r>
              <a:rPr lang="zh-CN" altLang="en-US" dirty="0" smtClean="0">
                <a:solidFill>
                  <a:srgbClr val="05050B"/>
                </a:solidFill>
              </a:rPr>
              <a:t>简谐振动</a:t>
            </a:r>
            <a:endParaRPr lang="zh-CN" altLang="en-US" dirty="0">
              <a:solidFill>
                <a:srgbClr val="05050B"/>
              </a:solidFill>
            </a:endParaRP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1526116" y="3636433"/>
            <a:ext cx="52212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Tahoma" pitchFamily="34" charset="0"/>
              </a:rPr>
              <a:t>§</a:t>
            </a:r>
            <a:r>
              <a:rPr lang="en-US" altLang="zh-CN" b="0" dirty="0">
                <a:latin typeface="Tahoma" pitchFamily="34" charset="0"/>
              </a:rPr>
              <a:t> </a:t>
            </a:r>
            <a:r>
              <a:rPr lang="en-US" altLang="zh-CN" dirty="0" smtClean="0">
                <a:solidFill>
                  <a:srgbClr val="05050B"/>
                </a:solidFill>
              </a:rPr>
              <a:t>10.2   </a:t>
            </a:r>
            <a:r>
              <a:rPr lang="zh-CN" altLang="en-US" dirty="0">
                <a:solidFill>
                  <a:srgbClr val="05050B"/>
                </a:solidFill>
              </a:rPr>
              <a:t>简谐振动的能量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2473325" y="948880"/>
            <a:ext cx="4114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600" dirty="0" smtClean="0">
                <a:solidFill>
                  <a:srgbClr val="05050B"/>
                </a:solidFill>
              </a:rPr>
              <a:t>第十章     </a:t>
            </a:r>
            <a:r>
              <a:rPr lang="zh-CN" altLang="en-US" sz="3600" dirty="0">
                <a:solidFill>
                  <a:srgbClr val="05050B"/>
                </a:solidFill>
              </a:rPr>
              <a:t>振  动</a:t>
            </a:r>
          </a:p>
        </p:txBody>
      </p:sp>
      <p:sp>
        <p:nvSpPr>
          <p:cNvPr id="42019" name="Text Box 35"/>
          <p:cNvSpPr txBox="1">
            <a:spLocks noChangeArrowheads="1"/>
          </p:cNvSpPr>
          <p:nvPr/>
        </p:nvSpPr>
        <p:spPr bwMode="auto">
          <a:xfrm>
            <a:off x="1526116" y="4474633"/>
            <a:ext cx="52212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Tahoma" pitchFamily="34" charset="0"/>
              </a:rPr>
              <a:t>§</a:t>
            </a:r>
            <a:r>
              <a:rPr lang="en-US" altLang="zh-CN" b="0" dirty="0">
                <a:latin typeface="Tahoma" pitchFamily="34" charset="0"/>
              </a:rPr>
              <a:t> </a:t>
            </a:r>
            <a:r>
              <a:rPr lang="en-US" altLang="zh-CN" dirty="0" smtClean="0">
                <a:solidFill>
                  <a:srgbClr val="05050B"/>
                </a:solidFill>
              </a:rPr>
              <a:t>10.3   </a:t>
            </a:r>
            <a:r>
              <a:rPr lang="zh-CN" altLang="en-US" dirty="0" smtClean="0">
                <a:solidFill>
                  <a:srgbClr val="05050B"/>
                </a:solidFill>
              </a:rPr>
              <a:t>简谐振动</a:t>
            </a:r>
            <a:r>
              <a:rPr lang="zh-CN" altLang="en-US" dirty="0">
                <a:solidFill>
                  <a:srgbClr val="05050B"/>
                </a:solidFill>
              </a:rPr>
              <a:t>的合成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utoUpdateAnimBg="0"/>
      <p:bldP spid="41996" grpId="0" autoUpdateAnimBg="0"/>
      <p:bldP spid="42004" grpId="0" autoUpdateAnimBg="0"/>
      <p:bldP spid="4201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44" name="Rectangle 28"/>
          <p:cNvSpPr>
            <a:spLocks noChangeArrowheads="1"/>
          </p:cNvSpPr>
          <p:nvPr/>
        </p:nvSpPr>
        <p:spPr bwMode="auto">
          <a:xfrm>
            <a:off x="1143000" y="2122488"/>
            <a:ext cx="7315200" cy="127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/>
              <a:t>        物体或物体的某一部分在</a:t>
            </a:r>
            <a:r>
              <a:rPr kumimoji="1" lang="zh-CN" altLang="en-US">
                <a:solidFill>
                  <a:srgbClr val="0000CC"/>
                </a:solidFill>
              </a:rPr>
              <a:t>一定位置</a:t>
            </a:r>
            <a:r>
              <a:rPr kumimoji="1" lang="zh-CN" altLang="en-US"/>
              <a:t>附近来回往复的振动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86047" name="Rectangle 31"/>
          <p:cNvSpPr>
            <a:spLocks noChangeArrowheads="1"/>
          </p:cNvSpPr>
          <p:nvPr/>
        </p:nvSpPr>
        <p:spPr bwMode="auto">
          <a:xfrm>
            <a:off x="762000" y="3760788"/>
            <a:ext cx="2286000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>
                <a:solidFill>
                  <a:srgbClr val="CC0000"/>
                </a:solidFill>
              </a:rPr>
              <a:t>   </a:t>
            </a:r>
            <a:r>
              <a:rPr kumimoji="1" lang="zh-CN" altLang="en-US">
                <a:solidFill>
                  <a:srgbClr val="CC0000"/>
                </a:solidFill>
              </a:rPr>
              <a:t>实例:</a:t>
            </a:r>
          </a:p>
        </p:txBody>
      </p:sp>
      <p:sp>
        <p:nvSpPr>
          <p:cNvPr id="86048" name="Rectangle 32"/>
          <p:cNvSpPr>
            <a:spLocks noChangeArrowheads="1"/>
          </p:cNvSpPr>
          <p:nvPr/>
        </p:nvSpPr>
        <p:spPr bwMode="auto">
          <a:xfrm>
            <a:off x="1066800" y="4343400"/>
            <a:ext cx="4059238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/>
              <a:t>　　 心脏的跳动，</a:t>
            </a: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/>
              <a:t>钟摆，乐器，  地震等</a:t>
            </a:r>
          </a:p>
        </p:txBody>
      </p:sp>
      <p:sp>
        <p:nvSpPr>
          <p:cNvPr id="86049" name="Rectangle 33"/>
          <p:cNvSpPr>
            <a:spLocks noChangeArrowheads="1"/>
          </p:cNvSpPr>
          <p:nvPr/>
        </p:nvSpPr>
        <p:spPr bwMode="auto">
          <a:xfrm>
            <a:off x="685800" y="1557338"/>
            <a:ext cx="7772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1  机械振动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 flipV="1">
            <a:off x="6588125" y="1139825"/>
            <a:ext cx="1981200" cy="633413"/>
            <a:chOff x="4176" y="1837"/>
            <a:chExt cx="1248" cy="378"/>
          </a:xfrm>
        </p:grpSpPr>
        <p:sp>
          <p:nvSpPr>
            <p:cNvPr id="66572" name="AutoShape 37"/>
            <p:cNvSpPr>
              <a:spLocks noChangeArrowheads="1"/>
            </p:cNvSpPr>
            <p:nvPr/>
          </p:nvSpPr>
          <p:spPr bwMode="auto">
            <a:xfrm>
              <a:off x="4176" y="1837"/>
              <a:ext cx="1248" cy="378"/>
            </a:xfrm>
            <a:prstGeom prst="wedgeEllipseCallout">
              <a:avLst>
                <a:gd name="adj1" fmla="val 10338"/>
                <a:gd name="adj2" fmla="val -112699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l">
                <a:lnSpc>
                  <a:spcPct val="120000"/>
                </a:lnSpc>
              </a:pPr>
              <a:endParaRPr kumimoji="1" lang="zh-CN" altLang="en-US">
                <a:solidFill>
                  <a:srgbClr val="FF0000"/>
                </a:solidFill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endParaRPr kumimoji="1" lang="zh-CN" altLang="en-US">
                <a:solidFill>
                  <a:srgbClr val="FF0000"/>
                </a:solidFill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</a:pPr>
              <a:endParaRPr kumimoji="1"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6573" name="Rectangle 40"/>
            <p:cNvSpPr>
              <a:spLocks noChangeArrowheads="1"/>
            </p:cNvSpPr>
            <p:nvPr/>
          </p:nvSpPr>
          <p:spPr bwMode="auto">
            <a:xfrm flipV="1">
              <a:off x="4221" y="1874"/>
              <a:ext cx="1144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CC0000"/>
                  </a:solidFill>
                </a:rPr>
                <a:t>平衡位置</a:t>
              </a:r>
            </a:p>
          </p:txBody>
        </p:sp>
      </p:grpSp>
      <p:sp>
        <p:nvSpPr>
          <p:cNvPr id="66567" name="Text Box 42"/>
          <p:cNvSpPr txBox="1">
            <a:spLocks noChangeArrowheads="1"/>
          </p:cNvSpPr>
          <p:nvPr/>
        </p:nvSpPr>
        <p:spPr bwMode="auto">
          <a:xfrm>
            <a:off x="103188" y="908050"/>
            <a:ext cx="6629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3600">
                <a:solidFill>
                  <a:srgbClr val="CC0000"/>
                </a:solidFill>
              </a:rPr>
              <a:t>   一   简谐振动</a:t>
            </a:r>
          </a:p>
        </p:txBody>
      </p:sp>
      <p:sp>
        <p:nvSpPr>
          <p:cNvPr id="66568" name="Rectangle 47"/>
          <p:cNvSpPr>
            <a:spLocks noChangeArrowheads="1"/>
          </p:cNvSpPr>
          <p:nvPr/>
        </p:nvSpPr>
        <p:spPr bwMode="auto">
          <a:xfrm>
            <a:off x="1588" y="2847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569" name="Rectangle 54"/>
          <p:cNvSpPr>
            <a:spLocks noChangeArrowheads="1"/>
          </p:cNvSpPr>
          <p:nvPr/>
        </p:nvSpPr>
        <p:spPr bwMode="auto">
          <a:xfrm>
            <a:off x="1588" y="220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570" name="Text Box 15"/>
          <p:cNvSpPr txBox="1">
            <a:spLocks noChangeArrowheads="1"/>
          </p:cNvSpPr>
          <p:nvPr/>
        </p:nvSpPr>
        <p:spPr bwMode="auto">
          <a:xfrm>
            <a:off x="912284" y="188913"/>
            <a:ext cx="6655329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 § </a:t>
            </a:r>
            <a:r>
              <a:rPr lang="en-US" altLang="zh-CN" dirty="0" smtClean="0">
                <a:solidFill>
                  <a:srgbClr val="000000"/>
                </a:solidFill>
              </a:rPr>
              <a:t>10.1  </a:t>
            </a:r>
            <a:r>
              <a:rPr lang="zh-CN" altLang="en-US" dirty="0" smtClean="0">
                <a:solidFill>
                  <a:srgbClr val="000000"/>
                </a:solidFill>
              </a:rPr>
              <a:t>简谐振动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41998" name="Picture 14" descr="C:\Users\Administrator.QH-20141207FETC\Desktop\Pendulum-Clocks-54561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3141663"/>
            <a:ext cx="1655762" cy="331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4" grpId="0" autoUpdateAnimBg="0"/>
      <p:bldP spid="86047" grpId="0" autoUpdateAnimBg="0"/>
      <p:bldP spid="86048" grpId="0" autoUpdateAnimBg="0"/>
      <p:bldP spid="8604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838200" y="1384300"/>
            <a:ext cx="7656513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CN" altLang="en-US" sz="2800">
                <a:latin typeface="宋体" pitchFamily="2" charset="-122"/>
              </a:rPr>
              <a:t> </a:t>
            </a:r>
            <a:r>
              <a:rPr lang="zh-CN" altLang="en-US">
                <a:solidFill>
                  <a:srgbClr val="CC0000"/>
                </a:solidFill>
                <a:latin typeface="宋体" pitchFamily="2" charset="-122"/>
              </a:rPr>
              <a:t>简谐振动  </a:t>
            </a:r>
            <a:r>
              <a:rPr lang="zh-CN" altLang="en-US">
                <a:latin typeface="宋体" pitchFamily="2" charset="-122"/>
              </a:rPr>
              <a:t>最简单、最基本的振动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143000" y="4191000"/>
            <a:ext cx="5486400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>
                <a:solidFill>
                  <a:srgbClr val="CC0000"/>
                </a:solidFill>
                <a:latin typeface="宋体" pitchFamily="2" charset="-122"/>
              </a:rPr>
              <a:t>谐振子  </a:t>
            </a:r>
            <a:r>
              <a:rPr lang="zh-CN" altLang="en-US">
                <a:latin typeface="宋体" pitchFamily="2" charset="-122"/>
              </a:rPr>
              <a:t>作简谐振动的物体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295400" y="2286000"/>
            <a:ext cx="5867400" cy="1514475"/>
            <a:chOff x="960" y="1296"/>
            <a:chExt cx="3696" cy="954"/>
          </a:xfrm>
        </p:grpSpPr>
        <p:sp>
          <p:nvSpPr>
            <p:cNvPr id="67590" name="Text Box 6"/>
            <p:cNvSpPr txBox="1">
              <a:spLocks noChangeArrowheads="1"/>
            </p:cNvSpPr>
            <p:nvPr/>
          </p:nvSpPr>
          <p:spPr bwMode="auto">
            <a:xfrm>
              <a:off x="960" y="1632"/>
              <a:ext cx="1220" cy="43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latin typeface="宋体" pitchFamily="2" charset="-122"/>
                </a:rPr>
                <a:t>简谐振动</a:t>
              </a:r>
            </a:p>
          </p:txBody>
        </p:sp>
        <p:sp>
          <p:nvSpPr>
            <p:cNvPr id="67591" name="Text Box 7"/>
            <p:cNvSpPr txBox="1">
              <a:spLocks noChangeArrowheads="1"/>
            </p:cNvSpPr>
            <p:nvPr/>
          </p:nvSpPr>
          <p:spPr bwMode="auto">
            <a:xfrm>
              <a:off x="3469" y="1632"/>
              <a:ext cx="1187" cy="438"/>
            </a:xfrm>
            <a:prstGeom prst="rect">
              <a:avLst/>
            </a:prstGeom>
            <a:solidFill>
              <a:srgbClr val="FCF7FF"/>
            </a:solidFill>
            <a:ln w="19050">
              <a:solidFill>
                <a:srgbClr val="CC00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latin typeface="宋体" pitchFamily="2" charset="-122"/>
                </a:rPr>
                <a:t>复杂振动</a:t>
              </a:r>
            </a:p>
          </p:txBody>
        </p:sp>
        <p:sp>
          <p:nvSpPr>
            <p:cNvPr id="67592" name="Text Box 8"/>
            <p:cNvSpPr txBox="1">
              <a:spLocks noChangeArrowheads="1"/>
            </p:cNvSpPr>
            <p:nvPr/>
          </p:nvSpPr>
          <p:spPr bwMode="auto">
            <a:xfrm>
              <a:off x="2534" y="1296"/>
              <a:ext cx="778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>
                  <a:solidFill>
                    <a:srgbClr val="CC0000"/>
                  </a:solidFill>
                  <a:latin typeface="宋体" pitchFamily="2" charset="-122"/>
                </a:rPr>
                <a:t>合成</a:t>
              </a:r>
            </a:p>
          </p:txBody>
        </p:sp>
        <p:sp>
          <p:nvSpPr>
            <p:cNvPr id="67593" name="Text Box 9"/>
            <p:cNvSpPr txBox="1">
              <a:spLocks noChangeArrowheads="1"/>
            </p:cNvSpPr>
            <p:nvPr/>
          </p:nvSpPr>
          <p:spPr bwMode="auto">
            <a:xfrm>
              <a:off x="2534" y="1824"/>
              <a:ext cx="778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>
                  <a:solidFill>
                    <a:srgbClr val="0000FF"/>
                  </a:solidFill>
                  <a:latin typeface="宋体" pitchFamily="2" charset="-122"/>
                </a:rPr>
                <a:t>分解</a:t>
              </a:r>
              <a:endParaRPr lang="zh-CN" altLang="en-US">
                <a:solidFill>
                  <a:srgbClr val="33CC33"/>
                </a:solidFill>
                <a:latin typeface="宋体" pitchFamily="2" charset="-122"/>
              </a:endParaRPr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auto">
            <a:xfrm>
              <a:off x="2273" y="1728"/>
              <a:ext cx="1071" cy="144"/>
            </a:xfrm>
            <a:prstGeom prst="leftRightArrow">
              <a:avLst>
                <a:gd name="adj1" fmla="val 50000"/>
                <a:gd name="adj2" fmla="val 148750"/>
              </a:avLst>
            </a:prstGeom>
            <a:gradFill rotWithShape="0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589" name="Rectangle 11"/>
          <p:cNvSpPr>
            <a:spLocks noChangeArrowheads="1"/>
          </p:cNvSpPr>
          <p:nvPr/>
        </p:nvSpPr>
        <p:spPr bwMode="auto">
          <a:xfrm>
            <a:off x="877888" y="617538"/>
            <a:ext cx="51419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2  简谐振动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utoUpdateAnimBg="0"/>
      <p:bldP spid="18330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971550" y="5056188"/>
            <a:ext cx="38862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振动的成因：</a:t>
            </a:r>
            <a:endParaRPr kumimoji="1" lang="en-US" altLang="zh-CN">
              <a:solidFill>
                <a:srgbClr val="CC0000"/>
              </a:solidFill>
            </a:endParaRP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5076825" y="5056188"/>
            <a:ext cx="32766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kumimoji="1" lang="zh-CN" altLang="en-US"/>
              <a:t>回复力+惯性</a:t>
            </a:r>
          </a:p>
        </p:txBody>
      </p:sp>
      <p:sp>
        <p:nvSpPr>
          <p:cNvPr id="1029" name="Text Box 40"/>
          <p:cNvSpPr txBox="1">
            <a:spLocks noChangeArrowheads="1"/>
          </p:cNvSpPr>
          <p:nvPr/>
        </p:nvSpPr>
        <p:spPr bwMode="auto">
          <a:xfrm>
            <a:off x="468313" y="449263"/>
            <a:ext cx="4724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buFontTx/>
              <a:buBlip>
                <a:blip r:embed="rId4"/>
              </a:buBlip>
            </a:pPr>
            <a:r>
              <a:rPr lang="zh-CN" altLang="en-US" sz="2800">
                <a:solidFill>
                  <a:srgbClr val="CC0000"/>
                </a:solidFill>
                <a:latin typeface="宋体" pitchFamily="2" charset="-122"/>
              </a:rPr>
              <a:t>  </a:t>
            </a:r>
            <a:r>
              <a:rPr lang="zh-CN" altLang="en-US">
                <a:solidFill>
                  <a:srgbClr val="CC0000"/>
                </a:solidFill>
                <a:latin typeface="宋体" pitchFamily="2" charset="-122"/>
              </a:rPr>
              <a:t>弹簧振子的振动</a:t>
            </a:r>
            <a:endParaRPr lang="zh-CN" altLang="en-US" b="0">
              <a:solidFill>
                <a:srgbClr val="CC0000"/>
              </a:solidFill>
              <a:latin typeface="宋体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4" name="ShockwaveFlash2" r:id="rId2" imgW="7344762" imgH="3122488"/>
        </mc:Choice>
        <mc:Fallback>
          <p:control name="ShockwaveFlash2" r:id="rId2" imgW="7344762" imgH="3122488">
            <p:pic>
              <p:nvPicPr>
                <p:cNvPr id="0" name="ShockwaveFlash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1550" y="1530350"/>
                  <a:ext cx="7345363" cy="31226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autoUpdateAnimBg="0"/>
      <p:bldP spid="18432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1"/>
          <p:cNvGrpSpPr>
            <a:grpSpLocks/>
          </p:cNvGrpSpPr>
          <p:nvPr/>
        </p:nvGrpSpPr>
        <p:grpSpPr bwMode="auto">
          <a:xfrm>
            <a:off x="5394325" y="3124200"/>
            <a:ext cx="2133600" cy="1012825"/>
            <a:chOff x="3168" y="2064"/>
            <a:chExt cx="1344" cy="638"/>
          </a:xfrm>
        </p:grpSpPr>
        <p:graphicFrame>
          <p:nvGraphicFramePr>
            <p:cNvPr id="2061" name="Object 49"/>
            <p:cNvGraphicFramePr>
              <a:graphicFrameLocks noChangeAspect="1"/>
            </p:cNvGraphicFramePr>
            <p:nvPr/>
          </p:nvGraphicFramePr>
          <p:xfrm>
            <a:off x="3696" y="2064"/>
            <a:ext cx="81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" name="Equation" r:id="rId3" imgW="609480" imgH="469800" progId="Equation.3">
                    <p:embed/>
                  </p:oleObj>
                </mc:Choice>
                <mc:Fallback>
                  <p:oleObj name="Equation" r:id="rId3" imgW="609480" imgH="4698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064"/>
                          <a:ext cx="816" cy="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9" name="Text Box 53"/>
            <p:cNvSpPr txBox="1">
              <a:spLocks noChangeArrowheads="1"/>
            </p:cNvSpPr>
            <p:nvPr/>
          </p:nvSpPr>
          <p:spPr bwMode="auto">
            <a:xfrm>
              <a:off x="3168" y="2213"/>
              <a:ext cx="51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令  </a:t>
              </a:r>
            </a:p>
          </p:txBody>
        </p:sp>
      </p:grpSp>
      <p:sp>
        <p:nvSpPr>
          <p:cNvPr id="2063" name="Oval 71"/>
          <p:cNvSpPr>
            <a:spLocks noChangeArrowheads="1"/>
          </p:cNvSpPr>
          <p:nvPr/>
        </p:nvSpPr>
        <p:spPr bwMode="auto">
          <a:xfrm>
            <a:off x="6299200" y="1557338"/>
            <a:ext cx="914400" cy="966787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4" name="Line 3"/>
          <p:cNvSpPr>
            <a:spLocks noChangeShapeType="1"/>
          </p:cNvSpPr>
          <p:nvPr/>
        </p:nvSpPr>
        <p:spPr bwMode="auto">
          <a:xfrm>
            <a:off x="1414463" y="2162175"/>
            <a:ext cx="219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65" name="Group 4"/>
          <p:cNvGrpSpPr>
            <a:grpSpLocks/>
          </p:cNvGrpSpPr>
          <p:nvPr/>
        </p:nvGrpSpPr>
        <p:grpSpPr bwMode="auto">
          <a:xfrm>
            <a:off x="1633538" y="1749425"/>
            <a:ext cx="4476750" cy="549275"/>
            <a:chOff x="1180" y="3312"/>
            <a:chExt cx="2920" cy="384"/>
          </a:xfrm>
        </p:grpSpPr>
        <p:grpSp>
          <p:nvGrpSpPr>
            <p:cNvPr id="2081" name="Group 5"/>
            <p:cNvGrpSpPr>
              <a:grpSpLocks/>
            </p:cNvGrpSpPr>
            <p:nvPr/>
          </p:nvGrpSpPr>
          <p:grpSpPr bwMode="auto">
            <a:xfrm>
              <a:off x="1438" y="3312"/>
              <a:ext cx="299" cy="384"/>
              <a:chOff x="1632" y="2064"/>
              <a:chExt cx="336" cy="384"/>
            </a:xfrm>
          </p:grpSpPr>
          <p:sp>
            <p:nvSpPr>
              <p:cNvPr id="2107" name="Line 6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8" name="Line 7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2" name="Group 8"/>
            <p:cNvGrpSpPr>
              <a:grpSpLocks/>
            </p:cNvGrpSpPr>
            <p:nvPr/>
          </p:nvGrpSpPr>
          <p:grpSpPr bwMode="auto">
            <a:xfrm>
              <a:off x="1737" y="3312"/>
              <a:ext cx="301" cy="384"/>
              <a:chOff x="1632" y="2064"/>
              <a:chExt cx="336" cy="384"/>
            </a:xfrm>
          </p:grpSpPr>
          <p:sp>
            <p:nvSpPr>
              <p:cNvPr id="2105" name="Line 9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6" name="Line 10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3" name="Group 11"/>
            <p:cNvGrpSpPr>
              <a:grpSpLocks/>
            </p:cNvGrpSpPr>
            <p:nvPr/>
          </p:nvGrpSpPr>
          <p:grpSpPr bwMode="auto">
            <a:xfrm>
              <a:off x="2038" y="3312"/>
              <a:ext cx="301" cy="384"/>
              <a:chOff x="1632" y="2064"/>
              <a:chExt cx="336" cy="384"/>
            </a:xfrm>
          </p:grpSpPr>
          <p:sp>
            <p:nvSpPr>
              <p:cNvPr id="2103" name="Line 12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4" name="Line 13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4" name="Group 14"/>
            <p:cNvGrpSpPr>
              <a:grpSpLocks/>
            </p:cNvGrpSpPr>
            <p:nvPr/>
          </p:nvGrpSpPr>
          <p:grpSpPr bwMode="auto">
            <a:xfrm>
              <a:off x="2339" y="3312"/>
              <a:ext cx="301" cy="384"/>
              <a:chOff x="1632" y="2064"/>
              <a:chExt cx="336" cy="384"/>
            </a:xfrm>
          </p:grpSpPr>
          <p:sp>
            <p:nvSpPr>
              <p:cNvPr id="2101" name="Line 15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2" name="Line 16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5" name="Group 17"/>
            <p:cNvGrpSpPr>
              <a:grpSpLocks/>
            </p:cNvGrpSpPr>
            <p:nvPr/>
          </p:nvGrpSpPr>
          <p:grpSpPr bwMode="auto">
            <a:xfrm>
              <a:off x="2640" y="3312"/>
              <a:ext cx="301" cy="384"/>
              <a:chOff x="1632" y="2064"/>
              <a:chExt cx="336" cy="384"/>
            </a:xfrm>
          </p:grpSpPr>
          <p:sp>
            <p:nvSpPr>
              <p:cNvPr id="2099" name="Line 18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0" name="Line 19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6" name="Group 20"/>
            <p:cNvGrpSpPr>
              <a:grpSpLocks/>
            </p:cNvGrpSpPr>
            <p:nvPr/>
          </p:nvGrpSpPr>
          <p:grpSpPr bwMode="auto">
            <a:xfrm>
              <a:off x="2941" y="3312"/>
              <a:ext cx="301" cy="384"/>
              <a:chOff x="1632" y="2064"/>
              <a:chExt cx="336" cy="384"/>
            </a:xfrm>
          </p:grpSpPr>
          <p:sp>
            <p:nvSpPr>
              <p:cNvPr id="2097" name="Line 21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8" name="Line 22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7" name="Group 23"/>
            <p:cNvGrpSpPr>
              <a:grpSpLocks/>
            </p:cNvGrpSpPr>
            <p:nvPr/>
          </p:nvGrpSpPr>
          <p:grpSpPr bwMode="auto">
            <a:xfrm>
              <a:off x="3242" y="3312"/>
              <a:ext cx="301" cy="384"/>
              <a:chOff x="1632" y="2064"/>
              <a:chExt cx="336" cy="384"/>
            </a:xfrm>
          </p:grpSpPr>
          <p:sp>
            <p:nvSpPr>
              <p:cNvPr id="2095" name="Line 24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6" name="Line 25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88" name="Group 26"/>
            <p:cNvGrpSpPr>
              <a:grpSpLocks/>
            </p:cNvGrpSpPr>
            <p:nvPr/>
          </p:nvGrpSpPr>
          <p:grpSpPr bwMode="auto">
            <a:xfrm>
              <a:off x="3543" y="3312"/>
              <a:ext cx="299" cy="384"/>
              <a:chOff x="1632" y="2064"/>
              <a:chExt cx="336" cy="384"/>
            </a:xfrm>
          </p:grpSpPr>
          <p:sp>
            <p:nvSpPr>
              <p:cNvPr id="2093" name="Line 27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4" name="Line 28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89" name="Line 29"/>
            <p:cNvSpPr>
              <a:spLocks noChangeShapeType="1"/>
            </p:cNvSpPr>
            <p:nvPr/>
          </p:nvSpPr>
          <p:spPr bwMode="auto">
            <a:xfrm flipH="1">
              <a:off x="1180" y="3312"/>
              <a:ext cx="85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0" name="Line 30"/>
            <p:cNvSpPr>
              <a:spLocks noChangeShapeType="1"/>
            </p:cNvSpPr>
            <p:nvPr/>
          </p:nvSpPr>
          <p:spPr bwMode="auto">
            <a:xfrm>
              <a:off x="1265" y="3312"/>
              <a:ext cx="173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" name="Line 31"/>
            <p:cNvSpPr>
              <a:spLocks noChangeShapeType="1"/>
            </p:cNvSpPr>
            <p:nvPr/>
          </p:nvSpPr>
          <p:spPr bwMode="auto">
            <a:xfrm flipH="1">
              <a:off x="3842" y="3312"/>
              <a:ext cx="13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2" name="Line 32"/>
            <p:cNvSpPr>
              <a:spLocks noChangeShapeType="1"/>
            </p:cNvSpPr>
            <p:nvPr/>
          </p:nvSpPr>
          <p:spPr bwMode="auto">
            <a:xfrm>
              <a:off x="3972" y="3312"/>
              <a:ext cx="12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6" name="Line 33"/>
          <p:cNvSpPr>
            <a:spLocks noChangeShapeType="1"/>
          </p:cNvSpPr>
          <p:nvPr/>
        </p:nvSpPr>
        <p:spPr bwMode="auto">
          <a:xfrm>
            <a:off x="6110288" y="2093913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7" name="Line 35"/>
          <p:cNvSpPr>
            <a:spLocks noChangeShapeType="1"/>
          </p:cNvSpPr>
          <p:nvPr/>
        </p:nvSpPr>
        <p:spPr bwMode="auto">
          <a:xfrm>
            <a:off x="1414463" y="2505075"/>
            <a:ext cx="645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" name="Rectangle 36" descr="浅色下对角线"/>
          <p:cNvSpPr>
            <a:spLocks noChangeArrowheads="1"/>
          </p:cNvSpPr>
          <p:nvPr/>
        </p:nvSpPr>
        <p:spPr bwMode="auto">
          <a:xfrm>
            <a:off x="1414463" y="2505075"/>
            <a:ext cx="6457950" cy="27305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Rectangle 37" descr="浅色上对角线"/>
          <p:cNvSpPr>
            <a:spLocks noChangeArrowheads="1"/>
          </p:cNvSpPr>
          <p:nvPr/>
        </p:nvSpPr>
        <p:spPr bwMode="auto">
          <a:xfrm>
            <a:off x="1193800" y="1544638"/>
            <a:ext cx="220663" cy="123348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" name="Line 38"/>
          <p:cNvSpPr>
            <a:spLocks noChangeShapeType="1"/>
          </p:cNvSpPr>
          <p:nvPr/>
        </p:nvSpPr>
        <p:spPr bwMode="auto">
          <a:xfrm>
            <a:off x="1414463" y="2505075"/>
            <a:ext cx="6457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1" name="Line 43"/>
          <p:cNvSpPr>
            <a:spLocks noChangeShapeType="1"/>
          </p:cNvSpPr>
          <p:nvPr/>
        </p:nvSpPr>
        <p:spPr bwMode="auto">
          <a:xfrm flipH="1">
            <a:off x="6756400" y="1498600"/>
            <a:ext cx="14288" cy="1077913"/>
          </a:xfrm>
          <a:prstGeom prst="line">
            <a:avLst/>
          </a:prstGeom>
          <a:noFill/>
          <a:ln w="19050">
            <a:solidFill>
              <a:srgbClr val="CCFFCC"/>
            </a:solidFill>
            <a:prstDash val="dash"/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" name="Object 44"/>
          <p:cNvGraphicFramePr>
            <a:graphicFrameLocks noChangeAspect="1"/>
          </p:cNvGraphicFramePr>
          <p:nvPr/>
        </p:nvGraphicFramePr>
        <p:xfrm>
          <a:off x="6604000" y="2500313"/>
          <a:ext cx="295275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5" imgW="177480" imgH="190440" progId="Equation.3">
                  <p:embed/>
                </p:oleObj>
              </mc:Choice>
              <mc:Fallback>
                <p:oleObj name="Equation" r:id="rId5" imgW="177480" imgH="19044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2500313"/>
                        <a:ext cx="295275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2" name="Line 45"/>
          <p:cNvSpPr>
            <a:spLocks noChangeShapeType="1"/>
          </p:cNvSpPr>
          <p:nvPr/>
        </p:nvSpPr>
        <p:spPr bwMode="auto">
          <a:xfrm flipH="1">
            <a:off x="5384800" y="2103438"/>
            <a:ext cx="11747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1" name="Object 66"/>
          <p:cNvGraphicFramePr>
            <a:graphicFrameLocks noChangeAspect="1"/>
          </p:cNvGraphicFramePr>
          <p:nvPr/>
        </p:nvGraphicFramePr>
        <p:xfrm>
          <a:off x="7899400" y="2271713"/>
          <a:ext cx="368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公式" r:id="rId7" imgW="177480" imgH="190440" progId="Equation.3">
                  <p:embed/>
                </p:oleObj>
              </mc:Choice>
              <mc:Fallback>
                <p:oleObj name="公式" r:id="rId7" imgW="177480" imgH="19044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0" y="2271713"/>
                        <a:ext cx="3683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7"/>
          <p:cNvGraphicFramePr>
            <a:graphicFrameLocks noChangeAspect="1"/>
          </p:cNvGraphicFramePr>
          <p:nvPr/>
        </p:nvGraphicFramePr>
        <p:xfrm>
          <a:off x="5595938" y="1412875"/>
          <a:ext cx="3921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" name="Equation" r:id="rId9" imgW="228600" imgH="266400" progId="Equation.3">
                  <p:embed/>
                </p:oleObj>
              </mc:Choice>
              <mc:Fallback>
                <p:oleObj name="Equation" r:id="rId9" imgW="228600" imgH="2664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1412875"/>
                        <a:ext cx="392112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68"/>
          <p:cNvGraphicFramePr>
            <a:graphicFrameLocks noChangeAspect="1"/>
          </p:cNvGraphicFramePr>
          <p:nvPr/>
        </p:nvGraphicFramePr>
        <p:xfrm>
          <a:off x="6527800" y="1879600"/>
          <a:ext cx="5159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" name="公式" r:id="rId11" imgW="228600" imgH="190440" progId="Equation.3">
                  <p:embed/>
                </p:oleObj>
              </mc:Choice>
              <mc:Fallback>
                <p:oleObj name="公式" r:id="rId11" imgW="228600" imgH="19044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879600"/>
                        <a:ext cx="515938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" name="Oval 73"/>
          <p:cNvSpPr>
            <a:spLocks noChangeArrowheads="1"/>
          </p:cNvSpPr>
          <p:nvPr/>
        </p:nvSpPr>
        <p:spPr bwMode="auto">
          <a:xfrm>
            <a:off x="5308600" y="2465388"/>
            <a:ext cx="76200" cy="80962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4" name="Rectangle 84"/>
          <p:cNvSpPr>
            <a:spLocks noChangeArrowheads="1"/>
          </p:cNvSpPr>
          <p:nvPr/>
        </p:nvSpPr>
        <p:spPr bwMode="auto">
          <a:xfrm>
            <a:off x="685800" y="549275"/>
            <a:ext cx="548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3   弹簧振子的振动分析</a:t>
            </a:r>
          </a:p>
        </p:txBody>
      </p:sp>
      <p:grpSp>
        <p:nvGrpSpPr>
          <p:cNvPr id="12" name="Group 98"/>
          <p:cNvGrpSpPr>
            <a:grpSpLocks/>
          </p:cNvGrpSpPr>
          <p:nvPr/>
        </p:nvGrpSpPr>
        <p:grpSpPr bwMode="auto">
          <a:xfrm>
            <a:off x="685800" y="4038600"/>
            <a:ext cx="2819400" cy="1022350"/>
            <a:chOff x="480" y="2688"/>
            <a:chExt cx="1776" cy="644"/>
          </a:xfrm>
        </p:grpSpPr>
        <p:graphicFrame>
          <p:nvGraphicFramePr>
            <p:cNvPr id="2060" name="Object 51"/>
            <p:cNvGraphicFramePr>
              <a:graphicFrameLocks noChangeAspect="1"/>
            </p:cNvGraphicFramePr>
            <p:nvPr/>
          </p:nvGraphicFramePr>
          <p:xfrm>
            <a:off x="864" y="2688"/>
            <a:ext cx="1392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" name="Equation" r:id="rId13" imgW="927000" imgH="482400" progId="Equation.3">
                    <p:embed/>
                  </p:oleObj>
                </mc:Choice>
                <mc:Fallback>
                  <p:oleObj name="Equation" r:id="rId13" imgW="927000" imgH="4824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688"/>
                          <a:ext cx="1392" cy="6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" name="Text Box 85"/>
            <p:cNvSpPr txBox="1">
              <a:spLocks noChangeArrowheads="1"/>
            </p:cNvSpPr>
            <p:nvPr/>
          </p:nvSpPr>
          <p:spPr bwMode="auto">
            <a:xfrm>
              <a:off x="480" y="2838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得</a:t>
              </a:r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5318125" y="4297363"/>
            <a:ext cx="2378075" cy="579437"/>
            <a:chOff x="3158" y="2851"/>
            <a:chExt cx="1498" cy="365"/>
          </a:xfrm>
        </p:grpSpPr>
        <p:graphicFrame>
          <p:nvGraphicFramePr>
            <p:cNvPr id="2059" name="Object 50"/>
            <p:cNvGraphicFramePr>
              <a:graphicFrameLocks noChangeAspect="1"/>
            </p:cNvGraphicFramePr>
            <p:nvPr/>
          </p:nvGraphicFramePr>
          <p:xfrm>
            <a:off x="3696" y="2865"/>
            <a:ext cx="96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5" name="Equation" r:id="rId15" imgW="736560" imgH="228600" progId="Equation.3">
                    <p:embed/>
                  </p:oleObj>
                </mc:Choice>
                <mc:Fallback>
                  <p:oleObj name="Equation" r:id="rId15" imgW="73656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865"/>
                          <a:ext cx="960" cy="3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9" name="Text Box 86"/>
            <p:cNvSpPr txBox="1">
              <a:spLocks noChangeArrowheads="1"/>
            </p:cNvSpPr>
            <p:nvPr/>
          </p:nvSpPr>
          <p:spPr bwMode="auto">
            <a:xfrm>
              <a:off x="3158" y="2851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  <a:latin typeface="宋体" pitchFamily="2" charset="-122"/>
                </a:rPr>
                <a:t>即</a:t>
              </a:r>
            </a:p>
          </p:txBody>
        </p:sp>
      </p:grpSp>
      <p:graphicFrame>
        <p:nvGraphicFramePr>
          <p:cNvPr id="2054" name="Object 70"/>
          <p:cNvGraphicFramePr>
            <a:graphicFrameLocks noChangeAspect="1"/>
          </p:cNvGraphicFramePr>
          <p:nvPr/>
        </p:nvGraphicFramePr>
        <p:xfrm>
          <a:off x="5232400" y="2500313"/>
          <a:ext cx="246063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Equation" r:id="rId17" imgW="164880" imgH="190440" progId="Equation.3">
                  <p:embed/>
                </p:oleObj>
              </mc:Choice>
              <mc:Fallback>
                <p:oleObj name="Equation" r:id="rId17" imgW="164880" imgH="19044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500313"/>
                        <a:ext cx="246063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95"/>
          <p:cNvGraphicFramePr>
            <a:graphicFrameLocks noChangeAspect="1"/>
          </p:cNvGraphicFramePr>
          <p:nvPr/>
        </p:nvGraphicFramePr>
        <p:xfrm>
          <a:off x="3657600" y="3086100"/>
          <a:ext cx="127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Equation" r:id="rId19" imgW="126720" imgH="253800" progId="Equation.3">
                  <p:embed/>
                </p:oleObj>
              </mc:Choice>
              <mc:Fallback>
                <p:oleObj name="Equation" r:id="rId19" imgW="126720" imgH="25380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86100"/>
                        <a:ext cx="1270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64" name="Object 100"/>
          <p:cNvGraphicFramePr>
            <a:graphicFrameLocks noChangeAspect="1"/>
          </p:cNvGraphicFramePr>
          <p:nvPr/>
        </p:nvGraphicFramePr>
        <p:xfrm>
          <a:off x="1295400" y="3352800"/>
          <a:ext cx="228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8" name="Equation" r:id="rId21" imgW="1079280" imgH="203040" progId="Equation.3">
                  <p:embed/>
                </p:oleObj>
              </mc:Choice>
              <mc:Fallback>
                <p:oleObj name="Equation" r:id="rId21" imgW="1079280" imgH="20304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352800"/>
                        <a:ext cx="22860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07"/>
          <p:cNvGrpSpPr>
            <a:grpSpLocks/>
          </p:cNvGrpSpPr>
          <p:nvPr/>
        </p:nvGrpSpPr>
        <p:grpSpPr bwMode="auto">
          <a:xfrm>
            <a:off x="684213" y="5232400"/>
            <a:ext cx="7772400" cy="1076325"/>
            <a:chOff x="431" y="3203"/>
            <a:chExt cx="4896" cy="678"/>
          </a:xfrm>
        </p:grpSpPr>
        <p:sp>
          <p:nvSpPr>
            <p:cNvPr id="88166" name="Text Box 102"/>
            <p:cNvSpPr txBox="1">
              <a:spLocks noChangeArrowheads="1"/>
            </p:cNvSpPr>
            <p:nvPr/>
          </p:nvSpPr>
          <p:spPr bwMode="auto">
            <a:xfrm>
              <a:off x="431" y="3203"/>
              <a:ext cx="4896" cy="678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rgbClr val="FFFFFF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rgbClr val="9933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zh-CN" altLang="en-US" dirty="0">
                  <a:solidFill>
                    <a:srgbClr val="CC0000"/>
                  </a:solidFill>
                </a:rPr>
                <a:t>简谐振动的特征：</a:t>
              </a:r>
              <a:r>
                <a:rPr lang="zh-CN" altLang="en-US" dirty="0"/>
                <a:t>加速度   与位移的大小</a:t>
              </a:r>
              <a:r>
                <a:rPr lang="en-US" altLang="zh-CN" b="0" i="1" dirty="0"/>
                <a:t>x</a:t>
              </a:r>
              <a:r>
                <a:rPr lang="zh-CN" altLang="en-US" dirty="0"/>
                <a:t>成正比，方向相反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2058" name="Object 104"/>
            <p:cNvGraphicFramePr>
              <a:graphicFrameLocks noChangeAspect="1"/>
            </p:cNvGraphicFramePr>
            <p:nvPr/>
          </p:nvGraphicFramePr>
          <p:xfrm>
            <a:off x="3334" y="329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9" name="Equation" r:id="rId23" imgW="152280" imgH="152280" progId="Equation.3">
                    <p:embed/>
                  </p:oleObj>
                </mc:Choice>
                <mc:Fallback>
                  <p:oleObj name="Equation" r:id="rId23" imgW="152280" imgH="152280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3294"/>
                          <a:ext cx="192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755650" y="1058863"/>
            <a:ext cx="7772400" cy="1066800"/>
            <a:chOff x="480" y="1104"/>
            <a:chExt cx="4896" cy="672"/>
          </a:xfrm>
        </p:grpSpPr>
        <p:sp>
          <p:nvSpPr>
            <p:cNvPr id="185381" name="Rectangle 37"/>
            <p:cNvSpPr>
              <a:spLocks noChangeArrowheads="1"/>
            </p:cNvSpPr>
            <p:nvPr/>
          </p:nvSpPr>
          <p:spPr bwMode="auto">
            <a:xfrm>
              <a:off x="480" y="1104"/>
              <a:ext cx="1392" cy="67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3091" name="Group 35"/>
            <p:cNvGrpSpPr>
              <a:grpSpLocks/>
            </p:cNvGrpSpPr>
            <p:nvPr/>
          </p:nvGrpSpPr>
          <p:grpSpPr bwMode="auto">
            <a:xfrm>
              <a:off x="2640" y="1104"/>
              <a:ext cx="2736" cy="528"/>
              <a:chOff x="2160" y="576"/>
              <a:chExt cx="960" cy="1104"/>
            </a:xfrm>
          </p:grpSpPr>
          <p:sp>
            <p:nvSpPr>
              <p:cNvPr id="3092" name="AutoShape 34"/>
              <p:cNvSpPr>
                <a:spLocks noChangeArrowheads="1"/>
              </p:cNvSpPr>
              <p:nvPr/>
            </p:nvSpPr>
            <p:spPr bwMode="auto">
              <a:xfrm>
                <a:off x="2160" y="576"/>
                <a:ext cx="960" cy="1104"/>
              </a:xfrm>
              <a:prstGeom prst="wedgeRoundRectCallout">
                <a:avLst>
                  <a:gd name="adj1" fmla="val -79481"/>
                  <a:gd name="adj2" fmla="val 31431"/>
                  <a:gd name="adj3" fmla="val 16667"/>
                </a:avLst>
              </a:prstGeom>
              <a:gradFill rotWithShape="0">
                <a:gsLst>
                  <a:gs pos="0">
                    <a:srgbClr val="CCFFCC"/>
                  </a:gs>
                  <a:gs pos="50000">
                    <a:srgbClr val="FFFFFF"/>
                  </a:gs>
                  <a:gs pos="100000">
                    <a:srgbClr val="CCFFCC"/>
                  </a:gs>
                </a:gsLst>
                <a:lin ang="5400000" scaled="1"/>
              </a:gra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3" name="Text Box 27"/>
              <p:cNvSpPr txBox="1">
                <a:spLocks noChangeArrowheads="1"/>
              </p:cNvSpPr>
              <p:nvPr/>
            </p:nvSpPr>
            <p:spPr bwMode="auto">
              <a:xfrm>
                <a:off x="2208" y="624"/>
                <a:ext cx="912" cy="7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/>
                  <a:t>简谐振动的微分方程</a:t>
                </a:r>
              </a:p>
            </p:txBody>
          </p:sp>
        </p:grpSp>
      </p:grp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995363" y="3349625"/>
            <a:ext cx="7697787" cy="584200"/>
          </a:xfrm>
          <a:prstGeom prst="rect">
            <a:avLst/>
          </a:prstGeom>
          <a:gradFill rotWithShape="0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i="1" dirty="0"/>
              <a:t>A</a:t>
            </a:r>
            <a:r>
              <a:rPr lang="zh-CN" altLang="en-US" i="1" dirty="0"/>
              <a:t>、</a:t>
            </a:r>
            <a:r>
              <a:rPr lang="en-US" altLang="zh-CN" i="1" dirty="0"/>
              <a:t>φ</a:t>
            </a:r>
            <a:r>
              <a:rPr lang="zh-CN" altLang="en-US" dirty="0"/>
              <a:t>是积分常数，根据</a:t>
            </a:r>
            <a:r>
              <a:rPr lang="zh-CN" altLang="en-US" dirty="0">
                <a:solidFill>
                  <a:srgbClr val="0000CC"/>
                </a:solidFill>
              </a:rPr>
              <a:t>初始条件</a:t>
            </a:r>
            <a:r>
              <a:rPr lang="zh-CN" altLang="en-US" dirty="0"/>
              <a:t>确定</a:t>
            </a:r>
          </a:p>
        </p:txBody>
      </p:sp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2060575" y="2511425"/>
          <a:ext cx="33845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Equation" r:id="rId4" imgW="1333440" imgH="241200" progId="Equation.3">
                  <p:embed/>
                </p:oleObj>
              </mc:Choice>
              <mc:Fallback>
                <p:oleObj name="Equation" r:id="rId4" imgW="133344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2511425"/>
                        <a:ext cx="338455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11"/>
          <p:cNvSpPr>
            <a:spLocks noChangeArrowheads="1"/>
          </p:cNvSpPr>
          <p:nvPr/>
        </p:nvSpPr>
        <p:spPr bwMode="auto">
          <a:xfrm>
            <a:off x="725488" y="296863"/>
            <a:ext cx="14081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解方程</a:t>
            </a:r>
            <a:endParaRPr kumimoji="1" lang="zh-CN" altLang="en-US" sz="3600" b="0">
              <a:solidFill>
                <a:srgbClr val="CC0000"/>
              </a:solidFill>
            </a:endParaRPr>
          </a:p>
        </p:txBody>
      </p:sp>
      <p:sp>
        <p:nvSpPr>
          <p:cNvPr id="185357" name="Rectangle 13"/>
          <p:cNvSpPr>
            <a:spLocks noChangeArrowheads="1"/>
          </p:cNvSpPr>
          <p:nvPr/>
        </p:nvSpPr>
        <p:spPr bwMode="auto">
          <a:xfrm>
            <a:off x="842963" y="2465388"/>
            <a:ext cx="1000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解得</a:t>
            </a:r>
          </a:p>
        </p:txBody>
      </p:sp>
      <p:graphicFrame>
        <p:nvGraphicFramePr>
          <p:cNvPr id="3075" name="Object 19"/>
          <p:cNvGraphicFramePr>
            <a:graphicFrameLocks noChangeAspect="1"/>
          </p:cNvGraphicFramePr>
          <p:nvPr/>
        </p:nvGraphicFramePr>
        <p:xfrm>
          <a:off x="762000" y="1058863"/>
          <a:ext cx="224155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Equation" r:id="rId6" imgW="927000" imgH="482400" progId="Equation.3">
                  <p:embed/>
                </p:oleObj>
              </mc:Choice>
              <mc:Fallback>
                <p:oleObj name="Equation" r:id="rId6" imgW="927000" imgH="482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058863"/>
                        <a:ext cx="2241550" cy="1036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434013" y="2506663"/>
            <a:ext cx="3395662" cy="581025"/>
            <a:chOff x="3381" y="2928"/>
            <a:chExt cx="2237" cy="365"/>
          </a:xfrm>
        </p:grpSpPr>
        <p:sp>
          <p:nvSpPr>
            <p:cNvPr id="3088" name="Text Box 30"/>
            <p:cNvSpPr txBox="1">
              <a:spLocks noChangeArrowheads="1"/>
            </p:cNvSpPr>
            <p:nvPr/>
          </p:nvSpPr>
          <p:spPr bwMode="auto">
            <a:xfrm>
              <a:off x="3878" y="2928"/>
              <a:ext cx="174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简谐振动方程</a:t>
              </a:r>
            </a:p>
          </p:txBody>
        </p:sp>
        <p:sp>
          <p:nvSpPr>
            <p:cNvPr id="185375" name="AutoShape 31"/>
            <p:cNvSpPr>
              <a:spLocks noChangeArrowheads="1"/>
            </p:cNvSpPr>
            <p:nvPr/>
          </p:nvSpPr>
          <p:spPr bwMode="auto">
            <a:xfrm>
              <a:off x="3381" y="3050"/>
              <a:ext cx="524" cy="129"/>
            </a:xfrm>
            <a:prstGeom prst="leftArrow">
              <a:avLst>
                <a:gd name="adj1" fmla="val 50000"/>
                <a:gd name="adj2" fmla="val 175000"/>
              </a:avLst>
            </a:prstGeom>
            <a:gradFill rotWithShape="0">
              <a:gsLst>
                <a:gs pos="0">
                  <a:schemeClr val="tx1"/>
                </a:gs>
                <a:gs pos="50000">
                  <a:srgbClr val="CC0000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5" name="组合 24"/>
          <p:cNvGrpSpPr>
            <a:grpSpLocks/>
          </p:cNvGrpSpPr>
          <p:nvPr/>
        </p:nvGrpSpPr>
        <p:grpSpPr bwMode="auto">
          <a:xfrm>
            <a:off x="949325" y="4175125"/>
            <a:ext cx="5607050" cy="996950"/>
            <a:chOff x="948857" y="4174547"/>
            <a:chExt cx="5608196" cy="996950"/>
          </a:xfrm>
        </p:grpSpPr>
        <p:graphicFrame>
          <p:nvGraphicFramePr>
            <p:cNvPr id="3078" name="Object 14"/>
            <p:cNvGraphicFramePr>
              <a:graphicFrameLocks noChangeAspect="1"/>
            </p:cNvGraphicFramePr>
            <p:nvPr/>
          </p:nvGraphicFramePr>
          <p:xfrm>
            <a:off x="2366053" y="4174547"/>
            <a:ext cx="4191000" cy="996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Equation" r:id="rId8" imgW="1968480" imgH="469800" progId="Equation.3">
                    <p:embed/>
                  </p:oleObj>
                </mc:Choice>
                <mc:Fallback>
                  <p:oleObj name="Equation" r:id="rId8" imgW="1968480" imgH="469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053" y="4174547"/>
                          <a:ext cx="4191000" cy="996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Text Box 6"/>
            <p:cNvSpPr txBox="1">
              <a:spLocks noChangeArrowheads="1"/>
            </p:cNvSpPr>
            <p:nvPr/>
          </p:nvSpPr>
          <p:spPr bwMode="auto">
            <a:xfrm>
              <a:off x="948857" y="4306713"/>
              <a:ext cx="100860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速度</a:t>
              </a:r>
            </a:p>
          </p:txBody>
        </p:sp>
      </p:grpSp>
      <p:grpSp>
        <p:nvGrpSpPr>
          <p:cNvPr id="6" name="组合 25"/>
          <p:cNvGrpSpPr>
            <a:grpSpLocks/>
          </p:cNvGrpSpPr>
          <p:nvPr/>
        </p:nvGrpSpPr>
        <p:grpSpPr bwMode="auto">
          <a:xfrm>
            <a:off x="971550" y="5499100"/>
            <a:ext cx="6445250" cy="1035050"/>
            <a:chOff x="972007" y="5498850"/>
            <a:chExt cx="6444466" cy="1035050"/>
          </a:xfrm>
        </p:grpSpPr>
        <p:graphicFrame>
          <p:nvGraphicFramePr>
            <p:cNvPr id="186371" name="Object 3"/>
            <p:cNvGraphicFramePr>
              <a:graphicFrameLocks noChangeAspect="1"/>
            </p:cNvGraphicFramePr>
            <p:nvPr/>
          </p:nvGraphicFramePr>
          <p:xfrm>
            <a:off x="2493636" y="5498850"/>
            <a:ext cx="4922837" cy="1035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Equation" r:id="rId10" imgW="2158920" imgH="482400" progId="Equation.3">
                    <p:embed/>
                  </p:oleObj>
                </mc:Choice>
                <mc:Fallback>
                  <p:oleObj name="Equation" r:id="rId10" imgW="2158920" imgH="482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3636" y="5498850"/>
                          <a:ext cx="4922837" cy="1035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6" name="Text Box 6"/>
            <p:cNvSpPr txBox="1">
              <a:spLocks noChangeArrowheads="1"/>
            </p:cNvSpPr>
            <p:nvPr/>
          </p:nvSpPr>
          <p:spPr bwMode="auto">
            <a:xfrm>
              <a:off x="972007" y="5730389"/>
              <a:ext cx="142058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加速度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953488" y="24423688"/>
              <a:ext cx="0" cy="0"/>
            </p14:xfrm>
          </p:contentPart>
        </mc:Choice>
        <mc:Fallback xmlns="">
          <p:pic>
            <p:nvPicPr>
              <p:cNvPr id="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953488" y="24423688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1" grpId="0" animBg="1"/>
      <p:bldP spid="18535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3"/>
          <p:cNvGraphicFramePr>
            <a:graphicFrameLocks noChangeAspect="1"/>
          </p:cNvGraphicFramePr>
          <p:nvPr/>
        </p:nvGraphicFramePr>
        <p:xfrm>
          <a:off x="644525" y="731838"/>
          <a:ext cx="27813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" name="Equation" r:id="rId3" imgW="1333440" imgH="241200" progId="Equation.3">
                  <p:embed/>
                </p:oleObj>
              </mc:Choice>
              <mc:Fallback>
                <p:oleObj name="Equation" r:id="rId3" imgW="133344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731838"/>
                        <a:ext cx="2781300" cy="5016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ECFF"/>
                          </a:gs>
                          <a:gs pos="50000">
                            <a:srgbClr val="CCECFF">
                              <a:gamma/>
                              <a:tint val="0"/>
                              <a:invGamma/>
                            </a:srgbClr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6" name="Group 115"/>
          <p:cNvGrpSpPr>
            <a:grpSpLocks/>
          </p:cNvGrpSpPr>
          <p:nvPr/>
        </p:nvGrpSpPr>
        <p:grpSpPr bwMode="auto">
          <a:xfrm>
            <a:off x="2295525" y="1493838"/>
            <a:ext cx="1676400" cy="579437"/>
            <a:chOff x="1632" y="1104"/>
            <a:chExt cx="1056" cy="365"/>
          </a:xfrm>
        </p:grpSpPr>
        <p:graphicFrame>
          <p:nvGraphicFramePr>
            <p:cNvPr id="4125" name="Object 34"/>
            <p:cNvGraphicFramePr>
              <a:graphicFrameLocks noChangeAspect="1"/>
            </p:cNvGraphicFramePr>
            <p:nvPr/>
          </p:nvGraphicFramePr>
          <p:xfrm>
            <a:off x="1988" y="1112"/>
            <a:ext cx="7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" name="Equation" r:id="rId5" imgW="444240" imgH="241200" progId="Equation.3">
                    <p:embed/>
                  </p:oleObj>
                </mc:Choice>
                <mc:Fallback>
                  <p:oleObj name="Equation" r:id="rId5" imgW="444240" imgH="2412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8" y="1112"/>
                          <a:ext cx="700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67" name="Text Box 38"/>
            <p:cNvSpPr txBox="1">
              <a:spLocks noChangeArrowheads="1"/>
            </p:cNvSpPr>
            <p:nvPr/>
          </p:nvSpPr>
          <p:spPr bwMode="auto">
            <a:xfrm>
              <a:off x="1632" y="1104"/>
              <a:ext cx="37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取</a:t>
              </a:r>
              <a:endParaRPr lang="zh-CN" altLang="en-US"/>
            </a:p>
          </p:txBody>
        </p:sp>
      </p:grpSp>
      <p:graphicFrame>
        <p:nvGraphicFramePr>
          <p:cNvPr id="90176" name="Object 64"/>
          <p:cNvGraphicFramePr>
            <a:graphicFrameLocks noChangeAspect="1"/>
          </p:cNvGraphicFramePr>
          <p:nvPr/>
        </p:nvGraphicFramePr>
        <p:xfrm>
          <a:off x="873125" y="1265238"/>
          <a:ext cx="12954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" name="Equation" r:id="rId7" imgW="596880" imgH="469800" progId="Equation.3">
                  <p:embed/>
                </p:oleObj>
              </mc:Choice>
              <mc:Fallback>
                <p:oleObj name="Equation" r:id="rId7" imgW="596880" imgH="4698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1265238"/>
                        <a:ext cx="1295400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14"/>
          <p:cNvGraphicFramePr>
            <a:graphicFrameLocks noChangeAspect="1"/>
          </p:cNvGraphicFramePr>
          <p:nvPr/>
        </p:nvGraphicFramePr>
        <p:xfrm>
          <a:off x="860425" y="3105150"/>
          <a:ext cx="36464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" name="Equation" r:id="rId9" imgW="1650960" imgH="469800" progId="Equation.3">
                  <p:embed/>
                </p:oleObj>
              </mc:Choice>
              <mc:Fallback>
                <p:oleObj name="Equation" r:id="rId9" imgW="165096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3105150"/>
                        <a:ext cx="3646488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7" name="Object 65"/>
          <p:cNvGraphicFramePr>
            <a:graphicFrameLocks noChangeAspect="1"/>
          </p:cNvGraphicFramePr>
          <p:nvPr/>
        </p:nvGraphicFramePr>
        <p:xfrm>
          <a:off x="644525" y="2647950"/>
          <a:ext cx="3657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" name="Equation" r:id="rId11" imgW="1574640" imgH="241200" progId="Equation.3">
                  <p:embed/>
                </p:oleObj>
              </mc:Choice>
              <mc:Fallback>
                <p:oleObj name="Equation" r:id="rId11" imgW="1574640" imgH="2412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647950"/>
                        <a:ext cx="3657600" cy="5175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15"/>
          <p:cNvGraphicFramePr>
            <a:graphicFrameLocks noChangeAspect="1"/>
          </p:cNvGraphicFramePr>
          <p:nvPr/>
        </p:nvGraphicFramePr>
        <p:xfrm>
          <a:off x="860425" y="5421313"/>
          <a:ext cx="37512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" name="Equation" r:id="rId13" imgW="1701720" imgH="266400" progId="Equation.3">
                  <p:embed/>
                </p:oleObj>
              </mc:Choice>
              <mc:Fallback>
                <p:oleObj name="Equation" r:id="rId13" imgW="1701720" imgH="266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5421313"/>
                        <a:ext cx="3751263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8" name="Object 66"/>
          <p:cNvGraphicFramePr>
            <a:graphicFrameLocks noChangeAspect="1"/>
          </p:cNvGraphicFramePr>
          <p:nvPr/>
        </p:nvGraphicFramePr>
        <p:xfrm>
          <a:off x="619125" y="4659313"/>
          <a:ext cx="400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" name="Equation" r:id="rId15" imgW="1676160" imgH="266400" progId="Equation.3">
                  <p:embed/>
                </p:oleObj>
              </mc:Choice>
              <mc:Fallback>
                <p:oleObj name="Equation" r:id="rId15" imgW="1676160" imgH="2664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4659313"/>
                        <a:ext cx="4006850" cy="5810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chemeClr val="folHlink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99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7" name="组合 69"/>
          <p:cNvGrpSpPr>
            <a:grpSpLocks/>
          </p:cNvGrpSpPr>
          <p:nvPr/>
        </p:nvGrpSpPr>
        <p:grpSpPr bwMode="auto">
          <a:xfrm>
            <a:off x="5353050" y="438150"/>
            <a:ext cx="3400425" cy="1524000"/>
            <a:chOff x="5221288" y="620688"/>
            <a:chExt cx="3400425" cy="1524000"/>
          </a:xfrm>
        </p:grpSpPr>
        <p:sp>
          <p:nvSpPr>
            <p:cNvPr id="4154" name="Line 2"/>
            <p:cNvSpPr>
              <a:spLocks noChangeShapeType="1"/>
            </p:cNvSpPr>
            <p:nvPr/>
          </p:nvSpPr>
          <p:spPr bwMode="auto">
            <a:xfrm flipV="1">
              <a:off x="5740400" y="1582713"/>
              <a:ext cx="28590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5" name="Line 7"/>
            <p:cNvSpPr>
              <a:spLocks noChangeShapeType="1"/>
            </p:cNvSpPr>
            <p:nvPr/>
          </p:nvSpPr>
          <p:spPr bwMode="auto">
            <a:xfrm>
              <a:off x="6151563" y="908721"/>
              <a:ext cx="0" cy="11521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6" name="Line 8"/>
            <p:cNvSpPr>
              <a:spLocks noChangeShapeType="1"/>
            </p:cNvSpPr>
            <p:nvPr/>
          </p:nvSpPr>
          <p:spPr bwMode="auto">
            <a:xfrm>
              <a:off x="6616700" y="836713"/>
              <a:ext cx="0" cy="1224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7" name="Line 9"/>
            <p:cNvSpPr>
              <a:spLocks noChangeShapeType="1"/>
            </p:cNvSpPr>
            <p:nvPr/>
          </p:nvSpPr>
          <p:spPr bwMode="auto">
            <a:xfrm>
              <a:off x="7073900" y="908721"/>
              <a:ext cx="0" cy="1152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8" name="Line 10"/>
            <p:cNvSpPr>
              <a:spLocks noChangeShapeType="1"/>
            </p:cNvSpPr>
            <p:nvPr/>
          </p:nvSpPr>
          <p:spPr bwMode="auto">
            <a:xfrm>
              <a:off x="7531100" y="908721"/>
              <a:ext cx="0" cy="1152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9" name="Line 11"/>
            <p:cNvSpPr>
              <a:spLocks noChangeShapeType="1"/>
            </p:cNvSpPr>
            <p:nvPr/>
          </p:nvSpPr>
          <p:spPr bwMode="auto">
            <a:xfrm>
              <a:off x="7956376" y="908721"/>
              <a:ext cx="0" cy="1080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0" name="Line 16"/>
            <p:cNvSpPr>
              <a:spLocks noChangeShapeType="1"/>
            </p:cNvSpPr>
            <p:nvPr/>
          </p:nvSpPr>
          <p:spPr bwMode="auto">
            <a:xfrm>
              <a:off x="5740400" y="1144563"/>
              <a:ext cx="2663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1" name="Line 17"/>
            <p:cNvSpPr>
              <a:spLocks noChangeShapeType="1"/>
            </p:cNvSpPr>
            <p:nvPr/>
          </p:nvSpPr>
          <p:spPr bwMode="auto">
            <a:xfrm>
              <a:off x="5740400" y="2019276"/>
              <a:ext cx="2663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2" name="Line 28"/>
            <p:cNvSpPr>
              <a:spLocks noChangeShapeType="1"/>
            </p:cNvSpPr>
            <p:nvPr/>
          </p:nvSpPr>
          <p:spPr bwMode="auto">
            <a:xfrm flipV="1">
              <a:off x="5740400" y="831826"/>
              <a:ext cx="0" cy="1312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63" name="Group 113"/>
            <p:cNvGrpSpPr>
              <a:grpSpLocks/>
            </p:cNvGrpSpPr>
            <p:nvPr/>
          </p:nvGrpSpPr>
          <p:grpSpPr bwMode="auto">
            <a:xfrm>
              <a:off x="6346825" y="706413"/>
              <a:ext cx="1365250" cy="376238"/>
              <a:chOff x="3958" y="654"/>
              <a:chExt cx="860" cy="237"/>
            </a:xfrm>
          </p:grpSpPr>
          <p:sp>
            <p:nvSpPr>
              <p:cNvPr id="4166" name="Rectangle 80"/>
              <p:cNvSpPr>
                <a:spLocks noChangeArrowheads="1"/>
              </p:cNvSpPr>
              <p:nvPr/>
            </p:nvSpPr>
            <p:spPr bwMode="auto">
              <a:xfrm>
                <a:off x="3958" y="654"/>
                <a:ext cx="860" cy="237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FFFF"/>
                  </a:gs>
                  <a:gs pos="100000">
                    <a:srgbClr val="CCECFF"/>
                  </a:gs>
                </a:gsLst>
                <a:lin ang="5400000" scaled="1"/>
              </a:gradFill>
              <a:ln w="19050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124" name="Object 35"/>
              <p:cNvGraphicFramePr>
                <a:graphicFrameLocks noChangeAspect="1"/>
              </p:cNvGraphicFramePr>
              <p:nvPr/>
            </p:nvGraphicFramePr>
            <p:xfrm>
              <a:off x="3999" y="654"/>
              <a:ext cx="546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3" name="公式" r:id="rId17" imgW="482400" imgH="215640" progId="Equation.3">
                      <p:embed/>
                    </p:oleObj>
                  </mc:Choice>
                  <mc:Fallback>
                    <p:oleObj name="公式" r:id="rId17" imgW="482400" imgH="215640" progId="Equation.3">
                      <p:embed/>
                      <p:pic>
                        <p:nvPicPr>
                          <p:cNvPr id="0" name="Object 3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9" y="654"/>
                            <a:ext cx="546" cy="2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64" name="Text Box 40"/>
            <p:cNvSpPr txBox="1">
              <a:spLocks noChangeArrowheads="1"/>
            </p:cNvSpPr>
            <p:nvPr/>
          </p:nvSpPr>
          <p:spPr bwMode="auto">
            <a:xfrm>
              <a:off x="7150100" y="620688"/>
              <a:ext cx="5413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graphicFrame>
          <p:nvGraphicFramePr>
            <p:cNvPr id="4118" name="Object 54"/>
            <p:cNvGraphicFramePr>
              <a:graphicFrameLocks noChangeAspect="1"/>
            </p:cNvGraphicFramePr>
            <p:nvPr/>
          </p:nvGraphicFramePr>
          <p:xfrm>
            <a:off x="7524750" y="1582713"/>
            <a:ext cx="28575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" name="Equation" r:id="rId19" imgW="203040" imgH="228600" progId="Equation.3">
                    <p:embed/>
                  </p:oleObj>
                </mc:Choice>
                <mc:Fallback>
                  <p:oleObj name="Equation" r:id="rId19" imgW="203040" imgH="228600" progId="Equation.3">
                    <p:embed/>
                    <p:pic>
                      <p:nvPicPr>
                        <p:cNvPr id="0" name="Object 5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750" y="1582713"/>
                          <a:ext cx="285750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9" name="Object 61"/>
            <p:cNvGraphicFramePr>
              <a:graphicFrameLocks noChangeAspect="1"/>
            </p:cNvGraphicFramePr>
            <p:nvPr/>
          </p:nvGraphicFramePr>
          <p:xfrm>
            <a:off x="5762625" y="769913"/>
            <a:ext cx="301625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5" name="公式" r:id="rId21" imgW="177480" imgH="190440" progId="Equation.3">
                    <p:embed/>
                  </p:oleObj>
                </mc:Choice>
                <mc:Fallback>
                  <p:oleObj name="公式" r:id="rId21" imgW="177480" imgH="190440" progId="Equation.3">
                    <p:embed/>
                    <p:pic>
                      <p:nvPicPr>
                        <p:cNvPr id="0" name="Object 6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2625" y="769913"/>
                          <a:ext cx="301625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0" name="Object 69"/>
            <p:cNvGraphicFramePr>
              <a:graphicFrameLocks noChangeAspect="1"/>
            </p:cNvGraphicFramePr>
            <p:nvPr/>
          </p:nvGraphicFramePr>
          <p:xfrm>
            <a:off x="8402638" y="1206476"/>
            <a:ext cx="2190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6" name="公式" r:id="rId23" imgW="114120" imgH="215640" progId="Equation.3">
                    <p:embed/>
                  </p:oleObj>
                </mc:Choice>
                <mc:Fallback>
                  <p:oleObj name="公式" r:id="rId23" imgW="114120" imgH="215640" progId="Equation.3">
                    <p:embed/>
                    <p:pic>
                      <p:nvPicPr>
                        <p:cNvPr id="0" name="Object 6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2638" y="1206476"/>
                          <a:ext cx="2190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1" name="Object 72"/>
            <p:cNvGraphicFramePr>
              <a:graphicFrameLocks noChangeAspect="1"/>
            </p:cNvGraphicFramePr>
            <p:nvPr/>
          </p:nvGraphicFramePr>
          <p:xfrm>
            <a:off x="5416550" y="1019151"/>
            <a:ext cx="303213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" name="公式" r:id="rId25" imgW="215640" imgH="228600" progId="Equation.3">
                    <p:embed/>
                  </p:oleObj>
                </mc:Choice>
                <mc:Fallback>
                  <p:oleObj name="公式" r:id="rId25" imgW="215640" imgH="228600" progId="Equation.3">
                    <p:embed/>
                    <p:pic>
                      <p:nvPicPr>
                        <p:cNvPr id="0" name="Object 7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6550" y="1019151"/>
                          <a:ext cx="303213" cy="3127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73"/>
            <p:cNvGraphicFramePr>
              <a:graphicFrameLocks noChangeAspect="1"/>
            </p:cNvGraphicFramePr>
            <p:nvPr/>
          </p:nvGraphicFramePr>
          <p:xfrm>
            <a:off x="5221288" y="1831951"/>
            <a:ext cx="431800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8" name="公式" r:id="rId27" imgW="393480" imgH="228600" progId="Equation.3">
                    <p:embed/>
                  </p:oleObj>
                </mc:Choice>
                <mc:Fallback>
                  <p:oleObj name="公式" r:id="rId27" imgW="393480" imgH="228600" progId="Equation.3">
                    <p:embed/>
                    <p:pic>
                      <p:nvPicPr>
                        <p:cNvPr id="0" name="Object 7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288" y="1831951"/>
                          <a:ext cx="431800" cy="3127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3" name="Object 76"/>
            <p:cNvGraphicFramePr>
              <a:graphicFrameLocks noChangeAspect="1"/>
            </p:cNvGraphicFramePr>
            <p:nvPr/>
          </p:nvGraphicFramePr>
          <p:xfrm>
            <a:off x="5407025" y="1457301"/>
            <a:ext cx="3556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9" name="Equation" r:id="rId29" imgW="126720" imgH="139680" progId="Equation.3">
                    <p:embed/>
                  </p:oleObj>
                </mc:Choice>
                <mc:Fallback>
                  <p:oleObj name="Equation" r:id="rId29" imgW="126720" imgH="13968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7025" y="1457301"/>
                          <a:ext cx="3556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65" name="Freeform 96"/>
            <p:cNvSpPr>
              <a:spLocks noChangeAspect="1"/>
            </p:cNvSpPr>
            <p:nvPr/>
          </p:nvSpPr>
          <p:spPr bwMode="auto">
            <a:xfrm>
              <a:off x="5741988" y="1128688"/>
              <a:ext cx="2286000" cy="914400"/>
            </a:xfrm>
            <a:custGeom>
              <a:avLst/>
              <a:gdLst>
                <a:gd name="T0" fmla="*/ 2147483647 w 2625"/>
                <a:gd name="T1" fmla="*/ 1847321441 h 1183"/>
                <a:gd name="T2" fmla="*/ 2147483647 w 2625"/>
                <a:gd name="T3" fmla="*/ 2147483647 h 1183"/>
                <a:gd name="T4" fmla="*/ 2147483647 w 2625"/>
                <a:gd name="T5" fmla="*/ 2147483647 h 1183"/>
                <a:gd name="T6" fmla="*/ 2147483647 w 2625"/>
                <a:gd name="T7" fmla="*/ 2147483647 h 1183"/>
                <a:gd name="T8" fmla="*/ 2147483647 w 2625"/>
                <a:gd name="T9" fmla="*/ 2147483647 h 1183"/>
                <a:gd name="T10" fmla="*/ 2147483647 w 2625"/>
                <a:gd name="T11" fmla="*/ 2147483647 h 1183"/>
                <a:gd name="T12" fmla="*/ 2147483647 w 2625"/>
                <a:gd name="T13" fmla="*/ 2147483647 h 1183"/>
                <a:gd name="T14" fmla="*/ 2147483647 w 2625"/>
                <a:gd name="T15" fmla="*/ 2147483647 h 1183"/>
                <a:gd name="T16" fmla="*/ 2147483647 w 2625"/>
                <a:gd name="T17" fmla="*/ 2147483647 h 1183"/>
                <a:gd name="T18" fmla="*/ 2147483647 w 2625"/>
                <a:gd name="T19" fmla="*/ 2147483647 h 1183"/>
                <a:gd name="T20" fmla="*/ 2147483647 w 2625"/>
                <a:gd name="T21" fmla="*/ 2147483647 h 1183"/>
                <a:gd name="T22" fmla="*/ 2147483647 w 2625"/>
                <a:gd name="T23" fmla="*/ 2147483647 h 1183"/>
                <a:gd name="T24" fmla="*/ 2147483647 w 2625"/>
                <a:gd name="T25" fmla="*/ 2147483647 h 1183"/>
                <a:gd name="T26" fmla="*/ 2147483647 w 2625"/>
                <a:gd name="T27" fmla="*/ 2147483647 h 1183"/>
                <a:gd name="T28" fmla="*/ 2147483647 w 2625"/>
                <a:gd name="T29" fmla="*/ 2147483647 h 1183"/>
                <a:gd name="T30" fmla="*/ 2147483647 w 2625"/>
                <a:gd name="T31" fmla="*/ 2147483647 h 1183"/>
                <a:gd name="T32" fmla="*/ 2147483647 w 2625"/>
                <a:gd name="T33" fmla="*/ 2147483647 h 1183"/>
                <a:gd name="T34" fmla="*/ 2147483647 w 2625"/>
                <a:gd name="T35" fmla="*/ 2147483647 h 1183"/>
                <a:gd name="T36" fmla="*/ 2147483647 w 2625"/>
                <a:gd name="T37" fmla="*/ 2147483647 h 1183"/>
                <a:gd name="T38" fmla="*/ 2147483647 w 2625"/>
                <a:gd name="T39" fmla="*/ 2147483647 h 1183"/>
                <a:gd name="T40" fmla="*/ 2147483647 w 2625"/>
                <a:gd name="T41" fmla="*/ 2147483647 h 1183"/>
                <a:gd name="T42" fmla="*/ 2147483647 w 2625"/>
                <a:gd name="T43" fmla="*/ 2147483647 h 1183"/>
                <a:gd name="T44" fmla="*/ 2147483647 w 2625"/>
                <a:gd name="T45" fmla="*/ 2147483647 h 1183"/>
                <a:gd name="T46" fmla="*/ 2147483647 w 2625"/>
                <a:gd name="T47" fmla="*/ 2147483647 h 1183"/>
                <a:gd name="T48" fmla="*/ 2147483647 w 2625"/>
                <a:gd name="T49" fmla="*/ 2147483647 h 1183"/>
                <a:gd name="T50" fmla="*/ 2147483647 w 2625"/>
                <a:gd name="T51" fmla="*/ 2147483647 h 1183"/>
                <a:gd name="T52" fmla="*/ 2147483647 w 2625"/>
                <a:gd name="T53" fmla="*/ 2147483647 h 1183"/>
                <a:gd name="T54" fmla="*/ 2147483647 w 2625"/>
                <a:gd name="T55" fmla="*/ 2147483647 h 1183"/>
                <a:gd name="T56" fmla="*/ 2147483647 w 2625"/>
                <a:gd name="T57" fmla="*/ 461829974 h 1183"/>
                <a:gd name="T58" fmla="*/ 2147483647 w 2625"/>
                <a:gd name="T59" fmla="*/ 2147483647 h 1183"/>
                <a:gd name="T60" fmla="*/ 2147483647 w 2625"/>
                <a:gd name="T61" fmla="*/ 2147483647 h 1183"/>
                <a:gd name="T62" fmla="*/ 2147483647 w 2625"/>
                <a:gd name="T63" fmla="*/ 2147483647 h 1183"/>
                <a:gd name="T64" fmla="*/ 2147483647 w 2625"/>
                <a:gd name="T65" fmla="*/ 2147483647 h 1183"/>
                <a:gd name="T66" fmla="*/ 2147483647 w 2625"/>
                <a:gd name="T67" fmla="*/ 2147483647 h 1183"/>
                <a:gd name="T68" fmla="*/ 2147483647 w 2625"/>
                <a:gd name="T69" fmla="*/ 2147483647 h 1183"/>
                <a:gd name="T70" fmla="*/ 2147483647 w 2625"/>
                <a:gd name="T71" fmla="*/ 2147483647 h 1183"/>
                <a:gd name="T72" fmla="*/ 2147483647 w 2625"/>
                <a:gd name="T73" fmla="*/ 2147483647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74"/>
          <p:cNvGrpSpPr>
            <a:grpSpLocks/>
          </p:cNvGrpSpPr>
          <p:nvPr/>
        </p:nvGrpSpPr>
        <p:grpSpPr bwMode="auto">
          <a:xfrm>
            <a:off x="5049838" y="2279650"/>
            <a:ext cx="3670300" cy="1703388"/>
            <a:chOff x="5050155" y="2279387"/>
            <a:chExt cx="3670300" cy="1704206"/>
          </a:xfrm>
        </p:grpSpPr>
        <p:sp>
          <p:nvSpPr>
            <p:cNvPr id="4142" name="Line 4"/>
            <p:cNvSpPr>
              <a:spLocks noChangeShapeType="1"/>
            </p:cNvSpPr>
            <p:nvPr/>
          </p:nvSpPr>
          <p:spPr bwMode="auto">
            <a:xfrm flipV="1">
              <a:off x="5872480" y="3296206"/>
              <a:ext cx="2816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3" name="Line 29"/>
            <p:cNvSpPr>
              <a:spLocks noChangeShapeType="1"/>
            </p:cNvSpPr>
            <p:nvPr/>
          </p:nvSpPr>
          <p:spPr bwMode="auto">
            <a:xfrm flipV="1">
              <a:off x="5872480" y="2608818"/>
              <a:ext cx="0" cy="1374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4" name="Line 31"/>
            <p:cNvSpPr>
              <a:spLocks noChangeShapeType="1"/>
            </p:cNvSpPr>
            <p:nvPr/>
          </p:nvSpPr>
          <p:spPr bwMode="auto">
            <a:xfrm flipH="1">
              <a:off x="5872480" y="2806437"/>
              <a:ext cx="26209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5" name="Line 32"/>
            <p:cNvSpPr>
              <a:spLocks noChangeShapeType="1"/>
            </p:cNvSpPr>
            <p:nvPr/>
          </p:nvSpPr>
          <p:spPr bwMode="auto">
            <a:xfrm flipH="1">
              <a:off x="5872480" y="3840807"/>
              <a:ext cx="26209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94" name="Rectangle 82"/>
            <p:cNvSpPr>
              <a:spLocks noChangeArrowheads="1"/>
            </p:cNvSpPr>
            <p:nvPr/>
          </p:nvSpPr>
          <p:spPr bwMode="auto">
            <a:xfrm>
              <a:off x="6478905" y="2368330"/>
              <a:ext cx="1365250" cy="37483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905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4111" name="Object 36"/>
            <p:cNvGraphicFramePr>
              <a:graphicFrameLocks noChangeAspect="1"/>
            </p:cNvGraphicFramePr>
            <p:nvPr/>
          </p:nvGraphicFramePr>
          <p:xfrm>
            <a:off x="6543993" y="2368287"/>
            <a:ext cx="8382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" name="Equation" r:id="rId31" imgW="304560" imgH="152280" progId="Equation.3">
                    <p:embed/>
                  </p:oleObj>
                </mc:Choice>
                <mc:Fallback>
                  <p:oleObj name="Equation" r:id="rId31" imgW="304560" imgH="152280" progId="Equation.3">
                    <p:embed/>
                    <p:pic>
                      <p:nvPicPr>
                        <p:cNvPr id="0" name="Object 3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43993" y="2368287"/>
                          <a:ext cx="838200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7" name="Rectangle 41"/>
            <p:cNvSpPr>
              <a:spLocks noChangeArrowheads="1"/>
            </p:cNvSpPr>
            <p:nvPr/>
          </p:nvSpPr>
          <p:spPr bwMode="auto">
            <a:xfrm>
              <a:off x="7282180" y="2279387"/>
              <a:ext cx="506413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graphicFrame>
          <p:nvGraphicFramePr>
            <p:cNvPr id="4112" name="Object 56"/>
            <p:cNvGraphicFramePr>
              <a:graphicFrameLocks noChangeAspect="1"/>
            </p:cNvGraphicFramePr>
            <p:nvPr/>
          </p:nvGraphicFramePr>
          <p:xfrm>
            <a:off x="5245418" y="2697718"/>
            <a:ext cx="5953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" name="公式" r:id="rId33" imgW="419040" imgH="241200" progId="Equation.3">
                    <p:embed/>
                  </p:oleObj>
                </mc:Choice>
                <mc:Fallback>
                  <p:oleObj name="公式" r:id="rId33" imgW="419040" imgH="241200" progId="Equation.3">
                    <p:embed/>
                    <p:pic>
                      <p:nvPicPr>
                        <p:cNvPr id="0" name="Object 5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418" y="2697718"/>
                          <a:ext cx="595312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3" name="Object 57"/>
            <p:cNvGraphicFramePr>
              <a:graphicFrameLocks noChangeAspect="1"/>
            </p:cNvGraphicFramePr>
            <p:nvPr/>
          </p:nvGraphicFramePr>
          <p:xfrm>
            <a:off x="5050155" y="3580368"/>
            <a:ext cx="801688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2" name="公式" r:id="rId35" imgW="596880" imgH="241200" progId="Equation.3">
                    <p:embed/>
                  </p:oleObj>
                </mc:Choice>
                <mc:Fallback>
                  <p:oleObj name="公式" r:id="rId35" imgW="596880" imgH="241200" progId="Equation.3">
                    <p:embed/>
                    <p:pic>
                      <p:nvPicPr>
                        <p:cNvPr id="0" name="Object 5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0155" y="3580368"/>
                          <a:ext cx="801688" cy="307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Object 62"/>
            <p:cNvGraphicFramePr>
              <a:graphicFrameLocks noChangeAspect="1"/>
            </p:cNvGraphicFramePr>
            <p:nvPr/>
          </p:nvGraphicFramePr>
          <p:xfrm>
            <a:off x="5894705" y="2493700"/>
            <a:ext cx="284163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" name="Equation" r:id="rId37" imgW="228600" imgH="241200" progId="Equation.3">
                    <p:embed/>
                  </p:oleObj>
                </mc:Choice>
                <mc:Fallback>
                  <p:oleObj name="Equation" r:id="rId37" imgW="228600" imgH="241200" progId="Equation.3">
                    <p:embed/>
                    <p:pic>
                      <p:nvPicPr>
                        <p:cNvPr id="0" name="Object 6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4705" y="2493700"/>
                          <a:ext cx="284163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70"/>
            <p:cNvGraphicFramePr>
              <a:graphicFrameLocks noChangeAspect="1"/>
            </p:cNvGraphicFramePr>
            <p:nvPr/>
          </p:nvGraphicFramePr>
          <p:xfrm>
            <a:off x="8515668" y="2921556"/>
            <a:ext cx="2047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" name="公式" r:id="rId39" imgW="114120" imgH="215640" progId="Equation.3">
                    <p:embed/>
                  </p:oleObj>
                </mc:Choice>
                <mc:Fallback>
                  <p:oleObj name="公式" r:id="rId39" imgW="114120" imgH="215640" progId="Equation.3">
                    <p:embed/>
                    <p:pic>
                      <p:nvPicPr>
                        <p:cNvPr id="0" name="Object 7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5668" y="2921556"/>
                          <a:ext cx="204787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78"/>
            <p:cNvGraphicFramePr>
              <a:graphicFrameLocks noChangeAspect="1"/>
            </p:cNvGraphicFramePr>
            <p:nvPr/>
          </p:nvGraphicFramePr>
          <p:xfrm>
            <a:off x="5539105" y="3108881"/>
            <a:ext cx="3556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5" name="Equation" r:id="rId40" imgW="126720" imgH="139680" progId="Equation.3">
                    <p:embed/>
                  </p:oleObj>
                </mc:Choice>
                <mc:Fallback>
                  <p:oleObj name="Equation" r:id="rId40" imgW="126720" imgH="13968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9105" y="3108881"/>
                          <a:ext cx="3556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8" name="Freeform 99"/>
            <p:cNvSpPr>
              <a:spLocks/>
            </p:cNvSpPr>
            <p:nvPr/>
          </p:nvSpPr>
          <p:spPr bwMode="auto">
            <a:xfrm>
              <a:off x="5872480" y="2815193"/>
              <a:ext cx="2184400" cy="990600"/>
            </a:xfrm>
            <a:custGeom>
              <a:avLst/>
              <a:gdLst>
                <a:gd name="T0" fmla="*/ 2147483647 w 3290"/>
                <a:gd name="T1" fmla="*/ 2147483647 h 1327"/>
                <a:gd name="T2" fmla="*/ 2147483647 w 3290"/>
                <a:gd name="T3" fmla="*/ 2147483647 h 1327"/>
                <a:gd name="T4" fmla="*/ 2147483647 w 3290"/>
                <a:gd name="T5" fmla="*/ 2147483647 h 1327"/>
                <a:gd name="T6" fmla="*/ 2147483647 w 3290"/>
                <a:gd name="T7" fmla="*/ 2147483647 h 1327"/>
                <a:gd name="T8" fmla="*/ 2147483647 w 3290"/>
                <a:gd name="T9" fmla="*/ 2147483647 h 1327"/>
                <a:gd name="T10" fmla="*/ 2147483647 w 3290"/>
                <a:gd name="T11" fmla="*/ 2147483647 h 1327"/>
                <a:gd name="T12" fmla="*/ 2147483647 w 3290"/>
                <a:gd name="T13" fmla="*/ 2147483647 h 1327"/>
                <a:gd name="T14" fmla="*/ 2147483647 w 3290"/>
                <a:gd name="T15" fmla="*/ 2147483647 h 1327"/>
                <a:gd name="T16" fmla="*/ 2147483647 w 3290"/>
                <a:gd name="T17" fmla="*/ 2147483647 h 1327"/>
                <a:gd name="T18" fmla="*/ 2147483647 w 3290"/>
                <a:gd name="T19" fmla="*/ 2147483647 h 1327"/>
                <a:gd name="T20" fmla="*/ 2147483647 w 3290"/>
                <a:gd name="T21" fmla="*/ 2147483647 h 1327"/>
                <a:gd name="T22" fmla="*/ 2147483647 w 3290"/>
                <a:gd name="T23" fmla="*/ 2147483647 h 1327"/>
                <a:gd name="T24" fmla="*/ 2147483647 w 3290"/>
                <a:gd name="T25" fmla="*/ 2147483647 h 1327"/>
                <a:gd name="T26" fmla="*/ 2147483647 w 3290"/>
                <a:gd name="T27" fmla="*/ 2147483647 h 1327"/>
                <a:gd name="T28" fmla="*/ 2147483647 w 3290"/>
                <a:gd name="T29" fmla="*/ 2147483647 h 1327"/>
                <a:gd name="T30" fmla="*/ 2147483647 w 3290"/>
                <a:gd name="T31" fmla="*/ 2147483647 h 1327"/>
                <a:gd name="T32" fmla="*/ 2147483647 w 3290"/>
                <a:gd name="T33" fmla="*/ 2147483647 h 1327"/>
                <a:gd name="T34" fmla="*/ 2147483647 w 3290"/>
                <a:gd name="T35" fmla="*/ 2147483647 h 1327"/>
                <a:gd name="T36" fmla="*/ 2147483647 w 3290"/>
                <a:gd name="T37" fmla="*/ 2147483647 h 1327"/>
                <a:gd name="T38" fmla="*/ 2147483647 w 3290"/>
                <a:gd name="T39" fmla="*/ 2147483647 h 1327"/>
                <a:gd name="T40" fmla="*/ 2147483647 w 3290"/>
                <a:gd name="T41" fmla="*/ 2147483647 h 1327"/>
                <a:gd name="T42" fmla="*/ 2147483647 w 3290"/>
                <a:gd name="T43" fmla="*/ 2147483647 h 1327"/>
                <a:gd name="T44" fmla="*/ 2147483647 w 3290"/>
                <a:gd name="T45" fmla="*/ 2147483647 h 1327"/>
                <a:gd name="T46" fmla="*/ 2147483647 w 3290"/>
                <a:gd name="T47" fmla="*/ 2147483647 h 1327"/>
                <a:gd name="T48" fmla="*/ 2147483647 w 3290"/>
                <a:gd name="T49" fmla="*/ 2147483647 h 1327"/>
                <a:gd name="T50" fmla="*/ 2147483647 w 3290"/>
                <a:gd name="T51" fmla="*/ 2147483647 h 1327"/>
                <a:gd name="T52" fmla="*/ 2147483647 w 3290"/>
                <a:gd name="T53" fmla="*/ 2147483647 h 1327"/>
                <a:gd name="T54" fmla="*/ 2147483647 w 3290"/>
                <a:gd name="T55" fmla="*/ 2147483647 h 1327"/>
                <a:gd name="T56" fmla="*/ 2147483647 w 3290"/>
                <a:gd name="T57" fmla="*/ 2147483647 h 1327"/>
                <a:gd name="T58" fmla="*/ 2147483647 w 3290"/>
                <a:gd name="T59" fmla="*/ 2147483647 h 1327"/>
                <a:gd name="T60" fmla="*/ 2147483647 w 3290"/>
                <a:gd name="T61" fmla="*/ 0 h 1327"/>
                <a:gd name="T62" fmla="*/ 2147483647 w 3290"/>
                <a:gd name="T63" fmla="*/ 2079679207 h 1327"/>
                <a:gd name="T64" fmla="*/ 2147483647 w 3290"/>
                <a:gd name="T65" fmla="*/ 2147483647 h 1327"/>
                <a:gd name="T66" fmla="*/ 2147483647 w 3290"/>
                <a:gd name="T67" fmla="*/ 2147483647 h 1327"/>
                <a:gd name="T68" fmla="*/ 2147483647 w 3290"/>
                <a:gd name="T69" fmla="*/ 2147483647 h 1327"/>
                <a:gd name="T70" fmla="*/ 2147483647 w 3290"/>
                <a:gd name="T71" fmla="*/ 2147483647 h 1327"/>
                <a:gd name="T72" fmla="*/ 2147483647 w 3290"/>
                <a:gd name="T73" fmla="*/ 2147483647 h 1327"/>
                <a:gd name="T74" fmla="*/ 2147483647 w 3290"/>
                <a:gd name="T75" fmla="*/ 2147483647 h 1327"/>
                <a:gd name="T76" fmla="*/ 2147483647 w 3290"/>
                <a:gd name="T77" fmla="*/ 2147483647 h 1327"/>
                <a:gd name="T78" fmla="*/ 2147483647 w 3290"/>
                <a:gd name="T79" fmla="*/ 2147483647 h 1327"/>
                <a:gd name="T80" fmla="*/ 2147483647 w 3290"/>
                <a:gd name="T81" fmla="*/ 2147483647 h 1327"/>
                <a:gd name="T82" fmla="*/ 2147483647 w 3290"/>
                <a:gd name="T83" fmla="*/ 2147483647 h 1327"/>
                <a:gd name="T84" fmla="*/ 2147483647 w 3290"/>
                <a:gd name="T85" fmla="*/ 2147483647 h 1327"/>
                <a:gd name="T86" fmla="*/ 2147483647 w 3290"/>
                <a:gd name="T87" fmla="*/ 2147483647 h 1327"/>
                <a:gd name="T88" fmla="*/ 2147483647 w 3290"/>
                <a:gd name="T89" fmla="*/ 2147483647 h 1327"/>
                <a:gd name="T90" fmla="*/ 2147483647 w 3290"/>
                <a:gd name="T91" fmla="*/ 2147483647 h 1327"/>
                <a:gd name="T92" fmla="*/ 2147483647 w 3290"/>
                <a:gd name="T93" fmla="*/ 2147483647 h 1327"/>
                <a:gd name="T94" fmla="*/ 2147483647 w 3290"/>
                <a:gd name="T95" fmla="*/ 2147483647 h 1327"/>
                <a:gd name="T96" fmla="*/ 2147483647 w 3290"/>
                <a:gd name="T97" fmla="*/ 2147483647 h 1327"/>
                <a:gd name="T98" fmla="*/ 2147483647 w 3290"/>
                <a:gd name="T99" fmla="*/ 2147483647 h 132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290"/>
                <a:gd name="T151" fmla="*/ 0 h 1327"/>
                <a:gd name="T152" fmla="*/ 3290 w 3290"/>
                <a:gd name="T153" fmla="*/ 1327 h 132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290" h="1327">
                  <a:moveTo>
                    <a:pt x="0" y="664"/>
                  </a:moveTo>
                  <a:lnTo>
                    <a:pt x="34" y="714"/>
                  </a:lnTo>
                  <a:lnTo>
                    <a:pt x="66" y="765"/>
                  </a:lnTo>
                  <a:lnTo>
                    <a:pt x="100" y="816"/>
                  </a:lnTo>
                  <a:lnTo>
                    <a:pt x="133" y="865"/>
                  </a:lnTo>
                  <a:lnTo>
                    <a:pt x="166" y="912"/>
                  </a:lnTo>
                  <a:lnTo>
                    <a:pt x="199" y="959"/>
                  </a:lnTo>
                  <a:lnTo>
                    <a:pt x="232" y="1003"/>
                  </a:lnTo>
                  <a:lnTo>
                    <a:pt x="265" y="1046"/>
                  </a:lnTo>
                  <a:lnTo>
                    <a:pt x="299" y="1086"/>
                  </a:lnTo>
                  <a:lnTo>
                    <a:pt x="332" y="1124"/>
                  </a:lnTo>
                  <a:lnTo>
                    <a:pt x="365" y="1160"/>
                  </a:lnTo>
                  <a:lnTo>
                    <a:pt x="399" y="1192"/>
                  </a:lnTo>
                  <a:lnTo>
                    <a:pt x="431" y="1221"/>
                  </a:lnTo>
                  <a:lnTo>
                    <a:pt x="465" y="1247"/>
                  </a:lnTo>
                  <a:lnTo>
                    <a:pt x="499" y="1270"/>
                  </a:lnTo>
                  <a:lnTo>
                    <a:pt x="531" y="1289"/>
                  </a:lnTo>
                  <a:lnTo>
                    <a:pt x="565" y="1304"/>
                  </a:lnTo>
                  <a:lnTo>
                    <a:pt x="597" y="1315"/>
                  </a:lnTo>
                  <a:lnTo>
                    <a:pt x="631" y="1323"/>
                  </a:lnTo>
                  <a:lnTo>
                    <a:pt x="665" y="1327"/>
                  </a:lnTo>
                  <a:lnTo>
                    <a:pt x="697" y="1327"/>
                  </a:lnTo>
                  <a:lnTo>
                    <a:pt x="731" y="1323"/>
                  </a:lnTo>
                  <a:lnTo>
                    <a:pt x="765" y="1315"/>
                  </a:lnTo>
                  <a:lnTo>
                    <a:pt x="797" y="1303"/>
                  </a:lnTo>
                  <a:lnTo>
                    <a:pt x="831" y="1287"/>
                  </a:lnTo>
                  <a:lnTo>
                    <a:pt x="865" y="1269"/>
                  </a:lnTo>
                  <a:lnTo>
                    <a:pt x="897" y="1246"/>
                  </a:lnTo>
                  <a:lnTo>
                    <a:pt x="931" y="1220"/>
                  </a:lnTo>
                  <a:lnTo>
                    <a:pt x="963" y="1189"/>
                  </a:lnTo>
                  <a:lnTo>
                    <a:pt x="997" y="1157"/>
                  </a:lnTo>
                  <a:lnTo>
                    <a:pt x="1030" y="1121"/>
                  </a:lnTo>
                  <a:lnTo>
                    <a:pt x="1063" y="1083"/>
                  </a:lnTo>
                  <a:lnTo>
                    <a:pt x="1096" y="1043"/>
                  </a:lnTo>
                  <a:lnTo>
                    <a:pt x="1130" y="1000"/>
                  </a:lnTo>
                  <a:lnTo>
                    <a:pt x="1163" y="955"/>
                  </a:lnTo>
                  <a:lnTo>
                    <a:pt x="1196" y="908"/>
                  </a:lnTo>
                  <a:lnTo>
                    <a:pt x="1230" y="860"/>
                  </a:lnTo>
                  <a:lnTo>
                    <a:pt x="1262" y="811"/>
                  </a:lnTo>
                  <a:lnTo>
                    <a:pt x="1296" y="762"/>
                  </a:lnTo>
                  <a:lnTo>
                    <a:pt x="1328" y="711"/>
                  </a:lnTo>
                  <a:lnTo>
                    <a:pt x="1362" y="659"/>
                  </a:lnTo>
                  <a:lnTo>
                    <a:pt x="1396" y="608"/>
                  </a:lnTo>
                  <a:lnTo>
                    <a:pt x="1428" y="558"/>
                  </a:lnTo>
                  <a:lnTo>
                    <a:pt x="1462" y="509"/>
                  </a:lnTo>
                  <a:lnTo>
                    <a:pt x="1496" y="459"/>
                  </a:lnTo>
                  <a:lnTo>
                    <a:pt x="1528" y="412"/>
                  </a:lnTo>
                  <a:lnTo>
                    <a:pt x="1562" y="366"/>
                  </a:lnTo>
                  <a:lnTo>
                    <a:pt x="1596" y="321"/>
                  </a:lnTo>
                  <a:lnTo>
                    <a:pt x="1628" y="278"/>
                  </a:lnTo>
                  <a:lnTo>
                    <a:pt x="1662" y="238"/>
                  </a:lnTo>
                  <a:lnTo>
                    <a:pt x="1694" y="200"/>
                  </a:lnTo>
                  <a:lnTo>
                    <a:pt x="1728" y="165"/>
                  </a:lnTo>
                  <a:lnTo>
                    <a:pt x="1762" y="132"/>
                  </a:lnTo>
                  <a:lnTo>
                    <a:pt x="1794" y="105"/>
                  </a:lnTo>
                  <a:lnTo>
                    <a:pt x="1828" y="79"/>
                  </a:lnTo>
                  <a:lnTo>
                    <a:pt x="1861" y="55"/>
                  </a:lnTo>
                  <a:lnTo>
                    <a:pt x="1894" y="37"/>
                  </a:lnTo>
                  <a:lnTo>
                    <a:pt x="1927" y="23"/>
                  </a:lnTo>
                  <a:lnTo>
                    <a:pt x="1961" y="11"/>
                  </a:lnTo>
                  <a:lnTo>
                    <a:pt x="1993" y="3"/>
                  </a:lnTo>
                  <a:lnTo>
                    <a:pt x="2027" y="0"/>
                  </a:lnTo>
                  <a:lnTo>
                    <a:pt x="2060" y="0"/>
                  </a:lnTo>
                  <a:lnTo>
                    <a:pt x="2093" y="5"/>
                  </a:lnTo>
                  <a:lnTo>
                    <a:pt x="2127" y="14"/>
                  </a:lnTo>
                  <a:lnTo>
                    <a:pt x="2159" y="26"/>
                  </a:lnTo>
                  <a:lnTo>
                    <a:pt x="2193" y="42"/>
                  </a:lnTo>
                  <a:lnTo>
                    <a:pt x="2227" y="62"/>
                  </a:lnTo>
                  <a:lnTo>
                    <a:pt x="2259" y="85"/>
                  </a:lnTo>
                  <a:lnTo>
                    <a:pt x="2293" y="111"/>
                  </a:lnTo>
                  <a:lnTo>
                    <a:pt x="2327" y="140"/>
                  </a:lnTo>
                  <a:lnTo>
                    <a:pt x="2359" y="172"/>
                  </a:lnTo>
                  <a:lnTo>
                    <a:pt x="2393" y="209"/>
                  </a:lnTo>
                  <a:lnTo>
                    <a:pt x="2425" y="247"/>
                  </a:lnTo>
                  <a:lnTo>
                    <a:pt x="2459" y="287"/>
                  </a:lnTo>
                  <a:lnTo>
                    <a:pt x="2493" y="330"/>
                  </a:lnTo>
                  <a:lnTo>
                    <a:pt x="2525" y="376"/>
                  </a:lnTo>
                  <a:lnTo>
                    <a:pt x="2559" y="423"/>
                  </a:lnTo>
                  <a:lnTo>
                    <a:pt x="2593" y="470"/>
                  </a:lnTo>
                  <a:lnTo>
                    <a:pt x="2625" y="519"/>
                  </a:lnTo>
                  <a:lnTo>
                    <a:pt x="2659" y="570"/>
                  </a:lnTo>
                  <a:lnTo>
                    <a:pt x="2692" y="621"/>
                  </a:lnTo>
                  <a:lnTo>
                    <a:pt x="2725" y="671"/>
                  </a:lnTo>
                  <a:lnTo>
                    <a:pt x="2758" y="722"/>
                  </a:lnTo>
                  <a:lnTo>
                    <a:pt x="2791" y="773"/>
                  </a:lnTo>
                  <a:lnTo>
                    <a:pt x="2824" y="823"/>
                  </a:lnTo>
                  <a:lnTo>
                    <a:pt x="2858" y="871"/>
                  </a:lnTo>
                  <a:lnTo>
                    <a:pt x="2890" y="919"/>
                  </a:lnTo>
                  <a:lnTo>
                    <a:pt x="2924" y="966"/>
                  </a:lnTo>
                  <a:lnTo>
                    <a:pt x="2958" y="1009"/>
                  </a:lnTo>
                  <a:lnTo>
                    <a:pt x="2990" y="1052"/>
                  </a:lnTo>
                  <a:lnTo>
                    <a:pt x="3024" y="1092"/>
                  </a:lnTo>
                  <a:lnTo>
                    <a:pt x="3058" y="1131"/>
                  </a:lnTo>
                  <a:lnTo>
                    <a:pt x="3090" y="1164"/>
                  </a:lnTo>
                  <a:lnTo>
                    <a:pt x="3124" y="1197"/>
                  </a:lnTo>
                  <a:lnTo>
                    <a:pt x="3156" y="1226"/>
                  </a:lnTo>
                  <a:lnTo>
                    <a:pt x="3190" y="1250"/>
                  </a:lnTo>
                  <a:lnTo>
                    <a:pt x="3224" y="1273"/>
                  </a:lnTo>
                  <a:lnTo>
                    <a:pt x="3256" y="1292"/>
                  </a:lnTo>
                  <a:lnTo>
                    <a:pt x="3290" y="1306"/>
                  </a:lnTo>
                </a:path>
              </a:pathLst>
            </a:custGeom>
            <a:noFill/>
            <a:ln w="28575" cmpd="sng">
              <a:solidFill>
                <a:srgbClr val="0099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17" name="Object 114"/>
            <p:cNvGraphicFramePr>
              <a:graphicFrameLocks noChangeAspect="1"/>
            </p:cNvGraphicFramePr>
            <p:nvPr/>
          </p:nvGraphicFramePr>
          <p:xfrm>
            <a:off x="7409180" y="3310493"/>
            <a:ext cx="28575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6" name="Equation" r:id="rId41" imgW="203040" imgH="228600" progId="Equation.3">
                    <p:embed/>
                  </p:oleObj>
                </mc:Choice>
                <mc:Fallback>
                  <p:oleObj name="Equation" r:id="rId41" imgW="203040" imgH="228600" progId="Equation.3">
                    <p:embed/>
                    <p:pic>
                      <p:nvPicPr>
                        <p:cNvPr id="0" name="Object 11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9180" y="3310493"/>
                          <a:ext cx="285750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9" name="Line 7"/>
            <p:cNvSpPr>
              <a:spLocks noChangeShapeType="1"/>
            </p:cNvSpPr>
            <p:nvPr/>
          </p:nvSpPr>
          <p:spPr bwMode="auto">
            <a:xfrm>
              <a:off x="6298416" y="2775069"/>
              <a:ext cx="0" cy="11521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0" name="Line 8"/>
            <p:cNvSpPr>
              <a:spLocks noChangeShapeType="1"/>
            </p:cNvSpPr>
            <p:nvPr/>
          </p:nvSpPr>
          <p:spPr bwMode="auto">
            <a:xfrm>
              <a:off x="6763553" y="2703061"/>
              <a:ext cx="0" cy="1224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1" name="Line 9"/>
            <p:cNvSpPr>
              <a:spLocks noChangeShapeType="1"/>
            </p:cNvSpPr>
            <p:nvPr/>
          </p:nvSpPr>
          <p:spPr bwMode="auto">
            <a:xfrm>
              <a:off x="7220753" y="2775069"/>
              <a:ext cx="0" cy="11670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2" name="Line 10"/>
            <p:cNvSpPr>
              <a:spLocks noChangeShapeType="1"/>
            </p:cNvSpPr>
            <p:nvPr/>
          </p:nvSpPr>
          <p:spPr bwMode="auto">
            <a:xfrm>
              <a:off x="7677953" y="2775069"/>
              <a:ext cx="0" cy="11568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3" name="Line 11"/>
            <p:cNvSpPr>
              <a:spLocks noChangeShapeType="1"/>
            </p:cNvSpPr>
            <p:nvPr/>
          </p:nvSpPr>
          <p:spPr bwMode="auto">
            <a:xfrm>
              <a:off x="8082909" y="2775069"/>
              <a:ext cx="0" cy="1080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组合 73"/>
          <p:cNvGrpSpPr>
            <a:grpSpLocks/>
          </p:cNvGrpSpPr>
          <p:nvPr/>
        </p:nvGrpSpPr>
        <p:grpSpPr bwMode="auto">
          <a:xfrm>
            <a:off x="4949825" y="4402138"/>
            <a:ext cx="3856038" cy="1925637"/>
            <a:chOff x="4950460" y="4402227"/>
            <a:chExt cx="3856038" cy="1925637"/>
          </a:xfrm>
        </p:grpSpPr>
        <p:sp>
          <p:nvSpPr>
            <p:cNvPr id="4130" name="Line 5"/>
            <p:cNvSpPr>
              <a:spLocks noChangeShapeType="1"/>
            </p:cNvSpPr>
            <p:nvPr/>
          </p:nvSpPr>
          <p:spPr bwMode="auto">
            <a:xfrm>
              <a:off x="5902960" y="5553164"/>
              <a:ext cx="2816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1" name="Line 30"/>
            <p:cNvSpPr>
              <a:spLocks noChangeShapeType="1"/>
            </p:cNvSpPr>
            <p:nvPr/>
          </p:nvSpPr>
          <p:spPr bwMode="auto">
            <a:xfrm flipV="1">
              <a:off x="5902960" y="4740364"/>
              <a:ext cx="0" cy="15636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2" name="Line 33"/>
            <p:cNvSpPr>
              <a:spLocks noChangeShapeType="1"/>
            </p:cNvSpPr>
            <p:nvPr/>
          </p:nvSpPr>
          <p:spPr bwMode="auto">
            <a:xfrm flipH="1">
              <a:off x="5902960" y="4991189"/>
              <a:ext cx="2686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96" name="Rectangle 84"/>
            <p:cNvSpPr>
              <a:spLocks noChangeArrowheads="1"/>
            </p:cNvSpPr>
            <p:nvPr/>
          </p:nvSpPr>
          <p:spPr bwMode="auto">
            <a:xfrm>
              <a:off x="6509385" y="4480014"/>
              <a:ext cx="1365250" cy="37465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99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4104" name="Object 37"/>
            <p:cNvGraphicFramePr>
              <a:graphicFrameLocks noChangeAspect="1"/>
            </p:cNvGraphicFramePr>
            <p:nvPr/>
          </p:nvGraphicFramePr>
          <p:xfrm>
            <a:off x="6661785" y="4480014"/>
            <a:ext cx="8223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7" name="公式" r:id="rId42" imgW="482400" imgH="215640" progId="Equation.3">
                    <p:embed/>
                  </p:oleObj>
                </mc:Choice>
                <mc:Fallback>
                  <p:oleObj name="公式" r:id="rId42" imgW="482400" imgH="215640" progId="Equation.3">
                    <p:embed/>
                    <p:pic>
                      <p:nvPicPr>
                        <p:cNvPr id="0" name="Object 3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1785" y="4480014"/>
                          <a:ext cx="822325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E7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4" name="Rectangle 42"/>
            <p:cNvSpPr>
              <a:spLocks noChangeArrowheads="1"/>
            </p:cNvSpPr>
            <p:nvPr/>
          </p:nvSpPr>
          <p:spPr bwMode="auto">
            <a:xfrm>
              <a:off x="7360285" y="4402227"/>
              <a:ext cx="541338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graphicFrame>
          <p:nvGraphicFramePr>
            <p:cNvPr id="4105" name="Object 58"/>
            <p:cNvGraphicFramePr>
              <a:graphicFrameLocks noChangeAspect="1"/>
            </p:cNvGraphicFramePr>
            <p:nvPr/>
          </p:nvGraphicFramePr>
          <p:xfrm>
            <a:off x="5226685" y="4743539"/>
            <a:ext cx="6985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8" name="公式" r:id="rId44" imgW="507960" imgH="304560" progId="Equation.3">
                    <p:embed/>
                  </p:oleObj>
                </mc:Choice>
                <mc:Fallback>
                  <p:oleObj name="公式" r:id="rId44" imgW="507960" imgH="304560" progId="Equation.3">
                    <p:embed/>
                    <p:pic>
                      <p:nvPicPr>
                        <p:cNvPr id="0" name="Object 5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6685" y="4743539"/>
                          <a:ext cx="698500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" name="Object 59"/>
            <p:cNvGraphicFramePr>
              <a:graphicFrameLocks noChangeAspect="1"/>
            </p:cNvGraphicFramePr>
            <p:nvPr/>
          </p:nvGraphicFramePr>
          <p:xfrm>
            <a:off x="4950460" y="5916702"/>
            <a:ext cx="971550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9" name="公式" r:id="rId46" imgW="685800" imgH="304560" progId="Equation.3">
                    <p:embed/>
                  </p:oleObj>
                </mc:Choice>
                <mc:Fallback>
                  <p:oleObj name="公式" r:id="rId46" imgW="685800" imgH="304560" progId="Equation.3">
                    <p:embed/>
                    <p:pic>
                      <p:nvPicPr>
                        <p:cNvPr id="0" name="Object 5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460" y="5916702"/>
                          <a:ext cx="971550" cy="411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7" name="Object 63"/>
            <p:cNvGraphicFramePr>
              <a:graphicFrameLocks noChangeAspect="1"/>
            </p:cNvGraphicFramePr>
            <p:nvPr/>
          </p:nvGraphicFramePr>
          <p:xfrm>
            <a:off x="5968048" y="4616539"/>
            <a:ext cx="301625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0" name="公式" r:id="rId48" imgW="177480" imgH="190440" progId="Equation.3">
                    <p:embed/>
                  </p:oleObj>
                </mc:Choice>
                <mc:Fallback>
                  <p:oleObj name="公式" r:id="rId48" imgW="177480" imgH="190440" progId="Equation.3">
                    <p:embed/>
                    <p:pic>
                      <p:nvPicPr>
                        <p:cNvPr id="0" name="Object 6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8048" y="4616539"/>
                          <a:ext cx="301625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Object 71"/>
            <p:cNvGraphicFramePr>
              <a:graphicFrameLocks noChangeAspect="1"/>
            </p:cNvGraphicFramePr>
            <p:nvPr/>
          </p:nvGraphicFramePr>
          <p:xfrm>
            <a:off x="8589010" y="5116602"/>
            <a:ext cx="21748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1" name="公式" r:id="rId50" imgW="114120" imgH="215640" progId="Equation.3">
                    <p:embed/>
                  </p:oleObj>
                </mc:Choice>
                <mc:Fallback>
                  <p:oleObj name="公式" r:id="rId50" imgW="114120" imgH="215640" progId="Equation.3">
                    <p:embed/>
                    <p:pic>
                      <p:nvPicPr>
                        <p:cNvPr id="0" name="Object 7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9010" y="5116602"/>
                          <a:ext cx="217488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" name="Object 77"/>
            <p:cNvGraphicFramePr>
              <a:graphicFrameLocks noChangeAspect="1"/>
            </p:cNvGraphicFramePr>
            <p:nvPr/>
          </p:nvGraphicFramePr>
          <p:xfrm>
            <a:off x="5569585" y="5365839"/>
            <a:ext cx="355600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2" name="Equation" r:id="rId51" imgW="126720" imgH="139680" progId="Equation.3">
                    <p:embed/>
                  </p:oleObj>
                </mc:Choice>
                <mc:Fallback>
                  <p:oleObj name="Equation" r:id="rId51" imgW="126720" imgH="13968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9585" y="5365839"/>
                          <a:ext cx="355600" cy="376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5" name="Line 91"/>
            <p:cNvSpPr>
              <a:spLocks noChangeShapeType="1"/>
            </p:cNvSpPr>
            <p:nvPr/>
          </p:nvSpPr>
          <p:spPr bwMode="auto">
            <a:xfrm flipH="1">
              <a:off x="5925185" y="6116727"/>
              <a:ext cx="2663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10" name="Object 98"/>
            <p:cNvGraphicFramePr>
              <a:graphicFrameLocks noChangeAspect="1"/>
            </p:cNvGraphicFramePr>
            <p:nvPr/>
          </p:nvGraphicFramePr>
          <p:xfrm>
            <a:off x="7434898" y="5559514"/>
            <a:ext cx="28575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3" name="Equation" r:id="rId52" imgW="203040" imgH="228600" progId="Equation.3">
                    <p:embed/>
                  </p:oleObj>
                </mc:Choice>
                <mc:Fallback>
                  <p:oleObj name="Equation" r:id="rId52" imgW="203040" imgH="228600" progId="Equation.3">
                    <p:embed/>
                    <p:pic>
                      <p:nvPicPr>
                        <p:cNvPr id="0" name="Object 9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34898" y="5559514"/>
                          <a:ext cx="285750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6" name="Freeform 97"/>
            <p:cNvSpPr>
              <a:spLocks noChangeAspect="1"/>
            </p:cNvSpPr>
            <p:nvPr/>
          </p:nvSpPr>
          <p:spPr bwMode="auto">
            <a:xfrm flipV="1">
              <a:off x="5896610" y="5022939"/>
              <a:ext cx="2254250" cy="1103313"/>
            </a:xfrm>
            <a:custGeom>
              <a:avLst/>
              <a:gdLst>
                <a:gd name="T0" fmla="*/ 2147483647 w 2625"/>
                <a:gd name="T1" fmla="*/ 2147483647 h 1183"/>
                <a:gd name="T2" fmla="*/ 2147483647 w 2625"/>
                <a:gd name="T3" fmla="*/ 2147483647 h 1183"/>
                <a:gd name="T4" fmla="*/ 2147483647 w 2625"/>
                <a:gd name="T5" fmla="*/ 2147483647 h 1183"/>
                <a:gd name="T6" fmla="*/ 2147483647 w 2625"/>
                <a:gd name="T7" fmla="*/ 2147483647 h 1183"/>
                <a:gd name="T8" fmla="*/ 2147483647 w 2625"/>
                <a:gd name="T9" fmla="*/ 2147483647 h 1183"/>
                <a:gd name="T10" fmla="*/ 2147483647 w 2625"/>
                <a:gd name="T11" fmla="*/ 2147483647 h 1183"/>
                <a:gd name="T12" fmla="*/ 2147483647 w 2625"/>
                <a:gd name="T13" fmla="*/ 2147483647 h 1183"/>
                <a:gd name="T14" fmla="*/ 2147483647 w 2625"/>
                <a:gd name="T15" fmla="*/ 2147483647 h 1183"/>
                <a:gd name="T16" fmla="*/ 2147483647 w 2625"/>
                <a:gd name="T17" fmla="*/ 2147483647 h 1183"/>
                <a:gd name="T18" fmla="*/ 2147483647 w 2625"/>
                <a:gd name="T19" fmla="*/ 2147483647 h 1183"/>
                <a:gd name="T20" fmla="*/ 2147483647 w 2625"/>
                <a:gd name="T21" fmla="*/ 2147483647 h 1183"/>
                <a:gd name="T22" fmla="*/ 2147483647 w 2625"/>
                <a:gd name="T23" fmla="*/ 2147483647 h 1183"/>
                <a:gd name="T24" fmla="*/ 2147483647 w 2625"/>
                <a:gd name="T25" fmla="*/ 2147483647 h 1183"/>
                <a:gd name="T26" fmla="*/ 2147483647 w 2625"/>
                <a:gd name="T27" fmla="*/ 2147483647 h 1183"/>
                <a:gd name="T28" fmla="*/ 2147483647 w 2625"/>
                <a:gd name="T29" fmla="*/ 2147483647 h 1183"/>
                <a:gd name="T30" fmla="*/ 2147483647 w 2625"/>
                <a:gd name="T31" fmla="*/ 2147483647 h 1183"/>
                <a:gd name="T32" fmla="*/ 2147483647 w 2625"/>
                <a:gd name="T33" fmla="*/ 2147483647 h 1183"/>
                <a:gd name="T34" fmla="*/ 2147483647 w 2625"/>
                <a:gd name="T35" fmla="*/ 2147483647 h 1183"/>
                <a:gd name="T36" fmla="*/ 2147483647 w 2625"/>
                <a:gd name="T37" fmla="*/ 2147483647 h 1183"/>
                <a:gd name="T38" fmla="*/ 2147483647 w 2625"/>
                <a:gd name="T39" fmla="*/ 2147483647 h 1183"/>
                <a:gd name="T40" fmla="*/ 2147483647 w 2625"/>
                <a:gd name="T41" fmla="*/ 2147483647 h 1183"/>
                <a:gd name="T42" fmla="*/ 2147483647 w 2625"/>
                <a:gd name="T43" fmla="*/ 2147483647 h 1183"/>
                <a:gd name="T44" fmla="*/ 2147483647 w 2625"/>
                <a:gd name="T45" fmla="*/ 2147483647 h 1183"/>
                <a:gd name="T46" fmla="*/ 2147483647 w 2625"/>
                <a:gd name="T47" fmla="*/ 2147483647 h 1183"/>
                <a:gd name="T48" fmla="*/ 2147483647 w 2625"/>
                <a:gd name="T49" fmla="*/ 2147483647 h 1183"/>
                <a:gd name="T50" fmla="*/ 2147483647 w 2625"/>
                <a:gd name="T51" fmla="*/ 2147483647 h 1183"/>
                <a:gd name="T52" fmla="*/ 2147483647 w 2625"/>
                <a:gd name="T53" fmla="*/ 2147483647 h 1183"/>
                <a:gd name="T54" fmla="*/ 2147483647 w 2625"/>
                <a:gd name="T55" fmla="*/ 2147483647 h 1183"/>
                <a:gd name="T56" fmla="*/ 2147483647 w 2625"/>
                <a:gd name="T57" fmla="*/ 811539304 h 1183"/>
                <a:gd name="T58" fmla="*/ 2147483647 w 2625"/>
                <a:gd name="T59" fmla="*/ 2147483647 h 1183"/>
                <a:gd name="T60" fmla="*/ 2147483647 w 2625"/>
                <a:gd name="T61" fmla="*/ 2147483647 h 1183"/>
                <a:gd name="T62" fmla="*/ 2147483647 w 2625"/>
                <a:gd name="T63" fmla="*/ 2147483647 h 1183"/>
                <a:gd name="T64" fmla="*/ 2147483647 w 2625"/>
                <a:gd name="T65" fmla="*/ 2147483647 h 1183"/>
                <a:gd name="T66" fmla="*/ 2147483647 w 2625"/>
                <a:gd name="T67" fmla="*/ 2147483647 h 1183"/>
                <a:gd name="T68" fmla="*/ 2147483647 w 2625"/>
                <a:gd name="T69" fmla="*/ 2147483647 h 1183"/>
                <a:gd name="T70" fmla="*/ 2147483647 w 2625"/>
                <a:gd name="T71" fmla="*/ 2147483647 h 1183"/>
                <a:gd name="T72" fmla="*/ 2147483647 w 2625"/>
                <a:gd name="T73" fmla="*/ 2147483647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CC00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7" name="Line 7"/>
            <p:cNvSpPr>
              <a:spLocks noChangeShapeType="1"/>
            </p:cNvSpPr>
            <p:nvPr/>
          </p:nvSpPr>
          <p:spPr bwMode="auto">
            <a:xfrm>
              <a:off x="6339056" y="5031720"/>
              <a:ext cx="0" cy="11521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8" name="Line 8"/>
            <p:cNvSpPr>
              <a:spLocks noChangeShapeType="1"/>
            </p:cNvSpPr>
            <p:nvPr/>
          </p:nvSpPr>
          <p:spPr bwMode="auto">
            <a:xfrm>
              <a:off x="6773713" y="4959712"/>
              <a:ext cx="0" cy="1224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9" name="Line 9"/>
            <p:cNvSpPr>
              <a:spLocks noChangeShapeType="1"/>
            </p:cNvSpPr>
            <p:nvPr/>
          </p:nvSpPr>
          <p:spPr bwMode="auto">
            <a:xfrm>
              <a:off x="7210593" y="5031720"/>
              <a:ext cx="0" cy="1152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0" name="Line 10"/>
            <p:cNvSpPr>
              <a:spLocks noChangeShapeType="1"/>
            </p:cNvSpPr>
            <p:nvPr/>
          </p:nvSpPr>
          <p:spPr bwMode="auto">
            <a:xfrm>
              <a:off x="7647473" y="5031720"/>
              <a:ext cx="0" cy="1152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1" name="Line 11"/>
            <p:cNvSpPr>
              <a:spLocks noChangeShapeType="1"/>
            </p:cNvSpPr>
            <p:nvPr/>
          </p:nvSpPr>
          <p:spPr bwMode="auto">
            <a:xfrm>
              <a:off x="8103229" y="5031720"/>
              <a:ext cx="0" cy="1080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2"/>
          <p:cNvSpPr>
            <a:spLocks noChangeArrowheads="1"/>
          </p:cNvSpPr>
          <p:nvPr/>
        </p:nvSpPr>
        <p:spPr bwMode="auto">
          <a:xfrm>
            <a:off x="1247775" y="1579563"/>
            <a:ext cx="42672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35000"/>
              </a:lnSpc>
              <a:spcBef>
                <a:spcPct val="0"/>
              </a:spcBef>
            </a:pPr>
            <a:r>
              <a:rPr kumimoji="1" lang="zh-CN" altLang="en-US"/>
              <a:t>简谐振动方程</a:t>
            </a:r>
          </a:p>
        </p:txBody>
      </p:sp>
      <p:sp>
        <p:nvSpPr>
          <p:cNvPr id="5133" name="Text Box 6"/>
          <p:cNvSpPr txBox="1">
            <a:spLocks noChangeArrowheads="1"/>
          </p:cNvSpPr>
          <p:nvPr/>
        </p:nvSpPr>
        <p:spPr bwMode="auto">
          <a:xfrm>
            <a:off x="444500" y="458788"/>
            <a:ext cx="2667000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600">
                <a:solidFill>
                  <a:srgbClr val="CC0000"/>
                </a:solidFill>
                <a:latin typeface="宋体" pitchFamily="2" charset="-122"/>
              </a:rPr>
              <a:t>  二 振幅</a:t>
            </a:r>
          </a:p>
        </p:txBody>
      </p:sp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1481138" y="4071938"/>
          <a:ext cx="161448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Equation" r:id="rId3" imgW="685800" imgH="279360" progId="Equation.3">
                  <p:embed/>
                </p:oleObj>
              </mc:Choice>
              <mc:Fallback>
                <p:oleObj name="Equation" r:id="rId3" imgW="68580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4071938"/>
                        <a:ext cx="1614487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4" name="Group 104"/>
          <p:cNvGrpSpPr>
            <a:grpSpLocks/>
          </p:cNvGrpSpPr>
          <p:nvPr/>
        </p:nvGrpSpPr>
        <p:grpSpPr bwMode="auto">
          <a:xfrm>
            <a:off x="4171950" y="3208338"/>
            <a:ext cx="4271963" cy="2439987"/>
            <a:chOff x="2832" y="1680"/>
            <a:chExt cx="2352" cy="1344"/>
          </a:xfrm>
        </p:grpSpPr>
        <p:sp>
          <p:nvSpPr>
            <p:cNvPr id="5135" name="Rectangle 105"/>
            <p:cNvSpPr>
              <a:spLocks noChangeArrowheads="1"/>
            </p:cNvSpPr>
            <p:nvPr/>
          </p:nvSpPr>
          <p:spPr bwMode="auto">
            <a:xfrm>
              <a:off x="2832" y="1680"/>
              <a:ext cx="2352" cy="1344"/>
            </a:xfrm>
            <a:prstGeom prst="rect">
              <a:avLst/>
            </a:prstGeom>
            <a:noFill/>
            <a:ln w="9525">
              <a:solidFill>
                <a:srgbClr val="00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594" name="Rectangle 106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  <p:graphicFrame>
          <p:nvGraphicFramePr>
            <p:cNvPr id="5123" name="Object 107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" name="公式" r:id="rId5" imgW="482400" imgH="215640" progId="Equation.3">
                    <p:embed/>
                  </p:oleObj>
                </mc:Choice>
                <mc:Fallback>
                  <p:oleObj name="公式" r:id="rId5" imgW="482400" imgH="215640" progId="Equation.3">
                    <p:embed/>
                    <p:pic>
                      <p:nvPicPr>
                        <p:cNvPr id="0" name="Object 10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7" name="Rectangle 108"/>
            <p:cNvSpPr>
              <a:spLocks noChangeArrowheads="1"/>
            </p:cNvSpPr>
            <p:nvPr/>
          </p:nvSpPr>
          <p:spPr bwMode="auto"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sp>
          <p:nvSpPr>
            <p:cNvPr id="5138" name="Line 109"/>
            <p:cNvSpPr>
              <a:spLocks noChangeShapeType="1"/>
            </p:cNvSpPr>
            <p:nvPr/>
          </p:nvSpPr>
          <p:spPr bwMode="auto">
            <a:xfrm flipV="1">
              <a:off x="3226" y="2426"/>
              <a:ext cx="18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9" name="Line 110"/>
            <p:cNvSpPr>
              <a:spLocks noChangeShapeType="1"/>
            </p:cNvSpPr>
            <p:nvPr/>
          </p:nvSpPr>
          <p:spPr bwMode="auto">
            <a:xfrm flipV="1">
              <a:off x="3216" y="1792"/>
              <a:ext cx="4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0" name="Line 111"/>
            <p:cNvSpPr>
              <a:spLocks noChangeShapeType="1"/>
            </p:cNvSpPr>
            <p:nvPr/>
          </p:nvSpPr>
          <p:spPr bwMode="auto">
            <a:xfrm flipH="1">
              <a:off x="3226" y="2126"/>
              <a:ext cx="16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1" name="Line 112"/>
            <p:cNvSpPr>
              <a:spLocks noChangeShapeType="1"/>
            </p:cNvSpPr>
            <p:nvPr/>
          </p:nvSpPr>
          <p:spPr bwMode="auto">
            <a:xfrm flipH="1" flipV="1">
              <a:off x="3226" y="2711"/>
              <a:ext cx="1752" cy="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4" name="Object 113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4" name="Equation" r:id="rId7" imgW="164880" imgH="164880" progId="Equation.DSMT4">
                    <p:embed/>
                  </p:oleObj>
                </mc:Choice>
                <mc:Fallback>
                  <p:oleObj name="Equation" r:id="rId7" imgW="164880" imgH="164880" progId="Equation.DSMT4">
                    <p:embed/>
                    <p:pic>
                      <p:nvPicPr>
                        <p:cNvPr id="0" name="Object 1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114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5" name="Equation" r:id="rId9" imgW="253800" imgH="164880" progId="Equation.DSMT4">
                    <p:embed/>
                  </p:oleObj>
                </mc:Choice>
                <mc:Fallback>
                  <p:oleObj name="Equation" r:id="rId9" imgW="253800" imgH="164880" progId="Equation.DSMT4">
                    <p:embed/>
                    <p:pic>
                      <p:nvPicPr>
                        <p:cNvPr id="0" name="Object 11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115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6" name="Equation" r:id="rId11" imgW="139680" imgH="139680" progId="Equation.3">
                    <p:embed/>
                  </p:oleObj>
                </mc:Choice>
                <mc:Fallback>
                  <p:oleObj name="Equation" r:id="rId11" imgW="139680" imgH="139680" progId="Equation.3">
                    <p:embed/>
                    <p:pic>
                      <p:nvPicPr>
                        <p:cNvPr id="0" name="Object 1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42" name="Group 116"/>
            <p:cNvGrpSpPr>
              <a:grpSpLocks/>
            </p:cNvGrpSpPr>
            <p:nvPr/>
          </p:nvGrpSpPr>
          <p:grpSpPr bwMode="auto"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5144" name="Line 117"/>
              <p:cNvSpPr>
                <a:spLocks noChangeShapeType="1"/>
              </p:cNvSpPr>
              <p:nvPr/>
            </p:nvSpPr>
            <p:spPr bwMode="auto">
              <a:xfrm flipV="1">
                <a:off x="3704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5" name="Line 118"/>
              <p:cNvSpPr>
                <a:spLocks noChangeShapeType="1"/>
              </p:cNvSpPr>
              <p:nvPr/>
            </p:nvSpPr>
            <p:spPr bwMode="auto">
              <a:xfrm flipV="1">
                <a:off x="5240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6" name="Line 119"/>
              <p:cNvSpPr>
                <a:spLocks noChangeShapeType="1"/>
              </p:cNvSpPr>
              <p:nvPr/>
            </p:nvSpPr>
            <p:spPr bwMode="auto">
              <a:xfrm flipV="1">
                <a:off x="4856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7" name="Line 120"/>
              <p:cNvSpPr>
                <a:spLocks noChangeShapeType="1"/>
              </p:cNvSpPr>
              <p:nvPr/>
            </p:nvSpPr>
            <p:spPr bwMode="auto">
              <a:xfrm flipV="1">
                <a:off x="4472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8" name="Line 121"/>
              <p:cNvSpPr>
                <a:spLocks noChangeShapeType="1"/>
              </p:cNvSpPr>
              <p:nvPr/>
            </p:nvSpPr>
            <p:spPr bwMode="auto">
              <a:xfrm flipV="1">
                <a:off x="4088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7" name="Object 122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7" name="Equation" r:id="rId13" imgW="152280" imgH="164880" progId="Equation.3">
                    <p:embed/>
                  </p:oleObj>
                </mc:Choice>
                <mc:Fallback>
                  <p:oleObj name="Equation" r:id="rId13" imgW="152280" imgH="164880" progId="Equation.3">
                    <p:embed/>
                    <p:pic>
                      <p:nvPicPr>
                        <p:cNvPr id="0" name="Object 12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8" name="Object 123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8" name="Equation" r:id="rId15" imgW="177480" imgH="393480" progId="Equation.DSMT4">
                    <p:embed/>
                  </p:oleObj>
                </mc:Choice>
                <mc:Fallback>
                  <p:oleObj name="Equation" r:id="rId15" imgW="177480" imgH="393480" progId="Equation.DSMT4">
                    <p:embed/>
                    <p:pic>
                      <p:nvPicPr>
                        <p:cNvPr id="0" name="Object 12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9" name="Object 124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9" name="Equation" r:id="rId17" imgW="101520" imgH="164880" progId="Equation.3">
                    <p:embed/>
                  </p:oleObj>
                </mc:Choice>
                <mc:Fallback>
                  <p:oleObj name="Equation" r:id="rId17" imgW="101520" imgH="164880" progId="Equation.3">
                    <p:embed/>
                    <p:pic>
                      <p:nvPicPr>
                        <p:cNvPr id="0" name="Object 1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" name="Object 125"/>
            <p:cNvGraphicFramePr>
              <a:graphicFrameLocks noChangeAspect="1"/>
            </p:cNvGraphicFramePr>
            <p:nvPr/>
          </p:nvGraphicFramePr>
          <p:xfrm>
            <a:off x="3018" y="2335"/>
            <a:ext cx="17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" name="Equation" r:id="rId19" imgW="126720" imgH="139680" progId="Equation.3">
                    <p:embed/>
                  </p:oleObj>
                </mc:Choice>
                <mc:Fallback>
                  <p:oleObj name="Equation" r:id="rId19" imgW="126720" imgH="139680" progId="Equation.3">
                    <p:embed/>
                    <p:pic>
                      <p:nvPicPr>
                        <p:cNvPr id="0" name="Object 12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335"/>
                          <a:ext cx="177" cy="2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3" name="Freeform 126"/>
            <p:cNvSpPr>
              <a:spLocks noChangeAspect="1"/>
            </p:cNvSpPr>
            <p:nvPr/>
          </p:nvSpPr>
          <p:spPr bwMode="auto">
            <a:xfrm>
              <a:off x="3220" y="2125"/>
              <a:ext cx="1710" cy="586"/>
            </a:xfrm>
            <a:custGeom>
              <a:avLst/>
              <a:gdLst>
                <a:gd name="T0" fmla="*/ 16 w 2061"/>
                <a:gd name="T1" fmla="*/ 247 h 673"/>
                <a:gd name="T2" fmla="*/ 47 w 2061"/>
                <a:gd name="T3" fmla="*/ 294 h 673"/>
                <a:gd name="T4" fmla="*/ 79 w 2061"/>
                <a:gd name="T5" fmla="*/ 340 h 673"/>
                <a:gd name="T6" fmla="*/ 110 w 2061"/>
                <a:gd name="T7" fmla="*/ 378 h 673"/>
                <a:gd name="T8" fmla="*/ 142 w 2061"/>
                <a:gd name="T9" fmla="*/ 409 h 673"/>
                <a:gd name="T10" fmla="*/ 173 w 2061"/>
                <a:gd name="T11" fmla="*/ 431 h 673"/>
                <a:gd name="T12" fmla="*/ 204 w 2061"/>
                <a:gd name="T13" fmla="*/ 442 h 673"/>
                <a:gd name="T14" fmla="*/ 236 w 2061"/>
                <a:gd name="T15" fmla="*/ 443 h 673"/>
                <a:gd name="T16" fmla="*/ 266 w 2061"/>
                <a:gd name="T17" fmla="*/ 433 h 673"/>
                <a:gd name="T18" fmla="*/ 298 w 2061"/>
                <a:gd name="T19" fmla="*/ 412 h 673"/>
                <a:gd name="T20" fmla="*/ 329 w 2061"/>
                <a:gd name="T21" fmla="*/ 382 h 673"/>
                <a:gd name="T22" fmla="*/ 362 w 2061"/>
                <a:gd name="T23" fmla="*/ 345 h 673"/>
                <a:gd name="T24" fmla="*/ 392 w 2061"/>
                <a:gd name="T25" fmla="*/ 301 h 673"/>
                <a:gd name="T26" fmla="*/ 424 w 2061"/>
                <a:gd name="T27" fmla="*/ 253 h 673"/>
                <a:gd name="T28" fmla="*/ 455 w 2061"/>
                <a:gd name="T29" fmla="*/ 204 h 673"/>
                <a:gd name="T30" fmla="*/ 487 w 2061"/>
                <a:gd name="T31" fmla="*/ 155 h 673"/>
                <a:gd name="T32" fmla="*/ 519 w 2061"/>
                <a:gd name="T33" fmla="*/ 110 h 673"/>
                <a:gd name="T34" fmla="*/ 548 w 2061"/>
                <a:gd name="T35" fmla="*/ 71 h 673"/>
                <a:gd name="T36" fmla="*/ 581 w 2061"/>
                <a:gd name="T37" fmla="*/ 38 h 673"/>
                <a:gd name="T38" fmla="*/ 612 w 2061"/>
                <a:gd name="T39" fmla="*/ 16 h 673"/>
                <a:gd name="T40" fmla="*/ 643 w 2061"/>
                <a:gd name="T41" fmla="*/ 3 h 673"/>
                <a:gd name="T42" fmla="*/ 675 w 2061"/>
                <a:gd name="T43" fmla="*/ 1 h 673"/>
                <a:gd name="T44" fmla="*/ 706 w 2061"/>
                <a:gd name="T45" fmla="*/ 9 h 673"/>
                <a:gd name="T46" fmla="*/ 738 w 2061"/>
                <a:gd name="T47" fmla="*/ 28 h 673"/>
                <a:gd name="T48" fmla="*/ 769 w 2061"/>
                <a:gd name="T49" fmla="*/ 57 h 673"/>
                <a:gd name="T50" fmla="*/ 800 w 2061"/>
                <a:gd name="T51" fmla="*/ 94 h 673"/>
                <a:gd name="T52" fmla="*/ 832 w 2061"/>
                <a:gd name="T53" fmla="*/ 137 h 673"/>
                <a:gd name="T54" fmla="*/ 863 w 2061"/>
                <a:gd name="T55" fmla="*/ 185 h 673"/>
                <a:gd name="T56" fmla="*/ 894 w 2061"/>
                <a:gd name="T57" fmla="*/ 233 h 673"/>
                <a:gd name="T58" fmla="*/ 927 w 2061"/>
                <a:gd name="T59" fmla="*/ 282 h 673"/>
                <a:gd name="T60" fmla="*/ 957 w 2061"/>
                <a:gd name="T61" fmla="*/ 327 h 673"/>
                <a:gd name="T62" fmla="*/ 988 w 2061"/>
                <a:gd name="T63" fmla="*/ 368 h 673"/>
                <a:gd name="T64" fmla="*/ 1020 w 2061"/>
                <a:gd name="T65" fmla="*/ 401 h 673"/>
                <a:gd name="T66" fmla="*/ 1051 w 2061"/>
                <a:gd name="T67" fmla="*/ 426 h 673"/>
                <a:gd name="T68" fmla="*/ 1083 w 2061"/>
                <a:gd name="T69" fmla="*/ 441 h 673"/>
                <a:gd name="T70" fmla="*/ 1113 w 2061"/>
                <a:gd name="T71" fmla="*/ 444 h 673"/>
                <a:gd name="T72" fmla="*/ 1146 w 2061"/>
                <a:gd name="T73" fmla="*/ 437 h 673"/>
                <a:gd name="T74" fmla="*/ 1177 w 2061"/>
                <a:gd name="T75" fmla="*/ 420 h 6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61"/>
                <a:gd name="T115" fmla="*/ 0 h 673"/>
                <a:gd name="T116" fmla="*/ 2061 w 2061"/>
                <a:gd name="T117" fmla="*/ 673 h 67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131" name="Object 13"/>
          <p:cNvGraphicFramePr>
            <a:graphicFrameLocks noChangeAspect="1"/>
          </p:cNvGraphicFramePr>
          <p:nvPr/>
        </p:nvGraphicFramePr>
        <p:xfrm>
          <a:off x="4303713" y="1692275"/>
          <a:ext cx="34512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" name="Equation" r:id="rId21" imgW="1333440" imgH="241200" progId="Equation.3">
                  <p:embed/>
                </p:oleObj>
              </mc:Choice>
              <mc:Fallback>
                <p:oleObj name="Equation" r:id="rId21" imgW="133344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1692275"/>
                        <a:ext cx="3451225" cy="6223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ECFF"/>
                          </a:gs>
                          <a:gs pos="50000">
                            <a:srgbClr val="CCECFF">
                              <a:gamma/>
                              <a:tint val="0"/>
                              <a:invGamma/>
                            </a:srgbClr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514" name="Object 2"/>
          <p:cNvGraphicFramePr>
            <a:graphicFrameLocks noChangeAspect="1"/>
          </p:cNvGraphicFramePr>
          <p:nvPr/>
        </p:nvGraphicFramePr>
        <p:xfrm>
          <a:off x="1228725" y="1384300"/>
          <a:ext cx="2962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9" name="Equation" r:id="rId3" imgW="1333440" imgH="241200" progId="Equation.3">
                  <p:embed/>
                </p:oleObj>
              </mc:Choice>
              <mc:Fallback>
                <p:oleObj name="Equation" r:id="rId3" imgW="133344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1384300"/>
                        <a:ext cx="296227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Text Box 3"/>
          <p:cNvSpPr txBox="1">
            <a:spLocks noChangeArrowheads="1"/>
          </p:cNvSpPr>
          <p:nvPr/>
        </p:nvSpPr>
        <p:spPr bwMode="auto">
          <a:xfrm>
            <a:off x="889000" y="533400"/>
            <a:ext cx="6350000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600">
                <a:solidFill>
                  <a:srgbClr val="CC0000"/>
                </a:solidFill>
                <a:latin typeface="宋体" pitchFamily="2" charset="-122"/>
              </a:rPr>
              <a:t>三 周期、频率</a:t>
            </a:r>
          </a:p>
        </p:txBody>
      </p:sp>
      <p:grpSp>
        <p:nvGrpSpPr>
          <p:cNvPr id="2" name="Group 226"/>
          <p:cNvGrpSpPr>
            <a:grpSpLocks/>
          </p:cNvGrpSpPr>
          <p:nvPr/>
        </p:nvGrpSpPr>
        <p:grpSpPr bwMode="auto">
          <a:xfrm>
            <a:off x="1371600" y="4013200"/>
            <a:ext cx="3022600" cy="1898650"/>
            <a:chOff x="1152" y="2256"/>
            <a:chExt cx="1904" cy="1196"/>
          </a:xfrm>
        </p:grpSpPr>
        <p:graphicFrame>
          <p:nvGraphicFramePr>
            <p:cNvPr id="6157" name="Object 5"/>
            <p:cNvGraphicFramePr>
              <a:graphicFrameLocks noChangeAspect="1"/>
            </p:cNvGraphicFramePr>
            <p:nvPr/>
          </p:nvGraphicFramePr>
          <p:xfrm>
            <a:off x="1248" y="2736"/>
            <a:ext cx="1203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0" name="Equation" r:id="rId5" imgW="901440" imgH="520560" progId="Equation.3">
                    <p:embed/>
                  </p:oleObj>
                </mc:Choice>
                <mc:Fallback>
                  <p:oleObj name="Equation" r:id="rId5" imgW="901440" imgH="5205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736"/>
                          <a:ext cx="1203" cy="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0" name="Text Box 6"/>
            <p:cNvSpPr txBox="1">
              <a:spLocks noChangeArrowheads="1"/>
            </p:cNvSpPr>
            <p:nvPr/>
          </p:nvSpPr>
          <p:spPr bwMode="auto">
            <a:xfrm>
              <a:off x="1152" y="2256"/>
              <a:ext cx="1904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>
                  <a:solidFill>
                    <a:srgbClr val="CC0000"/>
                  </a:solidFill>
                </a:rPr>
                <a:t>弹簧振子周期</a:t>
              </a:r>
            </a:p>
          </p:txBody>
        </p:sp>
      </p:grpSp>
      <p:grpSp>
        <p:nvGrpSpPr>
          <p:cNvPr id="3" name="Group 225"/>
          <p:cNvGrpSpPr>
            <a:grpSpLocks/>
          </p:cNvGrpSpPr>
          <p:nvPr/>
        </p:nvGrpSpPr>
        <p:grpSpPr bwMode="auto">
          <a:xfrm>
            <a:off x="976313" y="2082800"/>
            <a:ext cx="2717800" cy="869950"/>
            <a:chOff x="615" y="1331"/>
            <a:chExt cx="1712" cy="548"/>
          </a:xfrm>
        </p:grpSpPr>
        <p:graphicFrame>
          <p:nvGraphicFramePr>
            <p:cNvPr id="6156" name="Object 8"/>
            <p:cNvGraphicFramePr>
              <a:graphicFrameLocks noChangeAspect="1"/>
            </p:cNvGraphicFramePr>
            <p:nvPr/>
          </p:nvGraphicFramePr>
          <p:xfrm>
            <a:off x="1672" y="1331"/>
            <a:ext cx="655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1" name="Equation" r:id="rId7" imgW="482400" imgH="393480" progId="Equation.DSMT4">
                    <p:embed/>
                  </p:oleObj>
                </mc:Choice>
                <mc:Fallback>
                  <p:oleObj name="Equation" r:id="rId7" imgW="482400" imgH="3934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" y="1331"/>
                          <a:ext cx="655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9E9BB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9E9BB"/>
                                  </a:gs>
                                  <a:gs pos="100000">
                                    <a:srgbClr val="F9E9BB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009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9" name="Text Box 9"/>
            <p:cNvSpPr txBox="1">
              <a:spLocks noChangeArrowheads="1"/>
            </p:cNvSpPr>
            <p:nvPr/>
          </p:nvSpPr>
          <p:spPr bwMode="auto">
            <a:xfrm>
              <a:off x="615" y="1392"/>
              <a:ext cx="1311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buFontTx/>
                <a:buBlip>
                  <a:blip r:embed="rId9"/>
                </a:buBlip>
              </a:pPr>
              <a:r>
                <a:rPr lang="zh-CN" altLang="en-US" sz="2800">
                  <a:solidFill>
                    <a:srgbClr val="0000FF"/>
                  </a:solidFill>
                </a:rPr>
                <a:t>   </a:t>
              </a:r>
              <a:r>
                <a:rPr lang="zh-CN" altLang="en-US">
                  <a:solidFill>
                    <a:srgbClr val="CC0000"/>
                  </a:solidFill>
                </a:rPr>
                <a:t>周期</a:t>
              </a:r>
            </a:p>
          </p:txBody>
        </p:sp>
      </p:grpSp>
      <p:graphicFrame>
        <p:nvGraphicFramePr>
          <p:cNvPr id="192522" name="Object 10"/>
          <p:cNvGraphicFramePr>
            <a:graphicFrameLocks noChangeAspect="1"/>
          </p:cNvGraphicFramePr>
          <p:nvPr/>
        </p:nvGraphicFramePr>
        <p:xfrm>
          <a:off x="4191000" y="1393825"/>
          <a:ext cx="3581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2" name="Equation" r:id="rId10" imgW="1625400" imgH="241200" progId="Equation.3">
                  <p:embed/>
                </p:oleObj>
              </mc:Choice>
              <mc:Fallback>
                <p:oleObj name="Equation" r:id="rId10" imgW="162540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393825"/>
                        <a:ext cx="35814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28600" y="2987675"/>
            <a:ext cx="2590800" cy="1219200"/>
            <a:chOff x="192" y="2016"/>
            <a:chExt cx="1632" cy="768"/>
          </a:xfrm>
        </p:grpSpPr>
        <p:sp>
          <p:nvSpPr>
            <p:cNvPr id="6177" name="AutoShape 12"/>
            <p:cNvSpPr>
              <a:spLocks noChangeArrowheads="1"/>
            </p:cNvSpPr>
            <p:nvPr/>
          </p:nvSpPr>
          <p:spPr bwMode="auto">
            <a:xfrm>
              <a:off x="192" y="2016"/>
              <a:ext cx="1200" cy="768"/>
            </a:xfrm>
            <a:prstGeom prst="irregularSeal1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B5B5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Text Box 13"/>
            <p:cNvSpPr txBox="1">
              <a:spLocks noChangeArrowheads="1"/>
            </p:cNvSpPr>
            <p:nvPr/>
          </p:nvSpPr>
          <p:spPr bwMode="auto">
            <a:xfrm>
              <a:off x="480" y="2112"/>
              <a:ext cx="1344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/>
                <a:t>注意</a:t>
              </a:r>
            </a:p>
          </p:txBody>
        </p:sp>
      </p:grpSp>
      <p:grpSp>
        <p:nvGrpSpPr>
          <p:cNvPr id="6162" name="Group 202"/>
          <p:cNvGrpSpPr>
            <a:grpSpLocks/>
          </p:cNvGrpSpPr>
          <p:nvPr/>
        </p:nvGrpSpPr>
        <p:grpSpPr bwMode="auto">
          <a:xfrm>
            <a:off x="4575175" y="3678238"/>
            <a:ext cx="4070350" cy="2325687"/>
            <a:chOff x="2832" y="1680"/>
            <a:chExt cx="2352" cy="1344"/>
          </a:xfrm>
        </p:grpSpPr>
        <p:sp>
          <p:nvSpPr>
            <p:cNvPr id="6163" name="Rectangle 203"/>
            <p:cNvSpPr>
              <a:spLocks noChangeArrowheads="1"/>
            </p:cNvSpPr>
            <p:nvPr/>
          </p:nvSpPr>
          <p:spPr bwMode="auto">
            <a:xfrm>
              <a:off x="2832" y="1680"/>
              <a:ext cx="2352" cy="1344"/>
            </a:xfrm>
            <a:prstGeom prst="rect">
              <a:avLst/>
            </a:prstGeom>
            <a:noFill/>
            <a:ln w="9525">
              <a:solidFill>
                <a:srgbClr val="00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716" name="Rectangle 204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  <p:graphicFrame>
          <p:nvGraphicFramePr>
            <p:cNvPr id="6148" name="Object 205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3" name="公式" r:id="rId12" imgW="482400" imgH="215640" progId="Equation.3">
                    <p:embed/>
                  </p:oleObj>
                </mc:Choice>
                <mc:Fallback>
                  <p:oleObj name="公式" r:id="rId12" imgW="482400" imgH="215640" progId="Equation.3">
                    <p:embed/>
                    <p:pic>
                      <p:nvPicPr>
                        <p:cNvPr id="0" name="Object 20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5" name="Rectangle 206"/>
            <p:cNvSpPr>
              <a:spLocks noChangeArrowheads="1"/>
            </p:cNvSpPr>
            <p:nvPr/>
          </p:nvSpPr>
          <p:spPr bwMode="auto"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sp>
          <p:nvSpPr>
            <p:cNvPr id="6166" name="Line 207"/>
            <p:cNvSpPr>
              <a:spLocks noChangeShapeType="1"/>
            </p:cNvSpPr>
            <p:nvPr/>
          </p:nvSpPr>
          <p:spPr bwMode="auto">
            <a:xfrm flipV="1">
              <a:off x="3226" y="2426"/>
              <a:ext cx="18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Line 208"/>
            <p:cNvSpPr>
              <a:spLocks noChangeShapeType="1"/>
            </p:cNvSpPr>
            <p:nvPr/>
          </p:nvSpPr>
          <p:spPr bwMode="auto">
            <a:xfrm flipV="1">
              <a:off x="3216" y="1792"/>
              <a:ext cx="4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Line 209"/>
            <p:cNvSpPr>
              <a:spLocks noChangeShapeType="1"/>
            </p:cNvSpPr>
            <p:nvPr/>
          </p:nvSpPr>
          <p:spPr bwMode="auto">
            <a:xfrm flipH="1">
              <a:off x="3226" y="2126"/>
              <a:ext cx="16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9" name="Line 210"/>
            <p:cNvSpPr>
              <a:spLocks noChangeShapeType="1"/>
            </p:cNvSpPr>
            <p:nvPr/>
          </p:nvSpPr>
          <p:spPr bwMode="auto">
            <a:xfrm flipH="1" flipV="1">
              <a:off x="3226" y="2711"/>
              <a:ext cx="1752" cy="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9" name="Object 211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4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0" name="Object 2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212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5" name="Equation" r:id="rId16" imgW="253800" imgH="164880" progId="Equation.DSMT4">
                    <p:embed/>
                  </p:oleObj>
                </mc:Choice>
                <mc:Fallback>
                  <p:oleObj name="Equation" r:id="rId16" imgW="253800" imgH="164880" progId="Equation.DSMT4">
                    <p:embed/>
                    <p:pic>
                      <p:nvPicPr>
                        <p:cNvPr id="0" name="Object 2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213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6" name="Equation" r:id="rId18" imgW="139680" imgH="139680" progId="Equation.3">
                    <p:embed/>
                  </p:oleObj>
                </mc:Choice>
                <mc:Fallback>
                  <p:oleObj name="Equation" r:id="rId18" imgW="139680" imgH="139680" progId="Equation.3">
                    <p:embed/>
                    <p:pic>
                      <p:nvPicPr>
                        <p:cNvPr id="0" name="Object 2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70" name="Group 214"/>
            <p:cNvGrpSpPr>
              <a:grpSpLocks/>
            </p:cNvGrpSpPr>
            <p:nvPr/>
          </p:nvGrpSpPr>
          <p:grpSpPr bwMode="auto"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6172" name="Line 215"/>
              <p:cNvSpPr>
                <a:spLocks noChangeShapeType="1"/>
              </p:cNvSpPr>
              <p:nvPr/>
            </p:nvSpPr>
            <p:spPr bwMode="auto">
              <a:xfrm flipV="1">
                <a:off x="3704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3" name="Line 216"/>
              <p:cNvSpPr>
                <a:spLocks noChangeShapeType="1"/>
              </p:cNvSpPr>
              <p:nvPr/>
            </p:nvSpPr>
            <p:spPr bwMode="auto">
              <a:xfrm flipV="1">
                <a:off x="5240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4" name="Line 217"/>
              <p:cNvSpPr>
                <a:spLocks noChangeShapeType="1"/>
              </p:cNvSpPr>
              <p:nvPr/>
            </p:nvSpPr>
            <p:spPr bwMode="auto">
              <a:xfrm flipV="1">
                <a:off x="4856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5" name="Line 218"/>
              <p:cNvSpPr>
                <a:spLocks noChangeShapeType="1"/>
              </p:cNvSpPr>
              <p:nvPr/>
            </p:nvSpPr>
            <p:spPr bwMode="auto">
              <a:xfrm flipV="1">
                <a:off x="4472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6" name="Line 219"/>
              <p:cNvSpPr>
                <a:spLocks noChangeShapeType="1"/>
              </p:cNvSpPr>
              <p:nvPr/>
            </p:nvSpPr>
            <p:spPr bwMode="auto">
              <a:xfrm flipV="1">
                <a:off x="4088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152" name="Object 220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7" name="Equation" r:id="rId20" imgW="152280" imgH="164880" progId="Equation.3">
                    <p:embed/>
                  </p:oleObj>
                </mc:Choice>
                <mc:Fallback>
                  <p:oleObj name="Equation" r:id="rId20" imgW="152280" imgH="164880" progId="Equation.3">
                    <p:embed/>
                    <p:pic>
                      <p:nvPicPr>
                        <p:cNvPr id="0" name="Object 22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3" name="Object 221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8" name="Equation" r:id="rId22" imgW="177480" imgH="393480" progId="Equation.DSMT4">
                    <p:embed/>
                  </p:oleObj>
                </mc:Choice>
                <mc:Fallback>
                  <p:oleObj name="Equation" r:id="rId22" imgW="177480" imgH="393480" progId="Equation.DSMT4">
                    <p:embed/>
                    <p:pic>
                      <p:nvPicPr>
                        <p:cNvPr id="0" name="Object 22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222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9" name="Equation" r:id="rId24" imgW="101520" imgH="164880" progId="Equation.3">
                    <p:embed/>
                  </p:oleObj>
                </mc:Choice>
                <mc:Fallback>
                  <p:oleObj name="Equation" r:id="rId24" imgW="101520" imgH="164880" progId="Equation.3">
                    <p:embed/>
                    <p:pic>
                      <p:nvPicPr>
                        <p:cNvPr id="0" name="Object 22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223"/>
            <p:cNvGraphicFramePr>
              <a:graphicFrameLocks noChangeAspect="1"/>
            </p:cNvGraphicFramePr>
            <p:nvPr/>
          </p:nvGraphicFramePr>
          <p:xfrm>
            <a:off x="3018" y="2335"/>
            <a:ext cx="17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0" name="Equation" r:id="rId26" imgW="126720" imgH="139680" progId="Equation.3">
                    <p:embed/>
                  </p:oleObj>
                </mc:Choice>
                <mc:Fallback>
                  <p:oleObj name="Equation" r:id="rId26" imgW="126720" imgH="139680" progId="Equation.3">
                    <p:embed/>
                    <p:pic>
                      <p:nvPicPr>
                        <p:cNvPr id="0" name="Object 22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335"/>
                          <a:ext cx="177" cy="2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Freeform 224"/>
            <p:cNvSpPr>
              <a:spLocks noChangeAspect="1"/>
            </p:cNvSpPr>
            <p:nvPr/>
          </p:nvSpPr>
          <p:spPr bwMode="auto">
            <a:xfrm>
              <a:off x="3220" y="2125"/>
              <a:ext cx="1710" cy="586"/>
            </a:xfrm>
            <a:custGeom>
              <a:avLst/>
              <a:gdLst>
                <a:gd name="T0" fmla="*/ 16 w 2061"/>
                <a:gd name="T1" fmla="*/ 247 h 673"/>
                <a:gd name="T2" fmla="*/ 47 w 2061"/>
                <a:gd name="T3" fmla="*/ 294 h 673"/>
                <a:gd name="T4" fmla="*/ 79 w 2061"/>
                <a:gd name="T5" fmla="*/ 340 h 673"/>
                <a:gd name="T6" fmla="*/ 110 w 2061"/>
                <a:gd name="T7" fmla="*/ 378 h 673"/>
                <a:gd name="T8" fmla="*/ 142 w 2061"/>
                <a:gd name="T9" fmla="*/ 409 h 673"/>
                <a:gd name="T10" fmla="*/ 173 w 2061"/>
                <a:gd name="T11" fmla="*/ 431 h 673"/>
                <a:gd name="T12" fmla="*/ 204 w 2061"/>
                <a:gd name="T13" fmla="*/ 442 h 673"/>
                <a:gd name="T14" fmla="*/ 236 w 2061"/>
                <a:gd name="T15" fmla="*/ 443 h 673"/>
                <a:gd name="T16" fmla="*/ 266 w 2061"/>
                <a:gd name="T17" fmla="*/ 433 h 673"/>
                <a:gd name="T18" fmla="*/ 298 w 2061"/>
                <a:gd name="T19" fmla="*/ 412 h 673"/>
                <a:gd name="T20" fmla="*/ 329 w 2061"/>
                <a:gd name="T21" fmla="*/ 382 h 673"/>
                <a:gd name="T22" fmla="*/ 362 w 2061"/>
                <a:gd name="T23" fmla="*/ 345 h 673"/>
                <a:gd name="T24" fmla="*/ 392 w 2061"/>
                <a:gd name="T25" fmla="*/ 301 h 673"/>
                <a:gd name="T26" fmla="*/ 424 w 2061"/>
                <a:gd name="T27" fmla="*/ 253 h 673"/>
                <a:gd name="T28" fmla="*/ 455 w 2061"/>
                <a:gd name="T29" fmla="*/ 204 h 673"/>
                <a:gd name="T30" fmla="*/ 487 w 2061"/>
                <a:gd name="T31" fmla="*/ 155 h 673"/>
                <a:gd name="T32" fmla="*/ 519 w 2061"/>
                <a:gd name="T33" fmla="*/ 110 h 673"/>
                <a:gd name="T34" fmla="*/ 548 w 2061"/>
                <a:gd name="T35" fmla="*/ 71 h 673"/>
                <a:gd name="T36" fmla="*/ 581 w 2061"/>
                <a:gd name="T37" fmla="*/ 38 h 673"/>
                <a:gd name="T38" fmla="*/ 612 w 2061"/>
                <a:gd name="T39" fmla="*/ 16 h 673"/>
                <a:gd name="T40" fmla="*/ 643 w 2061"/>
                <a:gd name="T41" fmla="*/ 3 h 673"/>
                <a:gd name="T42" fmla="*/ 675 w 2061"/>
                <a:gd name="T43" fmla="*/ 1 h 673"/>
                <a:gd name="T44" fmla="*/ 706 w 2061"/>
                <a:gd name="T45" fmla="*/ 9 h 673"/>
                <a:gd name="T46" fmla="*/ 738 w 2061"/>
                <a:gd name="T47" fmla="*/ 28 h 673"/>
                <a:gd name="T48" fmla="*/ 769 w 2061"/>
                <a:gd name="T49" fmla="*/ 57 h 673"/>
                <a:gd name="T50" fmla="*/ 800 w 2061"/>
                <a:gd name="T51" fmla="*/ 94 h 673"/>
                <a:gd name="T52" fmla="*/ 832 w 2061"/>
                <a:gd name="T53" fmla="*/ 137 h 673"/>
                <a:gd name="T54" fmla="*/ 863 w 2061"/>
                <a:gd name="T55" fmla="*/ 185 h 673"/>
                <a:gd name="T56" fmla="*/ 894 w 2061"/>
                <a:gd name="T57" fmla="*/ 233 h 673"/>
                <a:gd name="T58" fmla="*/ 927 w 2061"/>
                <a:gd name="T59" fmla="*/ 282 h 673"/>
                <a:gd name="T60" fmla="*/ 957 w 2061"/>
                <a:gd name="T61" fmla="*/ 327 h 673"/>
                <a:gd name="T62" fmla="*/ 988 w 2061"/>
                <a:gd name="T63" fmla="*/ 368 h 673"/>
                <a:gd name="T64" fmla="*/ 1020 w 2061"/>
                <a:gd name="T65" fmla="*/ 401 h 673"/>
                <a:gd name="T66" fmla="*/ 1051 w 2061"/>
                <a:gd name="T67" fmla="*/ 426 h 673"/>
                <a:gd name="T68" fmla="*/ 1083 w 2061"/>
                <a:gd name="T69" fmla="*/ 441 h 673"/>
                <a:gd name="T70" fmla="*/ 1113 w 2061"/>
                <a:gd name="T71" fmla="*/ 444 h 673"/>
                <a:gd name="T72" fmla="*/ 1146 w 2061"/>
                <a:gd name="T73" fmla="*/ 437 h 673"/>
                <a:gd name="T74" fmla="*/ 1177 w 2061"/>
                <a:gd name="T75" fmla="*/ 420 h 6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61"/>
                <a:gd name="T115" fmla="*/ 0 h 673"/>
                <a:gd name="T116" fmla="*/ 2061 w 2061"/>
                <a:gd name="T117" fmla="*/ 673 h 67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22600" y="1800225"/>
              <a:ext cx="42863" cy="28575"/>
            </p14:xfrm>
          </p:contentPart>
        </mc:Choice>
        <mc:Fallback xmlns="">
          <p:pic>
            <p:nvPicPr>
              <p:cNvPr id="5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13313" y="1790938"/>
                <a:ext cx="61437" cy="4714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0" name="Group 211"/>
          <p:cNvGrpSpPr>
            <a:grpSpLocks/>
          </p:cNvGrpSpPr>
          <p:nvPr/>
        </p:nvGrpSpPr>
        <p:grpSpPr bwMode="auto">
          <a:xfrm>
            <a:off x="914400" y="587375"/>
            <a:ext cx="3505200" cy="1020763"/>
            <a:chOff x="576" y="1200"/>
            <a:chExt cx="2208" cy="643"/>
          </a:xfrm>
        </p:grpSpPr>
        <p:graphicFrame>
          <p:nvGraphicFramePr>
            <p:cNvPr id="7179" name="Object 3"/>
            <p:cNvGraphicFramePr>
              <a:graphicFrameLocks noChangeAspect="1"/>
            </p:cNvGraphicFramePr>
            <p:nvPr/>
          </p:nvGraphicFramePr>
          <p:xfrm>
            <a:off x="1536" y="1200"/>
            <a:ext cx="1248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" name="Equation" r:id="rId3" imgW="914400" imgH="469800" progId="Equation.3">
                    <p:embed/>
                  </p:oleObj>
                </mc:Choice>
                <mc:Fallback>
                  <p:oleObj name="Equation" r:id="rId3" imgW="914400" imgH="4698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200"/>
                          <a:ext cx="1248" cy="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CCFFFF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CCFFFF"/>
                                  </a:gs>
                                  <a:gs pos="100000">
                                    <a:srgbClr val="CCFFFF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D6009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8" name="Text Box 4"/>
            <p:cNvSpPr txBox="1">
              <a:spLocks noChangeArrowheads="1"/>
            </p:cNvSpPr>
            <p:nvPr/>
          </p:nvSpPr>
          <p:spPr bwMode="auto">
            <a:xfrm>
              <a:off x="576" y="1318"/>
              <a:ext cx="1344" cy="42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buFontTx/>
                <a:buBlip>
                  <a:blip r:embed="rId5"/>
                </a:buBlip>
              </a:pPr>
              <a:r>
                <a:rPr lang="zh-CN" altLang="en-US" sz="2800">
                  <a:solidFill>
                    <a:srgbClr val="0000FF"/>
                  </a:solidFill>
                </a:rPr>
                <a:t>   </a:t>
              </a:r>
              <a:r>
                <a:rPr lang="zh-CN" altLang="en-US">
                  <a:solidFill>
                    <a:srgbClr val="CC0000"/>
                  </a:solidFill>
                </a:rPr>
                <a:t>频率</a:t>
              </a:r>
            </a:p>
          </p:txBody>
        </p:sp>
      </p:grpSp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1258888" y="3254375"/>
          <a:ext cx="24098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" name="Equation" r:id="rId6" imgW="939600" imgH="393480" progId="Equation.DSMT4">
                  <p:embed/>
                </p:oleObj>
              </mc:Choice>
              <mc:Fallback>
                <p:oleObj name="Equation" r:id="rId6" imgW="93960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54375"/>
                        <a:ext cx="2409825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3" name="Text Box 7"/>
          <p:cNvSpPr txBox="1">
            <a:spLocks noChangeArrowheads="1"/>
          </p:cNvSpPr>
          <p:nvPr/>
        </p:nvSpPr>
        <p:spPr bwMode="auto">
          <a:xfrm>
            <a:off x="914400" y="2451100"/>
            <a:ext cx="27955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buFontTx/>
              <a:buBlip>
                <a:blip r:embed="rId5"/>
              </a:buBlip>
            </a:pPr>
            <a:r>
              <a:rPr lang="zh-CN" altLang="en-US">
                <a:solidFill>
                  <a:srgbClr val="CC0000"/>
                </a:solidFill>
              </a:rPr>
              <a:t>  圆频率</a:t>
            </a:r>
          </a:p>
        </p:txBody>
      </p:sp>
      <p:sp>
        <p:nvSpPr>
          <p:cNvPr id="193544" name="Text Box 8"/>
          <p:cNvSpPr txBox="1">
            <a:spLocks noChangeArrowheads="1"/>
          </p:cNvSpPr>
          <p:nvPr/>
        </p:nvSpPr>
        <p:spPr bwMode="auto">
          <a:xfrm>
            <a:off x="1219200" y="4540250"/>
            <a:ext cx="7086600" cy="12731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/>
              <a:t>        周期和频率仅与振动系统</a:t>
            </a:r>
            <a:r>
              <a:rPr lang="zh-CN" altLang="en-US">
                <a:solidFill>
                  <a:srgbClr val="CC0000"/>
                </a:solidFill>
                <a:latin typeface="宋体" pitchFamily="2" charset="-122"/>
              </a:rPr>
              <a:t>本身</a:t>
            </a:r>
            <a:r>
              <a:rPr lang="zh-CN" altLang="en-US"/>
              <a:t>的物理性质有关</a:t>
            </a:r>
          </a:p>
        </p:txBody>
      </p:sp>
      <p:grpSp>
        <p:nvGrpSpPr>
          <p:cNvPr id="7183" name="Group 185"/>
          <p:cNvGrpSpPr>
            <a:grpSpLocks/>
          </p:cNvGrpSpPr>
          <p:nvPr/>
        </p:nvGrpSpPr>
        <p:grpSpPr bwMode="auto">
          <a:xfrm>
            <a:off x="4495800" y="2046288"/>
            <a:ext cx="3733800" cy="2133600"/>
            <a:chOff x="2832" y="1680"/>
            <a:chExt cx="2352" cy="1344"/>
          </a:xfrm>
        </p:grpSpPr>
        <p:sp>
          <p:nvSpPr>
            <p:cNvPr id="7184" name="Rectangle 186"/>
            <p:cNvSpPr>
              <a:spLocks noChangeArrowheads="1"/>
            </p:cNvSpPr>
            <p:nvPr/>
          </p:nvSpPr>
          <p:spPr bwMode="auto">
            <a:xfrm>
              <a:off x="2832" y="1680"/>
              <a:ext cx="2352" cy="1344"/>
            </a:xfrm>
            <a:prstGeom prst="rect">
              <a:avLst/>
            </a:prstGeom>
            <a:noFill/>
            <a:ln w="9525">
              <a:solidFill>
                <a:srgbClr val="00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723" name="Rectangle 187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  <p:graphicFrame>
          <p:nvGraphicFramePr>
            <p:cNvPr id="7171" name="Object 188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" name="公式" r:id="rId8" imgW="482400" imgH="215640" progId="Equation.3">
                    <p:embed/>
                  </p:oleObj>
                </mc:Choice>
                <mc:Fallback>
                  <p:oleObj name="公式" r:id="rId8" imgW="482400" imgH="215640" progId="Equation.3">
                    <p:embed/>
                    <p:pic>
                      <p:nvPicPr>
                        <p:cNvPr id="0" name="Object 18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6" name="Rectangle 189"/>
            <p:cNvSpPr>
              <a:spLocks noChangeArrowheads="1"/>
            </p:cNvSpPr>
            <p:nvPr/>
          </p:nvSpPr>
          <p:spPr bwMode="auto"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/>
                <a:t>图</a:t>
              </a:r>
            </a:p>
          </p:txBody>
        </p:sp>
        <p:sp>
          <p:nvSpPr>
            <p:cNvPr id="7187" name="Line 190"/>
            <p:cNvSpPr>
              <a:spLocks noChangeShapeType="1"/>
            </p:cNvSpPr>
            <p:nvPr/>
          </p:nvSpPr>
          <p:spPr bwMode="auto">
            <a:xfrm flipV="1">
              <a:off x="3226" y="2426"/>
              <a:ext cx="18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8" name="Line 191"/>
            <p:cNvSpPr>
              <a:spLocks noChangeShapeType="1"/>
            </p:cNvSpPr>
            <p:nvPr/>
          </p:nvSpPr>
          <p:spPr bwMode="auto">
            <a:xfrm flipV="1">
              <a:off x="3216" y="1792"/>
              <a:ext cx="4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9" name="Line 192"/>
            <p:cNvSpPr>
              <a:spLocks noChangeShapeType="1"/>
            </p:cNvSpPr>
            <p:nvPr/>
          </p:nvSpPr>
          <p:spPr bwMode="auto">
            <a:xfrm flipH="1">
              <a:off x="3226" y="2126"/>
              <a:ext cx="16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0" name="Line 193"/>
            <p:cNvSpPr>
              <a:spLocks noChangeShapeType="1"/>
            </p:cNvSpPr>
            <p:nvPr/>
          </p:nvSpPr>
          <p:spPr bwMode="auto">
            <a:xfrm flipH="1" flipV="1">
              <a:off x="3226" y="2711"/>
              <a:ext cx="1752" cy="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72" name="Object 194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"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Object 19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3" name="Object 195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" name="Equation" r:id="rId12" imgW="253800" imgH="164880" progId="Equation.DSMT4">
                    <p:embed/>
                  </p:oleObj>
                </mc:Choice>
                <mc:Fallback>
                  <p:oleObj name="Equation" r:id="rId12" imgW="253800" imgH="164880" progId="Equation.DSMT4">
                    <p:embed/>
                    <p:pic>
                      <p:nvPicPr>
                        <p:cNvPr id="0" name="Object 19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196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" name="Equation" r:id="rId14" imgW="139680" imgH="139680" progId="Equation.3">
                    <p:embed/>
                  </p:oleObj>
                </mc:Choice>
                <mc:Fallback>
                  <p:oleObj name="Equation" r:id="rId14" imgW="139680" imgH="139680" progId="Equation.3">
                    <p:embed/>
                    <p:pic>
                      <p:nvPicPr>
                        <p:cNvPr id="0" name="Object 19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91" name="Group 197"/>
            <p:cNvGrpSpPr>
              <a:grpSpLocks/>
            </p:cNvGrpSpPr>
            <p:nvPr/>
          </p:nvGrpSpPr>
          <p:grpSpPr bwMode="auto"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7193" name="Line 198"/>
              <p:cNvSpPr>
                <a:spLocks noChangeShapeType="1"/>
              </p:cNvSpPr>
              <p:nvPr/>
            </p:nvSpPr>
            <p:spPr bwMode="auto">
              <a:xfrm flipV="1">
                <a:off x="3704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4" name="Line 199"/>
              <p:cNvSpPr>
                <a:spLocks noChangeShapeType="1"/>
              </p:cNvSpPr>
              <p:nvPr/>
            </p:nvSpPr>
            <p:spPr bwMode="auto">
              <a:xfrm flipV="1">
                <a:off x="5240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5" name="Line 200"/>
              <p:cNvSpPr>
                <a:spLocks noChangeShapeType="1"/>
              </p:cNvSpPr>
              <p:nvPr/>
            </p:nvSpPr>
            <p:spPr bwMode="auto">
              <a:xfrm flipV="1">
                <a:off x="4856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6" name="Line 201"/>
              <p:cNvSpPr>
                <a:spLocks noChangeShapeType="1"/>
              </p:cNvSpPr>
              <p:nvPr/>
            </p:nvSpPr>
            <p:spPr bwMode="auto">
              <a:xfrm flipV="1">
                <a:off x="4472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7" name="Line 202"/>
              <p:cNvSpPr>
                <a:spLocks noChangeShapeType="1"/>
              </p:cNvSpPr>
              <p:nvPr/>
            </p:nvSpPr>
            <p:spPr bwMode="auto">
              <a:xfrm flipV="1">
                <a:off x="4088" y="904"/>
                <a:ext cx="0" cy="896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7175" name="Object 203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6" name="Equation" r:id="rId16" imgW="152280" imgH="164880" progId="Equation.3">
                    <p:embed/>
                  </p:oleObj>
                </mc:Choice>
                <mc:Fallback>
                  <p:oleObj name="Equation" r:id="rId16" imgW="152280" imgH="164880" progId="Equation.3">
                    <p:embed/>
                    <p:pic>
                      <p:nvPicPr>
                        <p:cNvPr id="0" name="Object 20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204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" name="Equation" r:id="rId18" imgW="177480" imgH="393480" progId="Equation.DSMT4">
                    <p:embed/>
                  </p:oleObj>
                </mc:Choice>
                <mc:Fallback>
                  <p:oleObj name="Equation" r:id="rId18" imgW="177480" imgH="393480" progId="Equation.DSMT4">
                    <p:embed/>
                    <p:pic>
                      <p:nvPicPr>
                        <p:cNvPr id="0" name="Object 20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205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8" name="Equation" r:id="rId20" imgW="101520" imgH="164880" progId="Equation.3">
                    <p:embed/>
                  </p:oleObj>
                </mc:Choice>
                <mc:Fallback>
                  <p:oleObj name="Equation" r:id="rId20" imgW="101520" imgH="164880" progId="Equation.3">
                    <p:embed/>
                    <p:pic>
                      <p:nvPicPr>
                        <p:cNvPr id="0" name="Object 20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8" name="Object 206"/>
            <p:cNvGraphicFramePr>
              <a:graphicFrameLocks noChangeAspect="1"/>
            </p:cNvGraphicFramePr>
            <p:nvPr/>
          </p:nvGraphicFramePr>
          <p:xfrm>
            <a:off x="3018" y="2335"/>
            <a:ext cx="17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9" name="Equation" r:id="rId22" imgW="126720" imgH="139680" progId="Equation.3">
                    <p:embed/>
                  </p:oleObj>
                </mc:Choice>
                <mc:Fallback>
                  <p:oleObj name="Equation" r:id="rId22" imgW="126720" imgH="139680" progId="Equation.3">
                    <p:embed/>
                    <p:pic>
                      <p:nvPicPr>
                        <p:cNvPr id="0" name="Object 20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335"/>
                          <a:ext cx="177" cy="2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Freeform 207"/>
            <p:cNvSpPr>
              <a:spLocks noChangeAspect="1"/>
            </p:cNvSpPr>
            <p:nvPr/>
          </p:nvSpPr>
          <p:spPr bwMode="auto">
            <a:xfrm>
              <a:off x="3220" y="2125"/>
              <a:ext cx="1710" cy="586"/>
            </a:xfrm>
            <a:custGeom>
              <a:avLst/>
              <a:gdLst>
                <a:gd name="T0" fmla="*/ 16 w 2061"/>
                <a:gd name="T1" fmla="*/ 247 h 673"/>
                <a:gd name="T2" fmla="*/ 47 w 2061"/>
                <a:gd name="T3" fmla="*/ 294 h 673"/>
                <a:gd name="T4" fmla="*/ 79 w 2061"/>
                <a:gd name="T5" fmla="*/ 340 h 673"/>
                <a:gd name="T6" fmla="*/ 110 w 2061"/>
                <a:gd name="T7" fmla="*/ 378 h 673"/>
                <a:gd name="T8" fmla="*/ 142 w 2061"/>
                <a:gd name="T9" fmla="*/ 409 h 673"/>
                <a:gd name="T10" fmla="*/ 173 w 2061"/>
                <a:gd name="T11" fmla="*/ 431 h 673"/>
                <a:gd name="T12" fmla="*/ 204 w 2061"/>
                <a:gd name="T13" fmla="*/ 442 h 673"/>
                <a:gd name="T14" fmla="*/ 236 w 2061"/>
                <a:gd name="T15" fmla="*/ 443 h 673"/>
                <a:gd name="T16" fmla="*/ 266 w 2061"/>
                <a:gd name="T17" fmla="*/ 433 h 673"/>
                <a:gd name="T18" fmla="*/ 298 w 2061"/>
                <a:gd name="T19" fmla="*/ 412 h 673"/>
                <a:gd name="T20" fmla="*/ 329 w 2061"/>
                <a:gd name="T21" fmla="*/ 382 h 673"/>
                <a:gd name="T22" fmla="*/ 362 w 2061"/>
                <a:gd name="T23" fmla="*/ 345 h 673"/>
                <a:gd name="T24" fmla="*/ 392 w 2061"/>
                <a:gd name="T25" fmla="*/ 301 h 673"/>
                <a:gd name="T26" fmla="*/ 424 w 2061"/>
                <a:gd name="T27" fmla="*/ 253 h 673"/>
                <a:gd name="T28" fmla="*/ 455 w 2061"/>
                <a:gd name="T29" fmla="*/ 204 h 673"/>
                <a:gd name="T30" fmla="*/ 487 w 2061"/>
                <a:gd name="T31" fmla="*/ 155 h 673"/>
                <a:gd name="T32" fmla="*/ 519 w 2061"/>
                <a:gd name="T33" fmla="*/ 110 h 673"/>
                <a:gd name="T34" fmla="*/ 548 w 2061"/>
                <a:gd name="T35" fmla="*/ 71 h 673"/>
                <a:gd name="T36" fmla="*/ 581 w 2061"/>
                <a:gd name="T37" fmla="*/ 38 h 673"/>
                <a:gd name="T38" fmla="*/ 612 w 2061"/>
                <a:gd name="T39" fmla="*/ 16 h 673"/>
                <a:gd name="T40" fmla="*/ 643 w 2061"/>
                <a:gd name="T41" fmla="*/ 3 h 673"/>
                <a:gd name="T42" fmla="*/ 675 w 2061"/>
                <a:gd name="T43" fmla="*/ 1 h 673"/>
                <a:gd name="T44" fmla="*/ 706 w 2061"/>
                <a:gd name="T45" fmla="*/ 9 h 673"/>
                <a:gd name="T46" fmla="*/ 738 w 2061"/>
                <a:gd name="T47" fmla="*/ 28 h 673"/>
                <a:gd name="T48" fmla="*/ 769 w 2061"/>
                <a:gd name="T49" fmla="*/ 57 h 673"/>
                <a:gd name="T50" fmla="*/ 800 w 2061"/>
                <a:gd name="T51" fmla="*/ 94 h 673"/>
                <a:gd name="T52" fmla="*/ 832 w 2061"/>
                <a:gd name="T53" fmla="*/ 137 h 673"/>
                <a:gd name="T54" fmla="*/ 863 w 2061"/>
                <a:gd name="T55" fmla="*/ 185 h 673"/>
                <a:gd name="T56" fmla="*/ 894 w 2061"/>
                <a:gd name="T57" fmla="*/ 233 h 673"/>
                <a:gd name="T58" fmla="*/ 927 w 2061"/>
                <a:gd name="T59" fmla="*/ 282 h 673"/>
                <a:gd name="T60" fmla="*/ 957 w 2061"/>
                <a:gd name="T61" fmla="*/ 327 h 673"/>
                <a:gd name="T62" fmla="*/ 988 w 2061"/>
                <a:gd name="T63" fmla="*/ 368 h 673"/>
                <a:gd name="T64" fmla="*/ 1020 w 2061"/>
                <a:gd name="T65" fmla="*/ 401 h 673"/>
                <a:gd name="T66" fmla="*/ 1051 w 2061"/>
                <a:gd name="T67" fmla="*/ 426 h 673"/>
                <a:gd name="T68" fmla="*/ 1083 w 2061"/>
                <a:gd name="T69" fmla="*/ 441 h 673"/>
                <a:gd name="T70" fmla="*/ 1113 w 2061"/>
                <a:gd name="T71" fmla="*/ 444 h 673"/>
                <a:gd name="T72" fmla="*/ 1146 w 2061"/>
                <a:gd name="T73" fmla="*/ 437 h 673"/>
                <a:gd name="T74" fmla="*/ 1177 w 2061"/>
                <a:gd name="T75" fmla="*/ 420 h 6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61"/>
                <a:gd name="T115" fmla="*/ 0 h 673"/>
                <a:gd name="T116" fmla="*/ 2061 w 2061"/>
                <a:gd name="T117" fmla="*/ 673 h 67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3" grpId="0" autoUpdateAnimBg="0"/>
      <p:bldP spid="193544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990600" y="2309813"/>
            <a:ext cx="5505450" cy="774700"/>
            <a:chOff x="624" y="1901"/>
            <a:chExt cx="3468" cy="488"/>
          </a:xfrm>
        </p:grpSpPr>
        <p:sp>
          <p:nvSpPr>
            <p:cNvPr id="8208" name="Rectangle 3"/>
            <p:cNvSpPr>
              <a:spLocks noChangeArrowheads="1"/>
            </p:cNvSpPr>
            <p:nvPr/>
          </p:nvSpPr>
          <p:spPr bwMode="auto">
            <a:xfrm>
              <a:off x="624" y="1901"/>
              <a:ext cx="1070" cy="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</a:pPr>
              <a:r>
                <a:rPr kumimoji="1" lang="zh-CN" altLang="en-US"/>
                <a:t>频率为</a:t>
              </a:r>
            </a:p>
          </p:txBody>
        </p:sp>
        <p:graphicFrame>
          <p:nvGraphicFramePr>
            <p:cNvPr id="8195" name="Object 4"/>
            <p:cNvGraphicFramePr>
              <a:graphicFrameLocks noChangeAspect="1"/>
            </p:cNvGraphicFramePr>
            <p:nvPr/>
          </p:nvGraphicFramePr>
          <p:xfrm>
            <a:off x="1680" y="2064"/>
            <a:ext cx="241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" name="Equation" r:id="rId3" imgW="1346040" imgH="203040" progId="Equation.3">
                    <p:embed/>
                  </p:oleObj>
                </mc:Choice>
                <mc:Fallback>
                  <p:oleObj name="Equation" r:id="rId3" imgW="1346040" imgH="203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064"/>
                          <a:ext cx="241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2DBE">
                                  <a:alpha val="50000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990600" y="427038"/>
            <a:ext cx="47831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>
                <a:solidFill>
                  <a:srgbClr val="CC0000"/>
                </a:solidFill>
              </a:rPr>
              <a:t>例如，</a:t>
            </a:r>
            <a:r>
              <a:rPr kumimoji="1" lang="zh-CN" altLang="en-US"/>
              <a:t>心脏的跳动</a:t>
            </a:r>
            <a:r>
              <a:rPr kumimoji="1" lang="zh-CN" altLang="en-US" b="0"/>
              <a:t>80</a:t>
            </a:r>
            <a:r>
              <a:rPr kumimoji="1" lang="zh-CN" altLang="en-US"/>
              <a:t>次/分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990600" y="1219200"/>
            <a:ext cx="6794500" cy="992188"/>
            <a:chOff x="624" y="864"/>
            <a:chExt cx="4280" cy="625"/>
          </a:xfrm>
        </p:grpSpPr>
        <p:graphicFrame>
          <p:nvGraphicFramePr>
            <p:cNvPr id="8194" name="Object 7"/>
            <p:cNvGraphicFramePr>
              <a:graphicFrameLocks noChangeAspect="1"/>
            </p:cNvGraphicFramePr>
            <p:nvPr/>
          </p:nvGraphicFramePr>
          <p:xfrm>
            <a:off x="1668" y="864"/>
            <a:ext cx="3236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7" name="Equation" r:id="rId5" imgW="2273040" imgH="469800" progId="Equation.3">
                    <p:embed/>
                  </p:oleObj>
                </mc:Choice>
                <mc:Fallback>
                  <p:oleObj name="Equation" r:id="rId5" imgW="2273040" imgH="469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" y="864"/>
                          <a:ext cx="3236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2DBE">
                                  <a:alpha val="50000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7" name="Rectangle 8"/>
            <p:cNvSpPr>
              <a:spLocks noChangeArrowheads="1"/>
            </p:cNvSpPr>
            <p:nvPr/>
          </p:nvSpPr>
          <p:spPr bwMode="auto">
            <a:xfrm>
              <a:off x="624" y="957"/>
              <a:ext cx="88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/>
                <a:t>周期为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570038" y="4165600"/>
            <a:ext cx="6172200" cy="2068513"/>
            <a:chOff x="1008" y="2633"/>
            <a:chExt cx="3600" cy="1303"/>
          </a:xfrm>
        </p:grpSpPr>
        <p:sp>
          <p:nvSpPr>
            <p:cNvPr id="8201" name="Text Box 22"/>
            <p:cNvSpPr txBox="1">
              <a:spLocks noChangeArrowheads="1"/>
            </p:cNvSpPr>
            <p:nvPr/>
          </p:nvSpPr>
          <p:spPr bwMode="auto">
            <a:xfrm>
              <a:off x="1008" y="2633"/>
              <a:ext cx="3600" cy="129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3366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/>
                <a:t>大象       </a:t>
              </a:r>
              <a:r>
                <a:rPr kumimoji="1" lang="zh-CN" altLang="en-US" b="0"/>
                <a:t>0.4~0.5</a:t>
              </a:r>
              <a:r>
                <a:rPr kumimoji="1" lang="zh-CN" altLang="en-US"/>
                <a:t>      马        </a:t>
              </a:r>
              <a:r>
                <a:rPr kumimoji="1" lang="zh-CN" altLang="en-US" b="0"/>
                <a:t>0.7~0.8</a:t>
              </a:r>
            </a:p>
            <a:p>
              <a:pPr algn="l"/>
              <a:r>
                <a:rPr kumimoji="1" lang="zh-CN" altLang="en-US"/>
                <a:t>猪           </a:t>
              </a:r>
              <a:r>
                <a:rPr kumimoji="1" lang="zh-CN" altLang="en-US" b="0"/>
                <a:t>1~1.3</a:t>
              </a:r>
              <a:r>
                <a:rPr kumimoji="1" lang="zh-CN" altLang="en-US"/>
                <a:t>         兔           </a:t>
              </a:r>
              <a:r>
                <a:rPr kumimoji="1" lang="zh-CN" altLang="en-US" b="0"/>
                <a:t>1.7</a:t>
              </a:r>
            </a:p>
            <a:p>
              <a:pPr algn="l"/>
              <a:r>
                <a:rPr kumimoji="1" lang="zh-CN" altLang="en-US"/>
                <a:t>松鼠        </a:t>
              </a:r>
              <a:r>
                <a:rPr kumimoji="1" lang="zh-CN" altLang="en-US" b="0"/>
                <a:t>6.3 </a:t>
              </a:r>
              <a:r>
                <a:rPr kumimoji="1" lang="zh-CN" altLang="en-US"/>
                <a:t>           鲸          </a:t>
              </a:r>
              <a:r>
                <a:rPr kumimoji="1" lang="zh-CN" altLang="en-US" b="0"/>
                <a:t>0.13</a:t>
              </a:r>
            </a:p>
          </p:txBody>
        </p:sp>
        <p:sp>
          <p:nvSpPr>
            <p:cNvPr id="8202" name="Line 23"/>
            <p:cNvSpPr>
              <a:spLocks noChangeShapeType="1"/>
            </p:cNvSpPr>
            <p:nvPr/>
          </p:nvSpPr>
          <p:spPr bwMode="auto">
            <a:xfrm flipV="1">
              <a:off x="1008" y="3024"/>
              <a:ext cx="3600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3" name="Line 24"/>
            <p:cNvSpPr>
              <a:spLocks noChangeShapeType="1"/>
            </p:cNvSpPr>
            <p:nvPr/>
          </p:nvSpPr>
          <p:spPr bwMode="auto">
            <a:xfrm flipV="1">
              <a:off x="1008" y="3504"/>
              <a:ext cx="3600" cy="0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4" name="Line 25"/>
            <p:cNvSpPr>
              <a:spLocks noChangeShapeType="1"/>
            </p:cNvSpPr>
            <p:nvPr/>
          </p:nvSpPr>
          <p:spPr bwMode="auto">
            <a:xfrm>
              <a:off x="1872" y="2640"/>
              <a:ext cx="0" cy="1296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5" name="Line 26"/>
            <p:cNvSpPr>
              <a:spLocks noChangeShapeType="1"/>
            </p:cNvSpPr>
            <p:nvPr/>
          </p:nvSpPr>
          <p:spPr bwMode="auto">
            <a:xfrm>
              <a:off x="2832" y="2633"/>
              <a:ext cx="0" cy="1296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6" name="Line 27"/>
            <p:cNvSpPr>
              <a:spLocks noChangeShapeType="1"/>
            </p:cNvSpPr>
            <p:nvPr/>
          </p:nvSpPr>
          <p:spPr bwMode="auto">
            <a:xfrm>
              <a:off x="3600" y="2633"/>
              <a:ext cx="0" cy="1296"/>
            </a:xfrm>
            <a:prstGeom prst="line">
              <a:avLst/>
            </a:prstGeom>
            <a:noFill/>
            <a:ln w="9525">
              <a:solidFill>
                <a:srgbClr val="3366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4590" name="Text Box 30"/>
          <p:cNvSpPr txBox="1">
            <a:spLocks noChangeArrowheads="1"/>
          </p:cNvSpPr>
          <p:nvPr/>
        </p:nvSpPr>
        <p:spPr bwMode="auto">
          <a:xfrm>
            <a:off x="1951038" y="3403600"/>
            <a:ext cx="5715000" cy="588963"/>
          </a:xfrm>
          <a:prstGeom prst="rect">
            <a:avLst/>
          </a:prstGeom>
          <a:gradFill rotWithShape="0">
            <a:gsLst>
              <a:gs pos="0">
                <a:srgbClr val="8FFF8F"/>
              </a:gs>
              <a:gs pos="50000">
                <a:srgbClr val="FFFFFF"/>
              </a:gs>
              <a:gs pos="100000">
                <a:srgbClr val="8FFF8F"/>
              </a:gs>
            </a:gsLst>
            <a:lin ang="5400000" scaled="1"/>
          </a:gradFill>
          <a:ln w="9525">
            <a:solidFill>
              <a:srgbClr val="002DBE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>
                <a:solidFill>
                  <a:srgbClr val="CC0000"/>
                </a:solidFill>
              </a:rPr>
              <a:t>动物的心跳频率</a:t>
            </a:r>
            <a:r>
              <a:rPr kumimoji="1" lang="zh-CN" altLang="en-US" sz="2400">
                <a:solidFill>
                  <a:srgbClr val="CC0000"/>
                </a:solidFill>
              </a:rPr>
              <a:t>(参考值,单位:</a:t>
            </a:r>
            <a:r>
              <a:rPr kumimoji="1" lang="en-US" altLang="zh-CN" sz="2400" b="0">
                <a:solidFill>
                  <a:srgbClr val="CC0000"/>
                </a:solidFill>
              </a:rPr>
              <a:t>Hz</a:t>
            </a:r>
            <a:r>
              <a:rPr kumimoji="1" lang="en-US" altLang="zh-CN" sz="2400">
                <a:solidFill>
                  <a:srgbClr val="CC0000"/>
                </a:solidFill>
              </a:rPr>
              <a:t>)</a:t>
            </a:r>
            <a:r>
              <a:rPr kumimoji="1" lang="en-US" altLang="zh-CN">
                <a:solidFill>
                  <a:srgbClr val="CC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ChangeArrowheads="1"/>
          </p:cNvSpPr>
          <p:nvPr/>
        </p:nvSpPr>
        <p:spPr bwMode="auto">
          <a:xfrm>
            <a:off x="1752600" y="2362200"/>
            <a:ext cx="5181600" cy="304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FFCC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1" name="Text Box 2"/>
          <p:cNvSpPr txBox="1">
            <a:spLocks noChangeArrowheads="1"/>
          </p:cNvSpPr>
          <p:nvPr/>
        </p:nvSpPr>
        <p:spPr bwMode="auto">
          <a:xfrm>
            <a:off x="1295400" y="1133475"/>
            <a:ext cx="6172200" cy="762000"/>
          </a:xfrm>
          <a:prstGeom prst="rect">
            <a:avLst/>
          </a:prstGeom>
          <a:gradFill rotWithShape="0">
            <a:gsLst>
              <a:gs pos="0">
                <a:srgbClr val="8FFF8F"/>
              </a:gs>
              <a:gs pos="50000">
                <a:srgbClr val="FFFFFF"/>
              </a:gs>
              <a:gs pos="100000">
                <a:srgbClr val="8FFF8F"/>
              </a:gs>
            </a:gsLst>
            <a:lin ang="5400000" scaled="1"/>
          </a:gradFill>
          <a:ln w="9525">
            <a:solidFill>
              <a:srgbClr val="002DBE"/>
            </a:solidFill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kumimoji="1" lang="zh-CN" altLang="en-US" sz="4000" b="0">
                <a:solidFill>
                  <a:srgbClr val="FF0066"/>
                </a:solidFill>
              </a:rPr>
              <a:t>    </a:t>
            </a:r>
            <a:r>
              <a:rPr kumimoji="1" lang="zh-CN" altLang="en-US">
                <a:solidFill>
                  <a:srgbClr val="CC0000"/>
                </a:solidFill>
              </a:rPr>
              <a:t>昆虫翅膀振动的频率（</a:t>
            </a:r>
            <a:r>
              <a:rPr kumimoji="1" lang="en-US" altLang="zh-CN" b="0">
                <a:solidFill>
                  <a:srgbClr val="CC0000"/>
                </a:solidFill>
              </a:rPr>
              <a:t>Hz</a:t>
            </a:r>
            <a:r>
              <a:rPr kumimoji="1" lang="en-US" altLang="zh-CN">
                <a:solidFill>
                  <a:srgbClr val="CC0000"/>
                </a:solidFill>
              </a:rPr>
              <a:t>）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1905000" y="2482850"/>
            <a:ext cx="6248400" cy="27749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>
                <a:solidFill>
                  <a:schemeClr val="bg2"/>
                </a:solidFill>
              </a:rPr>
              <a:t>   </a:t>
            </a:r>
            <a:r>
              <a:rPr kumimoji="1" lang="zh-CN" altLang="en-US"/>
              <a:t>雌性蚊子          </a:t>
            </a:r>
            <a:r>
              <a:rPr kumimoji="1" lang="zh-CN" altLang="en-US" b="0"/>
              <a:t>355~415</a:t>
            </a:r>
          </a:p>
          <a:p>
            <a:pPr algn="l"/>
            <a:r>
              <a:rPr kumimoji="1" lang="zh-CN" altLang="en-US"/>
              <a:t>   雄性蚊子          </a:t>
            </a:r>
            <a:r>
              <a:rPr kumimoji="1" lang="zh-CN" altLang="en-US" b="0"/>
              <a:t>455~600</a:t>
            </a:r>
          </a:p>
          <a:p>
            <a:pPr algn="l"/>
            <a:r>
              <a:rPr kumimoji="1" lang="zh-CN" altLang="en-US"/>
              <a:t>   苍        蝇           </a:t>
            </a:r>
            <a:r>
              <a:rPr kumimoji="1" lang="zh-CN" altLang="en-US" b="0"/>
              <a:t>330 </a:t>
            </a:r>
            <a:r>
              <a:rPr kumimoji="1" lang="zh-CN" altLang="en-US"/>
              <a:t>                </a:t>
            </a:r>
          </a:p>
          <a:p>
            <a:pPr algn="l"/>
            <a:r>
              <a:rPr kumimoji="1" lang="zh-CN" altLang="en-US"/>
              <a:t>   黄        蜂           </a:t>
            </a:r>
            <a:r>
              <a:rPr kumimoji="1" lang="zh-CN" altLang="en-US" b="0"/>
              <a:t>220</a:t>
            </a: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1752600" y="3048000"/>
            <a:ext cx="51816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1752600" y="3886200"/>
            <a:ext cx="51816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8615" name="Line 7"/>
          <p:cNvSpPr>
            <a:spLocks noChangeShapeType="1"/>
          </p:cNvSpPr>
          <p:nvPr/>
        </p:nvSpPr>
        <p:spPr bwMode="auto">
          <a:xfrm>
            <a:off x="1752600" y="4724400"/>
            <a:ext cx="51816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8616" name="Line 8"/>
          <p:cNvSpPr>
            <a:spLocks noChangeShapeType="1"/>
          </p:cNvSpPr>
          <p:nvPr/>
        </p:nvSpPr>
        <p:spPr bwMode="auto">
          <a:xfrm>
            <a:off x="4191000" y="2362200"/>
            <a:ext cx="0" cy="304800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73063" y="4437063"/>
            <a:ext cx="8504237" cy="1274762"/>
            <a:chOff x="476" y="2496"/>
            <a:chExt cx="5092" cy="803"/>
          </a:xfrm>
        </p:grpSpPr>
        <p:sp>
          <p:nvSpPr>
            <p:cNvPr id="9231" name="Rectangle 10"/>
            <p:cNvSpPr>
              <a:spLocks noChangeArrowheads="1"/>
            </p:cNvSpPr>
            <p:nvPr/>
          </p:nvSpPr>
          <p:spPr bwMode="auto">
            <a:xfrm>
              <a:off x="476" y="2496"/>
              <a:ext cx="5092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CC0000"/>
                  </a:solidFill>
                </a:rPr>
                <a:t>        相位的意义:</a:t>
              </a:r>
              <a:r>
                <a:rPr kumimoji="1" lang="zh-CN" altLang="en-US"/>
                <a:t> 表征任意时刻（</a:t>
              </a:r>
              <a:r>
                <a:rPr kumimoji="1" lang="en-US" altLang="zh-CN" b="0" i="1"/>
                <a:t>t</a:t>
              </a:r>
              <a:r>
                <a:rPr kumimoji="1" lang="en-US" altLang="zh-CN"/>
                <a:t>）</a:t>
              </a:r>
              <a:r>
                <a:rPr kumimoji="1" lang="zh-CN" altLang="en-US"/>
                <a:t>物体振动状态.    物体经一周期的振动，相位改变</a:t>
              </a:r>
            </a:p>
          </p:txBody>
        </p:sp>
        <p:graphicFrame>
          <p:nvGraphicFramePr>
            <p:cNvPr id="9223" name="Object 11"/>
            <p:cNvGraphicFramePr>
              <a:graphicFrameLocks noChangeAspect="1"/>
            </p:cNvGraphicFramePr>
            <p:nvPr/>
          </p:nvGraphicFramePr>
          <p:xfrm>
            <a:off x="4783" y="2933"/>
            <a:ext cx="31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4" name="Equation" r:id="rId3" imgW="203040" imgH="177480" progId="Equation.DSMT4">
                    <p:embed/>
                  </p:oleObj>
                </mc:Choice>
                <mc:Fallback>
                  <p:oleObj name="Equation" r:id="rId3" imgW="203040" imgH="1774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2933"/>
                          <a:ext cx="319" cy="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7653" name="Object 21"/>
          <p:cNvGraphicFramePr>
            <a:graphicFrameLocks noChangeAspect="1"/>
          </p:cNvGraphicFramePr>
          <p:nvPr/>
        </p:nvGraphicFramePr>
        <p:xfrm>
          <a:off x="3449638" y="838200"/>
          <a:ext cx="13763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name="Equation" r:id="rId5" imgW="520560" imgH="215640" progId="Equation.3">
                  <p:embed/>
                </p:oleObj>
              </mc:Choice>
              <mc:Fallback>
                <p:oleObj name="Equation" r:id="rId5" imgW="52056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8" y="838200"/>
                        <a:ext cx="1376362" cy="528638"/>
                      </a:xfrm>
                      <a:prstGeom prst="rect">
                        <a:avLst/>
                      </a:prstGeom>
                      <a:solidFill>
                        <a:srgbClr val="FFF3FF"/>
                      </a:solidFill>
                      <a:ln w="19050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23"/>
          <p:cNvSpPr txBox="1">
            <a:spLocks noChangeArrowheads="1"/>
          </p:cNvSpPr>
          <p:nvPr/>
        </p:nvSpPr>
        <p:spPr bwMode="auto">
          <a:xfrm>
            <a:off x="958850" y="742950"/>
            <a:ext cx="226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3600" dirty="0">
                <a:solidFill>
                  <a:srgbClr val="CC0000"/>
                </a:solidFill>
                <a:latin typeface="宋体" pitchFamily="2" charset="-122"/>
              </a:rPr>
              <a:t>四 相位</a:t>
            </a:r>
          </a:p>
        </p:txBody>
      </p:sp>
      <p:graphicFrame>
        <p:nvGraphicFramePr>
          <p:cNvPr id="197657" name="Object 25"/>
          <p:cNvGraphicFramePr>
            <a:graphicFrameLocks noChangeAspect="1"/>
          </p:cNvGraphicFramePr>
          <p:nvPr/>
        </p:nvGraphicFramePr>
        <p:xfrm>
          <a:off x="1530350" y="1697038"/>
          <a:ext cx="31527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Equation" r:id="rId7" imgW="1333440" imgH="241200" progId="Equation.3">
                  <p:embed/>
                </p:oleObj>
              </mc:Choice>
              <mc:Fallback>
                <p:oleObj name="Equation" r:id="rId7" imgW="1333440" imgH="2412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1697038"/>
                        <a:ext cx="315277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862013" y="2630488"/>
            <a:ext cx="4648200" cy="595312"/>
            <a:chOff x="528" y="1545"/>
            <a:chExt cx="2928" cy="375"/>
          </a:xfrm>
        </p:grpSpPr>
        <p:sp>
          <p:nvSpPr>
            <p:cNvPr id="9230" name="Rectangle 4"/>
            <p:cNvSpPr>
              <a:spLocks noChangeArrowheads="1"/>
            </p:cNvSpPr>
            <p:nvPr/>
          </p:nvSpPr>
          <p:spPr bwMode="auto">
            <a:xfrm>
              <a:off x="528" y="1545"/>
              <a:ext cx="13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/>
                <a:t>相    位</a:t>
              </a:r>
            </a:p>
          </p:txBody>
        </p:sp>
        <p:graphicFrame>
          <p:nvGraphicFramePr>
            <p:cNvPr id="9222" name="Object 26"/>
            <p:cNvGraphicFramePr>
              <a:graphicFrameLocks noChangeAspect="1"/>
            </p:cNvGraphicFramePr>
            <p:nvPr/>
          </p:nvGraphicFramePr>
          <p:xfrm>
            <a:off x="1968" y="1579"/>
            <a:ext cx="148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7" name="Equation" r:id="rId9" imgW="1054080" imgH="241200" progId="Equation.3">
                    <p:embed/>
                  </p:oleObj>
                </mc:Choice>
                <mc:Fallback>
                  <p:oleObj name="Equation" r:id="rId9" imgW="1054080" imgH="2412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579"/>
                          <a:ext cx="1488" cy="3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838200" y="3471863"/>
            <a:ext cx="5562600" cy="652462"/>
            <a:chOff x="528" y="2016"/>
            <a:chExt cx="3504" cy="411"/>
          </a:xfrm>
        </p:grpSpPr>
        <p:graphicFrame>
          <p:nvGraphicFramePr>
            <p:cNvPr id="9220" name="Object 27"/>
            <p:cNvGraphicFramePr>
              <a:graphicFrameLocks noChangeAspect="1"/>
            </p:cNvGraphicFramePr>
            <p:nvPr/>
          </p:nvGraphicFramePr>
          <p:xfrm>
            <a:off x="2016" y="2064"/>
            <a:ext cx="201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8" name="Equation" r:id="rId11" imgW="1409400" imgH="253800" progId="Equation.3">
                    <p:embed/>
                  </p:oleObj>
                </mc:Choice>
                <mc:Fallback>
                  <p:oleObj name="Equation" r:id="rId11" imgW="1409400" imgH="2538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064"/>
                          <a:ext cx="2016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28" name="Group 29"/>
            <p:cNvGrpSpPr>
              <a:grpSpLocks/>
            </p:cNvGrpSpPr>
            <p:nvPr/>
          </p:nvGrpSpPr>
          <p:grpSpPr bwMode="auto">
            <a:xfrm>
              <a:off x="528" y="2016"/>
              <a:ext cx="1114" cy="384"/>
              <a:chOff x="528" y="2016"/>
              <a:chExt cx="1114" cy="384"/>
            </a:xfrm>
          </p:grpSpPr>
          <p:sp>
            <p:nvSpPr>
              <p:cNvPr id="9229" name="Rectangle 7"/>
              <p:cNvSpPr>
                <a:spLocks noChangeArrowheads="1"/>
              </p:cNvSpPr>
              <p:nvPr/>
            </p:nvSpPr>
            <p:spPr bwMode="auto">
              <a:xfrm>
                <a:off x="528" y="2016"/>
                <a:ext cx="1008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zh-CN" altLang="en-US"/>
                  <a:t>初相位</a:t>
                </a:r>
              </a:p>
            </p:txBody>
          </p:sp>
          <p:graphicFrame>
            <p:nvGraphicFramePr>
              <p:cNvPr id="9221" name="Object 28"/>
              <p:cNvGraphicFramePr>
                <a:graphicFrameLocks noChangeAspect="1"/>
              </p:cNvGraphicFramePr>
              <p:nvPr/>
            </p:nvGraphicFramePr>
            <p:xfrm>
              <a:off x="1392" y="2112"/>
              <a:ext cx="25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89" name="Equation" r:id="rId13" imgW="164880" imgH="190440" progId="Equation.3">
                      <p:embed/>
                    </p:oleObj>
                  </mc:Choice>
                  <mc:Fallback>
                    <p:oleObj name="Equation" r:id="rId13" imgW="164880" imgH="19044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2112"/>
                            <a:ext cx="25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658" name="Object 2"/>
          <p:cNvGraphicFramePr>
            <a:graphicFrameLocks noChangeAspect="1"/>
          </p:cNvGraphicFramePr>
          <p:nvPr/>
        </p:nvGraphicFramePr>
        <p:xfrm>
          <a:off x="1828800" y="3536950"/>
          <a:ext cx="2439988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9" name="Equation" r:id="rId3" imgW="1091880" imgH="533160" progId="Equation.3">
                  <p:embed/>
                </p:oleObj>
              </mc:Choice>
              <mc:Fallback>
                <p:oleObj name="Equation" r:id="rId3" imgW="1091880" imgH="533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36950"/>
                        <a:ext cx="2439988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9" name="Object 3"/>
          <p:cNvGraphicFramePr>
            <a:graphicFrameLocks noChangeAspect="1"/>
          </p:cNvGraphicFramePr>
          <p:nvPr/>
        </p:nvGraphicFramePr>
        <p:xfrm>
          <a:off x="1919288" y="4949825"/>
          <a:ext cx="21812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0" name="Equation" r:id="rId5" imgW="939600" imgH="520560" progId="Equation.3">
                  <p:embed/>
                </p:oleObj>
              </mc:Choice>
              <mc:Fallback>
                <p:oleObj name="Equation" r:id="rId5" imgW="939600" imgH="520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949825"/>
                        <a:ext cx="21812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5"/>
          <p:cNvSpPr txBox="1">
            <a:spLocks noChangeArrowheads="1"/>
          </p:cNvSpPr>
          <p:nvPr/>
        </p:nvSpPr>
        <p:spPr bwMode="auto">
          <a:xfrm>
            <a:off x="819150" y="338138"/>
            <a:ext cx="548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3600" dirty="0">
                <a:solidFill>
                  <a:srgbClr val="CC0000"/>
                </a:solidFill>
                <a:latin typeface="宋体" pitchFamily="2" charset="-122"/>
              </a:rPr>
              <a:t>五 常数  和  的确定</a:t>
            </a:r>
          </a:p>
        </p:txBody>
      </p:sp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2449513" y="449263"/>
          <a:ext cx="49053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" name="Equation" r:id="rId7" imgW="177480" imgH="190440" progId="Equation.3">
                  <p:embed/>
                </p:oleObj>
              </mc:Choice>
              <mc:Fallback>
                <p:oleObj name="Equation" r:id="rId7" imgW="177480" imgH="190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449263"/>
                        <a:ext cx="490537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7"/>
          <p:cNvGraphicFramePr>
            <a:graphicFrameLocks noChangeAspect="1"/>
          </p:cNvGraphicFramePr>
          <p:nvPr/>
        </p:nvGraphicFramePr>
        <p:xfrm>
          <a:off x="3479800" y="482600"/>
          <a:ext cx="4302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Equation" r:id="rId9" imgW="164880" imgH="190440" progId="Equation.3">
                  <p:embed/>
                </p:oleObj>
              </mc:Choice>
              <mc:Fallback>
                <p:oleObj name="Equation" r:id="rId9" imgW="16488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482600"/>
                        <a:ext cx="430213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143000" y="2601913"/>
            <a:ext cx="5791200" cy="609600"/>
            <a:chOff x="720" y="1639"/>
            <a:chExt cx="3648" cy="384"/>
          </a:xfrm>
        </p:grpSpPr>
        <p:sp>
          <p:nvSpPr>
            <p:cNvPr id="198665" name="Rectangle 9"/>
            <p:cNvSpPr>
              <a:spLocks noChangeArrowheads="1"/>
            </p:cNvSpPr>
            <p:nvPr/>
          </p:nvSpPr>
          <p:spPr bwMode="auto">
            <a:xfrm>
              <a:off x="720" y="1639"/>
              <a:ext cx="3648" cy="384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9050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0248" name="Object 10"/>
            <p:cNvGraphicFramePr>
              <a:graphicFrameLocks noChangeAspect="1"/>
            </p:cNvGraphicFramePr>
            <p:nvPr/>
          </p:nvGraphicFramePr>
          <p:xfrm>
            <a:off x="2064" y="1656"/>
            <a:ext cx="224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3" name="Equation" r:id="rId11" imgW="1523880" imgH="253800" progId="Equation.3">
                    <p:embed/>
                  </p:oleObj>
                </mc:Choice>
                <mc:Fallback>
                  <p:oleObj name="Equation" r:id="rId11" imgW="1523880" imgH="253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656"/>
                          <a:ext cx="224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D6009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Text Box 11"/>
            <p:cNvSpPr txBox="1">
              <a:spLocks noChangeArrowheads="1"/>
            </p:cNvSpPr>
            <p:nvPr/>
          </p:nvSpPr>
          <p:spPr bwMode="auto">
            <a:xfrm>
              <a:off x="768" y="1648"/>
              <a:ext cx="170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/>
                <a:t>初始条件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57200" y="4094163"/>
            <a:ext cx="1295400" cy="1219200"/>
            <a:chOff x="2880" y="2208"/>
            <a:chExt cx="816" cy="768"/>
          </a:xfrm>
        </p:grpSpPr>
        <p:sp>
          <p:nvSpPr>
            <p:cNvPr id="10254" name="AutoShape 13"/>
            <p:cNvSpPr>
              <a:spLocks noChangeArrowheads="1"/>
            </p:cNvSpPr>
            <p:nvPr/>
          </p:nvSpPr>
          <p:spPr bwMode="auto">
            <a:xfrm>
              <a:off x="2880" y="2496"/>
              <a:ext cx="480" cy="192"/>
            </a:xfrm>
            <a:prstGeom prst="notchedRightArrow">
              <a:avLst>
                <a:gd name="adj1" fmla="val 50000"/>
                <a:gd name="adj2" fmla="val 62500"/>
              </a:avLst>
            </a:prstGeom>
            <a:gradFill rotWithShape="0">
              <a:gsLst>
                <a:gs pos="0">
                  <a:srgbClr val="FFCCCC"/>
                </a:gs>
                <a:gs pos="100000">
                  <a:srgbClr val="FF0000"/>
                </a:gs>
              </a:gsLst>
              <a:lin ang="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AutoShape 14"/>
            <p:cNvSpPr>
              <a:spLocks/>
            </p:cNvSpPr>
            <p:nvPr/>
          </p:nvSpPr>
          <p:spPr bwMode="auto">
            <a:xfrm>
              <a:off x="3552" y="2208"/>
              <a:ext cx="144" cy="768"/>
            </a:xfrm>
            <a:prstGeom prst="leftBrace">
              <a:avLst>
                <a:gd name="adj1" fmla="val 44444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246" name="Object 16"/>
          <p:cNvGraphicFramePr>
            <a:graphicFrameLocks noChangeAspect="1"/>
          </p:cNvGraphicFramePr>
          <p:nvPr/>
        </p:nvGraphicFramePr>
        <p:xfrm>
          <a:off x="1511300" y="1847850"/>
          <a:ext cx="3822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13" imgW="1574640" imgH="241200" progId="Equation.3">
                  <p:embed/>
                </p:oleObj>
              </mc:Choice>
              <mc:Fallback>
                <p:oleObj name="Equation" r:id="rId13" imgW="157464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1847850"/>
                        <a:ext cx="3822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D6009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AutoShape 17"/>
          <p:cNvSpPr>
            <a:spLocks/>
          </p:cNvSpPr>
          <p:nvPr/>
        </p:nvSpPr>
        <p:spPr bwMode="auto">
          <a:xfrm>
            <a:off x="1219200" y="1265238"/>
            <a:ext cx="228600" cy="969962"/>
          </a:xfrm>
          <a:prstGeom prst="leftBrace">
            <a:avLst>
              <a:gd name="adj1" fmla="val 35359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7" name="Object 18"/>
          <p:cNvGraphicFramePr>
            <a:graphicFrameLocks noChangeAspect="1"/>
          </p:cNvGraphicFramePr>
          <p:nvPr/>
        </p:nvGraphicFramePr>
        <p:xfrm>
          <a:off x="1524000" y="1173163"/>
          <a:ext cx="3276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Equation" r:id="rId15" imgW="1333440" imgH="241200" progId="Equation.3">
                  <p:embed/>
                </p:oleObj>
              </mc:Choice>
              <mc:Fallback>
                <p:oleObj name="Equation" r:id="rId15" imgW="133344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173163"/>
                        <a:ext cx="32766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D6009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85" name="Text Box 29"/>
          <p:cNvSpPr txBox="1">
            <a:spLocks noChangeArrowheads="1"/>
          </p:cNvSpPr>
          <p:nvPr/>
        </p:nvSpPr>
        <p:spPr bwMode="auto">
          <a:xfrm>
            <a:off x="5029200" y="3276600"/>
            <a:ext cx="3767138" cy="30321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800" dirty="0"/>
              <a:t>         </a:t>
            </a:r>
            <a:r>
              <a:rPr lang="zh-CN" altLang="en-US" dirty="0"/>
              <a:t>对给定振动系统，周期由系统本身性质决定，振幅和初相由初始条件决定</a:t>
            </a:r>
            <a:r>
              <a:rPr lang="zh-CN" altLang="en-US" dirty="0">
                <a:latin typeface="宋体" pitchFamily="2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8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706" name="Object 2"/>
          <p:cNvGraphicFramePr>
            <a:graphicFrameLocks noChangeAspect="1"/>
          </p:cNvGraphicFramePr>
          <p:nvPr/>
        </p:nvGraphicFramePr>
        <p:xfrm>
          <a:off x="800100" y="2173288"/>
          <a:ext cx="18811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" name="Equation" r:id="rId3" imgW="863280" imgH="241200" progId="Equation.3">
                  <p:embed/>
                </p:oleObj>
              </mc:Choice>
              <mc:Fallback>
                <p:oleObj name="Equation" r:id="rId3" imgW="8632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173288"/>
                        <a:ext cx="188118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7" name="Object 3"/>
          <p:cNvGraphicFramePr>
            <a:graphicFrameLocks noChangeAspect="1"/>
          </p:cNvGraphicFramePr>
          <p:nvPr/>
        </p:nvGraphicFramePr>
        <p:xfrm>
          <a:off x="2984500" y="1881188"/>
          <a:ext cx="14478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" name="Equation" r:id="rId5" imgW="660240" imgH="469800" progId="Equation.3">
                  <p:embed/>
                </p:oleObj>
              </mc:Choice>
              <mc:Fallback>
                <p:oleObj name="Equation" r:id="rId5" imgW="66024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1881188"/>
                        <a:ext cx="1447800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9"/>
          <p:cNvGraphicFramePr>
            <a:graphicFrameLocks noChangeAspect="1"/>
          </p:cNvGraphicFramePr>
          <p:nvPr/>
        </p:nvGraphicFramePr>
        <p:xfrm>
          <a:off x="3398838" y="1069975"/>
          <a:ext cx="31035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" name="Equation" r:id="rId7" imgW="1346040" imgH="253800" progId="Equation.3">
                  <p:embed/>
                </p:oleObj>
              </mc:Choice>
              <mc:Fallback>
                <p:oleObj name="Equation" r:id="rId7" imgW="1346040" imgH="253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1069975"/>
                        <a:ext cx="3103562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Rectangle 10"/>
          <p:cNvSpPr>
            <a:spLocks noChangeArrowheads="1"/>
          </p:cNvSpPr>
          <p:nvPr/>
        </p:nvSpPr>
        <p:spPr bwMode="auto">
          <a:xfrm>
            <a:off x="2438400" y="979488"/>
            <a:ext cx="1447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010000"/>
                </a:solidFill>
              </a:rPr>
              <a:t>已知</a:t>
            </a:r>
          </a:p>
        </p:txBody>
      </p:sp>
      <p:sp>
        <p:nvSpPr>
          <p:cNvPr id="11286" name="Rectangle 11"/>
          <p:cNvSpPr>
            <a:spLocks noChangeArrowheads="1"/>
          </p:cNvSpPr>
          <p:nvPr/>
        </p:nvSpPr>
        <p:spPr bwMode="auto">
          <a:xfrm>
            <a:off x="6324600" y="1004888"/>
            <a:ext cx="8397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>
                <a:solidFill>
                  <a:srgbClr val="010000"/>
                </a:solidFill>
              </a:rPr>
              <a:t>  </a:t>
            </a:r>
            <a:r>
              <a:rPr lang="zh-CN" altLang="en-US">
                <a:solidFill>
                  <a:srgbClr val="010000"/>
                </a:solidFill>
              </a:rPr>
              <a:t>求</a:t>
            </a:r>
          </a:p>
        </p:txBody>
      </p:sp>
      <p:graphicFrame>
        <p:nvGraphicFramePr>
          <p:cNvPr id="11269" name="Object 12"/>
          <p:cNvGraphicFramePr>
            <a:graphicFrameLocks noChangeAspect="1"/>
          </p:cNvGraphicFramePr>
          <p:nvPr/>
        </p:nvGraphicFramePr>
        <p:xfrm>
          <a:off x="7224713" y="1128713"/>
          <a:ext cx="3952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" name="Equation" r:id="rId9" imgW="164880" imgH="190440" progId="Equation.3">
                  <p:embed/>
                </p:oleObj>
              </mc:Choice>
              <mc:Fallback>
                <p:oleObj name="Equation" r:id="rId9" imgW="16488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3" y="1128713"/>
                        <a:ext cx="395287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87" name="Group 13"/>
          <p:cNvGrpSpPr>
            <a:grpSpLocks/>
          </p:cNvGrpSpPr>
          <p:nvPr/>
        </p:nvGrpSpPr>
        <p:grpSpPr bwMode="auto">
          <a:xfrm>
            <a:off x="838200" y="914400"/>
            <a:ext cx="1600200" cy="838200"/>
            <a:chOff x="240" y="480"/>
            <a:chExt cx="1008" cy="528"/>
          </a:xfrm>
        </p:grpSpPr>
        <p:sp>
          <p:nvSpPr>
            <p:cNvPr id="200718" name="AutoShape 14"/>
            <p:cNvSpPr>
              <a:spLocks noChangeArrowheads="1"/>
            </p:cNvSpPr>
            <p:nvPr/>
          </p:nvSpPr>
          <p:spPr bwMode="auto">
            <a:xfrm>
              <a:off x="240" y="480"/>
              <a:ext cx="816" cy="528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43" name="Text Box 15"/>
            <p:cNvSpPr txBox="1">
              <a:spLocks noChangeArrowheads="1"/>
            </p:cNvSpPr>
            <p:nvPr/>
          </p:nvSpPr>
          <p:spPr bwMode="auto">
            <a:xfrm>
              <a:off x="336" y="528"/>
              <a:ext cx="91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>
                  <a:solidFill>
                    <a:srgbClr val="CC0000"/>
                  </a:solidFill>
                </a:rPr>
                <a:t>讨论</a:t>
              </a:r>
            </a:p>
          </p:txBody>
        </p:sp>
      </p:grpSp>
      <p:sp>
        <p:nvSpPr>
          <p:cNvPr id="11288" name="Rectangle 17"/>
          <p:cNvSpPr>
            <a:spLocks noChangeArrowheads="1"/>
          </p:cNvSpPr>
          <p:nvPr/>
        </p:nvSpPr>
        <p:spPr bwMode="auto">
          <a:xfrm>
            <a:off x="4797425" y="2289175"/>
            <a:ext cx="388620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9" name="Line 19"/>
          <p:cNvSpPr>
            <a:spLocks noChangeShapeType="1"/>
          </p:cNvSpPr>
          <p:nvPr/>
        </p:nvSpPr>
        <p:spPr bwMode="auto">
          <a:xfrm>
            <a:off x="5313363" y="3043238"/>
            <a:ext cx="76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90" name="Group 20"/>
          <p:cNvGrpSpPr>
            <a:grpSpLocks/>
          </p:cNvGrpSpPr>
          <p:nvPr/>
        </p:nvGrpSpPr>
        <p:grpSpPr bwMode="auto">
          <a:xfrm>
            <a:off x="5389563" y="2879725"/>
            <a:ext cx="1579562" cy="215900"/>
            <a:chOff x="1180" y="3312"/>
            <a:chExt cx="2920" cy="384"/>
          </a:xfrm>
        </p:grpSpPr>
        <p:grpSp>
          <p:nvGrpSpPr>
            <p:cNvPr id="11314" name="Group 21"/>
            <p:cNvGrpSpPr>
              <a:grpSpLocks/>
            </p:cNvGrpSpPr>
            <p:nvPr/>
          </p:nvGrpSpPr>
          <p:grpSpPr bwMode="auto">
            <a:xfrm>
              <a:off x="1438" y="3312"/>
              <a:ext cx="299" cy="384"/>
              <a:chOff x="1632" y="2064"/>
              <a:chExt cx="336" cy="384"/>
            </a:xfrm>
          </p:grpSpPr>
          <p:sp>
            <p:nvSpPr>
              <p:cNvPr id="11340" name="Line 22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1" name="Line 23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15" name="Group 24"/>
            <p:cNvGrpSpPr>
              <a:grpSpLocks/>
            </p:cNvGrpSpPr>
            <p:nvPr/>
          </p:nvGrpSpPr>
          <p:grpSpPr bwMode="auto">
            <a:xfrm>
              <a:off x="1737" y="3312"/>
              <a:ext cx="301" cy="384"/>
              <a:chOff x="1632" y="2064"/>
              <a:chExt cx="336" cy="384"/>
            </a:xfrm>
          </p:grpSpPr>
          <p:sp>
            <p:nvSpPr>
              <p:cNvPr id="11338" name="Line 25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9" name="Line 26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16" name="Group 27"/>
            <p:cNvGrpSpPr>
              <a:grpSpLocks/>
            </p:cNvGrpSpPr>
            <p:nvPr/>
          </p:nvGrpSpPr>
          <p:grpSpPr bwMode="auto">
            <a:xfrm>
              <a:off x="2038" y="3312"/>
              <a:ext cx="301" cy="384"/>
              <a:chOff x="1632" y="2064"/>
              <a:chExt cx="336" cy="384"/>
            </a:xfrm>
          </p:grpSpPr>
          <p:sp>
            <p:nvSpPr>
              <p:cNvPr id="11336" name="Line 28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7" name="Line 29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17" name="Group 30"/>
            <p:cNvGrpSpPr>
              <a:grpSpLocks/>
            </p:cNvGrpSpPr>
            <p:nvPr/>
          </p:nvGrpSpPr>
          <p:grpSpPr bwMode="auto">
            <a:xfrm>
              <a:off x="2339" y="3312"/>
              <a:ext cx="301" cy="384"/>
              <a:chOff x="1632" y="2064"/>
              <a:chExt cx="336" cy="384"/>
            </a:xfrm>
          </p:grpSpPr>
          <p:sp>
            <p:nvSpPr>
              <p:cNvPr id="11334" name="Line 31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5" name="Line 32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18" name="Group 33"/>
            <p:cNvGrpSpPr>
              <a:grpSpLocks/>
            </p:cNvGrpSpPr>
            <p:nvPr/>
          </p:nvGrpSpPr>
          <p:grpSpPr bwMode="auto">
            <a:xfrm>
              <a:off x="2640" y="3312"/>
              <a:ext cx="301" cy="384"/>
              <a:chOff x="1632" y="2064"/>
              <a:chExt cx="336" cy="384"/>
            </a:xfrm>
          </p:grpSpPr>
          <p:sp>
            <p:nvSpPr>
              <p:cNvPr id="11332" name="Line 34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3" name="Line 35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19" name="Group 36"/>
            <p:cNvGrpSpPr>
              <a:grpSpLocks/>
            </p:cNvGrpSpPr>
            <p:nvPr/>
          </p:nvGrpSpPr>
          <p:grpSpPr bwMode="auto">
            <a:xfrm>
              <a:off x="2941" y="3312"/>
              <a:ext cx="301" cy="384"/>
              <a:chOff x="1632" y="2064"/>
              <a:chExt cx="336" cy="384"/>
            </a:xfrm>
          </p:grpSpPr>
          <p:sp>
            <p:nvSpPr>
              <p:cNvPr id="11330" name="Line 37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1" name="Line 38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20" name="Group 39"/>
            <p:cNvGrpSpPr>
              <a:grpSpLocks/>
            </p:cNvGrpSpPr>
            <p:nvPr/>
          </p:nvGrpSpPr>
          <p:grpSpPr bwMode="auto">
            <a:xfrm>
              <a:off x="3242" y="3312"/>
              <a:ext cx="301" cy="384"/>
              <a:chOff x="1632" y="2064"/>
              <a:chExt cx="336" cy="384"/>
            </a:xfrm>
          </p:grpSpPr>
          <p:sp>
            <p:nvSpPr>
              <p:cNvPr id="11328" name="Line 40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9" name="Line 41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21" name="Group 42"/>
            <p:cNvGrpSpPr>
              <a:grpSpLocks/>
            </p:cNvGrpSpPr>
            <p:nvPr/>
          </p:nvGrpSpPr>
          <p:grpSpPr bwMode="auto">
            <a:xfrm>
              <a:off x="3543" y="3312"/>
              <a:ext cx="299" cy="384"/>
              <a:chOff x="1632" y="2064"/>
              <a:chExt cx="336" cy="384"/>
            </a:xfrm>
          </p:grpSpPr>
          <p:sp>
            <p:nvSpPr>
              <p:cNvPr id="11326" name="Line 43"/>
              <p:cNvSpPr>
                <a:spLocks noChangeShapeType="1"/>
              </p:cNvSpPr>
              <p:nvPr/>
            </p:nvSpPr>
            <p:spPr bwMode="auto">
              <a:xfrm flipH="1">
                <a:off x="1632" y="2064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7" name="Line 44"/>
              <p:cNvSpPr>
                <a:spLocks noChangeShapeType="1"/>
              </p:cNvSpPr>
              <p:nvPr/>
            </p:nvSpPr>
            <p:spPr bwMode="auto">
              <a:xfrm>
                <a:off x="1776" y="2064"/>
                <a:ext cx="192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322" name="Line 45"/>
            <p:cNvSpPr>
              <a:spLocks noChangeShapeType="1"/>
            </p:cNvSpPr>
            <p:nvPr/>
          </p:nvSpPr>
          <p:spPr bwMode="auto">
            <a:xfrm flipH="1">
              <a:off x="1180" y="3312"/>
              <a:ext cx="85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3" name="Line 46"/>
            <p:cNvSpPr>
              <a:spLocks noChangeShapeType="1"/>
            </p:cNvSpPr>
            <p:nvPr/>
          </p:nvSpPr>
          <p:spPr bwMode="auto">
            <a:xfrm>
              <a:off x="1265" y="3312"/>
              <a:ext cx="173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4" name="Line 47"/>
            <p:cNvSpPr>
              <a:spLocks noChangeShapeType="1"/>
            </p:cNvSpPr>
            <p:nvPr/>
          </p:nvSpPr>
          <p:spPr bwMode="auto">
            <a:xfrm flipH="1">
              <a:off x="3842" y="3312"/>
              <a:ext cx="13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5" name="Line 48"/>
            <p:cNvSpPr>
              <a:spLocks noChangeShapeType="1"/>
            </p:cNvSpPr>
            <p:nvPr/>
          </p:nvSpPr>
          <p:spPr bwMode="auto">
            <a:xfrm>
              <a:off x="3972" y="3312"/>
              <a:ext cx="12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91" name="Line 49"/>
          <p:cNvSpPr>
            <a:spLocks noChangeShapeType="1"/>
          </p:cNvSpPr>
          <p:nvPr/>
        </p:nvSpPr>
        <p:spPr bwMode="auto">
          <a:xfrm>
            <a:off x="5313363" y="3257550"/>
            <a:ext cx="2276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2" name="Rectangle 50" descr="浅色下对角线"/>
          <p:cNvSpPr>
            <a:spLocks noChangeArrowheads="1"/>
          </p:cNvSpPr>
          <p:nvPr/>
        </p:nvSpPr>
        <p:spPr bwMode="auto">
          <a:xfrm>
            <a:off x="5313363" y="3222625"/>
            <a:ext cx="2938462" cy="136525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3" name="Rectangle 51" descr="浅色上对角线"/>
          <p:cNvSpPr>
            <a:spLocks noChangeArrowheads="1"/>
          </p:cNvSpPr>
          <p:nvPr/>
        </p:nvSpPr>
        <p:spPr bwMode="auto">
          <a:xfrm>
            <a:off x="5160963" y="2606675"/>
            <a:ext cx="152400" cy="75723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4" name="Line 52"/>
          <p:cNvSpPr>
            <a:spLocks noChangeShapeType="1"/>
          </p:cNvSpPr>
          <p:nvPr/>
        </p:nvSpPr>
        <p:spPr bwMode="auto">
          <a:xfrm>
            <a:off x="5308600" y="3222625"/>
            <a:ext cx="29432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5" name="Line 53"/>
          <p:cNvSpPr>
            <a:spLocks noChangeShapeType="1"/>
          </p:cNvSpPr>
          <p:nvPr/>
        </p:nvSpPr>
        <p:spPr bwMode="auto">
          <a:xfrm flipH="1">
            <a:off x="6853238" y="2538413"/>
            <a:ext cx="663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70" name="Object 54"/>
          <p:cNvGraphicFramePr>
            <a:graphicFrameLocks noChangeAspect="1"/>
          </p:cNvGraphicFramePr>
          <p:nvPr/>
        </p:nvGraphicFramePr>
        <p:xfrm>
          <a:off x="7997825" y="2874963"/>
          <a:ext cx="2682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" name="Equation" r:id="rId11" imgW="139680" imgH="139680" progId="Equation.DSMT4">
                  <p:embed/>
                </p:oleObj>
              </mc:Choice>
              <mc:Fallback>
                <p:oleObj name="Equation" r:id="rId11" imgW="139680" imgH="139680" progId="Equation.DSMT4">
                  <p:embed/>
                  <p:pic>
                    <p:nvPicPr>
                      <p:cNvPr id="0" name="Object 5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5" y="2874963"/>
                        <a:ext cx="268288" cy="250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55"/>
          <p:cNvGraphicFramePr>
            <a:graphicFrameLocks noChangeAspect="1"/>
          </p:cNvGraphicFramePr>
          <p:nvPr/>
        </p:nvGraphicFramePr>
        <p:xfrm>
          <a:off x="6470650" y="2344738"/>
          <a:ext cx="3079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" name="Equation" r:id="rId13" imgW="126720" imgH="177480" progId="Equation.DSMT4">
                  <p:embed/>
                </p:oleObj>
              </mc:Choice>
              <mc:Fallback>
                <p:oleObj name="Equation" r:id="rId13" imgW="126720" imgH="177480" progId="Equation.DSMT4">
                  <p:embed/>
                  <p:pic>
                    <p:nvPicPr>
                      <p:cNvPr id="0" name="Object 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650" y="2344738"/>
                        <a:ext cx="307975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56"/>
          <p:cNvGraphicFramePr>
            <a:graphicFrameLocks noChangeAspect="1"/>
          </p:cNvGraphicFramePr>
          <p:nvPr/>
        </p:nvGraphicFramePr>
        <p:xfrm>
          <a:off x="7083425" y="3432175"/>
          <a:ext cx="30638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" name="Equation" r:id="rId15" imgW="126720" imgH="139680" progId="Equation.3">
                  <p:embed/>
                </p:oleObj>
              </mc:Choice>
              <mc:Fallback>
                <p:oleObj name="Equation" r:id="rId15" imgW="126720" imgH="139680" progId="Equation.3">
                  <p:embed/>
                  <p:pic>
                    <p:nvPicPr>
                      <p:cNvPr id="0" name="Object 5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5" y="3432175"/>
                        <a:ext cx="306388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6" name="Oval 57"/>
          <p:cNvSpPr>
            <a:spLocks noChangeArrowheads="1"/>
          </p:cNvSpPr>
          <p:nvPr/>
        </p:nvSpPr>
        <p:spPr bwMode="auto">
          <a:xfrm>
            <a:off x="7000875" y="2743200"/>
            <a:ext cx="515938" cy="47942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7" name="Line 58"/>
          <p:cNvSpPr>
            <a:spLocks noChangeShapeType="1"/>
          </p:cNvSpPr>
          <p:nvPr/>
        </p:nvSpPr>
        <p:spPr bwMode="auto">
          <a:xfrm>
            <a:off x="7259638" y="2743200"/>
            <a:ext cx="0" cy="752475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0763" name="Object 59"/>
          <p:cNvGraphicFramePr>
            <a:graphicFrameLocks noChangeAspect="1"/>
          </p:cNvGraphicFramePr>
          <p:nvPr/>
        </p:nvGraphicFramePr>
        <p:xfrm>
          <a:off x="901700" y="4748213"/>
          <a:ext cx="30480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2" name="Equation" r:id="rId17" imgW="1396800" imgH="469800" progId="Equation.3">
                  <p:embed/>
                </p:oleObj>
              </mc:Choice>
              <mc:Fallback>
                <p:oleObj name="Equation" r:id="rId17" imgW="1396800" imgH="4698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4748213"/>
                        <a:ext cx="304800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91" name="Rectangle 87"/>
          <p:cNvSpPr>
            <a:spLocks noChangeArrowheads="1"/>
          </p:cNvSpPr>
          <p:nvPr/>
        </p:nvSpPr>
        <p:spPr bwMode="auto">
          <a:xfrm>
            <a:off x="6235700" y="3932238"/>
            <a:ext cx="1150938" cy="398462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/>
          </a:p>
        </p:txBody>
      </p:sp>
      <p:graphicFrame>
        <p:nvGraphicFramePr>
          <p:cNvPr id="11274" name="Object 89"/>
          <p:cNvGraphicFramePr>
            <a:graphicFrameLocks noChangeAspect="1"/>
          </p:cNvGraphicFramePr>
          <p:nvPr/>
        </p:nvGraphicFramePr>
        <p:xfrm>
          <a:off x="6235700" y="3963988"/>
          <a:ext cx="7350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3" name="公式" r:id="rId19" imgW="482400" imgH="215640" progId="Equation.3">
                  <p:embed/>
                </p:oleObj>
              </mc:Choice>
              <mc:Fallback>
                <p:oleObj name="公式" r:id="rId19" imgW="482400" imgH="215640" progId="Equation.3">
                  <p:embed/>
                  <p:pic>
                    <p:nvPicPr>
                      <p:cNvPr id="0" name="Object 8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963988"/>
                        <a:ext cx="735013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Rectangle 90"/>
          <p:cNvSpPr>
            <a:spLocks noChangeArrowheads="1"/>
          </p:cNvSpPr>
          <p:nvPr/>
        </p:nvSpPr>
        <p:spPr bwMode="auto">
          <a:xfrm>
            <a:off x="6867525" y="3863975"/>
            <a:ext cx="11858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800"/>
              <a:t>图</a:t>
            </a:r>
          </a:p>
        </p:txBody>
      </p:sp>
      <p:sp>
        <p:nvSpPr>
          <p:cNvPr id="11300" name="Line 91"/>
          <p:cNvSpPr>
            <a:spLocks noChangeShapeType="1"/>
          </p:cNvSpPr>
          <p:nvPr/>
        </p:nvSpPr>
        <p:spPr bwMode="auto">
          <a:xfrm flipV="1">
            <a:off x="5422900" y="4972050"/>
            <a:ext cx="29098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1" name="Line 92"/>
          <p:cNvSpPr>
            <a:spLocks noChangeShapeType="1"/>
          </p:cNvSpPr>
          <p:nvPr/>
        </p:nvSpPr>
        <p:spPr bwMode="auto">
          <a:xfrm flipV="1">
            <a:off x="5407025" y="3965575"/>
            <a:ext cx="635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2" name="Line 93"/>
          <p:cNvSpPr>
            <a:spLocks noChangeShapeType="1"/>
          </p:cNvSpPr>
          <p:nvPr/>
        </p:nvSpPr>
        <p:spPr bwMode="auto">
          <a:xfrm flipH="1">
            <a:off x="5422900" y="4495800"/>
            <a:ext cx="265588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3" name="Line 94"/>
          <p:cNvSpPr>
            <a:spLocks noChangeShapeType="1"/>
          </p:cNvSpPr>
          <p:nvPr/>
        </p:nvSpPr>
        <p:spPr bwMode="auto">
          <a:xfrm flipH="1" flipV="1">
            <a:off x="5422900" y="5424488"/>
            <a:ext cx="2781300" cy="222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75" name="Object 95"/>
          <p:cNvGraphicFramePr>
            <a:graphicFrameLocks noChangeAspect="1"/>
          </p:cNvGraphicFramePr>
          <p:nvPr/>
        </p:nvGraphicFramePr>
        <p:xfrm>
          <a:off x="5097463" y="4270375"/>
          <a:ext cx="3095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" name="Equation" r:id="rId21" imgW="164880" imgH="164880" progId="Equation.DSMT4">
                  <p:embed/>
                </p:oleObj>
              </mc:Choice>
              <mc:Fallback>
                <p:oleObj name="Equation" r:id="rId21" imgW="164880" imgH="164880" progId="Equation.DSMT4">
                  <p:embed/>
                  <p:pic>
                    <p:nvPicPr>
                      <p:cNvPr id="0" name="Object 9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463" y="4270375"/>
                        <a:ext cx="309562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96"/>
          <p:cNvGraphicFramePr>
            <a:graphicFrameLocks noChangeAspect="1"/>
          </p:cNvGraphicFramePr>
          <p:nvPr/>
        </p:nvGraphicFramePr>
        <p:xfrm>
          <a:off x="4949825" y="5260975"/>
          <a:ext cx="43973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" name="Equation" r:id="rId23" imgW="253800" imgH="164880" progId="Equation.DSMT4">
                  <p:embed/>
                </p:oleObj>
              </mc:Choice>
              <mc:Fallback>
                <p:oleObj name="Equation" r:id="rId23" imgW="253800" imgH="164880" progId="Equation.DSMT4">
                  <p:embed/>
                  <p:pic>
                    <p:nvPicPr>
                      <p:cNvPr id="0" name="Object 9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5260975"/>
                        <a:ext cx="439738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97"/>
          <p:cNvGraphicFramePr>
            <a:graphicFrameLocks noChangeAspect="1"/>
          </p:cNvGraphicFramePr>
          <p:nvPr/>
        </p:nvGraphicFramePr>
        <p:xfrm>
          <a:off x="5465763" y="3898900"/>
          <a:ext cx="23336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" name="Equation" r:id="rId25" imgW="139680" imgH="139680" progId="Equation.3">
                  <p:embed/>
                </p:oleObj>
              </mc:Choice>
              <mc:Fallback>
                <p:oleObj name="Equation" r:id="rId25" imgW="139680" imgH="139680" progId="Equation.3">
                  <p:embed/>
                  <p:pic>
                    <p:nvPicPr>
                      <p:cNvPr id="0" name="Object 9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763" y="3898900"/>
                        <a:ext cx="233362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04" name="Group 98"/>
          <p:cNvGrpSpPr>
            <a:grpSpLocks/>
          </p:cNvGrpSpPr>
          <p:nvPr/>
        </p:nvGrpSpPr>
        <p:grpSpPr bwMode="auto">
          <a:xfrm>
            <a:off x="5929313" y="4484688"/>
            <a:ext cx="2022475" cy="939800"/>
            <a:chOff x="3704" y="904"/>
            <a:chExt cx="1536" cy="896"/>
          </a:xfrm>
        </p:grpSpPr>
        <p:sp>
          <p:nvSpPr>
            <p:cNvPr id="11309" name="Line 99"/>
            <p:cNvSpPr>
              <a:spLocks noChangeShapeType="1"/>
            </p:cNvSpPr>
            <p:nvPr/>
          </p:nvSpPr>
          <p:spPr bwMode="auto">
            <a:xfrm flipV="1">
              <a:off x="3704" y="904"/>
              <a:ext cx="0" cy="89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100"/>
            <p:cNvSpPr>
              <a:spLocks noChangeShapeType="1"/>
            </p:cNvSpPr>
            <p:nvPr/>
          </p:nvSpPr>
          <p:spPr bwMode="auto">
            <a:xfrm flipV="1">
              <a:off x="5240" y="904"/>
              <a:ext cx="0" cy="89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1" name="Line 101"/>
            <p:cNvSpPr>
              <a:spLocks noChangeShapeType="1"/>
            </p:cNvSpPr>
            <p:nvPr/>
          </p:nvSpPr>
          <p:spPr bwMode="auto">
            <a:xfrm flipV="1">
              <a:off x="4856" y="904"/>
              <a:ext cx="0" cy="89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2" name="Line 102"/>
            <p:cNvSpPr>
              <a:spLocks noChangeShapeType="1"/>
            </p:cNvSpPr>
            <p:nvPr/>
          </p:nvSpPr>
          <p:spPr bwMode="auto">
            <a:xfrm flipV="1">
              <a:off x="4472" y="904"/>
              <a:ext cx="0" cy="89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3" name="Line 103"/>
            <p:cNvSpPr>
              <a:spLocks noChangeShapeType="1"/>
            </p:cNvSpPr>
            <p:nvPr/>
          </p:nvSpPr>
          <p:spPr bwMode="auto">
            <a:xfrm flipV="1">
              <a:off x="4088" y="904"/>
              <a:ext cx="0" cy="89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1278" name="Object 104"/>
          <p:cNvGraphicFramePr>
            <a:graphicFrameLocks noChangeAspect="1"/>
          </p:cNvGraphicFramePr>
          <p:nvPr/>
        </p:nvGraphicFramePr>
        <p:xfrm>
          <a:off x="7508875" y="4716463"/>
          <a:ext cx="260350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name="Equation" r:id="rId27" imgW="152280" imgH="164880" progId="Equation.3">
                  <p:embed/>
                </p:oleObj>
              </mc:Choice>
              <mc:Fallback>
                <p:oleObj name="Equation" r:id="rId27" imgW="152280" imgH="164880" progId="Equation.3">
                  <p:embed/>
                  <p:pic>
                    <p:nvPicPr>
                      <p:cNvPr id="0" name="Object 10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75" y="4716463"/>
                        <a:ext cx="260350" cy="239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05"/>
          <p:cNvGraphicFramePr>
            <a:graphicFrameLocks noChangeAspect="1"/>
          </p:cNvGraphicFramePr>
          <p:nvPr/>
        </p:nvGraphicFramePr>
        <p:xfrm>
          <a:off x="6488113" y="4956175"/>
          <a:ext cx="3635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" name="Equation" r:id="rId29" imgW="177480" imgH="393480" progId="Equation.DSMT4">
                  <p:embed/>
                </p:oleObj>
              </mc:Choice>
              <mc:Fallback>
                <p:oleObj name="Equation" r:id="rId29" imgW="177480" imgH="393480" progId="Equation.DSMT4">
                  <p:embed/>
                  <p:pic>
                    <p:nvPicPr>
                      <p:cNvPr id="0" name="Object 10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3" y="4956175"/>
                        <a:ext cx="363537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06"/>
          <p:cNvGraphicFramePr>
            <a:graphicFrameLocks noChangeAspect="1"/>
          </p:cNvGraphicFramePr>
          <p:nvPr/>
        </p:nvGraphicFramePr>
        <p:xfrm>
          <a:off x="8202613" y="4646613"/>
          <a:ext cx="1825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" name="Equation" r:id="rId31" imgW="101520" imgH="164880" progId="Equation.3">
                  <p:embed/>
                </p:oleObj>
              </mc:Choice>
              <mc:Fallback>
                <p:oleObj name="Equation" r:id="rId31" imgW="101520" imgH="164880" progId="Equation.3">
                  <p:embed/>
                  <p:pic>
                    <p:nvPicPr>
                      <p:cNvPr id="0" name="Object 10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2613" y="4646613"/>
                        <a:ext cx="18256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107"/>
          <p:cNvGraphicFramePr>
            <a:graphicFrameLocks noChangeAspect="1"/>
          </p:cNvGraphicFramePr>
          <p:nvPr/>
        </p:nvGraphicFramePr>
        <p:xfrm>
          <a:off x="5092700" y="4827588"/>
          <a:ext cx="2809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0" name="Equation" r:id="rId33" imgW="126720" imgH="139680" progId="Equation.3">
                  <p:embed/>
                </p:oleObj>
              </mc:Choice>
              <mc:Fallback>
                <p:oleObj name="Equation" r:id="rId33" imgW="126720" imgH="139680" progId="Equation.3">
                  <p:embed/>
                  <p:pic>
                    <p:nvPicPr>
                      <p:cNvPr id="0" name="Object 10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4827588"/>
                        <a:ext cx="280988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5" name="Freeform 108"/>
          <p:cNvSpPr>
            <a:spLocks noChangeAspect="1"/>
          </p:cNvSpPr>
          <p:nvPr/>
        </p:nvSpPr>
        <p:spPr bwMode="auto">
          <a:xfrm>
            <a:off x="5413375" y="4494213"/>
            <a:ext cx="2714625" cy="930275"/>
          </a:xfrm>
          <a:custGeom>
            <a:avLst/>
            <a:gdLst>
              <a:gd name="T0" fmla="*/ 2147483647 w 2061"/>
              <a:gd name="T1" fmla="*/ 2147483647 h 673"/>
              <a:gd name="T2" fmla="*/ 2147483647 w 2061"/>
              <a:gd name="T3" fmla="*/ 2147483647 h 673"/>
              <a:gd name="T4" fmla="*/ 2147483647 w 2061"/>
              <a:gd name="T5" fmla="*/ 2147483647 h 673"/>
              <a:gd name="T6" fmla="*/ 2147483647 w 2061"/>
              <a:gd name="T7" fmla="*/ 2147483647 h 673"/>
              <a:gd name="T8" fmla="*/ 2147483647 w 2061"/>
              <a:gd name="T9" fmla="*/ 2147483647 h 673"/>
              <a:gd name="T10" fmla="*/ 2147483647 w 2061"/>
              <a:gd name="T11" fmla="*/ 2147483647 h 673"/>
              <a:gd name="T12" fmla="*/ 2147483647 w 2061"/>
              <a:gd name="T13" fmla="*/ 2147483647 h 673"/>
              <a:gd name="T14" fmla="*/ 2147483647 w 2061"/>
              <a:gd name="T15" fmla="*/ 2147483647 h 673"/>
              <a:gd name="T16" fmla="*/ 2147483647 w 2061"/>
              <a:gd name="T17" fmla="*/ 2147483647 h 673"/>
              <a:gd name="T18" fmla="*/ 2147483647 w 2061"/>
              <a:gd name="T19" fmla="*/ 2147483647 h 673"/>
              <a:gd name="T20" fmla="*/ 2147483647 w 2061"/>
              <a:gd name="T21" fmla="*/ 2147483647 h 673"/>
              <a:gd name="T22" fmla="*/ 2147483647 w 2061"/>
              <a:gd name="T23" fmla="*/ 2147483647 h 673"/>
              <a:gd name="T24" fmla="*/ 2147483647 w 2061"/>
              <a:gd name="T25" fmla="*/ 2147483647 h 673"/>
              <a:gd name="T26" fmla="*/ 2147483647 w 2061"/>
              <a:gd name="T27" fmla="*/ 2147483647 h 673"/>
              <a:gd name="T28" fmla="*/ 2147483647 w 2061"/>
              <a:gd name="T29" fmla="*/ 2147483647 h 673"/>
              <a:gd name="T30" fmla="*/ 2147483647 w 2061"/>
              <a:gd name="T31" fmla="*/ 2147483647 h 673"/>
              <a:gd name="T32" fmla="*/ 2147483647 w 2061"/>
              <a:gd name="T33" fmla="*/ 2147483647 h 673"/>
              <a:gd name="T34" fmla="*/ 2147483647 w 2061"/>
              <a:gd name="T35" fmla="*/ 2147483647 h 673"/>
              <a:gd name="T36" fmla="*/ 2147483647 w 2061"/>
              <a:gd name="T37" fmla="*/ 2147483647 h 673"/>
              <a:gd name="T38" fmla="*/ 2147483647 w 2061"/>
              <a:gd name="T39" fmla="*/ 2147483647 h 673"/>
              <a:gd name="T40" fmla="*/ 2147483647 w 2061"/>
              <a:gd name="T41" fmla="*/ 2147483647 h 673"/>
              <a:gd name="T42" fmla="*/ 2147483647 w 2061"/>
              <a:gd name="T43" fmla="*/ 2147483647 h 673"/>
              <a:gd name="T44" fmla="*/ 2147483647 w 2061"/>
              <a:gd name="T45" fmla="*/ 2147483647 h 673"/>
              <a:gd name="T46" fmla="*/ 2147483647 w 2061"/>
              <a:gd name="T47" fmla="*/ 2147483647 h 673"/>
              <a:gd name="T48" fmla="*/ 2147483647 w 2061"/>
              <a:gd name="T49" fmla="*/ 2147483647 h 673"/>
              <a:gd name="T50" fmla="*/ 2147483647 w 2061"/>
              <a:gd name="T51" fmla="*/ 2147483647 h 673"/>
              <a:gd name="T52" fmla="*/ 2147483647 w 2061"/>
              <a:gd name="T53" fmla="*/ 2147483647 h 673"/>
              <a:gd name="T54" fmla="*/ 2147483647 w 2061"/>
              <a:gd name="T55" fmla="*/ 2147483647 h 673"/>
              <a:gd name="T56" fmla="*/ 2147483647 w 2061"/>
              <a:gd name="T57" fmla="*/ 2147483647 h 673"/>
              <a:gd name="T58" fmla="*/ 2147483647 w 2061"/>
              <a:gd name="T59" fmla="*/ 2147483647 h 673"/>
              <a:gd name="T60" fmla="*/ 2147483647 w 2061"/>
              <a:gd name="T61" fmla="*/ 2147483647 h 673"/>
              <a:gd name="T62" fmla="*/ 2147483647 w 2061"/>
              <a:gd name="T63" fmla="*/ 2147483647 h 673"/>
              <a:gd name="T64" fmla="*/ 2147483647 w 2061"/>
              <a:gd name="T65" fmla="*/ 2147483647 h 673"/>
              <a:gd name="T66" fmla="*/ 2147483647 w 2061"/>
              <a:gd name="T67" fmla="*/ 2147483647 h 673"/>
              <a:gd name="T68" fmla="*/ 2147483647 w 2061"/>
              <a:gd name="T69" fmla="*/ 2147483647 h 673"/>
              <a:gd name="T70" fmla="*/ 2147483647 w 2061"/>
              <a:gd name="T71" fmla="*/ 2147483647 h 673"/>
              <a:gd name="T72" fmla="*/ 2147483647 w 2061"/>
              <a:gd name="T73" fmla="*/ 2147483647 h 673"/>
              <a:gd name="T74" fmla="*/ 2147483647 w 2061"/>
              <a:gd name="T75" fmla="*/ 2147483647 h 673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061"/>
              <a:gd name="T115" fmla="*/ 0 h 673"/>
              <a:gd name="T116" fmla="*/ 2061 w 2061"/>
              <a:gd name="T117" fmla="*/ 673 h 673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061" h="673">
                <a:moveTo>
                  <a:pt x="0" y="337"/>
                </a:moveTo>
                <a:lnTo>
                  <a:pt x="28" y="374"/>
                </a:lnTo>
                <a:lnTo>
                  <a:pt x="54" y="410"/>
                </a:lnTo>
                <a:lnTo>
                  <a:pt x="83" y="446"/>
                </a:lnTo>
                <a:lnTo>
                  <a:pt x="111" y="481"/>
                </a:lnTo>
                <a:lnTo>
                  <a:pt x="137" y="514"/>
                </a:lnTo>
                <a:lnTo>
                  <a:pt x="165" y="544"/>
                </a:lnTo>
                <a:lnTo>
                  <a:pt x="192" y="572"/>
                </a:lnTo>
                <a:lnTo>
                  <a:pt x="220" y="598"/>
                </a:lnTo>
                <a:lnTo>
                  <a:pt x="248" y="620"/>
                </a:lnTo>
                <a:lnTo>
                  <a:pt x="274" y="638"/>
                </a:lnTo>
                <a:lnTo>
                  <a:pt x="302" y="653"/>
                </a:lnTo>
                <a:lnTo>
                  <a:pt x="330" y="663"/>
                </a:lnTo>
                <a:lnTo>
                  <a:pt x="357" y="670"/>
                </a:lnTo>
                <a:lnTo>
                  <a:pt x="385" y="673"/>
                </a:lnTo>
                <a:lnTo>
                  <a:pt x="413" y="671"/>
                </a:lnTo>
                <a:lnTo>
                  <a:pt x="439" y="666"/>
                </a:lnTo>
                <a:lnTo>
                  <a:pt x="467" y="656"/>
                </a:lnTo>
                <a:lnTo>
                  <a:pt x="494" y="643"/>
                </a:lnTo>
                <a:lnTo>
                  <a:pt x="522" y="624"/>
                </a:lnTo>
                <a:lnTo>
                  <a:pt x="550" y="604"/>
                </a:lnTo>
                <a:lnTo>
                  <a:pt x="576" y="579"/>
                </a:lnTo>
                <a:lnTo>
                  <a:pt x="604" y="552"/>
                </a:lnTo>
                <a:lnTo>
                  <a:pt x="633" y="523"/>
                </a:lnTo>
                <a:lnTo>
                  <a:pt x="659" y="491"/>
                </a:lnTo>
                <a:lnTo>
                  <a:pt x="687" y="456"/>
                </a:lnTo>
                <a:lnTo>
                  <a:pt x="715" y="420"/>
                </a:lnTo>
                <a:lnTo>
                  <a:pt x="742" y="384"/>
                </a:lnTo>
                <a:lnTo>
                  <a:pt x="770" y="347"/>
                </a:lnTo>
                <a:lnTo>
                  <a:pt x="796" y="309"/>
                </a:lnTo>
                <a:lnTo>
                  <a:pt x="824" y="273"/>
                </a:lnTo>
                <a:lnTo>
                  <a:pt x="852" y="236"/>
                </a:lnTo>
                <a:lnTo>
                  <a:pt x="879" y="201"/>
                </a:lnTo>
                <a:lnTo>
                  <a:pt x="907" y="167"/>
                </a:lnTo>
                <a:lnTo>
                  <a:pt x="935" y="136"/>
                </a:lnTo>
                <a:lnTo>
                  <a:pt x="961" y="107"/>
                </a:lnTo>
                <a:lnTo>
                  <a:pt x="989" y="81"/>
                </a:lnTo>
                <a:lnTo>
                  <a:pt x="1017" y="59"/>
                </a:lnTo>
                <a:lnTo>
                  <a:pt x="1044" y="39"/>
                </a:lnTo>
                <a:lnTo>
                  <a:pt x="1072" y="24"/>
                </a:lnTo>
                <a:lnTo>
                  <a:pt x="1098" y="12"/>
                </a:lnTo>
                <a:lnTo>
                  <a:pt x="1126" y="4"/>
                </a:lnTo>
                <a:lnTo>
                  <a:pt x="1154" y="0"/>
                </a:lnTo>
                <a:lnTo>
                  <a:pt x="1181" y="1"/>
                </a:lnTo>
                <a:lnTo>
                  <a:pt x="1209" y="6"/>
                </a:lnTo>
                <a:lnTo>
                  <a:pt x="1237" y="14"/>
                </a:lnTo>
                <a:lnTo>
                  <a:pt x="1263" y="26"/>
                </a:lnTo>
                <a:lnTo>
                  <a:pt x="1291" y="43"/>
                </a:lnTo>
                <a:lnTo>
                  <a:pt x="1320" y="63"/>
                </a:lnTo>
                <a:lnTo>
                  <a:pt x="1346" y="87"/>
                </a:lnTo>
                <a:lnTo>
                  <a:pt x="1374" y="113"/>
                </a:lnTo>
                <a:lnTo>
                  <a:pt x="1400" y="142"/>
                </a:lnTo>
                <a:lnTo>
                  <a:pt x="1429" y="174"/>
                </a:lnTo>
                <a:lnTo>
                  <a:pt x="1457" y="207"/>
                </a:lnTo>
                <a:lnTo>
                  <a:pt x="1483" y="242"/>
                </a:lnTo>
                <a:lnTo>
                  <a:pt x="1511" y="279"/>
                </a:lnTo>
                <a:lnTo>
                  <a:pt x="1539" y="316"/>
                </a:lnTo>
                <a:lnTo>
                  <a:pt x="1566" y="354"/>
                </a:lnTo>
                <a:lnTo>
                  <a:pt x="1594" y="390"/>
                </a:lnTo>
                <a:lnTo>
                  <a:pt x="1622" y="427"/>
                </a:lnTo>
                <a:lnTo>
                  <a:pt x="1648" y="462"/>
                </a:lnTo>
                <a:lnTo>
                  <a:pt x="1676" y="496"/>
                </a:lnTo>
                <a:lnTo>
                  <a:pt x="1703" y="528"/>
                </a:lnTo>
                <a:lnTo>
                  <a:pt x="1731" y="558"/>
                </a:lnTo>
                <a:lnTo>
                  <a:pt x="1759" y="584"/>
                </a:lnTo>
                <a:lnTo>
                  <a:pt x="1785" y="608"/>
                </a:lnTo>
                <a:lnTo>
                  <a:pt x="1813" y="628"/>
                </a:lnTo>
                <a:lnTo>
                  <a:pt x="1841" y="645"/>
                </a:lnTo>
                <a:lnTo>
                  <a:pt x="1868" y="658"/>
                </a:lnTo>
                <a:lnTo>
                  <a:pt x="1896" y="667"/>
                </a:lnTo>
                <a:lnTo>
                  <a:pt x="1924" y="672"/>
                </a:lnTo>
                <a:lnTo>
                  <a:pt x="1950" y="673"/>
                </a:lnTo>
                <a:lnTo>
                  <a:pt x="1978" y="669"/>
                </a:lnTo>
                <a:lnTo>
                  <a:pt x="2005" y="662"/>
                </a:lnTo>
                <a:lnTo>
                  <a:pt x="2033" y="650"/>
                </a:lnTo>
                <a:lnTo>
                  <a:pt x="2061" y="635"/>
                </a:lnTo>
              </a:path>
            </a:pathLst>
          </a:custGeom>
          <a:noFill/>
          <a:ln w="2540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0815" name="Object 111"/>
          <p:cNvGraphicFramePr>
            <a:graphicFrameLocks noChangeAspect="1"/>
          </p:cNvGraphicFramePr>
          <p:nvPr/>
        </p:nvGraphicFramePr>
        <p:xfrm>
          <a:off x="762000" y="3092450"/>
          <a:ext cx="3429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" name="Equation" r:id="rId35" imgW="1612800" imgH="253800" progId="Equation.3">
                  <p:embed/>
                </p:oleObj>
              </mc:Choice>
              <mc:Fallback>
                <p:oleObj name="Equation" r:id="rId35" imgW="1612800" imgH="25380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92450"/>
                        <a:ext cx="34290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816" name="Object 112"/>
          <p:cNvGraphicFramePr>
            <a:graphicFrameLocks noChangeAspect="1"/>
          </p:cNvGraphicFramePr>
          <p:nvPr/>
        </p:nvGraphicFramePr>
        <p:xfrm>
          <a:off x="762000" y="4037013"/>
          <a:ext cx="17526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" name="Equation" r:id="rId37" imgW="838080" imgH="241200" progId="Equation.3">
                  <p:embed/>
                </p:oleObj>
              </mc:Choice>
              <mc:Fallback>
                <p:oleObj name="Equation" r:id="rId37" imgW="838080" imgH="24120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37013"/>
                        <a:ext cx="175260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14"/>
          <p:cNvGrpSpPr>
            <a:grpSpLocks/>
          </p:cNvGrpSpPr>
          <p:nvPr/>
        </p:nvGrpSpPr>
        <p:grpSpPr bwMode="auto">
          <a:xfrm>
            <a:off x="2514600" y="3671888"/>
            <a:ext cx="1841500" cy="1076325"/>
            <a:chOff x="1584" y="2488"/>
            <a:chExt cx="1160" cy="678"/>
          </a:xfrm>
        </p:grpSpPr>
        <p:sp>
          <p:nvSpPr>
            <p:cNvPr id="11308" name="Text Box 7"/>
            <p:cNvSpPr txBox="1">
              <a:spLocks noChangeArrowheads="1"/>
            </p:cNvSpPr>
            <p:nvPr/>
          </p:nvSpPr>
          <p:spPr bwMode="auto">
            <a:xfrm>
              <a:off x="1584" y="2656"/>
              <a:ext cx="3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>
                  <a:solidFill>
                    <a:srgbClr val="CC0000"/>
                  </a:solidFill>
                </a:rPr>
                <a:t>取</a:t>
              </a:r>
              <a:endParaRPr lang="zh-CN" altLang="en-US">
                <a:solidFill>
                  <a:srgbClr val="FF0066"/>
                </a:solidFill>
              </a:endParaRPr>
            </a:p>
          </p:txBody>
        </p:sp>
        <p:graphicFrame>
          <p:nvGraphicFramePr>
            <p:cNvPr id="11284" name="Object 113"/>
            <p:cNvGraphicFramePr>
              <a:graphicFrameLocks noChangeAspect="1"/>
            </p:cNvGraphicFramePr>
            <p:nvPr/>
          </p:nvGraphicFramePr>
          <p:xfrm>
            <a:off x="1976" y="2488"/>
            <a:ext cx="768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3" name="Equation" r:id="rId39" imgW="482400" imgH="469800" progId="Equation.3">
                    <p:embed/>
                  </p:oleObj>
                </mc:Choice>
                <mc:Fallback>
                  <p:oleObj name="Equation" r:id="rId39" imgW="482400" imgH="469800" progId="Equation.3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2488"/>
                          <a:ext cx="768" cy="6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0819" name="AutoShape 115"/>
          <p:cNvSpPr>
            <a:spLocks noChangeArrowheads="1"/>
          </p:cNvSpPr>
          <p:nvPr/>
        </p:nvSpPr>
        <p:spPr bwMode="auto">
          <a:xfrm>
            <a:off x="2667000" y="2274888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0000"/>
              </a:gs>
              <a:gs pos="50000">
                <a:schemeClr val="bg1"/>
              </a:gs>
              <a:gs pos="100000">
                <a:srgbClr val="CC00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8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24C28B-4C78-4C97-BFE8-7299437CFF0E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pSp>
        <p:nvGrpSpPr>
          <p:cNvPr id="12295" name="Group 10"/>
          <p:cNvGrpSpPr>
            <a:grpSpLocks/>
          </p:cNvGrpSpPr>
          <p:nvPr/>
        </p:nvGrpSpPr>
        <p:grpSpPr bwMode="auto">
          <a:xfrm>
            <a:off x="5148263" y="1314450"/>
            <a:ext cx="3479800" cy="4706938"/>
            <a:chOff x="3243" y="828"/>
            <a:chExt cx="2192" cy="2965"/>
          </a:xfrm>
        </p:grpSpPr>
        <p:sp>
          <p:nvSpPr>
            <p:cNvPr id="12297" name="Text Box 4"/>
            <p:cNvSpPr txBox="1">
              <a:spLocks noChangeArrowheads="1"/>
            </p:cNvSpPr>
            <p:nvPr/>
          </p:nvSpPr>
          <p:spPr bwMode="auto">
            <a:xfrm>
              <a:off x="3243" y="828"/>
              <a:ext cx="2192" cy="2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>
                  <a:solidFill>
                    <a:srgbClr val="000000"/>
                  </a:solidFill>
                </a:rPr>
                <a:t>自</a:t>
              </a:r>
              <a:r>
                <a:rPr lang="en-US" altLang="zh-CN" sz="2800" i="1">
                  <a:solidFill>
                    <a:srgbClr val="000000"/>
                  </a:solidFill>
                </a:rPr>
                <a:t>Ox</a:t>
              </a:r>
              <a:r>
                <a:rPr lang="zh-CN" altLang="en-US" sz="2800">
                  <a:solidFill>
                    <a:srgbClr val="000000"/>
                  </a:solidFill>
                </a:rPr>
                <a:t>轴的原点</a:t>
              </a:r>
              <a:r>
                <a:rPr lang="en-US" altLang="zh-CN" sz="2800" i="1">
                  <a:solidFill>
                    <a:srgbClr val="000000"/>
                  </a:solidFill>
                </a:rPr>
                <a:t>O</a:t>
              </a:r>
              <a:r>
                <a:rPr lang="zh-CN" altLang="en-US" sz="2800">
                  <a:solidFill>
                    <a:srgbClr val="000000"/>
                  </a:solidFill>
                </a:rPr>
                <a:t>作一矢量    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，</a:t>
              </a:r>
              <a:r>
                <a:rPr lang="zh-CN" altLang="en-US" sz="2800">
                  <a:solidFill>
                    <a:srgbClr val="000000"/>
                  </a:solidFill>
                </a:rPr>
                <a:t>使它的模等于振动的振幅 </a:t>
              </a:r>
              <a:r>
                <a:rPr lang="en-US" altLang="zh-CN" sz="2800" b="0" i="1">
                  <a:solidFill>
                    <a:srgbClr val="000000"/>
                  </a:solidFill>
                </a:rPr>
                <a:t>A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，</a:t>
              </a:r>
              <a:r>
                <a:rPr lang="zh-CN" altLang="en-US" sz="2800">
                  <a:solidFill>
                    <a:srgbClr val="000000"/>
                  </a:solidFill>
                </a:rPr>
                <a:t>并使矢量     在 </a:t>
              </a:r>
              <a:r>
                <a:rPr lang="en-US" altLang="zh-CN" sz="2800" i="1">
                  <a:solidFill>
                    <a:srgbClr val="000000"/>
                  </a:solidFill>
                </a:rPr>
                <a:t>Oxy </a:t>
              </a:r>
              <a:r>
                <a:rPr lang="zh-CN" altLang="en-US" sz="2800">
                  <a:solidFill>
                    <a:srgbClr val="000000"/>
                  </a:solidFill>
                </a:rPr>
                <a:t>平面内绕点</a:t>
              </a:r>
              <a:r>
                <a:rPr lang="en-US" altLang="zh-CN" sz="2800" i="1">
                  <a:solidFill>
                    <a:srgbClr val="000000"/>
                  </a:solidFill>
                </a:rPr>
                <a:t>O</a:t>
              </a:r>
              <a:r>
                <a:rPr lang="zh-CN" altLang="en-US" sz="2800">
                  <a:solidFill>
                    <a:srgbClr val="000000"/>
                  </a:solidFill>
                </a:rPr>
                <a:t>作</a:t>
              </a:r>
              <a:r>
                <a:rPr lang="zh-CN" altLang="en-US" sz="2800">
                  <a:solidFill>
                    <a:srgbClr val="0000FF"/>
                  </a:solidFill>
                </a:rPr>
                <a:t>逆时针</a:t>
              </a:r>
              <a:r>
                <a:rPr lang="zh-CN" altLang="en-US" sz="2800">
                  <a:solidFill>
                    <a:srgbClr val="000000"/>
                  </a:solidFill>
                </a:rPr>
                <a:t>方向的匀角速转动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，</a:t>
              </a:r>
              <a:r>
                <a:rPr lang="zh-CN" altLang="en-US" sz="2800">
                  <a:solidFill>
                    <a:srgbClr val="000000"/>
                  </a:solidFill>
                </a:rPr>
                <a:t>其角速度与振动角频率    相等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，</a:t>
              </a:r>
              <a:r>
                <a:rPr lang="zh-CN" altLang="en-US" sz="2800">
                  <a:solidFill>
                    <a:srgbClr val="000000"/>
                  </a:solidFill>
                </a:rPr>
                <a:t>这个矢量就叫做</a:t>
              </a:r>
              <a:r>
                <a:rPr lang="zh-CN" altLang="en-US" sz="2800">
                  <a:solidFill>
                    <a:srgbClr val="0000FF"/>
                  </a:solidFill>
                </a:rPr>
                <a:t>旋转矢量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. </a:t>
              </a:r>
            </a:p>
          </p:txBody>
        </p:sp>
        <p:graphicFrame>
          <p:nvGraphicFramePr>
            <p:cNvPr id="12291" name="Object 3"/>
            <p:cNvGraphicFramePr>
              <a:graphicFrameLocks noChangeAspect="1"/>
            </p:cNvGraphicFramePr>
            <p:nvPr/>
          </p:nvGraphicFramePr>
          <p:xfrm>
            <a:off x="3718" y="1182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2" name="Equation" r:id="rId4" imgW="215640" imgH="266400" progId="Equation.3">
                    <p:embed/>
                  </p:oleObj>
                </mc:Choice>
                <mc:Fallback>
                  <p:oleObj name="Equation" r:id="rId4" imgW="215640" imgH="266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8" y="1182"/>
                          <a:ext cx="304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2" name="Object 4"/>
            <p:cNvGraphicFramePr>
              <a:graphicFrameLocks noChangeAspect="1"/>
            </p:cNvGraphicFramePr>
            <p:nvPr/>
          </p:nvGraphicFramePr>
          <p:xfrm>
            <a:off x="3532" y="3194"/>
            <a:ext cx="248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3" name="Equation" r:id="rId6" imgW="177480" imgH="152280" progId="Equation.3">
                    <p:embed/>
                  </p:oleObj>
                </mc:Choice>
                <mc:Fallback>
                  <p:oleObj name="Equation" r:id="rId6" imgW="177480" imgH="1522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3194"/>
                          <a:ext cx="248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3" name="Object 5"/>
            <p:cNvGraphicFramePr>
              <a:graphicFrameLocks noChangeAspect="1"/>
            </p:cNvGraphicFramePr>
            <p:nvPr/>
          </p:nvGraphicFramePr>
          <p:xfrm>
            <a:off x="4164" y="1791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4" name="Equation" r:id="rId8" imgW="215640" imgH="266400" progId="Equation.3">
                    <p:embed/>
                  </p:oleObj>
                </mc:Choice>
                <mc:Fallback>
                  <p:oleObj name="Equation" r:id="rId8" imgW="215640" imgH="266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1791"/>
                          <a:ext cx="304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612775" y="152401"/>
            <a:ext cx="3887788" cy="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600" dirty="0">
                <a:solidFill>
                  <a:srgbClr val="CC0000"/>
                </a:solidFill>
                <a:latin typeface="宋体" pitchFamily="2" charset="-122"/>
              </a:rPr>
              <a:t>六 旋转矢量     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2331" name="ShockwaveFlash1" r:id="rId2" imgW="4801016" imgH="4266667"/>
        </mc:Choice>
        <mc:Fallback>
          <p:control name="ShockwaveFlash1" r:id="rId2" imgW="4801016" imgH="4266667">
            <p:pic>
              <p:nvPicPr>
                <p:cNvPr id="0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3850" y="1484313"/>
                  <a:ext cx="4800600" cy="426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ABE51-4A57-4885-9A4F-4575CAC45DEA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3326" name="Text Box 3"/>
          <p:cNvSpPr txBox="1">
            <a:spLocks noChangeArrowheads="1"/>
          </p:cNvSpPr>
          <p:nvPr/>
        </p:nvSpPr>
        <p:spPr bwMode="auto">
          <a:xfrm>
            <a:off x="5795963" y="1547813"/>
            <a:ext cx="2952750" cy="308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当矢量     与 </a:t>
            </a:r>
            <a:r>
              <a:rPr lang="en-US" altLang="zh-CN" sz="2800" i="1">
                <a:solidFill>
                  <a:srgbClr val="000000"/>
                </a:solidFill>
              </a:rPr>
              <a:t>x</a:t>
            </a:r>
            <a:r>
              <a:rPr lang="zh-CN" altLang="en-US" sz="2800">
                <a:solidFill>
                  <a:srgbClr val="000000"/>
                </a:solidFill>
              </a:rPr>
              <a:t>轴的夹角为    时，矢量     的端点在 </a:t>
            </a:r>
            <a:r>
              <a:rPr lang="en-US" altLang="zh-CN" sz="2800" i="1">
                <a:solidFill>
                  <a:srgbClr val="000000"/>
                </a:solidFill>
              </a:rPr>
              <a:t>x</a:t>
            </a:r>
            <a:r>
              <a:rPr lang="zh-CN" altLang="en-US" sz="2800">
                <a:solidFill>
                  <a:srgbClr val="000000"/>
                </a:solidFill>
              </a:rPr>
              <a:t>轴的投影点的坐标为：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6948488" y="1692275"/>
          <a:ext cx="482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3" imgW="215640" imgH="266400" progId="Equation.3">
                  <p:embed/>
                </p:oleObj>
              </mc:Choice>
              <mc:Fallback>
                <p:oleObj name="Equation" r:id="rId3" imgW="215640" imgH="266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692275"/>
                        <a:ext cx="4826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Rectangle 8"/>
          <p:cNvSpPr>
            <a:spLocks noChangeArrowheads="1"/>
          </p:cNvSpPr>
          <p:nvPr/>
        </p:nvSpPr>
        <p:spPr bwMode="auto">
          <a:xfrm>
            <a:off x="611188" y="1484313"/>
            <a:ext cx="4876800" cy="403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041900" y="3665538"/>
          <a:ext cx="2667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Equation" r:id="rId5" imgW="139680" imgH="152280" progId="Equation.3">
                  <p:embed/>
                </p:oleObj>
              </mc:Choice>
              <mc:Fallback>
                <p:oleObj name="Equation" r:id="rId5" imgW="139680" imgH="152280" progId="Equation.3">
                  <p:embed/>
                  <p:pic>
                    <p:nvPicPr>
                      <p:cNvPr id="0" name="Object 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665538"/>
                        <a:ext cx="266700" cy="29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717800" y="3587750"/>
          <a:ext cx="2857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7" imgW="164880" imgH="190440" progId="Equation.3">
                  <p:embed/>
                </p:oleObj>
              </mc:Choice>
              <mc:Fallback>
                <p:oleObj name="Equation" r:id="rId7" imgW="164880" imgH="190440" progId="Equation.3">
                  <p:embed/>
                  <p:pic>
                    <p:nvPicPr>
                      <p:cNvPr id="0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587750"/>
                        <a:ext cx="285750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Line 11"/>
          <p:cNvSpPr>
            <a:spLocks noChangeShapeType="1"/>
          </p:cNvSpPr>
          <p:nvPr/>
        </p:nvSpPr>
        <p:spPr bwMode="auto">
          <a:xfrm flipV="1">
            <a:off x="2994025" y="1765300"/>
            <a:ext cx="0" cy="3589338"/>
          </a:xfrm>
          <a:prstGeom prst="line">
            <a:avLst/>
          </a:prstGeom>
          <a:noFill/>
          <a:ln w="28575">
            <a:solidFill>
              <a:srgbClr val="9900CC"/>
            </a:solidFill>
            <a:prstDash val="dash"/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00" name="Oval 12"/>
          <p:cNvSpPr>
            <a:spLocks noChangeArrowheads="1"/>
          </p:cNvSpPr>
          <p:nvPr/>
        </p:nvSpPr>
        <p:spPr bwMode="auto">
          <a:xfrm>
            <a:off x="1220788" y="1765300"/>
            <a:ext cx="3546475" cy="3589338"/>
          </a:xfrm>
          <a:prstGeom prst="ellips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sp>
        <p:nvSpPr>
          <p:cNvPr id="13330" name="Line 13"/>
          <p:cNvSpPr>
            <a:spLocks noChangeShapeType="1"/>
          </p:cNvSpPr>
          <p:nvPr/>
        </p:nvSpPr>
        <p:spPr bwMode="auto">
          <a:xfrm>
            <a:off x="4625975" y="2949575"/>
            <a:ext cx="0" cy="6746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709988" y="3317875"/>
            <a:ext cx="379412" cy="325438"/>
            <a:chOff x="2736" y="2064"/>
            <a:chExt cx="329" cy="278"/>
          </a:xfrm>
        </p:grpSpPr>
        <p:sp>
          <p:nvSpPr>
            <p:cNvPr id="13338" name="Arc 15"/>
            <p:cNvSpPr>
              <a:spLocks/>
            </p:cNvSpPr>
            <p:nvPr/>
          </p:nvSpPr>
          <p:spPr bwMode="auto">
            <a:xfrm>
              <a:off x="2736" y="2064"/>
              <a:ext cx="48" cy="25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4" name="Object 12"/>
            <p:cNvGraphicFramePr>
              <a:graphicFrameLocks noChangeAspect="1"/>
            </p:cNvGraphicFramePr>
            <p:nvPr/>
          </p:nvGraphicFramePr>
          <p:xfrm>
            <a:off x="2832" y="2064"/>
            <a:ext cx="23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8" name="公式" r:id="rId9" imgW="203040" imgH="241200" progId="Equation.3">
                    <p:embed/>
                  </p:oleObj>
                </mc:Choice>
                <mc:Fallback>
                  <p:oleObj name="公式" r:id="rId9" imgW="203040" imgH="241200" progId="Equation.3">
                    <p:embed/>
                    <p:pic>
                      <p:nvPicPr>
                        <p:cNvPr id="0" name="Object 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064"/>
                          <a:ext cx="233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32" name="Group 31"/>
          <p:cNvGrpSpPr>
            <a:grpSpLocks/>
          </p:cNvGrpSpPr>
          <p:nvPr/>
        </p:nvGrpSpPr>
        <p:grpSpPr bwMode="auto">
          <a:xfrm>
            <a:off x="4211638" y="1700213"/>
            <a:ext cx="666750" cy="584200"/>
            <a:chOff x="2497" y="1075"/>
            <a:chExt cx="420" cy="368"/>
          </a:xfrm>
        </p:grpSpPr>
        <p:sp>
          <p:nvSpPr>
            <p:cNvPr id="13337" name="Arc 17"/>
            <p:cNvSpPr>
              <a:spLocks/>
            </p:cNvSpPr>
            <p:nvPr/>
          </p:nvSpPr>
          <p:spPr bwMode="auto">
            <a:xfrm>
              <a:off x="2689" y="1223"/>
              <a:ext cx="228" cy="220"/>
            </a:xfrm>
            <a:custGeom>
              <a:avLst/>
              <a:gdLst>
                <a:gd name="T0" fmla="*/ 1 w 21285"/>
                <a:gd name="T1" fmla="*/ 0 h 20757"/>
                <a:gd name="T2" fmla="*/ 2 w 21285"/>
                <a:gd name="T3" fmla="*/ 2 h 20757"/>
                <a:gd name="T4" fmla="*/ 0 w 21285"/>
                <a:gd name="T5" fmla="*/ 2 h 20757"/>
                <a:gd name="T6" fmla="*/ 0 60000 65536"/>
                <a:gd name="T7" fmla="*/ 0 60000 65536"/>
                <a:gd name="T8" fmla="*/ 0 60000 65536"/>
                <a:gd name="T9" fmla="*/ 0 w 21285"/>
                <a:gd name="T10" fmla="*/ 0 h 20757"/>
                <a:gd name="T11" fmla="*/ 21285 w 21285"/>
                <a:gd name="T12" fmla="*/ 20757 h 207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85" h="20757" fill="none" extrusionOk="0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</a:path>
                <a:path w="21285" h="20757" stroke="0" extrusionOk="0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  <a:lnTo>
                    <a:pt x="0" y="20757"/>
                  </a:lnTo>
                  <a:close/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3" name="Object 11"/>
            <p:cNvGraphicFramePr>
              <a:graphicFrameLocks noChangeAspect="1"/>
            </p:cNvGraphicFramePr>
            <p:nvPr/>
          </p:nvGraphicFramePr>
          <p:xfrm>
            <a:off x="2497" y="1075"/>
            <a:ext cx="31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9" name="Equation" r:id="rId11" imgW="177480" imgH="152280" progId="Equation.3">
                    <p:embed/>
                  </p:oleObj>
                </mc:Choice>
                <mc:Fallback>
                  <p:oleObj name="Equation" r:id="rId11" imgW="177480" imgH="152280" progId="Equation.3">
                    <p:embed/>
                    <p:pic>
                      <p:nvPicPr>
                        <p:cNvPr id="0" name="Object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" y="1075"/>
                          <a:ext cx="310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3" name="Line 19"/>
          <p:cNvSpPr>
            <a:spLocks noChangeShapeType="1"/>
          </p:cNvSpPr>
          <p:nvPr/>
        </p:nvSpPr>
        <p:spPr bwMode="auto">
          <a:xfrm flipV="1">
            <a:off x="2994025" y="2944813"/>
            <a:ext cx="1608138" cy="673100"/>
          </a:xfrm>
          <a:prstGeom prst="line">
            <a:avLst/>
          </a:prstGeom>
          <a:noFill/>
          <a:ln w="38100">
            <a:solidFill>
              <a:srgbClr val="F01A04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4749800" y="2540000"/>
          <a:ext cx="400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" name="Equation" r:id="rId13" imgW="177480" imgH="215640" progId="Equation.3">
                  <p:embed/>
                </p:oleObj>
              </mc:Choice>
              <mc:Fallback>
                <p:oleObj name="Equation" r:id="rId13" imgW="177480" imgH="215640" progId="Equation.3">
                  <p:embed/>
                  <p:pic>
                    <p:nvPicPr>
                      <p:cNvPr id="0" name="Object 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2540000"/>
                        <a:ext cx="400050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9" name="Object 6"/>
          <p:cNvGraphicFramePr>
            <a:graphicFrameLocks noChangeAspect="1"/>
          </p:cNvGraphicFramePr>
          <p:nvPr/>
        </p:nvGraphicFramePr>
        <p:xfrm>
          <a:off x="6084888" y="4751388"/>
          <a:ext cx="24479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1" name="Equation" r:id="rId15" imgW="1485720" imgH="380880" progId="Equation.DSMT4">
                  <p:embed/>
                </p:oleObj>
              </mc:Choice>
              <mc:Fallback>
                <p:oleObj name="Equation" r:id="rId15" imgW="1485720" imgH="380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751388"/>
                        <a:ext cx="2447925" cy="622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1373188" y="2870200"/>
            <a:ext cx="2030412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/>
            <a:r>
              <a:rPr lang="en-US" altLang="zh-CN" sz="2800">
                <a:solidFill>
                  <a:srgbClr val="000000"/>
                </a:solidFill>
              </a:rPr>
              <a:t>         </a:t>
            </a:r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>
            <a:off x="839788" y="3635375"/>
            <a:ext cx="4543425" cy="0"/>
          </a:xfrm>
          <a:prstGeom prst="line">
            <a:avLst/>
          </a:prstGeom>
          <a:noFill/>
          <a:ln w="28575">
            <a:solidFill>
              <a:srgbClr val="99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0312" name="Object 7"/>
          <p:cNvGraphicFramePr>
            <a:graphicFrameLocks noChangeAspect="1"/>
          </p:cNvGraphicFramePr>
          <p:nvPr/>
        </p:nvGraphicFramePr>
        <p:xfrm>
          <a:off x="1768475" y="2932113"/>
          <a:ext cx="90011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" name="公式" r:id="rId17" imgW="495000" imgH="241200" progId="Equation.3">
                  <p:embed/>
                </p:oleObj>
              </mc:Choice>
              <mc:Fallback>
                <p:oleObj name="公式" r:id="rId17" imgW="49500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2932113"/>
                        <a:ext cx="900113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4332288" y="3541713"/>
          <a:ext cx="3698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3" name="Equation" r:id="rId19" imgW="190440" imgH="253800" progId="Equation.3">
                  <p:embed/>
                </p:oleObj>
              </mc:Choice>
              <mc:Fallback>
                <p:oleObj name="Equation" r:id="rId19" imgW="190440" imgH="253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3541713"/>
                        <a:ext cx="369887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Oval 26"/>
          <p:cNvSpPr>
            <a:spLocks noChangeArrowheads="1"/>
          </p:cNvSpPr>
          <p:nvPr/>
        </p:nvSpPr>
        <p:spPr bwMode="auto">
          <a:xfrm>
            <a:off x="4529138" y="3536950"/>
            <a:ext cx="165100" cy="168275"/>
          </a:xfrm>
          <a:prstGeom prst="ellipse">
            <a:avLst/>
          </a:prstGeom>
          <a:gradFill rotWithShape="0">
            <a:gsLst>
              <a:gs pos="0">
                <a:srgbClr val="00FF00"/>
              </a:gs>
              <a:gs pos="100000">
                <a:srgbClr val="008F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7399338" y="2411413"/>
          <a:ext cx="2682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" name="公式" r:id="rId21" imgW="203040" imgH="241200" progId="Equation.3">
                  <p:embed/>
                </p:oleObj>
              </mc:Choice>
              <mc:Fallback>
                <p:oleObj name="公式" r:id="rId21" imgW="203040" imgH="241200" progId="Equation.3">
                  <p:embed/>
                  <p:pic>
                    <p:nvPicPr>
                      <p:cNvPr id="0" name="Object 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9338" y="2411413"/>
                        <a:ext cx="268287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6588125" y="2916238"/>
          <a:ext cx="482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" name="Equation" r:id="rId22" imgW="215640" imgH="266400" progId="Equation.3">
                  <p:embed/>
                </p:oleObj>
              </mc:Choice>
              <mc:Fallback>
                <p:oleObj name="Equation" r:id="rId22" imgW="215640" imgH="266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916238"/>
                        <a:ext cx="4826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F66A0A-158C-418B-AF40-9E7BF79AE2C8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5591175" y="4743450"/>
          <a:ext cx="31575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7" name="公式" r:id="rId3" imgW="1079280" imgH="203040" progId="Equation.3">
                  <p:embed/>
                </p:oleObj>
              </mc:Choice>
              <mc:Fallback>
                <p:oleObj name="公式" r:id="rId3" imgW="107928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4743450"/>
                        <a:ext cx="3157538" cy="5254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1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8" name="Group 10"/>
          <p:cNvGrpSpPr>
            <a:grpSpLocks/>
          </p:cNvGrpSpPr>
          <p:nvPr/>
        </p:nvGrpSpPr>
        <p:grpSpPr bwMode="auto">
          <a:xfrm>
            <a:off x="5519738" y="1790700"/>
            <a:ext cx="2951162" cy="2486025"/>
            <a:chOff x="3470" y="1117"/>
            <a:chExt cx="1859" cy="1566"/>
          </a:xfrm>
        </p:grpSpPr>
        <p:sp>
          <p:nvSpPr>
            <p:cNvPr id="14361" name="Text Box 4"/>
            <p:cNvSpPr txBox="1">
              <a:spLocks noChangeArrowheads="1"/>
            </p:cNvSpPr>
            <p:nvPr/>
          </p:nvSpPr>
          <p:spPr bwMode="auto">
            <a:xfrm>
              <a:off x="3470" y="1117"/>
              <a:ext cx="1859" cy="1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 sz="2800">
                  <a:solidFill>
                    <a:srgbClr val="000000"/>
                  </a:solidFill>
                </a:rPr>
                <a:t>以</a:t>
              </a:r>
              <a:r>
                <a:rPr lang="zh-CN" altLang="en-US" sz="2800" i="1">
                  <a:solidFill>
                    <a:srgbClr val="000000"/>
                  </a:solidFill>
                </a:rPr>
                <a:t>    </a:t>
              </a:r>
              <a:r>
                <a:rPr lang="zh-CN" altLang="en-US" sz="2800">
                  <a:solidFill>
                    <a:srgbClr val="000000"/>
                  </a:solidFill>
                </a:rPr>
                <a:t>为原点旋转矢量     的端点在       </a:t>
              </a: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r>
                <a:rPr lang="zh-CN" altLang="en-US" sz="2800">
                  <a:solidFill>
                    <a:srgbClr val="000000"/>
                  </a:solidFill>
                </a:rPr>
                <a:t>轴上的</a:t>
              </a:r>
              <a:r>
                <a:rPr lang="zh-CN" altLang="en-US" sz="2800">
                  <a:solidFill>
                    <a:srgbClr val="FF0000"/>
                  </a:solidFill>
                </a:rPr>
                <a:t>投影点</a:t>
              </a:r>
              <a:r>
                <a:rPr lang="zh-CN" altLang="en-US" sz="2800">
                  <a:solidFill>
                    <a:srgbClr val="000000"/>
                  </a:solidFill>
                </a:rPr>
                <a:t>的运动为</a:t>
              </a:r>
              <a:r>
                <a:rPr lang="zh-CN" altLang="en-US" sz="2800">
                  <a:solidFill>
                    <a:srgbClr val="FF0000"/>
                  </a:solidFill>
                </a:rPr>
                <a:t>简谐运动</a:t>
              </a: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</p:txBody>
        </p:sp>
        <p:graphicFrame>
          <p:nvGraphicFramePr>
            <p:cNvPr id="14345" name="Object 9"/>
            <p:cNvGraphicFramePr>
              <a:graphicFrameLocks noChangeAspect="1"/>
            </p:cNvGraphicFramePr>
            <p:nvPr/>
          </p:nvGraphicFramePr>
          <p:xfrm>
            <a:off x="3969" y="1570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8" name="Equation" r:id="rId5" imgW="215640" imgH="266400" progId="Equation.3">
                    <p:embed/>
                  </p:oleObj>
                </mc:Choice>
                <mc:Fallback>
                  <p:oleObj name="Equation" r:id="rId5" imgW="215640" imgH="2664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570"/>
                          <a:ext cx="304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Object 10"/>
            <p:cNvGraphicFramePr>
              <a:graphicFrameLocks noChangeAspect="1"/>
            </p:cNvGraphicFramePr>
            <p:nvPr/>
          </p:nvGraphicFramePr>
          <p:xfrm>
            <a:off x="3771" y="1269"/>
            <a:ext cx="28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9" name="Equation" r:id="rId7" imgW="139680" imgH="152280" progId="Equation.3">
                    <p:embed/>
                  </p:oleObj>
                </mc:Choice>
                <mc:Fallback>
                  <p:oleObj name="Equation" r:id="rId7" imgW="139680" imgH="1522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1" y="1269"/>
                          <a:ext cx="288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9" name="Rectangle 12"/>
          <p:cNvSpPr>
            <a:spLocks noChangeArrowheads="1"/>
          </p:cNvSpPr>
          <p:nvPr/>
        </p:nvSpPr>
        <p:spPr bwMode="auto">
          <a:xfrm>
            <a:off x="487363" y="1574800"/>
            <a:ext cx="4876800" cy="403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sp>
        <p:nvSpPr>
          <p:cNvPr id="14350" name="Line 13"/>
          <p:cNvSpPr>
            <a:spLocks noChangeShapeType="1"/>
          </p:cNvSpPr>
          <p:nvPr/>
        </p:nvSpPr>
        <p:spPr bwMode="auto">
          <a:xfrm>
            <a:off x="715963" y="3725863"/>
            <a:ext cx="4543425" cy="0"/>
          </a:xfrm>
          <a:prstGeom prst="line">
            <a:avLst/>
          </a:prstGeom>
          <a:noFill/>
          <a:ln w="28575">
            <a:solidFill>
              <a:srgbClr val="99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2600325" y="3754438"/>
          <a:ext cx="2857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" name="Equation" r:id="rId9" imgW="164880" imgH="190440" progId="Equation.3">
                  <p:embed/>
                </p:oleObj>
              </mc:Choice>
              <mc:Fallback>
                <p:oleObj name="Equation" r:id="rId9" imgW="164880" imgH="190440" progId="Equation.3">
                  <p:embed/>
                  <p:pic>
                    <p:nvPicPr>
                      <p:cNvPr id="0" name="Object 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3754438"/>
                        <a:ext cx="285750" cy="33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3276600" y="2078038"/>
          <a:ext cx="42068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" name="Equation" r:id="rId11" imgW="177480" imgH="215640" progId="Equation.3">
                  <p:embed/>
                </p:oleObj>
              </mc:Choice>
              <mc:Fallback>
                <p:oleObj name="Equation" r:id="rId11" imgW="177480" imgH="215640" progId="Equation.3">
                  <p:embed/>
                  <p:pic>
                    <p:nvPicPr>
                      <p:cNvPr id="0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78038"/>
                        <a:ext cx="420688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Line 18"/>
          <p:cNvSpPr>
            <a:spLocks noChangeShapeType="1"/>
          </p:cNvSpPr>
          <p:nvPr/>
        </p:nvSpPr>
        <p:spPr bwMode="auto">
          <a:xfrm flipV="1">
            <a:off x="2925763" y="1881188"/>
            <a:ext cx="0" cy="3590925"/>
          </a:xfrm>
          <a:prstGeom prst="line">
            <a:avLst/>
          </a:prstGeom>
          <a:noFill/>
          <a:ln w="28575">
            <a:solidFill>
              <a:srgbClr val="9900CC"/>
            </a:solidFill>
            <a:prstDash val="dash"/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1601788" y="2746375"/>
          <a:ext cx="76041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" name="Equation" r:id="rId13" imgW="291960" imgH="152280" progId="Equation.3">
                  <p:embed/>
                </p:oleObj>
              </mc:Choice>
              <mc:Fallback>
                <p:oleObj name="Equation" r:id="rId13" imgW="291960" imgH="152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2746375"/>
                        <a:ext cx="760412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Line 20"/>
          <p:cNvSpPr>
            <a:spLocks noChangeShapeType="1"/>
          </p:cNvSpPr>
          <p:nvPr/>
        </p:nvSpPr>
        <p:spPr bwMode="auto">
          <a:xfrm flipV="1">
            <a:off x="2925763" y="2387600"/>
            <a:ext cx="1168400" cy="1320800"/>
          </a:xfrm>
          <a:prstGeom prst="line">
            <a:avLst/>
          </a:prstGeom>
          <a:noFill/>
          <a:ln w="38100">
            <a:solidFill>
              <a:srgbClr val="F01A04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Line 21"/>
          <p:cNvSpPr>
            <a:spLocks noChangeShapeType="1"/>
          </p:cNvSpPr>
          <p:nvPr/>
        </p:nvSpPr>
        <p:spPr bwMode="auto">
          <a:xfrm>
            <a:off x="4100513" y="2428875"/>
            <a:ext cx="0" cy="129063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Arc 22"/>
          <p:cNvSpPr>
            <a:spLocks/>
          </p:cNvSpPr>
          <p:nvPr/>
        </p:nvSpPr>
        <p:spPr bwMode="auto">
          <a:xfrm>
            <a:off x="3389313" y="3186113"/>
            <a:ext cx="277812" cy="534987"/>
          </a:xfrm>
          <a:custGeom>
            <a:avLst/>
            <a:gdLst>
              <a:gd name="T0" fmla="*/ 619508 w 21600"/>
              <a:gd name="T1" fmla="*/ 0 h 21767"/>
              <a:gd name="T2" fmla="*/ 3572135 w 21600"/>
              <a:gd name="T3" fmla="*/ 13148855 h 21767"/>
              <a:gd name="T4" fmla="*/ 0 w 21600"/>
              <a:gd name="T5" fmla="*/ 12850452 h 21767"/>
              <a:gd name="T6" fmla="*/ 0 60000 65536"/>
              <a:gd name="T7" fmla="*/ 0 60000 65536"/>
              <a:gd name="T8" fmla="*/ 0 60000 65536"/>
              <a:gd name="T9" fmla="*/ 0 w 21600"/>
              <a:gd name="T10" fmla="*/ 0 h 21767"/>
              <a:gd name="T11" fmla="*/ 21600 w 21600"/>
              <a:gd name="T12" fmla="*/ 21767 h 217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767" fill="none" extrusionOk="0">
                <a:moveTo>
                  <a:pt x="3744" y="0"/>
                </a:moveTo>
                <a:cubicBezTo>
                  <a:pt x="14070" y="1817"/>
                  <a:pt x="21600" y="10788"/>
                  <a:pt x="21600" y="21273"/>
                </a:cubicBezTo>
                <a:cubicBezTo>
                  <a:pt x="21600" y="21437"/>
                  <a:pt x="21598" y="21602"/>
                  <a:pt x="21594" y="21767"/>
                </a:cubicBezTo>
              </a:path>
              <a:path w="21600" h="21767" stroke="0" extrusionOk="0">
                <a:moveTo>
                  <a:pt x="3744" y="0"/>
                </a:moveTo>
                <a:cubicBezTo>
                  <a:pt x="14070" y="1817"/>
                  <a:pt x="21600" y="10788"/>
                  <a:pt x="21600" y="21273"/>
                </a:cubicBezTo>
                <a:cubicBezTo>
                  <a:pt x="21600" y="21437"/>
                  <a:pt x="21598" y="21602"/>
                  <a:pt x="21594" y="21767"/>
                </a:cubicBezTo>
                <a:lnTo>
                  <a:pt x="0" y="21273"/>
                </a:lnTo>
                <a:close/>
              </a:path>
            </a:pathLst>
          </a:custGeom>
          <a:noFill/>
          <a:ln w="28575">
            <a:solidFill>
              <a:srgbClr val="CC00CC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635375" y="3086100"/>
          <a:ext cx="8747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" name="公式" r:id="rId15" imgW="672840" imgH="266400" progId="Equation.3">
                  <p:embed/>
                </p:oleObj>
              </mc:Choice>
              <mc:Fallback>
                <p:oleObj name="公式" r:id="rId15" imgW="672840" imgH="26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086100"/>
                        <a:ext cx="874713" cy="3492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66FF66"/>
                          </a:gs>
                          <a:gs pos="50000">
                            <a:srgbClr val="FFFFFF"/>
                          </a:gs>
                          <a:gs pos="100000">
                            <a:srgbClr val="66FF66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Text Box 25"/>
          <p:cNvSpPr txBox="1">
            <a:spLocks noChangeArrowheads="1"/>
          </p:cNvSpPr>
          <p:nvPr/>
        </p:nvSpPr>
        <p:spPr bwMode="auto">
          <a:xfrm>
            <a:off x="2322513" y="2665413"/>
            <a:ext cx="500062" cy="51911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/>
            <a:endParaRPr lang="zh-CN" altLang="zh-CN" sz="2800">
              <a:solidFill>
                <a:srgbClr val="000000"/>
              </a:solidFill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1096963" y="1855788"/>
            <a:ext cx="3546475" cy="3589337"/>
          </a:xfrm>
          <a:prstGeom prst="ellips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sp>
        <p:nvSpPr>
          <p:cNvPr id="14357" name="Oval 27"/>
          <p:cNvSpPr>
            <a:spLocks noChangeArrowheads="1"/>
          </p:cNvSpPr>
          <p:nvPr/>
        </p:nvSpPr>
        <p:spPr bwMode="auto">
          <a:xfrm>
            <a:off x="4021138" y="3629025"/>
            <a:ext cx="166687" cy="168275"/>
          </a:xfrm>
          <a:prstGeom prst="ellipse">
            <a:avLst/>
          </a:prstGeom>
          <a:gradFill rotWithShape="0">
            <a:gsLst>
              <a:gs pos="0">
                <a:srgbClr val="00FF00"/>
              </a:gs>
              <a:gs pos="100000">
                <a:srgbClr val="008F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kumimoji="1" lang="zh-CN" altLang="en-US" sz="2800">
              <a:solidFill>
                <a:srgbClr val="000000"/>
              </a:solidFill>
            </a:endParaRPr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4918075" y="3756025"/>
          <a:ext cx="2667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" name="Equation" r:id="rId17" imgW="139680" imgH="152280" progId="Equation.3">
                  <p:embed/>
                </p:oleObj>
              </mc:Choice>
              <mc:Fallback>
                <p:oleObj name="Equation" r:id="rId17" imgW="139680" imgH="152280" progId="Equation.3">
                  <p:embed/>
                  <p:pic>
                    <p:nvPicPr>
                      <p:cNvPr id="0" name="Object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3756025"/>
                        <a:ext cx="266700" cy="29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8" name="Group 29"/>
          <p:cNvGrpSpPr>
            <a:grpSpLocks/>
          </p:cNvGrpSpPr>
          <p:nvPr/>
        </p:nvGrpSpPr>
        <p:grpSpPr bwMode="auto">
          <a:xfrm>
            <a:off x="4140200" y="1719263"/>
            <a:ext cx="666750" cy="584200"/>
            <a:chOff x="2497" y="1075"/>
            <a:chExt cx="420" cy="368"/>
          </a:xfrm>
        </p:grpSpPr>
        <p:sp>
          <p:nvSpPr>
            <p:cNvPr id="14360" name="Arc 30"/>
            <p:cNvSpPr>
              <a:spLocks/>
            </p:cNvSpPr>
            <p:nvPr/>
          </p:nvSpPr>
          <p:spPr bwMode="auto">
            <a:xfrm>
              <a:off x="2689" y="1223"/>
              <a:ext cx="228" cy="220"/>
            </a:xfrm>
            <a:custGeom>
              <a:avLst/>
              <a:gdLst>
                <a:gd name="T0" fmla="*/ 1 w 21285"/>
                <a:gd name="T1" fmla="*/ 0 h 20757"/>
                <a:gd name="T2" fmla="*/ 2 w 21285"/>
                <a:gd name="T3" fmla="*/ 2 h 20757"/>
                <a:gd name="T4" fmla="*/ 0 w 21285"/>
                <a:gd name="T5" fmla="*/ 2 h 20757"/>
                <a:gd name="T6" fmla="*/ 0 60000 65536"/>
                <a:gd name="T7" fmla="*/ 0 60000 65536"/>
                <a:gd name="T8" fmla="*/ 0 60000 65536"/>
                <a:gd name="T9" fmla="*/ 0 w 21285"/>
                <a:gd name="T10" fmla="*/ 0 h 20757"/>
                <a:gd name="T11" fmla="*/ 21285 w 21285"/>
                <a:gd name="T12" fmla="*/ 20757 h 207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85" h="20757" fill="none" extrusionOk="0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</a:path>
                <a:path w="21285" h="20757" stroke="0" extrusionOk="0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  <a:lnTo>
                    <a:pt x="0" y="20757"/>
                  </a:lnTo>
                  <a:close/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4" name="Object 8"/>
            <p:cNvGraphicFramePr>
              <a:graphicFrameLocks noChangeAspect="1"/>
            </p:cNvGraphicFramePr>
            <p:nvPr/>
          </p:nvGraphicFramePr>
          <p:xfrm>
            <a:off x="2497" y="1075"/>
            <a:ext cx="31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5" name="Equation" r:id="rId19" imgW="177480" imgH="152280" progId="Equation.3">
                    <p:embed/>
                  </p:oleObj>
                </mc:Choice>
                <mc:Fallback>
                  <p:oleObj name="Equation" r:id="rId19" imgW="177480" imgH="152280" progId="Equation.3">
                    <p:embed/>
                    <p:pic>
                      <p:nvPicPr>
                        <p:cNvPr id="0" name="Object 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" y="1075"/>
                          <a:ext cx="310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9" name="Text Box 32"/>
          <p:cNvSpPr txBox="1">
            <a:spLocks noChangeArrowheads="1"/>
          </p:cNvSpPr>
          <p:nvPr/>
        </p:nvSpPr>
        <p:spPr bwMode="auto">
          <a:xfrm>
            <a:off x="2484438" y="476250"/>
            <a:ext cx="38369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Tahoma" pitchFamily="34" charset="0"/>
              </a:rPr>
              <a:t>用旋转矢量表示位移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E82DA2-B2CB-427B-A36B-936E73BE6710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grpSp>
        <p:nvGrpSpPr>
          <p:cNvPr id="18444" name="Group 2"/>
          <p:cNvGrpSpPr>
            <a:grpSpLocks/>
          </p:cNvGrpSpPr>
          <p:nvPr/>
        </p:nvGrpSpPr>
        <p:grpSpPr bwMode="auto">
          <a:xfrm>
            <a:off x="403225" y="646113"/>
            <a:ext cx="8458200" cy="3187700"/>
            <a:chOff x="254" y="289"/>
            <a:chExt cx="5328" cy="2008"/>
          </a:xfrm>
        </p:grpSpPr>
        <p:sp>
          <p:nvSpPr>
            <p:cNvPr id="18454" name="Text Box 3"/>
            <p:cNvSpPr txBox="1">
              <a:spLocks noChangeArrowheads="1"/>
            </p:cNvSpPr>
            <p:nvPr/>
          </p:nvSpPr>
          <p:spPr bwMode="auto">
            <a:xfrm>
              <a:off x="254" y="289"/>
              <a:ext cx="5328" cy="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>
                  <a:solidFill>
                    <a:srgbClr val="CC0000"/>
                  </a:solidFill>
                </a:rPr>
                <a:t>例</a:t>
              </a:r>
              <a:r>
                <a:rPr lang="zh-CN" altLang="en-US" sz="2800">
                  <a:solidFill>
                    <a:srgbClr val="000000"/>
                  </a:solidFill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</a:rPr>
                <a:t>    </a:t>
              </a:r>
              <a:r>
                <a:rPr lang="zh-CN" altLang="en-US" sz="2800">
                  <a:solidFill>
                    <a:srgbClr val="000000"/>
                  </a:solidFill>
                </a:rPr>
                <a:t>一质量为</a:t>
              </a:r>
              <a:r>
                <a:rPr lang="en-US" altLang="zh-CN" sz="2800">
                  <a:solidFill>
                    <a:srgbClr val="000000"/>
                  </a:solidFill>
                </a:rPr>
                <a:t>0.01 kg</a:t>
              </a:r>
              <a:r>
                <a:rPr lang="zh-CN" altLang="en-US" sz="2800">
                  <a:solidFill>
                    <a:srgbClr val="000000"/>
                  </a:solidFill>
                </a:rPr>
                <a:t>的物体作简谐运动，其振幅为</a:t>
              </a:r>
              <a:r>
                <a:rPr lang="en-US" altLang="zh-CN" sz="2800">
                  <a:solidFill>
                    <a:srgbClr val="000000"/>
                  </a:solidFill>
                </a:rPr>
                <a:t>0.08 m</a:t>
              </a:r>
              <a:r>
                <a:rPr lang="zh-CN" altLang="en-US" sz="2800">
                  <a:solidFill>
                    <a:srgbClr val="000000"/>
                  </a:solidFill>
                </a:rPr>
                <a:t>，周期为</a:t>
              </a:r>
              <a:r>
                <a:rPr lang="en-US" altLang="zh-CN" sz="2800">
                  <a:solidFill>
                    <a:srgbClr val="000000"/>
                  </a:solidFill>
                </a:rPr>
                <a:t>4 s</a:t>
              </a:r>
              <a:r>
                <a:rPr lang="zh-CN" altLang="en-US" sz="2800">
                  <a:solidFill>
                    <a:srgbClr val="000000"/>
                  </a:solidFill>
                </a:rPr>
                <a:t>，起始时刻物体在 </a:t>
              </a:r>
              <a:r>
                <a:rPr lang="zh-CN" altLang="en-US" sz="2800" i="1">
                  <a:solidFill>
                    <a:srgbClr val="000000"/>
                  </a:solidFill>
                </a:rPr>
                <a:t>                </a:t>
              </a:r>
              <a:r>
                <a:rPr lang="zh-CN" altLang="en-US" sz="2800">
                  <a:solidFill>
                    <a:srgbClr val="000000"/>
                  </a:solidFill>
                </a:rPr>
                <a:t>处，向</a:t>
              </a:r>
              <a:r>
                <a:rPr lang="en-US" altLang="zh-CN" sz="2800">
                  <a:solidFill>
                    <a:srgbClr val="000000"/>
                  </a:solidFill>
                </a:rPr>
                <a:t>o</a:t>
              </a:r>
              <a:r>
                <a:rPr lang="en-US" altLang="zh-CN" sz="2800" i="1">
                  <a:solidFill>
                    <a:srgbClr val="000000"/>
                  </a:solidFill>
                </a:rPr>
                <a:t>x </a:t>
              </a:r>
              <a:r>
                <a:rPr lang="zh-CN" altLang="en-US" sz="2800">
                  <a:solidFill>
                    <a:srgbClr val="000000"/>
                  </a:solidFill>
                </a:rPr>
                <a:t>轴负方向运动（如图）</a:t>
              </a: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  <a:endParaRPr lang="en-US" altLang="zh-CN" sz="2800">
                <a:solidFill>
                  <a:srgbClr val="CC0000"/>
                </a:solidFill>
              </a:endParaRPr>
            </a:p>
          </p:txBody>
        </p:sp>
        <p:sp>
          <p:nvSpPr>
            <p:cNvPr id="18455" name="Rectangle 4"/>
            <p:cNvSpPr>
              <a:spLocks noChangeArrowheads="1"/>
            </p:cNvSpPr>
            <p:nvPr/>
          </p:nvSpPr>
          <p:spPr bwMode="auto">
            <a:xfrm>
              <a:off x="448" y="1269"/>
              <a:ext cx="5040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>
                  <a:solidFill>
                    <a:srgbClr val="CC0000"/>
                  </a:solidFill>
                </a:rPr>
                <a:t>（</a:t>
              </a:r>
              <a:r>
                <a:rPr lang="en-US" altLang="zh-CN" sz="2800">
                  <a:solidFill>
                    <a:srgbClr val="CC0000"/>
                  </a:solidFill>
                </a:rPr>
                <a:t>1</a:t>
              </a:r>
              <a:r>
                <a:rPr lang="zh-CN" altLang="en-US" sz="2800">
                  <a:solidFill>
                    <a:srgbClr val="CC0000"/>
                  </a:solidFill>
                </a:rPr>
                <a:t>）</a:t>
              </a:r>
              <a:r>
                <a:rPr lang="en-US" altLang="zh-CN" sz="2800" i="1">
                  <a:solidFill>
                    <a:srgbClr val="000000"/>
                  </a:solidFill>
                </a:rPr>
                <a:t>t </a:t>
              </a:r>
              <a:r>
                <a:rPr lang="en-US" altLang="zh-CN" sz="2800">
                  <a:solidFill>
                    <a:srgbClr val="000000"/>
                  </a:solidFill>
                </a:rPr>
                <a:t>=1.0 s</a:t>
              </a:r>
              <a:r>
                <a:rPr lang="zh-CN" altLang="en-US" sz="2800">
                  <a:solidFill>
                    <a:srgbClr val="000000"/>
                  </a:solidFill>
                </a:rPr>
                <a:t>时，物体所处的位置和所受的力；   </a:t>
              </a:r>
            </a:p>
          </p:txBody>
        </p:sp>
        <p:sp>
          <p:nvSpPr>
            <p:cNvPr id="18456" name="Rectangle 5"/>
            <p:cNvSpPr>
              <a:spLocks noChangeArrowheads="1"/>
            </p:cNvSpPr>
            <p:nvPr/>
          </p:nvSpPr>
          <p:spPr bwMode="auto">
            <a:xfrm>
              <a:off x="272" y="1240"/>
              <a:ext cx="425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>
                  <a:solidFill>
                    <a:srgbClr val="CC0000"/>
                  </a:solidFill>
                </a:rPr>
                <a:t>求</a:t>
              </a:r>
            </a:p>
          </p:txBody>
        </p:sp>
        <p:sp>
          <p:nvSpPr>
            <p:cNvPr id="18457" name="Rectangle 6"/>
            <p:cNvSpPr>
              <a:spLocks noChangeArrowheads="1"/>
            </p:cNvSpPr>
            <p:nvPr/>
          </p:nvSpPr>
          <p:spPr bwMode="auto">
            <a:xfrm>
              <a:off x="343" y="1593"/>
              <a:ext cx="5088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800">
                  <a:solidFill>
                    <a:srgbClr val="CC0000"/>
                  </a:solidFill>
                </a:rPr>
                <a:t>  </a:t>
              </a:r>
              <a:r>
                <a:rPr lang="zh-CN" altLang="en-US" sz="2800">
                  <a:solidFill>
                    <a:srgbClr val="CC0000"/>
                  </a:solidFill>
                </a:rPr>
                <a:t>（</a:t>
              </a:r>
              <a:r>
                <a:rPr lang="en-US" altLang="zh-CN" sz="2800">
                  <a:solidFill>
                    <a:srgbClr val="CC0000"/>
                  </a:solidFill>
                </a:rPr>
                <a:t>2</a:t>
              </a:r>
              <a:r>
                <a:rPr lang="zh-CN" altLang="en-US" sz="2800">
                  <a:solidFill>
                    <a:srgbClr val="CC0000"/>
                  </a:solidFill>
                </a:rPr>
                <a:t>）</a:t>
              </a:r>
              <a:r>
                <a:rPr lang="zh-CN" altLang="en-US" sz="2800">
                  <a:solidFill>
                    <a:srgbClr val="000000"/>
                  </a:solidFill>
                </a:rPr>
                <a:t>由起始位置运动到 </a:t>
              </a:r>
              <a:r>
                <a:rPr lang="zh-CN" altLang="en-US" sz="2800" i="1">
                  <a:solidFill>
                    <a:srgbClr val="000000"/>
                  </a:solidFill>
                </a:rPr>
                <a:t>                   </a:t>
              </a:r>
              <a:r>
                <a:rPr lang="zh-CN" altLang="en-US" sz="2800">
                  <a:solidFill>
                    <a:srgbClr val="000000"/>
                  </a:solidFill>
                </a:rPr>
                <a:t>处所需要的最短时间</a:t>
              </a: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</p:txBody>
        </p:sp>
        <p:graphicFrame>
          <p:nvGraphicFramePr>
            <p:cNvPr id="18441" name="Object 7"/>
            <p:cNvGraphicFramePr>
              <a:graphicFrameLocks noChangeAspect="1"/>
            </p:cNvGraphicFramePr>
            <p:nvPr/>
          </p:nvGraphicFramePr>
          <p:xfrm>
            <a:off x="2936" y="1678"/>
            <a:ext cx="102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3" name="公式" r:id="rId3" imgW="774360" imgH="177480" progId="Equation.3">
                    <p:embed/>
                  </p:oleObj>
                </mc:Choice>
                <mc:Fallback>
                  <p:oleObj name="公式" r:id="rId3" imgW="774360" imgH="177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6" y="1678"/>
                          <a:ext cx="1021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Object 8"/>
            <p:cNvGraphicFramePr>
              <a:graphicFrameLocks noChangeAspect="1"/>
            </p:cNvGraphicFramePr>
            <p:nvPr/>
          </p:nvGraphicFramePr>
          <p:xfrm>
            <a:off x="3916" y="706"/>
            <a:ext cx="92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4" name="公式" r:id="rId5" imgW="698400" imgH="177480" progId="Equation.3">
                    <p:embed/>
                  </p:oleObj>
                </mc:Choice>
                <mc:Fallback>
                  <p:oleObj name="公式" r:id="rId5" imgW="698400" imgH="1774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706"/>
                          <a:ext cx="92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5" name="Group 9"/>
          <p:cNvGrpSpPr>
            <a:grpSpLocks/>
          </p:cNvGrpSpPr>
          <p:nvPr/>
        </p:nvGrpSpPr>
        <p:grpSpPr bwMode="auto">
          <a:xfrm>
            <a:off x="1285875" y="4149725"/>
            <a:ext cx="6705600" cy="1390650"/>
            <a:chOff x="682" y="2721"/>
            <a:chExt cx="4224" cy="876"/>
          </a:xfrm>
        </p:grpSpPr>
        <p:sp>
          <p:nvSpPr>
            <p:cNvPr id="18446" name="Line 10"/>
            <p:cNvSpPr>
              <a:spLocks noChangeShapeType="1"/>
            </p:cNvSpPr>
            <p:nvPr/>
          </p:nvSpPr>
          <p:spPr bwMode="auto">
            <a:xfrm>
              <a:off x="826" y="3201"/>
              <a:ext cx="39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7" name="Oval 11"/>
            <p:cNvSpPr>
              <a:spLocks noChangeArrowheads="1"/>
            </p:cNvSpPr>
            <p:nvPr/>
          </p:nvSpPr>
          <p:spPr bwMode="auto">
            <a:xfrm>
              <a:off x="3178" y="3105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8448" name="Line 12"/>
            <p:cNvSpPr>
              <a:spLocks noChangeShapeType="1"/>
            </p:cNvSpPr>
            <p:nvPr/>
          </p:nvSpPr>
          <p:spPr bwMode="auto">
            <a:xfrm flipV="1">
              <a:off x="1258" y="300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9" name="Line 13"/>
            <p:cNvSpPr>
              <a:spLocks noChangeShapeType="1"/>
            </p:cNvSpPr>
            <p:nvPr/>
          </p:nvSpPr>
          <p:spPr bwMode="auto">
            <a:xfrm flipV="1">
              <a:off x="1930" y="300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0" name="Line 14"/>
            <p:cNvSpPr>
              <a:spLocks noChangeShapeType="1"/>
            </p:cNvSpPr>
            <p:nvPr/>
          </p:nvSpPr>
          <p:spPr bwMode="auto">
            <a:xfrm flipV="1">
              <a:off x="2602" y="3009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1" name="Line 15"/>
            <p:cNvSpPr>
              <a:spLocks noChangeShapeType="1"/>
            </p:cNvSpPr>
            <p:nvPr/>
          </p:nvSpPr>
          <p:spPr bwMode="auto">
            <a:xfrm flipV="1">
              <a:off x="3946" y="300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2" name="Line 16"/>
            <p:cNvSpPr>
              <a:spLocks noChangeShapeType="1"/>
            </p:cNvSpPr>
            <p:nvPr/>
          </p:nvSpPr>
          <p:spPr bwMode="auto">
            <a:xfrm flipV="1">
              <a:off x="3274" y="3009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8434" name="Object 17"/>
            <p:cNvGraphicFramePr>
              <a:graphicFrameLocks noChangeAspect="1"/>
            </p:cNvGraphicFramePr>
            <p:nvPr/>
          </p:nvGraphicFramePr>
          <p:xfrm>
            <a:off x="2458" y="3201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5" name="Equation" r:id="rId7" imgW="126720" imgH="139680" progId="Equation.3">
                    <p:embed/>
                  </p:oleObj>
                </mc:Choice>
                <mc:Fallback>
                  <p:oleObj name="Equation" r:id="rId7" imgW="126720" imgH="1396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8" y="3201"/>
                          <a:ext cx="302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5" name="Object 18"/>
            <p:cNvGraphicFramePr>
              <a:graphicFrameLocks noChangeAspect="1"/>
            </p:cNvGraphicFramePr>
            <p:nvPr/>
          </p:nvGraphicFramePr>
          <p:xfrm>
            <a:off x="682" y="3285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6" name="Equation" r:id="rId9" imgW="419040" imgH="177480" progId="Equation.3">
                    <p:embed/>
                  </p:oleObj>
                </mc:Choice>
                <mc:Fallback>
                  <p:oleObj name="Equation" r:id="rId9" imgW="419040" imgH="17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3285"/>
                          <a:ext cx="708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6" name="Object 19"/>
            <p:cNvGraphicFramePr>
              <a:graphicFrameLocks noChangeAspect="1"/>
            </p:cNvGraphicFramePr>
            <p:nvPr/>
          </p:nvGraphicFramePr>
          <p:xfrm>
            <a:off x="1498" y="3285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7" name="Equation" r:id="rId11" imgW="419040" imgH="177480" progId="Equation.3">
                    <p:embed/>
                  </p:oleObj>
                </mc:Choice>
                <mc:Fallback>
                  <p:oleObj name="Equation" r:id="rId11" imgW="419040" imgH="1774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8" y="3285"/>
                          <a:ext cx="708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7" name="Object 20"/>
            <p:cNvGraphicFramePr>
              <a:graphicFrameLocks noChangeAspect="1"/>
            </p:cNvGraphicFramePr>
            <p:nvPr/>
          </p:nvGraphicFramePr>
          <p:xfrm>
            <a:off x="3034" y="3297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8" name="Equation" r:id="rId13" imgW="317160" imgH="177480" progId="Equation.3">
                    <p:embed/>
                  </p:oleObj>
                </mc:Choice>
                <mc:Fallback>
                  <p:oleObj name="Equation" r:id="rId13" imgW="317160" imgH="1774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4" y="3297"/>
                          <a:ext cx="536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8" name="Object 21"/>
            <p:cNvGraphicFramePr>
              <a:graphicFrameLocks noChangeAspect="1"/>
            </p:cNvGraphicFramePr>
            <p:nvPr/>
          </p:nvGraphicFramePr>
          <p:xfrm>
            <a:off x="3802" y="3285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9" name="Equation" r:id="rId15" imgW="304560" imgH="177480" progId="Equation.3">
                    <p:embed/>
                  </p:oleObj>
                </mc:Choice>
                <mc:Fallback>
                  <p:oleObj name="Equation" r:id="rId15" imgW="304560" imgH="1774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2" y="3285"/>
                          <a:ext cx="515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22"/>
            <p:cNvGraphicFramePr>
              <a:graphicFrameLocks noChangeAspect="1"/>
            </p:cNvGraphicFramePr>
            <p:nvPr/>
          </p:nvGraphicFramePr>
          <p:xfrm>
            <a:off x="4426" y="2917"/>
            <a:ext cx="48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0" name="Equation" r:id="rId17" imgW="342720" imgH="177480" progId="Equation.3">
                    <p:embed/>
                  </p:oleObj>
                </mc:Choice>
                <mc:Fallback>
                  <p:oleObj name="Equation" r:id="rId17" imgW="342720" imgH="1774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6" y="2917"/>
                          <a:ext cx="480" cy="2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Line 23"/>
            <p:cNvSpPr>
              <a:spLocks noChangeShapeType="1"/>
            </p:cNvSpPr>
            <p:nvPr/>
          </p:nvSpPr>
          <p:spPr bwMode="auto">
            <a:xfrm flipH="1">
              <a:off x="2986" y="2817"/>
              <a:ext cx="5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8440" name="Object 24"/>
            <p:cNvGraphicFramePr>
              <a:graphicFrameLocks noChangeAspect="1"/>
            </p:cNvGraphicFramePr>
            <p:nvPr/>
          </p:nvGraphicFramePr>
          <p:xfrm>
            <a:off x="2737" y="2721"/>
            <a:ext cx="21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1" name="Equation" r:id="rId19" imgW="126720" imgH="139680" progId="Equation.3">
                    <p:embed/>
                  </p:oleObj>
                </mc:Choice>
                <mc:Fallback>
                  <p:oleObj name="Equation" r:id="rId19" imgW="126720" imgH="1396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7" y="2721"/>
                          <a:ext cx="210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DF000-0B74-4604-8153-148DF0BA0B62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792288" y="668338"/>
          <a:ext cx="42941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5" name="公式" r:id="rId3" imgW="1993680" imgH="203040" progId="Equation.3">
                  <p:embed/>
                </p:oleObj>
              </mc:Choice>
              <mc:Fallback>
                <p:oleObj name="公式" r:id="rId3" imgW="199368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668338"/>
                        <a:ext cx="4294187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6" name="Text Box 3"/>
          <p:cNvSpPr txBox="1">
            <a:spLocks noChangeArrowheads="1"/>
          </p:cNvSpPr>
          <p:nvPr/>
        </p:nvSpPr>
        <p:spPr bwMode="auto">
          <a:xfrm>
            <a:off x="385763" y="550863"/>
            <a:ext cx="1319212" cy="51911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CC0000"/>
                </a:solidFill>
              </a:rPr>
              <a:t>已知</a:t>
            </a:r>
            <a:r>
              <a:rPr lang="en-US" altLang="zh-CN" sz="2800">
                <a:solidFill>
                  <a:srgbClr val="CC0000"/>
                </a:solidFill>
              </a:rPr>
              <a:t>:</a:t>
            </a: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865188" y="1190625"/>
          <a:ext cx="31003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6" name="公式" r:id="rId5" imgW="1434960" imgH="203040" progId="Equation.3">
                  <p:embed/>
                </p:oleObj>
              </mc:Choice>
              <mc:Fallback>
                <p:oleObj name="公式" r:id="rId5" imgW="14349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1190625"/>
                        <a:ext cx="31003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7" name="Text Box 5"/>
          <p:cNvSpPr txBox="1">
            <a:spLocks noChangeArrowheads="1"/>
          </p:cNvSpPr>
          <p:nvPr/>
        </p:nvSpPr>
        <p:spPr bwMode="auto">
          <a:xfrm>
            <a:off x="425450" y="1676400"/>
            <a:ext cx="1489075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CC0000"/>
                </a:solidFill>
              </a:rPr>
              <a:t>求</a:t>
            </a:r>
            <a:r>
              <a:rPr lang="en-US" altLang="zh-CN" sz="2800">
                <a:solidFill>
                  <a:srgbClr val="CC0000"/>
                </a:solidFill>
                <a:sym typeface="Wingdings" pitchFamily="2" charset="2"/>
              </a:rPr>
              <a:t>: (1)</a:t>
            </a:r>
            <a:endParaRPr lang="en-US" altLang="zh-CN" sz="2800">
              <a:solidFill>
                <a:srgbClr val="CC0000"/>
              </a:solidFill>
            </a:endParaRPr>
          </a:p>
        </p:txBody>
      </p:sp>
      <p:graphicFrame>
        <p:nvGraphicFramePr>
          <p:cNvPr id="19460" name="Object 6"/>
          <p:cNvGraphicFramePr>
            <a:graphicFrameLocks noChangeAspect="1"/>
          </p:cNvGraphicFramePr>
          <p:nvPr/>
        </p:nvGraphicFramePr>
        <p:xfrm>
          <a:off x="1908175" y="1712913"/>
          <a:ext cx="18653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7" name="公式" r:id="rId7" imgW="863280" imgH="203040" progId="Equation.3">
                  <p:embed/>
                </p:oleObj>
              </mc:Choice>
              <mc:Fallback>
                <p:oleObj name="公式" r:id="rId7" imgW="863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712913"/>
                        <a:ext cx="1865313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31800" y="2195513"/>
            <a:ext cx="6929438" cy="523875"/>
            <a:chOff x="329" y="1383"/>
            <a:chExt cx="4365" cy="330"/>
          </a:xfrm>
        </p:grpSpPr>
        <p:sp>
          <p:nvSpPr>
            <p:cNvPr id="19503" name="Text Box 8"/>
            <p:cNvSpPr txBox="1">
              <a:spLocks noChangeArrowheads="1"/>
            </p:cNvSpPr>
            <p:nvPr/>
          </p:nvSpPr>
          <p:spPr bwMode="auto">
            <a:xfrm>
              <a:off x="329" y="1383"/>
              <a:ext cx="13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>
                  <a:solidFill>
                    <a:srgbClr val="CC0000"/>
                  </a:solidFill>
                </a:rPr>
                <a:t>解</a:t>
              </a:r>
              <a:r>
                <a:rPr lang="en-US" altLang="zh-CN" sz="2800">
                  <a:solidFill>
                    <a:srgbClr val="CC0000"/>
                  </a:solidFill>
                  <a:sym typeface="Wingdings" pitchFamily="2" charset="2"/>
                </a:rPr>
                <a:t>: (1)</a:t>
              </a:r>
              <a:endParaRPr lang="en-US" altLang="zh-CN" sz="2800">
                <a:solidFill>
                  <a:srgbClr val="CC0000"/>
                </a:solidFill>
              </a:endParaRPr>
            </a:p>
          </p:txBody>
        </p:sp>
        <p:sp>
          <p:nvSpPr>
            <p:cNvPr id="19504" name="Text Box 9"/>
            <p:cNvSpPr txBox="1">
              <a:spLocks noChangeArrowheads="1"/>
            </p:cNvSpPr>
            <p:nvPr/>
          </p:nvSpPr>
          <p:spPr bwMode="auto">
            <a:xfrm>
              <a:off x="1037" y="1383"/>
              <a:ext cx="19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800">
                  <a:solidFill>
                    <a:srgbClr val="000000"/>
                  </a:solidFill>
                  <a:latin typeface="Tahoma" pitchFamily="34" charset="0"/>
                </a:rPr>
                <a:t>设简谐运动方程为</a:t>
              </a:r>
            </a:p>
          </p:txBody>
        </p:sp>
        <p:graphicFrame>
          <p:nvGraphicFramePr>
            <p:cNvPr id="19474" name="Object 10"/>
            <p:cNvGraphicFramePr>
              <a:graphicFrameLocks noChangeAspect="1"/>
            </p:cNvGraphicFramePr>
            <p:nvPr/>
          </p:nvGraphicFramePr>
          <p:xfrm>
            <a:off x="2937" y="1440"/>
            <a:ext cx="175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48" name="公式" r:id="rId9" imgW="1130040" imgH="203040" progId="Equation.3">
                    <p:embed/>
                  </p:oleObj>
                </mc:Choice>
                <mc:Fallback>
                  <p:oleObj name="公式" r:id="rId9" imgW="113004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7" y="1440"/>
                          <a:ext cx="1757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076325" y="2668588"/>
            <a:ext cx="3495675" cy="827087"/>
            <a:chOff x="846" y="1714"/>
            <a:chExt cx="2098" cy="482"/>
          </a:xfrm>
        </p:grpSpPr>
        <p:graphicFrame>
          <p:nvGraphicFramePr>
            <p:cNvPr id="19472" name="Object 12"/>
            <p:cNvGraphicFramePr>
              <a:graphicFrameLocks noChangeAspect="1"/>
            </p:cNvGraphicFramePr>
            <p:nvPr/>
          </p:nvGraphicFramePr>
          <p:xfrm>
            <a:off x="1920" y="1714"/>
            <a:ext cx="1024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49" name="Equation" r:id="rId11" imgW="863280" imgH="393480" progId="Equation.DSMT4">
                    <p:embed/>
                  </p:oleObj>
                </mc:Choice>
                <mc:Fallback>
                  <p:oleObj name="Equation" r:id="rId11" imgW="863280" imgH="3934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714"/>
                          <a:ext cx="1024" cy="4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13"/>
            <p:cNvGraphicFramePr>
              <a:graphicFrameLocks noChangeAspect="1"/>
            </p:cNvGraphicFramePr>
            <p:nvPr/>
          </p:nvGraphicFramePr>
          <p:xfrm>
            <a:off x="846" y="1856"/>
            <a:ext cx="94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50" name="Equation" r:id="rId13" imgW="799920" imgH="164880" progId="Equation.DSMT4">
                    <p:embed/>
                  </p:oleObj>
                </mc:Choice>
                <mc:Fallback>
                  <p:oleObj name="Equation" r:id="rId13" imgW="799920" imgH="1648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1856"/>
                          <a:ext cx="949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230" name="Object 14"/>
          <p:cNvGraphicFramePr>
            <a:graphicFrameLocks noChangeAspect="1"/>
          </p:cNvGraphicFramePr>
          <p:nvPr/>
        </p:nvGraphicFramePr>
        <p:xfrm>
          <a:off x="1239838" y="4643438"/>
          <a:ext cx="23812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1" name="公式" r:id="rId15" imgW="1104840" imgH="203040" progId="Equation.3">
                  <p:embed/>
                </p:oleObj>
              </mc:Choice>
              <mc:Fallback>
                <p:oleObj name="公式" r:id="rId15" imgW="110484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838" y="4643438"/>
                        <a:ext cx="23812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1" name="Object 15"/>
          <p:cNvGraphicFramePr>
            <a:graphicFrameLocks noChangeAspect="1"/>
          </p:cNvGraphicFramePr>
          <p:nvPr/>
        </p:nvGraphicFramePr>
        <p:xfrm>
          <a:off x="1195388" y="5005388"/>
          <a:ext cx="12620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2" name="公式" r:id="rId17" imgW="660240" imgH="406080" progId="Equation.3">
                  <p:embed/>
                </p:oleObj>
              </mc:Choice>
              <mc:Fallback>
                <p:oleObj name="公式" r:id="rId17" imgW="66024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5005388"/>
                        <a:ext cx="1262062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060450" y="3405188"/>
            <a:ext cx="3995738" cy="1157287"/>
            <a:chOff x="668" y="2148"/>
            <a:chExt cx="2517" cy="729"/>
          </a:xfrm>
        </p:grpSpPr>
        <p:grpSp>
          <p:nvGrpSpPr>
            <p:cNvPr id="19500" name="Group 17"/>
            <p:cNvGrpSpPr>
              <a:grpSpLocks/>
            </p:cNvGrpSpPr>
            <p:nvPr/>
          </p:nvGrpSpPr>
          <p:grpSpPr bwMode="auto">
            <a:xfrm>
              <a:off x="690" y="2148"/>
              <a:ext cx="2495" cy="327"/>
              <a:chOff x="776" y="2281"/>
              <a:chExt cx="2495" cy="327"/>
            </a:xfrm>
          </p:grpSpPr>
          <p:sp>
            <p:nvSpPr>
              <p:cNvPr id="19502" name="Text Box 18"/>
              <p:cNvSpPr txBox="1">
                <a:spLocks noChangeArrowheads="1"/>
              </p:cNvSpPr>
              <p:nvPr/>
            </p:nvSpPr>
            <p:spPr bwMode="auto">
              <a:xfrm>
                <a:off x="776" y="2281"/>
                <a:ext cx="2495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zh-CN" altLang="en-US" sz="2800">
                    <a:solidFill>
                      <a:srgbClr val="000000"/>
                    </a:solidFill>
                    <a:latin typeface="Tahoma" pitchFamily="34" charset="0"/>
                  </a:rPr>
                  <a:t>把时       时，            ，</a:t>
                </a:r>
              </a:p>
            </p:txBody>
          </p:sp>
          <p:graphicFrame>
            <p:nvGraphicFramePr>
              <p:cNvPr id="19470" name="Object 19"/>
              <p:cNvGraphicFramePr>
                <a:graphicFrameLocks noChangeAspect="1"/>
              </p:cNvGraphicFramePr>
              <p:nvPr/>
            </p:nvGraphicFramePr>
            <p:xfrm>
              <a:off x="1292" y="2330"/>
              <a:ext cx="448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3" name="公式" r:id="rId19" imgW="330120" imgH="177480" progId="Equation.3">
                      <p:embed/>
                    </p:oleObj>
                  </mc:Choice>
                  <mc:Fallback>
                    <p:oleObj name="公式" r:id="rId19" imgW="330120" imgH="17748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2" y="2330"/>
                            <a:ext cx="448" cy="2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1" name="Object 20"/>
              <p:cNvGraphicFramePr>
                <a:graphicFrameLocks noChangeAspect="1"/>
              </p:cNvGraphicFramePr>
              <p:nvPr/>
            </p:nvGraphicFramePr>
            <p:xfrm>
              <a:off x="2114" y="2342"/>
              <a:ext cx="759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4" name="Equation" r:id="rId21" imgW="558720" imgH="177480" progId="Equation.DSMT4">
                      <p:embed/>
                    </p:oleObj>
                  </mc:Choice>
                  <mc:Fallback>
                    <p:oleObj name="Equation" r:id="rId21" imgW="558720" imgH="177480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4" y="2342"/>
                            <a:ext cx="759" cy="2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501" name="Rectangle 21"/>
            <p:cNvSpPr>
              <a:spLocks noChangeArrowheads="1"/>
            </p:cNvSpPr>
            <p:nvPr/>
          </p:nvSpPr>
          <p:spPr bwMode="auto">
            <a:xfrm>
              <a:off x="668" y="2550"/>
              <a:ext cx="236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800">
                  <a:solidFill>
                    <a:srgbClr val="000000"/>
                  </a:solidFill>
                  <a:latin typeface="Tahoma" pitchFamily="34" charset="0"/>
                </a:rPr>
                <a:t>代入简谐运动方程得：</a:t>
              </a: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4481513" y="3213100"/>
            <a:ext cx="4265612" cy="2876325"/>
            <a:chOff x="2824" y="1974"/>
            <a:chExt cx="2664" cy="1902"/>
          </a:xfrm>
        </p:grpSpPr>
        <p:grpSp>
          <p:nvGrpSpPr>
            <p:cNvPr id="19487" name="Group 23"/>
            <p:cNvGrpSpPr>
              <a:grpSpLocks/>
            </p:cNvGrpSpPr>
            <p:nvPr/>
          </p:nvGrpSpPr>
          <p:grpSpPr bwMode="auto">
            <a:xfrm>
              <a:off x="2824" y="2869"/>
              <a:ext cx="2664" cy="429"/>
              <a:chOff x="1945" y="3346"/>
              <a:chExt cx="3373" cy="543"/>
            </a:xfrm>
          </p:grpSpPr>
          <p:sp>
            <p:nvSpPr>
              <p:cNvPr id="19494" name="Line 24"/>
              <p:cNvSpPr>
                <a:spLocks noChangeShapeType="1"/>
              </p:cNvSpPr>
              <p:nvPr/>
            </p:nvSpPr>
            <p:spPr bwMode="auto">
              <a:xfrm>
                <a:off x="2060" y="3573"/>
                <a:ext cx="31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5" name="Line 25"/>
              <p:cNvSpPr>
                <a:spLocks noChangeShapeType="1"/>
              </p:cNvSpPr>
              <p:nvPr/>
            </p:nvSpPr>
            <p:spPr bwMode="auto">
              <a:xfrm flipV="1">
                <a:off x="2405" y="3420"/>
                <a:ext cx="0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6" name="Line 26"/>
              <p:cNvSpPr>
                <a:spLocks noChangeShapeType="1"/>
              </p:cNvSpPr>
              <p:nvPr/>
            </p:nvSpPr>
            <p:spPr bwMode="auto">
              <a:xfrm flipV="1">
                <a:off x="2942" y="3420"/>
                <a:ext cx="0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7" name="Line 27"/>
              <p:cNvSpPr>
                <a:spLocks noChangeShapeType="1"/>
              </p:cNvSpPr>
              <p:nvPr/>
            </p:nvSpPr>
            <p:spPr bwMode="auto">
              <a:xfrm flipV="1">
                <a:off x="3478" y="3420"/>
                <a:ext cx="0" cy="1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8" name="Line 28"/>
              <p:cNvSpPr>
                <a:spLocks noChangeShapeType="1"/>
              </p:cNvSpPr>
              <p:nvPr/>
            </p:nvSpPr>
            <p:spPr bwMode="auto">
              <a:xfrm flipV="1">
                <a:off x="4551" y="3420"/>
                <a:ext cx="0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9" name="Line 29"/>
              <p:cNvSpPr>
                <a:spLocks noChangeShapeType="1"/>
              </p:cNvSpPr>
              <p:nvPr/>
            </p:nvSpPr>
            <p:spPr bwMode="auto">
              <a:xfrm flipV="1">
                <a:off x="4014" y="3420"/>
                <a:ext cx="1" cy="1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9464" name="Object 30"/>
              <p:cNvGraphicFramePr>
                <a:graphicFrameLocks noChangeAspect="1"/>
              </p:cNvGraphicFramePr>
              <p:nvPr/>
            </p:nvGraphicFramePr>
            <p:xfrm>
              <a:off x="3363" y="3573"/>
              <a:ext cx="241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5" name="Equation" r:id="rId23" imgW="126720" imgH="139680" progId="Equation.3">
                      <p:embed/>
                    </p:oleObj>
                  </mc:Choice>
                  <mc:Fallback>
                    <p:oleObj name="Equation" r:id="rId23" imgW="126720" imgH="13968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3" y="3573"/>
                            <a:ext cx="241" cy="2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5" name="Object 31"/>
              <p:cNvGraphicFramePr>
                <a:graphicFrameLocks noChangeAspect="1"/>
              </p:cNvGraphicFramePr>
              <p:nvPr/>
            </p:nvGraphicFramePr>
            <p:xfrm>
              <a:off x="1945" y="3640"/>
              <a:ext cx="565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6" name="Equation" r:id="rId25" imgW="419040" imgH="177480" progId="Equation.3">
                      <p:embed/>
                    </p:oleObj>
                  </mc:Choice>
                  <mc:Fallback>
                    <p:oleObj name="Equation" r:id="rId25" imgW="419040" imgH="17748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5" y="3640"/>
                            <a:ext cx="565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6" name="Object 32"/>
              <p:cNvGraphicFramePr>
                <a:graphicFrameLocks noChangeAspect="1"/>
              </p:cNvGraphicFramePr>
              <p:nvPr/>
            </p:nvGraphicFramePr>
            <p:xfrm>
              <a:off x="2597" y="3640"/>
              <a:ext cx="565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7" name="Equation" r:id="rId27" imgW="419040" imgH="177480" progId="Equation.3">
                      <p:embed/>
                    </p:oleObj>
                  </mc:Choice>
                  <mc:Fallback>
                    <p:oleObj name="Equation" r:id="rId27" imgW="419040" imgH="17748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7" y="3640"/>
                            <a:ext cx="565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7" name="Object 33"/>
              <p:cNvGraphicFramePr>
                <a:graphicFrameLocks noChangeAspect="1"/>
              </p:cNvGraphicFramePr>
              <p:nvPr/>
            </p:nvGraphicFramePr>
            <p:xfrm>
              <a:off x="3823" y="3650"/>
              <a:ext cx="428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8" name="Equation" r:id="rId29" imgW="317160" imgH="177480" progId="Equation.3">
                      <p:embed/>
                    </p:oleObj>
                  </mc:Choice>
                  <mc:Fallback>
                    <p:oleObj name="Equation" r:id="rId29" imgW="317160" imgH="17748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23" y="3650"/>
                            <a:ext cx="428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8" name="Object 34"/>
              <p:cNvGraphicFramePr>
                <a:graphicFrameLocks noChangeAspect="1"/>
              </p:cNvGraphicFramePr>
              <p:nvPr/>
            </p:nvGraphicFramePr>
            <p:xfrm>
              <a:off x="4436" y="3640"/>
              <a:ext cx="412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59" name="Equation" r:id="rId31" imgW="304560" imgH="177480" progId="Equation.3">
                      <p:embed/>
                    </p:oleObj>
                  </mc:Choice>
                  <mc:Fallback>
                    <p:oleObj name="Equation" r:id="rId31" imgW="304560" imgH="17748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6" y="3640"/>
                            <a:ext cx="412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9" name="Object 35"/>
              <p:cNvGraphicFramePr>
                <a:graphicFrameLocks noChangeAspect="1"/>
              </p:cNvGraphicFramePr>
              <p:nvPr/>
            </p:nvGraphicFramePr>
            <p:xfrm>
              <a:off x="4935" y="3346"/>
              <a:ext cx="383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0" name="Equation" r:id="rId33" imgW="342720" imgH="177480" progId="Equation.3">
                      <p:embed/>
                    </p:oleObj>
                  </mc:Choice>
                  <mc:Fallback>
                    <p:oleObj name="Equation" r:id="rId33" imgW="342720" imgH="17748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5" y="3346"/>
                            <a:ext cx="383" cy="1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88" name="Group 36"/>
            <p:cNvGrpSpPr>
              <a:grpSpLocks/>
            </p:cNvGrpSpPr>
            <p:nvPr/>
          </p:nvGrpSpPr>
          <p:grpSpPr bwMode="auto">
            <a:xfrm>
              <a:off x="4246" y="2232"/>
              <a:ext cx="222" cy="878"/>
              <a:chOff x="3727" y="2549"/>
              <a:chExt cx="281" cy="1112"/>
            </a:xfrm>
          </p:grpSpPr>
          <p:sp>
            <p:nvSpPr>
              <p:cNvPr id="19492" name="Line 37"/>
              <p:cNvSpPr>
                <a:spLocks noChangeShapeType="1"/>
              </p:cNvSpPr>
              <p:nvPr/>
            </p:nvSpPr>
            <p:spPr bwMode="auto">
              <a:xfrm>
                <a:off x="4008" y="2644"/>
                <a:ext cx="0" cy="9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493" name="Line 38"/>
              <p:cNvSpPr>
                <a:spLocks noChangeShapeType="1"/>
              </p:cNvSpPr>
              <p:nvPr/>
            </p:nvSpPr>
            <p:spPr bwMode="auto">
              <a:xfrm rot="18010971">
                <a:off x="3175" y="3101"/>
                <a:ext cx="1112" cy="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 type="stealth" w="lg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9489" name="Line 39"/>
            <p:cNvSpPr>
              <a:spLocks noChangeShapeType="1"/>
            </p:cNvSpPr>
            <p:nvPr/>
          </p:nvSpPr>
          <p:spPr bwMode="auto">
            <a:xfrm flipV="1">
              <a:off x="4456" y="3045"/>
              <a:ext cx="0" cy="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0" name="Line 40"/>
            <p:cNvSpPr>
              <a:spLocks noChangeShapeType="1"/>
            </p:cNvSpPr>
            <p:nvPr/>
          </p:nvSpPr>
          <p:spPr bwMode="auto">
            <a:xfrm rot="3589029" flipV="1">
              <a:off x="3800" y="3433"/>
              <a:ext cx="880" cy="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 type="stealth" w="lg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1" name="Arc 41"/>
            <p:cNvSpPr>
              <a:spLocks/>
            </p:cNvSpPr>
            <p:nvPr/>
          </p:nvSpPr>
          <p:spPr bwMode="auto">
            <a:xfrm>
              <a:off x="4468" y="1974"/>
              <a:ext cx="446" cy="665"/>
            </a:xfrm>
            <a:custGeom>
              <a:avLst/>
              <a:gdLst>
                <a:gd name="T0" fmla="*/ 0 w 18706"/>
                <a:gd name="T1" fmla="*/ 0 h 21600"/>
                <a:gd name="T2" fmla="*/ 0 w 18706"/>
                <a:gd name="T3" fmla="*/ 0 h 21600"/>
                <a:gd name="T4" fmla="*/ 0 w 18706"/>
                <a:gd name="T5" fmla="*/ 1 h 21600"/>
                <a:gd name="T6" fmla="*/ 0 60000 65536"/>
                <a:gd name="T7" fmla="*/ 0 60000 65536"/>
                <a:gd name="T8" fmla="*/ 0 60000 65536"/>
                <a:gd name="T9" fmla="*/ 0 w 18706"/>
                <a:gd name="T10" fmla="*/ 0 h 21600"/>
                <a:gd name="T11" fmla="*/ 18706 w 187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06" h="21600" fill="none" extrusionOk="0">
                  <a:moveTo>
                    <a:pt x="-1" y="0"/>
                  </a:moveTo>
                  <a:cubicBezTo>
                    <a:pt x="7716" y="0"/>
                    <a:pt x="14847" y="4116"/>
                    <a:pt x="18706" y="10799"/>
                  </a:cubicBezTo>
                </a:path>
                <a:path w="18706" h="21600" stroke="0" extrusionOk="0">
                  <a:moveTo>
                    <a:pt x="-1" y="0"/>
                  </a:moveTo>
                  <a:cubicBezTo>
                    <a:pt x="7716" y="0"/>
                    <a:pt x="14847" y="4116"/>
                    <a:pt x="18706" y="107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 type="stealth" w="lg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7258" name="Line 42"/>
          <p:cNvSpPr>
            <a:spLocks noChangeShapeType="1"/>
          </p:cNvSpPr>
          <p:nvPr/>
        </p:nvSpPr>
        <p:spPr bwMode="auto">
          <a:xfrm rot="2604901">
            <a:off x="6200775" y="5319713"/>
            <a:ext cx="1385888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 type="stealth" w="lg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37259" name="Line 43"/>
          <p:cNvSpPr>
            <a:spLocks noChangeShapeType="1"/>
          </p:cNvSpPr>
          <p:nvPr/>
        </p:nvSpPr>
        <p:spPr bwMode="auto">
          <a:xfrm rot="17084332" flipV="1">
            <a:off x="5882613" y="4175125"/>
            <a:ext cx="1385888" cy="1587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miter lim="800000"/>
            <a:headEnd/>
            <a:tailEnd type="stealth" w="lg" len="lg"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1106488" y="5648325"/>
            <a:ext cx="2514600" cy="844550"/>
            <a:chOff x="697" y="3464"/>
            <a:chExt cx="1584" cy="532"/>
          </a:xfrm>
        </p:grpSpPr>
        <p:graphicFrame>
          <p:nvGraphicFramePr>
            <p:cNvPr id="19463" name="Object 45"/>
            <p:cNvGraphicFramePr>
              <a:graphicFrameLocks noChangeAspect="1"/>
            </p:cNvGraphicFramePr>
            <p:nvPr/>
          </p:nvGraphicFramePr>
          <p:xfrm>
            <a:off x="1732" y="3464"/>
            <a:ext cx="549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61" name="公式" r:id="rId35" imgW="419040" imgH="406080" progId="Equation.3">
                    <p:embed/>
                  </p:oleObj>
                </mc:Choice>
                <mc:Fallback>
                  <p:oleObj name="公式" r:id="rId35" imgW="419040" imgH="40608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2" y="3464"/>
                          <a:ext cx="549" cy="5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6" name="Text Box 46"/>
            <p:cNvSpPr txBox="1">
              <a:spLocks noChangeArrowheads="1"/>
            </p:cNvSpPr>
            <p:nvPr/>
          </p:nvSpPr>
          <p:spPr bwMode="auto">
            <a:xfrm>
              <a:off x="697" y="3562"/>
              <a:ext cx="117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FF"/>
                  </a:solidFill>
                  <a:latin typeface="Tahoma" pitchFamily="34" charset="0"/>
                </a:rPr>
                <a:t>由图可知</a:t>
              </a:r>
            </a:p>
          </p:txBody>
        </p:sp>
      </p:grpSp>
      <p:sp>
        <p:nvSpPr>
          <p:cNvPr id="137263" name="Oval 47"/>
          <p:cNvSpPr>
            <a:spLocks noChangeArrowheads="1"/>
          </p:cNvSpPr>
          <p:nvPr/>
        </p:nvSpPr>
        <p:spPr bwMode="auto">
          <a:xfrm>
            <a:off x="5060950" y="3500438"/>
            <a:ext cx="2689225" cy="2689225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8" grpId="0" animBg="1"/>
      <p:bldP spid="137259" grpId="0" animBg="1"/>
      <p:bldP spid="1372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A4A5F7-44A9-4E56-B6B8-ADD042411758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54125" y="1657350"/>
            <a:ext cx="5527675" cy="519113"/>
            <a:chOff x="873" y="1776"/>
            <a:chExt cx="3482" cy="327"/>
          </a:xfrm>
        </p:grpSpPr>
        <p:graphicFrame>
          <p:nvGraphicFramePr>
            <p:cNvPr id="20493" name="Object 3"/>
            <p:cNvGraphicFramePr>
              <a:graphicFrameLocks noChangeAspect="1"/>
            </p:cNvGraphicFramePr>
            <p:nvPr/>
          </p:nvGraphicFramePr>
          <p:xfrm>
            <a:off x="873" y="1841"/>
            <a:ext cx="7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5" name="Equation" r:id="rId3" imgW="495000" imgH="177480" progId="Equation.DSMT4">
                    <p:embed/>
                  </p:oleObj>
                </mc:Choice>
                <mc:Fallback>
                  <p:oleObj name="Equation" r:id="rId3" imgW="49500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3" y="1841"/>
                          <a:ext cx="7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9" name="Text Box 4"/>
            <p:cNvSpPr txBox="1">
              <a:spLocks noChangeArrowheads="1"/>
            </p:cNvSpPr>
            <p:nvPr/>
          </p:nvSpPr>
          <p:spPr bwMode="auto">
            <a:xfrm>
              <a:off x="1977" y="1776"/>
              <a:ext cx="156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sz="2800">
                  <a:solidFill>
                    <a:srgbClr val="000000"/>
                  </a:solidFill>
                </a:rPr>
                <a:t>代入上式得</a:t>
              </a:r>
            </a:p>
          </p:txBody>
        </p:sp>
        <p:graphicFrame>
          <p:nvGraphicFramePr>
            <p:cNvPr id="20494" name="Object 5"/>
            <p:cNvGraphicFramePr>
              <a:graphicFrameLocks noChangeAspect="1"/>
            </p:cNvGraphicFramePr>
            <p:nvPr/>
          </p:nvGraphicFramePr>
          <p:xfrm>
            <a:off x="3336" y="1819"/>
            <a:ext cx="101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6" name="Equation" r:id="rId5" imgW="774360" imgH="177480" progId="Equation.DSMT4">
                    <p:embed/>
                  </p:oleObj>
                </mc:Choice>
                <mc:Fallback>
                  <p:oleObj name="Equation" r:id="rId5" imgW="774360" imgH="1774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" y="1819"/>
                          <a:ext cx="1019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995363" y="2378075"/>
          <a:ext cx="30019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7" name="Equation" r:id="rId7" imgW="1409400" imgH="228600" progId="Equation.DSMT4">
                  <p:embed/>
                </p:oleObj>
              </mc:Choice>
              <mc:Fallback>
                <p:oleObj name="Equation" r:id="rId7" imgW="14094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378075"/>
                        <a:ext cx="300196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7"/>
          <p:cNvGraphicFramePr>
            <a:graphicFrameLocks noChangeAspect="1"/>
          </p:cNvGraphicFramePr>
          <p:nvPr/>
        </p:nvGraphicFramePr>
        <p:xfrm>
          <a:off x="839788" y="503238"/>
          <a:ext cx="34274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8" name="Equation" r:id="rId9" imgW="1726920" imgH="469800" progId="Equation.3">
                  <p:embed/>
                </p:oleObj>
              </mc:Choice>
              <mc:Fallback>
                <p:oleObj name="Equation" r:id="rId9" imgW="172692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503238"/>
                        <a:ext cx="3427412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8"/>
          <p:cNvGraphicFramePr>
            <a:graphicFrameLocks noChangeAspect="1"/>
          </p:cNvGraphicFramePr>
          <p:nvPr/>
        </p:nvGraphicFramePr>
        <p:xfrm>
          <a:off x="4062413" y="2393950"/>
          <a:ext cx="22574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9" name="Equation" r:id="rId11" imgW="1079280" imgH="228600" progId="Equation.DSMT4">
                  <p:embed/>
                </p:oleObj>
              </mc:Choice>
              <mc:Fallback>
                <p:oleObj name="Equation" r:id="rId11" imgW="107928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2393950"/>
                        <a:ext cx="225742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90550" y="2994025"/>
            <a:ext cx="8077200" cy="2711450"/>
            <a:chOff x="372" y="1886"/>
            <a:chExt cx="5088" cy="1708"/>
          </a:xfrm>
        </p:grpSpPr>
        <p:grpSp>
          <p:nvGrpSpPr>
            <p:cNvPr id="20498" name="Group 10"/>
            <p:cNvGrpSpPr>
              <a:grpSpLocks/>
            </p:cNvGrpSpPr>
            <p:nvPr/>
          </p:nvGrpSpPr>
          <p:grpSpPr bwMode="auto">
            <a:xfrm>
              <a:off x="372" y="1886"/>
              <a:ext cx="5088" cy="704"/>
              <a:chOff x="372" y="1593"/>
              <a:chExt cx="5088" cy="704"/>
            </a:xfrm>
          </p:grpSpPr>
          <p:sp>
            <p:nvSpPr>
              <p:cNvPr id="20508" name="Rectangle 11"/>
              <p:cNvSpPr>
                <a:spLocks noChangeArrowheads="1"/>
              </p:cNvSpPr>
              <p:nvPr/>
            </p:nvSpPr>
            <p:spPr bwMode="auto">
              <a:xfrm>
                <a:off x="372" y="1593"/>
                <a:ext cx="5088" cy="7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2800">
                    <a:solidFill>
                      <a:srgbClr val="CC0000"/>
                    </a:solidFill>
                  </a:rPr>
                  <a:t>(2) </a:t>
                </a:r>
                <a:r>
                  <a:rPr lang="zh-CN" altLang="en-US" sz="2800">
                    <a:solidFill>
                      <a:srgbClr val="000000"/>
                    </a:solidFill>
                  </a:rPr>
                  <a:t>设由起始位置运动到 </a:t>
                </a:r>
                <a:r>
                  <a:rPr lang="zh-CN" altLang="en-US" sz="2800" b="0" i="1">
                    <a:solidFill>
                      <a:srgbClr val="000000"/>
                    </a:solidFill>
                  </a:rPr>
                  <a:t>                   </a:t>
                </a:r>
                <a:r>
                  <a:rPr lang="zh-CN" altLang="en-US" sz="2800">
                    <a:solidFill>
                      <a:srgbClr val="000000"/>
                    </a:solidFill>
                  </a:rPr>
                  <a:t>处所需要的最短时间为</a:t>
                </a:r>
                <a:r>
                  <a:rPr lang="en-US" altLang="zh-CN" sz="2800">
                    <a:solidFill>
                      <a:srgbClr val="000000"/>
                    </a:solidFill>
                  </a:rPr>
                  <a:t>t . </a:t>
                </a:r>
              </a:p>
            </p:txBody>
          </p:sp>
          <p:graphicFrame>
            <p:nvGraphicFramePr>
              <p:cNvPr id="20492" name="Object 12"/>
              <p:cNvGraphicFramePr>
                <a:graphicFrameLocks noChangeAspect="1"/>
              </p:cNvGraphicFramePr>
              <p:nvPr/>
            </p:nvGraphicFramePr>
            <p:xfrm>
              <a:off x="2851" y="1669"/>
              <a:ext cx="1021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0" name="公式" r:id="rId13" imgW="774360" imgH="177480" progId="Equation.3">
                      <p:embed/>
                    </p:oleObj>
                  </mc:Choice>
                  <mc:Fallback>
                    <p:oleObj name="公式" r:id="rId13" imgW="774360" imgH="17748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1" y="1669"/>
                            <a:ext cx="1021" cy="2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499" name="Group 13"/>
            <p:cNvGrpSpPr>
              <a:grpSpLocks/>
            </p:cNvGrpSpPr>
            <p:nvPr/>
          </p:nvGrpSpPr>
          <p:grpSpPr bwMode="auto">
            <a:xfrm>
              <a:off x="706" y="2670"/>
              <a:ext cx="4272" cy="924"/>
              <a:chOff x="710" y="2548"/>
              <a:chExt cx="4272" cy="924"/>
            </a:xfrm>
          </p:grpSpPr>
          <p:sp>
            <p:nvSpPr>
              <p:cNvPr id="20500" name="Line 14"/>
              <p:cNvSpPr>
                <a:spLocks noChangeShapeType="1"/>
              </p:cNvSpPr>
              <p:nvPr/>
            </p:nvSpPr>
            <p:spPr bwMode="auto">
              <a:xfrm>
                <a:off x="854" y="3076"/>
                <a:ext cx="39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1" name="Oval 15"/>
              <p:cNvSpPr>
                <a:spLocks noChangeArrowheads="1"/>
              </p:cNvSpPr>
              <p:nvPr/>
            </p:nvSpPr>
            <p:spPr bwMode="auto">
              <a:xfrm>
                <a:off x="3206" y="2980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5C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02" name="Line 16"/>
              <p:cNvSpPr>
                <a:spLocks noChangeShapeType="1"/>
              </p:cNvSpPr>
              <p:nvPr/>
            </p:nvSpPr>
            <p:spPr bwMode="auto">
              <a:xfrm flipV="1">
                <a:off x="1286" y="28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3" name="Line 17"/>
              <p:cNvSpPr>
                <a:spLocks noChangeShapeType="1"/>
              </p:cNvSpPr>
              <p:nvPr/>
            </p:nvSpPr>
            <p:spPr bwMode="auto">
              <a:xfrm flipV="1">
                <a:off x="1958" y="28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4" name="Line 18"/>
              <p:cNvSpPr>
                <a:spLocks noChangeShapeType="1"/>
              </p:cNvSpPr>
              <p:nvPr/>
            </p:nvSpPr>
            <p:spPr bwMode="auto">
              <a:xfrm flipV="1">
                <a:off x="2630" y="28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5" name="Line 19"/>
              <p:cNvSpPr>
                <a:spLocks noChangeShapeType="1"/>
              </p:cNvSpPr>
              <p:nvPr/>
            </p:nvSpPr>
            <p:spPr bwMode="auto">
              <a:xfrm flipV="1">
                <a:off x="3974" y="28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6" name="Line 20"/>
              <p:cNvSpPr>
                <a:spLocks noChangeShapeType="1"/>
              </p:cNvSpPr>
              <p:nvPr/>
            </p:nvSpPr>
            <p:spPr bwMode="auto">
              <a:xfrm flipV="1">
                <a:off x="3302" y="28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0485" name="Object 21"/>
              <p:cNvGraphicFramePr>
                <a:graphicFrameLocks noChangeAspect="1"/>
              </p:cNvGraphicFramePr>
              <p:nvPr/>
            </p:nvGraphicFramePr>
            <p:xfrm>
              <a:off x="2486" y="3076"/>
              <a:ext cx="302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1" name="Equation" r:id="rId15" imgW="126720" imgH="139680" progId="Equation.3">
                      <p:embed/>
                    </p:oleObj>
                  </mc:Choice>
                  <mc:Fallback>
                    <p:oleObj name="Equation" r:id="rId15" imgW="126720" imgH="13968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6" y="3076"/>
                            <a:ext cx="302" cy="3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6" name="Object 22"/>
              <p:cNvGraphicFramePr>
                <a:graphicFrameLocks noChangeAspect="1"/>
              </p:cNvGraphicFramePr>
              <p:nvPr/>
            </p:nvGraphicFramePr>
            <p:xfrm>
              <a:off x="710" y="3160"/>
              <a:ext cx="708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2" name="Equation" r:id="rId17" imgW="419040" imgH="177480" progId="Equation.3">
                      <p:embed/>
                    </p:oleObj>
                  </mc:Choice>
                  <mc:Fallback>
                    <p:oleObj name="Equation" r:id="rId17" imgW="419040" imgH="17748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0" y="3160"/>
                            <a:ext cx="708" cy="3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7" name="Object 23"/>
              <p:cNvGraphicFramePr>
                <a:graphicFrameLocks noChangeAspect="1"/>
              </p:cNvGraphicFramePr>
              <p:nvPr/>
            </p:nvGraphicFramePr>
            <p:xfrm>
              <a:off x="1526" y="3160"/>
              <a:ext cx="708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3" name="Equation" r:id="rId19" imgW="419040" imgH="177480" progId="Equation.3">
                      <p:embed/>
                    </p:oleObj>
                  </mc:Choice>
                  <mc:Fallback>
                    <p:oleObj name="Equation" r:id="rId19" imgW="419040" imgH="17748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6" y="3160"/>
                            <a:ext cx="708" cy="3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8" name="Object 24"/>
              <p:cNvGraphicFramePr>
                <a:graphicFrameLocks noChangeAspect="1"/>
              </p:cNvGraphicFramePr>
              <p:nvPr/>
            </p:nvGraphicFramePr>
            <p:xfrm>
              <a:off x="3062" y="3172"/>
              <a:ext cx="536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4" name="Equation" r:id="rId21" imgW="317160" imgH="177480" progId="Equation.3">
                      <p:embed/>
                    </p:oleObj>
                  </mc:Choice>
                  <mc:Fallback>
                    <p:oleObj name="Equation" r:id="rId21" imgW="317160" imgH="17748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2" y="3172"/>
                            <a:ext cx="536" cy="3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9" name="Object 25"/>
              <p:cNvGraphicFramePr>
                <a:graphicFrameLocks noChangeAspect="1"/>
              </p:cNvGraphicFramePr>
              <p:nvPr/>
            </p:nvGraphicFramePr>
            <p:xfrm>
              <a:off x="3830" y="3160"/>
              <a:ext cx="515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5" name="Equation" r:id="rId23" imgW="304560" imgH="177480" progId="Equation.3">
                      <p:embed/>
                    </p:oleObj>
                  </mc:Choice>
                  <mc:Fallback>
                    <p:oleObj name="Equation" r:id="rId23" imgW="304560" imgH="17748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0" y="3160"/>
                            <a:ext cx="515" cy="3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0" name="Object 26"/>
              <p:cNvGraphicFramePr>
                <a:graphicFrameLocks noChangeAspect="1"/>
              </p:cNvGraphicFramePr>
              <p:nvPr/>
            </p:nvGraphicFramePr>
            <p:xfrm>
              <a:off x="4454" y="2740"/>
              <a:ext cx="528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6" name="Equation" r:id="rId25" imgW="342720" imgH="177480" progId="Equation.3">
                      <p:embed/>
                    </p:oleObj>
                  </mc:Choice>
                  <mc:Fallback>
                    <p:oleObj name="Equation" r:id="rId25" imgW="342720" imgH="17748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4" y="2740"/>
                            <a:ext cx="528" cy="27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7" name="Line 27"/>
              <p:cNvSpPr>
                <a:spLocks noChangeShapeType="1"/>
              </p:cNvSpPr>
              <p:nvPr/>
            </p:nvSpPr>
            <p:spPr bwMode="auto">
              <a:xfrm flipH="1">
                <a:off x="3014" y="2692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0491" name="Object 28"/>
              <p:cNvGraphicFramePr>
                <a:graphicFrameLocks noChangeAspect="1"/>
              </p:cNvGraphicFramePr>
              <p:nvPr/>
            </p:nvGraphicFramePr>
            <p:xfrm>
              <a:off x="2678" y="2548"/>
              <a:ext cx="297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7" name="Equation" r:id="rId27" imgW="126720" imgH="139680" progId="Equation.3">
                      <p:embed/>
                    </p:oleObj>
                  </mc:Choice>
                  <mc:Fallback>
                    <p:oleObj name="Equation" r:id="rId27" imgW="126720" imgH="13968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8" y="2548"/>
                            <a:ext cx="297" cy="32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F768D-F4CF-494F-8C46-27F7CE8E848F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5625" y="3705225"/>
            <a:ext cx="2566988" cy="1200150"/>
            <a:chOff x="1276" y="2406"/>
            <a:chExt cx="1475" cy="756"/>
          </a:xfrm>
        </p:grpSpPr>
        <p:sp>
          <p:nvSpPr>
            <p:cNvPr id="21548" name="AutoShape 3"/>
            <p:cNvSpPr>
              <a:spLocks noChangeArrowheads="1"/>
            </p:cNvSpPr>
            <p:nvPr/>
          </p:nvSpPr>
          <p:spPr bwMode="auto">
            <a:xfrm>
              <a:off x="1276" y="2406"/>
              <a:ext cx="779" cy="246"/>
            </a:xfrm>
            <a:prstGeom prst="wedgeRectCallout">
              <a:avLst>
                <a:gd name="adj1" fmla="val 79912"/>
                <a:gd name="adj2" fmla="val 88213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none" w="sm" len="lg"/>
            </a:ln>
          </p:spPr>
          <p:txBody>
            <a:bodyPr/>
            <a:lstStyle/>
            <a:p>
              <a:endParaRPr lang="zh-CN" altLang="zh-CN" sz="2800">
                <a:solidFill>
                  <a:srgbClr val="000000"/>
                </a:solidFill>
              </a:endParaRPr>
            </a:p>
          </p:txBody>
        </p:sp>
        <p:grpSp>
          <p:nvGrpSpPr>
            <p:cNvPr id="21549" name="Group 4"/>
            <p:cNvGrpSpPr>
              <a:grpSpLocks/>
            </p:cNvGrpSpPr>
            <p:nvPr/>
          </p:nvGrpSpPr>
          <p:grpSpPr bwMode="auto">
            <a:xfrm>
              <a:off x="2217" y="2459"/>
              <a:ext cx="534" cy="703"/>
              <a:chOff x="1952" y="1550"/>
              <a:chExt cx="592" cy="960"/>
            </a:xfrm>
          </p:grpSpPr>
          <p:sp>
            <p:nvSpPr>
              <p:cNvPr id="21552" name="Line 5"/>
              <p:cNvSpPr>
                <a:spLocks noChangeShapeType="1"/>
              </p:cNvSpPr>
              <p:nvPr/>
            </p:nvSpPr>
            <p:spPr bwMode="auto">
              <a:xfrm flipH="1" flipV="1">
                <a:off x="1952" y="1550"/>
                <a:ext cx="592" cy="94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553" name="Line 6"/>
              <p:cNvSpPr>
                <a:spLocks noChangeShapeType="1"/>
              </p:cNvSpPr>
              <p:nvPr/>
            </p:nvSpPr>
            <p:spPr bwMode="auto">
              <a:xfrm>
                <a:off x="1968" y="1590"/>
                <a:ext cx="0" cy="91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554" name="Freeform 7"/>
              <p:cNvSpPr>
                <a:spLocks/>
              </p:cNvSpPr>
              <p:nvPr/>
            </p:nvSpPr>
            <p:spPr bwMode="auto">
              <a:xfrm flipH="1">
                <a:off x="2208" y="2196"/>
                <a:ext cx="144" cy="314"/>
              </a:xfrm>
              <a:custGeom>
                <a:avLst/>
                <a:gdLst>
                  <a:gd name="T0" fmla="*/ 135 w 154"/>
                  <a:gd name="T1" fmla="*/ 314 h 314"/>
                  <a:gd name="T2" fmla="*/ 94 w 154"/>
                  <a:gd name="T3" fmla="*/ 139 h 314"/>
                  <a:gd name="T4" fmla="*/ 0 w 154"/>
                  <a:gd name="T5" fmla="*/ 0 h 314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314"/>
                  <a:gd name="T11" fmla="*/ 154 w 154"/>
                  <a:gd name="T12" fmla="*/ 314 h 3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314">
                    <a:moveTo>
                      <a:pt x="154" y="314"/>
                    </a:moveTo>
                    <a:cubicBezTo>
                      <a:pt x="146" y="285"/>
                      <a:pt x="134" y="191"/>
                      <a:pt x="108" y="139"/>
                    </a:cubicBezTo>
                    <a:cubicBezTo>
                      <a:pt x="82" y="87"/>
                      <a:pt x="22" y="29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1523" name="Object 8"/>
              <p:cNvGraphicFramePr>
                <a:graphicFrameLocks noChangeAspect="1"/>
              </p:cNvGraphicFramePr>
              <p:nvPr/>
            </p:nvGraphicFramePr>
            <p:xfrm>
              <a:off x="2005" y="2114"/>
              <a:ext cx="249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04" name="Equation" r:id="rId3" imgW="253800" imgH="215640" progId="Equation.DSMT4">
                      <p:embed/>
                    </p:oleObj>
                  </mc:Choice>
                  <mc:Fallback>
                    <p:oleObj name="Equation" r:id="rId3" imgW="253800" imgH="215640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5" y="2114"/>
                            <a:ext cx="249" cy="3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50" name="Group 9"/>
            <p:cNvGrpSpPr>
              <a:grpSpLocks/>
            </p:cNvGrpSpPr>
            <p:nvPr/>
          </p:nvGrpSpPr>
          <p:grpSpPr bwMode="auto">
            <a:xfrm>
              <a:off x="1387" y="2424"/>
              <a:ext cx="506" cy="254"/>
              <a:chOff x="1387" y="2424"/>
              <a:chExt cx="506" cy="254"/>
            </a:xfrm>
          </p:grpSpPr>
          <p:graphicFrame>
            <p:nvGraphicFramePr>
              <p:cNvPr id="21522" name="Object 10"/>
              <p:cNvGraphicFramePr>
                <a:graphicFrameLocks noChangeAspect="1"/>
              </p:cNvGraphicFramePr>
              <p:nvPr/>
            </p:nvGraphicFramePr>
            <p:xfrm>
              <a:off x="1387" y="2424"/>
              <a:ext cx="176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05" name="Equation" r:id="rId5" imgW="88560" imgH="152280" progId="Equation.3">
                      <p:embed/>
                    </p:oleObj>
                  </mc:Choice>
                  <mc:Fallback>
                    <p:oleObj name="Equation" r:id="rId5" imgW="88560" imgH="15228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7" y="2424"/>
                            <a:ext cx="176" cy="24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51" name="Text Box 11"/>
              <p:cNvSpPr txBox="1">
                <a:spLocks noChangeArrowheads="1"/>
              </p:cNvSpPr>
              <p:nvPr/>
            </p:nvSpPr>
            <p:spPr bwMode="auto">
              <a:xfrm>
                <a:off x="1457" y="2428"/>
                <a:ext cx="43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zh-CN" altLang="en-US" sz="2000">
                    <a:solidFill>
                      <a:srgbClr val="000000"/>
                    </a:solidFill>
                  </a:rPr>
                  <a:t>时刻</a:t>
                </a:r>
              </a:p>
            </p:txBody>
          </p:sp>
        </p:grpSp>
      </p:grpSp>
      <p:grpSp>
        <p:nvGrpSpPr>
          <p:cNvPr id="21526" name="Group 12"/>
          <p:cNvGrpSpPr>
            <a:grpSpLocks/>
          </p:cNvGrpSpPr>
          <p:nvPr/>
        </p:nvGrpSpPr>
        <p:grpSpPr bwMode="auto">
          <a:xfrm>
            <a:off x="792163" y="279400"/>
            <a:ext cx="5087937" cy="604838"/>
            <a:chOff x="614" y="568"/>
            <a:chExt cx="3205" cy="381"/>
          </a:xfrm>
        </p:grpSpPr>
        <p:sp>
          <p:nvSpPr>
            <p:cNvPr id="21547" name="Rectangle 13"/>
            <p:cNvSpPr>
              <a:spLocks noChangeArrowheads="1"/>
            </p:cNvSpPr>
            <p:nvPr/>
          </p:nvSpPr>
          <p:spPr bwMode="auto">
            <a:xfrm>
              <a:off x="614" y="568"/>
              <a:ext cx="3205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>
                  <a:solidFill>
                    <a:srgbClr val="000000"/>
                  </a:solidFill>
                </a:rPr>
                <a:t>把                   带入运动方程，得</a:t>
              </a:r>
            </a:p>
          </p:txBody>
        </p:sp>
        <p:graphicFrame>
          <p:nvGraphicFramePr>
            <p:cNvPr id="21521" name="Object 14"/>
            <p:cNvGraphicFramePr>
              <a:graphicFrameLocks noChangeAspect="1"/>
            </p:cNvGraphicFramePr>
            <p:nvPr/>
          </p:nvGraphicFramePr>
          <p:xfrm>
            <a:off x="947" y="649"/>
            <a:ext cx="102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06" name="公式" r:id="rId7" imgW="774360" imgH="177480" progId="Equation.3">
                    <p:embed/>
                  </p:oleObj>
                </mc:Choice>
                <mc:Fallback>
                  <p:oleObj name="公式" r:id="rId7" imgW="77436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7" y="649"/>
                          <a:ext cx="1021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06" name="Object 15"/>
          <p:cNvGraphicFramePr>
            <a:graphicFrameLocks noChangeAspect="1"/>
          </p:cNvGraphicFramePr>
          <p:nvPr/>
        </p:nvGraphicFramePr>
        <p:xfrm>
          <a:off x="839788" y="793750"/>
          <a:ext cx="38401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7" name="Equation" r:id="rId9" imgW="1942920" imgH="469800" progId="Equation.3">
                  <p:embed/>
                </p:oleObj>
              </mc:Choice>
              <mc:Fallback>
                <p:oleObj name="Equation" r:id="rId9" imgW="194292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793750"/>
                        <a:ext cx="3840162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80" name="Object 16"/>
          <p:cNvGraphicFramePr>
            <a:graphicFrameLocks noChangeAspect="1"/>
          </p:cNvGraphicFramePr>
          <p:nvPr/>
        </p:nvGraphicFramePr>
        <p:xfrm>
          <a:off x="835025" y="1817688"/>
          <a:ext cx="2825750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8" name="Equation" r:id="rId11" imgW="1485720" imgH="736560" progId="Equation.3">
                  <p:embed/>
                </p:oleObj>
              </mc:Choice>
              <mc:Fallback>
                <p:oleObj name="Equation" r:id="rId11" imgW="1485720" imgH="7365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1817688"/>
                        <a:ext cx="2825750" cy="1406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81" name="Object 17"/>
          <p:cNvGraphicFramePr>
            <a:graphicFrameLocks noChangeAspect="1"/>
          </p:cNvGraphicFramePr>
          <p:nvPr/>
        </p:nvGraphicFramePr>
        <p:xfrm>
          <a:off x="3717925" y="2286000"/>
          <a:ext cx="18256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" name="Equation" r:id="rId13" imgW="977760" imgH="393480" progId="Equation.DSMT4">
                  <p:embed/>
                </p:oleObj>
              </mc:Choice>
              <mc:Fallback>
                <p:oleObj name="Equation" r:id="rId13" imgW="977760" imgH="393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2286000"/>
                        <a:ext cx="182562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746125" y="3359150"/>
            <a:ext cx="674688" cy="3384550"/>
            <a:chOff x="499" y="2188"/>
            <a:chExt cx="425" cy="2132"/>
          </a:xfrm>
        </p:grpSpPr>
        <p:sp>
          <p:nvSpPr>
            <p:cNvPr id="21545" name="Text Box 19"/>
            <p:cNvSpPr txBox="1">
              <a:spLocks noChangeArrowheads="1"/>
            </p:cNvSpPr>
            <p:nvPr/>
          </p:nvSpPr>
          <p:spPr bwMode="auto">
            <a:xfrm>
              <a:off x="499" y="2188"/>
              <a:ext cx="385" cy="2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800">
                  <a:solidFill>
                    <a:srgbClr val="0000FF"/>
                  </a:solidFill>
                </a:rPr>
                <a:t>求     的另一种方法</a:t>
              </a:r>
            </a:p>
          </p:txBody>
        </p:sp>
        <p:sp>
          <p:nvSpPr>
            <p:cNvPr id="21546" name="Text Box 20"/>
            <p:cNvSpPr txBox="1">
              <a:spLocks noChangeArrowheads="1"/>
            </p:cNvSpPr>
            <p:nvPr/>
          </p:nvSpPr>
          <p:spPr bwMode="auto">
            <a:xfrm>
              <a:off x="588" y="2400"/>
              <a:ext cx="3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800">
                  <a:solidFill>
                    <a:srgbClr val="0000FF"/>
                  </a:solidFill>
                </a:rPr>
                <a:t>t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827213" y="4445000"/>
            <a:ext cx="5970587" cy="831850"/>
            <a:chOff x="1151" y="2872"/>
            <a:chExt cx="3761" cy="524"/>
          </a:xfrm>
        </p:grpSpPr>
        <p:sp>
          <p:nvSpPr>
            <p:cNvPr id="21539" name="Line 22"/>
            <p:cNvSpPr>
              <a:spLocks noChangeShapeType="1"/>
            </p:cNvSpPr>
            <p:nvPr/>
          </p:nvSpPr>
          <p:spPr bwMode="auto">
            <a:xfrm>
              <a:off x="1151" y="3154"/>
              <a:ext cx="3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0" name="Line 23"/>
            <p:cNvSpPr>
              <a:spLocks noChangeShapeType="1"/>
            </p:cNvSpPr>
            <p:nvPr/>
          </p:nvSpPr>
          <p:spPr bwMode="auto">
            <a:xfrm flipV="1">
              <a:off x="1661" y="3013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1" name="Line 24"/>
            <p:cNvSpPr>
              <a:spLocks noChangeShapeType="1"/>
            </p:cNvSpPr>
            <p:nvPr/>
          </p:nvSpPr>
          <p:spPr bwMode="auto">
            <a:xfrm flipV="1">
              <a:off x="2200" y="3013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2" name="Line 25"/>
            <p:cNvSpPr>
              <a:spLocks noChangeShapeType="1"/>
            </p:cNvSpPr>
            <p:nvPr/>
          </p:nvSpPr>
          <p:spPr bwMode="auto">
            <a:xfrm flipV="1">
              <a:off x="2751" y="3013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3" name="Line 26"/>
            <p:cNvSpPr>
              <a:spLocks noChangeShapeType="1"/>
            </p:cNvSpPr>
            <p:nvPr/>
          </p:nvSpPr>
          <p:spPr bwMode="auto">
            <a:xfrm flipV="1">
              <a:off x="3788" y="3013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4" name="Line 27"/>
            <p:cNvSpPr>
              <a:spLocks noChangeShapeType="1"/>
            </p:cNvSpPr>
            <p:nvPr/>
          </p:nvSpPr>
          <p:spPr bwMode="auto">
            <a:xfrm flipV="1">
              <a:off x="3270" y="3013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1515" name="Object 28"/>
            <p:cNvGraphicFramePr>
              <a:graphicFrameLocks noChangeAspect="1"/>
            </p:cNvGraphicFramePr>
            <p:nvPr/>
          </p:nvGraphicFramePr>
          <p:xfrm>
            <a:off x="2621" y="3154"/>
            <a:ext cx="27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0" name="Equation" r:id="rId15" imgW="126720" imgH="139680" progId="Equation.3">
                    <p:embed/>
                  </p:oleObj>
                </mc:Choice>
                <mc:Fallback>
                  <p:oleObj name="Equation" r:id="rId15" imgW="126720" imgH="1396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1" y="3154"/>
                          <a:ext cx="272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6" name="Object 29"/>
            <p:cNvGraphicFramePr>
              <a:graphicFrameLocks noChangeAspect="1"/>
            </p:cNvGraphicFramePr>
            <p:nvPr/>
          </p:nvGraphicFramePr>
          <p:xfrm>
            <a:off x="1205" y="3157"/>
            <a:ext cx="63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1" name="Equation" r:id="rId17" imgW="419040" imgH="177480" progId="Equation.3">
                    <p:embed/>
                  </p:oleObj>
                </mc:Choice>
                <mc:Fallback>
                  <p:oleObj name="Equation" r:id="rId17" imgW="419040" imgH="1774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5" y="3157"/>
                          <a:ext cx="638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30"/>
            <p:cNvGraphicFramePr>
              <a:graphicFrameLocks noChangeAspect="1"/>
            </p:cNvGraphicFramePr>
            <p:nvPr/>
          </p:nvGraphicFramePr>
          <p:xfrm>
            <a:off x="1897" y="3157"/>
            <a:ext cx="63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2" name="Equation" r:id="rId19" imgW="419040" imgH="177480" progId="Equation.3">
                    <p:embed/>
                  </p:oleObj>
                </mc:Choice>
                <mc:Fallback>
                  <p:oleObj name="Equation" r:id="rId19" imgW="419040" imgH="177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7" y="3157"/>
                          <a:ext cx="638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31"/>
            <p:cNvGraphicFramePr>
              <a:graphicFrameLocks noChangeAspect="1"/>
            </p:cNvGraphicFramePr>
            <p:nvPr/>
          </p:nvGraphicFramePr>
          <p:xfrm>
            <a:off x="3010" y="3157"/>
            <a:ext cx="482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3" name="Equation" r:id="rId21" imgW="317160" imgH="177480" progId="Equation.3">
                    <p:embed/>
                  </p:oleObj>
                </mc:Choice>
                <mc:Fallback>
                  <p:oleObj name="Equation" r:id="rId21" imgW="317160" imgH="177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0" y="3157"/>
                          <a:ext cx="482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32"/>
            <p:cNvGraphicFramePr>
              <a:graphicFrameLocks noChangeAspect="1"/>
            </p:cNvGraphicFramePr>
            <p:nvPr/>
          </p:nvGraphicFramePr>
          <p:xfrm>
            <a:off x="3702" y="3157"/>
            <a:ext cx="46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4" name="Equation" r:id="rId23" imgW="304560" imgH="177480" progId="Equation.3">
                    <p:embed/>
                  </p:oleObj>
                </mc:Choice>
                <mc:Fallback>
                  <p:oleObj name="Equation" r:id="rId23" imgW="304560" imgH="1774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2" y="3157"/>
                          <a:ext cx="463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0" name="Object 33"/>
            <p:cNvGraphicFramePr>
              <a:graphicFrameLocks noChangeAspect="1"/>
            </p:cNvGraphicFramePr>
            <p:nvPr/>
          </p:nvGraphicFramePr>
          <p:xfrm>
            <a:off x="4307" y="2872"/>
            <a:ext cx="60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5" name="Equation" r:id="rId25" imgW="342720" imgH="177480" progId="Equation.3">
                    <p:embed/>
                  </p:oleObj>
                </mc:Choice>
                <mc:Fallback>
                  <p:oleObj name="Equation" r:id="rId25" imgW="342720" imgH="17748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2872"/>
                          <a:ext cx="605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4367213" y="3216275"/>
            <a:ext cx="3225800" cy="1673225"/>
            <a:chOff x="2751" y="2098"/>
            <a:chExt cx="2032" cy="1054"/>
          </a:xfrm>
        </p:grpSpPr>
        <p:grpSp>
          <p:nvGrpSpPr>
            <p:cNvPr id="21533" name="Group 35"/>
            <p:cNvGrpSpPr>
              <a:grpSpLocks/>
            </p:cNvGrpSpPr>
            <p:nvPr/>
          </p:nvGrpSpPr>
          <p:grpSpPr bwMode="auto">
            <a:xfrm>
              <a:off x="2751" y="2098"/>
              <a:ext cx="757" cy="1054"/>
              <a:chOff x="2544" y="1056"/>
              <a:chExt cx="841" cy="1440"/>
            </a:xfrm>
          </p:grpSpPr>
          <p:sp>
            <p:nvSpPr>
              <p:cNvPr id="21535" name="Line 36"/>
              <p:cNvSpPr>
                <a:spLocks noChangeShapeType="1"/>
              </p:cNvSpPr>
              <p:nvPr/>
            </p:nvSpPr>
            <p:spPr bwMode="auto">
              <a:xfrm>
                <a:off x="3120" y="1560"/>
                <a:ext cx="0" cy="91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536" name="Freeform 37"/>
              <p:cNvSpPr>
                <a:spLocks/>
              </p:cNvSpPr>
              <p:nvPr/>
            </p:nvSpPr>
            <p:spPr bwMode="auto">
              <a:xfrm>
                <a:off x="2728" y="2179"/>
                <a:ext cx="154" cy="314"/>
              </a:xfrm>
              <a:custGeom>
                <a:avLst/>
                <a:gdLst>
                  <a:gd name="T0" fmla="*/ 154 w 154"/>
                  <a:gd name="T1" fmla="*/ 314 h 314"/>
                  <a:gd name="T2" fmla="*/ 108 w 154"/>
                  <a:gd name="T3" fmla="*/ 139 h 314"/>
                  <a:gd name="T4" fmla="*/ 0 w 154"/>
                  <a:gd name="T5" fmla="*/ 0 h 314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314"/>
                  <a:gd name="T11" fmla="*/ 154 w 154"/>
                  <a:gd name="T12" fmla="*/ 314 h 3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314">
                    <a:moveTo>
                      <a:pt x="154" y="314"/>
                    </a:moveTo>
                    <a:cubicBezTo>
                      <a:pt x="146" y="285"/>
                      <a:pt x="134" y="191"/>
                      <a:pt x="108" y="139"/>
                    </a:cubicBezTo>
                    <a:cubicBezTo>
                      <a:pt x="82" y="87"/>
                      <a:pt x="22" y="29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537" name="Line 38"/>
              <p:cNvSpPr>
                <a:spLocks noChangeShapeType="1"/>
              </p:cNvSpPr>
              <p:nvPr/>
            </p:nvSpPr>
            <p:spPr bwMode="auto">
              <a:xfrm flipV="1">
                <a:off x="2544" y="1536"/>
                <a:ext cx="576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538" name="Freeform 39"/>
              <p:cNvSpPr>
                <a:spLocks/>
              </p:cNvSpPr>
              <p:nvPr/>
            </p:nvSpPr>
            <p:spPr bwMode="auto">
              <a:xfrm rot="-2034574">
                <a:off x="2976" y="1179"/>
                <a:ext cx="142" cy="405"/>
              </a:xfrm>
              <a:custGeom>
                <a:avLst/>
                <a:gdLst>
                  <a:gd name="T0" fmla="*/ 142 w 142"/>
                  <a:gd name="T1" fmla="*/ 405 h 405"/>
                  <a:gd name="T2" fmla="*/ 105 w 142"/>
                  <a:gd name="T3" fmla="*/ 195 h 405"/>
                  <a:gd name="T4" fmla="*/ 0 w 142"/>
                  <a:gd name="T5" fmla="*/ 0 h 405"/>
                  <a:gd name="T6" fmla="*/ 0 60000 65536"/>
                  <a:gd name="T7" fmla="*/ 0 60000 65536"/>
                  <a:gd name="T8" fmla="*/ 0 60000 65536"/>
                  <a:gd name="T9" fmla="*/ 0 w 142"/>
                  <a:gd name="T10" fmla="*/ 0 h 405"/>
                  <a:gd name="T11" fmla="*/ 142 w 142"/>
                  <a:gd name="T12" fmla="*/ 405 h 4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2" h="405">
                    <a:moveTo>
                      <a:pt x="142" y="405"/>
                    </a:moveTo>
                    <a:cubicBezTo>
                      <a:pt x="136" y="370"/>
                      <a:pt x="129" y="262"/>
                      <a:pt x="105" y="195"/>
                    </a:cubicBezTo>
                    <a:cubicBezTo>
                      <a:pt x="81" y="128"/>
                      <a:pt x="22" y="41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1513" name="Object 40"/>
              <p:cNvGraphicFramePr>
                <a:graphicFrameLocks noChangeAspect="1"/>
              </p:cNvGraphicFramePr>
              <p:nvPr/>
            </p:nvGraphicFramePr>
            <p:xfrm>
              <a:off x="3072" y="1056"/>
              <a:ext cx="3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16" name="Equation" r:id="rId27" imgW="152280" imgH="139680" progId="Equation.3">
                      <p:embed/>
                    </p:oleObj>
                  </mc:Choice>
                  <mc:Fallback>
                    <p:oleObj name="Equation" r:id="rId27" imgW="152280" imgH="13968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1056"/>
                            <a:ext cx="313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14" name="Object 41"/>
              <p:cNvGraphicFramePr>
                <a:graphicFrameLocks noChangeAspect="1"/>
              </p:cNvGraphicFramePr>
              <p:nvPr/>
            </p:nvGraphicFramePr>
            <p:xfrm>
              <a:off x="2832" y="2098"/>
              <a:ext cx="249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17" name="Equation" r:id="rId29" imgW="253800" imgH="215640" progId="Equation.DSMT4">
                      <p:embed/>
                    </p:oleObj>
                  </mc:Choice>
                  <mc:Fallback>
                    <p:oleObj name="Equation" r:id="rId29" imgW="253800" imgH="215640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098"/>
                            <a:ext cx="249" cy="3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34" name="AutoShape 42"/>
            <p:cNvSpPr>
              <a:spLocks noChangeArrowheads="1"/>
            </p:cNvSpPr>
            <p:nvPr/>
          </p:nvSpPr>
          <p:spPr bwMode="auto">
            <a:xfrm>
              <a:off x="3788" y="2284"/>
              <a:ext cx="995" cy="245"/>
            </a:xfrm>
            <a:prstGeom prst="wedgeRectCallout">
              <a:avLst>
                <a:gd name="adj1" fmla="val -118542"/>
                <a:gd name="adj2" fmla="val 140611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none" w="sm" len="lg"/>
            </a:ln>
          </p:spPr>
          <p:txBody>
            <a:bodyPr/>
            <a:lstStyle/>
            <a:p>
              <a:r>
                <a:rPr lang="zh-CN" altLang="en-US" sz="2000">
                  <a:solidFill>
                    <a:srgbClr val="000000"/>
                  </a:solidFill>
                </a:rPr>
                <a:t>起始时刻</a:t>
              </a:r>
            </a:p>
          </p:txBody>
        </p:sp>
      </p:grp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4114800" y="3992563"/>
            <a:ext cx="568325" cy="566737"/>
            <a:chOff x="2304" y="1680"/>
            <a:chExt cx="528" cy="488"/>
          </a:xfrm>
        </p:grpSpPr>
        <p:sp>
          <p:nvSpPr>
            <p:cNvPr id="21532" name="Freeform 44"/>
            <p:cNvSpPr>
              <a:spLocks/>
            </p:cNvSpPr>
            <p:nvPr/>
          </p:nvSpPr>
          <p:spPr bwMode="auto">
            <a:xfrm rot="-4314154">
              <a:off x="2466" y="1886"/>
              <a:ext cx="144" cy="419"/>
            </a:xfrm>
            <a:custGeom>
              <a:avLst/>
              <a:gdLst>
                <a:gd name="T0" fmla="*/ 146 w 142"/>
                <a:gd name="T1" fmla="*/ 433 h 405"/>
                <a:gd name="T2" fmla="*/ 107 w 142"/>
                <a:gd name="T3" fmla="*/ 209 h 405"/>
                <a:gd name="T4" fmla="*/ 0 w 142"/>
                <a:gd name="T5" fmla="*/ 0 h 405"/>
                <a:gd name="T6" fmla="*/ 0 60000 65536"/>
                <a:gd name="T7" fmla="*/ 0 60000 65536"/>
                <a:gd name="T8" fmla="*/ 0 60000 65536"/>
                <a:gd name="T9" fmla="*/ 0 w 142"/>
                <a:gd name="T10" fmla="*/ 0 h 405"/>
                <a:gd name="T11" fmla="*/ 142 w 142"/>
                <a:gd name="T12" fmla="*/ 405 h 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2" h="405">
                  <a:moveTo>
                    <a:pt x="142" y="405"/>
                  </a:moveTo>
                  <a:cubicBezTo>
                    <a:pt x="136" y="370"/>
                    <a:pt x="129" y="262"/>
                    <a:pt x="105" y="195"/>
                  </a:cubicBezTo>
                  <a:cubicBezTo>
                    <a:pt x="81" y="128"/>
                    <a:pt x="22" y="41"/>
                    <a:pt x="0" y="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1512" name="Object 45"/>
            <p:cNvGraphicFramePr>
              <a:graphicFrameLocks noChangeAspect="1"/>
            </p:cNvGraphicFramePr>
            <p:nvPr/>
          </p:nvGraphicFramePr>
          <p:xfrm>
            <a:off x="2304" y="1680"/>
            <a:ext cx="52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" name="Equation" r:id="rId31" imgW="190440" imgH="152280" progId="Equation.3">
                    <p:embed/>
                  </p:oleObj>
                </mc:Choice>
                <mc:Fallback>
                  <p:oleObj name="Equation" r:id="rId31" imgW="190440" imgH="15228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680"/>
                          <a:ext cx="528" cy="3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1598613" y="5484813"/>
            <a:ext cx="6791325" cy="949325"/>
            <a:chOff x="1208" y="3430"/>
            <a:chExt cx="4278" cy="598"/>
          </a:xfrm>
        </p:grpSpPr>
        <p:graphicFrame>
          <p:nvGraphicFramePr>
            <p:cNvPr id="21509" name="Object 47"/>
            <p:cNvGraphicFramePr>
              <a:graphicFrameLocks noChangeAspect="1"/>
            </p:cNvGraphicFramePr>
            <p:nvPr/>
          </p:nvGraphicFramePr>
          <p:xfrm>
            <a:off x="1208" y="3430"/>
            <a:ext cx="680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9" name="公式" r:id="rId33" imgW="469800" imgH="406080" progId="Equation.3">
                    <p:embed/>
                  </p:oleObj>
                </mc:Choice>
                <mc:Fallback>
                  <p:oleObj name="公式" r:id="rId33" imgW="469800" imgH="40608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8" y="3430"/>
                          <a:ext cx="680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Object 48"/>
            <p:cNvGraphicFramePr>
              <a:graphicFrameLocks noChangeAspect="1"/>
            </p:cNvGraphicFramePr>
            <p:nvPr/>
          </p:nvGraphicFramePr>
          <p:xfrm>
            <a:off x="3942" y="3458"/>
            <a:ext cx="1544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0" name="Equation" r:id="rId35" imgW="1066680" imgH="393480" progId="Equation.DSMT4">
                    <p:embed/>
                  </p:oleObj>
                </mc:Choice>
                <mc:Fallback>
                  <p:oleObj name="Equation" r:id="rId35" imgW="1066680" imgH="39348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3458"/>
                          <a:ext cx="1544" cy="5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1" name="Object 49"/>
            <p:cNvGraphicFramePr>
              <a:graphicFrameLocks noChangeAspect="1"/>
            </p:cNvGraphicFramePr>
            <p:nvPr/>
          </p:nvGraphicFramePr>
          <p:xfrm>
            <a:off x="2568" y="3455"/>
            <a:ext cx="717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1" name="Equation" r:id="rId37" imgW="495000" imgH="393480" progId="Equation.DSMT4">
                    <p:embed/>
                  </p:oleObj>
                </mc:Choice>
                <mc:Fallback>
                  <p:oleObj name="Equation" r:id="rId37" imgW="495000" imgH="39348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3455"/>
                          <a:ext cx="717" cy="57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69FF9E-5256-485B-BD2B-E8B5B9ED9EAF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22535" name="Text Box 2"/>
          <p:cNvSpPr txBox="1">
            <a:spLocks noChangeArrowheads="1"/>
          </p:cNvSpPr>
          <p:nvPr/>
        </p:nvSpPr>
        <p:spPr bwMode="auto">
          <a:xfrm>
            <a:off x="434975" y="98425"/>
            <a:ext cx="84582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800">
                <a:solidFill>
                  <a:srgbClr val="960000"/>
                </a:solidFill>
              </a:rPr>
              <a:t>例</a:t>
            </a:r>
            <a:r>
              <a:rPr kumimoji="1" lang="en-US" altLang="zh-CN" sz="2800">
                <a:solidFill>
                  <a:srgbClr val="960000"/>
                </a:solidFill>
              </a:rPr>
              <a:t>2</a:t>
            </a:r>
            <a:r>
              <a:rPr kumimoji="1" lang="en-US" altLang="zh-CN" sz="2800">
                <a:solidFill>
                  <a:srgbClr val="000000"/>
                </a:solidFill>
              </a:rPr>
              <a:t>  </a:t>
            </a:r>
            <a:r>
              <a:rPr kumimoji="1" lang="zh-CN" altLang="en-US" sz="2800">
                <a:solidFill>
                  <a:srgbClr val="000000"/>
                </a:solidFill>
              </a:rPr>
              <a:t>已知一轻弹簧</a:t>
            </a:r>
            <a:r>
              <a:rPr kumimoji="1" lang="en-US" altLang="zh-CN" sz="2800" i="1">
                <a:solidFill>
                  <a:srgbClr val="000000"/>
                </a:solidFill>
              </a:rPr>
              <a:t>k</a:t>
            </a:r>
            <a:r>
              <a:rPr kumimoji="1" lang="en-US" altLang="zh-CN" sz="2800">
                <a:solidFill>
                  <a:srgbClr val="000000"/>
                </a:solidFill>
              </a:rPr>
              <a:t>=0.72 N/m</a:t>
            </a:r>
            <a:r>
              <a:rPr kumimoji="1" lang="zh-CN" altLang="en-US" sz="2800">
                <a:solidFill>
                  <a:srgbClr val="000000"/>
                </a:solidFill>
              </a:rPr>
              <a:t>，</a:t>
            </a:r>
            <a:r>
              <a:rPr kumimoji="1" lang="en-US" altLang="zh-CN" sz="2800">
                <a:solidFill>
                  <a:srgbClr val="000000"/>
                </a:solidFill>
              </a:rPr>
              <a:t>m=20g </a:t>
            </a:r>
            <a:r>
              <a:rPr kumimoji="1" lang="zh-CN" altLang="en-US" sz="2800">
                <a:solidFill>
                  <a:srgbClr val="000000"/>
                </a:solidFill>
              </a:rPr>
              <a:t>从平衡位置 沿桌面向右拉长到  </a:t>
            </a:r>
            <a:r>
              <a:rPr kumimoji="1" lang="en-US" altLang="zh-CN" sz="2800" i="1">
                <a:solidFill>
                  <a:srgbClr val="000000"/>
                </a:solidFill>
              </a:rPr>
              <a:t>x</a:t>
            </a:r>
            <a:r>
              <a:rPr kumimoji="1" lang="en-US" altLang="zh-CN" sz="2800">
                <a:solidFill>
                  <a:srgbClr val="000000"/>
                </a:solidFill>
              </a:rPr>
              <a:t>=0.05m </a:t>
            </a:r>
            <a:r>
              <a:rPr kumimoji="1" lang="zh-CN" altLang="en-US" sz="2800">
                <a:solidFill>
                  <a:srgbClr val="000000"/>
                </a:solidFill>
              </a:rPr>
              <a:t>处释放 。                        </a:t>
            </a:r>
            <a:r>
              <a:rPr kumimoji="1" lang="zh-CN" altLang="en-US" sz="2800">
                <a:solidFill>
                  <a:srgbClr val="960000"/>
                </a:solidFill>
              </a:rPr>
              <a:t>求：</a:t>
            </a:r>
            <a:r>
              <a:rPr kumimoji="1" lang="en-US" altLang="zh-CN" sz="2800">
                <a:solidFill>
                  <a:srgbClr val="000000"/>
                </a:solidFill>
              </a:rPr>
              <a:t>1.</a:t>
            </a:r>
            <a:r>
              <a:rPr kumimoji="1" lang="zh-CN" altLang="en-US" sz="2800">
                <a:solidFill>
                  <a:srgbClr val="000000"/>
                </a:solidFill>
              </a:rPr>
              <a:t>振动方程 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3043238"/>
            <a:ext cx="6711950" cy="971550"/>
            <a:chOff x="385" y="1904"/>
            <a:chExt cx="4228" cy="612"/>
          </a:xfrm>
        </p:grpSpPr>
        <p:graphicFrame>
          <p:nvGraphicFramePr>
            <p:cNvPr id="22533" name="Object 4"/>
            <p:cNvGraphicFramePr>
              <a:graphicFrameLocks noChangeAspect="1"/>
            </p:cNvGraphicFramePr>
            <p:nvPr/>
          </p:nvGraphicFramePr>
          <p:xfrm>
            <a:off x="1852" y="1904"/>
            <a:ext cx="2761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4" name="Equation" r:id="rId3" imgW="1511280" imgH="444240" progId="Equation.DSMT4">
                    <p:embed/>
                  </p:oleObj>
                </mc:Choice>
                <mc:Fallback>
                  <p:oleObj name="Equation" r:id="rId3" imgW="1511280" imgH="4442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2" y="1904"/>
                          <a:ext cx="2761" cy="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5" name="Text Box 5"/>
            <p:cNvSpPr txBox="1">
              <a:spLocks noChangeArrowheads="1"/>
            </p:cNvSpPr>
            <p:nvPr/>
          </p:nvSpPr>
          <p:spPr bwMode="auto">
            <a:xfrm>
              <a:off x="725" y="2018"/>
              <a:ext cx="1566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960000"/>
                  </a:solidFill>
                </a:rPr>
                <a:t>1.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角频率：</a:t>
              </a:r>
            </a:p>
          </p:txBody>
        </p:sp>
        <p:sp>
          <p:nvSpPr>
            <p:cNvPr id="22546" name="Text Box 6"/>
            <p:cNvSpPr txBox="1">
              <a:spLocks noChangeArrowheads="1"/>
            </p:cNvSpPr>
            <p:nvPr/>
          </p:nvSpPr>
          <p:spPr bwMode="auto">
            <a:xfrm>
              <a:off x="385" y="1990"/>
              <a:ext cx="732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zh-CN" altLang="en-US" sz="2800">
                  <a:solidFill>
                    <a:srgbClr val="960000"/>
                  </a:solidFill>
                </a:rPr>
                <a:t>解：</a:t>
              </a:r>
            </a:p>
          </p:txBody>
        </p:sp>
      </p:grp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1150938" y="1673225"/>
            <a:ext cx="5251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800">
                <a:solidFill>
                  <a:srgbClr val="000000"/>
                </a:solidFill>
              </a:rPr>
              <a:t>2.</a:t>
            </a:r>
            <a:r>
              <a:rPr kumimoji="1" lang="zh-CN" altLang="en-US" sz="2800">
                <a:solidFill>
                  <a:srgbClr val="000000"/>
                </a:solidFill>
              </a:rPr>
              <a:t>物体第一次过</a:t>
            </a:r>
            <a:r>
              <a:rPr kumimoji="1" lang="en-US" altLang="zh-CN" sz="2800">
                <a:solidFill>
                  <a:srgbClr val="000000"/>
                </a:solidFill>
              </a:rPr>
              <a:t>A/2</a:t>
            </a:r>
            <a:r>
              <a:rPr kumimoji="1" lang="zh-CN" altLang="en-US" sz="2800">
                <a:solidFill>
                  <a:srgbClr val="000000"/>
                </a:solidFill>
              </a:rPr>
              <a:t>处时的速度，</a:t>
            </a:r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1150938" y="2033588"/>
            <a:ext cx="76581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>
                <a:solidFill>
                  <a:srgbClr val="000000"/>
                </a:solidFill>
              </a:rPr>
              <a:t>3.</a:t>
            </a:r>
            <a:r>
              <a:rPr kumimoji="1" lang="zh-CN" altLang="en-US" sz="2800">
                <a:solidFill>
                  <a:srgbClr val="000000"/>
                </a:solidFill>
              </a:rPr>
              <a:t>如果物体在</a:t>
            </a:r>
            <a:r>
              <a:rPr kumimoji="1" lang="en-US" altLang="zh-CN" sz="2800" i="1">
                <a:solidFill>
                  <a:srgbClr val="000000"/>
                </a:solidFill>
              </a:rPr>
              <a:t>x</a:t>
            </a:r>
            <a:r>
              <a:rPr kumimoji="1" lang="en-US" altLang="zh-CN" sz="2800">
                <a:solidFill>
                  <a:srgbClr val="000000"/>
                </a:solidFill>
              </a:rPr>
              <a:t>=0.05m </a:t>
            </a:r>
            <a:r>
              <a:rPr kumimoji="1" lang="zh-CN" altLang="en-US" sz="2800">
                <a:solidFill>
                  <a:srgbClr val="000000"/>
                </a:solidFill>
              </a:rPr>
              <a:t>处速度不等于零，而具有向右的初速度</a:t>
            </a:r>
            <a:r>
              <a:rPr kumimoji="1" lang="en-US" altLang="zh-CN" sz="2800" i="1">
                <a:solidFill>
                  <a:srgbClr val="000000"/>
                </a:solidFill>
                <a:latin typeface="Book Antiqua" pitchFamily="18" charset="0"/>
              </a:rPr>
              <a:t>v</a:t>
            </a:r>
            <a:r>
              <a:rPr kumimoji="1" lang="en-US" altLang="zh-CN" sz="2800" baseline="-25000">
                <a:solidFill>
                  <a:srgbClr val="000000"/>
                </a:solidFill>
              </a:rPr>
              <a:t>0</a:t>
            </a:r>
            <a:r>
              <a:rPr kumimoji="1" lang="en-US" altLang="zh-CN" sz="2800">
                <a:solidFill>
                  <a:srgbClr val="000000"/>
                </a:solidFill>
              </a:rPr>
              <a:t>=0.3m/s , </a:t>
            </a:r>
            <a:r>
              <a:rPr kumimoji="1" lang="zh-CN" altLang="en-US" sz="2800">
                <a:solidFill>
                  <a:srgbClr val="000000"/>
                </a:solidFill>
              </a:rPr>
              <a:t>求运动方程。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692275" y="4125913"/>
            <a:ext cx="4738688" cy="933450"/>
            <a:chOff x="1066" y="2593"/>
            <a:chExt cx="2985" cy="588"/>
          </a:xfrm>
        </p:grpSpPr>
        <p:graphicFrame>
          <p:nvGraphicFramePr>
            <p:cNvPr id="22532" name="Object 10"/>
            <p:cNvGraphicFramePr>
              <a:graphicFrameLocks noChangeAspect="1"/>
            </p:cNvGraphicFramePr>
            <p:nvPr/>
          </p:nvGraphicFramePr>
          <p:xfrm>
            <a:off x="1759" y="2593"/>
            <a:ext cx="2292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5" name="Equation" r:id="rId5" imgW="1650960" imgH="457200" progId="Equation.DSMT4">
                    <p:embed/>
                  </p:oleObj>
                </mc:Choice>
                <mc:Fallback>
                  <p:oleObj name="Equation" r:id="rId5" imgW="1650960" imgH="4572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9" y="2593"/>
                          <a:ext cx="2292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4" name="Text Box 11"/>
            <p:cNvSpPr txBox="1">
              <a:spLocks noChangeArrowheads="1"/>
            </p:cNvSpPr>
            <p:nvPr/>
          </p:nvSpPr>
          <p:spPr bwMode="auto">
            <a:xfrm>
              <a:off x="1066" y="2706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振幅：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692275" y="5041900"/>
            <a:ext cx="4427538" cy="973138"/>
            <a:chOff x="1066" y="3152"/>
            <a:chExt cx="2789" cy="613"/>
          </a:xfrm>
        </p:grpSpPr>
        <p:graphicFrame>
          <p:nvGraphicFramePr>
            <p:cNvPr id="22531" name="Object 13"/>
            <p:cNvGraphicFramePr>
              <a:graphicFrameLocks noChangeAspect="1"/>
            </p:cNvGraphicFramePr>
            <p:nvPr/>
          </p:nvGraphicFramePr>
          <p:xfrm>
            <a:off x="1725" y="3152"/>
            <a:ext cx="213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6" name="公式" r:id="rId7" imgW="1295280" imgH="482400" progId="Equation.3">
                    <p:embed/>
                  </p:oleObj>
                </mc:Choice>
                <mc:Fallback>
                  <p:oleObj name="公式" r:id="rId7" imgW="1295280" imgH="4824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5" y="3152"/>
                          <a:ext cx="2130" cy="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Text Box 14"/>
            <p:cNvSpPr txBox="1">
              <a:spLocks noChangeArrowheads="1"/>
            </p:cNvSpPr>
            <p:nvPr/>
          </p:nvSpPr>
          <p:spPr bwMode="auto">
            <a:xfrm>
              <a:off x="1066" y="3265"/>
              <a:ext cx="81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初相：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120775" y="6048375"/>
            <a:ext cx="4430713" cy="530225"/>
            <a:chOff x="706" y="3740"/>
            <a:chExt cx="2791" cy="334"/>
          </a:xfrm>
        </p:grpSpPr>
        <p:sp>
          <p:nvSpPr>
            <p:cNvPr id="22542" name="Text Box 16"/>
            <p:cNvSpPr txBox="1">
              <a:spLocks noChangeArrowheads="1"/>
            </p:cNvSpPr>
            <p:nvPr/>
          </p:nvSpPr>
          <p:spPr bwMode="auto">
            <a:xfrm>
              <a:off x="706" y="3740"/>
              <a:ext cx="16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振动方程：</a:t>
              </a:r>
            </a:p>
          </p:txBody>
        </p:sp>
        <p:graphicFrame>
          <p:nvGraphicFramePr>
            <p:cNvPr id="22530" name="Object 17"/>
            <p:cNvGraphicFramePr>
              <a:graphicFrameLocks noChangeAspect="1"/>
            </p:cNvGraphicFramePr>
            <p:nvPr/>
          </p:nvGraphicFramePr>
          <p:xfrm>
            <a:off x="1816" y="3756"/>
            <a:ext cx="1681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7" name="Equation" r:id="rId9" imgW="1028520" imgH="203040" progId="Equation.DSMT4">
                    <p:embed/>
                  </p:oleObj>
                </mc:Choice>
                <mc:Fallback>
                  <p:oleObj name="Equation" r:id="rId9" imgW="1028520" imgH="2030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" y="3756"/>
                          <a:ext cx="1681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B037FE-579A-4BB9-964C-CA6EB99D1755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80963" y="866775"/>
          <a:ext cx="89979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Equation" r:id="rId3" imgW="3136680" imgH="393480" progId="Equation.DSMT4">
                  <p:embed/>
                </p:oleObj>
              </mc:Choice>
              <mc:Fallback>
                <p:oleObj name="Equation" r:id="rId3" imgW="313668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866775"/>
                        <a:ext cx="8997950" cy="103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3"/>
          <p:cNvSpPr txBox="1">
            <a:spLocks noChangeArrowheads="1"/>
          </p:cNvSpPr>
          <p:nvPr/>
        </p:nvSpPr>
        <p:spPr bwMode="auto">
          <a:xfrm>
            <a:off x="520700" y="368300"/>
            <a:ext cx="769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en-US" altLang="zh-CN" sz="2800">
                <a:solidFill>
                  <a:srgbClr val="960000"/>
                </a:solidFill>
              </a:rPr>
              <a:t>2.</a:t>
            </a:r>
            <a:r>
              <a:rPr kumimoji="1" lang="en-US" altLang="zh-CN" sz="2800">
                <a:solidFill>
                  <a:srgbClr val="000000"/>
                </a:solidFill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</a:rPr>
              <a:t>求</a:t>
            </a:r>
            <a:r>
              <a:rPr kumimoji="1" lang="en-US" altLang="zh-CN" sz="2800" i="1">
                <a:solidFill>
                  <a:srgbClr val="000000"/>
                </a:solidFill>
              </a:rPr>
              <a:t>x</a:t>
            </a:r>
            <a:r>
              <a:rPr kumimoji="1" lang="en-US" altLang="zh-CN" sz="2800">
                <a:solidFill>
                  <a:srgbClr val="000000"/>
                </a:solidFill>
              </a:rPr>
              <a:t>=A/2</a:t>
            </a:r>
            <a:r>
              <a:rPr kumimoji="1" lang="zh-CN" altLang="en-US" sz="2800">
                <a:solidFill>
                  <a:srgbClr val="000000"/>
                </a:solidFill>
              </a:rPr>
              <a:t>时的速度，先求第一次到该处的相位</a:t>
            </a: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714375" y="4689475"/>
            <a:ext cx="7772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2800">
                <a:solidFill>
                  <a:srgbClr val="000000"/>
                </a:solidFill>
              </a:rPr>
              <a:t>按题意知物体第一次过</a:t>
            </a:r>
            <a:r>
              <a:rPr kumimoji="1" lang="en-US" altLang="zh-CN" sz="2800">
                <a:solidFill>
                  <a:srgbClr val="000000"/>
                </a:solidFill>
              </a:rPr>
              <a:t>A/2</a:t>
            </a:r>
            <a:r>
              <a:rPr kumimoji="1" lang="zh-CN" altLang="en-US" sz="2800">
                <a:solidFill>
                  <a:srgbClr val="000000"/>
                </a:solidFill>
              </a:rPr>
              <a:t>处时，相位取较小的值，所以将以上各值带入速度公式：</a:t>
            </a:r>
          </a:p>
        </p:txBody>
      </p:sp>
      <p:graphicFrame>
        <p:nvGraphicFramePr>
          <p:cNvPr id="141317" name="Object 5"/>
          <p:cNvGraphicFramePr>
            <a:graphicFrameLocks noChangeAspect="1"/>
          </p:cNvGraphicFramePr>
          <p:nvPr/>
        </p:nvGraphicFramePr>
        <p:xfrm>
          <a:off x="742950" y="5724525"/>
          <a:ext cx="59737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Equation" r:id="rId5" imgW="2019240" imgH="203040" progId="Equation.DSMT4">
                  <p:embed/>
                </p:oleObj>
              </mc:Choice>
              <mc:Fallback>
                <p:oleObj name="Equation" r:id="rId5" imgW="201924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5724525"/>
                        <a:ext cx="5973763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120900" y="2757488"/>
            <a:ext cx="4521200" cy="1006475"/>
            <a:chOff x="1336" y="1737"/>
            <a:chExt cx="2848" cy="634"/>
          </a:xfrm>
        </p:grpSpPr>
        <p:sp>
          <p:nvSpPr>
            <p:cNvPr id="23562" name="Text Box 7"/>
            <p:cNvSpPr txBox="1">
              <a:spLocks noChangeArrowheads="1"/>
            </p:cNvSpPr>
            <p:nvPr/>
          </p:nvSpPr>
          <p:spPr bwMode="auto">
            <a:xfrm>
              <a:off x="3532" y="1737"/>
              <a:ext cx="2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800" b="0" i="1">
                  <a:solidFill>
                    <a:srgbClr val="000000"/>
                  </a:solidFill>
                </a:rPr>
                <a:t>A</a:t>
              </a:r>
            </a:p>
          </p:txBody>
        </p:sp>
        <p:grpSp>
          <p:nvGrpSpPr>
            <p:cNvPr id="23563" name="Group 8"/>
            <p:cNvGrpSpPr>
              <a:grpSpLocks/>
            </p:cNvGrpSpPr>
            <p:nvPr/>
          </p:nvGrpSpPr>
          <p:grpSpPr bwMode="auto">
            <a:xfrm>
              <a:off x="1336" y="1949"/>
              <a:ext cx="2848" cy="422"/>
              <a:chOff x="1207" y="1606"/>
              <a:chExt cx="3420" cy="507"/>
            </a:xfrm>
          </p:grpSpPr>
          <p:sp>
            <p:nvSpPr>
              <p:cNvPr id="23565" name="Line 9"/>
              <p:cNvSpPr>
                <a:spLocks noChangeShapeType="1"/>
              </p:cNvSpPr>
              <p:nvPr/>
            </p:nvSpPr>
            <p:spPr bwMode="auto">
              <a:xfrm>
                <a:off x="1207" y="1720"/>
                <a:ext cx="31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arrow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66" name="Text Box 10"/>
              <p:cNvSpPr txBox="1">
                <a:spLocks noChangeArrowheads="1"/>
              </p:cNvSpPr>
              <p:nvPr/>
            </p:nvSpPr>
            <p:spPr bwMode="auto">
              <a:xfrm>
                <a:off x="2664" y="1720"/>
                <a:ext cx="357" cy="3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800" b="0" i="1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23567" name="Text Box 11"/>
              <p:cNvSpPr txBox="1">
                <a:spLocks noChangeArrowheads="1"/>
              </p:cNvSpPr>
              <p:nvPr/>
            </p:nvSpPr>
            <p:spPr bwMode="auto">
              <a:xfrm>
                <a:off x="4269" y="1720"/>
                <a:ext cx="358" cy="3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800" b="0" i="1">
                    <a:solidFill>
                      <a:srgbClr val="000000"/>
                    </a:solidFill>
                  </a:rPr>
                  <a:t>x</a:t>
                </a:r>
              </a:p>
            </p:txBody>
          </p:sp>
          <p:sp>
            <p:nvSpPr>
              <p:cNvPr id="23568" name="Line 12"/>
              <p:cNvSpPr>
                <a:spLocks noChangeShapeType="1"/>
              </p:cNvSpPr>
              <p:nvPr/>
            </p:nvSpPr>
            <p:spPr bwMode="auto">
              <a:xfrm>
                <a:off x="4055" y="160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69" name="Line 13"/>
              <p:cNvSpPr>
                <a:spLocks noChangeShapeType="1"/>
              </p:cNvSpPr>
              <p:nvPr/>
            </p:nvSpPr>
            <p:spPr bwMode="auto">
              <a:xfrm>
                <a:off x="3442" y="160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70" name="Line 14"/>
              <p:cNvSpPr>
                <a:spLocks noChangeShapeType="1"/>
              </p:cNvSpPr>
              <p:nvPr/>
            </p:nvSpPr>
            <p:spPr bwMode="auto">
              <a:xfrm>
                <a:off x="1604" y="160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71" name="Line 15"/>
              <p:cNvSpPr>
                <a:spLocks noChangeShapeType="1"/>
              </p:cNvSpPr>
              <p:nvPr/>
            </p:nvSpPr>
            <p:spPr bwMode="auto">
              <a:xfrm>
                <a:off x="2829" y="1606"/>
                <a:ext cx="0" cy="14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572" name="Line 16"/>
              <p:cNvSpPr>
                <a:spLocks noChangeShapeType="1"/>
              </p:cNvSpPr>
              <p:nvPr/>
            </p:nvSpPr>
            <p:spPr bwMode="auto">
              <a:xfrm>
                <a:off x="2216" y="160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3564" name="Line 17"/>
            <p:cNvSpPr>
              <a:spLocks noChangeShapeType="1"/>
            </p:cNvSpPr>
            <p:nvPr/>
          </p:nvSpPr>
          <p:spPr bwMode="auto">
            <a:xfrm>
              <a:off x="2687" y="2032"/>
              <a:ext cx="102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 type="arrow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1330" name="Line 18"/>
          <p:cNvSpPr>
            <a:spLocks noChangeShapeType="1"/>
          </p:cNvSpPr>
          <p:nvPr/>
        </p:nvSpPr>
        <p:spPr bwMode="auto">
          <a:xfrm rot="-3712865">
            <a:off x="3822700" y="2528888"/>
            <a:ext cx="1620837" cy="1588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1331" name="Line 19"/>
          <p:cNvSpPr>
            <a:spLocks noChangeShapeType="1"/>
          </p:cNvSpPr>
          <p:nvPr/>
        </p:nvSpPr>
        <p:spPr bwMode="auto">
          <a:xfrm rot="3712865" flipV="1">
            <a:off x="3824288" y="3924300"/>
            <a:ext cx="1620838" cy="1587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autoUpdateAnimBg="0"/>
      <p:bldP spid="141330" grpId="0" animBg="1"/>
      <p:bldP spid="1413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E713C-BCED-4A27-A87C-40307BDE5A5B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4585" name="Text Box 2"/>
          <p:cNvSpPr txBox="1">
            <a:spLocks noChangeArrowheads="1"/>
          </p:cNvSpPr>
          <p:nvPr/>
        </p:nvSpPr>
        <p:spPr bwMode="auto">
          <a:xfrm>
            <a:off x="533400" y="561975"/>
            <a:ext cx="548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en-US" altLang="zh-CN" sz="2800">
                <a:solidFill>
                  <a:srgbClr val="960000"/>
                </a:solidFill>
              </a:rPr>
              <a:t>3</a:t>
            </a:r>
            <a:r>
              <a:rPr kumimoji="1" lang="en-US" altLang="zh-CN" sz="2800">
                <a:solidFill>
                  <a:srgbClr val="000000"/>
                </a:solidFill>
              </a:rPr>
              <a:t>. </a:t>
            </a:r>
            <a:r>
              <a:rPr kumimoji="1" lang="zh-CN" altLang="en-US" sz="2800">
                <a:solidFill>
                  <a:srgbClr val="000000"/>
                </a:solidFill>
              </a:rPr>
              <a:t>因为 </a:t>
            </a:r>
            <a:r>
              <a:rPr kumimoji="1" lang="en-US" altLang="zh-CN" sz="2800" i="1">
                <a:solidFill>
                  <a:srgbClr val="000000"/>
                </a:solidFill>
              </a:rPr>
              <a:t>x</a:t>
            </a:r>
            <a:r>
              <a:rPr kumimoji="1" lang="en-US" altLang="zh-CN" sz="2800" baseline="-25000">
                <a:solidFill>
                  <a:srgbClr val="000000"/>
                </a:solidFill>
              </a:rPr>
              <a:t>0</a:t>
            </a:r>
            <a:r>
              <a:rPr kumimoji="1" lang="en-US" altLang="zh-CN" sz="2800">
                <a:solidFill>
                  <a:srgbClr val="000000"/>
                </a:solidFill>
              </a:rPr>
              <a:t>=0.05m </a:t>
            </a:r>
            <a:r>
              <a:rPr kumimoji="1" lang="zh-CN" altLang="en-US" sz="2800">
                <a:solidFill>
                  <a:srgbClr val="000000"/>
                </a:solidFill>
              </a:rPr>
              <a:t>， </a:t>
            </a:r>
            <a:r>
              <a:rPr kumimoji="1" lang="en-US" altLang="zh-CN" sz="2800" i="1">
                <a:solidFill>
                  <a:srgbClr val="000000"/>
                </a:solidFill>
                <a:latin typeface="Book Antiqua" pitchFamily="18" charset="0"/>
              </a:rPr>
              <a:t>v</a:t>
            </a:r>
            <a:r>
              <a:rPr kumimoji="1" lang="en-US" altLang="zh-CN" sz="2800" baseline="-25000">
                <a:solidFill>
                  <a:srgbClr val="000000"/>
                </a:solidFill>
              </a:rPr>
              <a:t>0</a:t>
            </a:r>
            <a:r>
              <a:rPr kumimoji="1" lang="en-US" altLang="zh-CN" sz="2800">
                <a:solidFill>
                  <a:srgbClr val="000000"/>
                </a:solidFill>
              </a:rPr>
              <a:t>=0.3m/s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36613" y="1350963"/>
            <a:ext cx="5565775" cy="1077912"/>
            <a:chOff x="633" y="664"/>
            <a:chExt cx="3506" cy="679"/>
          </a:xfrm>
        </p:grpSpPr>
        <p:graphicFrame>
          <p:nvGraphicFramePr>
            <p:cNvPr id="24583" name="Object 4"/>
            <p:cNvGraphicFramePr>
              <a:graphicFrameLocks noChangeAspect="1"/>
            </p:cNvGraphicFramePr>
            <p:nvPr/>
          </p:nvGraphicFramePr>
          <p:xfrm>
            <a:off x="1281" y="664"/>
            <a:ext cx="2858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44" name="Equation" r:id="rId4" imgW="1549080" imgH="457200" progId="Equation.DSMT4">
                    <p:embed/>
                  </p:oleObj>
                </mc:Choice>
                <mc:Fallback>
                  <p:oleObj name="Equation" r:id="rId4" imgW="1549080" imgH="457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1" y="664"/>
                          <a:ext cx="2858" cy="6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4" name="Text Box 5"/>
            <p:cNvSpPr txBox="1">
              <a:spLocks noChangeArrowheads="1"/>
            </p:cNvSpPr>
            <p:nvPr/>
          </p:nvSpPr>
          <p:spPr bwMode="auto">
            <a:xfrm>
              <a:off x="633" y="841"/>
              <a:ext cx="10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振幅：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63563" y="2805113"/>
            <a:ext cx="4743450" cy="1157287"/>
            <a:chOff x="501" y="1139"/>
            <a:chExt cx="2988" cy="729"/>
          </a:xfrm>
        </p:grpSpPr>
        <p:graphicFrame>
          <p:nvGraphicFramePr>
            <p:cNvPr id="24582" name="Object 7"/>
            <p:cNvGraphicFramePr>
              <a:graphicFrameLocks noChangeAspect="1"/>
            </p:cNvGraphicFramePr>
            <p:nvPr/>
          </p:nvGraphicFramePr>
          <p:xfrm>
            <a:off x="1219" y="1139"/>
            <a:ext cx="2270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45" name="Equation" r:id="rId6" imgW="1193760" imgH="431640" progId="Equation.DSMT4">
                    <p:embed/>
                  </p:oleObj>
                </mc:Choice>
                <mc:Fallback>
                  <p:oleObj name="Equation" r:id="rId6" imgW="1193760" imgH="4316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1139"/>
                          <a:ext cx="2270" cy="7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Text Box 8"/>
            <p:cNvSpPr txBox="1">
              <a:spLocks noChangeArrowheads="1"/>
            </p:cNvSpPr>
            <p:nvPr/>
          </p:nvSpPr>
          <p:spPr bwMode="auto">
            <a:xfrm>
              <a:off x="501" y="1324"/>
              <a:ext cx="8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初相：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44513" y="5483225"/>
            <a:ext cx="5892800" cy="565150"/>
            <a:chOff x="533" y="3043"/>
            <a:chExt cx="3712" cy="356"/>
          </a:xfrm>
        </p:grpSpPr>
        <p:sp>
          <p:nvSpPr>
            <p:cNvPr id="24602" name="Text Box 10"/>
            <p:cNvSpPr txBox="1">
              <a:spLocks noChangeArrowheads="1"/>
            </p:cNvSpPr>
            <p:nvPr/>
          </p:nvSpPr>
          <p:spPr bwMode="auto">
            <a:xfrm>
              <a:off x="533" y="3049"/>
              <a:ext cx="19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800">
                  <a:solidFill>
                    <a:srgbClr val="000000"/>
                  </a:solidFill>
                </a:rPr>
                <a:t>振动方程：</a:t>
              </a:r>
            </a:p>
          </p:txBody>
        </p:sp>
        <p:graphicFrame>
          <p:nvGraphicFramePr>
            <p:cNvPr id="24581" name="Object 11"/>
            <p:cNvGraphicFramePr>
              <a:graphicFrameLocks noChangeAspect="1"/>
            </p:cNvGraphicFramePr>
            <p:nvPr/>
          </p:nvGraphicFramePr>
          <p:xfrm>
            <a:off x="1667" y="3043"/>
            <a:ext cx="257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46" name="Equation" r:id="rId8" imgW="1600200" imgH="203040" progId="Equation.DSMT4">
                    <p:embed/>
                  </p:oleObj>
                </mc:Choice>
                <mc:Fallback>
                  <p:oleObj name="Equation" r:id="rId8" imgW="1600200" imgH="203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7" y="3043"/>
                          <a:ext cx="2578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2348" name="Object 12"/>
          <p:cNvGraphicFramePr>
            <a:graphicFrameLocks noChangeAspect="1"/>
          </p:cNvGraphicFramePr>
          <p:nvPr/>
        </p:nvGraphicFramePr>
        <p:xfrm>
          <a:off x="1517650" y="4057650"/>
          <a:ext cx="32035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Equation" r:id="rId10" imgW="1231560" imgH="393480" progId="Equation.DSMT4">
                  <p:embed/>
                </p:oleObj>
              </mc:Choice>
              <mc:Fallback>
                <p:oleObj name="Equation" r:id="rId10" imgW="1231560" imgH="393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4057650"/>
                        <a:ext cx="320357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5472113" y="3116263"/>
            <a:ext cx="3430587" cy="1735137"/>
            <a:chOff x="3447" y="1773"/>
            <a:chExt cx="2161" cy="1093"/>
          </a:xfrm>
        </p:grpSpPr>
        <p:grpSp>
          <p:nvGrpSpPr>
            <p:cNvPr id="24590" name="Group 14"/>
            <p:cNvGrpSpPr>
              <a:grpSpLocks/>
            </p:cNvGrpSpPr>
            <p:nvPr/>
          </p:nvGrpSpPr>
          <p:grpSpPr bwMode="auto">
            <a:xfrm>
              <a:off x="4136" y="2372"/>
              <a:ext cx="716" cy="494"/>
              <a:chOff x="4136" y="2372"/>
              <a:chExt cx="716" cy="494"/>
            </a:xfrm>
          </p:grpSpPr>
          <p:grpSp>
            <p:nvGrpSpPr>
              <p:cNvPr id="24599" name="Group 15"/>
              <p:cNvGrpSpPr>
                <a:grpSpLocks/>
              </p:cNvGrpSpPr>
              <p:nvPr/>
            </p:nvGrpSpPr>
            <p:grpSpPr bwMode="auto">
              <a:xfrm>
                <a:off x="4241" y="2372"/>
                <a:ext cx="611" cy="494"/>
                <a:chOff x="4241" y="2372"/>
                <a:chExt cx="611" cy="494"/>
              </a:xfrm>
            </p:grpSpPr>
            <p:sp>
              <p:nvSpPr>
                <p:cNvPr id="24601" name="Arc 16"/>
                <p:cNvSpPr>
                  <a:spLocks/>
                </p:cNvSpPr>
                <p:nvPr/>
              </p:nvSpPr>
              <p:spPr bwMode="auto">
                <a:xfrm rot="5264287">
                  <a:off x="4275" y="2381"/>
                  <a:ext cx="170" cy="237"/>
                </a:xfrm>
                <a:custGeom>
                  <a:avLst/>
                  <a:gdLst>
                    <a:gd name="T0" fmla="*/ 0 w 16202"/>
                    <a:gd name="T1" fmla="*/ 0 h 21600"/>
                    <a:gd name="T2" fmla="*/ 0 w 16202"/>
                    <a:gd name="T3" fmla="*/ 0 h 21600"/>
                    <a:gd name="T4" fmla="*/ 0 w 1620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6202"/>
                    <a:gd name="T10" fmla="*/ 0 h 21600"/>
                    <a:gd name="T11" fmla="*/ 16202 w 1620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202" h="21600" fill="none" extrusionOk="0">
                      <a:moveTo>
                        <a:pt x="-1" y="0"/>
                      </a:moveTo>
                      <a:cubicBezTo>
                        <a:pt x="6200" y="0"/>
                        <a:pt x="12101" y="2664"/>
                        <a:pt x="16201" y="7315"/>
                      </a:cubicBezTo>
                    </a:path>
                    <a:path w="16202" h="21600" stroke="0" extrusionOk="0">
                      <a:moveTo>
                        <a:pt x="-1" y="0"/>
                      </a:moveTo>
                      <a:cubicBezTo>
                        <a:pt x="6200" y="0"/>
                        <a:pt x="12101" y="2664"/>
                        <a:pt x="16201" y="7315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4580" name="Object 17"/>
                <p:cNvGraphicFramePr>
                  <a:graphicFrameLocks noChangeAspect="1"/>
                </p:cNvGraphicFramePr>
                <p:nvPr/>
              </p:nvGraphicFramePr>
              <p:xfrm>
                <a:off x="4496" y="2372"/>
                <a:ext cx="356" cy="4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648" name="公式" r:id="rId12" imgW="291960" imgH="406080" progId="Equation.3">
                        <p:embed/>
                      </p:oleObj>
                    </mc:Choice>
                    <mc:Fallback>
                      <p:oleObj name="公式" r:id="rId12" imgW="291960" imgH="406080" progId="Equation.3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96" y="2372"/>
                              <a:ext cx="356" cy="4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4600" name="Line 18"/>
              <p:cNvSpPr>
                <a:spLocks noChangeShapeType="1"/>
              </p:cNvSpPr>
              <p:nvPr/>
            </p:nvSpPr>
            <p:spPr bwMode="auto">
              <a:xfrm rot="13500000" flipH="1">
                <a:off x="4136" y="2642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339966"/>
                </a:solidFill>
                <a:miter lim="800000"/>
                <a:headEnd/>
                <a:tailEnd type="arrow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4591" name="Group 19"/>
            <p:cNvGrpSpPr>
              <a:grpSpLocks/>
            </p:cNvGrpSpPr>
            <p:nvPr/>
          </p:nvGrpSpPr>
          <p:grpSpPr bwMode="auto">
            <a:xfrm>
              <a:off x="3447" y="2047"/>
              <a:ext cx="2161" cy="695"/>
              <a:chOff x="3447" y="2047"/>
              <a:chExt cx="2161" cy="695"/>
            </a:xfrm>
          </p:grpSpPr>
          <p:sp>
            <p:nvSpPr>
              <p:cNvPr id="24595" name="Line 20"/>
              <p:cNvSpPr>
                <a:spLocks noChangeShapeType="1"/>
              </p:cNvSpPr>
              <p:nvPr/>
            </p:nvSpPr>
            <p:spPr bwMode="auto">
              <a:xfrm>
                <a:off x="3447" y="2415"/>
                <a:ext cx="20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arrow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4596" name="Text Box 21"/>
              <p:cNvSpPr txBox="1">
                <a:spLocks noChangeArrowheads="1"/>
              </p:cNvSpPr>
              <p:nvPr/>
            </p:nvSpPr>
            <p:spPr bwMode="auto">
              <a:xfrm>
                <a:off x="4042" y="2372"/>
                <a:ext cx="31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800" b="0" i="1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24597" name="Text Box 22"/>
              <p:cNvSpPr txBox="1">
                <a:spLocks noChangeArrowheads="1"/>
              </p:cNvSpPr>
              <p:nvPr/>
            </p:nvSpPr>
            <p:spPr bwMode="auto">
              <a:xfrm>
                <a:off x="5290" y="2415"/>
                <a:ext cx="31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800" b="0" i="1">
                    <a:solidFill>
                      <a:srgbClr val="000000"/>
                    </a:solidFill>
                  </a:rPr>
                  <a:t>x</a:t>
                </a:r>
              </a:p>
            </p:txBody>
          </p:sp>
          <p:sp>
            <p:nvSpPr>
              <p:cNvPr id="24598" name="Text Box 23"/>
              <p:cNvSpPr txBox="1">
                <a:spLocks noChangeArrowheads="1"/>
              </p:cNvSpPr>
              <p:nvPr/>
            </p:nvSpPr>
            <p:spPr bwMode="auto">
              <a:xfrm>
                <a:off x="4784" y="2047"/>
                <a:ext cx="33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800" b="0" i="1">
                    <a:solidFill>
                      <a:srgbClr val="000000"/>
                    </a:solidFill>
                  </a:rPr>
                  <a:t>A</a:t>
                </a:r>
              </a:p>
            </p:txBody>
          </p:sp>
        </p:grpSp>
        <p:grpSp>
          <p:nvGrpSpPr>
            <p:cNvPr id="24592" name="Group 24"/>
            <p:cNvGrpSpPr>
              <a:grpSpLocks/>
            </p:cNvGrpSpPr>
            <p:nvPr/>
          </p:nvGrpSpPr>
          <p:grpSpPr bwMode="auto">
            <a:xfrm>
              <a:off x="3674" y="1773"/>
              <a:ext cx="804" cy="670"/>
              <a:chOff x="3674" y="1773"/>
              <a:chExt cx="804" cy="670"/>
            </a:xfrm>
          </p:grpSpPr>
          <p:sp>
            <p:nvSpPr>
              <p:cNvPr id="24593" name="Line 25"/>
              <p:cNvSpPr>
                <a:spLocks noChangeShapeType="1"/>
              </p:cNvSpPr>
              <p:nvPr/>
            </p:nvSpPr>
            <p:spPr bwMode="auto">
              <a:xfrm rot="2700000" flipH="1">
                <a:off x="3674" y="2188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 type="arrow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4594" name="Arc 26"/>
              <p:cNvSpPr>
                <a:spLocks/>
              </p:cNvSpPr>
              <p:nvPr/>
            </p:nvSpPr>
            <p:spPr bwMode="auto">
              <a:xfrm rot="-1260193">
                <a:off x="4156" y="2206"/>
                <a:ext cx="226" cy="23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79" name="Object 27"/>
              <p:cNvGraphicFramePr>
                <a:graphicFrameLocks noChangeAspect="1"/>
              </p:cNvGraphicFramePr>
              <p:nvPr/>
            </p:nvGraphicFramePr>
            <p:xfrm>
              <a:off x="4169" y="1773"/>
              <a:ext cx="309" cy="4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49" name="公式" r:id="rId14" imgW="253800" imgH="406080" progId="Equation.3">
                      <p:embed/>
                    </p:oleObj>
                  </mc:Choice>
                  <mc:Fallback>
                    <p:oleObj name="公式" r:id="rId14" imgW="253800" imgH="40608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69" y="1773"/>
                            <a:ext cx="309" cy="49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822188-E22D-403E-A22F-8A1564D87675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25610" name="Text Box 2"/>
          <p:cNvSpPr txBox="1">
            <a:spLocks noChangeArrowheads="1"/>
          </p:cNvSpPr>
          <p:nvPr/>
        </p:nvSpPr>
        <p:spPr bwMode="auto">
          <a:xfrm>
            <a:off x="582613" y="304800"/>
            <a:ext cx="80010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800">
                <a:solidFill>
                  <a:srgbClr val="960000"/>
                </a:solidFill>
              </a:rPr>
              <a:t>例</a:t>
            </a:r>
            <a:r>
              <a:rPr kumimoji="1" lang="en-US" altLang="zh-CN" sz="2800">
                <a:solidFill>
                  <a:srgbClr val="960000"/>
                </a:solidFill>
              </a:rPr>
              <a:t>3</a:t>
            </a:r>
            <a:r>
              <a:rPr kumimoji="1" lang="en-US" altLang="zh-CN" sz="2800">
                <a:solidFill>
                  <a:srgbClr val="000000"/>
                </a:solidFill>
              </a:rPr>
              <a:t>  </a:t>
            </a:r>
            <a:r>
              <a:rPr kumimoji="1" lang="zh-CN" altLang="en-US" sz="2800">
                <a:solidFill>
                  <a:srgbClr val="000000"/>
                </a:solidFill>
              </a:rPr>
              <a:t>已知简谐振动的运动曲线如图所示，</a:t>
            </a:r>
            <a:r>
              <a:rPr kumimoji="1" lang="zh-CN" altLang="en-US" sz="2800">
                <a:solidFill>
                  <a:srgbClr val="960000"/>
                </a:solidFill>
              </a:rPr>
              <a:t>试求</a:t>
            </a:r>
            <a:r>
              <a:rPr kumimoji="1" lang="zh-CN" altLang="en-US" sz="2800">
                <a:solidFill>
                  <a:srgbClr val="000000"/>
                </a:solidFill>
              </a:rPr>
              <a:t>它的初相位和周期。</a:t>
            </a:r>
          </a:p>
        </p:txBody>
      </p:sp>
      <p:grpSp>
        <p:nvGrpSpPr>
          <p:cNvPr id="25611" name="Group 3"/>
          <p:cNvGrpSpPr>
            <a:grpSpLocks/>
          </p:cNvGrpSpPr>
          <p:nvPr/>
        </p:nvGrpSpPr>
        <p:grpSpPr bwMode="auto">
          <a:xfrm>
            <a:off x="4486275" y="684213"/>
            <a:ext cx="3657600" cy="2024062"/>
            <a:chOff x="2826" y="431"/>
            <a:chExt cx="2304" cy="1275"/>
          </a:xfrm>
        </p:grpSpPr>
        <p:sp>
          <p:nvSpPr>
            <p:cNvPr id="25624" name="Line 4"/>
            <p:cNvSpPr>
              <a:spLocks noChangeShapeType="1"/>
            </p:cNvSpPr>
            <p:nvPr/>
          </p:nvSpPr>
          <p:spPr bwMode="auto">
            <a:xfrm flipV="1">
              <a:off x="3087" y="673"/>
              <a:ext cx="0" cy="8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5" name="Line 5"/>
            <p:cNvSpPr>
              <a:spLocks noChangeShapeType="1"/>
            </p:cNvSpPr>
            <p:nvPr/>
          </p:nvSpPr>
          <p:spPr bwMode="auto">
            <a:xfrm>
              <a:off x="3000" y="1194"/>
              <a:ext cx="21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6" name="Freeform 6"/>
            <p:cNvSpPr>
              <a:spLocks/>
            </p:cNvSpPr>
            <p:nvPr/>
          </p:nvSpPr>
          <p:spPr bwMode="auto">
            <a:xfrm>
              <a:off x="3087" y="847"/>
              <a:ext cx="1826" cy="702"/>
            </a:xfrm>
            <a:custGeom>
              <a:avLst/>
              <a:gdLst>
                <a:gd name="T0" fmla="*/ 0 w 2016"/>
                <a:gd name="T1" fmla="*/ 471 h 776"/>
                <a:gd name="T2" fmla="*/ 275 w 2016"/>
                <a:gd name="T3" fmla="*/ 118 h 776"/>
                <a:gd name="T4" fmla="*/ 473 w 2016"/>
                <a:gd name="T5" fmla="*/ 0 h 776"/>
                <a:gd name="T6" fmla="*/ 669 w 2016"/>
                <a:gd name="T7" fmla="*/ 118 h 776"/>
                <a:gd name="T8" fmla="*/ 827 w 2016"/>
                <a:gd name="T9" fmla="*/ 314 h 776"/>
                <a:gd name="T10" fmla="*/ 1063 w 2016"/>
                <a:gd name="T11" fmla="*/ 550 h 776"/>
                <a:gd name="T12" fmla="*/ 1260 w 2016"/>
                <a:gd name="T13" fmla="*/ 629 h 776"/>
                <a:gd name="T14" fmla="*/ 1457 w 2016"/>
                <a:gd name="T15" fmla="*/ 510 h 776"/>
                <a:gd name="T16" fmla="*/ 1654 w 2016"/>
                <a:gd name="T17" fmla="*/ 157 h 7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16"/>
                <a:gd name="T28" fmla="*/ 0 h 776"/>
                <a:gd name="T29" fmla="*/ 2016 w 2016"/>
                <a:gd name="T30" fmla="*/ 776 h 77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16" h="776">
                  <a:moveTo>
                    <a:pt x="0" y="576"/>
                  </a:moveTo>
                  <a:cubicBezTo>
                    <a:pt x="120" y="408"/>
                    <a:pt x="240" y="240"/>
                    <a:pt x="336" y="144"/>
                  </a:cubicBezTo>
                  <a:cubicBezTo>
                    <a:pt x="432" y="48"/>
                    <a:pt x="496" y="0"/>
                    <a:pt x="576" y="0"/>
                  </a:cubicBezTo>
                  <a:cubicBezTo>
                    <a:pt x="656" y="0"/>
                    <a:pt x="744" y="80"/>
                    <a:pt x="816" y="144"/>
                  </a:cubicBezTo>
                  <a:cubicBezTo>
                    <a:pt x="888" y="208"/>
                    <a:pt x="928" y="296"/>
                    <a:pt x="1008" y="384"/>
                  </a:cubicBezTo>
                  <a:cubicBezTo>
                    <a:pt x="1088" y="472"/>
                    <a:pt x="1208" y="608"/>
                    <a:pt x="1296" y="672"/>
                  </a:cubicBezTo>
                  <a:cubicBezTo>
                    <a:pt x="1384" y="736"/>
                    <a:pt x="1456" y="776"/>
                    <a:pt x="1536" y="768"/>
                  </a:cubicBezTo>
                  <a:cubicBezTo>
                    <a:pt x="1616" y="760"/>
                    <a:pt x="1696" y="720"/>
                    <a:pt x="1776" y="624"/>
                  </a:cubicBezTo>
                  <a:cubicBezTo>
                    <a:pt x="1856" y="528"/>
                    <a:pt x="1976" y="264"/>
                    <a:pt x="2016" y="19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7" name="Text Box 7"/>
            <p:cNvSpPr txBox="1">
              <a:spLocks noChangeArrowheads="1"/>
            </p:cNvSpPr>
            <p:nvPr/>
          </p:nvSpPr>
          <p:spPr bwMode="auto">
            <a:xfrm>
              <a:off x="2826" y="1168"/>
              <a:ext cx="391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000000"/>
                  </a:solidFill>
                </a:rPr>
                <a:t>-2</a:t>
              </a:r>
            </a:p>
          </p:txBody>
        </p:sp>
        <p:sp>
          <p:nvSpPr>
            <p:cNvPr id="25628" name="Text Box 8"/>
            <p:cNvSpPr txBox="1">
              <a:spLocks noChangeArrowheads="1"/>
            </p:cNvSpPr>
            <p:nvPr/>
          </p:nvSpPr>
          <p:spPr bwMode="auto">
            <a:xfrm>
              <a:off x="2826" y="657"/>
              <a:ext cx="217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5629" name="Line 9"/>
            <p:cNvSpPr>
              <a:spLocks noChangeShapeType="1"/>
            </p:cNvSpPr>
            <p:nvPr/>
          </p:nvSpPr>
          <p:spPr bwMode="auto">
            <a:xfrm>
              <a:off x="3043" y="841"/>
              <a:ext cx="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0" name="Line 10"/>
            <p:cNvSpPr>
              <a:spLocks noChangeShapeType="1"/>
            </p:cNvSpPr>
            <p:nvPr/>
          </p:nvSpPr>
          <p:spPr bwMode="auto">
            <a:xfrm>
              <a:off x="4000" y="1064"/>
              <a:ext cx="0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1" name="Text Box 11"/>
            <p:cNvSpPr txBox="1">
              <a:spLocks noChangeArrowheads="1"/>
            </p:cNvSpPr>
            <p:nvPr/>
          </p:nvSpPr>
          <p:spPr bwMode="auto">
            <a:xfrm>
              <a:off x="3869" y="1325"/>
              <a:ext cx="305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632" name="Text Box 12"/>
            <p:cNvSpPr txBox="1">
              <a:spLocks noChangeArrowheads="1"/>
            </p:cNvSpPr>
            <p:nvPr/>
          </p:nvSpPr>
          <p:spPr bwMode="auto">
            <a:xfrm>
              <a:off x="4869" y="1238"/>
              <a:ext cx="261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000000"/>
                  </a:solidFill>
                </a:rPr>
                <a:t>t</a:t>
              </a:r>
            </a:p>
          </p:txBody>
        </p:sp>
        <p:sp>
          <p:nvSpPr>
            <p:cNvPr id="25633" name="Text Box 13"/>
            <p:cNvSpPr txBox="1">
              <a:spLocks noChangeArrowheads="1"/>
            </p:cNvSpPr>
            <p:nvPr/>
          </p:nvSpPr>
          <p:spPr bwMode="auto">
            <a:xfrm>
              <a:off x="2861" y="431"/>
              <a:ext cx="34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 i="1">
                  <a:solidFill>
                    <a:srgbClr val="000000"/>
                  </a:solidFill>
                </a:rPr>
                <a:t>x</a:t>
              </a:r>
            </a:p>
          </p:txBody>
        </p:sp>
      </p:grpSp>
      <p:sp>
        <p:nvSpPr>
          <p:cNvPr id="143374" name="Text Box 14"/>
          <p:cNvSpPr txBox="1">
            <a:spLocks noChangeArrowheads="1"/>
          </p:cNvSpPr>
          <p:nvPr/>
        </p:nvSpPr>
        <p:spPr bwMode="auto">
          <a:xfrm>
            <a:off x="522288" y="1384300"/>
            <a:ext cx="4516437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800">
                <a:solidFill>
                  <a:srgbClr val="960000"/>
                </a:solidFill>
              </a:rPr>
              <a:t>解： </a:t>
            </a:r>
            <a:r>
              <a:rPr kumimoji="1" lang="en-US" altLang="zh-CN" sz="2800">
                <a:solidFill>
                  <a:srgbClr val="960000"/>
                </a:solidFill>
              </a:rPr>
              <a:t>(1) </a:t>
            </a:r>
            <a:r>
              <a:rPr kumimoji="1" lang="zh-CN" altLang="en-US" sz="2800">
                <a:solidFill>
                  <a:srgbClr val="000000"/>
                </a:solidFill>
              </a:rPr>
              <a:t>从图中看</a:t>
            </a:r>
            <a:r>
              <a:rPr kumimoji="1" lang="en-US" altLang="zh-CN" sz="2800">
                <a:solidFill>
                  <a:srgbClr val="000000"/>
                </a:solidFill>
              </a:rPr>
              <a:t>A=4 </a:t>
            </a:r>
          </a:p>
        </p:txBody>
      </p:sp>
      <p:sp>
        <p:nvSpPr>
          <p:cNvPr id="143375" name="Rectangle 15"/>
          <p:cNvSpPr>
            <a:spLocks noChangeArrowheads="1"/>
          </p:cNvSpPr>
          <p:nvPr/>
        </p:nvSpPr>
        <p:spPr bwMode="auto">
          <a:xfrm>
            <a:off x="698500" y="2014538"/>
            <a:ext cx="3152775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>
                <a:solidFill>
                  <a:srgbClr val="000000"/>
                </a:solidFill>
              </a:rPr>
              <a:t>t=0 </a:t>
            </a:r>
            <a:r>
              <a:rPr kumimoji="1" lang="zh-CN" altLang="en-US" sz="2800">
                <a:solidFill>
                  <a:srgbClr val="000000"/>
                </a:solidFill>
              </a:rPr>
              <a:t>时 </a:t>
            </a:r>
            <a:r>
              <a:rPr kumimoji="1" lang="en-US" altLang="zh-CN" sz="2800" i="1">
                <a:solidFill>
                  <a:srgbClr val="000000"/>
                </a:solidFill>
              </a:rPr>
              <a:t>x </a:t>
            </a:r>
            <a:r>
              <a:rPr kumimoji="1" lang="en-US" altLang="zh-CN" sz="2800">
                <a:solidFill>
                  <a:srgbClr val="000000"/>
                </a:solidFill>
              </a:rPr>
              <a:t>= -2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22288" y="2743200"/>
            <a:ext cx="8077200" cy="1406525"/>
            <a:chOff x="329" y="1728"/>
            <a:chExt cx="5088" cy="886"/>
          </a:xfrm>
        </p:grpSpPr>
        <p:grpSp>
          <p:nvGrpSpPr>
            <p:cNvPr id="25621" name="Group 17"/>
            <p:cNvGrpSpPr>
              <a:grpSpLocks/>
            </p:cNvGrpSpPr>
            <p:nvPr/>
          </p:nvGrpSpPr>
          <p:grpSpPr bwMode="auto">
            <a:xfrm>
              <a:off x="329" y="1728"/>
              <a:ext cx="5088" cy="772"/>
              <a:chOff x="329" y="1728"/>
              <a:chExt cx="5088" cy="772"/>
            </a:xfrm>
          </p:grpSpPr>
          <p:sp>
            <p:nvSpPr>
              <p:cNvPr id="25622" name="Text Box 18"/>
              <p:cNvSpPr txBox="1">
                <a:spLocks noChangeArrowheads="1"/>
              </p:cNvSpPr>
              <p:nvPr/>
            </p:nvSpPr>
            <p:spPr bwMode="auto">
              <a:xfrm>
                <a:off x="329" y="1728"/>
                <a:ext cx="5088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kumimoji="1" lang="zh-CN" altLang="en-US" sz="2800">
                    <a:solidFill>
                      <a:srgbClr val="000000"/>
                    </a:solidFill>
                  </a:rPr>
                  <a:t>由振动方程知：                     所以： </a:t>
                </a:r>
              </a:p>
            </p:txBody>
          </p:sp>
          <p:sp>
            <p:nvSpPr>
              <p:cNvPr id="25623" name="Text Box 19"/>
              <p:cNvSpPr txBox="1">
                <a:spLocks noChangeArrowheads="1"/>
              </p:cNvSpPr>
              <p:nvPr/>
            </p:nvSpPr>
            <p:spPr bwMode="auto">
              <a:xfrm>
                <a:off x="377" y="2119"/>
                <a:ext cx="3216" cy="3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kumimoji="1" lang="zh-CN" altLang="en-US" sz="2800">
                    <a:solidFill>
                      <a:srgbClr val="000000"/>
                    </a:solidFill>
                  </a:rPr>
                  <a:t>即：</a:t>
                </a:r>
              </a:p>
            </p:txBody>
          </p:sp>
        </p:grpSp>
        <p:graphicFrame>
          <p:nvGraphicFramePr>
            <p:cNvPr id="25606" name="Object 20"/>
            <p:cNvGraphicFramePr>
              <a:graphicFrameLocks noChangeAspect="1"/>
            </p:cNvGraphicFramePr>
            <p:nvPr/>
          </p:nvGraphicFramePr>
          <p:xfrm>
            <a:off x="1883" y="1791"/>
            <a:ext cx="1082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9" name="公式" r:id="rId3" imgW="799920" imgH="203040" progId="Equation.3">
                    <p:embed/>
                  </p:oleObj>
                </mc:Choice>
                <mc:Fallback>
                  <p:oleObj name="公式" r:id="rId3" imgW="799920" imgH="20304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3" y="1791"/>
                          <a:ext cx="1082" cy="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7" name="Object 21"/>
            <p:cNvGraphicFramePr>
              <a:graphicFrameLocks noChangeAspect="1"/>
            </p:cNvGraphicFramePr>
            <p:nvPr/>
          </p:nvGraphicFramePr>
          <p:xfrm>
            <a:off x="3685" y="1800"/>
            <a:ext cx="115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0" name="公式" r:id="rId5" imgW="850680" imgH="203040" progId="Equation.3">
                    <p:embed/>
                  </p:oleObj>
                </mc:Choice>
                <mc:Fallback>
                  <p:oleObj name="公式" r:id="rId5" imgW="850680" imgH="2030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5" y="1800"/>
                          <a:ext cx="1151" cy="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8" name="Object 22"/>
            <p:cNvGraphicFramePr>
              <a:graphicFrameLocks noChangeAspect="1"/>
            </p:cNvGraphicFramePr>
            <p:nvPr/>
          </p:nvGraphicFramePr>
          <p:xfrm>
            <a:off x="794" y="2048"/>
            <a:ext cx="867" cy="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1" name="公式" r:id="rId7" imgW="622080" imgH="406080" progId="Equation.3">
                    <p:embed/>
                  </p:oleObj>
                </mc:Choice>
                <mc:Fallback>
                  <p:oleObj name="公式" r:id="rId7" imgW="622080" imgH="4060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2048"/>
                          <a:ext cx="867" cy="5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98488" y="4038600"/>
            <a:ext cx="7696200" cy="1117600"/>
            <a:chOff x="377" y="2544"/>
            <a:chExt cx="4848" cy="704"/>
          </a:xfrm>
        </p:grpSpPr>
        <p:sp>
          <p:nvSpPr>
            <p:cNvPr id="25620" name="Text Box 24"/>
            <p:cNvSpPr txBox="1">
              <a:spLocks noChangeArrowheads="1"/>
            </p:cNvSpPr>
            <p:nvPr/>
          </p:nvSpPr>
          <p:spPr bwMode="auto">
            <a:xfrm>
              <a:off x="377" y="2544"/>
              <a:ext cx="4848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zh-CN" altLang="en-US" sz="2800">
                  <a:solidFill>
                    <a:srgbClr val="000000"/>
                  </a:solidFill>
                </a:rPr>
                <a:t>由于在 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t =0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时振子的运动方向为 </a:t>
              </a:r>
              <a:r>
                <a:rPr kumimoji="1" lang="en-US" altLang="zh-CN" sz="2800" i="1">
                  <a:solidFill>
                    <a:srgbClr val="000000"/>
                  </a:solidFill>
                </a:rPr>
                <a:t>x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轴正向，所以取</a:t>
              </a:r>
              <a:r>
                <a:rPr kumimoji="1" lang="zh-CN" altLang="en-US" sz="2800" i="1">
                  <a:solidFill>
                    <a:srgbClr val="000000"/>
                  </a:solidFill>
                </a:rPr>
                <a:t> </a:t>
              </a:r>
              <a:endParaRPr kumimoji="1" lang="zh-CN" altLang="en-US" sz="2800">
                <a:solidFill>
                  <a:srgbClr val="000000"/>
                </a:solidFill>
              </a:endParaRPr>
            </a:p>
          </p:txBody>
        </p:sp>
        <p:graphicFrame>
          <p:nvGraphicFramePr>
            <p:cNvPr id="25605" name="Object 25"/>
            <p:cNvGraphicFramePr>
              <a:graphicFrameLocks noChangeAspect="1"/>
            </p:cNvGraphicFramePr>
            <p:nvPr/>
          </p:nvGraphicFramePr>
          <p:xfrm>
            <a:off x="918" y="2954"/>
            <a:ext cx="102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2" name="公式" r:id="rId9" imgW="736560" imgH="203040" progId="Equation.3">
                    <p:embed/>
                  </p:oleObj>
                </mc:Choice>
                <mc:Fallback>
                  <p:oleObj name="公式" r:id="rId9" imgW="736560" imgH="2030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8" y="2954"/>
                          <a:ext cx="1026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522288" y="5105400"/>
            <a:ext cx="8278812" cy="604838"/>
            <a:chOff x="329" y="3216"/>
            <a:chExt cx="5215" cy="381"/>
          </a:xfrm>
        </p:grpSpPr>
        <p:sp>
          <p:nvSpPr>
            <p:cNvPr id="25619" name="Text Box 27"/>
            <p:cNvSpPr txBox="1">
              <a:spLocks noChangeArrowheads="1"/>
            </p:cNvSpPr>
            <p:nvPr/>
          </p:nvSpPr>
          <p:spPr bwMode="auto">
            <a:xfrm>
              <a:off x="329" y="3216"/>
              <a:ext cx="5215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zh-CN" sz="2800">
                  <a:solidFill>
                    <a:srgbClr val="960000"/>
                  </a:solidFill>
                </a:rPr>
                <a:t>(2)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  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当 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t = 2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时，</a:t>
              </a:r>
              <a:r>
                <a:rPr kumimoji="1" lang="en-US" altLang="zh-CN" sz="2800" i="1">
                  <a:solidFill>
                    <a:srgbClr val="000000"/>
                  </a:solidFill>
                </a:rPr>
                <a:t>x</a:t>
              </a:r>
              <a:r>
                <a:rPr kumimoji="1" lang="en-US" altLang="zh-CN" sz="2800">
                  <a:solidFill>
                    <a:srgbClr val="000000"/>
                  </a:solidFill>
                </a:rPr>
                <a:t> = 0 </a:t>
              </a:r>
              <a:r>
                <a:rPr kumimoji="1" lang="zh-CN" altLang="en-US" sz="2800">
                  <a:solidFill>
                    <a:srgbClr val="000000"/>
                  </a:solidFill>
                </a:rPr>
                <a:t>；所以</a:t>
              </a:r>
            </a:p>
          </p:txBody>
        </p:sp>
        <p:graphicFrame>
          <p:nvGraphicFramePr>
            <p:cNvPr id="25604" name="Object 28"/>
            <p:cNvGraphicFramePr>
              <a:graphicFrameLocks noChangeAspect="1"/>
            </p:cNvGraphicFramePr>
            <p:nvPr/>
          </p:nvGraphicFramePr>
          <p:xfrm>
            <a:off x="3255" y="3294"/>
            <a:ext cx="1875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3" name="公式" r:id="rId11" imgW="1346040" imgH="203040" progId="Equation.3">
                    <p:embed/>
                  </p:oleObj>
                </mc:Choice>
                <mc:Fallback>
                  <p:oleObj name="公式" r:id="rId11" imgW="1346040" imgH="2030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" y="3294"/>
                          <a:ext cx="1875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389" name="Object 29"/>
          <p:cNvGraphicFramePr>
            <a:graphicFrameLocks noChangeAspect="1"/>
          </p:cNvGraphicFramePr>
          <p:nvPr/>
        </p:nvGraphicFramePr>
        <p:xfrm>
          <a:off x="768350" y="5916613"/>
          <a:ext cx="25288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4" name="公式" r:id="rId13" imgW="1143000" imgH="177480" progId="Equation.3">
                  <p:embed/>
                </p:oleObj>
              </mc:Choice>
              <mc:Fallback>
                <p:oleObj name="公式" r:id="rId13" imgW="1143000" imgH="1774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5916613"/>
                        <a:ext cx="2528888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3535363" y="5916613"/>
            <a:ext cx="4367212" cy="392112"/>
            <a:chOff x="2227" y="3727"/>
            <a:chExt cx="2751" cy="247"/>
          </a:xfrm>
        </p:grpSpPr>
        <p:graphicFrame>
          <p:nvGraphicFramePr>
            <p:cNvPr id="25603" name="Object 31"/>
            <p:cNvGraphicFramePr>
              <a:graphicFrameLocks noChangeAspect="1"/>
            </p:cNvGraphicFramePr>
            <p:nvPr/>
          </p:nvGraphicFramePr>
          <p:xfrm>
            <a:off x="2805" y="3727"/>
            <a:ext cx="217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5" name="公式" r:id="rId15" imgW="1562040" imgH="177480" progId="Equation.3">
                    <p:embed/>
                  </p:oleObj>
                </mc:Choice>
                <mc:Fallback>
                  <p:oleObj name="公式" r:id="rId15" imgW="1562040" imgH="177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" y="3727"/>
                          <a:ext cx="2173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AutoShape 32"/>
            <p:cNvSpPr>
              <a:spLocks noChangeArrowheads="1"/>
            </p:cNvSpPr>
            <p:nvPr/>
          </p:nvSpPr>
          <p:spPr bwMode="auto">
            <a:xfrm>
              <a:off x="2227" y="3804"/>
              <a:ext cx="483" cy="134"/>
            </a:xfrm>
            <a:prstGeom prst="rightArrow">
              <a:avLst>
                <a:gd name="adj1" fmla="val 50000"/>
                <a:gd name="adj2" fmla="val 9011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4" grpId="0" autoUpdateAnimBg="0"/>
      <p:bldP spid="1433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A57ED0-5865-45A3-860E-5B9BDDCA8428}" type="slidenum">
              <a:rPr lang="en-US" altLang="zh-CN"/>
              <a:pPr/>
              <a:t>27</a:t>
            </a:fld>
            <a:endParaRPr lang="en-US" altLang="zh-CN"/>
          </a:p>
        </p:txBody>
      </p:sp>
      <p:grpSp>
        <p:nvGrpSpPr>
          <p:cNvPr id="6153" name="Group 55"/>
          <p:cNvGrpSpPr>
            <a:grpSpLocks/>
          </p:cNvGrpSpPr>
          <p:nvPr/>
        </p:nvGrpSpPr>
        <p:grpSpPr bwMode="auto">
          <a:xfrm>
            <a:off x="99490" y="1335089"/>
            <a:ext cx="7872936" cy="635001"/>
            <a:chOff x="287" y="749"/>
            <a:chExt cx="4435" cy="400"/>
          </a:xfrm>
        </p:grpSpPr>
        <p:sp>
          <p:nvSpPr>
            <p:cNvPr id="6202" name="Rectangle 4"/>
            <p:cNvSpPr>
              <a:spLocks noChangeArrowheads="1"/>
            </p:cNvSpPr>
            <p:nvPr/>
          </p:nvSpPr>
          <p:spPr bwMode="auto">
            <a:xfrm>
              <a:off x="287" y="781"/>
              <a:ext cx="2569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</a:rPr>
                <a:t>一、简谐运动的动能</a:t>
              </a:r>
            </a:p>
          </p:txBody>
        </p:sp>
        <p:sp>
          <p:nvSpPr>
            <p:cNvPr id="6203" name="Rectangle 5"/>
            <p:cNvSpPr>
              <a:spLocks noChangeArrowheads="1"/>
            </p:cNvSpPr>
            <p:nvPr/>
          </p:nvSpPr>
          <p:spPr bwMode="auto">
            <a:xfrm>
              <a:off x="2454" y="749"/>
              <a:ext cx="2268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en-US" altLang="zh-CN" dirty="0">
                  <a:solidFill>
                    <a:srgbClr val="0000FF"/>
                  </a:solidFill>
                </a:rPr>
                <a:t>(</a:t>
              </a:r>
              <a:r>
                <a:rPr kumimoji="0" lang="zh-CN" altLang="en-US" dirty="0">
                  <a:solidFill>
                    <a:srgbClr val="0000FF"/>
                  </a:solidFill>
                </a:rPr>
                <a:t>以弹簧振子为例</a:t>
              </a:r>
              <a:r>
                <a:rPr kumimoji="0" lang="en-US" altLang="zh-CN" dirty="0">
                  <a:solidFill>
                    <a:srgbClr val="0000FF"/>
                  </a:solidFill>
                </a:rPr>
                <a:t>)  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4859338" y="5019675"/>
            <a:ext cx="2449512" cy="1073150"/>
            <a:chOff x="3061" y="3162"/>
            <a:chExt cx="1543" cy="676"/>
          </a:xfrm>
        </p:grpSpPr>
        <p:sp>
          <p:nvSpPr>
            <p:cNvPr id="6201" name="AutoShape 60"/>
            <p:cNvSpPr>
              <a:spLocks noChangeArrowheads="1"/>
            </p:cNvSpPr>
            <p:nvPr/>
          </p:nvSpPr>
          <p:spPr bwMode="auto">
            <a:xfrm>
              <a:off x="3061" y="3203"/>
              <a:ext cx="1543" cy="635"/>
            </a:xfrm>
            <a:prstGeom prst="wedgeRoundRectCallout">
              <a:avLst>
                <a:gd name="adj1" fmla="val -173981"/>
                <a:gd name="adj2" fmla="val -78977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zh-CN" b="0"/>
            </a:p>
          </p:txBody>
        </p:sp>
        <p:graphicFrame>
          <p:nvGraphicFramePr>
            <p:cNvPr id="6151" name="Object 17"/>
            <p:cNvGraphicFramePr>
              <a:graphicFrameLocks noChangeAspect="1"/>
            </p:cNvGraphicFramePr>
            <p:nvPr/>
          </p:nvGraphicFramePr>
          <p:xfrm>
            <a:off x="3334" y="3162"/>
            <a:ext cx="817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4" name="公式" r:id="rId3" imgW="533160" imgH="406080" progId="Equation.3">
                    <p:embed/>
                  </p:oleObj>
                </mc:Choice>
                <mc:Fallback>
                  <p:oleObj name="公式" r:id="rId3" imgW="5331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3162"/>
                          <a:ext cx="817" cy="6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5" name="Group 56"/>
          <p:cNvGrpSpPr>
            <a:grpSpLocks/>
          </p:cNvGrpSpPr>
          <p:nvPr/>
        </p:nvGrpSpPr>
        <p:grpSpPr bwMode="auto">
          <a:xfrm>
            <a:off x="4716463" y="2105025"/>
            <a:ext cx="4103687" cy="1900238"/>
            <a:chOff x="2426" y="2341"/>
            <a:chExt cx="2880" cy="1334"/>
          </a:xfrm>
        </p:grpSpPr>
        <p:sp>
          <p:nvSpPr>
            <p:cNvPr id="6157" name="Oval 2"/>
            <p:cNvSpPr>
              <a:spLocks noChangeArrowheads="1"/>
            </p:cNvSpPr>
            <p:nvPr/>
          </p:nvSpPr>
          <p:spPr bwMode="auto">
            <a:xfrm>
              <a:off x="4044" y="2533"/>
              <a:ext cx="630" cy="62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8" name="Text Box 6"/>
            <p:cNvSpPr txBox="1">
              <a:spLocks noChangeArrowheads="1"/>
            </p:cNvSpPr>
            <p:nvPr/>
          </p:nvSpPr>
          <p:spPr bwMode="auto">
            <a:xfrm>
              <a:off x="3482" y="3310"/>
              <a:ext cx="1824" cy="36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i="1"/>
                <a:t>O</a:t>
              </a:r>
              <a:r>
                <a:rPr lang="en-US" altLang="zh-CN" b="0" i="1"/>
                <a:t>          </a:t>
              </a:r>
              <a:r>
                <a:rPr lang="en-US" altLang="zh-CN" i="1"/>
                <a:t> x</a:t>
              </a:r>
            </a:p>
          </p:txBody>
        </p:sp>
        <p:sp>
          <p:nvSpPr>
            <p:cNvPr id="6159" name="Line 7"/>
            <p:cNvSpPr>
              <a:spLocks noChangeShapeType="1"/>
            </p:cNvSpPr>
            <p:nvPr/>
          </p:nvSpPr>
          <p:spPr bwMode="auto">
            <a:xfrm>
              <a:off x="2618" y="2446"/>
              <a:ext cx="0" cy="720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0" name="Line 8"/>
            <p:cNvSpPr>
              <a:spLocks noChangeShapeType="1"/>
            </p:cNvSpPr>
            <p:nvPr/>
          </p:nvSpPr>
          <p:spPr bwMode="auto">
            <a:xfrm>
              <a:off x="3626" y="3310"/>
              <a:ext cx="1536" cy="0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Line 9"/>
            <p:cNvSpPr>
              <a:spLocks noChangeShapeType="1"/>
            </p:cNvSpPr>
            <p:nvPr/>
          </p:nvSpPr>
          <p:spPr bwMode="auto">
            <a:xfrm flipH="1">
              <a:off x="2426" y="2446"/>
              <a:ext cx="144" cy="128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Line 10"/>
            <p:cNvSpPr>
              <a:spLocks noChangeShapeType="1"/>
            </p:cNvSpPr>
            <p:nvPr/>
          </p:nvSpPr>
          <p:spPr bwMode="auto">
            <a:xfrm flipH="1">
              <a:off x="2426" y="2638"/>
              <a:ext cx="144" cy="127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Line 11"/>
            <p:cNvSpPr>
              <a:spLocks noChangeShapeType="1"/>
            </p:cNvSpPr>
            <p:nvPr/>
          </p:nvSpPr>
          <p:spPr bwMode="auto">
            <a:xfrm flipH="1">
              <a:off x="2426" y="2830"/>
              <a:ext cx="144" cy="127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Line 12"/>
            <p:cNvSpPr>
              <a:spLocks noChangeShapeType="1"/>
            </p:cNvSpPr>
            <p:nvPr/>
          </p:nvSpPr>
          <p:spPr bwMode="auto">
            <a:xfrm flipH="1">
              <a:off x="2426" y="3022"/>
              <a:ext cx="144" cy="127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Line 13"/>
            <p:cNvSpPr>
              <a:spLocks noChangeShapeType="1"/>
            </p:cNvSpPr>
            <p:nvPr/>
          </p:nvSpPr>
          <p:spPr bwMode="auto">
            <a:xfrm>
              <a:off x="2618" y="3166"/>
              <a:ext cx="24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6" name="AutoShape 14"/>
            <p:cNvSpPr>
              <a:spLocks noChangeArrowheads="1"/>
            </p:cNvSpPr>
            <p:nvPr/>
          </p:nvSpPr>
          <p:spPr bwMode="auto">
            <a:xfrm>
              <a:off x="3722" y="2341"/>
              <a:ext cx="432" cy="192"/>
            </a:xfrm>
            <a:prstGeom prst="leftArrow">
              <a:avLst>
                <a:gd name="adj1" fmla="val 50000"/>
                <a:gd name="adj2" fmla="val 56250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FF0066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Line 15"/>
            <p:cNvSpPr>
              <a:spLocks noChangeShapeType="1"/>
            </p:cNvSpPr>
            <p:nvPr/>
          </p:nvSpPr>
          <p:spPr bwMode="auto">
            <a:xfrm>
              <a:off x="4346" y="2389"/>
              <a:ext cx="0" cy="92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Oval 19"/>
            <p:cNvSpPr>
              <a:spLocks noChangeArrowheads="1"/>
            </p:cNvSpPr>
            <p:nvPr/>
          </p:nvSpPr>
          <p:spPr bwMode="auto">
            <a:xfrm>
              <a:off x="3602" y="3149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50" name="Object 20"/>
            <p:cNvGraphicFramePr>
              <a:graphicFrameLocks noChangeAspect="1"/>
            </p:cNvGraphicFramePr>
            <p:nvPr/>
          </p:nvGraphicFramePr>
          <p:xfrm>
            <a:off x="4202" y="2725"/>
            <a:ext cx="29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5" name="公式" r:id="rId5" imgW="228600" imgH="190440" progId="Equation.3">
                    <p:embed/>
                  </p:oleObj>
                </mc:Choice>
                <mc:Fallback>
                  <p:oleObj name="公式" r:id="rId5" imgW="2286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" y="2725"/>
                          <a:ext cx="290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9" name="Group 21"/>
            <p:cNvGrpSpPr>
              <a:grpSpLocks/>
            </p:cNvGrpSpPr>
            <p:nvPr/>
          </p:nvGrpSpPr>
          <p:grpSpPr bwMode="auto">
            <a:xfrm>
              <a:off x="2618" y="2629"/>
              <a:ext cx="1440" cy="384"/>
              <a:chOff x="1104" y="2064"/>
              <a:chExt cx="2400" cy="384"/>
            </a:xfrm>
          </p:grpSpPr>
          <p:grpSp>
            <p:nvGrpSpPr>
              <p:cNvPr id="6171" name="Group 22"/>
              <p:cNvGrpSpPr>
                <a:grpSpLocks/>
              </p:cNvGrpSpPr>
              <p:nvPr/>
            </p:nvGrpSpPr>
            <p:grpSpPr bwMode="auto">
              <a:xfrm>
                <a:off x="1469" y="2064"/>
                <a:ext cx="208" cy="384"/>
                <a:chOff x="1632" y="2064"/>
                <a:chExt cx="336" cy="384"/>
              </a:xfrm>
            </p:grpSpPr>
            <p:sp>
              <p:nvSpPr>
                <p:cNvPr id="6199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00" name="Line 24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2" name="Group 25"/>
              <p:cNvGrpSpPr>
                <a:grpSpLocks/>
              </p:cNvGrpSpPr>
              <p:nvPr/>
            </p:nvGrpSpPr>
            <p:grpSpPr bwMode="auto">
              <a:xfrm>
                <a:off x="1677" y="2064"/>
                <a:ext cx="209" cy="384"/>
                <a:chOff x="1632" y="2064"/>
                <a:chExt cx="336" cy="384"/>
              </a:xfrm>
            </p:grpSpPr>
            <p:sp>
              <p:nvSpPr>
                <p:cNvPr id="6197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98" name="Line 27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3" name="Group 28"/>
              <p:cNvGrpSpPr>
                <a:grpSpLocks/>
              </p:cNvGrpSpPr>
              <p:nvPr/>
            </p:nvGrpSpPr>
            <p:grpSpPr bwMode="auto">
              <a:xfrm>
                <a:off x="1886" y="2064"/>
                <a:ext cx="209" cy="384"/>
                <a:chOff x="1632" y="2064"/>
                <a:chExt cx="336" cy="384"/>
              </a:xfrm>
            </p:grpSpPr>
            <p:sp>
              <p:nvSpPr>
                <p:cNvPr id="619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96" name="Line 30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4" name="Group 31"/>
              <p:cNvGrpSpPr>
                <a:grpSpLocks/>
              </p:cNvGrpSpPr>
              <p:nvPr/>
            </p:nvGrpSpPr>
            <p:grpSpPr bwMode="auto">
              <a:xfrm>
                <a:off x="2095" y="2064"/>
                <a:ext cx="209" cy="384"/>
                <a:chOff x="1632" y="2064"/>
                <a:chExt cx="336" cy="384"/>
              </a:xfrm>
            </p:grpSpPr>
            <p:sp>
              <p:nvSpPr>
                <p:cNvPr id="6193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94" name="Line 33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5" name="Group 34"/>
              <p:cNvGrpSpPr>
                <a:grpSpLocks/>
              </p:cNvGrpSpPr>
              <p:nvPr/>
            </p:nvGrpSpPr>
            <p:grpSpPr bwMode="auto">
              <a:xfrm>
                <a:off x="2304" y="2064"/>
                <a:ext cx="209" cy="384"/>
                <a:chOff x="1632" y="2064"/>
                <a:chExt cx="336" cy="384"/>
              </a:xfrm>
            </p:grpSpPr>
            <p:sp>
              <p:nvSpPr>
                <p:cNvPr id="6191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92" name="Line 36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6" name="Group 37"/>
              <p:cNvGrpSpPr>
                <a:grpSpLocks/>
              </p:cNvGrpSpPr>
              <p:nvPr/>
            </p:nvGrpSpPr>
            <p:grpSpPr bwMode="auto">
              <a:xfrm>
                <a:off x="2513" y="2064"/>
                <a:ext cx="209" cy="384"/>
                <a:chOff x="1632" y="2064"/>
                <a:chExt cx="336" cy="384"/>
              </a:xfrm>
            </p:grpSpPr>
            <p:sp>
              <p:nvSpPr>
                <p:cNvPr id="6189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90" name="Line 39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7" name="Group 40"/>
              <p:cNvGrpSpPr>
                <a:grpSpLocks/>
              </p:cNvGrpSpPr>
              <p:nvPr/>
            </p:nvGrpSpPr>
            <p:grpSpPr bwMode="auto">
              <a:xfrm>
                <a:off x="2722" y="2064"/>
                <a:ext cx="209" cy="384"/>
                <a:chOff x="1632" y="2064"/>
                <a:chExt cx="336" cy="384"/>
              </a:xfrm>
            </p:grpSpPr>
            <p:sp>
              <p:nvSpPr>
                <p:cNvPr id="6187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88" name="Line 42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8" name="Group 43"/>
              <p:cNvGrpSpPr>
                <a:grpSpLocks/>
              </p:cNvGrpSpPr>
              <p:nvPr/>
            </p:nvGrpSpPr>
            <p:grpSpPr bwMode="auto">
              <a:xfrm>
                <a:off x="2931" y="2064"/>
                <a:ext cx="208" cy="384"/>
                <a:chOff x="1632" y="2064"/>
                <a:chExt cx="336" cy="384"/>
              </a:xfrm>
            </p:grpSpPr>
            <p:sp>
              <p:nvSpPr>
                <p:cNvPr id="6185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632" y="2064"/>
                  <a:ext cx="144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86" name="Line 45"/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192" cy="384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179" name="Line 46"/>
              <p:cNvSpPr>
                <a:spLocks noChangeShapeType="1"/>
              </p:cNvSpPr>
              <p:nvPr/>
            </p:nvSpPr>
            <p:spPr bwMode="auto">
              <a:xfrm flipH="1">
                <a:off x="1290" y="2064"/>
                <a:ext cx="59" cy="28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0" name="Line 47"/>
              <p:cNvSpPr>
                <a:spLocks noChangeShapeType="1"/>
              </p:cNvSpPr>
              <p:nvPr/>
            </p:nvSpPr>
            <p:spPr bwMode="auto">
              <a:xfrm>
                <a:off x="1349" y="2064"/>
                <a:ext cx="120" cy="384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1" name="Line 48"/>
              <p:cNvSpPr>
                <a:spLocks noChangeShapeType="1"/>
              </p:cNvSpPr>
              <p:nvPr/>
            </p:nvSpPr>
            <p:spPr bwMode="auto">
              <a:xfrm>
                <a:off x="1104" y="2352"/>
                <a:ext cx="18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2" name="Line 49"/>
              <p:cNvSpPr>
                <a:spLocks noChangeShapeType="1"/>
              </p:cNvSpPr>
              <p:nvPr/>
            </p:nvSpPr>
            <p:spPr bwMode="auto">
              <a:xfrm flipH="1">
                <a:off x="3139" y="2064"/>
                <a:ext cx="90" cy="384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3" name="Line 50"/>
              <p:cNvSpPr>
                <a:spLocks noChangeShapeType="1"/>
              </p:cNvSpPr>
              <p:nvPr/>
            </p:nvSpPr>
            <p:spPr bwMode="auto">
              <a:xfrm>
                <a:off x="3229" y="2064"/>
                <a:ext cx="89" cy="24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4" name="Line 51"/>
              <p:cNvSpPr>
                <a:spLocks noChangeShapeType="1"/>
              </p:cNvSpPr>
              <p:nvPr/>
            </p:nvSpPr>
            <p:spPr bwMode="auto">
              <a:xfrm>
                <a:off x="3318" y="2304"/>
                <a:ext cx="186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70" name="Line 52"/>
            <p:cNvSpPr>
              <a:spLocks noChangeShapeType="1"/>
            </p:cNvSpPr>
            <p:nvPr/>
          </p:nvSpPr>
          <p:spPr bwMode="auto">
            <a:xfrm>
              <a:off x="3634" y="2405"/>
              <a:ext cx="0" cy="92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6549" name="Object 53"/>
          <p:cNvGraphicFramePr>
            <a:graphicFrameLocks noChangeAspect="1"/>
          </p:cNvGraphicFramePr>
          <p:nvPr/>
        </p:nvGraphicFramePr>
        <p:xfrm>
          <a:off x="539750" y="1985963"/>
          <a:ext cx="17367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公式" r:id="rId7" imgW="761760" imgH="406080" progId="Equation.3">
                  <p:embed/>
                </p:oleObj>
              </mc:Choice>
              <mc:Fallback>
                <p:oleObj name="公式" r:id="rId7" imgW="761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5963"/>
                        <a:ext cx="1736725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54"/>
          <p:cNvSpPr>
            <a:spLocks noChangeArrowheads="1"/>
          </p:cNvSpPr>
          <p:nvPr/>
        </p:nvSpPr>
        <p:spPr bwMode="auto">
          <a:xfrm>
            <a:off x="1908175" y="276225"/>
            <a:ext cx="52339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dirty="0" smtClean="0">
                <a:solidFill>
                  <a:srgbClr val="000000"/>
                </a:solidFill>
              </a:rPr>
              <a:t>§</a:t>
            </a:r>
            <a:r>
              <a:rPr lang="en-US" altLang="zh-CN" sz="3200" dirty="0" smtClean="0">
                <a:solidFill>
                  <a:srgbClr val="05050B"/>
                </a:solidFill>
              </a:rPr>
              <a:t>10.2   </a:t>
            </a:r>
            <a:r>
              <a:rPr lang="zh-CN" altLang="en-US" sz="3200" dirty="0">
                <a:solidFill>
                  <a:srgbClr val="05050B"/>
                </a:solidFill>
              </a:rPr>
              <a:t>简谐运动的能量</a:t>
            </a:r>
          </a:p>
        </p:txBody>
      </p:sp>
      <p:graphicFrame>
        <p:nvGraphicFramePr>
          <p:cNvPr id="106553" name="Object 57"/>
          <p:cNvGraphicFramePr>
            <a:graphicFrameLocks noChangeAspect="1"/>
          </p:cNvGraphicFramePr>
          <p:nvPr/>
        </p:nvGraphicFramePr>
        <p:xfrm>
          <a:off x="611188" y="4094163"/>
          <a:ext cx="3886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公式" r:id="rId9" imgW="1536480" imgH="406080" progId="Equation.3">
                  <p:embed/>
                </p:oleObj>
              </mc:Choice>
              <mc:Fallback>
                <p:oleObj name="公式" r:id="rId9" imgW="1536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094163"/>
                        <a:ext cx="3886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54" name="Object 58"/>
          <p:cNvGraphicFramePr>
            <a:graphicFrameLocks noChangeAspect="1"/>
          </p:cNvGraphicFramePr>
          <p:nvPr/>
        </p:nvGraphicFramePr>
        <p:xfrm>
          <a:off x="611188" y="2995613"/>
          <a:ext cx="360045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公式" r:id="rId11" imgW="1562040" imgH="406080" progId="Equation.3">
                  <p:embed/>
                </p:oleObj>
              </mc:Choice>
              <mc:Fallback>
                <p:oleObj name="公式" r:id="rId11" imgW="15620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95613"/>
                        <a:ext cx="360045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55" name="Object 59"/>
          <p:cNvGraphicFramePr>
            <a:graphicFrameLocks noChangeAspect="1"/>
          </p:cNvGraphicFramePr>
          <p:nvPr/>
        </p:nvGraphicFramePr>
        <p:xfrm>
          <a:off x="539750" y="5175250"/>
          <a:ext cx="33083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公式" r:id="rId13" imgW="1307880" imgH="406080" progId="Equation.3">
                  <p:embed/>
                </p:oleObj>
              </mc:Choice>
              <mc:Fallback>
                <p:oleObj name="公式" r:id="rId13" imgW="1307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175250"/>
                        <a:ext cx="33083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059816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1A349D-86DE-42D6-B9B5-940AF972A8D3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7175" name="Rectangle 54"/>
          <p:cNvSpPr>
            <a:spLocks noChangeArrowheads="1"/>
          </p:cNvSpPr>
          <p:nvPr/>
        </p:nvSpPr>
        <p:spPr bwMode="auto">
          <a:xfrm>
            <a:off x="468313" y="323850"/>
            <a:ext cx="457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二、简谐运动的势能</a:t>
            </a:r>
          </a:p>
        </p:txBody>
      </p:sp>
      <p:graphicFrame>
        <p:nvGraphicFramePr>
          <p:cNvPr id="107570" name="Object 50"/>
          <p:cNvGraphicFramePr>
            <a:graphicFrameLocks noChangeAspect="1"/>
          </p:cNvGraphicFramePr>
          <p:nvPr/>
        </p:nvGraphicFramePr>
        <p:xfrm>
          <a:off x="703263" y="877888"/>
          <a:ext cx="44545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公式" r:id="rId3" imgW="2031840" imgH="406080" progId="Equation.3">
                  <p:embed/>
                </p:oleObj>
              </mc:Choice>
              <mc:Fallback>
                <p:oleObj name="公式" r:id="rId3" imgW="2031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877888"/>
                        <a:ext cx="4454525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02"/>
          <p:cNvGraphicFramePr>
            <a:graphicFrameLocks noChangeAspect="1"/>
          </p:cNvGraphicFramePr>
          <p:nvPr/>
        </p:nvGraphicFramePr>
        <p:xfrm>
          <a:off x="3619500" y="1065213"/>
          <a:ext cx="2492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公式" r:id="rId5" imgW="114120" imgH="215640" progId="Equation.3">
                  <p:embed/>
                </p:oleObj>
              </mc:Choice>
              <mc:Fallback>
                <p:oleObj name="公式" r:id="rId5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065213"/>
                        <a:ext cx="2492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23" name="Rectangle 103"/>
          <p:cNvSpPr>
            <a:spLocks noChangeArrowheads="1"/>
          </p:cNvSpPr>
          <p:nvPr/>
        </p:nvSpPr>
        <p:spPr bwMode="auto">
          <a:xfrm>
            <a:off x="468313" y="1658938"/>
            <a:ext cx="457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三、简谐运动的机械能</a:t>
            </a:r>
          </a:p>
        </p:txBody>
      </p:sp>
      <p:graphicFrame>
        <p:nvGraphicFramePr>
          <p:cNvPr id="107624" name="Object 104"/>
          <p:cNvGraphicFramePr>
            <a:graphicFrameLocks noChangeAspect="1"/>
          </p:cNvGraphicFramePr>
          <p:nvPr/>
        </p:nvGraphicFramePr>
        <p:xfrm>
          <a:off x="1008063" y="2744788"/>
          <a:ext cx="5472112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公式" r:id="rId7" imgW="2286000" imgH="812520" progId="Equation.3">
                  <p:embed/>
                </p:oleObj>
              </mc:Choice>
              <mc:Fallback>
                <p:oleObj name="公式" r:id="rId7" imgW="2286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2744788"/>
                        <a:ext cx="5472112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625" name="Object 105"/>
          <p:cNvGraphicFramePr>
            <a:graphicFrameLocks noChangeAspect="1"/>
          </p:cNvGraphicFramePr>
          <p:nvPr/>
        </p:nvGraphicFramePr>
        <p:xfrm>
          <a:off x="703263" y="2235200"/>
          <a:ext cx="18891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公式" r:id="rId9" imgW="812520" imgH="241200" progId="Equation.3">
                  <p:embed/>
                </p:oleObj>
              </mc:Choice>
              <mc:Fallback>
                <p:oleObj name="公式" r:id="rId9" imgW="8125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2235200"/>
                        <a:ext cx="188912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2862263" y="3525838"/>
            <a:ext cx="5716587" cy="1127125"/>
          </a:xfrm>
          <a:prstGeom prst="rect">
            <a:avLst/>
          </a:prstGeom>
          <a:gradFill rotWithShape="0">
            <a:gsLst>
              <a:gs pos="0">
                <a:schemeClr val="folHlink">
                  <a:alpha val="33000"/>
                </a:schemeClr>
              </a:gs>
              <a:gs pos="50000">
                <a:schemeClr val="folHlink">
                  <a:gamma/>
                  <a:tint val="0"/>
                  <a:invGamma/>
                </a:schemeClr>
              </a:gs>
              <a:gs pos="100000">
                <a:schemeClr val="folHlink">
                  <a:alpha val="33000"/>
                </a:schemeClr>
              </a:gs>
            </a:gsLst>
            <a:lin ang="5400000" scaled="1"/>
          </a:gradFill>
          <a:ln w="9525">
            <a:solidFill>
              <a:srgbClr val="CC00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0" lang="zh-CN" altLang="en-US"/>
              <a:t>线性回复力是</a:t>
            </a:r>
            <a:r>
              <a:rPr kumimoji="0" lang="zh-CN" altLang="en-US">
                <a:solidFill>
                  <a:srgbClr val="CC0000"/>
                </a:solidFill>
              </a:rPr>
              <a:t>保守力</a:t>
            </a:r>
            <a:r>
              <a:rPr kumimoji="0" lang="zh-CN" altLang="en-US"/>
              <a:t>，作</a:t>
            </a:r>
            <a:r>
              <a:rPr kumimoji="0" lang="zh-CN" altLang="en-US">
                <a:solidFill>
                  <a:srgbClr val="CC0000"/>
                </a:solidFill>
              </a:rPr>
              <a:t>简谐</a:t>
            </a:r>
            <a:r>
              <a:rPr kumimoji="0" lang="zh-CN" altLang="en-US"/>
              <a:t>振动的系统</a:t>
            </a:r>
            <a:r>
              <a:rPr kumimoji="0" lang="zh-CN" altLang="en-US">
                <a:solidFill>
                  <a:srgbClr val="CC0000"/>
                </a:solidFill>
              </a:rPr>
              <a:t>机械能守恒</a:t>
            </a:r>
            <a:r>
              <a:rPr kumimoji="0" lang="en-US" altLang="zh-CN"/>
              <a:t>.</a:t>
            </a:r>
          </a:p>
        </p:txBody>
      </p:sp>
      <p:sp>
        <p:nvSpPr>
          <p:cNvPr id="107626" name="Text Box 106"/>
          <p:cNvSpPr txBox="1">
            <a:spLocks noChangeArrowheads="1"/>
          </p:cNvSpPr>
          <p:nvPr/>
        </p:nvSpPr>
        <p:spPr bwMode="auto">
          <a:xfrm>
            <a:off x="285750" y="4643438"/>
            <a:ext cx="8607425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kumimoji="0" lang="en-US" altLang="zh-CN" dirty="0"/>
              <a:t>      </a:t>
            </a:r>
            <a:r>
              <a:rPr kumimoji="0" lang="zh-CN" altLang="en-US" dirty="0"/>
              <a:t>振幅不仅给出简谐振动运动的范围，而且还反映了振动系统总能量的大小</a:t>
            </a:r>
            <a:r>
              <a:rPr kumimoji="0" lang="en-US" altLang="zh-CN" dirty="0"/>
              <a:t>(</a:t>
            </a:r>
            <a:r>
              <a:rPr kumimoji="0" lang="zh-CN" altLang="en-US" dirty="0">
                <a:solidFill>
                  <a:srgbClr val="0000FF"/>
                </a:solidFill>
              </a:rPr>
              <a:t>与振幅的平方成正比</a:t>
            </a:r>
            <a:r>
              <a:rPr kumimoji="0" lang="en-US" altLang="zh-CN" dirty="0"/>
              <a:t>)</a:t>
            </a:r>
            <a:r>
              <a:rPr kumimoji="0" lang="zh-CN" altLang="en-US" dirty="0"/>
              <a:t>。   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这些结论同样适用于任何简谐振动。</a:t>
            </a:r>
          </a:p>
        </p:txBody>
      </p:sp>
    </p:spTree>
    <p:extLst>
      <p:ext uri="{BB962C8B-B14F-4D97-AF65-F5344CB8AC3E}">
        <p14:creationId xmlns:p14="http://schemas.microsoft.com/office/powerpoint/2010/main" val="412522000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7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3" grpId="0"/>
      <p:bldP spid="107523" grpId="0" animBg="1"/>
      <p:bldP spid="10762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25EA4C-A164-4DD7-977E-52636F0E3594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8215" name="Text Box 3"/>
          <p:cNvSpPr txBox="1">
            <a:spLocks noChangeArrowheads="1"/>
          </p:cNvSpPr>
          <p:nvPr/>
        </p:nvSpPr>
        <p:spPr bwMode="auto">
          <a:xfrm>
            <a:off x="2365375" y="608013"/>
            <a:ext cx="4383088" cy="5794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3200">
                <a:solidFill>
                  <a:srgbClr val="000000"/>
                </a:solidFill>
              </a:rPr>
              <a:t>简 谐 振 动 能 量 图</a:t>
            </a:r>
          </a:p>
        </p:txBody>
      </p:sp>
      <p:sp>
        <p:nvSpPr>
          <p:cNvPr id="108549" name="Freeform 5"/>
          <p:cNvSpPr>
            <a:spLocks/>
          </p:cNvSpPr>
          <p:nvPr/>
        </p:nvSpPr>
        <p:spPr bwMode="auto">
          <a:xfrm>
            <a:off x="1255713" y="3937000"/>
            <a:ext cx="2692400" cy="1390650"/>
          </a:xfrm>
          <a:custGeom>
            <a:avLst/>
            <a:gdLst>
              <a:gd name="T0" fmla="*/ 0 w 1968"/>
              <a:gd name="T1" fmla="*/ 528 h 1056"/>
              <a:gd name="T2" fmla="*/ 192 w 1968"/>
              <a:gd name="T3" fmla="*/ 0 h 1056"/>
              <a:gd name="T4" fmla="*/ 384 w 1968"/>
              <a:gd name="T5" fmla="*/ 528 h 1056"/>
              <a:gd name="T6" fmla="*/ 576 w 1968"/>
              <a:gd name="T7" fmla="*/ 1056 h 1056"/>
              <a:gd name="T8" fmla="*/ 768 w 1968"/>
              <a:gd name="T9" fmla="*/ 528 h 1056"/>
              <a:gd name="T10" fmla="*/ 960 w 1968"/>
              <a:gd name="T11" fmla="*/ 0 h 1056"/>
              <a:gd name="T12" fmla="*/ 1152 w 1968"/>
              <a:gd name="T13" fmla="*/ 528 h 1056"/>
              <a:gd name="T14" fmla="*/ 1344 w 1968"/>
              <a:gd name="T15" fmla="*/ 1056 h 1056"/>
              <a:gd name="T16" fmla="*/ 1536 w 1968"/>
              <a:gd name="T17" fmla="*/ 528 h 1056"/>
              <a:gd name="T18" fmla="*/ 1728 w 1968"/>
              <a:gd name="T19" fmla="*/ 0 h 1056"/>
              <a:gd name="T20" fmla="*/ 1920 w 1968"/>
              <a:gd name="T21" fmla="*/ 528 h 1056"/>
              <a:gd name="T22" fmla="*/ 1968 w 1968"/>
              <a:gd name="T23" fmla="*/ 672 h 105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68"/>
              <a:gd name="T37" fmla="*/ 0 h 1056"/>
              <a:gd name="T38" fmla="*/ 1968 w 1968"/>
              <a:gd name="T39" fmla="*/ 1056 h 105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68" h="1056">
                <a:moveTo>
                  <a:pt x="0" y="528"/>
                </a:moveTo>
                <a:cubicBezTo>
                  <a:pt x="64" y="264"/>
                  <a:pt x="128" y="0"/>
                  <a:pt x="192" y="0"/>
                </a:cubicBezTo>
                <a:cubicBezTo>
                  <a:pt x="256" y="0"/>
                  <a:pt x="320" y="352"/>
                  <a:pt x="384" y="528"/>
                </a:cubicBezTo>
                <a:cubicBezTo>
                  <a:pt x="448" y="704"/>
                  <a:pt x="512" y="1056"/>
                  <a:pt x="576" y="1056"/>
                </a:cubicBezTo>
                <a:cubicBezTo>
                  <a:pt x="640" y="1056"/>
                  <a:pt x="704" y="704"/>
                  <a:pt x="768" y="528"/>
                </a:cubicBezTo>
                <a:cubicBezTo>
                  <a:pt x="832" y="352"/>
                  <a:pt x="896" y="0"/>
                  <a:pt x="960" y="0"/>
                </a:cubicBezTo>
                <a:cubicBezTo>
                  <a:pt x="1024" y="0"/>
                  <a:pt x="1088" y="352"/>
                  <a:pt x="1152" y="528"/>
                </a:cubicBezTo>
                <a:cubicBezTo>
                  <a:pt x="1216" y="704"/>
                  <a:pt x="1280" y="1056"/>
                  <a:pt x="1344" y="1056"/>
                </a:cubicBezTo>
                <a:cubicBezTo>
                  <a:pt x="1408" y="1056"/>
                  <a:pt x="1472" y="704"/>
                  <a:pt x="1536" y="528"/>
                </a:cubicBezTo>
                <a:cubicBezTo>
                  <a:pt x="1600" y="352"/>
                  <a:pt x="1664" y="0"/>
                  <a:pt x="1728" y="0"/>
                </a:cubicBezTo>
                <a:cubicBezTo>
                  <a:pt x="1792" y="0"/>
                  <a:pt x="1880" y="416"/>
                  <a:pt x="1920" y="528"/>
                </a:cubicBezTo>
                <a:cubicBezTo>
                  <a:pt x="1960" y="640"/>
                  <a:pt x="1960" y="648"/>
                  <a:pt x="1968" y="672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0" name="Freeform 6"/>
          <p:cNvSpPr>
            <a:spLocks/>
          </p:cNvSpPr>
          <p:nvPr/>
        </p:nvSpPr>
        <p:spPr bwMode="auto">
          <a:xfrm>
            <a:off x="1255713" y="3937000"/>
            <a:ext cx="2692400" cy="1390650"/>
          </a:xfrm>
          <a:custGeom>
            <a:avLst/>
            <a:gdLst>
              <a:gd name="T0" fmla="*/ 0 w 1968"/>
              <a:gd name="T1" fmla="*/ 528 h 1056"/>
              <a:gd name="T2" fmla="*/ 192 w 1968"/>
              <a:gd name="T3" fmla="*/ 1056 h 1056"/>
              <a:gd name="T4" fmla="*/ 384 w 1968"/>
              <a:gd name="T5" fmla="*/ 528 h 1056"/>
              <a:gd name="T6" fmla="*/ 576 w 1968"/>
              <a:gd name="T7" fmla="*/ 0 h 1056"/>
              <a:gd name="T8" fmla="*/ 768 w 1968"/>
              <a:gd name="T9" fmla="*/ 528 h 1056"/>
              <a:gd name="T10" fmla="*/ 960 w 1968"/>
              <a:gd name="T11" fmla="*/ 1056 h 1056"/>
              <a:gd name="T12" fmla="*/ 1152 w 1968"/>
              <a:gd name="T13" fmla="*/ 528 h 1056"/>
              <a:gd name="T14" fmla="*/ 1344 w 1968"/>
              <a:gd name="T15" fmla="*/ 0 h 1056"/>
              <a:gd name="T16" fmla="*/ 1536 w 1968"/>
              <a:gd name="T17" fmla="*/ 528 h 1056"/>
              <a:gd name="T18" fmla="*/ 1728 w 1968"/>
              <a:gd name="T19" fmla="*/ 1056 h 1056"/>
              <a:gd name="T20" fmla="*/ 1920 w 1968"/>
              <a:gd name="T21" fmla="*/ 528 h 1056"/>
              <a:gd name="T22" fmla="*/ 1968 w 1968"/>
              <a:gd name="T23" fmla="*/ 384 h 105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68"/>
              <a:gd name="T37" fmla="*/ 0 h 1056"/>
              <a:gd name="T38" fmla="*/ 1968 w 1968"/>
              <a:gd name="T39" fmla="*/ 1056 h 105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68" h="1056">
                <a:moveTo>
                  <a:pt x="0" y="528"/>
                </a:moveTo>
                <a:cubicBezTo>
                  <a:pt x="64" y="792"/>
                  <a:pt x="128" y="1056"/>
                  <a:pt x="192" y="1056"/>
                </a:cubicBezTo>
                <a:cubicBezTo>
                  <a:pt x="256" y="1056"/>
                  <a:pt x="320" y="704"/>
                  <a:pt x="384" y="528"/>
                </a:cubicBezTo>
                <a:cubicBezTo>
                  <a:pt x="448" y="352"/>
                  <a:pt x="512" y="0"/>
                  <a:pt x="576" y="0"/>
                </a:cubicBezTo>
                <a:cubicBezTo>
                  <a:pt x="640" y="0"/>
                  <a:pt x="704" y="352"/>
                  <a:pt x="768" y="528"/>
                </a:cubicBezTo>
                <a:cubicBezTo>
                  <a:pt x="832" y="704"/>
                  <a:pt x="896" y="1056"/>
                  <a:pt x="960" y="1056"/>
                </a:cubicBezTo>
                <a:cubicBezTo>
                  <a:pt x="1024" y="1056"/>
                  <a:pt x="1088" y="704"/>
                  <a:pt x="1152" y="528"/>
                </a:cubicBezTo>
                <a:cubicBezTo>
                  <a:pt x="1216" y="352"/>
                  <a:pt x="1280" y="0"/>
                  <a:pt x="1344" y="0"/>
                </a:cubicBezTo>
                <a:cubicBezTo>
                  <a:pt x="1408" y="0"/>
                  <a:pt x="1472" y="352"/>
                  <a:pt x="1536" y="528"/>
                </a:cubicBezTo>
                <a:cubicBezTo>
                  <a:pt x="1600" y="704"/>
                  <a:pt x="1664" y="1056"/>
                  <a:pt x="1728" y="1056"/>
                </a:cubicBezTo>
                <a:cubicBezTo>
                  <a:pt x="1792" y="1056"/>
                  <a:pt x="1880" y="640"/>
                  <a:pt x="1920" y="528"/>
                </a:cubicBezTo>
                <a:cubicBezTo>
                  <a:pt x="1960" y="416"/>
                  <a:pt x="1960" y="408"/>
                  <a:pt x="1968" y="384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8" name="Rectangle 7"/>
          <p:cNvSpPr>
            <a:spLocks noChangeArrowheads="1"/>
          </p:cNvSpPr>
          <p:nvPr/>
        </p:nvSpPr>
        <p:spPr bwMode="auto">
          <a:xfrm>
            <a:off x="1190625" y="3797300"/>
            <a:ext cx="328613" cy="1576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3813175" y="4319588"/>
            <a:ext cx="3819525" cy="684212"/>
            <a:chOff x="2341" y="2500"/>
            <a:chExt cx="2406" cy="431"/>
          </a:xfrm>
        </p:grpSpPr>
        <p:graphicFrame>
          <p:nvGraphicFramePr>
            <p:cNvPr id="8213" name="Object 9"/>
            <p:cNvGraphicFramePr>
              <a:graphicFrameLocks noChangeAspect="1"/>
            </p:cNvGraphicFramePr>
            <p:nvPr/>
          </p:nvGraphicFramePr>
          <p:xfrm>
            <a:off x="3276" y="2505"/>
            <a:ext cx="1471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34" name="公式" r:id="rId3" imgW="1206360" imgH="406080" progId="Equation.3">
                    <p:embed/>
                  </p:oleObj>
                </mc:Choice>
                <mc:Fallback>
                  <p:oleObj name="公式" r:id="rId3" imgW="1206360" imgH="40608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" y="2505"/>
                          <a:ext cx="1471" cy="426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CC"/>
                            </a:gs>
                            <a:gs pos="50000">
                              <a:srgbClr val="FFCCCC">
                                <a:gamma/>
                                <a:tint val="0"/>
                                <a:invGamma/>
                              </a:srgbClr>
                            </a:gs>
                            <a:gs pos="100000">
                              <a:srgbClr val="FFCCCC"/>
                            </a:gs>
                          </a:gsLst>
                          <a:lin ang="5400000" scaled="1"/>
                        </a:gradFill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54" name="Line 10"/>
            <p:cNvSpPr>
              <a:spLocks noChangeShapeType="1"/>
            </p:cNvSpPr>
            <p:nvPr/>
          </p:nvSpPr>
          <p:spPr bwMode="auto">
            <a:xfrm flipH="1" flipV="1">
              <a:off x="2341" y="2500"/>
              <a:ext cx="819" cy="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3794125" y="4979988"/>
            <a:ext cx="3927475" cy="966787"/>
            <a:chOff x="2390" y="3137"/>
            <a:chExt cx="2474" cy="609"/>
          </a:xfrm>
        </p:grpSpPr>
        <p:graphicFrame>
          <p:nvGraphicFramePr>
            <p:cNvPr id="8212" name="Object 12"/>
            <p:cNvGraphicFramePr>
              <a:graphicFrameLocks noChangeAspect="1"/>
            </p:cNvGraphicFramePr>
            <p:nvPr/>
          </p:nvGraphicFramePr>
          <p:xfrm>
            <a:off x="3333" y="3266"/>
            <a:ext cx="1531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35" name="公式" r:id="rId5" imgW="1193760" imgH="406080" progId="Equation.3">
                    <p:embed/>
                  </p:oleObj>
                </mc:Choice>
                <mc:Fallback>
                  <p:oleObj name="公式" r:id="rId5" imgW="1193760" imgH="40608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3266"/>
                          <a:ext cx="1531" cy="48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ECFF"/>
                            </a:gs>
                            <a:gs pos="50000">
                              <a:srgbClr val="CCECFF">
                                <a:gamma/>
                                <a:tint val="0"/>
                                <a:invGamma/>
                              </a:srgbClr>
                            </a:gs>
                            <a:gs pos="100000">
                              <a:srgbClr val="CCECFF"/>
                            </a:gs>
                          </a:gsLst>
                          <a:lin ang="5400000" scaled="1"/>
                        </a:gradFill>
                        <a:ln w="1905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53" name="Line 13"/>
            <p:cNvSpPr>
              <a:spLocks noChangeShapeType="1"/>
            </p:cNvSpPr>
            <p:nvPr/>
          </p:nvSpPr>
          <p:spPr bwMode="auto">
            <a:xfrm flipH="1" flipV="1">
              <a:off x="2390" y="3137"/>
              <a:ext cx="878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547688" y="3810000"/>
            <a:ext cx="89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FF0000"/>
                </a:solidFill>
              </a:rPr>
              <a:t>势能</a:t>
            </a:r>
          </a:p>
        </p:txBody>
      </p:sp>
      <p:sp>
        <p:nvSpPr>
          <p:cNvPr id="8222" name="Rectangle 39"/>
          <p:cNvSpPr>
            <a:spLocks noChangeArrowheads="1"/>
          </p:cNvSpPr>
          <p:nvPr/>
        </p:nvSpPr>
        <p:spPr bwMode="auto">
          <a:xfrm>
            <a:off x="3027363" y="1481138"/>
            <a:ext cx="4127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3" name="Rectangle 40"/>
          <p:cNvSpPr>
            <a:spLocks noChangeArrowheads="1"/>
          </p:cNvSpPr>
          <p:nvPr/>
        </p:nvSpPr>
        <p:spPr bwMode="auto">
          <a:xfrm>
            <a:off x="1241425" y="1733550"/>
            <a:ext cx="341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24" name="Rectangle 41"/>
          <p:cNvSpPr>
            <a:spLocks noChangeArrowheads="1"/>
          </p:cNvSpPr>
          <p:nvPr/>
        </p:nvSpPr>
        <p:spPr bwMode="auto">
          <a:xfrm>
            <a:off x="1306513" y="2176463"/>
            <a:ext cx="2825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586" name="Freeform 42"/>
          <p:cNvSpPr>
            <a:spLocks/>
          </p:cNvSpPr>
          <p:nvPr/>
        </p:nvSpPr>
        <p:spPr bwMode="auto">
          <a:xfrm>
            <a:off x="1546225" y="1662113"/>
            <a:ext cx="5202238" cy="1314450"/>
          </a:xfrm>
          <a:custGeom>
            <a:avLst/>
            <a:gdLst>
              <a:gd name="T0" fmla="*/ 0 w 1968"/>
              <a:gd name="T1" fmla="*/ 528 h 1056"/>
              <a:gd name="T2" fmla="*/ 192 w 1968"/>
              <a:gd name="T3" fmla="*/ 1056 h 1056"/>
              <a:gd name="T4" fmla="*/ 384 w 1968"/>
              <a:gd name="T5" fmla="*/ 528 h 1056"/>
              <a:gd name="T6" fmla="*/ 576 w 1968"/>
              <a:gd name="T7" fmla="*/ 0 h 1056"/>
              <a:gd name="T8" fmla="*/ 768 w 1968"/>
              <a:gd name="T9" fmla="*/ 528 h 1056"/>
              <a:gd name="T10" fmla="*/ 960 w 1968"/>
              <a:gd name="T11" fmla="*/ 1056 h 1056"/>
              <a:gd name="T12" fmla="*/ 1152 w 1968"/>
              <a:gd name="T13" fmla="*/ 528 h 1056"/>
              <a:gd name="T14" fmla="*/ 1344 w 1968"/>
              <a:gd name="T15" fmla="*/ 0 h 1056"/>
              <a:gd name="T16" fmla="*/ 1536 w 1968"/>
              <a:gd name="T17" fmla="*/ 528 h 1056"/>
              <a:gd name="T18" fmla="*/ 1728 w 1968"/>
              <a:gd name="T19" fmla="*/ 1056 h 1056"/>
              <a:gd name="T20" fmla="*/ 1920 w 1968"/>
              <a:gd name="T21" fmla="*/ 528 h 1056"/>
              <a:gd name="T22" fmla="*/ 1968 w 1968"/>
              <a:gd name="T23" fmla="*/ 384 h 105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68"/>
              <a:gd name="T37" fmla="*/ 0 h 1056"/>
              <a:gd name="T38" fmla="*/ 1968 w 1968"/>
              <a:gd name="T39" fmla="*/ 1056 h 105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68" h="1056">
                <a:moveTo>
                  <a:pt x="0" y="528"/>
                </a:moveTo>
                <a:cubicBezTo>
                  <a:pt x="64" y="792"/>
                  <a:pt x="128" y="1056"/>
                  <a:pt x="192" y="1056"/>
                </a:cubicBezTo>
                <a:cubicBezTo>
                  <a:pt x="256" y="1056"/>
                  <a:pt x="320" y="704"/>
                  <a:pt x="384" y="528"/>
                </a:cubicBezTo>
                <a:cubicBezTo>
                  <a:pt x="448" y="352"/>
                  <a:pt x="512" y="0"/>
                  <a:pt x="576" y="0"/>
                </a:cubicBezTo>
                <a:cubicBezTo>
                  <a:pt x="640" y="0"/>
                  <a:pt x="704" y="352"/>
                  <a:pt x="768" y="528"/>
                </a:cubicBezTo>
                <a:cubicBezTo>
                  <a:pt x="832" y="704"/>
                  <a:pt x="896" y="1056"/>
                  <a:pt x="960" y="1056"/>
                </a:cubicBezTo>
                <a:cubicBezTo>
                  <a:pt x="1024" y="1056"/>
                  <a:pt x="1088" y="704"/>
                  <a:pt x="1152" y="528"/>
                </a:cubicBezTo>
                <a:cubicBezTo>
                  <a:pt x="1216" y="352"/>
                  <a:pt x="1280" y="0"/>
                  <a:pt x="1344" y="0"/>
                </a:cubicBezTo>
                <a:cubicBezTo>
                  <a:pt x="1408" y="0"/>
                  <a:pt x="1472" y="352"/>
                  <a:pt x="1536" y="528"/>
                </a:cubicBezTo>
                <a:cubicBezTo>
                  <a:pt x="1600" y="704"/>
                  <a:pt x="1664" y="1056"/>
                  <a:pt x="1728" y="1056"/>
                </a:cubicBezTo>
                <a:cubicBezTo>
                  <a:pt x="1792" y="1056"/>
                  <a:pt x="1880" y="640"/>
                  <a:pt x="1920" y="528"/>
                </a:cubicBezTo>
                <a:cubicBezTo>
                  <a:pt x="1960" y="416"/>
                  <a:pt x="1960" y="408"/>
                  <a:pt x="1968" y="384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7" name="Freeform 43"/>
          <p:cNvSpPr>
            <a:spLocks/>
          </p:cNvSpPr>
          <p:nvPr/>
        </p:nvSpPr>
        <p:spPr bwMode="auto">
          <a:xfrm rot="10800000">
            <a:off x="923925" y="1941513"/>
            <a:ext cx="5257800" cy="838200"/>
          </a:xfrm>
          <a:custGeom>
            <a:avLst/>
            <a:gdLst>
              <a:gd name="T0" fmla="*/ 0 w 1968"/>
              <a:gd name="T1" fmla="*/ 528 h 1056"/>
              <a:gd name="T2" fmla="*/ 192 w 1968"/>
              <a:gd name="T3" fmla="*/ 1056 h 1056"/>
              <a:gd name="T4" fmla="*/ 384 w 1968"/>
              <a:gd name="T5" fmla="*/ 528 h 1056"/>
              <a:gd name="T6" fmla="*/ 576 w 1968"/>
              <a:gd name="T7" fmla="*/ 0 h 1056"/>
              <a:gd name="T8" fmla="*/ 768 w 1968"/>
              <a:gd name="T9" fmla="*/ 528 h 1056"/>
              <a:gd name="T10" fmla="*/ 960 w 1968"/>
              <a:gd name="T11" fmla="*/ 1056 h 1056"/>
              <a:gd name="T12" fmla="*/ 1152 w 1968"/>
              <a:gd name="T13" fmla="*/ 528 h 1056"/>
              <a:gd name="T14" fmla="*/ 1344 w 1968"/>
              <a:gd name="T15" fmla="*/ 0 h 1056"/>
              <a:gd name="T16" fmla="*/ 1536 w 1968"/>
              <a:gd name="T17" fmla="*/ 528 h 1056"/>
              <a:gd name="T18" fmla="*/ 1728 w 1968"/>
              <a:gd name="T19" fmla="*/ 1056 h 1056"/>
              <a:gd name="T20" fmla="*/ 1920 w 1968"/>
              <a:gd name="T21" fmla="*/ 528 h 1056"/>
              <a:gd name="T22" fmla="*/ 1968 w 1968"/>
              <a:gd name="T23" fmla="*/ 384 h 105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68"/>
              <a:gd name="T37" fmla="*/ 0 h 1056"/>
              <a:gd name="T38" fmla="*/ 1968 w 1968"/>
              <a:gd name="T39" fmla="*/ 1056 h 105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68" h="1056">
                <a:moveTo>
                  <a:pt x="0" y="528"/>
                </a:moveTo>
                <a:cubicBezTo>
                  <a:pt x="64" y="792"/>
                  <a:pt x="128" y="1056"/>
                  <a:pt x="192" y="1056"/>
                </a:cubicBezTo>
                <a:cubicBezTo>
                  <a:pt x="256" y="1056"/>
                  <a:pt x="320" y="704"/>
                  <a:pt x="384" y="528"/>
                </a:cubicBezTo>
                <a:cubicBezTo>
                  <a:pt x="448" y="352"/>
                  <a:pt x="512" y="0"/>
                  <a:pt x="576" y="0"/>
                </a:cubicBezTo>
                <a:cubicBezTo>
                  <a:pt x="640" y="0"/>
                  <a:pt x="704" y="352"/>
                  <a:pt x="768" y="528"/>
                </a:cubicBezTo>
                <a:cubicBezTo>
                  <a:pt x="832" y="704"/>
                  <a:pt x="896" y="1056"/>
                  <a:pt x="960" y="1056"/>
                </a:cubicBezTo>
                <a:cubicBezTo>
                  <a:pt x="1024" y="1056"/>
                  <a:pt x="1088" y="704"/>
                  <a:pt x="1152" y="528"/>
                </a:cubicBezTo>
                <a:cubicBezTo>
                  <a:pt x="1216" y="352"/>
                  <a:pt x="1280" y="0"/>
                  <a:pt x="1344" y="0"/>
                </a:cubicBezTo>
                <a:cubicBezTo>
                  <a:pt x="1408" y="0"/>
                  <a:pt x="1472" y="352"/>
                  <a:pt x="1536" y="528"/>
                </a:cubicBezTo>
                <a:cubicBezTo>
                  <a:pt x="1600" y="704"/>
                  <a:pt x="1664" y="1056"/>
                  <a:pt x="1728" y="1056"/>
                </a:cubicBezTo>
                <a:cubicBezTo>
                  <a:pt x="1792" y="1056"/>
                  <a:pt x="1880" y="640"/>
                  <a:pt x="1920" y="528"/>
                </a:cubicBezTo>
                <a:cubicBezTo>
                  <a:pt x="1960" y="416"/>
                  <a:pt x="1960" y="408"/>
                  <a:pt x="1968" y="384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7" name="Rectangle 44"/>
          <p:cNvSpPr>
            <a:spLocks noChangeArrowheads="1"/>
          </p:cNvSpPr>
          <p:nvPr/>
        </p:nvSpPr>
        <p:spPr bwMode="auto">
          <a:xfrm>
            <a:off x="3984625" y="1585913"/>
            <a:ext cx="3276600" cy="1600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8" name="Rectangle 45"/>
          <p:cNvSpPr>
            <a:spLocks noChangeArrowheads="1"/>
          </p:cNvSpPr>
          <p:nvPr/>
        </p:nvSpPr>
        <p:spPr bwMode="auto">
          <a:xfrm>
            <a:off x="4137025" y="2119313"/>
            <a:ext cx="1143000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9" name="Rectangle 46"/>
          <p:cNvSpPr>
            <a:spLocks noChangeArrowheads="1"/>
          </p:cNvSpPr>
          <p:nvPr/>
        </p:nvSpPr>
        <p:spPr bwMode="auto">
          <a:xfrm>
            <a:off x="781050" y="1738313"/>
            <a:ext cx="777875" cy="137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8591" name="Object 47"/>
          <p:cNvGraphicFramePr>
            <a:graphicFrameLocks noChangeAspect="1"/>
          </p:cNvGraphicFramePr>
          <p:nvPr/>
        </p:nvGraphicFramePr>
        <p:xfrm>
          <a:off x="4011613" y="1833563"/>
          <a:ext cx="8302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6" name="Equation" r:id="rId7" imgW="368280" imgH="177480" progId="Equation.3">
                  <p:embed/>
                </p:oleObj>
              </mc:Choice>
              <mc:Fallback>
                <p:oleObj name="Equation" r:id="rId7" imgW="368280" imgH="1774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1833563"/>
                        <a:ext cx="830262" cy="381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CCCC"/>
                          </a:gs>
                          <a:gs pos="50000">
                            <a:srgbClr val="FFCCCC">
                              <a:gamma/>
                              <a:tint val="0"/>
                              <a:invGamma/>
                            </a:srgbClr>
                          </a:gs>
                          <a:gs pos="100000">
                            <a:srgbClr val="FFCCCC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92" name="Object 48"/>
          <p:cNvGraphicFramePr>
            <a:graphicFrameLocks noChangeAspect="1"/>
          </p:cNvGraphicFramePr>
          <p:nvPr/>
        </p:nvGraphicFramePr>
        <p:xfrm>
          <a:off x="4022725" y="2728913"/>
          <a:ext cx="7620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Equation" r:id="rId9" imgW="380880" imgH="177480" progId="Equation.3">
                  <p:embed/>
                </p:oleObj>
              </mc:Choice>
              <mc:Fallback>
                <p:oleObj name="Equation" r:id="rId9" imgW="380880" imgH="1774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2728913"/>
                        <a:ext cx="762000" cy="3413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ECFF">
                              <a:alpha val="50000"/>
                            </a:srgbClr>
                          </a:gs>
                          <a:gs pos="50000">
                            <a:srgbClr val="CCECFF">
                              <a:gamma/>
                              <a:tint val="0"/>
                              <a:invGamma/>
                            </a:srgbClr>
                          </a:gs>
                          <a:gs pos="100000">
                            <a:srgbClr val="CCECFF">
                              <a:alpha val="50000"/>
                            </a:srgbClr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93" name="Object 49"/>
          <p:cNvGraphicFramePr>
            <a:graphicFrameLocks noChangeAspect="1"/>
          </p:cNvGraphicFramePr>
          <p:nvPr/>
        </p:nvGraphicFramePr>
        <p:xfrm>
          <a:off x="852488" y="1673225"/>
          <a:ext cx="3603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8" name="公式" r:id="rId11" imgW="139680" imgH="139680" progId="Equation.3">
                  <p:embed/>
                </p:oleObj>
              </mc:Choice>
              <mc:Fallback>
                <p:oleObj name="公式" r:id="rId11" imgW="139680" imgH="1396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673225"/>
                        <a:ext cx="36036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99" name="Object 55"/>
          <p:cNvGraphicFramePr>
            <a:graphicFrameLocks noChangeAspect="1"/>
          </p:cNvGraphicFramePr>
          <p:nvPr/>
        </p:nvGraphicFramePr>
        <p:xfrm>
          <a:off x="5383213" y="1957388"/>
          <a:ext cx="19796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" name="公式" r:id="rId13" imgW="799920" imgH="177480" progId="Equation.3">
                  <p:embed/>
                </p:oleObj>
              </mc:Choice>
              <mc:Fallback>
                <p:oleObj name="公式" r:id="rId13" imgW="799920" imgH="1774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1957388"/>
                        <a:ext cx="1979612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00" name="Object 56"/>
          <p:cNvGraphicFramePr>
            <a:graphicFrameLocks noChangeAspect="1"/>
          </p:cNvGraphicFramePr>
          <p:nvPr/>
        </p:nvGraphicFramePr>
        <p:xfrm>
          <a:off x="5445125" y="2463800"/>
          <a:ext cx="232251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" name="公式" r:id="rId15" imgW="990360" imgH="177480" progId="Equation.3">
                  <p:embed/>
                </p:oleObj>
              </mc:Choice>
              <mc:Fallback>
                <p:oleObj name="公式" r:id="rId15" imgW="990360" imgH="1774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2463800"/>
                        <a:ext cx="2322513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02" name="Object 58"/>
          <p:cNvGraphicFramePr>
            <a:graphicFrameLocks noChangeAspect="1"/>
          </p:cNvGraphicFramePr>
          <p:nvPr/>
        </p:nvGraphicFramePr>
        <p:xfrm>
          <a:off x="5389563" y="1457325"/>
          <a:ext cx="8636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1" name="公式" r:id="rId17" imgW="380880" imgH="203040" progId="Equation.3">
                  <p:embed/>
                </p:oleObj>
              </mc:Choice>
              <mc:Fallback>
                <p:oleObj name="公式" r:id="rId17" imgW="380880" imgH="2030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563" y="1457325"/>
                        <a:ext cx="8636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03" name="Object 59"/>
          <p:cNvGraphicFramePr>
            <a:graphicFrameLocks noChangeAspect="1"/>
          </p:cNvGraphicFramePr>
          <p:nvPr/>
        </p:nvGraphicFramePr>
        <p:xfrm>
          <a:off x="5741988" y="2987675"/>
          <a:ext cx="30384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2" name="公式" r:id="rId19" imgW="1257120" imgH="215640" progId="Equation.3">
                  <p:embed/>
                </p:oleObj>
              </mc:Choice>
              <mc:Fallback>
                <p:oleObj name="公式" r:id="rId19" imgW="1257120" imgH="2156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2987675"/>
                        <a:ext cx="30384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05" name="Object 61"/>
          <p:cNvGraphicFramePr>
            <a:graphicFrameLocks noChangeAspect="1"/>
          </p:cNvGraphicFramePr>
          <p:nvPr/>
        </p:nvGraphicFramePr>
        <p:xfrm>
          <a:off x="852488" y="2254250"/>
          <a:ext cx="3222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3" name="公式" r:id="rId21" imgW="126720" imgH="139680" progId="Equation.3">
                  <p:embed/>
                </p:oleObj>
              </mc:Choice>
              <mc:Fallback>
                <p:oleObj name="公式" r:id="rId21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254250"/>
                        <a:ext cx="3222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10" name="Text Box 66"/>
          <p:cNvSpPr txBox="1">
            <a:spLocks noChangeArrowheads="1"/>
          </p:cNvSpPr>
          <p:nvPr/>
        </p:nvSpPr>
        <p:spPr bwMode="auto">
          <a:xfrm>
            <a:off x="550863" y="4824413"/>
            <a:ext cx="10382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FF"/>
                </a:solidFill>
              </a:rPr>
              <a:t>动能</a:t>
            </a:r>
          </a:p>
        </p:txBody>
      </p:sp>
      <p:grpSp>
        <p:nvGrpSpPr>
          <p:cNvPr id="4" name="Group 85"/>
          <p:cNvGrpSpPr>
            <a:grpSpLocks/>
          </p:cNvGrpSpPr>
          <p:nvPr/>
        </p:nvGrpSpPr>
        <p:grpSpPr bwMode="auto">
          <a:xfrm>
            <a:off x="1446213" y="3511550"/>
            <a:ext cx="5586412" cy="682625"/>
            <a:chOff x="911" y="2212"/>
            <a:chExt cx="3519" cy="430"/>
          </a:xfrm>
        </p:grpSpPr>
        <p:sp>
          <p:nvSpPr>
            <p:cNvPr id="8251" name="Line 4"/>
            <p:cNvSpPr>
              <a:spLocks noChangeShapeType="1"/>
            </p:cNvSpPr>
            <p:nvPr/>
          </p:nvSpPr>
          <p:spPr bwMode="auto">
            <a:xfrm flipV="1">
              <a:off x="911" y="2448"/>
              <a:ext cx="1667" cy="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11" name="Object 57"/>
            <p:cNvGraphicFramePr>
              <a:graphicFrameLocks noChangeAspect="1"/>
            </p:cNvGraphicFramePr>
            <p:nvPr/>
          </p:nvGraphicFramePr>
          <p:xfrm>
            <a:off x="3486" y="2212"/>
            <a:ext cx="944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4" name="公式" r:id="rId23" imgW="672840" imgH="406080" progId="Equation.3">
                    <p:embed/>
                  </p:oleObj>
                </mc:Choice>
                <mc:Fallback>
                  <p:oleObj name="公式" r:id="rId23" imgW="672840" imgH="40608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6" y="2212"/>
                          <a:ext cx="944" cy="43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>
                                <a:alpha val="27000"/>
                              </a:schemeClr>
                            </a:gs>
                            <a:gs pos="50000">
                              <a:schemeClr val="accent1">
                                <a:gamma/>
                                <a:tint val="0"/>
                                <a:invGamma/>
                              </a:schemeClr>
                            </a:gs>
                            <a:gs pos="100000">
                              <a:schemeClr val="accent1">
                                <a:alpha val="27000"/>
                              </a:schemeClr>
                            </a:gs>
                          </a:gsLst>
                          <a:lin ang="5400000" scaled="1"/>
                        </a:gradFill>
                        <a:ln w="1905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52" name="Text Box 67"/>
            <p:cNvSpPr txBox="1">
              <a:spLocks noChangeArrowheads="1"/>
            </p:cNvSpPr>
            <p:nvPr/>
          </p:nvSpPr>
          <p:spPr bwMode="auto">
            <a:xfrm>
              <a:off x="2528" y="2284"/>
              <a:ext cx="10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solidFill>
                    <a:srgbClr val="008000"/>
                  </a:solidFill>
                </a:rPr>
                <a:t>机械能</a:t>
              </a:r>
            </a:p>
          </p:txBody>
        </p:sp>
      </p:grp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1343025" y="3525838"/>
            <a:ext cx="3197225" cy="2513012"/>
            <a:chOff x="846" y="2221"/>
            <a:chExt cx="2014" cy="1583"/>
          </a:xfrm>
        </p:grpSpPr>
        <p:graphicFrame>
          <p:nvGraphicFramePr>
            <p:cNvPr id="8205" name="Object 35"/>
            <p:cNvGraphicFramePr>
              <a:graphicFrameLocks noChangeAspect="1"/>
            </p:cNvGraphicFramePr>
            <p:nvPr/>
          </p:nvGraphicFramePr>
          <p:xfrm>
            <a:off x="846" y="3398"/>
            <a:ext cx="19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5" name="Equation" r:id="rId25" imgW="126720" imgH="139680" progId="Equation.3">
                    <p:embed/>
                  </p:oleObj>
                </mc:Choice>
                <mc:Fallback>
                  <p:oleObj name="Equation" r:id="rId25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3398"/>
                          <a:ext cx="199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43" name="Group 84"/>
            <p:cNvGrpSpPr>
              <a:grpSpLocks/>
            </p:cNvGrpSpPr>
            <p:nvPr/>
          </p:nvGrpSpPr>
          <p:grpSpPr bwMode="auto">
            <a:xfrm>
              <a:off x="959" y="2221"/>
              <a:ext cx="1901" cy="1583"/>
              <a:chOff x="959" y="2221"/>
              <a:chExt cx="1901" cy="1583"/>
            </a:xfrm>
          </p:grpSpPr>
          <p:sp>
            <p:nvSpPr>
              <p:cNvPr id="8244" name="Line 19"/>
              <p:cNvSpPr>
                <a:spLocks noChangeShapeType="1"/>
              </p:cNvSpPr>
              <p:nvPr/>
            </p:nvSpPr>
            <p:spPr bwMode="auto">
              <a:xfrm>
                <a:off x="959" y="3377"/>
                <a:ext cx="184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45" name="Line 34"/>
              <p:cNvSpPr>
                <a:spLocks noChangeShapeType="1"/>
              </p:cNvSpPr>
              <p:nvPr/>
            </p:nvSpPr>
            <p:spPr bwMode="auto">
              <a:xfrm flipV="1">
                <a:off x="959" y="2221"/>
                <a:ext cx="0" cy="11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06" name="Object 36"/>
              <p:cNvGraphicFramePr>
                <a:graphicFrameLocks noChangeAspect="1"/>
              </p:cNvGraphicFramePr>
              <p:nvPr/>
            </p:nvGraphicFramePr>
            <p:xfrm>
              <a:off x="2670" y="3398"/>
              <a:ext cx="190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46" name="公式" r:id="rId27" imgW="114120" imgH="215640" progId="Equation.3">
                      <p:embed/>
                    </p:oleObj>
                  </mc:Choice>
                  <mc:Fallback>
                    <p:oleObj name="公式" r:id="rId27" imgW="114120" imgH="21564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0" y="3398"/>
                            <a:ext cx="190" cy="21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7" name="Object 62"/>
              <p:cNvGraphicFramePr>
                <a:graphicFrameLocks noChangeAspect="1"/>
              </p:cNvGraphicFramePr>
              <p:nvPr/>
            </p:nvGraphicFramePr>
            <p:xfrm>
              <a:off x="1190" y="3385"/>
              <a:ext cx="191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47" name="公式" r:id="rId29" imgW="177480" imgH="406080" progId="Equation.3">
                      <p:embed/>
                    </p:oleObj>
                  </mc:Choice>
                  <mc:Fallback>
                    <p:oleObj name="公式" r:id="rId29" imgW="177480" imgH="40608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0" y="3385"/>
                            <a:ext cx="191" cy="4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8" name="Object 63"/>
              <p:cNvGraphicFramePr>
                <a:graphicFrameLocks noChangeAspect="1"/>
              </p:cNvGraphicFramePr>
              <p:nvPr/>
            </p:nvGraphicFramePr>
            <p:xfrm>
              <a:off x="1525" y="3385"/>
              <a:ext cx="191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48" name="公式" r:id="rId31" imgW="177480" imgH="406080" progId="Equation.3">
                      <p:embed/>
                    </p:oleObj>
                  </mc:Choice>
                  <mc:Fallback>
                    <p:oleObj name="公式" r:id="rId31" imgW="177480" imgH="40608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5" y="3385"/>
                            <a:ext cx="191" cy="4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9" name="Object 64"/>
              <p:cNvGraphicFramePr>
                <a:graphicFrameLocks noChangeAspect="1"/>
              </p:cNvGraphicFramePr>
              <p:nvPr/>
            </p:nvGraphicFramePr>
            <p:xfrm>
              <a:off x="1815" y="3385"/>
              <a:ext cx="273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49" name="公式" r:id="rId33" imgW="253800" imgH="406080" progId="Equation.3">
                      <p:embed/>
                    </p:oleObj>
                  </mc:Choice>
                  <mc:Fallback>
                    <p:oleObj name="公式" r:id="rId33" imgW="253800" imgH="40608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5" y="3385"/>
                            <a:ext cx="273" cy="4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10" name="Object 65"/>
              <p:cNvGraphicFramePr>
                <a:graphicFrameLocks noChangeAspect="1"/>
              </p:cNvGraphicFramePr>
              <p:nvPr/>
            </p:nvGraphicFramePr>
            <p:xfrm>
              <a:off x="2200" y="3509"/>
              <a:ext cx="164" cy="1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50" name="公式" r:id="rId35" imgW="152280" imgH="164880" progId="Equation.3">
                      <p:embed/>
                    </p:oleObj>
                  </mc:Choice>
                  <mc:Fallback>
                    <p:oleObj name="公式" r:id="rId35" imgW="152280" imgH="16488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0" y="3509"/>
                            <a:ext cx="164" cy="1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46" name="Group 71"/>
              <p:cNvGrpSpPr>
                <a:grpSpLocks/>
              </p:cNvGrpSpPr>
              <p:nvPr/>
            </p:nvGrpSpPr>
            <p:grpSpPr bwMode="auto">
              <a:xfrm>
                <a:off x="1292" y="2515"/>
                <a:ext cx="986" cy="862"/>
                <a:chOff x="1297" y="1145"/>
                <a:chExt cx="986" cy="2232"/>
              </a:xfrm>
            </p:grpSpPr>
            <p:sp>
              <p:nvSpPr>
                <p:cNvPr id="8247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1621" y="1145"/>
                  <a:ext cx="0" cy="22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8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2283" y="1145"/>
                  <a:ext cx="0" cy="22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9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1952" y="1145"/>
                  <a:ext cx="0" cy="22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0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1297" y="1145"/>
                  <a:ext cx="0" cy="22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1222375" y="1541463"/>
            <a:ext cx="3381375" cy="1644650"/>
            <a:chOff x="770" y="971"/>
            <a:chExt cx="2130" cy="1036"/>
          </a:xfrm>
        </p:grpSpPr>
        <p:graphicFrame>
          <p:nvGraphicFramePr>
            <p:cNvPr id="8202" name="Object 50"/>
            <p:cNvGraphicFramePr>
              <a:graphicFrameLocks noChangeAspect="1"/>
            </p:cNvGraphicFramePr>
            <p:nvPr/>
          </p:nvGraphicFramePr>
          <p:xfrm>
            <a:off x="2710" y="1478"/>
            <a:ext cx="19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51" name="公式" r:id="rId37" imgW="114120" imgH="215640" progId="Equation.3">
                    <p:embed/>
                  </p:oleObj>
                </mc:Choice>
                <mc:Fallback>
                  <p:oleObj name="公式" r:id="rId37" imgW="114120" imgH="2156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0" y="1478"/>
                          <a:ext cx="190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34" name="Group 86"/>
            <p:cNvGrpSpPr>
              <a:grpSpLocks/>
            </p:cNvGrpSpPr>
            <p:nvPr/>
          </p:nvGrpSpPr>
          <p:grpSpPr bwMode="auto">
            <a:xfrm>
              <a:off x="770" y="971"/>
              <a:ext cx="2076" cy="1036"/>
              <a:chOff x="770" y="971"/>
              <a:chExt cx="2076" cy="1036"/>
            </a:xfrm>
          </p:grpSpPr>
          <p:graphicFrame>
            <p:nvGraphicFramePr>
              <p:cNvPr id="8203" name="Object 54"/>
              <p:cNvGraphicFramePr>
                <a:graphicFrameLocks noChangeAspect="1"/>
              </p:cNvGraphicFramePr>
              <p:nvPr/>
            </p:nvGraphicFramePr>
            <p:xfrm>
              <a:off x="2102" y="1471"/>
              <a:ext cx="224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52" name="Equation" r:id="rId38" imgW="139680" imgH="164880" progId="Equation.3">
                      <p:embed/>
                    </p:oleObj>
                  </mc:Choice>
                  <mc:Fallback>
                    <p:oleObj name="Equation" r:id="rId38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2" y="1471"/>
                            <a:ext cx="224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35" name="Group 81"/>
              <p:cNvGrpSpPr>
                <a:grpSpLocks/>
              </p:cNvGrpSpPr>
              <p:nvPr/>
            </p:nvGrpSpPr>
            <p:grpSpPr bwMode="auto">
              <a:xfrm>
                <a:off x="770" y="971"/>
                <a:ext cx="2076" cy="1036"/>
                <a:chOff x="770" y="971"/>
                <a:chExt cx="2076" cy="1036"/>
              </a:xfrm>
            </p:grpSpPr>
            <p:sp>
              <p:nvSpPr>
                <p:cNvPr id="823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974" y="971"/>
                  <a:ext cx="0" cy="10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8204" name="Object 52"/>
                <p:cNvGraphicFramePr>
                  <a:graphicFrameLocks noChangeAspect="1"/>
                </p:cNvGraphicFramePr>
                <p:nvPr/>
              </p:nvGraphicFramePr>
              <p:xfrm>
                <a:off x="770" y="1406"/>
                <a:ext cx="199" cy="2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753" name="Equation" r:id="rId40" imgW="126720" imgH="139680" progId="Equation.3">
                        <p:embed/>
                      </p:oleObj>
                    </mc:Choice>
                    <mc:Fallback>
                      <p:oleObj name="Equation" r:id="rId40" imgW="1267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0" y="1406"/>
                              <a:ext cx="199" cy="21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37" name="Line 53"/>
                <p:cNvSpPr>
                  <a:spLocks noChangeShapeType="1"/>
                </p:cNvSpPr>
                <p:nvPr/>
              </p:nvSpPr>
              <p:spPr bwMode="auto">
                <a:xfrm>
                  <a:off x="974" y="1479"/>
                  <a:ext cx="18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8238" name="Group 76"/>
                <p:cNvGrpSpPr>
                  <a:grpSpLocks/>
                </p:cNvGrpSpPr>
                <p:nvPr/>
              </p:nvGrpSpPr>
              <p:grpSpPr bwMode="auto">
                <a:xfrm>
                  <a:off x="1292" y="1071"/>
                  <a:ext cx="986" cy="862"/>
                  <a:chOff x="1297" y="1145"/>
                  <a:chExt cx="986" cy="2232"/>
                </a:xfrm>
              </p:grpSpPr>
              <p:sp>
                <p:nvSpPr>
                  <p:cNvPr id="8239" name="Line 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21" y="1145"/>
                    <a:ext cx="0" cy="223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0" name="Line 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83" y="1145"/>
                    <a:ext cx="0" cy="223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1" name="Line 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52" y="1145"/>
                    <a:ext cx="0" cy="223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2" name="Line 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97" y="1145"/>
                    <a:ext cx="0" cy="223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2292641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 animBg="1"/>
      <p:bldP spid="108550" grpId="0" animBg="1"/>
      <p:bldP spid="108577" grpId="0"/>
      <p:bldP spid="108586" grpId="0" animBg="1"/>
      <p:bldP spid="108587" grpId="0" animBg="1"/>
      <p:bldP spid="1086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C3D03D-A4D7-44AC-BAC9-20E130D11763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9232" name="Rectangle 4"/>
          <p:cNvSpPr>
            <a:spLocks noChangeArrowheads="1"/>
          </p:cNvSpPr>
          <p:nvPr/>
        </p:nvSpPr>
        <p:spPr bwMode="auto">
          <a:xfrm>
            <a:off x="1962150" y="1493838"/>
            <a:ext cx="426720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zh-CN" altLang="en-US"/>
              <a:t>简谐</a:t>
            </a:r>
            <a:r>
              <a:rPr kumimoji="0" lang="zh-CN" altLang="en-US">
                <a:solidFill>
                  <a:srgbClr val="000000"/>
                </a:solidFill>
              </a:rPr>
              <a:t>振动</a:t>
            </a:r>
            <a:r>
              <a:rPr kumimoji="0" lang="zh-CN" altLang="en-US"/>
              <a:t>势能曲线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665163" y="601663"/>
            <a:ext cx="5564187" cy="683264"/>
          </a:xfrm>
          <a:prstGeom prst="rect">
            <a:avLst/>
          </a:prstGeom>
          <a:gradFill rotWithShape="0">
            <a:gsLst>
              <a:gs pos="0">
                <a:schemeClr val="folHlink">
                  <a:alpha val="62000"/>
                </a:schemeClr>
              </a:gs>
              <a:gs pos="50000">
                <a:schemeClr val="folHlink">
                  <a:gamma/>
                  <a:tint val="0"/>
                  <a:invGamma/>
                </a:schemeClr>
              </a:gs>
              <a:gs pos="100000">
                <a:schemeClr val="folHlink">
                  <a:alpha val="62000"/>
                </a:schemeClr>
              </a:gs>
            </a:gsLst>
            <a:lin ang="5400000" scaled="1"/>
          </a:gra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0" lang="zh-CN" altLang="en-US" dirty="0"/>
              <a:t>简谐</a:t>
            </a:r>
            <a:r>
              <a:rPr kumimoji="0" lang="zh-CN" altLang="en-US" dirty="0">
                <a:solidFill>
                  <a:srgbClr val="000000"/>
                </a:solidFill>
              </a:rPr>
              <a:t>振动</a:t>
            </a:r>
            <a:r>
              <a:rPr kumimoji="0" lang="zh-CN" altLang="en-US" dirty="0"/>
              <a:t>能量守恒，振幅不变</a:t>
            </a:r>
          </a:p>
        </p:txBody>
      </p:sp>
      <p:sp>
        <p:nvSpPr>
          <p:cNvPr id="109583" name="Line 15"/>
          <p:cNvSpPr>
            <a:spLocks noChangeShapeType="1"/>
          </p:cNvSpPr>
          <p:nvPr/>
        </p:nvSpPr>
        <p:spPr bwMode="auto">
          <a:xfrm>
            <a:off x="5021263" y="3024188"/>
            <a:ext cx="0" cy="2805112"/>
          </a:xfrm>
          <a:prstGeom prst="line">
            <a:avLst/>
          </a:prstGeom>
          <a:noFill/>
          <a:ln w="19050">
            <a:solidFill>
              <a:srgbClr val="CC00CC"/>
            </a:solidFill>
            <a:prstDash val="dash"/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429125" y="3068638"/>
            <a:ext cx="436563" cy="1574800"/>
            <a:chOff x="2790" y="1933"/>
            <a:chExt cx="275" cy="992"/>
          </a:xfrm>
        </p:grpSpPr>
        <p:sp>
          <p:nvSpPr>
            <p:cNvPr id="9253" name="Line 8"/>
            <p:cNvSpPr>
              <a:spLocks noChangeShapeType="1"/>
            </p:cNvSpPr>
            <p:nvPr/>
          </p:nvSpPr>
          <p:spPr bwMode="auto">
            <a:xfrm>
              <a:off x="3065" y="1933"/>
              <a:ext cx="0" cy="9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0" name="Object 9"/>
            <p:cNvGraphicFramePr>
              <a:graphicFrameLocks noChangeAspect="1"/>
            </p:cNvGraphicFramePr>
            <p:nvPr/>
          </p:nvGraphicFramePr>
          <p:xfrm>
            <a:off x="2790" y="2358"/>
            <a:ext cx="26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7" name="公式" r:id="rId3" imgW="215640" imgH="215640" progId="Equation.3">
                    <p:embed/>
                  </p:oleObj>
                </mc:Choice>
                <mc:Fallback>
                  <p:oleObj name="公式" r:id="rId3" imgW="215640" imgH="2156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0" y="2358"/>
                          <a:ext cx="260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4316413" y="4643438"/>
            <a:ext cx="1593850" cy="720725"/>
            <a:chOff x="2719" y="2925"/>
            <a:chExt cx="1004" cy="454"/>
          </a:xfrm>
        </p:grpSpPr>
        <p:grpSp>
          <p:nvGrpSpPr>
            <p:cNvPr id="9250" name="Group 41"/>
            <p:cNvGrpSpPr>
              <a:grpSpLocks/>
            </p:cNvGrpSpPr>
            <p:nvPr/>
          </p:nvGrpSpPr>
          <p:grpSpPr bwMode="auto">
            <a:xfrm>
              <a:off x="3242" y="2925"/>
              <a:ext cx="481" cy="454"/>
              <a:chOff x="3242" y="2925"/>
              <a:chExt cx="481" cy="454"/>
            </a:xfrm>
          </p:grpSpPr>
          <p:sp>
            <p:nvSpPr>
              <p:cNvPr id="9252" name="Line 11"/>
              <p:cNvSpPr>
                <a:spLocks noChangeShapeType="1"/>
              </p:cNvSpPr>
              <p:nvPr/>
            </p:nvSpPr>
            <p:spPr bwMode="auto">
              <a:xfrm>
                <a:off x="3242" y="2925"/>
                <a:ext cx="0" cy="45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29" name="Object 12"/>
              <p:cNvGraphicFramePr>
                <a:graphicFrameLocks noChangeAspect="1"/>
              </p:cNvGraphicFramePr>
              <p:nvPr/>
            </p:nvGraphicFramePr>
            <p:xfrm>
              <a:off x="3249" y="3017"/>
              <a:ext cx="474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38" name="公式" r:id="rId5" imgW="215640" imgH="241200" progId="Equation.3">
                      <p:embed/>
                    </p:oleObj>
                  </mc:Choice>
                  <mc:Fallback>
                    <p:oleObj name="公式" r:id="rId5" imgW="215640" imgH="24120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9" y="3017"/>
                            <a:ext cx="474" cy="3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51" name="Line 16"/>
            <p:cNvSpPr>
              <a:spLocks noChangeShapeType="1"/>
            </p:cNvSpPr>
            <p:nvPr/>
          </p:nvSpPr>
          <p:spPr bwMode="auto">
            <a:xfrm flipH="1">
              <a:off x="2719" y="2925"/>
              <a:ext cx="523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316413" y="5392738"/>
            <a:ext cx="709612" cy="436562"/>
            <a:chOff x="2719" y="3397"/>
            <a:chExt cx="447" cy="275"/>
          </a:xfrm>
        </p:grpSpPr>
        <p:sp>
          <p:nvSpPr>
            <p:cNvPr id="9249" name="Line 14"/>
            <p:cNvSpPr>
              <a:spLocks noChangeShapeType="1"/>
            </p:cNvSpPr>
            <p:nvPr/>
          </p:nvSpPr>
          <p:spPr bwMode="auto">
            <a:xfrm>
              <a:off x="2719" y="3397"/>
              <a:ext cx="447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8" name="Object 17"/>
            <p:cNvGraphicFramePr>
              <a:graphicFrameLocks noChangeAspect="1"/>
            </p:cNvGraphicFramePr>
            <p:nvPr/>
          </p:nvGraphicFramePr>
          <p:xfrm>
            <a:off x="2850" y="3470"/>
            <a:ext cx="200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9" name="公式" r:id="rId7" imgW="177480" imgH="190440" progId="Equation.3">
                    <p:embed/>
                  </p:oleObj>
                </mc:Choice>
                <mc:Fallback>
                  <p:oleObj name="公式" r:id="rId7" imgW="177480" imgH="1904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0" y="3470"/>
                          <a:ext cx="200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237813"/>
              </p:ext>
            </p:extLst>
          </p:nvPr>
        </p:nvGraphicFramePr>
        <p:xfrm>
          <a:off x="6503988" y="439738"/>
          <a:ext cx="21177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0" name="公式" r:id="rId9" imgW="672840" imgH="406080" progId="Equation.3">
                  <p:embed/>
                </p:oleObj>
              </mc:Choice>
              <mc:Fallback>
                <p:oleObj name="公式" r:id="rId9" imgW="672840" imgH="4060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3988" y="439738"/>
                        <a:ext cx="2117725" cy="9382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41000"/>
                            </a:schemeClr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>
                              <a:alpha val="41000"/>
                            </a:schemeClr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1816100" y="2303463"/>
            <a:ext cx="5276850" cy="3605212"/>
            <a:chOff x="1144" y="1451"/>
            <a:chExt cx="3324" cy="2271"/>
          </a:xfrm>
        </p:grpSpPr>
        <p:graphicFrame>
          <p:nvGraphicFramePr>
            <p:cNvPr id="9223" name="Object 20"/>
            <p:cNvGraphicFramePr>
              <a:graphicFrameLocks noChangeAspect="1"/>
            </p:cNvGraphicFramePr>
            <p:nvPr/>
          </p:nvGraphicFramePr>
          <p:xfrm>
            <a:off x="3620" y="3360"/>
            <a:ext cx="30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1" name="公式" r:id="rId11" imgW="393480" imgH="228600" progId="Equation.3">
                    <p:embed/>
                  </p:oleObj>
                </mc:Choice>
                <mc:Fallback>
                  <p:oleObj name="公式" r:id="rId11" imgW="393480" imgH="2286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3360"/>
                          <a:ext cx="303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21"/>
            <p:cNvGraphicFramePr>
              <a:graphicFrameLocks noChangeAspect="1"/>
            </p:cNvGraphicFramePr>
            <p:nvPr/>
          </p:nvGraphicFramePr>
          <p:xfrm>
            <a:off x="1500" y="3355"/>
            <a:ext cx="30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2" name="公式" r:id="rId13" imgW="393480" imgH="228600" progId="Equation.3">
                    <p:embed/>
                  </p:oleObj>
                </mc:Choice>
                <mc:Fallback>
                  <p:oleObj name="公式" r:id="rId13" imgW="393480" imgH="2286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0" y="3355"/>
                          <a:ext cx="303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7" name="Line 22"/>
            <p:cNvSpPr>
              <a:spLocks noChangeShapeType="1"/>
            </p:cNvSpPr>
            <p:nvPr/>
          </p:nvSpPr>
          <p:spPr bwMode="auto">
            <a:xfrm>
              <a:off x="1144" y="3318"/>
              <a:ext cx="32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5" name="Object 23"/>
            <p:cNvGraphicFramePr>
              <a:graphicFrameLocks noChangeAspect="1"/>
            </p:cNvGraphicFramePr>
            <p:nvPr/>
          </p:nvGraphicFramePr>
          <p:xfrm>
            <a:off x="2768" y="1451"/>
            <a:ext cx="398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3" name="Equation" r:id="rId15" imgW="190440" imgH="241200" progId="Equation.3">
                    <p:embed/>
                  </p:oleObj>
                </mc:Choice>
                <mc:Fallback>
                  <p:oleObj name="Equation" r:id="rId15" imgW="190440" imgH="2412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8" y="1451"/>
                          <a:ext cx="398" cy="3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24"/>
            <p:cNvGraphicFramePr>
              <a:graphicFrameLocks noChangeAspect="1"/>
            </p:cNvGraphicFramePr>
            <p:nvPr/>
          </p:nvGraphicFramePr>
          <p:xfrm>
            <a:off x="4267" y="3369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4" name="公式" r:id="rId17" imgW="177480" imgH="190440" progId="Equation.3">
                    <p:embed/>
                  </p:oleObj>
                </mc:Choice>
                <mc:Fallback>
                  <p:oleObj name="公式" r:id="rId17" imgW="177480" imgH="1904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" y="3369"/>
                          <a:ext cx="201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Line 25"/>
            <p:cNvSpPr>
              <a:spLocks noChangeShapeType="1"/>
            </p:cNvSpPr>
            <p:nvPr/>
          </p:nvSpPr>
          <p:spPr bwMode="auto">
            <a:xfrm flipV="1">
              <a:off x="2740" y="1552"/>
              <a:ext cx="0" cy="217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9227" name="Object 26"/>
            <p:cNvGraphicFramePr>
              <a:graphicFrameLocks noChangeAspect="1"/>
            </p:cNvGraphicFramePr>
            <p:nvPr/>
          </p:nvGraphicFramePr>
          <p:xfrm>
            <a:off x="2546" y="3369"/>
            <a:ext cx="216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5" name="Equation" r:id="rId19" imgW="152280" imgH="177480" progId="Equation.3">
                    <p:embed/>
                  </p:oleObj>
                </mc:Choice>
                <mc:Fallback>
                  <p:oleObj name="Equation" r:id="rId19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3369"/>
                          <a:ext cx="216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9596" name="Object 28"/>
          <p:cNvGraphicFramePr>
            <a:graphicFrameLocks noChangeAspect="1"/>
          </p:cNvGraphicFramePr>
          <p:nvPr/>
        </p:nvGraphicFramePr>
        <p:xfrm>
          <a:off x="1497013" y="2795588"/>
          <a:ext cx="47148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6" name="公式" r:id="rId21" imgW="164880" imgH="164880" progId="Equation.3">
                  <p:embed/>
                </p:oleObj>
              </mc:Choice>
              <mc:Fallback>
                <p:oleObj name="公式" r:id="rId21" imgW="164880" imgH="1648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2795588"/>
                        <a:ext cx="471487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2281238" y="2800350"/>
            <a:ext cx="4405312" cy="2384425"/>
            <a:chOff x="1345" y="2036"/>
            <a:chExt cx="2639" cy="1428"/>
          </a:xfrm>
        </p:grpSpPr>
        <p:sp>
          <p:nvSpPr>
            <p:cNvPr id="9242" name="Line 30"/>
            <p:cNvSpPr>
              <a:spLocks noChangeShapeType="1"/>
            </p:cNvSpPr>
            <p:nvPr/>
          </p:nvSpPr>
          <p:spPr bwMode="auto">
            <a:xfrm flipV="1">
              <a:off x="1607" y="2160"/>
              <a:ext cx="0" cy="130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3" name="Line 31"/>
            <p:cNvSpPr>
              <a:spLocks noChangeShapeType="1"/>
            </p:cNvSpPr>
            <p:nvPr/>
          </p:nvSpPr>
          <p:spPr bwMode="auto">
            <a:xfrm flipV="1">
              <a:off x="3555" y="2160"/>
              <a:ext cx="0" cy="130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32"/>
            <p:cNvSpPr>
              <a:spLocks noChangeShapeType="1"/>
            </p:cNvSpPr>
            <p:nvPr/>
          </p:nvSpPr>
          <p:spPr bwMode="auto">
            <a:xfrm>
              <a:off x="1587" y="2176"/>
              <a:ext cx="1965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Oval 33"/>
            <p:cNvSpPr>
              <a:spLocks noChangeArrowheads="1"/>
            </p:cNvSpPr>
            <p:nvPr/>
          </p:nvSpPr>
          <p:spPr bwMode="auto">
            <a:xfrm>
              <a:off x="1572" y="2152"/>
              <a:ext cx="60" cy="5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1" name="Object 34"/>
            <p:cNvGraphicFramePr>
              <a:graphicFrameLocks noChangeAspect="1"/>
            </p:cNvGraphicFramePr>
            <p:nvPr/>
          </p:nvGraphicFramePr>
          <p:xfrm>
            <a:off x="3696" y="2036"/>
            <a:ext cx="28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7" name="Equation" r:id="rId23" imgW="152280" imgH="164880" progId="Equation.3">
                    <p:embed/>
                  </p:oleObj>
                </mc:Choice>
                <mc:Fallback>
                  <p:oleObj name="Equation" r:id="rId23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036"/>
                          <a:ext cx="288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35"/>
            <p:cNvGraphicFramePr>
              <a:graphicFrameLocks noChangeAspect="1"/>
            </p:cNvGraphicFramePr>
            <p:nvPr/>
          </p:nvGraphicFramePr>
          <p:xfrm>
            <a:off x="1345" y="2064"/>
            <a:ext cx="191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8" name="Equation" r:id="rId25" imgW="152280" imgH="177480" progId="Equation.3">
                    <p:embed/>
                  </p:oleObj>
                </mc:Choice>
                <mc:Fallback>
                  <p:oleObj name="Equation" r:id="rId25" imgW="152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5" y="2064"/>
                          <a:ext cx="191" cy="2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Oval 36"/>
            <p:cNvSpPr>
              <a:spLocks noChangeArrowheads="1"/>
            </p:cNvSpPr>
            <p:nvPr/>
          </p:nvSpPr>
          <p:spPr bwMode="auto">
            <a:xfrm>
              <a:off x="3507" y="2152"/>
              <a:ext cx="60" cy="5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1377950" y="3068638"/>
            <a:ext cx="4589463" cy="2176462"/>
            <a:chOff x="867" y="1933"/>
            <a:chExt cx="2891" cy="1371"/>
          </a:xfrm>
        </p:grpSpPr>
        <p:sp>
          <p:nvSpPr>
            <p:cNvPr id="9241" name="Freeform 6"/>
            <p:cNvSpPr>
              <a:spLocks/>
            </p:cNvSpPr>
            <p:nvPr/>
          </p:nvSpPr>
          <p:spPr bwMode="auto">
            <a:xfrm>
              <a:off x="1689" y="1933"/>
              <a:ext cx="2069" cy="1371"/>
            </a:xfrm>
            <a:custGeom>
              <a:avLst/>
              <a:gdLst>
                <a:gd name="T0" fmla="*/ 0 w 1152"/>
                <a:gd name="T1" fmla="*/ 0 h 720"/>
                <a:gd name="T2" fmla="*/ 576 w 1152"/>
                <a:gd name="T3" fmla="*/ 720 h 720"/>
                <a:gd name="T4" fmla="*/ 1152 w 1152"/>
                <a:gd name="T5" fmla="*/ 0 h 720"/>
                <a:gd name="T6" fmla="*/ 0 60000 65536"/>
                <a:gd name="T7" fmla="*/ 0 60000 65536"/>
                <a:gd name="T8" fmla="*/ 0 60000 65536"/>
                <a:gd name="T9" fmla="*/ 0 w 1152"/>
                <a:gd name="T10" fmla="*/ 0 h 720"/>
                <a:gd name="T11" fmla="*/ 1152 w 1152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720">
                  <a:moveTo>
                    <a:pt x="0" y="0"/>
                  </a:moveTo>
                  <a:cubicBezTo>
                    <a:pt x="192" y="360"/>
                    <a:pt x="384" y="720"/>
                    <a:pt x="576" y="720"/>
                  </a:cubicBezTo>
                  <a:cubicBezTo>
                    <a:pt x="768" y="720"/>
                    <a:pt x="1056" y="120"/>
                    <a:pt x="1152" y="0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0" name="Object 39"/>
            <p:cNvGraphicFramePr>
              <a:graphicFrameLocks noChangeAspect="1"/>
            </p:cNvGraphicFramePr>
            <p:nvPr/>
          </p:nvGraphicFramePr>
          <p:xfrm>
            <a:off x="867" y="2427"/>
            <a:ext cx="411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9" name="公式" r:id="rId27" imgW="228600" imgH="241200" progId="Equation.3">
                    <p:embed/>
                  </p:oleObj>
                </mc:Choice>
                <mc:Fallback>
                  <p:oleObj name="公式" r:id="rId27" imgW="228600" imgH="2412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2427"/>
                          <a:ext cx="411" cy="3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393299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332B2D-A31F-4BC0-B7B0-82995A90B2DF}" type="slidenum">
              <a:rPr lang="en-US" altLang="zh-CN"/>
              <a:pPr/>
              <a:t>31</a:t>
            </a:fld>
            <a:endParaRPr lang="en-US" altLang="zh-CN"/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1241425" y="1344613"/>
          <a:ext cx="37798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公式" r:id="rId3" imgW="1663560" imgH="406080" progId="Equation.3">
                  <p:embed/>
                </p:oleObj>
              </mc:Choice>
              <mc:Fallback>
                <p:oleObj name="公式" r:id="rId3" imgW="1663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1344613"/>
                        <a:ext cx="3779838" cy="98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1443038" y="2559050"/>
          <a:ext cx="34020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公式" r:id="rId5" imgW="1447560" imgH="406080" progId="Equation.3">
                  <p:embed/>
                </p:oleObj>
              </mc:Choice>
              <mc:Fallback>
                <p:oleObj name="公式" r:id="rId5" imgW="1447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2559050"/>
                        <a:ext cx="3402012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9"/>
          <p:cNvGraphicFramePr>
            <a:graphicFrameLocks noChangeAspect="1"/>
          </p:cNvGraphicFramePr>
          <p:nvPr/>
        </p:nvGraphicFramePr>
        <p:xfrm>
          <a:off x="1422400" y="3860800"/>
          <a:ext cx="298291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公式" r:id="rId7" imgW="1193760" imgH="406080" progId="Equation.3">
                  <p:embed/>
                </p:oleObj>
              </mc:Choice>
              <mc:Fallback>
                <p:oleObj name="公式" r:id="rId7" imgW="1193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860800"/>
                        <a:ext cx="2982913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92288" y="3740150"/>
            <a:ext cx="1835150" cy="1192213"/>
            <a:chOff x="1129" y="2356"/>
            <a:chExt cx="1156" cy="751"/>
          </a:xfrm>
        </p:grpSpPr>
        <p:sp>
          <p:nvSpPr>
            <p:cNvPr id="10253" name="Line 11"/>
            <p:cNvSpPr>
              <a:spLocks noChangeShapeType="1"/>
            </p:cNvSpPr>
            <p:nvPr/>
          </p:nvSpPr>
          <p:spPr bwMode="auto">
            <a:xfrm>
              <a:off x="1129" y="2470"/>
              <a:ext cx="107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" name="Line 12"/>
            <p:cNvSpPr>
              <a:spLocks noChangeShapeType="1"/>
            </p:cNvSpPr>
            <p:nvPr/>
          </p:nvSpPr>
          <p:spPr bwMode="auto">
            <a:xfrm>
              <a:off x="2124" y="2356"/>
              <a:ext cx="161" cy="7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376363" y="5159375"/>
          <a:ext cx="30321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公式" r:id="rId9" imgW="952200" imgH="419040" progId="Equation.3">
                  <p:embed/>
                </p:oleObj>
              </mc:Choice>
              <mc:Fallback>
                <p:oleObj name="公式" r:id="rId9" imgW="952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5159375"/>
                        <a:ext cx="3032125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8" name="Group 15"/>
          <p:cNvGrpSpPr>
            <a:grpSpLocks/>
          </p:cNvGrpSpPr>
          <p:nvPr/>
        </p:nvGrpSpPr>
        <p:grpSpPr bwMode="auto">
          <a:xfrm>
            <a:off x="611188" y="728663"/>
            <a:ext cx="6953250" cy="519112"/>
            <a:chOff x="402" y="592"/>
            <a:chExt cx="4380" cy="327"/>
          </a:xfrm>
        </p:grpSpPr>
        <p:sp>
          <p:nvSpPr>
            <p:cNvPr id="10249" name="Rectangle 3"/>
            <p:cNvSpPr>
              <a:spLocks noChangeArrowheads="1"/>
            </p:cNvSpPr>
            <p:nvPr/>
          </p:nvSpPr>
          <p:spPr bwMode="auto">
            <a:xfrm>
              <a:off x="786" y="592"/>
              <a:ext cx="15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</a:rPr>
                <a:t>能量守恒</a:t>
              </a:r>
            </a:p>
          </p:txBody>
        </p:sp>
        <p:sp>
          <p:nvSpPr>
            <p:cNvPr id="10250" name="Rectangle 4"/>
            <p:cNvSpPr>
              <a:spLocks noChangeArrowheads="1"/>
            </p:cNvSpPr>
            <p:nvPr/>
          </p:nvSpPr>
          <p:spPr bwMode="auto">
            <a:xfrm>
              <a:off x="2974" y="592"/>
              <a:ext cx="18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</a:rPr>
                <a:t>简谐振动方程</a:t>
              </a:r>
            </a:p>
          </p:txBody>
        </p:sp>
        <p:sp>
          <p:nvSpPr>
            <p:cNvPr id="10251" name="AutoShape 5"/>
            <p:cNvSpPr>
              <a:spLocks noChangeArrowheads="1"/>
            </p:cNvSpPr>
            <p:nvPr/>
          </p:nvSpPr>
          <p:spPr bwMode="auto">
            <a:xfrm>
              <a:off x="2110" y="684"/>
              <a:ext cx="864" cy="144"/>
            </a:xfrm>
            <a:prstGeom prst="rightArrow">
              <a:avLst>
                <a:gd name="adj1" fmla="val 50000"/>
                <a:gd name="adj2" fmla="val 150000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" name="Rectangle 14"/>
            <p:cNvSpPr>
              <a:spLocks noChangeArrowheads="1"/>
            </p:cNvSpPr>
            <p:nvPr/>
          </p:nvSpPr>
          <p:spPr bwMode="auto">
            <a:xfrm>
              <a:off x="402" y="592"/>
              <a:ext cx="7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0000FF"/>
                  </a:solidFill>
                </a:rPr>
                <a:t>四、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794888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358944-1FE7-4F0E-891D-B719BEB82234}" type="slidenum">
              <a:rPr lang="en-US" altLang="zh-CN"/>
              <a:pPr/>
              <a:t>32</a:t>
            </a:fld>
            <a:endParaRPr lang="en-US" altLang="zh-CN"/>
          </a:p>
        </p:txBody>
      </p:sp>
      <p:grpSp>
        <p:nvGrpSpPr>
          <p:cNvPr id="11271" name="Group 13"/>
          <p:cNvGrpSpPr>
            <a:grpSpLocks/>
          </p:cNvGrpSpPr>
          <p:nvPr/>
        </p:nvGrpSpPr>
        <p:grpSpPr bwMode="auto">
          <a:xfrm>
            <a:off x="123825" y="862013"/>
            <a:ext cx="9020176" cy="3989388"/>
            <a:chOff x="78" y="543"/>
            <a:chExt cx="5682" cy="2513"/>
          </a:xfrm>
        </p:grpSpPr>
        <p:sp>
          <p:nvSpPr>
            <p:cNvPr id="11272" name="Text Box 2"/>
            <p:cNvSpPr txBox="1">
              <a:spLocks noChangeArrowheads="1"/>
            </p:cNvSpPr>
            <p:nvPr/>
          </p:nvSpPr>
          <p:spPr bwMode="auto">
            <a:xfrm>
              <a:off x="78" y="543"/>
              <a:ext cx="5370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例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1</a:t>
              </a:r>
              <a:r>
                <a:rPr kumimoji="0" lang="en-US" altLang="zh-CN" sz="3200" dirty="0"/>
                <a:t> </a:t>
              </a:r>
              <a:r>
                <a:rPr kumimoji="0" lang="zh-CN" altLang="en-US" sz="3200" dirty="0" smtClean="0"/>
                <a:t>质量</a:t>
              </a:r>
              <a:r>
                <a:rPr kumimoji="0" lang="zh-CN" altLang="en-US" sz="3200" dirty="0"/>
                <a:t>为            的物体，以振幅                                              作简谐运动，其最大加速度为                ，</a:t>
              </a:r>
              <a:endParaRPr kumimoji="0" lang="zh-CN" altLang="en-US" sz="3200" dirty="0">
                <a:solidFill>
                  <a:srgbClr val="CC0000"/>
                </a:solidFill>
              </a:endParaRPr>
            </a:p>
          </p:txBody>
        </p:sp>
        <p:graphicFrame>
          <p:nvGraphicFramePr>
            <p:cNvPr id="1126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238231"/>
                </p:ext>
              </p:extLst>
            </p:nvPr>
          </p:nvGraphicFramePr>
          <p:xfrm>
            <a:off x="2136" y="625"/>
            <a:ext cx="7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" name="公式" r:id="rId3" imgW="495000" imgH="203040" progId="Equation.3">
                    <p:embed/>
                  </p:oleObj>
                </mc:Choice>
                <mc:Fallback>
                  <p:oleObj name="公式" r:id="rId3" imgW="4950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6" y="625"/>
                          <a:ext cx="717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2169209"/>
                </p:ext>
              </p:extLst>
            </p:nvPr>
          </p:nvGraphicFramePr>
          <p:xfrm>
            <a:off x="4657" y="570"/>
            <a:ext cx="110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9" name="公式" r:id="rId5" imgW="761760" imgH="203040" progId="Equation.3">
                    <p:embed/>
                  </p:oleObj>
                </mc:Choice>
                <mc:Fallback>
                  <p:oleObj name="公式" r:id="rId5" imgW="7617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7" y="570"/>
                          <a:ext cx="1103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Object 5"/>
            <p:cNvGraphicFramePr>
              <a:graphicFrameLocks noChangeAspect="1"/>
            </p:cNvGraphicFramePr>
            <p:nvPr/>
          </p:nvGraphicFramePr>
          <p:xfrm>
            <a:off x="2982" y="2524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" name="Equation" r:id="rId7" imgW="114120" imgH="215640" progId="Equation.3">
                    <p:embed/>
                  </p:oleObj>
                </mc:Choice>
                <mc:Fallback>
                  <p:oleObj name="Equation" r:id="rId7" imgW="114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2" y="2524"/>
                          <a:ext cx="72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240" y="1370"/>
              <a:ext cx="3474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求：（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1</a:t>
              </a:r>
              <a:r>
                <a:rPr kumimoji="0" lang="zh-CN" altLang="en-US" sz="3200" dirty="0">
                  <a:solidFill>
                    <a:srgbClr val="CC0000"/>
                  </a:solidFill>
                </a:rPr>
                <a:t>）</a:t>
              </a:r>
              <a:r>
                <a:rPr kumimoji="0" lang="zh-CN" altLang="en-US" sz="3200" dirty="0"/>
                <a:t>振动的周期；     </a:t>
              </a:r>
            </a:p>
          </p:txBody>
        </p:sp>
        <p:sp>
          <p:nvSpPr>
            <p:cNvPr id="11274" name="Rectangle 7"/>
            <p:cNvSpPr>
              <a:spLocks noChangeArrowheads="1"/>
            </p:cNvSpPr>
            <p:nvPr/>
          </p:nvSpPr>
          <p:spPr bwMode="auto">
            <a:xfrm>
              <a:off x="888" y="1800"/>
              <a:ext cx="3648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 smtClean="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2</a:t>
              </a:r>
              <a:r>
                <a:rPr kumimoji="0" lang="zh-CN" altLang="en-US" sz="3200" dirty="0">
                  <a:solidFill>
                    <a:srgbClr val="CC0000"/>
                  </a:solidFill>
                </a:rPr>
                <a:t>）</a:t>
              </a:r>
              <a:r>
                <a:rPr kumimoji="0" lang="zh-CN" altLang="en-US" sz="3200" dirty="0"/>
                <a:t>通过平衡位置的动能；</a:t>
              </a:r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518" y="2224"/>
              <a:ext cx="2880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3</a:t>
              </a:r>
              <a:r>
                <a:rPr kumimoji="0" lang="zh-CN" altLang="en-US" sz="3200" dirty="0">
                  <a:solidFill>
                    <a:srgbClr val="CC0000"/>
                  </a:solidFill>
                </a:rPr>
                <a:t>）</a:t>
              </a:r>
              <a:r>
                <a:rPr kumimoji="0" lang="zh-CN" altLang="en-US" sz="3200" dirty="0"/>
                <a:t>总能量；</a:t>
              </a:r>
            </a:p>
          </p:txBody>
        </p:sp>
        <p:sp>
          <p:nvSpPr>
            <p:cNvPr id="11276" name="Rectangle 9"/>
            <p:cNvSpPr>
              <a:spLocks noChangeArrowheads="1"/>
            </p:cNvSpPr>
            <p:nvPr/>
          </p:nvSpPr>
          <p:spPr bwMode="auto">
            <a:xfrm>
              <a:off x="846" y="2630"/>
              <a:ext cx="4805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4</a:t>
              </a:r>
              <a:r>
                <a:rPr kumimoji="0" lang="zh-CN" altLang="en-US" sz="3200" dirty="0">
                  <a:solidFill>
                    <a:srgbClr val="CC0000"/>
                  </a:solidFill>
                </a:rPr>
                <a:t>）</a:t>
              </a:r>
              <a:r>
                <a:rPr kumimoji="0" lang="zh-CN" altLang="en-US" sz="3200" dirty="0"/>
                <a:t>物体在何处其动能和势能相等？</a:t>
              </a:r>
            </a:p>
          </p:txBody>
        </p:sp>
        <p:graphicFrame>
          <p:nvGraphicFramePr>
            <p:cNvPr id="1126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449325"/>
                </p:ext>
              </p:extLst>
            </p:nvPr>
          </p:nvGraphicFramePr>
          <p:xfrm>
            <a:off x="3800" y="959"/>
            <a:ext cx="91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1" name="公式" r:id="rId9" imgW="634680" imgH="203040" progId="Equation.3">
                    <p:embed/>
                  </p:oleObj>
                </mc:Choice>
                <mc:Fallback>
                  <p:oleObj name="公式" r:id="rId9" imgW="6346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" y="959"/>
                          <a:ext cx="919" cy="2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3570774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27A40C-AE08-4665-A469-37FB8554AE63}" type="slidenum">
              <a:rPr lang="en-US" altLang="zh-CN"/>
              <a:pPr/>
              <a:t>33</a:t>
            </a:fld>
            <a:endParaRPr lang="en-US" altLang="zh-CN"/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5176838" y="2484438"/>
          <a:ext cx="2773362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公式" r:id="rId3" imgW="1206360" imgH="444240" progId="Equation.3">
                  <p:embed/>
                </p:oleObj>
              </mc:Choice>
              <mc:Fallback>
                <p:oleObj name="公式" r:id="rId3" imgW="1206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2484438"/>
                        <a:ext cx="2773362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2562225" y="3519488"/>
          <a:ext cx="25400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公式" r:id="rId5" imgW="1104840" imgH="406080" progId="Equation.3">
                  <p:embed/>
                </p:oleObj>
              </mc:Choice>
              <mc:Fallback>
                <p:oleObj name="公式" r:id="rId5" imgW="1104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519488"/>
                        <a:ext cx="2540000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3536950" y="5667375"/>
          <a:ext cx="19558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6" name="公式" r:id="rId7" imgW="850680" imgH="203040" progId="Equation.3">
                  <p:embed/>
                </p:oleObj>
              </mc:Choice>
              <mc:Fallback>
                <p:oleObj name="公式" r:id="rId7" imgW="850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5667375"/>
                        <a:ext cx="19558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071563" y="4578350"/>
            <a:ext cx="5434013" cy="857250"/>
            <a:chOff x="259" y="2682"/>
            <a:chExt cx="3423" cy="540"/>
          </a:xfrm>
        </p:grpSpPr>
        <p:sp>
          <p:nvSpPr>
            <p:cNvPr id="12306" name="Text Box 7"/>
            <p:cNvSpPr txBox="1">
              <a:spLocks noChangeArrowheads="1"/>
            </p:cNvSpPr>
            <p:nvPr/>
          </p:nvSpPr>
          <p:spPr bwMode="auto">
            <a:xfrm>
              <a:off x="259" y="2782"/>
              <a:ext cx="13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3200" dirty="0">
                  <a:solidFill>
                    <a:srgbClr val="CC0000"/>
                  </a:solidFill>
                </a:rPr>
                <a:t>(2)</a:t>
              </a:r>
            </a:p>
          </p:txBody>
        </p:sp>
        <p:graphicFrame>
          <p:nvGraphicFramePr>
            <p:cNvPr id="12297" name="Object 8"/>
            <p:cNvGraphicFramePr>
              <a:graphicFrameLocks noChangeAspect="1"/>
            </p:cNvGraphicFramePr>
            <p:nvPr/>
          </p:nvGraphicFramePr>
          <p:xfrm>
            <a:off x="1248" y="2682"/>
            <a:ext cx="2434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7" name="公式" r:id="rId9" imgW="1828800" imgH="406080" progId="Equation.3">
                    <p:embed/>
                  </p:oleObj>
                </mc:Choice>
                <mc:Fallback>
                  <p:oleObj name="公式" r:id="rId9" imgW="182880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682"/>
                          <a:ext cx="2434" cy="5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62756" y="2684462"/>
            <a:ext cx="3482974" cy="676275"/>
            <a:chOff x="417" y="1632"/>
            <a:chExt cx="2194" cy="426"/>
          </a:xfrm>
        </p:grpSpPr>
        <p:sp>
          <p:nvSpPr>
            <p:cNvPr id="12305" name="Text Box 10"/>
            <p:cNvSpPr txBox="1">
              <a:spLocks noChangeArrowheads="1"/>
            </p:cNvSpPr>
            <p:nvPr/>
          </p:nvSpPr>
          <p:spPr bwMode="auto">
            <a:xfrm>
              <a:off x="417" y="1632"/>
              <a:ext cx="1536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解</a:t>
              </a:r>
              <a:r>
                <a:rPr kumimoji="0" lang="en-US" altLang="zh-CN" sz="3200" dirty="0">
                  <a:solidFill>
                    <a:srgbClr val="CC0000"/>
                  </a:solidFill>
                  <a:sym typeface="Wingdings" pitchFamily="2" charset="2"/>
                </a:rPr>
                <a:t>: (1)</a:t>
              </a:r>
              <a:endParaRPr kumimoji="0" lang="en-US" altLang="zh-CN" sz="3200" dirty="0">
                <a:solidFill>
                  <a:srgbClr val="CC0000"/>
                </a:solidFill>
              </a:endParaRPr>
            </a:p>
          </p:txBody>
        </p:sp>
        <p:graphicFrame>
          <p:nvGraphicFramePr>
            <p:cNvPr id="12296" name="Object 11"/>
            <p:cNvGraphicFramePr>
              <a:graphicFrameLocks noChangeAspect="1"/>
            </p:cNvGraphicFramePr>
            <p:nvPr/>
          </p:nvGraphicFramePr>
          <p:xfrm>
            <a:off x="1588" y="1675"/>
            <a:ext cx="1023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8" name="公式" r:id="rId11" imgW="749160" imgH="241200" progId="Equation.3">
                    <p:embed/>
                  </p:oleObj>
                </mc:Choice>
                <mc:Fallback>
                  <p:oleObj name="公式" r:id="rId11" imgW="7491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1675"/>
                          <a:ext cx="1023" cy="3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1" name="Text Box 12"/>
          <p:cNvSpPr txBox="1">
            <a:spLocks noChangeArrowheads="1"/>
          </p:cNvSpPr>
          <p:nvPr/>
        </p:nvSpPr>
        <p:spPr bwMode="auto">
          <a:xfrm>
            <a:off x="747713" y="506413"/>
            <a:ext cx="1722437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已知：</a:t>
            </a:r>
          </a:p>
        </p:txBody>
      </p:sp>
      <p:graphicFrame>
        <p:nvGraphicFramePr>
          <p:cNvPr id="12293" name="Object 13"/>
          <p:cNvGraphicFramePr>
            <a:graphicFrameLocks noChangeAspect="1"/>
          </p:cNvGraphicFramePr>
          <p:nvPr/>
        </p:nvGraphicFramePr>
        <p:xfrm>
          <a:off x="1963738" y="503238"/>
          <a:ext cx="4957762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9" name="公式" r:id="rId13" imgW="1955520" imgH="482400" progId="Equation.3">
                  <p:embed/>
                </p:oleObj>
              </mc:Choice>
              <mc:Fallback>
                <p:oleObj name="公式" r:id="rId13" imgW="19555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503238"/>
                        <a:ext cx="4957762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4"/>
          <p:cNvGraphicFramePr>
            <a:graphicFrameLocks noChangeAspect="1"/>
          </p:cNvGraphicFramePr>
          <p:nvPr/>
        </p:nvGraphicFramePr>
        <p:xfrm>
          <a:off x="2063750" y="1925638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15" imgW="164880" imgH="190440" progId="Equation.3">
                  <p:embed/>
                </p:oleObj>
              </mc:Choice>
              <mc:Fallback>
                <p:oleObj name="Equation" r:id="rId15" imgW="1648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925638"/>
                        <a:ext cx="330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Text Box 15"/>
          <p:cNvSpPr txBox="1">
            <a:spLocks noChangeArrowheads="1"/>
          </p:cNvSpPr>
          <p:nvPr/>
        </p:nvSpPr>
        <p:spPr bwMode="auto">
          <a:xfrm>
            <a:off x="2368550" y="1819275"/>
            <a:ext cx="1065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/>
              <a:t>；</a:t>
            </a:r>
            <a:r>
              <a:rPr kumimoji="0" lang="en-US" altLang="zh-CN" sz="3200">
                <a:solidFill>
                  <a:srgbClr val="CC0000"/>
                </a:solidFill>
              </a:rPr>
              <a:t>(2)</a:t>
            </a:r>
          </a:p>
        </p:txBody>
      </p:sp>
      <p:graphicFrame>
        <p:nvGraphicFramePr>
          <p:cNvPr id="12295" name="Object 16"/>
          <p:cNvGraphicFramePr>
            <a:graphicFrameLocks noChangeAspect="1"/>
          </p:cNvGraphicFramePr>
          <p:nvPr/>
        </p:nvGraphicFramePr>
        <p:xfrm>
          <a:off x="3506788" y="1874838"/>
          <a:ext cx="8842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公式" r:id="rId17" imgW="393480" imgH="241200" progId="Equation.3">
                  <p:embed/>
                </p:oleObj>
              </mc:Choice>
              <mc:Fallback>
                <p:oleObj name="公式" r:id="rId17" imgW="3934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1874838"/>
                        <a:ext cx="88423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Text Box 17"/>
          <p:cNvSpPr txBox="1">
            <a:spLocks noChangeArrowheads="1"/>
          </p:cNvSpPr>
          <p:nvPr/>
        </p:nvSpPr>
        <p:spPr bwMode="auto">
          <a:xfrm>
            <a:off x="747713" y="1803400"/>
            <a:ext cx="1428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求</a:t>
            </a:r>
            <a:r>
              <a:rPr kumimoji="0" lang="en-US" altLang="zh-CN">
                <a:solidFill>
                  <a:srgbClr val="CC0000"/>
                </a:solidFill>
              </a:rPr>
              <a:t>: </a:t>
            </a:r>
            <a:r>
              <a:rPr kumimoji="0" lang="en-US" altLang="zh-CN" sz="3200">
                <a:solidFill>
                  <a:srgbClr val="CC0000"/>
                </a:solidFill>
              </a:rPr>
              <a:t>(1)</a:t>
            </a:r>
          </a:p>
        </p:txBody>
      </p:sp>
      <p:sp>
        <p:nvSpPr>
          <p:cNvPr id="112658" name="AutoShape 18"/>
          <p:cNvSpPr>
            <a:spLocks noChangeArrowheads="1"/>
          </p:cNvSpPr>
          <p:nvPr/>
        </p:nvSpPr>
        <p:spPr bwMode="auto">
          <a:xfrm>
            <a:off x="4248150" y="2889250"/>
            <a:ext cx="919163" cy="266700"/>
          </a:xfrm>
          <a:prstGeom prst="rightArrow">
            <a:avLst>
              <a:gd name="adj1" fmla="val 50000"/>
              <a:gd name="adj2" fmla="val 86161"/>
            </a:avLst>
          </a:prstGeom>
          <a:gradFill rotWithShape="1">
            <a:gsLst>
              <a:gs pos="0">
                <a:schemeClr val="bg1"/>
              </a:gs>
              <a:gs pos="100000">
                <a:srgbClr val="FF99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52398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A205C3-93CB-4872-94E6-184FE7E70411}" type="slidenum">
              <a:rPr lang="en-US" altLang="zh-CN"/>
              <a:pPr/>
              <a:t>34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8963" y="3384553"/>
            <a:ext cx="3338513" cy="595313"/>
            <a:chOff x="480" y="2208"/>
            <a:chExt cx="2103" cy="375"/>
          </a:xfrm>
        </p:grpSpPr>
        <p:sp>
          <p:nvSpPr>
            <p:cNvPr id="13337" name="Text Box 3"/>
            <p:cNvSpPr txBox="1">
              <a:spLocks noChangeArrowheads="1"/>
            </p:cNvSpPr>
            <p:nvPr/>
          </p:nvSpPr>
          <p:spPr bwMode="auto">
            <a:xfrm>
              <a:off x="480" y="2208"/>
              <a:ext cx="136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3200">
                  <a:solidFill>
                    <a:srgbClr val="CC0000"/>
                  </a:solidFill>
                </a:rPr>
                <a:t>(4)</a:t>
              </a:r>
            </a:p>
          </p:txBody>
        </p:sp>
        <p:grpSp>
          <p:nvGrpSpPr>
            <p:cNvPr id="13338" name="Group 4"/>
            <p:cNvGrpSpPr>
              <a:grpSpLocks/>
            </p:cNvGrpSpPr>
            <p:nvPr/>
          </p:nvGrpSpPr>
          <p:grpSpPr bwMode="auto">
            <a:xfrm>
              <a:off x="1352" y="2208"/>
              <a:ext cx="1231" cy="375"/>
              <a:chOff x="1736" y="1993"/>
              <a:chExt cx="1231" cy="375"/>
            </a:xfrm>
          </p:grpSpPr>
          <p:graphicFrame>
            <p:nvGraphicFramePr>
              <p:cNvPr id="13323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57701551"/>
                  </p:ext>
                </p:extLst>
              </p:nvPr>
            </p:nvGraphicFramePr>
            <p:xfrm>
              <a:off x="1736" y="1993"/>
              <a:ext cx="806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24" name="Equation" r:id="rId3" imgW="609480" imgH="279360" progId="Equation.3">
                      <p:embed/>
                    </p:oleObj>
                  </mc:Choice>
                  <mc:Fallback>
                    <p:oleObj name="Equation" r:id="rId3" imgW="60948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36" y="1993"/>
                            <a:ext cx="806" cy="3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39" name="Text Box 6"/>
              <p:cNvSpPr txBox="1">
                <a:spLocks noChangeArrowheads="1"/>
              </p:cNvSpPr>
              <p:nvPr/>
            </p:nvSpPr>
            <p:spPr bwMode="auto">
              <a:xfrm>
                <a:off x="2507" y="1993"/>
                <a:ext cx="46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 sz="3200" dirty="0"/>
                  <a:t>时</a:t>
                </a:r>
                <a:endParaRPr kumimoji="0" lang="zh-CN" altLang="en-US" dirty="0"/>
              </a:p>
            </p:txBody>
          </p:sp>
        </p:grpSp>
      </p:grpSp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4437063" y="3397250"/>
          <a:ext cx="26606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name="Equation" r:id="rId5" imgW="1257120" imgH="291960" progId="Equation.3">
                  <p:embed/>
                </p:oleObj>
              </mc:Choice>
              <mc:Fallback>
                <p:oleObj name="Equation" r:id="rId5" imgW="12571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3397250"/>
                        <a:ext cx="266065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1285875" y="4965700"/>
          <a:ext cx="16589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Equation" r:id="rId7" imgW="799920" imgH="495000" progId="Equation.3">
                  <p:embed/>
                </p:oleObj>
              </mc:Choice>
              <mc:Fallback>
                <p:oleObj name="Equation" r:id="rId7" imgW="79992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965700"/>
                        <a:ext cx="1658938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>
            <a:graphicFrameLocks noChangeAspect="1"/>
          </p:cNvGraphicFramePr>
          <p:nvPr/>
        </p:nvGraphicFramePr>
        <p:xfrm>
          <a:off x="2947988" y="5262563"/>
          <a:ext cx="23590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262563"/>
                        <a:ext cx="2359025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5662613" y="5265738"/>
          <a:ext cx="23558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11" imgW="1130040" imgH="203040" progId="Equation.3">
                  <p:embed/>
                </p:oleObj>
              </mc:Choice>
              <mc:Fallback>
                <p:oleObj name="Equation" r:id="rId11" imgW="11300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5265738"/>
                        <a:ext cx="2355850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5"/>
          <p:cNvGraphicFramePr>
            <a:graphicFrameLocks noChangeAspect="1"/>
          </p:cNvGraphicFramePr>
          <p:nvPr/>
        </p:nvGraphicFramePr>
        <p:xfrm>
          <a:off x="2035175" y="1844675"/>
          <a:ext cx="8080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公式" r:id="rId13" imgW="330120" imgH="228600" progId="Equation.3">
                  <p:embed/>
                </p:oleObj>
              </mc:Choice>
              <mc:Fallback>
                <p:oleObj name="公式" r:id="rId13" imgW="33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1844675"/>
                        <a:ext cx="808038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Text Box 16"/>
          <p:cNvSpPr txBox="1">
            <a:spLocks noChangeArrowheads="1"/>
          </p:cNvSpPr>
          <p:nvPr/>
        </p:nvSpPr>
        <p:spPr bwMode="auto">
          <a:xfrm>
            <a:off x="2727325" y="1833563"/>
            <a:ext cx="5921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/>
              <a:t>；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33400" y="2486025"/>
            <a:ext cx="5038725" cy="717550"/>
            <a:chOff x="535" y="1608"/>
            <a:chExt cx="3174" cy="452"/>
          </a:xfrm>
        </p:grpSpPr>
        <p:sp>
          <p:nvSpPr>
            <p:cNvPr id="13335" name="Text Box 18"/>
            <p:cNvSpPr txBox="1">
              <a:spLocks noChangeArrowheads="1"/>
            </p:cNvSpPr>
            <p:nvPr/>
          </p:nvSpPr>
          <p:spPr bwMode="auto">
            <a:xfrm>
              <a:off x="535" y="1626"/>
              <a:ext cx="126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3200" dirty="0">
                  <a:solidFill>
                    <a:srgbClr val="CC0000"/>
                  </a:solidFill>
                </a:rPr>
                <a:t>: (3)</a:t>
              </a:r>
            </a:p>
          </p:txBody>
        </p:sp>
        <p:graphicFrame>
          <p:nvGraphicFramePr>
            <p:cNvPr id="13321" name="Object 19"/>
            <p:cNvGraphicFramePr>
              <a:graphicFrameLocks noChangeAspect="1"/>
            </p:cNvGraphicFramePr>
            <p:nvPr/>
          </p:nvGraphicFramePr>
          <p:xfrm>
            <a:off x="1519" y="1706"/>
            <a:ext cx="1117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0" name="Equation" r:id="rId15" imgW="901440" imgH="266400" progId="Equation.3">
                    <p:embed/>
                  </p:oleObj>
                </mc:Choice>
                <mc:Fallback>
                  <p:oleObj name="Equation" r:id="rId15" imgW="90144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706"/>
                          <a:ext cx="1117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20"/>
            <p:cNvGraphicFramePr>
              <a:graphicFrameLocks noChangeAspect="1"/>
            </p:cNvGraphicFramePr>
            <p:nvPr/>
          </p:nvGraphicFramePr>
          <p:xfrm>
            <a:off x="2461" y="1688"/>
            <a:ext cx="124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1" name="Equation" r:id="rId17" imgW="990360" imgH="228600" progId="Equation.3">
                    <p:embed/>
                  </p:oleObj>
                </mc:Choice>
                <mc:Fallback>
                  <p:oleObj name="Equation" r:id="rId17" imgW="9903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1688"/>
                          <a:ext cx="1248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Text Box 21"/>
            <p:cNvSpPr txBox="1">
              <a:spLocks noChangeArrowheads="1"/>
            </p:cNvSpPr>
            <p:nvPr/>
          </p:nvSpPr>
          <p:spPr bwMode="auto">
            <a:xfrm>
              <a:off x="613" y="1608"/>
              <a:ext cx="384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>
                  <a:solidFill>
                    <a:srgbClr val="CC0000"/>
                  </a:solidFill>
                </a:rPr>
                <a:t>解</a:t>
              </a:r>
            </a:p>
          </p:txBody>
        </p:sp>
      </p:grpSp>
      <p:sp>
        <p:nvSpPr>
          <p:cNvPr id="13328" name="Rectangle 22"/>
          <p:cNvSpPr>
            <a:spLocks noChangeArrowheads="1"/>
          </p:cNvSpPr>
          <p:nvPr/>
        </p:nvSpPr>
        <p:spPr bwMode="auto">
          <a:xfrm>
            <a:off x="3063875" y="1833563"/>
            <a:ext cx="37163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3200">
                <a:solidFill>
                  <a:srgbClr val="CC0000"/>
                </a:solidFill>
              </a:rPr>
              <a:t>(4)</a:t>
            </a:r>
            <a:r>
              <a:rPr kumimoji="0" lang="zh-CN" altLang="en-US" sz="3200"/>
              <a:t>何处动势能相等</a:t>
            </a:r>
            <a:r>
              <a:rPr kumimoji="0" lang="en-US" altLang="zh-CN" sz="3200"/>
              <a:t>?</a:t>
            </a:r>
          </a:p>
        </p:txBody>
      </p:sp>
      <p:sp>
        <p:nvSpPr>
          <p:cNvPr id="13329" name="Text Box 24"/>
          <p:cNvSpPr txBox="1">
            <a:spLocks noChangeArrowheads="1"/>
          </p:cNvSpPr>
          <p:nvPr/>
        </p:nvSpPr>
        <p:spPr bwMode="auto">
          <a:xfrm>
            <a:off x="747713" y="1833563"/>
            <a:ext cx="118427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求</a:t>
            </a:r>
            <a:r>
              <a:rPr kumimoji="0" lang="en-US" altLang="zh-CN">
                <a:solidFill>
                  <a:srgbClr val="CC0000"/>
                </a:solidFill>
              </a:rPr>
              <a:t>:</a:t>
            </a:r>
            <a:r>
              <a:rPr kumimoji="0" lang="en-US" altLang="zh-CN" sz="3200">
                <a:solidFill>
                  <a:srgbClr val="CC0000"/>
                </a:solidFill>
              </a:rPr>
              <a:t>(3)</a:t>
            </a:r>
          </a:p>
        </p:txBody>
      </p:sp>
      <p:sp>
        <p:nvSpPr>
          <p:cNvPr id="13330" name="Text Box 27"/>
          <p:cNvSpPr txBox="1">
            <a:spLocks noChangeArrowheads="1"/>
          </p:cNvSpPr>
          <p:nvPr/>
        </p:nvSpPr>
        <p:spPr bwMode="auto">
          <a:xfrm>
            <a:off x="747713" y="506413"/>
            <a:ext cx="1722437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已知：</a:t>
            </a:r>
          </a:p>
        </p:txBody>
      </p:sp>
      <p:graphicFrame>
        <p:nvGraphicFramePr>
          <p:cNvPr id="13319" name="Object 28"/>
          <p:cNvGraphicFramePr>
            <a:graphicFrameLocks noChangeAspect="1"/>
          </p:cNvGraphicFramePr>
          <p:nvPr/>
        </p:nvGraphicFramePr>
        <p:xfrm>
          <a:off x="1963738" y="503238"/>
          <a:ext cx="4957762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公式" r:id="rId19" imgW="1955520" imgH="482400" progId="Equation.3">
                  <p:embed/>
                </p:oleObj>
              </mc:Choice>
              <mc:Fallback>
                <p:oleObj name="公式" r:id="rId19" imgW="19555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503238"/>
                        <a:ext cx="4957762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2097088" y="4137025"/>
            <a:ext cx="4956175" cy="906463"/>
            <a:chOff x="1349" y="2606"/>
            <a:chExt cx="2922" cy="545"/>
          </a:xfrm>
        </p:grpSpPr>
        <p:grpSp>
          <p:nvGrpSpPr>
            <p:cNvPr id="13332" name="Group 8"/>
            <p:cNvGrpSpPr>
              <a:grpSpLocks/>
            </p:cNvGrpSpPr>
            <p:nvPr/>
          </p:nvGrpSpPr>
          <p:grpSpPr bwMode="auto">
            <a:xfrm>
              <a:off x="1349" y="2606"/>
              <a:ext cx="2408" cy="545"/>
              <a:chOff x="1392" y="2572"/>
              <a:chExt cx="2408" cy="545"/>
            </a:xfrm>
          </p:grpSpPr>
          <p:sp>
            <p:nvSpPr>
              <p:cNvPr id="13334" name="Text Box 9"/>
              <p:cNvSpPr txBox="1">
                <a:spLocks noChangeArrowheads="1"/>
              </p:cNvSpPr>
              <p:nvPr/>
            </p:nvSpPr>
            <p:spPr bwMode="auto">
              <a:xfrm>
                <a:off x="1392" y="2612"/>
                <a:ext cx="528" cy="3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 sz="3200"/>
                  <a:t>由</a:t>
                </a:r>
              </a:p>
            </p:txBody>
          </p:sp>
          <p:graphicFrame>
            <p:nvGraphicFramePr>
              <p:cNvPr id="13320" name="Object 10"/>
              <p:cNvGraphicFramePr>
                <a:graphicFrameLocks noChangeAspect="1"/>
              </p:cNvGraphicFramePr>
              <p:nvPr/>
            </p:nvGraphicFramePr>
            <p:xfrm>
              <a:off x="1838" y="2572"/>
              <a:ext cx="1962" cy="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33" name="公式" r:id="rId21" imgW="1460160" imgH="406080" progId="Equation.3">
                      <p:embed/>
                    </p:oleObj>
                  </mc:Choice>
                  <mc:Fallback>
                    <p:oleObj name="公式" r:id="rId21" imgW="146016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8" y="2572"/>
                            <a:ext cx="1962" cy="5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33" name="Rectangle 29"/>
            <p:cNvSpPr>
              <a:spLocks noChangeArrowheads="1"/>
            </p:cNvSpPr>
            <p:nvPr/>
          </p:nvSpPr>
          <p:spPr bwMode="auto">
            <a:xfrm>
              <a:off x="3697" y="2684"/>
              <a:ext cx="574" cy="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zh-CN" altLang="en-US"/>
                <a:t>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507820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661325-01DF-495B-916F-1CBE58AF7A6C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4356" name="Rectangle 2"/>
          <p:cNvSpPr>
            <a:spLocks noChangeArrowheads="1"/>
          </p:cNvSpPr>
          <p:nvPr/>
        </p:nvSpPr>
        <p:spPr bwMode="auto">
          <a:xfrm>
            <a:off x="387350" y="1173163"/>
            <a:ext cx="7677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考虑两</a:t>
            </a:r>
            <a:r>
              <a:rPr lang="zh-CN" altLang="en-US" dirty="0">
                <a:solidFill>
                  <a:srgbClr val="0000FF"/>
                </a:solidFill>
              </a:rPr>
              <a:t>个</a:t>
            </a:r>
            <a:r>
              <a:rPr lang="zh-CN" altLang="en-US" dirty="0">
                <a:solidFill>
                  <a:srgbClr val="CC0000"/>
                </a:solidFill>
              </a:rPr>
              <a:t>同</a:t>
            </a:r>
            <a:r>
              <a:rPr lang="zh-CN" altLang="en-US" dirty="0">
                <a:solidFill>
                  <a:srgbClr val="0000FF"/>
                </a:solidFill>
              </a:rPr>
              <a:t>方向</a:t>
            </a:r>
            <a:r>
              <a:rPr lang="zh-CN" altLang="en-US" dirty="0">
                <a:solidFill>
                  <a:srgbClr val="CC0000"/>
                </a:solidFill>
              </a:rPr>
              <a:t>同</a:t>
            </a:r>
            <a:r>
              <a:rPr lang="zh-CN" altLang="en-US" dirty="0">
                <a:solidFill>
                  <a:srgbClr val="0000FF"/>
                </a:solidFill>
              </a:rPr>
              <a:t>频率简谐运动的合成</a:t>
            </a:r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573088" y="1736725"/>
            <a:ext cx="5438775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 smtClean="0"/>
              <a:t>设</a:t>
            </a:r>
            <a:r>
              <a:rPr lang="zh-CN" altLang="en-US" dirty="0"/>
              <a:t>一质点同时参与两独立的</a:t>
            </a:r>
            <a:r>
              <a:rPr lang="zh-CN" altLang="en-US" dirty="0">
                <a:solidFill>
                  <a:srgbClr val="CC0000"/>
                </a:solidFill>
              </a:rPr>
              <a:t>同</a:t>
            </a:r>
            <a:r>
              <a:rPr lang="zh-CN" altLang="en-US" dirty="0"/>
              <a:t>方向、</a:t>
            </a:r>
            <a:r>
              <a:rPr lang="zh-CN" altLang="en-US" dirty="0">
                <a:solidFill>
                  <a:srgbClr val="CC0000"/>
                </a:solidFill>
              </a:rPr>
              <a:t>同</a:t>
            </a:r>
            <a:r>
              <a:rPr lang="zh-CN" altLang="en-US" dirty="0"/>
              <a:t>频率的</a:t>
            </a:r>
            <a:r>
              <a:rPr lang="zh-CN" altLang="en-US" dirty="0" smtClean="0"/>
              <a:t>简谐振动</a:t>
            </a:r>
            <a:endParaRPr lang="zh-CN" altLang="en-US" dirty="0"/>
          </a:p>
        </p:txBody>
      </p:sp>
      <p:graphicFrame>
        <p:nvGraphicFramePr>
          <p:cNvPr id="1167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681190"/>
              </p:ext>
            </p:extLst>
          </p:nvPr>
        </p:nvGraphicFramePr>
        <p:xfrm>
          <a:off x="836613" y="2954366"/>
          <a:ext cx="34655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Equation" r:id="rId3" imgW="1473120" imgH="253800" progId="Equation.3">
                  <p:embed/>
                </p:oleObj>
              </mc:Choice>
              <mc:Fallback>
                <p:oleObj name="Equation" r:id="rId3" imgW="14731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2954366"/>
                        <a:ext cx="346551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1" name="Object 25"/>
          <p:cNvGraphicFramePr>
            <a:graphicFrameLocks noChangeAspect="1"/>
          </p:cNvGraphicFramePr>
          <p:nvPr/>
        </p:nvGraphicFramePr>
        <p:xfrm>
          <a:off x="814388" y="3549650"/>
          <a:ext cx="35131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0" name="Equation" r:id="rId5" imgW="1523880" imgH="253800" progId="Equation.3">
                  <p:embed/>
                </p:oleObj>
              </mc:Choice>
              <mc:Fallback>
                <p:oleObj name="Equation" r:id="rId5" imgW="1523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3549650"/>
                        <a:ext cx="3513137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Rectangle 30"/>
          <p:cNvSpPr>
            <a:spLocks noChangeArrowheads="1"/>
          </p:cNvSpPr>
          <p:nvPr/>
        </p:nvSpPr>
        <p:spPr bwMode="auto">
          <a:xfrm>
            <a:off x="1601788" y="368300"/>
            <a:ext cx="56245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dirty="0" smtClean="0"/>
              <a:t>§10.3   </a:t>
            </a:r>
            <a:r>
              <a:rPr kumimoji="0" lang="zh-CN" altLang="en-US" sz="3200" dirty="0"/>
              <a:t>简谐运动的合成</a:t>
            </a: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5556250" y="3667125"/>
            <a:ext cx="2289175" cy="1066800"/>
            <a:chOff x="3629" y="2608"/>
            <a:chExt cx="1442" cy="672"/>
          </a:xfrm>
        </p:grpSpPr>
        <p:sp>
          <p:nvSpPr>
            <p:cNvPr id="14382" name="Line 37"/>
            <p:cNvSpPr>
              <a:spLocks noChangeShapeType="1"/>
            </p:cNvSpPr>
            <p:nvPr/>
          </p:nvSpPr>
          <p:spPr bwMode="auto">
            <a:xfrm flipV="1">
              <a:off x="3629" y="2608"/>
              <a:ext cx="1091" cy="384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Arc 38"/>
            <p:cNvSpPr>
              <a:spLocks/>
            </p:cNvSpPr>
            <p:nvPr/>
          </p:nvSpPr>
          <p:spPr bwMode="auto">
            <a:xfrm>
              <a:off x="4013" y="2848"/>
              <a:ext cx="44" cy="144"/>
            </a:xfrm>
            <a:custGeom>
              <a:avLst/>
              <a:gdLst>
                <a:gd name="T0" fmla="*/ 0 w 21600"/>
                <a:gd name="T1" fmla="*/ 0 h 21600"/>
                <a:gd name="T2" fmla="*/ 44 w 21600"/>
                <a:gd name="T3" fmla="*/ 144 h 21600"/>
                <a:gd name="T4" fmla="*/ 0 w 21600"/>
                <a:gd name="T5" fmla="*/ 144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2" name="Object 39"/>
            <p:cNvGraphicFramePr>
              <a:graphicFrameLocks noChangeAspect="1"/>
            </p:cNvGraphicFramePr>
            <p:nvPr/>
          </p:nvGraphicFramePr>
          <p:xfrm>
            <a:off x="4157" y="2704"/>
            <a:ext cx="20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1" name="公式" r:id="rId7" imgW="241200" imgH="317160" progId="Equation.3">
                    <p:embed/>
                  </p:oleObj>
                </mc:Choice>
                <mc:Fallback>
                  <p:oleObj name="公式" r:id="rId7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7" y="2704"/>
                          <a:ext cx="209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40"/>
            <p:cNvGraphicFramePr>
              <a:graphicFrameLocks noChangeAspect="1"/>
            </p:cNvGraphicFramePr>
            <p:nvPr/>
          </p:nvGraphicFramePr>
          <p:xfrm>
            <a:off x="4782" y="2656"/>
            <a:ext cx="28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2" name="公式" r:id="rId9" imgW="241200" imgH="330120" progId="Equation.3">
                    <p:embed/>
                  </p:oleObj>
                </mc:Choice>
                <mc:Fallback>
                  <p:oleObj name="公式" r:id="rId9" imgW="2412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2" y="2656"/>
                          <a:ext cx="28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4" name="Line 41"/>
            <p:cNvSpPr>
              <a:spLocks noChangeShapeType="1"/>
            </p:cNvSpPr>
            <p:nvPr/>
          </p:nvSpPr>
          <p:spPr bwMode="auto">
            <a:xfrm>
              <a:off x="4720" y="2608"/>
              <a:ext cx="0" cy="384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4" name="Object 42"/>
            <p:cNvGraphicFramePr>
              <a:graphicFrameLocks noChangeAspect="1"/>
            </p:cNvGraphicFramePr>
            <p:nvPr/>
          </p:nvGraphicFramePr>
          <p:xfrm>
            <a:off x="4575" y="2944"/>
            <a:ext cx="25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3" name="公式" r:id="rId11" imgW="215640" imgH="317160" progId="Equation.3">
                    <p:embed/>
                  </p:oleObj>
                </mc:Choice>
                <mc:Fallback>
                  <p:oleObj name="公式" r:id="rId11" imgW="21564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" y="2944"/>
                          <a:ext cx="25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5311775" y="4230688"/>
            <a:ext cx="3086100" cy="465137"/>
            <a:chOff x="3475" y="2963"/>
            <a:chExt cx="1944" cy="293"/>
          </a:xfrm>
        </p:grpSpPr>
        <p:sp>
          <p:nvSpPr>
            <p:cNvPr id="14381" name="Line 43"/>
            <p:cNvSpPr>
              <a:spLocks noChangeShapeType="1"/>
            </p:cNvSpPr>
            <p:nvPr/>
          </p:nvSpPr>
          <p:spPr bwMode="auto">
            <a:xfrm>
              <a:off x="3629" y="2992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0" name="Object 44"/>
            <p:cNvGraphicFramePr>
              <a:graphicFrameLocks noChangeAspect="1"/>
            </p:cNvGraphicFramePr>
            <p:nvPr/>
          </p:nvGraphicFramePr>
          <p:xfrm>
            <a:off x="5213" y="3016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4" name="公式" r:id="rId13" imgW="177480" imgH="190440" progId="Equation.3">
                    <p:embed/>
                  </p:oleObj>
                </mc:Choice>
                <mc:Fallback>
                  <p:oleObj name="公式" r:id="rId13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3" y="3016"/>
                          <a:ext cx="20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1" name="Object 45"/>
            <p:cNvGraphicFramePr>
              <a:graphicFrameLocks noChangeAspect="1"/>
            </p:cNvGraphicFramePr>
            <p:nvPr/>
          </p:nvGraphicFramePr>
          <p:xfrm>
            <a:off x="3475" y="2963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5" name="Equation" r:id="rId15" imgW="177480" imgH="203040" progId="Equation.3">
                    <p:embed/>
                  </p:oleObj>
                </mc:Choice>
                <mc:Fallback>
                  <p:oleObj name="Equation" r:id="rId15" imgW="177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5" y="2963"/>
                          <a:ext cx="167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5630863" y="1989138"/>
            <a:ext cx="2738437" cy="2241550"/>
            <a:chOff x="3672" y="1152"/>
            <a:chExt cx="1725" cy="1412"/>
          </a:xfrm>
        </p:grpSpPr>
        <p:grpSp>
          <p:nvGrpSpPr>
            <p:cNvPr id="14376" name="Group 47"/>
            <p:cNvGrpSpPr>
              <a:grpSpLocks/>
            </p:cNvGrpSpPr>
            <p:nvPr/>
          </p:nvGrpSpPr>
          <p:grpSpPr bwMode="auto">
            <a:xfrm>
              <a:off x="4800" y="1152"/>
              <a:ext cx="467" cy="265"/>
              <a:chOff x="4560" y="955"/>
              <a:chExt cx="576" cy="293"/>
            </a:xfrm>
          </p:grpSpPr>
          <p:sp>
            <p:nvSpPr>
              <p:cNvPr id="14380" name="Arc 48"/>
              <p:cNvSpPr>
                <a:spLocks/>
              </p:cNvSpPr>
              <p:nvPr/>
            </p:nvSpPr>
            <p:spPr bwMode="auto">
              <a:xfrm rot="584142">
                <a:off x="4704" y="985"/>
                <a:ext cx="432" cy="263"/>
              </a:xfrm>
              <a:custGeom>
                <a:avLst/>
                <a:gdLst>
                  <a:gd name="T0" fmla="*/ 142 w 20899"/>
                  <a:gd name="T1" fmla="*/ 0 h 20486"/>
                  <a:gd name="T2" fmla="*/ 432 w 20899"/>
                  <a:gd name="T3" fmla="*/ 193 h 20486"/>
                  <a:gd name="T4" fmla="*/ 0 w 20899"/>
                  <a:gd name="T5" fmla="*/ 263 h 20486"/>
                  <a:gd name="T6" fmla="*/ 0 60000 65536"/>
                  <a:gd name="T7" fmla="*/ 0 60000 65536"/>
                  <a:gd name="T8" fmla="*/ 0 60000 65536"/>
                  <a:gd name="T9" fmla="*/ 0 w 20899"/>
                  <a:gd name="T10" fmla="*/ 0 h 20486"/>
                  <a:gd name="T11" fmla="*/ 20899 w 20899"/>
                  <a:gd name="T12" fmla="*/ 20486 h 204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899" h="20486" fill="none" extrusionOk="0">
                    <a:moveTo>
                      <a:pt x="6847" y="0"/>
                    </a:moveTo>
                    <a:cubicBezTo>
                      <a:pt x="13770" y="2314"/>
                      <a:pt x="19055" y="7967"/>
                      <a:pt x="20899" y="15029"/>
                    </a:cubicBezTo>
                  </a:path>
                  <a:path w="20899" h="20486" stroke="0" extrusionOk="0">
                    <a:moveTo>
                      <a:pt x="6847" y="0"/>
                    </a:moveTo>
                    <a:cubicBezTo>
                      <a:pt x="13770" y="2314"/>
                      <a:pt x="19055" y="7967"/>
                      <a:pt x="20899" y="15029"/>
                    </a:cubicBezTo>
                    <a:lnTo>
                      <a:pt x="0" y="20486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349" name="Object 49"/>
              <p:cNvGraphicFramePr>
                <a:graphicFrameLocks noChangeAspect="1"/>
              </p:cNvGraphicFramePr>
              <p:nvPr/>
            </p:nvGraphicFramePr>
            <p:xfrm>
              <a:off x="4560" y="955"/>
              <a:ext cx="277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76" name="公式" r:id="rId17" imgW="215640" imgH="190440" progId="Equation.3">
                      <p:embed/>
                    </p:oleObj>
                  </mc:Choice>
                  <mc:Fallback>
                    <p:oleObj name="公式" r:id="rId17" imgW="215640" imgH="1904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955"/>
                            <a:ext cx="277" cy="2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77" name="Line 50"/>
            <p:cNvSpPr>
              <a:spLocks noChangeShapeType="1"/>
            </p:cNvSpPr>
            <p:nvPr/>
          </p:nvSpPr>
          <p:spPr bwMode="auto">
            <a:xfrm flipV="1">
              <a:off x="4734" y="1440"/>
              <a:ext cx="402" cy="76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8" name="Line 51"/>
            <p:cNvSpPr>
              <a:spLocks noChangeShapeType="1"/>
            </p:cNvSpPr>
            <p:nvPr/>
          </p:nvSpPr>
          <p:spPr bwMode="auto">
            <a:xfrm flipV="1">
              <a:off x="3672" y="1440"/>
              <a:ext cx="1464" cy="11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9" name="Line 52"/>
            <p:cNvSpPr>
              <a:spLocks noChangeShapeType="1"/>
            </p:cNvSpPr>
            <p:nvPr/>
          </p:nvSpPr>
          <p:spPr bwMode="auto">
            <a:xfrm flipV="1">
              <a:off x="4141" y="1440"/>
              <a:ext cx="995" cy="399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8" name="Object 53"/>
            <p:cNvGraphicFramePr>
              <a:graphicFrameLocks noChangeAspect="1"/>
            </p:cNvGraphicFramePr>
            <p:nvPr/>
          </p:nvGraphicFramePr>
          <p:xfrm>
            <a:off x="5184" y="1440"/>
            <a:ext cx="21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7" name="公式" r:id="rId19" imgW="215640" imgH="266400" progId="Equation.3">
                    <p:embed/>
                  </p:oleObj>
                </mc:Choice>
                <mc:Fallback>
                  <p:oleObj name="公式" r:id="rId19" imgW="21564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440"/>
                          <a:ext cx="213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6726238" y="3346450"/>
            <a:ext cx="485775" cy="914400"/>
            <a:chOff x="4368" y="1968"/>
            <a:chExt cx="306" cy="576"/>
          </a:xfrm>
        </p:grpSpPr>
        <p:sp>
          <p:nvSpPr>
            <p:cNvPr id="14375" name="Freeform 55"/>
            <p:cNvSpPr>
              <a:spLocks/>
            </p:cNvSpPr>
            <p:nvPr/>
          </p:nvSpPr>
          <p:spPr bwMode="auto">
            <a:xfrm>
              <a:off x="4368" y="2002"/>
              <a:ext cx="96" cy="542"/>
            </a:xfrm>
            <a:custGeom>
              <a:avLst/>
              <a:gdLst>
                <a:gd name="T0" fmla="*/ 0 w 152"/>
                <a:gd name="T1" fmla="*/ 0 h 432"/>
                <a:gd name="T2" fmla="*/ 128 w 152"/>
                <a:gd name="T3" fmla="*/ 208 h 432"/>
                <a:gd name="T4" fmla="*/ 144 w 152"/>
                <a:gd name="T5" fmla="*/ 432 h 432"/>
                <a:gd name="T6" fmla="*/ 0 60000 65536"/>
                <a:gd name="T7" fmla="*/ 0 60000 65536"/>
                <a:gd name="T8" fmla="*/ 0 60000 65536"/>
                <a:gd name="T9" fmla="*/ 0 w 152"/>
                <a:gd name="T10" fmla="*/ 0 h 432"/>
                <a:gd name="T11" fmla="*/ 152 w 152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432">
                  <a:moveTo>
                    <a:pt x="0" y="0"/>
                  </a:moveTo>
                  <a:cubicBezTo>
                    <a:pt x="21" y="35"/>
                    <a:pt x="104" y="136"/>
                    <a:pt x="128" y="208"/>
                  </a:cubicBezTo>
                  <a:cubicBezTo>
                    <a:pt x="152" y="280"/>
                    <a:pt x="141" y="385"/>
                    <a:pt x="144" y="432"/>
                  </a:cubicBez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7" name="Object 56"/>
            <p:cNvGraphicFramePr>
              <a:graphicFrameLocks noChangeAspect="1"/>
            </p:cNvGraphicFramePr>
            <p:nvPr/>
          </p:nvGraphicFramePr>
          <p:xfrm>
            <a:off x="4464" y="1968"/>
            <a:ext cx="21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8" name="公式" r:id="rId21" imgW="203040" imgH="241200" progId="Equation.3">
                    <p:embed/>
                  </p:oleObj>
                </mc:Choice>
                <mc:Fallback>
                  <p:oleObj name="公式" r:id="rId21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968"/>
                          <a:ext cx="210" cy="2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7321550" y="2446338"/>
            <a:ext cx="749300" cy="2209800"/>
            <a:chOff x="4560" y="1248"/>
            <a:chExt cx="664" cy="1488"/>
          </a:xfrm>
        </p:grpSpPr>
        <p:graphicFrame>
          <p:nvGraphicFramePr>
            <p:cNvPr id="14346" name="Object 58"/>
            <p:cNvGraphicFramePr>
              <a:graphicFrameLocks noChangeAspect="1"/>
            </p:cNvGraphicFramePr>
            <p:nvPr/>
          </p:nvGraphicFramePr>
          <p:xfrm>
            <a:off x="4958" y="2448"/>
            <a:ext cx="2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9" name="公式" r:id="rId23" imgW="177480" imgH="190440" progId="Equation.3">
                    <p:embed/>
                  </p:oleObj>
                </mc:Choice>
                <mc:Fallback>
                  <p:oleObj name="公式" r:id="rId23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8" y="2448"/>
                          <a:ext cx="26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3" name="Line 59"/>
            <p:cNvSpPr>
              <a:spLocks noChangeShapeType="1"/>
            </p:cNvSpPr>
            <p:nvPr/>
          </p:nvSpPr>
          <p:spPr bwMode="auto">
            <a:xfrm>
              <a:off x="5088" y="1248"/>
              <a:ext cx="0" cy="12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60"/>
            <p:cNvSpPr>
              <a:spLocks noChangeShapeType="1"/>
            </p:cNvSpPr>
            <p:nvPr/>
          </p:nvSpPr>
          <p:spPr bwMode="auto">
            <a:xfrm>
              <a:off x="4560" y="2064"/>
              <a:ext cx="528" cy="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2"/>
          <p:cNvGrpSpPr>
            <a:grpSpLocks/>
          </p:cNvGrpSpPr>
          <p:nvPr/>
        </p:nvGrpSpPr>
        <p:grpSpPr bwMode="auto">
          <a:xfrm>
            <a:off x="5402263" y="2844800"/>
            <a:ext cx="1173162" cy="1911350"/>
            <a:chOff x="3532" y="2090"/>
            <a:chExt cx="739" cy="1204"/>
          </a:xfrm>
        </p:grpSpPr>
        <p:graphicFrame>
          <p:nvGraphicFramePr>
            <p:cNvPr id="14343" name="Object 63"/>
            <p:cNvGraphicFramePr>
              <a:graphicFrameLocks noChangeAspect="1"/>
            </p:cNvGraphicFramePr>
            <p:nvPr/>
          </p:nvGraphicFramePr>
          <p:xfrm>
            <a:off x="3958" y="2958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0" name="公式" r:id="rId25" imgW="253800" imgH="317160" progId="Equation.3">
                    <p:embed/>
                  </p:oleObj>
                </mc:Choice>
                <mc:Fallback>
                  <p:oleObj name="公式" r:id="rId25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8" y="2958"/>
                          <a:ext cx="31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64"/>
            <p:cNvSpPr>
              <a:spLocks noChangeShapeType="1"/>
            </p:cNvSpPr>
            <p:nvPr/>
          </p:nvSpPr>
          <p:spPr bwMode="auto">
            <a:xfrm>
              <a:off x="4108" y="2270"/>
              <a:ext cx="7" cy="69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Line 65"/>
            <p:cNvSpPr>
              <a:spLocks noChangeShapeType="1"/>
            </p:cNvSpPr>
            <p:nvPr/>
          </p:nvSpPr>
          <p:spPr bwMode="auto">
            <a:xfrm flipV="1">
              <a:off x="3628" y="2226"/>
              <a:ext cx="504" cy="7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4" name="Object 66"/>
            <p:cNvGraphicFramePr>
              <a:graphicFrameLocks noChangeAspect="1"/>
            </p:cNvGraphicFramePr>
            <p:nvPr/>
          </p:nvGraphicFramePr>
          <p:xfrm>
            <a:off x="3676" y="2090"/>
            <a:ext cx="35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1" name="公式" r:id="rId27" imgW="266400" imgH="330120" progId="Equation.3">
                    <p:embed/>
                  </p:oleObj>
                </mc:Choice>
                <mc:Fallback>
                  <p:oleObj name="公式" r:id="rId27" imgW="26640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6" y="2090"/>
                          <a:ext cx="352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67"/>
            <p:cNvGraphicFramePr>
              <a:graphicFrameLocks noChangeAspect="1"/>
            </p:cNvGraphicFramePr>
            <p:nvPr/>
          </p:nvGraphicFramePr>
          <p:xfrm>
            <a:off x="3532" y="2337"/>
            <a:ext cx="24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2" name="公式" r:id="rId29" imgW="266400" imgH="317160" progId="Equation.3">
                    <p:embed/>
                  </p:oleObj>
                </mc:Choice>
                <mc:Fallback>
                  <p:oleObj name="公式" r:id="rId29" imgW="2664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2337"/>
                          <a:ext cx="241" cy="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1" name="Arc 68"/>
            <p:cNvSpPr>
              <a:spLocks/>
            </p:cNvSpPr>
            <p:nvPr/>
          </p:nvSpPr>
          <p:spPr bwMode="auto">
            <a:xfrm>
              <a:off x="3772" y="2764"/>
              <a:ext cx="144" cy="250"/>
            </a:xfrm>
            <a:custGeom>
              <a:avLst/>
              <a:gdLst>
                <a:gd name="T0" fmla="*/ 16 w 21600"/>
                <a:gd name="T1" fmla="*/ 0 h 35228"/>
                <a:gd name="T2" fmla="*/ 111 w 21600"/>
                <a:gd name="T3" fmla="*/ 250 h 35228"/>
                <a:gd name="T4" fmla="*/ 0 w 21600"/>
                <a:gd name="T5" fmla="*/ 152 h 352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5228"/>
                <a:gd name="T11" fmla="*/ 21600 w 21600"/>
                <a:gd name="T12" fmla="*/ 35228 h 35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5228" fill="none" extrusionOk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</a:path>
                <a:path w="21600" h="35228" stroke="0" extrusionOk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  <a:lnTo>
                    <a:pt x="0" y="21468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Arc 69"/>
            <p:cNvSpPr>
              <a:spLocks/>
            </p:cNvSpPr>
            <p:nvPr/>
          </p:nvSpPr>
          <p:spPr bwMode="auto">
            <a:xfrm>
              <a:off x="3772" y="2516"/>
              <a:ext cx="144" cy="250"/>
            </a:xfrm>
            <a:custGeom>
              <a:avLst/>
              <a:gdLst>
                <a:gd name="T0" fmla="*/ 16 w 21600"/>
                <a:gd name="T1" fmla="*/ 0 h 35228"/>
                <a:gd name="T2" fmla="*/ 111 w 21600"/>
                <a:gd name="T3" fmla="*/ 250 h 35228"/>
                <a:gd name="T4" fmla="*/ 0 w 21600"/>
                <a:gd name="T5" fmla="*/ 152 h 352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5228"/>
                <a:gd name="T11" fmla="*/ 21600 w 21600"/>
                <a:gd name="T12" fmla="*/ 35228 h 35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5228" fill="none" extrusionOk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</a:path>
                <a:path w="21600" h="35228" stroke="0" extrusionOk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  <a:lnTo>
                    <a:pt x="0" y="21468"/>
                  </a:lnTo>
                  <a:close/>
                </a:path>
              </a:pathLst>
            </a:custGeom>
            <a:noFill/>
            <a:ln w="12700">
              <a:solidFill>
                <a:srgbClr val="800000"/>
              </a:solidFill>
              <a:round/>
              <a:headEnd type="none" w="sm" len="lg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84"/>
          <p:cNvGrpSpPr>
            <a:grpSpLocks/>
          </p:cNvGrpSpPr>
          <p:nvPr/>
        </p:nvGrpSpPr>
        <p:grpSpPr bwMode="auto">
          <a:xfrm>
            <a:off x="1152525" y="5714206"/>
            <a:ext cx="5048251" cy="668337"/>
            <a:chOff x="544" y="2443"/>
            <a:chExt cx="3180" cy="421"/>
          </a:xfrm>
        </p:grpSpPr>
        <p:sp>
          <p:nvSpPr>
            <p:cNvPr id="14368" name="Rectangle 85"/>
            <p:cNvSpPr>
              <a:spLocks noChangeArrowheads="1"/>
            </p:cNvSpPr>
            <p:nvPr/>
          </p:nvSpPr>
          <p:spPr bwMode="auto">
            <a:xfrm>
              <a:off x="544" y="2443"/>
              <a:ext cx="1967" cy="4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35000"/>
                </a:lnSpc>
                <a:spcBef>
                  <a:spcPct val="50000"/>
                </a:spcBef>
              </a:pPr>
              <a:r>
                <a:rPr lang="zh-CN" altLang="en-US"/>
                <a:t>相位差</a:t>
              </a:r>
            </a:p>
          </p:txBody>
        </p:sp>
        <p:graphicFrame>
          <p:nvGraphicFramePr>
            <p:cNvPr id="14342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033038"/>
                </p:ext>
              </p:extLst>
            </p:nvPr>
          </p:nvGraphicFramePr>
          <p:xfrm>
            <a:off x="1964" y="2574"/>
            <a:ext cx="176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3" name="公式" r:id="rId31" imgW="1307880" imgH="215640" progId="Equation.3">
                    <p:embed/>
                  </p:oleObj>
                </mc:Choice>
                <mc:Fallback>
                  <p:oleObj name="公式" r:id="rId31" imgW="1307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2574"/>
                          <a:ext cx="1760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87"/>
          <p:cNvGrpSpPr>
            <a:grpSpLocks/>
          </p:cNvGrpSpPr>
          <p:nvPr/>
        </p:nvGrpSpPr>
        <p:grpSpPr bwMode="auto">
          <a:xfrm>
            <a:off x="591344" y="4210050"/>
            <a:ext cx="3870325" cy="715963"/>
            <a:chOff x="499" y="3070"/>
            <a:chExt cx="2438" cy="451"/>
          </a:xfrm>
        </p:grpSpPr>
        <p:graphicFrame>
          <p:nvGraphicFramePr>
            <p:cNvPr id="14341" name="Object 88"/>
            <p:cNvGraphicFramePr>
              <a:graphicFrameLocks noChangeAspect="1"/>
            </p:cNvGraphicFramePr>
            <p:nvPr/>
          </p:nvGraphicFramePr>
          <p:xfrm>
            <a:off x="1321" y="3070"/>
            <a:ext cx="1616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4" name="公式" r:id="rId33" imgW="723600" imgH="215640" progId="Equation.3">
                    <p:embed/>
                  </p:oleObj>
                </mc:Choice>
                <mc:Fallback>
                  <p:oleObj name="公式" r:id="rId33" imgW="723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1" y="3070"/>
                          <a:ext cx="1616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CF7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Text Box 89"/>
            <p:cNvSpPr txBox="1">
              <a:spLocks noChangeArrowheads="1"/>
            </p:cNvSpPr>
            <p:nvPr/>
          </p:nvSpPr>
          <p:spPr bwMode="auto">
            <a:xfrm>
              <a:off x="499" y="3124"/>
              <a:ext cx="7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/>
                <a:t>合运动</a:t>
              </a:r>
            </a:p>
          </p:txBody>
        </p:sp>
      </p:grpSp>
      <p:graphicFrame>
        <p:nvGraphicFramePr>
          <p:cNvPr id="116826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414911"/>
              </p:ext>
            </p:extLst>
          </p:nvPr>
        </p:nvGraphicFramePr>
        <p:xfrm>
          <a:off x="2366963" y="5005386"/>
          <a:ext cx="36449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公式" r:id="rId35" imgW="1002960" imgH="203040" progId="Equation.3">
                  <p:embed/>
                </p:oleObj>
              </mc:Choice>
              <mc:Fallback>
                <p:oleObj name="公式" r:id="rId35" imgW="1002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5005386"/>
                        <a:ext cx="36449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CF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71331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23E25B-C710-4DB4-81B6-B31673F1E80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5124450" y="458788"/>
            <a:ext cx="3943350" cy="18651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 dirty="0">
                <a:latin typeface="宋体" pitchFamily="2" charset="-122"/>
              </a:rPr>
              <a:t>两个</a:t>
            </a:r>
            <a:r>
              <a:rPr kumimoji="0" lang="zh-CN" altLang="en-US" dirty="0">
                <a:solidFill>
                  <a:srgbClr val="CC0000"/>
                </a:solidFill>
                <a:latin typeface="宋体" pitchFamily="2" charset="-122"/>
              </a:rPr>
              <a:t>同</a:t>
            </a:r>
            <a:r>
              <a:rPr kumimoji="0" lang="zh-CN" altLang="en-US" dirty="0">
                <a:latin typeface="宋体" pitchFamily="2" charset="-122"/>
              </a:rPr>
              <a:t>方向</a:t>
            </a:r>
            <a:r>
              <a:rPr kumimoji="0" lang="zh-CN" altLang="en-US" dirty="0">
                <a:solidFill>
                  <a:srgbClr val="CC0000"/>
                </a:solidFill>
                <a:latin typeface="宋体" pitchFamily="2" charset="-122"/>
              </a:rPr>
              <a:t>同</a:t>
            </a:r>
            <a:r>
              <a:rPr kumimoji="0" lang="zh-CN" altLang="en-US" dirty="0">
                <a:latin typeface="宋体" pitchFamily="2" charset="-122"/>
              </a:rPr>
              <a:t>频率简谐运动</a:t>
            </a:r>
            <a:r>
              <a:rPr kumimoji="0" lang="zh-CN" altLang="en-US" dirty="0">
                <a:solidFill>
                  <a:srgbClr val="CC0000"/>
                </a:solidFill>
                <a:latin typeface="宋体" pitchFamily="2" charset="-122"/>
              </a:rPr>
              <a:t>合成</a:t>
            </a:r>
            <a:r>
              <a:rPr kumimoji="0" lang="zh-CN" altLang="en-US" dirty="0">
                <a:latin typeface="宋体" pitchFamily="2" charset="-122"/>
              </a:rPr>
              <a:t>后仍为</a:t>
            </a:r>
            <a:r>
              <a:rPr kumimoji="0" lang="zh-CN" altLang="en-US" dirty="0">
                <a:solidFill>
                  <a:srgbClr val="CC0000"/>
                </a:solidFill>
                <a:latin typeface="宋体" pitchFamily="2" charset="-122"/>
              </a:rPr>
              <a:t>同</a:t>
            </a:r>
            <a:r>
              <a:rPr kumimoji="0" lang="zh-CN" altLang="en-US" dirty="0">
                <a:latin typeface="宋体" pitchFamily="2" charset="-122"/>
              </a:rPr>
              <a:t>频率的</a:t>
            </a:r>
            <a:r>
              <a:rPr kumimoji="0" lang="zh-CN" altLang="en-US" dirty="0">
                <a:solidFill>
                  <a:srgbClr val="CC0000"/>
                </a:solidFill>
                <a:latin typeface="宋体" pitchFamily="2" charset="-122"/>
              </a:rPr>
              <a:t>简谐</a:t>
            </a:r>
            <a:r>
              <a:rPr kumimoji="0" lang="zh-CN" altLang="en-US" dirty="0">
                <a:latin typeface="宋体" pitchFamily="2" charset="-122"/>
              </a:rPr>
              <a:t>运动</a:t>
            </a:r>
            <a:endParaRPr kumimoji="0" lang="zh-CN" altLang="zh-CN" dirty="0">
              <a:latin typeface="宋体" pitchFamily="2" charset="-122"/>
            </a:endParaRPr>
          </a:p>
        </p:txBody>
      </p: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554038" y="549275"/>
          <a:ext cx="4648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公式" r:id="rId3" imgW="2234880" imgH="279360" progId="Equation.3">
                  <p:embed/>
                </p:oleObj>
              </mc:Choice>
              <mc:Fallback>
                <p:oleObj name="公式" r:id="rId3" imgW="2234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549275"/>
                        <a:ext cx="464820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AutoShape 5"/>
          <p:cNvSpPr>
            <a:spLocks/>
          </p:cNvSpPr>
          <p:nvPr/>
        </p:nvSpPr>
        <p:spPr bwMode="auto">
          <a:xfrm>
            <a:off x="417513" y="855663"/>
            <a:ext cx="212725" cy="1006475"/>
          </a:xfrm>
          <a:prstGeom prst="leftBrace">
            <a:avLst>
              <a:gd name="adj1" fmla="val 3942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7800" name="Object 40"/>
          <p:cNvGraphicFramePr>
            <a:graphicFrameLocks noChangeAspect="1"/>
          </p:cNvGraphicFramePr>
          <p:nvPr/>
        </p:nvGraphicFramePr>
        <p:xfrm>
          <a:off x="598488" y="1276350"/>
          <a:ext cx="40957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4" name="公式" r:id="rId5" imgW="1765080" imgH="444240" progId="Equation.3">
                  <p:embed/>
                </p:oleObj>
              </mc:Choice>
              <mc:Fallback>
                <p:oleObj name="公式" r:id="rId5" imgW="1765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1276350"/>
                        <a:ext cx="4095750" cy="938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55" name="Object 95"/>
          <p:cNvGraphicFramePr>
            <a:graphicFrameLocks noChangeAspect="1"/>
          </p:cNvGraphicFramePr>
          <p:nvPr/>
        </p:nvGraphicFramePr>
        <p:xfrm>
          <a:off x="1284288" y="3895725"/>
          <a:ext cx="53324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5" name="公式" r:id="rId7" imgW="1904760" imgH="215640" progId="Equation.3">
                  <p:embed/>
                </p:oleObj>
              </mc:Choice>
              <mc:Fallback>
                <p:oleObj name="公式" r:id="rId7" imgW="1904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3895725"/>
                        <a:ext cx="5332412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56" name="Object 96"/>
          <p:cNvGraphicFramePr>
            <a:graphicFrameLocks noChangeAspect="1"/>
          </p:cNvGraphicFramePr>
          <p:nvPr/>
        </p:nvGraphicFramePr>
        <p:xfrm>
          <a:off x="3613150" y="4518025"/>
          <a:ext cx="51895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公式" r:id="rId9" imgW="1854000" imgH="215640" progId="Equation.3">
                  <p:embed/>
                </p:oleObj>
              </mc:Choice>
              <mc:Fallback>
                <p:oleObj name="公式" r:id="rId9" imgW="1854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4518025"/>
                        <a:ext cx="5189538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57" name="Object 97"/>
          <p:cNvGraphicFramePr>
            <a:graphicFrameLocks noChangeAspect="1"/>
          </p:cNvGraphicFramePr>
          <p:nvPr/>
        </p:nvGraphicFramePr>
        <p:xfrm>
          <a:off x="1284288" y="5184775"/>
          <a:ext cx="57943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7" name="公式" r:id="rId11" imgW="2070000" imgH="203040" progId="Equation.3">
                  <p:embed/>
                </p:oleObj>
              </mc:Choice>
              <mc:Fallback>
                <p:oleObj name="公式" r:id="rId11" imgW="2070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5184775"/>
                        <a:ext cx="579437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58" name="Object 98"/>
          <p:cNvGraphicFramePr>
            <a:graphicFrameLocks noChangeAspect="1"/>
          </p:cNvGraphicFramePr>
          <p:nvPr/>
        </p:nvGraphicFramePr>
        <p:xfrm>
          <a:off x="565150" y="3216275"/>
          <a:ext cx="30988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8" name="公式" r:id="rId13" imgW="1231560" imgH="215640" progId="Equation.3">
                  <p:embed/>
                </p:oleObj>
              </mc:Choice>
              <mc:Fallback>
                <p:oleObj name="公式" r:id="rId13" imgW="1231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3216275"/>
                        <a:ext cx="309880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2"/>
          <p:cNvGrpSpPr>
            <a:grpSpLocks/>
          </p:cNvGrpSpPr>
          <p:nvPr/>
        </p:nvGrpSpPr>
        <p:grpSpPr bwMode="auto">
          <a:xfrm>
            <a:off x="69850" y="2528888"/>
            <a:ext cx="4276725" cy="585787"/>
            <a:chOff x="187" y="1706"/>
            <a:chExt cx="2694" cy="369"/>
          </a:xfrm>
        </p:grpSpPr>
        <p:sp>
          <p:nvSpPr>
            <p:cNvPr id="15373" name="Text Box 99"/>
            <p:cNvSpPr txBox="1">
              <a:spLocks noChangeArrowheads="1"/>
            </p:cNvSpPr>
            <p:nvPr/>
          </p:nvSpPr>
          <p:spPr bwMode="auto">
            <a:xfrm>
              <a:off x="187" y="1748"/>
              <a:ext cx="269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/>
                <a:t>另一种方法</a:t>
              </a:r>
            </a:p>
          </p:txBody>
        </p:sp>
        <p:sp>
          <p:nvSpPr>
            <p:cNvPr id="15374" name="AutoShape 100"/>
            <p:cNvSpPr>
              <a:spLocks noChangeArrowheads="1"/>
            </p:cNvSpPr>
            <p:nvPr/>
          </p:nvSpPr>
          <p:spPr bwMode="auto">
            <a:xfrm>
              <a:off x="594" y="1706"/>
              <a:ext cx="2003" cy="369"/>
            </a:xfrm>
            <a:prstGeom prst="ribbon">
              <a:avLst>
                <a:gd name="adj1" fmla="val 16801"/>
                <a:gd name="adj2" fmla="val 71472"/>
              </a:avLst>
            </a:prstGeom>
            <a:solidFill>
              <a:srgbClr val="FF99CC">
                <a:alpha val="16862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17863" name="Object 103"/>
          <p:cNvGraphicFramePr>
            <a:graphicFrameLocks noChangeAspect="1"/>
          </p:cNvGraphicFramePr>
          <p:nvPr/>
        </p:nvGraphicFramePr>
        <p:xfrm>
          <a:off x="1284288" y="5768975"/>
          <a:ext cx="27749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公式" r:id="rId15" imgW="990360" imgH="215640" progId="Equation.3">
                  <p:embed/>
                </p:oleObj>
              </mc:Choice>
              <mc:Fallback>
                <p:oleObj name="公式" r:id="rId15" imgW="990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5768975"/>
                        <a:ext cx="27749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842229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3093E1-1F71-4ED8-B387-3B8325FFF25A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6403" name="Line 3"/>
          <p:cNvSpPr>
            <a:spLocks noChangeShapeType="1"/>
          </p:cNvSpPr>
          <p:nvPr/>
        </p:nvSpPr>
        <p:spPr bwMode="auto">
          <a:xfrm>
            <a:off x="950913" y="30734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4" name="Line 4"/>
          <p:cNvSpPr>
            <a:spLocks noChangeShapeType="1"/>
          </p:cNvSpPr>
          <p:nvPr/>
        </p:nvSpPr>
        <p:spPr bwMode="auto">
          <a:xfrm>
            <a:off x="4113213" y="307340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5" name="Line 5"/>
          <p:cNvSpPr>
            <a:spLocks noChangeShapeType="1"/>
          </p:cNvSpPr>
          <p:nvPr/>
        </p:nvSpPr>
        <p:spPr bwMode="auto">
          <a:xfrm flipV="1">
            <a:off x="2351088" y="1423988"/>
            <a:ext cx="3175" cy="3060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/>
        </p:nvGraphicFramePr>
        <p:xfrm>
          <a:off x="7699375" y="3035300"/>
          <a:ext cx="3000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4" name="公式" r:id="rId3" imgW="114120" imgH="215640" progId="Equation.3">
                  <p:embed/>
                </p:oleObj>
              </mc:Choice>
              <mc:Fallback>
                <p:oleObj name="公式" r:id="rId3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75" y="3035300"/>
                        <a:ext cx="30003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7"/>
          <p:cNvGraphicFramePr>
            <a:graphicFrameLocks noChangeAspect="1"/>
          </p:cNvGraphicFramePr>
          <p:nvPr/>
        </p:nvGraphicFramePr>
        <p:xfrm>
          <a:off x="2351088" y="2784475"/>
          <a:ext cx="3270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5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784475"/>
                        <a:ext cx="32702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8"/>
          <p:cNvGraphicFramePr>
            <a:graphicFrameLocks noChangeAspect="1"/>
          </p:cNvGraphicFramePr>
          <p:nvPr/>
        </p:nvGraphicFramePr>
        <p:xfrm>
          <a:off x="4016375" y="2746375"/>
          <a:ext cx="3254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6" name="Equation" r:id="rId7" imgW="126720" imgH="139680" progId="Equation.3">
                  <p:embed/>
                </p:oleObj>
              </mc:Choice>
              <mc:Fallback>
                <p:oleObj name="Equation" r:id="rId7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746375"/>
                        <a:ext cx="325438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3" name="Object 9"/>
          <p:cNvGraphicFramePr>
            <a:graphicFrameLocks noChangeAspect="1"/>
          </p:cNvGraphicFramePr>
          <p:nvPr/>
        </p:nvGraphicFramePr>
        <p:xfrm>
          <a:off x="1217613" y="5357813"/>
          <a:ext cx="31067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7" name="Equation" r:id="rId8" imgW="1384200" imgH="253800" progId="Equation.3">
                  <p:embed/>
                </p:oleObj>
              </mc:Choice>
              <mc:Fallback>
                <p:oleObj name="Equation" r:id="rId8" imgW="1384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5357813"/>
                        <a:ext cx="3106737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3705225" y="4748213"/>
          <a:ext cx="44465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8" name="Equation" r:id="rId10" imgW="1866600" imgH="253800" progId="Equation.3">
                  <p:embed/>
                </p:oleObj>
              </mc:Choice>
              <mc:Fallback>
                <p:oleObj name="Equation" r:id="rId10" imgW="1866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4748213"/>
                        <a:ext cx="4446588" cy="573087"/>
                      </a:xfrm>
                      <a:prstGeom prst="rect">
                        <a:avLst/>
                      </a:prstGeom>
                      <a:solidFill>
                        <a:srgbClr val="FCF7FF"/>
                      </a:solidFill>
                      <a:ln w="12700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141413" y="1739900"/>
            <a:ext cx="2438400" cy="2489200"/>
            <a:chOff x="816" y="1200"/>
            <a:chExt cx="1536" cy="1568"/>
          </a:xfrm>
        </p:grpSpPr>
        <p:sp>
          <p:nvSpPr>
            <p:cNvPr id="16436" name="Oval 12"/>
            <p:cNvSpPr>
              <a:spLocks noChangeArrowheads="1"/>
            </p:cNvSpPr>
            <p:nvPr/>
          </p:nvSpPr>
          <p:spPr bwMode="auto">
            <a:xfrm>
              <a:off x="816" y="1200"/>
              <a:ext cx="1536" cy="153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7" name="Line 13"/>
            <p:cNvSpPr>
              <a:spLocks noChangeShapeType="1"/>
            </p:cNvSpPr>
            <p:nvPr/>
          </p:nvSpPr>
          <p:spPr bwMode="auto">
            <a:xfrm>
              <a:off x="1584" y="2048"/>
              <a:ext cx="0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1" name="Object 14"/>
            <p:cNvGraphicFramePr>
              <a:graphicFrameLocks noChangeAspect="1"/>
            </p:cNvGraphicFramePr>
            <p:nvPr/>
          </p:nvGraphicFramePr>
          <p:xfrm>
            <a:off x="1344" y="2496"/>
            <a:ext cx="187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19" name="公式" r:id="rId12" imgW="215640" imgH="228600" progId="Equation.3">
                    <p:embed/>
                  </p:oleObj>
                </mc:Choice>
                <mc:Fallback>
                  <p:oleObj name="公式" r:id="rId12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496"/>
                          <a:ext cx="187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989013" y="3797300"/>
            <a:ext cx="782637" cy="677863"/>
            <a:chOff x="720" y="2976"/>
            <a:chExt cx="493" cy="427"/>
          </a:xfrm>
        </p:grpSpPr>
        <p:sp>
          <p:nvSpPr>
            <p:cNvPr id="16435" name="Freeform 16"/>
            <p:cNvSpPr>
              <a:spLocks/>
            </p:cNvSpPr>
            <p:nvPr/>
          </p:nvSpPr>
          <p:spPr bwMode="auto">
            <a:xfrm rot="-5731028">
              <a:off x="720" y="2976"/>
              <a:ext cx="240" cy="240"/>
            </a:xfrm>
            <a:custGeom>
              <a:avLst/>
              <a:gdLst>
                <a:gd name="T0" fmla="*/ 336 w 336"/>
                <a:gd name="T1" fmla="*/ 0 h 240"/>
                <a:gd name="T2" fmla="*/ 192 w 336"/>
                <a:gd name="T3" fmla="*/ 48 h 240"/>
                <a:gd name="T4" fmla="*/ 48 w 336"/>
                <a:gd name="T5" fmla="*/ 144 h 240"/>
                <a:gd name="T6" fmla="*/ 0 w 336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240"/>
                <a:gd name="T14" fmla="*/ 336 w 336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240">
                  <a:moveTo>
                    <a:pt x="336" y="0"/>
                  </a:moveTo>
                  <a:cubicBezTo>
                    <a:pt x="288" y="12"/>
                    <a:pt x="240" y="24"/>
                    <a:pt x="192" y="48"/>
                  </a:cubicBezTo>
                  <a:cubicBezTo>
                    <a:pt x="144" y="72"/>
                    <a:pt x="80" y="112"/>
                    <a:pt x="48" y="144"/>
                  </a:cubicBezTo>
                  <a:cubicBezTo>
                    <a:pt x="16" y="176"/>
                    <a:pt x="8" y="224"/>
                    <a:pt x="0" y="24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0" name="Object 17"/>
            <p:cNvGraphicFramePr>
              <a:graphicFrameLocks noChangeAspect="1"/>
            </p:cNvGraphicFramePr>
            <p:nvPr/>
          </p:nvGraphicFramePr>
          <p:xfrm>
            <a:off x="960" y="3168"/>
            <a:ext cx="25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0" name="Equation" r:id="rId14" imgW="152280" imgH="139680" progId="Equation.3">
                    <p:embed/>
                  </p:oleObj>
                </mc:Choice>
                <mc:Fallback>
                  <p:oleObj name="Equation" r:id="rId14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168"/>
                          <a:ext cx="253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8802" name="Object 18"/>
          <p:cNvGraphicFramePr>
            <a:graphicFrameLocks noChangeAspect="1"/>
          </p:cNvGraphicFramePr>
          <p:nvPr/>
        </p:nvGraphicFramePr>
        <p:xfrm>
          <a:off x="1293813" y="4824413"/>
          <a:ext cx="1905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1" name="Equation" r:id="rId16" imgW="876240" imgH="253800" progId="Equation.3">
                  <p:embed/>
                </p:oleObj>
              </mc:Choice>
              <mc:Fallback>
                <p:oleObj name="Equation" r:id="rId16" imgW="8762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4824413"/>
                        <a:ext cx="19050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030413" y="2806700"/>
            <a:ext cx="368300" cy="463550"/>
            <a:chOff x="1384" y="1800"/>
            <a:chExt cx="254" cy="364"/>
          </a:xfrm>
        </p:grpSpPr>
        <p:graphicFrame>
          <p:nvGraphicFramePr>
            <p:cNvPr id="16399" name="Object 20"/>
            <p:cNvGraphicFramePr>
              <a:graphicFrameLocks noChangeAspect="1"/>
            </p:cNvGraphicFramePr>
            <p:nvPr/>
          </p:nvGraphicFramePr>
          <p:xfrm>
            <a:off x="1384" y="1800"/>
            <a:ext cx="17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2" name="公式" r:id="rId18" imgW="203040" imgH="241200" progId="Equation.3">
                    <p:embed/>
                  </p:oleObj>
                </mc:Choice>
                <mc:Fallback>
                  <p:oleObj name="公式" r:id="rId18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1800"/>
                          <a:ext cx="176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4" name="Arc 21"/>
            <p:cNvSpPr>
              <a:spLocks/>
            </p:cNvSpPr>
            <p:nvPr/>
          </p:nvSpPr>
          <p:spPr bwMode="auto">
            <a:xfrm flipH="1">
              <a:off x="1491" y="1876"/>
              <a:ext cx="147" cy="288"/>
            </a:xfrm>
            <a:custGeom>
              <a:avLst/>
              <a:gdLst>
                <a:gd name="T0" fmla="*/ 37 w 22050"/>
                <a:gd name="T1" fmla="*/ 0 h 42584"/>
                <a:gd name="T2" fmla="*/ 0 w 22050"/>
                <a:gd name="T3" fmla="*/ 288 h 42584"/>
                <a:gd name="T4" fmla="*/ 3 w 22050"/>
                <a:gd name="T5" fmla="*/ 142 h 42584"/>
                <a:gd name="T6" fmla="*/ 0 60000 65536"/>
                <a:gd name="T7" fmla="*/ 0 60000 65536"/>
                <a:gd name="T8" fmla="*/ 0 60000 65536"/>
                <a:gd name="T9" fmla="*/ 0 w 22050"/>
                <a:gd name="T10" fmla="*/ 0 h 42584"/>
                <a:gd name="T11" fmla="*/ 22050 w 22050"/>
                <a:gd name="T12" fmla="*/ 42584 h 42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50" h="42584" fill="none" extrusionOk="0">
                  <a:moveTo>
                    <a:pt x="5571" y="0"/>
                  </a:moveTo>
                  <a:cubicBezTo>
                    <a:pt x="15244" y="2361"/>
                    <a:pt x="22050" y="11027"/>
                    <a:pt x="22050" y="20984"/>
                  </a:cubicBezTo>
                  <a:cubicBezTo>
                    <a:pt x="22050" y="32913"/>
                    <a:pt x="12379" y="42584"/>
                    <a:pt x="450" y="42584"/>
                  </a:cubicBezTo>
                  <a:cubicBezTo>
                    <a:pt x="299" y="42584"/>
                    <a:pt x="149" y="42582"/>
                    <a:pt x="-1" y="42579"/>
                  </a:cubicBezTo>
                </a:path>
                <a:path w="22050" h="42584" stroke="0" extrusionOk="0">
                  <a:moveTo>
                    <a:pt x="5571" y="0"/>
                  </a:moveTo>
                  <a:cubicBezTo>
                    <a:pt x="15244" y="2361"/>
                    <a:pt x="22050" y="11027"/>
                    <a:pt x="22050" y="20984"/>
                  </a:cubicBezTo>
                  <a:cubicBezTo>
                    <a:pt x="22050" y="32913"/>
                    <a:pt x="12379" y="42584"/>
                    <a:pt x="450" y="42584"/>
                  </a:cubicBezTo>
                  <a:cubicBezTo>
                    <a:pt x="299" y="42584"/>
                    <a:pt x="149" y="42582"/>
                    <a:pt x="-1" y="42579"/>
                  </a:cubicBezTo>
                  <a:lnTo>
                    <a:pt x="450" y="20984"/>
                  </a:lnTo>
                  <a:close/>
                </a:path>
              </a:pathLst>
            </a:custGeom>
            <a:noFill/>
            <a:ln w="28575">
              <a:solidFill>
                <a:srgbClr val="0099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025650" y="2654300"/>
            <a:ext cx="701675" cy="747713"/>
            <a:chOff x="1374" y="1776"/>
            <a:chExt cx="442" cy="471"/>
          </a:xfrm>
        </p:grpSpPr>
        <p:sp>
          <p:nvSpPr>
            <p:cNvPr id="16432" name="Line 23"/>
            <p:cNvSpPr>
              <a:spLocks noChangeShapeType="1"/>
            </p:cNvSpPr>
            <p:nvPr/>
          </p:nvSpPr>
          <p:spPr bwMode="auto">
            <a:xfrm flipH="1">
              <a:off x="1573" y="2064"/>
              <a:ext cx="11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3" name="Oval 24"/>
            <p:cNvSpPr>
              <a:spLocks noChangeArrowheads="1"/>
            </p:cNvSpPr>
            <p:nvPr/>
          </p:nvSpPr>
          <p:spPr bwMode="auto">
            <a:xfrm>
              <a:off x="1374" y="1776"/>
              <a:ext cx="442" cy="471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8" name="Object 25"/>
            <p:cNvGraphicFramePr>
              <a:graphicFrameLocks noChangeAspect="1"/>
            </p:cNvGraphicFramePr>
            <p:nvPr/>
          </p:nvGraphicFramePr>
          <p:xfrm>
            <a:off x="1612" y="2009"/>
            <a:ext cx="16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3" name="公式" r:id="rId20" imgW="253800" imgH="317160" progId="Equation.3">
                    <p:embed/>
                  </p:oleObj>
                </mc:Choice>
                <mc:Fallback>
                  <p:oleObj name="公式" r:id="rId20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2009"/>
                          <a:ext cx="165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1646238" y="2274888"/>
            <a:ext cx="1447800" cy="1446212"/>
            <a:chOff x="1144" y="1537"/>
            <a:chExt cx="912" cy="911"/>
          </a:xfrm>
        </p:grpSpPr>
        <p:sp>
          <p:nvSpPr>
            <p:cNvPr id="16430" name="Line 27"/>
            <p:cNvSpPr>
              <a:spLocks noChangeShapeType="1"/>
            </p:cNvSpPr>
            <p:nvPr/>
          </p:nvSpPr>
          <p:spPr bwMode="auto">
            <a:xfrm>
              <a:off x="1584" y="2064"/>
              <a:ext cx="1" cy="384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7" name="Object 28"/>
            <p:cNvGraphicFramePr>
              <a:graphicFrameLocks noChangeAspect="1"/>
            </p:cNvGraphicFramePr>
            <p:nvPr/>
          </p:nvGraphicFramePr>
          <p:xfrm>
            <a:off x="1374" y="2217"/>
            <a:ext cx="19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4" name="公式" r:id="rId22" imgW="279360" imgH="317160" progId="Equation.3">
                    <p:embed/>
                  </p:oleObj>
                </mc:Choice>
                <mc:Fallback>
                  <p:oleObj name="公式" r:id="rId22" imgW="2793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" y="2217"/>
                          <a:ext cx="194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Oval 29"/>
            <p:cNvSpPr>
              <a:spLocks noChangeArrowheads="1"/>
            </p:cNvSpPr>
            <p:nvPr/>
          </p:nvSpPr>
          <p:spPr bwMode="auto">
            <a:xfrm>
              <a:off x="1144" y="1537"/>
              <a:ext cx="912" cy="911"/>
            </a:xfrm>
            <a:prstGeom prst="ellipse">
              <a:avLst/>
            </a:prstGeom>
            <a:noFill/>
            <a:ln w="19050">
              <a:solidFill>
                <a:srgbClr val="CC00CC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5713413" y="1816100"/>
            <a:ext cx="1752600" cy="2362200"/>
            <a:chOff x="3696" y="1248"/>
            <a:chExt cx="1104" cy="1488"/>
          </a:xfrm>
        </p:grpSpPr>
        <p:sp>
          <p:nvSpPr>
            <p:cNvPr id="16428" name="Line 31"/>
            <p:cNvSpPr>
              <a:spLocks noChangeShapeType="1"/>
            </p:cNvSpPr>
            <p:nvPr/>
          </p:nvSpPr>
          <p:spPr bwMode="auto">
            <a:xfrm>
              <a:off x="3696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9" name="Line 32"/>
            <p:cNvSpPr>
              <a:spLocks noChangeShapeType="1"/>
            </p:cNvSpPr>
            <p:nvPr/>
          </p:nvSpPr>
          <p:spPr bwMode="auto">
            <a:xfrm>
              <a:off x="4576" y="2064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6" name="Object 33"/>
            <p:cNvGraphicFramePr>
              <a:graphicFrameLocks noChangeAspect="1"/>
            </p:cNvGraphicFramePr>
            <p:nvPr/>
          </p:nvGraphicFramePr>
          <p:xfrm>
            <a:off x="4520" y="1816"/>
            <a:ext cx="28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5" name="公式" r:id="rId24" imgW="203040" imgH="228600" progId="Equation.3">
                    <p:embed/>
                  </p:oleObj>
                </mc:Choice>
                <mc:Fallback>
                  <p:oleObj name="公式" r:id="rId24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1816"/>
                          <a:ext cx="28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8819" name="AutoShape 35"/>
          <p:cNvSpPr>
            <a:spLocks/>
          </p:cNvSpPr>
          <p:nvPr/>
        </p:nvSpPr>
        <p:spPr bwMode="auto">
          <a:xfrm>
            <a:off x="912813" y="4976813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2363788" y="1739900"/>
            <a:ext cx="5559425" cy="2451100"/>
            <a:chOff x="1586" y="1200"/>
            <a:chExt cx="3502" cy="1544"/>
          </a:xfrm>
        </p:grpSpPr>
        <p:sp>
          <p:nvSpPr>
            <p:cNvPr id="16426" name="Line 39"/>
            <p:cNvSpPr>
              <a:spLocks noChangeShapeType="1"/>
            </p:cNvSpPr>
            <p:nvPr/>
          </p:nvSpPr>
          <p:spPr bwMode="auto">
            <a:xfrm>
              <a:off x="1586" y="2744"/>
              <a:ext cx="125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7" name="Freeform 40"/>
            <p:cNvSpPr>
              <a:spLocks noChangeAspect="1"/>
            </p:cNvSpPr>
            <p:nvPr/>
          </p:nvSpPr>
          <p:spPr bwMode="auto">
            <a:xfrm flipV="1">
              <a:off x="2835" y="1200"/>
              <a:ext cx="2253" cy="1534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2360613" y="2273300"/>
            <a:ext cx="5561012" cy="1447800"/>
            <a:chOff x="1584" y="1536"/>
            <a:chExt cx="3503" cy="912"/>
          </a:xfrm>
        </p:grpSpPr>
        <p:sp>
          <p:nvSpPr>
            <p:cNvPr id="16424" name="Line 42"/>
            <p:cNvSpPr>
              <a:spLocks noChangeShapeType="1"/>
            </p:cNvSpPr>
            <p:nvPr/>
          </p:nvSpPr>
          <p:spPr bwMode="auto">
            <a:xfrm>
              <a:off x="1584" y="2448"/>
              <a:ext cx="1250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5" name="Freeform 43"/>
            <p:cNvSpPr>
              <a:spLocks noChangeAspect="1"/>
            </p:cNvSpPr>
            <p:nvPr/>
          </p:nvSpPr>
          <p:spPr bwMode="auto">
            <a:xfrm flipV="1">
              <a:off x="2834" y="1536"/>
              <a:ext cx="2253" cy="910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CC00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2328863" y="2657475"/>
            <a:ext cx="5573712" cy="758825"/>
            <a:chOff x="1576" y="1778"/>
            <a:chExt cx="3511" cy="478"/>
          </a:xfrm>
        </p:grpSpPr>
        <p:sp>
          <p:nvSpPr>
            <p:cNvPr id="16422" name="Line 45"/>
            <p:cNvSpPr>
              <a:spLocks noChangeShapeType="1"/>
            </p:cNvSpPr>
            <p:nvPr/>
          </p:nvSpPr>
          <p:spPr bwMode="auto">
            <a:xfrm>
              <a:off x="1576" y="2256"/>
              <a:ext cx="12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3" name="Freeform 46"/>
            <p:cNvSpPr>
              <a:spLocks noChangeAspect="1"/>
            </p:cNvSpPr>
            <p:nvPr/>
          </p:nvSpPr>
          <p:spPr bwMode="auto">
            <a:xfrm flipV="1">
              <a:off x="2834" y="1778"/>
              <a:ext cx="2253" cy="478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16" name="Line 47"/>
          <p:cNvSpPr>
            <a:spLocks noChangeShapeType="1"/>
          </p:cNvSpPr>
          <p:nvPr/>
        </p:nvSpPr>
        <p:spPr bwMode="auto">
          <a:xfrm flipV="1">
            <a:off x="4362450" y="1462088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92" name="Object 48"/>
          <p:cNvGraphicFramePr>
            <a:graphicFrameLocks noChangeAspect="1"/>
          </p:cNvGraphicFramePr>
          <p:nvPr/>
        </p:nvGraphicFramePr>
        <p:xfrm>
          <a:off x="2552700" y="1468438"/>
          <a:ext cx="263525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6" name="公式" r:id="rId26" imgW="177480" imgH="190440" progId="Equation.3">
                  <p:embed/>
                </p:oleObj>
              </mc:Choice>
              <mc:Fallback>
                <p:oleObj name="公式" r:id="rId26" imgW="177480" imgH="1904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1468438"/>
                        <a:ext cx="263525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49"/>
          <p:cNvGraphicFramePr>
            <a:graphicFrameLocks noChangeAspect="1"/>
          </p:cNvGraphicFramePr>
          <p:nvPr/>
        </p:nvGraphicFramePr>
        <p:xfrm>
          <a:off x="4078288" y="1468438"/>
          <a:ext cx="263525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7" name="公式" r:id="rId28" imgW="177480" imgH="190440" progId="Equation.3">
                  <p:embed/>
                </p:oleObj>
              </mc:Choice>
              <mc:Fallback>
                <p:oleObj name="公式" r:id="rId28" imgW="177480" imgH="1904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1468438"/>
                        <a:ext cx="263525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50"/>
          <p:cNvGraphicFramePr>
            <a:graphicFrameLocks noChangeAspect="1"/>
          </p:cNvGraphicFramePr>
          <p:nvPr/>
        </p:nvGraphicFramePr>
        <p:xfrm>
          <a:off x="2487613" y="461963"/>
          <a:ext cx="293052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8" name="公式" r:id="rId29" imgW="1282680" imgH="215640" progId="Equation.3">
                  <p:embed/>
                </p:oleObj>
              </mc:Choice>
              <mc:Fallback>
                <p:oleObj name="公式" r:id="rId29" imgW="1282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461963"/>
                        <a:ext cx="2930525" cy="579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7" name="Group 58"/>
          <p:cNvGrpSpPr>
            <a:grpSpLocks/>
          </p:cNvGrpSpPr>
          <p:nvPr/>
        </p:nvGrpSpPr>
        <p:grpSpPr bwMode="auto">
          <a:xfrm>
            <a:off x="250825" y="458788"/>
            <a:ext cx="1533525" cy="585787"/>
            <a:chOff x="158" y="289"/>
            <a:chExt cx="966" cy="369"/>
          </a:xfrm>
        </p:grpSpPr>
        <p:sp>
          <p:nvSpPr>
            <p:cNvPr id="16420" name="AutoShape 52"/>
            <p:cNvSpPr>
              <a:spLocks noChangeArrowheads="1"/>
            </p:cNvSpPr>
            <p:nvPr/>
          </p:nvSpPr>
          <p:spPr bwMode="auto">
            <a:xfrm>
              <a:off x="158" y="289"/>
              <a:ext cx="966" cy="369"/>
            </a:xfrm>
            <a:prstGeom prst="ribbon">
              <a:avLst>
                <a:gd name="adj1" fmla="val 12500"/>
                <a:gd name="adj2" fmla="val 50000"/>
              </a:avLst>
            </a:prstGeom>
            <a:solidFill>
              <a:srgbClr val="CC99FF">
                <a:alpha val="16862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1" name="Text Box 53"/>
            <p:cNvSpPr txBox="1">
              <a:spLocks noChangeArrowheads="1"/>
            </p:cNvSpPr>
            <p:nvPr/>
          </p:nvSpPr>
          <p:spPr bwMode="auto">
            <a:xfrm>
              <a:off x="223" y="330"/>
              <a:ext cx="8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/>
                <a:t>讨论</a:t>
              </a:r>
            </a:p>
          </p:txBody>
        </p:sp>
      </p:grpSp>
      <p:graphicFrame>
        <p:nvGraphicFramePr>
          <p:cNvPr id="16395" name="Object 54"/>
          <p:cNvGraphicFramePr>
            <a:graphicFrameLocks noChangeAspect="1"/>
          </p:cNvGraphicFramePr>
          <p:nvPr/>
        </p:nvGraphicFramePr>
        <p:xfrm>
          <a:off x="5337175" y="458788"/>
          <a:ext cx="2879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9" name="公式" r:id="rId31" imgW="1244520" imgH="203040" progId="Equation.3">
                  <p:embed/>
                </p:oleObj>
              </mc:Choice>
              <mc:Fallback>
                <p:oleObj name="公式" r:id="rId31" imgW="1244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458788"/>
                        <a:ext cx="28797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8" name="Rectangle 56"/>
          <p:cNvSpPr>
            <a:spLocks noChangeArrowheads="1"/>
          </p:cNvSpPr>
          <p:nvPr/>
        </p:nvSpPr>
        <p:spPr bwMode="auto">
          <a:xfrm>
            <a:off x="531813" y="1358900"/>
            <a:ext cx="8001000" cy="4648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9" name="Rectangle 57"/>
          <p:cNvSpPr>
            <a:spLocks noChangeArrowheads="1"/>
          </p:cNvSpPr>
          <p:nvPr/>
        </p:nvSpPr>
        <p:spPr bwMode="auto">
          <a:xfrm>
            <a:off x="1601788" y="492125"/>
            <a:ext cx="1073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CC0000"/>
                </a:solidFill>
              </a:rPr>
              <a:t>（</a:t>
            </a:r>
            <a:r>
              <a:rPr kumimoji="0" lang="en-US" altLang="zh-CN">
                <a:solidFill>
                  <a:srgbClr val="CC0000"/>
                </a:solidFill>
              </a:rPr>
              <a:t>1</a:t>
            </a:r>
            <a:r>
              <a:rPr kumimoji="0" lang="zh-CN" altLang="en-US">
                <a:solidFill>
                  <a:srgbClr val="CC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1067574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F2B4A4-AEDD-4892-94C4-7739D8AF5B16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7427" name="Rectangle 2"/>
          <p:cNvSpPr>
            <a:spLocks noChangeArrowheads="1"/>
          </p:cNvSpPr>
          <p:nvPr/>
        </p:nvSpPr>
        <p:spPr bwMode="auto">
          <a:xfrm>
            <a:off x="457200" y="1524000"/>
            <a:ext cx="8001000" cy="464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8" name="Line 3"/>
          <p:cNvSpPr>
            <a:spLocks noChangeShapeType="1"/>
          </p:cNvSpPr>
          <p:nvPr/>
        </p:nvSpPr>
        <p:spPr bwMode="auto">
          <a:xfrm>
            <a:off x="838200" y="33401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9" name="Line 4"/>
          <p:cNvSpPr>
            <a:spLocks noChangeShapeType="1"/>
          </p:cNvSpPr>
          <p:nvPr/>
        </p:nvSpPr>
        <p:spPr bwMode="auto">
          <a:xfrm>
            <a:off x="4305300" y="33401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0" name="Line 5"/>
          <p:cNvSpPr>
            <a:spLocks noChangeShapeType="1"/>
          </p:cNvSpPr>
          <p:nvPr/>
        </p:nvSpPr>
        <p:spPr bwMode="auto">
          <a:xfrm flipV="1">
            <a:off x="2406650" y="1633538"/>
            <a:ext cx="0" cy="314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1" name="Line 6"/>
          <p:cNvSpPr>
            <a:spLocks noChangeShapeType="1"/>
          </p:cNvSpPr>
          <p:nvPr/>
        </p:nvSpPr>
        <p:spPr bwMode="auto">
          <a:xfrm flipV="1">
            <a:off x="4287838" y="1627188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10" name="Object 7"/>
          <p:cNvGraphicFramePr>
            <a:graphicFrameLocks noChangeAspect="1"/>
          </p:cNvGraphicFramePr>
          <p:nvPr/>
        </p:nvGraphicFramePr>
        <p:xfrm>
          <a:off x="2478088" y="1633538"/>
          <a:ext cx="263525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公式" r:id="rId3" imgW="177480" imgH="190440" progId="Equation.3">
                  <p:embed/>
                </p:oleObj>
              </mc:Choice>
              <mc:Fallback>
                <p:oleObj name="公式" r:id="rId3" imgW="177480" imgH="1904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1633538"/>
                        <a:ext cx="263525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8"/>
          <p:cNvGraphicFramePr>
            <a:graphicFrameLocks noChangeAspect="1"/>
          </p:cNvGraphicFramePr>
          <p:nvPr/>
        </p:nvGraphicFramePr>
        <p:xfrm>
          <a:off x="7718425" y="3343275"/>
          <a:ext cx="2159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9" name="公式" r:id="rId5" imgW="114120" imgH="215640" progId="Equation.3">
                  <p:embed/>
                </p:oleObj>
              </mc:Choice>
              <mc:Fallback>
                <p:oleObj name="公式" r:id="rId5" imgW="114120" imgH="2156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8425" y="3343275"/>
                        <a:ext cx="2159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9"/>
          <p:cNvGraphicFramePr>
            <a:graphicFrameLocks noChangeAspect="1"/>
          </p:cNvGraphicFramePr>
          <p:nvPr/>
        </p:nvGraphicFramePr>
        <p:xfrm>
          <a:off x="2419350" y="3022600"/>
          <a:ext cx="3381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0" name="Equation" r:id="rId7" imgW="126720" imgH="139680" progId="Equation.3">
                  <p:embed/>
                </p:oleObj>
              </mc:Choice>
              <mc:Fallback>
                <p:oleObj name="Equation" r:id="rId7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3022600"/>
                        <a:ext cx="338138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/>
          <p:cNvGraphicFramePr>
            <a:graphicFrameLocks noChangeAspect="1"/>
          </p:cNvGraphicFramePr>
          <p:nvPr/>
        </p:nvGraphicFramePr>
        <p:xfrm>
          <a:off x="4618038" y="5076825"/>
          <a:ext cx="34591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公式" r:id="rId9" imgW="1587240" imgH="215640" progId="Equation.3">
                  <p:embed/>
                </p:oleObj>
              </mc:Choice>
              <mc:Fallback>
                <p:oleObj name="公式" r:id="rId9" imgW="1587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5076825"/>
                        <a:ext cx="3459162" cy="4667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33000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33000"/>
                            </a:schemeClr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38200" y="4114800"/>
            <a:ext cx="685800" cy="762000"/>
            <a:chOff x="528" y="3504"/>
            <a:chExt cx="480" cy="453"/>
          </a:xfrm>
        </p:grpSpPr>
        <p:sp>
          <p:nvSpPr>
            <p:cNvPr id="17460" name="Freeform 12"/>
            <p:cNvSpPr>
              <a:spLocks/>
            </p:cNvSpPr>
            <p:nvPr/>
          </p:nvSpPr>
          <p:spPr bwMode="auto">
            <a:xfrm rot="-5360963">
              <a:off x="528" y="3504"/>
              <a:ext cx="240" cy="240"/>
            </a:xfrm>
            <a:custGeom>
              <a:avLst/>
              <a:gdLst>
                <a:gd name="T0" fmla="*/ 336 w 336"/>
                <a:gd name="T1" fmla="*/ 0 h 240"/>
                <a:gd name="T2" fmla="*/ 192 w 336"/>
                <a:gd name="T3" fmla="*/ 48 h 240"/>
                <a:gd name="T4" fmla="*/ 48 w 336"/>
                <a:gd name="T5" fmla="*/ 144 h 240"/>
                <a:gd name="T6" fmla="*/ 0 w 336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240"/>
                <a:gd name="T14" fmla="*/ 336 w 336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240">
                  <a:moveTo>
                    <a:pt x="336" y="0"/>
                  </a:moveTo>
                  <a:cubicBezTo>
                    <a:pt x="288" y="12"/>
                    <a:pt x="240" y="24"/>
                    <a:pt x="192" y="48"/>
                  </a:cubicBezTo>
                  <a:cubicBezTo>
                    <a:pt x="144" y="72"/>
                    <a:pt x="80" y="112"/>
                    <a:pt x="48" y="144"/>
                  </a:cubicBezTo>
                  <a:cubicBezTo>
                    <a:pt x="16" y="176"/>
                    <a:pt x="8" y="224"/>
                    <a:pt x="0" y="24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5" name="Object 13"/>
            <p:cNvGraphicFramePr>
              <a:graphicFrameLocks noChangeAspect="1"/>
            </p:cNvGraphicFramePr>
            <p:nvPr/>
          </p:nvGraphicFramePr>
          <p:xfrm>
            <a:off x="768" y="3744"/>
            <a:ext cx="240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2" name="公式" r:id="rId11" imgW="215640" imgH="190440" progId="Equation.3">
                    <p:embed/>
                  </p:oleObj>
                </mc:Choice>
                <mc:Fallback>
                  <p:oleObj name="公式" r:id="rId11" imgW="215640" imgH="1904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744"/>
                          <a:ext cx="240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596063" y="2895600"/>
            <a:ext cx="414337" cy="1752600"/>
            <a:chOff x="4299" y="2352"/>
            <a:chExt cx="261" cy="1104"/>
          </a:xfrm>
        </p:grpSpPr>
        <p:sp>
          <p:nvSpPr>
            <p:cNvPr id="17459" name="Line 15"/>
            <p:cNvSpPr>
              <a:spLocks noChangeShapeType="1"/>
            </p:cNvSpPr>
            <p:nvPr/>
          </p:nvSpPr>
          <p:spPr bwMode="auto">
            <a:xfrm>
              <a:off x="4487" y="2352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4" name="Object 16"/>
            <p:cNvGraphicFramePr>
              <a:graphicFrameLocks noChangeAspect="1"/>
            </p:cNvGraphicFramePr>
            <p:nvPr/>
          </p:nvGraphicFramePr>
          <p:xfrm>
            <a:off x="4299" y="2640"/>
            <a:ext cx="26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3" name="公式" r:id="rId13" imgW="203040" imgH="228600" progId="Equation.3">
                    <p:embed/>
                  </p:oleObj>
                </mc:Choice>
                <mc:Fallback>
                  <p:oleObj name="公式" r:id="rId13" imgW="203040" imgH="2286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9" y="2640"/>
                          <a:ext cx="261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017588" y="1976438"/>
            <a:ext cx="2716212" cy="3052762"/>
            <a:chOff x="785" y="1773"/>
            <a:chExt cx="1711" cy="1923"/>
          </a:xfrm>
        </p:grpSpPr>
        <p:sp>
          <p:nvSpPr>
            <p:cNvPr id="17455" name="Line 18"/>
            <p:cNvSpPr>
              <a:spLocks noChangeShapeType="1"/>
            </p:cNvSpPr>
            <p:nvPr/>
          </p:nvSpPr>
          <p:spPr bwMode="auto">
            <a:xfrm>
              <a:off x="1666" y="2613"/>
              <a:ext cx="0" cy="84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56" name="Group 19"/>
            <p:cNvGrpSpPr>
              <a:grpSpLocks/>
            </p:cNvGrpSpPr>
            <p:nvPr/>
          </p:nvGrpSpPr>
          <p:grpSpPr bwMode="auto">
            <a:xfrm>
              <a:off x="785" y="1773"/>
              <a:ext cx="1711" cy="1923"/>
              <a:chOff x="785" y="1773"/>
              <a:chExt cx="1711" cy="1923"/>
            </a:xfrm>
          </p:grpSpPr>
          <p:graphicFrame>
            <p:nvGraphicFramePr>
              <p:cNvPr id="17422" name="Object 20"/>
              <p:cNvGraphicFramePr>
                <a:graphicFrameLocks noChangeAspect="1"/>
              </p:cNvGraphicFramePr>
              <p:nvPr/>
            </p:nvGraphicFramePr>
            <p:xfrm>
              <a:off x="1440" y="3456"/>
              <a:ext cx="21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4" name="公式" r:id="rId15" imgW="279360" imgH="317160" progId="Equation.3">
                      <p:embed/>
                    </p:oleObj>
                  </mc:Choice>
                  <mc:Fallback>
                    <p:oleObj name="公式" r:id="rId15" imgW="279360" imgH="31716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3456"/>
                            <a:ext cx="21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7" name="Arc 21"/>
              <p:cNvSpPr>
                <a:spLocks/>
              </p:cNvSpPr>
              <p:nvPr/>
            </p:nvSpPr>
            <p:spPr bwMode="auto">
              <a:xfrm flipH="1">
                <a:off x="1576" y="2544"/>
                <a:ext cx="96" cy="240"/>
              </a:xfrm>
              <a:custGeom>
                <a:avLst/>
                <a:gdLst>
                  <a:gd name="T0" fmla="*/ 2 w 22050"/>
                  <a:gd name="T1" fmla="*/ 0 h 43200"/>
                  <a:gd name="T2" fmla="*/ 0 w 22050"/>
                  <a:gd name="T3" fmla="*/ 240 h 43200"/>
                  <a:gd name="T4" fmla="*/ 2 w 22050"/>
                  <a:gd name="T5" fmla="*/ 120 h 43200"/>
                  <a:gd name="T6" fmla="*/ 0 60000 65536"/>
                  <a:gd name="T7" fmla="*/ 0 60000 65536"/>
                  <a:gd name="T8" fmla="*/ 0 60000 65536"/>
                  <a:gd name="T9" fmla="*/ 0 w 22050"/>
                  <a:gd name="T10" fmla="*/ 0 h 43200"/>
                  <a:gd name="T11" fmla="*/ 22050 w 2205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50" h="43200" fill="none" extrusionOk="0">
                    <a:moveTo>
                      <a:pt x="449" y="0"/>
                    </a:moveTo>
                    <a:cubicBezTo>
                      <a:pt x="12379" y="0"/>
                      <a:pt x="22050" y="9670"/>
                      <a:pt x="22050" y="21600"/>
                    </a:cubicBezTo>
                    <a:cubicBezTo>
                      <a:pt x="22050" y="33529"/>
                      <a:pt x="12379" y="43200"/>
                      <a:pt x="450" y="43200"/>
                    </a:cubicBezTo>
                    <a:cubicBezTo>
                      <a:pt x="299" y="43200"/>
                      <a:pt x="149" y="43198"/>
                      <a:pt x="-1" y="43195"/>
                    </a:cubicBezTo>
                  </a:path>
                  <a:path w="22050" h="43200" stroke="0" extrusionOk="0">
                    <a:moveTo>
                      <a:pt x="449" y="0"/>
                    </a:moveTo>
                    <a:cubicBezTo>
                      <a:pt x="12379" y="0"/>
                      <a:pt x="22050" y="9670"/>
                      <a:pt x="22050" y="21600"/>
                    </a:cubicBezTo>
                    <a:cubicBezTo>
                      <a:pt x="22050" y="33529"/>
                      <a:pt x="12379" y="43200"/>
                      <a:pt x="450" y="43200"/>
                    </a:cubicBezTo>
                    <a:cubicBezTo>
                      <a:pt x="299" y="43200"/>
                      <a:pt x="149" y="43198"/>
                      <a:pt x="-1" y="43195"/>
                    </a:cubicBezTo>
                    <a:lnTo>
                      <a:pt x="45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CC00CC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8" name="Oval 22"/>
              <p:cNvSpPr>
                <a:spLocks noChangeArrowheads="1"/>
              </p:cNvSpPr>
              <p:nvPr/>
            </p:nvSpPr>
            <p:spPr bwMode="auto">
              <a:xfrm>
                <a:off x="785" y="1773"/>
                <a:ext cx="1711" cy="1681"/>
              </a:xfrm>
              <a:prstGeom prst="ellipse">
                <a:avLst/>
              </a:prstGeom>
              <a:noFill/>
              <a:ln w="19050">
                <a:solidFill>
                  <a:srgbClr val="CC00CC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423" name="Object 23"/>
              <p:cNvGraphicFramePr>
                <a:graphicFrameLocks noChangeAspect="1"/>
              </p:cNvGraphicFramePr>
              <p:nvPr/>
            </p:nvGraphicFramePr>
            <p:xfrm>
              <a:off x="1411" y="2352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5" name="公式" r:id="rId17" imgW="266400" imgH="317160" progId="Equation.3">
                      <p:embed/>
                    </p:oleObj>
                  </mc:Choice>
                  <mc:Fallback>
                    <p:oleObj name="公式" r:id="rId17" imgW="266400" imgH="317160" progId="Equation.3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1" y="2352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939925" y="2501900"/>
            <a:ext cx="914400" cy="1274763"/>
            <a:chOff x="1366" y="2104"/>
            <a:chExt cx="576" cy="803"/>
          </a:xfrm>
        </p:grpSpPr>
        <p:sp>
          <p:nvSpPr>
            <p:cNvPr id="17453" name="Oval 25"/>
            <p:cNvSpPr>
              <a:spLocks noChangeArrowheads="1"/>
            </p:cNvSpPr>
            <p:nvPr/>
          </p:nvSpPr>
          <p:spPr bwMode="auto">
            <a:xfrm>
              <a:off x="1366" y="2331"/>
              <a:ext cx="576" cy="576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1" name="Object 26"/>
            <p:cNvGraphicFramePr>
              <a:graphicFrameLocks noChangeAspect="1"/>
            </p:cNvGraphicFramePr>
            <p:nvPr/>
          </p:nvGraphicFramePr>
          <p:xfrm>
            <a:off x="1463" y="2104"/>
            <a:ext cx="19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6" name="公式" r:id="rId19" imgW="253800" imgH="317160" progId="Equation.3">
                    <p:embed/>
                  </p:oleObj>
                </mc:Choice>
                <mc:Fallback>
                  <p:oleObj name="公式" r:id="rId19" imgW="253800" imgH="31716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2104"/>
                          <a:ext cx="19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4" name="Line 27"/>
            <p:cNvSpPr>
              <a:spLocks noChangeShapeType="1"/>
            </p:cNvSpPr>
            <p:nvPr/>
          </p:nvSpPr>
          <p:spPr bwMode="auto">
            <a:xfrm flipV="1">
              <a:off x="1662" y="2331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595438" y="2413000"/>
            <a:ext cx="1604962" cy="2082800"/>
            <a:chOff x="1149" y="2048"/>
            <a:chExt cx="1011" cy="1312"/>
          </a:xfrm>
        </p:grpSpPr>
        <p:sp>
          <p:nvSpPr>
            <p:cNvPr id="17451" name="Oval 29"/>
            <p:cNvSpPr>
              <a:spLocks noChangeArrowheads="1"/>
            </p:cNvSpPr>
            <p:nvPr/>
          </p:nvSpPr>
          <p:spPr bwMode="auto">
            <a:xfrm>
              <a:off x="1149" y="2048"/>
              <a:ext cx="1011" cy="10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30"/>
            <p:cNvSpPr>
              <a:spLocks noChangeShapeType="1"/>
            </p:cNvSpPr>
            <p:nvPr/>
          </p:nvSpPr>
          <p:spPr bwMode="auto">
            <a:xfrm flipH="1">
              <a:off x="1664" y="2640"/>
              <a:ext cx="0" cy="454"/>
            </a:xfrm>
            <a:prstGeom prst="line">
              <a:avLst/>
            </a:prstGeom>
            <a:noFill/>
            <a:ln w="28575">
              <a:solidFill>
                <a:srgbClr val="FF2B2B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0" name="Object 31"/>
            <p:cNvGraphicFramePr>
              <a:graphicFrameLocks noChangeAspect="1"/>
            </p:cNvGraphicFramePr>
            <p:nvPr/>
          </p:nvGraphicFramePr>
          <p:xfrm>
            <a:off x="1433" y="3147"/>
            <a:ext cx="142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7" name="公式" r:id="rId21" imgW="215640" imgH="228600" progId="Equation.3">
                    <p:embed/>
                  </p:oleObj>
                </mc:Choice>
                <mc:Fallback>
                  <p:oleObj name="公式" r:id="rId21" imgW="215640" imgH="2286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3" y="3147"/>
                          <a:ext cx="142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37" name="Group 51"/>
          <p:cNvGrpSpPr>
            <a:grpSpLocks/>
          </p:cNvGrpSpPr>
          <p:nvPr/>
        </p:nvGrpSpPr>
        <p:grpSpPr bwMode="auto">
          <a:xfrm>
            <a:off x="238125" y="503237"/>
            <a:ext cx="8143875" cy="676275"/>
            <a:chOff x="45" y="317"/>
            <a:chExt cx="5130" cy="426"/>
          </a:xfrm>
        </p:grpSpPr>
        <p:sp>
          <p:nvSpPr>
            <p:cNvPr id="17450" name="Text Box 32"/>
            <p:cNvSpPr txBox="1">
              <a:spLocks noChangeArrowheads="1"/>
            </p:cNvSpPr>
            <p:nvPr/>
          </p:nvSpPr>
          <p:spPr bwMode="auto">
            <a:xfrm>
              <a:off x="45" y="317"/>
              <a:ext cx="1680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 sz="3200">
                  <a:solidFill>
                    <a:srgbClr val="CC0000"/>
                  </a:solidFill>
                  <a:latin typeface="宋体" pitchFamily="2" charset="-122"/>
                </a:rPr>
                <a:t>（</a:t>
              </a:r>
              <a:r>
                <a:rPr kumimoji="0" lang="en-US" altLang="zh-CN" sz="3200">
                  <a:solidFill>
                    <a:srgbClr val="CC0000"/>
                  </a:solidFill>
                </a:rPr>
                <a:t>2</a:t>
              </a:r>
              <a:r>
                <a:rPr kumimoji="0" lang="zh-CN" altLang="en-US" sz="3200">
                  <a:solidFill>
                    <a:srgbClr val="CC0000"/>
                  </a:solidFill>
                  <a:latin typeface="宋体" pitchFamily="2" charset="-122"/>
                </a:rPr>
                <a:t>）</a:t>
              </a:r>
              <a:endParaRPr kumimoji="0" lang="zh-CN" altLang="en-US" sz="320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741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698017"/>
                </p:ext>
              </p:extLst>
            </p:nvPr>
          </p:nvGraphicFramePr>
          <p:xfrm>
            <a:off x="1106" y="359"/>
            <a:ext cx="2519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8" name="公式" r:id="rId23" imgW="1587240" imgH="215640" progId="Equation.3">
                    <p:embed/>
                  </p:oleObj>
                </mc:Choice>
                <mc:Fallback>
                  <p:oleObj name="公式" r:id="rId23" imgW="15872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359"/>
                          <a:ext cx="2519" cy="3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1139826"/>
                </p:ext>
              </p:extLst>
            </p:nvPr>
          </p:nvGraphicFramePr>
          <p:xfrm>
            <a:off x="3537" y="374"/>
            <a:ext cx="163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9" name="公式" r:id="rId25" imgW="977760" imgH="203040" progId="Equation.3">
                    <p:embed/>
                  </p:oleObj>
                </mc:Choice>
                <mc:Fallback>
                  <p:oleObj name="公式" r:id="rId25" imgW="9777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374"/>
                          <a:ext cx="1638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685800" y="5029200"/>
            <a:ext cx="4419600" cy="1150938"/>
            <a:chOff x="480" y="3211"/>
            <a:chExt cx="2784" cy="725"/>
          </a:xfrm>
        </p:grpSpPr>
        <p:graphicFrame>
          <p:nvGraphicFramePr>
            <p:cNvPr id="17416" name="Object 36"/>
            <p:cNvGraphicFramePr>
              <a:graphicFrameLocks noChangeAspect="1"/>
            </p:cNvGraphicFramePr>
            <p:nvPr/>
          </p:nvGraphicFramePr>
          <p:xfrm>
            <a:off x="576" y="3211"/>
            <a:ext cx="1489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50" name="Equation" r:id="rId27" imgW="939600" imgH="279360" progId="Equation.3">
                    <p:embed/>
                  </p:oleObj>
                </mc:Choice>
                <mc:Fallback>
                  <p:oleObj name="Equation" r:id="rId27" imgW="939600" imgH="27936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211"/>
                          <a:ext cx="1489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E1FF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E1FF"/>
                                  </a:gs>
                                  <a:gs pos="100000">
                                    <a:srgbClr val="FFE1FF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37"/>
            <p:cNvGraphicFramePr>
              <a:graphicFrameLocks noChangeAspect="1"/>
            </p:cNvGraphicFramePr>
            <p:nvPr/>
          </p:nvGraphicFramePr>
          <p:xfrm>
            <a:off x="557" y="3591"/>
            <a:ext cx="270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51" name="Equation" r:id="rId29" imgW="1726920" imgH="253800" progId="Equation.3">
                    <p:embed/>
                  </p:oleObj>
                </mc:Choice>
                <mc:Fallback>
                  <p:oleObj name="Equation" r:id="rId29" imgW="1726920" imgH="2538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3591"/>
                          <a:ext cx="270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FFCC"/>
                                  </a:gs>
                                  <a:gs pos="10000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7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9" name="AutoShape 38"/>
            <p:cNvSpPr>
              <a:spLocks/>
            </p:cNvSpPr>
            <p:nvPr/>
          </p:nvSpPr>
          <p:spPr bwMode="auto">
            <a:xfrm>
              <a:off x="480" y="3351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2311400" y="1981200"/>
            <a:ext cx="5308600" cy="2673350"/>
            <a:chOff x="1433" y="2156"/>
            <a:chExt cx="3367" cy="1684"/>
          </a:xfrm>
        </p:grpSpPr>
        <p:sp>
          <p:nvSpPr>
            <p:cNvPr id="17446" name="Line 40"/>
            <p:cNvSpPr>
              <a:spLocks noChangeShapeType="1"/>
            </p:cNvSpPr>
            <p:nvPr/>
          </p:nvSpPr>
          <p:spPr bwMode="auto">
            <a:xfrm>
              <a:off x="1433" y="3838"/>
              <a:ext cx="1258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7" name="Line 41"/>
            <p:cNvSpPr>
              <a:spLocks noChangeShapeType="1"/>
            </p:cNvSpPr>
            <p:nvPr/>
          </p:nvSpPr>
          <p:spPr bwMode="auto">
            <a:xfrm>
              <a:off x="1433" y="2156"/>
              <a:ext cx="2071" cy="3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Freeform 42"/>
            <p:cNvSpPr>
              <a:spLocks noChangeAspect="1"/>
            </p:cNvSpPr>
            <p:nvPr/>
          </p:nvSpPr>
          <p:spPr bwMode="auto">
            <a:xfrm flipV="1">
              <a:off x="2688" y="2208"/>
              <a:ext cx="2112" cy="1632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CC00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2311400" y="2847975"/>
            <a:ext cx="5257800" cy="949325"/>
            <a:chOff x="1632" y="2331"/>
            <a:chExt cx="3312" cy="533"/>
          </a:xfrm>
        </p:grpSpPr>
        <p:sp>
          <p:nvSpPr>
            <p:cNvPr id="17444" name="Line 44"/>
            <p:cNvSpPr>
              <a:spLocks noChangeShapeType="1"/>
            </p:cNvSpPr>
            <p:nvPr/>
          </p:nvSpPr>
          <p:spPr bwMode="auto">
            <a:xfrm>
              <a:off x="1632" y="2331"/>
              <a:ext cx="125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5" name="Freeform 45"/>
            <p:cNvSpPr>
              <a:spLocks noChangeAspect="1"/>
            </p:cNvSpPr>
            <p:nvPr/>
          </p:nvSpPr>
          <p:spPr bwMode="auto">
            <a:xfrm>
              <a:off x="2880" y="2336"/>
              <a:ext cx="2064" cy="528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6"/>
          <p:cNvGrpSpPr>
            <a:grpSpLocks/>
          </p:cNvGrpSpPr>
          <p:nvPr/>
        </p:nvGrpSpPr>
        <p:grpSpPr bwMode="auto">
          <a:xfrm>
            <a:off x="2286000" y="2590800"/>
            <a:ext cx="5334000" cy="1498600"/>
            <a:chOff x="1440" y="2566"/>
            <a:chExt cx="3360" cy="917"/>
          </a:xfrm>
        </p:grpSpPr>
        <p:sp>
          <p:nvSpPr>
            <p:cNvPr id="17442" name="Line 47"/>
            <p:cNvSpPr>
              <a:spLocks noChangeShapeType="1"/>
            </p:cNvSpPr>
            <p:nvPr/>
          </p:nvSpPr>
          <p:spPr bwMode="auto">
            <a:xfrm>
              <a:off x="1440" y="3483"/>
              <a:ext cx="124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Freeform 48"/>
            <p:cNvSpPr>
              <a:spLocks noChangeAspect="1"/>
            </p:cNvSpPr>
            <p:nvPr/>
          </p:nvSpPr>
          <p:spPr bwMode="auto">
            <a:xfrm flipV="1">
              <a:off x="2688" y="2566"/>
              <a:ext cx="2112" cy="912"/>
            </a:xfrm>
            <a:custGeom>
              <a:avLst/>
              <a:gdLst>
                <a:gd name="T0" fmla="*/ 37 w 2625"/>
                <a:gd name="T1" fmla="*/ 4 h 1183"/>
                <a:gd name="T2" fmla="*/ 108 w 2625"/>
                <a:gd name="T3" fmla="*/ 32 h 1183"/>
                <a:gd name="T4" fmla="*/ 180 w 2625"/>
                <a:gd name="T5" fmla="*/ 89 h 1183"/>
                <a:gd name="T6" fmla="*/ 251 w 2625"/>
                <a:gd name="T7" fmla="*/ 170 h 1183"/>
                <a:gd name="T8" fmla="*/ 324 w 2625"/>
                <a:gd name="T9" fmla="*/ 272 h 1183"/>
                <a:gd name="T10" fmla="*/ 395 w 2625"/>
                <a:gd name="T11" fmla="*/ 390 h 1183"/>
                <a:gd name="T12" fmla="*/ 467 w 2625"/>
                <a:gd name="T13" fmla="*/ 517 h 1183"/>
                <a:gd name="T14" fmla="*/ 540 w 2625"/>
                <a:gd name="T15" fmla="*/ 649 h 1183"/>
                <a:gd name="T16" fmla="*/ 612 w 2625"/>
                <a:gd name="T17" fmla="*/ 777 h 1183"/>
                <a:gd name="T18" fmla="*/ 683 w 2625"/>
                <a:gd name="T19" fmla="*/ 896 h 1183"/>
                <a:gd name="T20" fmla="*/ 754 w 2625"/>
                <a:gd name="T21" fmla="*/ 1001 h 1183"/>
                <a:gd name="T22" fmla="*/ 828 w 2625"/>
                <a:gd name="T23" fmla="*/ 1085 h 1183"/>
                <a:gd name="T24" fmla="*/ 899 w 2625"/>
                <a:gd name="T25" fmla="*/ 1145 h 1183"/>
                <a:gd name="T26" fmla="*/ 971 w 2625"/>
                <a:gd name="T27" fmla="*/ 1178 h 1183"/>
                <a:gd name="T28" fmla="*/ 1042 w 2625"/>
                <a:gd name="T29" fmla="*/ 1182 h 1183"/>
                <a:gd name="T30" fmla="*/ 1115 w 2625"/>
                <a:gd name="T31" fmla="*/ 1157 h 1183"/>
                <a:gd name="T32" fmla="*/ 1186 w 2625"/>
                <a:gd name="T33" fmla="*/ 1104 h 1183"/>
                <a:gd name="T34" fmla="*/ 1259 w 2625"/>
                <a:gd name="T35" fmla="*/ 1026 h 1183"/>
                <a:gd name="T36" fmla="*/ 1331 w 2625"/>
                <a:gd name="T37" fmla="*/ 927 h 1183"/>
                <a:gd name="T38" fmla="*/ 1403 w 2625"/>
                <a:gd name="T39" fmla="*/ 811 h 1183"/>
                <a:gd name="T40" fmla="*/ 1474 w 2625"/>
                <a:gd name="T41" fmla="*/ 685 h 1183"/>
                <a:gd name="T42" fmla="*/ 1546 w 2625"/>
                <a:gd name="T43" fmla="*/ 553 h 1183"/>
                <a:gd name="T44" fmla="*/ 1619 w 2625"/>
                <a:gd name="T45" fmla="*/ 424 h 1183"/>
                <a:gd name="T46" fmla="*/ 1691 w 2625"/>
                <a:gd name="T47" fmla="*/ 303 h 1183"/>
                <a:gd name="T48" fmla="*/ 1762 w 2625"/>
                <a:gd name="T49" fmla="*/ 197 h 1183"/>
                <a:gd name="T50" fmla="*/ 1834 w 2625"/>
                <a:gd name="T51" fmla="*/ 109 h 1183"/>
                <a:gd name="T52" fmla="*/ 1907 w 2625"/>
                <a:gd name="T53" fmla="*/ 45 h 1183"/>
                <a:gd name="T54" fmla="*/ 1979 w 2625"/>
                <a:gd name="T55" fmla="*/ 9 h 1183"/>
                <a:gd name="T56" fmla="*/ 2050 w 2625"/>
                <a:gd name="T57" fmla="*/ 1 h 1183"/>
                <a:gd name="T58" fmla="*/ 2123 w 2625"/>
                <a:gd name="T59" fmla="*/ 22 h 1183"/>
                <a:gd name="T60" fmla="*/ 2194 w 2625"/>
                <a:gd name="T61" fmla="*/ 71 h 1183"/>
                <a:gd name="T62" fmla="*/ 2265 w 2625"/>
                <a:gd name="T63" fmla="*/ 146 h 1183"/>
                <a:gd name="T64" fmla="*/ 2337 w 2625"/>
                <a:gd name="T65" fmla="*/ 242 h 1183"/>
                <a:gd name="T66" fmla="*/ 2410 w 2625"/>
                <a:gd name="T67" fmla="*/ 356 h 1183"/>
                <a:gd name="T68" fmla="*/ 2482 w 2625"/>
                <a:gd name="T69" fmla="*/ 481 h 1183"/>
                <a:gd name="T70" fmla="*/ 2553 w 2625"/>
                <a:gd name="T71" fmla="*/ 613 h 1183"/>
                <a:gd name="T72" fmla="*/ 2625 w 2625"/>
                <a:gd name="T73" fmla="*/ 742 h 11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25"/>
                <a:gd name="T112" fmla="*/ 0 h 1183"/>
                <a:gd name="T113" fmla="*/ 2625 w 2625"/>
                <a:gd name="T114" fmla="*/ 1183 h 1183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414" name="Object 49"/>
          <p:cNvGraphicFramePr>
            <a:graphicFrameLocks noChangeAspect="1"/>
          </p:cNvGraphicFramePr>
          <p:nvPr/>
        </p:nvGraphicFramePr>
        <p:xfrm>
          <a:off x="3992563" y="3017838"/>
          <a:ext cx="3381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2" name="Equation" r:id="rId31" imgW="126720" imgH="139680" progId="Equation.3">
                  <p:embed/>
                </p:oleObj>
              </mc:Choice>
              <mc:Fallback>
                <p:oleObj name="Equation" r:id="rId31" imgW="126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3017838"/>
                        <a:ext cx="33813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50"/>
          <p:cNvGraphicFramePr>
            <a:graphicFrameLocks noChangeAspect="1"/>
          </p:cNvGraphicFramePr>
          <p:nvPr/>
        </p:nvGraphicFramePr>
        <p:xfrm>
          <a:off x="4003675" y="1633538"/>
          <a:ext cx="263525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3" name="公式" r:id="rId32" imgW="177480" imgH="190440" progId="Equation.3">
                  <p:embed/>
                </p:oleObj>
              </mc:Choice>
              <mc:Fallback>
                <p:oleObj name="公式" r:id="rId32" imgW="177480" imgH="1904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675" y="1633538"/>
                        <a:ext cx="263525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018325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BA040D-552D-4199-BF71-B5CE54F4B71F}" type="slidenum">
              <a:rPr lang="en-US" altLang="zh-CN"/>
              <a:pPr/>
              <a:t>39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4572000"/>
            <a:ext cx="6145213" cy="1179513"/>
            <a:chOff x="144" y="2880"/>
            <a:chExt cx="3871" cy="743"/>
          </a:xfrm>
        </p:grpSpPr>
        <p:sp>
          <p:nvSpPr>
            <p:cNvPr id="18450" name="Text Box 3"/>
            <p:cNvSpPr txBox="1">
              <a:spLocks noChangeArrowheads="1"/>
            </p:cNvSpPr>
            <p:nvPr/>
          </p:nvSpPr>
          <p:spPr bwMode="auto">
            <a:xfrm>
              <a:off x="144" y="2880"/>
              <a:ext cx="227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3200">
                  <a:solidFill>
                    <a:srgbClr val="CC0000"/>
                  </a:solidFill>
                  <a:latin typeface="宋体" pitchFamily="2" charset="-122"/>
                </a:rPr>
                <a:t>（</a:t>
              </a:r>
              <a:r>
                <a:rPr kumimoji="0" lang="en-US" altLang="zh-CN" sz="3200">
                  <a:solidFill>
                    <a:srgbClr val="CC0000"/>
                  </a:solidFill>
                </a:rPr>
                <a:t>3</a:t>
              </a:r>
              <a:r>
                <a:rPr kumimoji="0" lang="zh-CN" altLang="en-US" sz="3200">
                  <a:solidFill>
                    <a:srgbClr val="CC0000"/>
                  </a:solidFill>
                  <a:latin typeface="宋体" pitchFamily="2" charset="-122"/>
                </a:rPr>
                <a:t>）</a:t>
              </a:r>
              <a:r>
                <a:rPr kumimoji="0" lang="zh-CN" altLang="zh-CN" sz="3200">
                  <a:latin typeface="宋体" pitchFamily="2" charset="-122"/>
                </a:rPr>
                <a:t>一般情况</a:t>
              </a:r>
            </a:p>
          </p:txBody>
        </p:sp>
        <p:graphicFrame>
          <p:nvGraphicFramePr>
            <p:cNvPr id="18440" name="Object 4"/>
            <p:cNvGraphicFramePr>
              <a:graphicFrameLocks noChangeAspect="1"/>
            </p:cNvGraphicFramePr>
            <p:nvPr/>
          </p:nvGraphicFramePr>
          <p:xfrm>
            <a:off x="1862" y="3305"/>
            <a:ext cx="215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5" name="公式" r:id="rId3" imgW="1447560" imgH="241200" progId="Equation.3">
                    <p:embed/>
                  </p:oleObj>
                </mc:Choice>
                <mc:Fallback>
                  <p:oleObj name="公式" r:id="rId3" imgW="14475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2" y="3305"/>
                          <a:ext cx="2153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0837" name="Object 5"/>
          <p:cNvGraphicFramePr>
            <a:graphicFrameLocks noChangeAspect="1"/>
          </p:cNvGraphicFramePr>
          <p:nvPr/>
        </p:nvGraphicFramePr>
        <p:xfrm>
          <a:off x="2967038" y="3833813"/>
          <a:ext cx="23256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6" name="公式" r:id="rId5" imgW="825480" imgH="241200" progId="Equation.3">
                  <p:embed/>
                </p:oleObj>
              </mc:Choice>
              <mc:Fallback>
                <p:oleObj name="公式" r:id="rId5" imgW="825480" imgH="2412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833813"/>
                        <a:ext cx="23256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E1FF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E1FF"/>
                                </a:gs>
                                <a:gs pos="100000">
                                  <a:srgbClr val="FFE1FF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3074988" y="2270125"/>
          <a:ext cx="19462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7" name="公式" r:id="rId7" imgW="774360" imgH="215640" progId="Equation.3">
                  <p:embed/>
                </p:oleObj>
              </mc:Choice>
              <mc:Fallback>
                <p:oleObj name="公式" r:id="rId7" imgW="774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2270125"/>
                        <a:ext cx="19462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9" name="Text Box 7"/>
          <p:cNvSpPr txBox="1">
            <a:spLocks noChangeArrowheads="1"/>
          </p:cNvSpPr>
          <p:nvPr/>
        </p:nvSpPr>
        <p:spPr bwMode="auto">
          <a:xfrm>
            <a:off x="6705600" y="2133600"/>
            <a:ext cx="1262063" cy="598488"/>
          </a:xfrm>
          <a:prstGeom prst="rect">
            <a:avLst/>
          </a:prstGeom>
          <a:solidFill>
            <a:srgbClr val="F9F0FE"/>
          </a:solidFill>
          <a:ln w="1905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3200">
                <a:solidFill>
                  <a:srgbClr val="1C1C1C"/>
                </a:solidFill>
              </a:rPr>
              <a:t>加强</a:t>
            </a:r>
          </a:p>
        </p:txBody>
      </p:sp>
      <p:sp>
        <p:nvSpPr>
          <p:cNvPr id="120840" name="Text Box 8"/>
          <p:cNvSpPr txBox="1">
            <a:spLocks noChangeArrowheads="1"/>
          </p:cNvSpPr>
          <p:nvPr/>
        </p:nvSpPr>
        <p:spPr bwMode="auto">
          <a:xfrm>
            <a:off x="6718300" y="3821113"/>
            <a:ext cx="1219200" cy="598487"/>
          </a:xfrm>
          <a:prstGeom prst="rect">
            <a:avLst/>
          </a:prstGeom>
          <a:solidFill>
            <a:srgbClr val="F9F0FE"/>
          </a:solidFill>
          <a:ln w="1905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3200">
                <a:solidFill>
                  <a:srgbClr val="1C1C1C"/>
                </a:solidFill>
              </a:rPr>
              <a:t>减弱</a:t>
            </a:r>
          </a:p>
        </p:txBody>
      </p:sp>
      <p:sp>
        <p:nvSpPr>
          <p:cNvPr id="18445" name="Text Box 9"/>
          <p:cNvSpPr txBox="1">
            <a:spLocks noChangeArrowheads="1"/>
          </p:cNvSpPr>
          <p:nvPr/>
        </p:nvSpPr>
        <p:spPr bwMode="auto">
          <a:xfrm>
            <a:off x="0" y="150813"/>
            <a:ext cx="272573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 sz="3200" dirty="0">
                <a:solidFill>
                  <a:srgbClr val="0000FF"/>
                </a:solidFill>
              </a:rPr>
              <a:t>小结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9075" y="1463675"/>
            <a:ext cx="7896225" cy="598488"/>
            <a:chOff x="144" y="922"/>
            <a:chExt cx="4974" cy="377"/>
          </a:xfrm>
        </p:grpSpPr>
        <p:sp>
          <p:nvSpPr>
            <p:cNvPr id="18449" name="Text Box 11"/>
            <p:cNvSpPr txBox="1">
              <a:spLocks noChangeArrowheads="1"/>
            </p:cNvSpPr>
            <p:nvPr/>
          </p:nvSpPr>
          <p:spPr bwMode="auto">
            <a:xfrm>
              <a:off x="144" y="934"/>
              <a:ext cx="233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320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3200">
                  <a:solidFill>
                    <a:srgbClr val="CC0000"/>
                  </a:solidFill>
                </a:rPr>
                <a:t>1</a:t>
              </a:r>
              <a:r>
                <a:rPr kumimoji="0" lang="zh-CN" altLang="en-US" sz="3200">
                  <a:solidFill>
                    <a:srgbClr val="CC0000"/>
                  </a:solidFill>
                  <a:latin typeface="宋体" pitchFamily="2" charset="-122"/>
                </a:rPr>
                <a:t>）</a:t>
              </a:r>
              <a:r>
                <a:rPr kumimoji="0" lang="zh-CN" altLang="en-US" sz="3200">
                  <a:latin typeface="宋体" pitchFamily="2" charset="-122"/>
                </a:rPr>
                <a:t>相位差</a:t>
              </a:r>
            </a:p>
          </p:txBody>
        </p:sp>
        <p:graphicFrame>
          <p:nvGraphicFramePr>
            <p:cNvPr id="1843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2833044"/>
                </p:ext>
              </p:extLst>
            </p:nvPr>
          </p:nvGraphicFramePr>
          <p:xfrm>
            <a:off x="2046" y="922"/>
            <a:ext cx="149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8" name="Equation" r:id="rId9" imgW="1079280" imgH="253800" progId="Equation.3">
                    <p:embed/>
                  </p:oleObj>
                </mc:Choice>
                <mc:Fallback>
                  <p:oleObj name="Equation" r:id="rId9" imgW="10792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6" y="922"/>
                          <a:ext cx="1492" cy="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882315"/>
                </p:ext>
              </p:extLst>
            </p:nvPr>
          </p:nvGraphicFramePr>
          <p:xfrm>
            <a:off x="3534" y="946"/>
            <a:ext cx="158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9" name="Equation" r:id="rId11" imgW="1155600" imgH="241200" progId="Equation.3">
                    <p:embed/>
                  </p:oleObj>
                </mc:Choice>
                <mc:Fallback>
                  <p:oleObj name="Equation" r:id="rId11" imgW="1155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4" y="946"/>
                          <a:ext cx="1584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19075" y="3124203"/>
            <a:ext cx="8667750" cy="579438"/>
            <a:chOff x="144" y="1968"/>
            <a:chExt cx="5460" cy="365"/>
          </a:xfrm>
        </p:grpSpPr>
        <p:sp>
          <p:nvSpPr>
            <p:cNvPr id="18448" name="Text Box 15"/>
            <p:cNvSpPr txBox="1">
              <a:spLocks noChangeArrowheads="1"/>
            </p:cNvSpPr>
            <p:nvPr/>
          </p:nvSpPr>
          <p:spPr bwMode="auto">
            <a:xfrm>
              <a:off x="144" y="1968"/>
              <a:ext cx="233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3200" dirty="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3200" dirty="0">
                  <a:solidFill>
                    <a:srgbClr val="CC0000"/>
                  </a:solidFill>
                </a:rPr>
                <a:t>2</a:t>
              </a:r>
              <a:r>
                <a:rPr kumimoji="0" lang="zh-CN" altLang="en-US" sz="3200" dirty="0">
                  <a:solidFill>
                    <a:srgbClr val="CC0000"/>
                  </a:solidFill>
                  <a:latin typeface="宋体" pitchFamily="2" charset="-122"/>
                </a:rPr>
                <a:t>）</a:t>
              </a:r>
              <a:r>
                <a:rPr kumimoji="0" lang="zh-CN" altLang="en-US" sz="3200" dirty="0">
                  <a:latin typeface="宋体" pitchFamily="2" charset="-122"/>
                </a:rPr>
                <a:t>相位差</a:t>
              </a:r>
            </a:p>
          </p:txBody>
        </p:sp>
        <p:graphicFrame>
          <p:nvGraphicFramePr>
            <p:cNvPr id="1843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007664"/>
                </p:ext>
              </p:extLst>
            </p:nvPr>
          </p:nvGraphicFramePr>
          <p:xfrm>
            <a:off x="2130" y="1988"/>
            <a:ext cx="196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0" name="Equation" r:id="rId13" imgW="1434960" imgH="253800" progId="Equation.3">
                    <p:embed/>
                  </p:oleObj>
                </mc:Choice>
                <mc:Fallback>
                  <p:oleObj name="Equation" r:id="rId13" imgW="143496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1988"/>
                          <a:ext cx="1968" cy="3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3395183"/>
                </p:ext>
              </p:extLst>
            </p:nvPr>
          </p:nvGraphicFramePr>
          <p:xfrm>
            <a:off x="4020" y="2007"/>
            <a:ext cx="158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1" name="Equation" r:id="rId15" imgW="1155600" imgH="241200" progId="Equation.3">
                    <p:embed/>
                  </p:oleObj>
                </mc:Choice>
                <mc:Fallback>
                  <p:oleObj name="Equation" r:id="rId15" imgW="1155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0" y="2007"/>
                          <a:ext cx="1584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700822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9" grpId="0" animBg="1" autoUpdateAnimBg="0"/>
      <p:bldP spid="120840" grpId="0" animBg="1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Documents\新课件\14(已改）\14_6简谐运动的合成.ppt</Template>
  <TotalTime>4133</TotalTime>
  <Words>1077</Words>
  <Application>Microsoft Office PowerPoint</Application>
  <PresentationFormat>全屏显示(4:3)</PresentationFormat>
  <Paragraphs>212</Paragraphs>
  <Slides>39</Slides>
  <Notes>4</Notes>
  <HiddenSlides>0</HiddenSlides>
  <MMClips>0</MMClips>
  <ScaleCrop>false</ScaleCrop>
  <HeadingPairs>
    <vt:vector size="8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  <vt:variant>
        <vt:lpstr>自定义放映</vt:lpstr>
      </vt:variant>
      <vt:variant>
        <vt:i4>1</vt:i4>
      </vt:variant>
    </vt:vector>
  </HeadingPairs>
  <TitlesOfParts>
    <vt:vector size="45" baseType="lpstr">
      <vt:lpstr>波形</vt:lpstr>
      <vt:lpstr>1_波形</vt:lpstr>
      <vt:lpstr>2_波形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9-1简谐运动.ppt</dc:title>
  <dc:creator>江南大学物理基础部  朱云</dc:creator>
  <cp:lastModifiedBy>Microsoft</cp:lastModifiedBy>
  <cp:revision>232</cp:revision>
  <cp:lastPrinted>1601-01-01T00:00:00Z</cp:lastPrinted>
  <dcterms:created xsi:type="dcterms:W3CDTF">2000-08-14T12:58:35Z</dcterms:created>
  <dcterms:modified xsi:type="dcterms:W3CDTF">2019-11-11T04:46:51Z</dcterms:modified>
</cp:coreProperties>
</file>