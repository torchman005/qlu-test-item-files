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4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5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6.xml" ContentType="application/vnd.openxmlformats-officedocument.theme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17.xml" ContentType="application/vnd.openxmlformats-officedocument.theme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  <p:sldMasterId id="2147483665" r:id="rId17"/>
    <p:sldMasterId id="2147483856" r:id="rId18"/>
  </p:sldMasterIdLst>
  <p:notesMasterIdLst>
    <p:notesMasterId r:id="rId51"/>
  </p:notesMasterIdLst>
  <p:sldIdLst>
    <p:sldId id="297" r:id="rId19"/>
    <p:sldId id="306" r:id="rId20"/>
    <p:sldId id="258" r:id="rId21"/>
    <p:sldId id="259" r:id="rId22"/>
    <p:sldId id="260" r:id="rId23"/>
    <p:sldId id="307" r:id="rId24"/>
    <p:sldId id="308" r:id="rId25"/>
    <p:sldId id="300" r:id="rId26"/>
    <p:sldId id="309" r:id="rId27"/>
    <p:sldId id="261" r:id="rId28"/>
    <p:sldId id="262" r:id="rId29"/>
    <p:sldId id="263" r:id="rId30"/>
    <p:sldId id="264" r:id="rId31"/>
    <p:sldId id="274" r:id="rId32"/>
    <p:sldId id="275" r:id="rId33"/>
    <p:sldId id="276" r:id="rId34"/>
    <p:sldId id="310" r:id="rId35"/>
    <p:sldId id="279" r:id="rId36"/>
    <p:sldId id="280" r:id="rId37"/>
    <p:sldId id="281" r:id="rId38"/>
    <p:sldId id="285" r:id="rId39"/>
    <p:sldId id="311" r:id="rId40"/>
    <p:sldId id="286" r:id="rId41"/>
    <p:sldId id="287" r:id="rId42"/>
    <p:sldId id="288" r:id="rId43"/>
    <p:sldId id="289" r:id="rId44"/>
    <p:sldId id="290" r:id="rId45"/>
    <p:sldId id="313" r:id="rId46"/>
    <p:sldId id="291" r:id="rId47"/>
    <p:sldId id="292" r:id="rId48"/>
    <p:sldId id="293" r:id="rId49"/>
    <p:sldId id="305" r:id="rId50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79E2ED"/>
    <a:srgbClr val="0000FF"/>
    <a:srgbClr val="AEEDF4"/>
    <a:srgbClr val="EDFFD2"/>
    <a:srgbClr val="000000"/>
    <a:srgbClr val="CC0000"/>
    <a:srgbClr val="00006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395" autoAdjust="0"/>
  </p:normalViewPr>
  <p:slideViewPr>
    <p:cSldViewPr snapToGrid="0" snapToObjects="1">
      <p:cViewPr varScale="1">
        <p:scale>
          <a:sx n="108" d="100"/>
          <a:sy n="108" d="100"/>
        </p:scale>
        <p:origin x="444" y="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slide" Target="slides/slide21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slide" Target="slides/slide24.xml"/><Relationship Id="rId47" Type="http://schemas.openxmlformats.org/officeDocument/2006/relationships/slide" Target="slides/slide29.xml"/><Relationship Id="rId50" Type="http://schemas.openxmlformats.org/officeDocument/2006/relationships/slide" Target="slides/slide32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Relationship Id="rId46" Type="http://schemas.openxmlformats.org/officeDocument/2006/relationships/slide" Target="slides/slide28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29" Type="http://schemas.openxmlformats.org/officeDocument/2006/relationships/slide" Target="slides/slide11.xml"/><Relationship Id="rId41" Type="http://schemas.openxmlformats.org/officeDocument/2006/relationships/slide" Target="slides/slide23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slide" Target="slides/slide22.xml"/><Relationship Id="rId45" Type="http://schemas.openxmlformats.org/officeDocument/2006/relationships/slide" Target="slides/slide27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49" Type="http://schemas.openxmlformats.org/officeDocument/2006/relationships/slide" Target="slides/slide3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4" Type="http://schemas.openxmlformats.org/officeDocument/2006/relationships/slide" Target="slides/slide26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slide" Target="slides/slide25.xml"/><Relationship Id="rId48" Type="http://schemas.openxmlformats.org/officeDocument/2006/relationships/slide" Target="slides/slide30.xml"/><Relationship Id="rId8" Type="http://schemas.openxmlformats.org/officeDocument/2006/relationships/slideMaster" Target="slideMasters/slideMaster8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7.wmf"/><Relationship Id="rId1" Type="http://schemas.openxmlformats.org/officeDocument/2006/relationships/image" Target="../media/image26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wmf"/><Relationship Id="rId7" Type="http://schemas.openxmlformats.org/officeDocument/2006/relationships/image" Target="../media/image52.png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10" Type="http://schemas.openxmlformats.org/officeDocument/2006/relationships/image" Target="../media/image53.png"/><Relationship Id="rId4" Type="http://schemas.openxmlformats.org/officeDocument/2006/relationships/image" Target="../media/image47.wmf"/><Relationship Id="rId9" Type="http://schemas.openxmlformats.org/officeDocument/2006/relationships/image" Target="../media/image52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93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18" Type="http://schemas.openxmlformats.org/officeDocument/2006/relationships/image" Target="../media/image91.wmf"/><Relationship Id="rId3" Type="http://schemas.openxmlformats.org/officeDocument/2006/relationships/image" Target="../media/image96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17" Type="http://schemas.openxmlformats.org/officeDocument/2006/relationships/image" Target="../media/image90.wmf"/><Relationship Id="rId2" Type="http://schemas.openxmlformats.org/officeDocument/2006/relationships/image" Target="../media/image95.wmf"/><Relationship Id="rId16" Type="http://schemas.openxmlformats.org/officeDocument/2006/relationships/image" Target="../media/image89.wmf"/><Relationship Id="rId20" Type="http://schemas.openxmlformats.org/officeDocument/2006/relationships/image" Target="../media/image93.wmf"/><Relationship Id="rId1" Type="http://schemas.openxmlformats.org/officeDocument/2006/relationships/image" Target="../media/image94.wmf"/><Relationship Id="rId6" Type="http://schemas.openxmlformats.org/officeDocument/2006/relationships/image" Target="../media/image99.wmf"/><Relationship Id="rId11" Type="http://schemas.openxmlformats.org/officeDocument/2006/relationships/image" Target="../media/image84.wmf"/><Relationship Id="rId5" Type="http://schemas.openxmlformats.org/officeDocument/2006/relationships/image" Target="../media/image98.wmf"/><Relationship Id="rId15" Type="http://schemas.openxmlformats.org/officeDocument/2006/relationships/image" Target="../media/image88.wmf"/><Relationship Id="rId10" Type="http://schemas.openxmlformats.org/officeDocument/2006/relationships/image" Target="../media/image83.wmf"/><Relationship Id="rId19" Type="http://schemas.openxmlformats.org/officeDocument/2006/relationships/image" Target="../media/image92.wmf"/><Relationship Id="rId4" Type="http://schemas.openxmlformats.org/officeDocument/2006/relationships/image" Target="../media/image97.wmf"/><Relationship Id="rId9" Type="http://schemas.openxmlformats.org/officeDocument/2006/relationships/image" Target="../media/image82.wmf"/><Relationship Id="rId14" Type="http://schemas.openxmlformats.org/officeDocument/2006/relationships/image" Target="../media/image8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87.wmf"/><Relationship Id="rId18" Type="http://schemas.openxmlformats.org/officeDocument/2006/relationships/image" Target="../media/image92.wmf"/><Relationship Id="rId3" Type="http://schemas.openxmlformats.org/officeDocument/2006/relationships/image" Target="../media/image102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17" Type="http://schemas.openxmlformats.org/officeDocument/2006/relationships/image" Target="../media/image91.wmf"/><Relationship Id="rId2" Type="http://schemas.openxmlformats.org/officeDocument/2006/relationships/image" Target="../media/image101.wmf"/><Relationship Id="rId16" Type="http://schemas.openxmlformats.org/officeDocument/2006/relationships/image" Target="../media/image90.wmf"/><Relationship Id="rId1" Type="http://schemas.openxmlformats.org/officeDocument/2006/relationships/image" Target="../media/image100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5" Type="http://schemas.openxmlformats.org/officeDocument/2006/relationships/image" Target="../media/image104.wmf"/><Relationship Id="rId15" Type="http://schemas.openxmlformats.org/officeDocument/2006/relationships/image" Target="../media/image89.wmf"/><Relationship Id="rId10" Type="http://schemas.openxmlformats.org/officeDocument/2006/relationships/image" Target="../media/image84.wmf"/><Relationship Id="rId19" Type="http://schemas.openxmlformats.org/officeDocument/2006/relationships/image" Target="../media/image93.wmf"/><Relationship Id="rId4" Type="http://schemas.openxmlformats.org/officeDocument/2006/relationships/image" Target="../media/image103.wmf"/><Relationship Id="rId9" Type="http://schemas.openxmlformats.org/officeDocument/2006/relationships/image" Target="../media/image83.wmf"/><Relationship Id="rId14" Type="http://schemas.openxmlformats.org/officeDocument/2006/relationships/image" Target="../media/image8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4" Type="http://schemas.openxmlformats.org/officeDocument/2006/relationships/image" Target="../media/image109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23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12" Type="http://schemas.openxmlformats.org/officeDocument/2006/relationships/image" Target="../media/image122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121.wmf"/><Relationship Id="rId5" Type="http://schemas.openxmlformats.org/officeDocument/2006/relationships/image" Target="../media/image115.wmf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Relationship Id="rId14" Type="http://schemas.openxmlformats.org/officeDocument/2006/relationships/image" Target="../media/image12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image" Target="../media/image114.w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12" Type="http://schemas.openxmlformats.org/officeDocument/2006/relationships/image" Target="../media/image113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11" Type="http://schemas.openxmlformats.org/officeDocument/2006/relationships/image" Target="../media/image112.wmf"/><Relationship Id="rId5" Type="http://schemas.openxmlformats.org/officeDocument/2006/relationships/image" Target="../media/image129.wmf"/><Relationship Id="rId10" Type="http://schemas.openxmlformats.org/officeDocument/2006/relationships/image" Target="../media/image134.emf"/><Relationship Id="rId4" Type="http://schemas.openxmlformats.org/officeDocument/2006/relationships/image" Target="../media/image128.wmf"/><Relationship Id="rId9" Type="http://schemas.openxmlformats.org/officeDocument/2006/relationships/image" Target="../media/image13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image" Target="../media/image167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12" Type="http://schemas.openxmlformats.org/officeDocument/2006/relationships/image" Target="../media/image166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11" Type="http://schemas.openxmlformats.org/officeDocument/2006/relationships/image" Target="../media/image165.wmf"/><Relationship Id="rId5" Type="http://schemas.openxmlformats.org/officeDocument/2006/relationships/image" Target="../media/image159.wmf"/><Relationship Id="rId15" Type="http://schemas.openxmlformats.org/officeDocument/2006/relationships/image" Target="../media/image169.wmf"/><Relationship Id="rId10" Type="http://schemas.openxmlformats.org/officeDocument/2006/relationships/image" Target="../media/image164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Relationship Id="rId14" Type="http://schemas.openxmlformats.org/officeDocument/2006/relationships/image" Target="../media/image16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72.wmf"/><Relationship Id="rId7" Type="http://schemas.openxmlformats.org/officeDocument/2006/relationships/image" Target="../media/image153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52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9" Type="http://schemas.openxmlformats.org/officeDocument/2006/relationships/image" Target="../media/image17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741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9BBBAE-26F5-4CF9-8076-A0499B22D43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6069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动能呢？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BBBAE-26F5-4CF9-8076-A0499B22D431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1832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CF9585-4324-4326-998B-F6D36E52E04F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656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负号，表示方向的。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blinds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004F03-FB05-46A2-94A6-01825BA01B4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D567DE-030B-4B9C-90C2-D73643C932A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DBC2C7-FDC1-4902-A32F-B505BF160B6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F44C2B-4C13-4D42-812A-D32A2051BFE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7318DC-7B11-459B-B26E-AA1A1F42C21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D32C82-7CC3-4694-95E9-CC927F64019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31562B-DFBA-49C6-8D4C-1CEBA4D82C4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E738B77-1E6D-4B40-9551-EDE24FE0112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4758BA-728B-4B85-A02E-BD1F89D3D30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0E9116-0718-4BA6-844E-BBF393DB6C2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272806-A518-467F-884F-CBCA75529B5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CB143F-1DB9-4EEF-93F5-32CF4FCF950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F2F7F7-0AE8-4D29-8FDD-039699B074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807EBE-2023-458F-9E0E-B51629CE0F1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D970F2-CD5F-4D68-BB64-799B3FAB651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922F52B-9335-40AB-B692-0263290DB42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87AC0C0-CCE3-4F37-87C2-BCA390F31EE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C4D69FC-32AB-44F3-B58E-8025D6E059A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67B5FCF-BA0C-4955-844D-338FE76BA15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1A5FEE-CFEE-4AF2-887F-A4312F6AD80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B3B0EDD-36D1-4979-B80B-FAB4856E2C1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8DEB06-90C6-454C-BADB-B1DA7ED3330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75475" y="483989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fld id="{1CCF31ED-3E0C-422C-A70E-87CFE0B8AB0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975475" y="483989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fld id="{C27176A9-CC5B-4F8A-B61E-B7D40612651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80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975475" y="483989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fld id="{9C24C42A-D718-4D52-932F-D1FD04FD7A4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9603387-42F0-49A7-9CC9-B85DC32C1DA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21ACE5-7728-4436-9019-6A76D6B855D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F6426A-184C-4F00-9D24-7053B13E752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A5D42D-D996-4082-BEA5-B6CC9DC4279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97E9A3-6976-41C1-96B7-012E78788E6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3C848A-EA38-4CA5-B463-3893E242F56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E244533-667C-4733-ABB4-0F6D0F6975B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549B41-8942-4DA0-A193-AD525D7A2C4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0A7CB4-E872-4841-BA2B-AD955D3C599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D2C8CF-937B-4B6C-B78D-C24A35F24ED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9B212D-6367-42DC-9206-2830DCE2ACD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5DF233-7CBF-4614-9400-72CF4FB6AF2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6FFEA7C-F34B-4F2B-ADAA-EADDBCD1F3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78E7D9-0A7A-4FD9-B31B-83F8B0A5A2D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FFA9DC0-AFC2-45EE-BDCA-417E2FB175E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7A82083-C544-4DAE-AF28-5E798173B12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DC9224-34BA-4137-9B22-F75BC6F9BB2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EB48C1-285D-4A18-A387-16787F5761C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BFC593-01DE-4662-9342-8FAAF388905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AFC6B04-DF9B-4F49-9A7D-68DC093199D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0BC392-E4C8-4237-8EA8-3417079EA74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604E9F-9CF3-41AB-8C46-D41C892BCFE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246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77A3896-909A-4DC1-9456-944ED7AC756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603C17-FCFA-415A-8B04-CF33DE68F12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E9EF4-664B-4C14-894D-F9CD9722754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7" y="1428752"/>
            <a:ext cx="4194175" cy="314563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2" y="1428752"/>
            <a:ext cx="4194175" cy="314563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5660C-CD97-4870-A2AC-23618F4EB5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A7E82-3984-45BF-B0B6-63D6A0E0469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3804E-FFD9-499F-9F15-69A05397E78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6A37AE-489A-48C2-A00A-4E523A811F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AB53F-89C0-46E4-AA19-8F8D054F4F4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DF33F-9E05-4519-A1C3-242F84869B1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4E353F-05EF-45F8-87D2-50D849084DA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90" y="457202"/>
            <a:ext cx="2135187" cy="411718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7" y="457202"/>
            <a:ext cx="6253163" cy="411718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6D495-A3A5-4B94-943D-608EF421941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dissolve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7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401366"/>
            <a:ext cx="7772400" cy="1200150"/>
          </a:xfrm>
        </p:spPr>
        <p:txBody>
          <a:bodyPr anchorCtr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7918" name="Rectangle 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3175" y="2796779"/>
            <a:ext cx="6400800" cy="1028700"/>
          </a:xfrm>
        </p:spPr>
        <p:txBody>
          <a:bodyPr anchorCtr="1"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quarter" idx="10"/>
          </p:nvPr>
        </p:nvSpPr>
        <p:spPr>
          <a:xfrm>
            <a:off x="685800" y="4761310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76131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76131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9D07F-322E-4DB4-B132-4D114736BF0A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954626"/>
      </p:ext>
    </p:extLst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3A28A-BF8A-4909-B46B-0D9B2AD11CBE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859299"/>
      </p:ext>
    </p:extLst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82903-EF61-489E-B625-A819FA9E168F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027742"/>
      </p:ext>
    </p:extLst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3A4D3-1813-4C90-9DA9-D26E424537DE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659301"/>
      </p:ext>
    </p:extLst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9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3BE1B-0970-4FCE-BDC1-82FE47CD8BC5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734614"/>
      </p:ext>
    </p:extLst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4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A96DE6-17FE-402C-B76D-996BB5B4B013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070986"/>
      </p:ext>
    </p:extLst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3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4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34B70-2656-4A36-ABAF-D16638F8407E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601445"/>
      </p:ext>
    </p:extLst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84E67-0D6B-4149-AC6F-BF983BCFD269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01200"/>
      </p:ext>
    </p:extLst>
  </p:cSld>
  <p:clrMapOvr>
    <a:masterClrMapping/>
  </p:clrMapOvr>
  <p:transition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F6C12-29CF-49D1-BDED-6F4EFAC22EEB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525390"/>
      </p:ext>
    </p:extLst>
  </p:cSld>
  <p:clrMapOvr>
    <a:masterClrMapping/>
  </p:clrMapOvr>
  <p:transition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EDAE2-08C1-4BD1-B694-14DCD4BD2294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936638"/>
      </p:ext>
    </p:extLst>
  </p:cSld>
  <p:clrMapOvr>
    <a:masterClrMapping/>
  </p:clrMapOvr>
  <p:transition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576262"/>
            <a:ext cx="1943100" cy="39957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576262"/>
            <a:ext cx="5676900" cy="39957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4775597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4775597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hangingPunct="0">
              <a:buFontTx/>
              <a:buNone/>
              <a:defRPr/>
            </a:pPr>
            <a:endParaRPr kumimoji="1"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60269-1F41-40BF-8451-C4BB22B430E8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478946"/>
      </p:ext>
    </p:extLst>
  </p:cSld>
  <p:clrMapOvr>
    <a:masterClrMapping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588125" y="4786314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55F51-176F-4E50-BB68-D6B9DFAB6284}" type="slidenum">
              <a:rPr lang="zh-CN" altLang="en-US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981199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80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44DA2-F110-4CD7-B63D-B019080D2D01}" type="slidenum">
              <a:rPr lang="zh-CN" altLang="en-US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68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hyperlink" Target="../&#24635;&#30446;&#24405;.ppt#-1,1,2. &#24187;&#28783;&#29255; 2" TargetMode="Externa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theme" Target="../theme/theme14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slideLayout" Target="../slideLayouts/slideLayout157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9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Relationship Id="rId1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70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Relationship Id="rId1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6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13" Type="http://schemas.openxmlformats.org/officeDocument/2006/relationships/slideLayout" Target="../slideLayouts/slideLayout203.xml"/><Relationship Id="rId18" Type="http://schemas.openxmlformats.org/officeDocument/2006/relationships/image" Target="../media/image11.png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202.xml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19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200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theme" Target="../theme/theme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auto">
          <a:xfrm>
            <a:off x="2843215" y="4800600"/>
            <a:ext cx="361473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1500" b="1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第三章　动量守恒和能量守恒</a:t>
            </a:r>
          </a:p>
        </p:txBody>
      </p:sp>
      <p:sp>
        <p:nvSpPr>
          <p:cNvPr id="1027" name="Oval 3"/>
          <p:cNvSpPr>
            <a:spLocks noChangeArrowheads="1"/>
          </p:cNvSpPr>
          <p:nvPr userDrawn="1"/>
        </p:nvSpPr>
        <p:spPr bwMode="auto">
          <a:xfrm>
            <a:off x="2738440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2052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2411415" y="4767263"/>
            <a:ext cx="4321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1350" b="1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第三章　动量守恒定律和能量守恒定律</a:t>
            </a:r>
          </a:p>
        </p:txBody>
      </p:sp>
      <p:sp>
        <p:nvSpPr>
          <p:cNvPr id="2057" name="Rectangle 9"/>
          <p:cNvSpPr>
            <a:spLocks noChangeArrowheads="1"/>
          </p:cNvSpPr>
          <p:nvPr userDrawn="1"/>
        </p:nvSpPr>
        <p:spPr bwMode="auto">
          <a:xfrm>
            <a:off x="4643439" y="135732"/>
            <a:ext cx="432117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3-1</a:t>
            </a:r>
            <a:r>
              <a:rPr lang="zh-CN" altLang="en-US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　质点和质点系的动量定理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ransition>
    <p:blinds/>
  </p:transition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4833937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50"/>
            </a:lvl1pPr>
          </a:lstStyle>
          <a:p>
            <a:fld id="{B8EE3F30-0CEA-4821-8959-6A6AB8D2757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75" name="Oval 3"/>
          <p:cNvSpPr>
            <a:spLocks noChangeArrowheads="1"/>
          </p:cNvSpPr>
          <p:nvPr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3076" name="Text Box 4">
            <a:hlinkClick r:id="rId13" action="ppaction://hlinkpres?slideindex=1&amp;slidetitle=2. 幻灯片 2"/>
          </p:cNvPr>
          <p:cNvSpPr txBox="1">
            <a:spLocks noChangeArrowheads="1"/>
          </p:cNvSpPr>
          <p:nvPr/>
        </p:nvSpPr>
        <p:spPr bwMode="auto">
          <a:xfrm>
            <a:off x="-34924" y="65487"/>
            <a:ext cx="898525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>
                <a:solidFill>
                  <a:schemeClr val="bg1"/>
                </a:solidFill>
                <a:latin typeface="Arial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</a:pPr>
            <a:r>
              <a:rPr lang="zh-CN" altLang="en-US" sz="900" b="1">
                <a:solidFill>
                  <a:schemeClr val="bg1"/>
                </a:solidFill>
                <a:latin typeface="Arial" charset="0"/>
                <a:ea typeface="楷体_GB2312" pitchFamily="49" charset="-122"/>
              </a:rPr>
              <a:t>第五版</a:t>
            </a:r>
          </a:p>
        </p:txBody>
      </p:sp>
      <p:pic>
        <p:nvPicPr>
          <p:cNvPr id="3077" name="Picture 5" descr="BOOK0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8200" y="4400550"/>
            <a:ext cx="533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blinds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4100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10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10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5124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12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12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1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6148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14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15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7172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717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717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8196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819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820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2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8203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9220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922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922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6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9227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0244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1024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1024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0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51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1268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1126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1127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4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1275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2292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1229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1229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229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3316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1331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1332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1" y="4676777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332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+mn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475" y="483989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fld id="{C16D1BAF-773E-4E00-B9F5-2677A67354D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4344" name="矩形 16"/>
          <p:cNvSpPr>
            <a:spLocks noChangeArrowheads="1"/>
          </p:cNvSpPr>
          <p:nvPr/>
        </p:nvSpPr>
        <p:spPr bwMode="auto">
          <a:xfrm>
            <a:off x="3177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53" r:id="rId12"/>
    <p:sldLayoutId id="2147483854" r:id="rId13"/>
    <p:sldLayoutId id="214748385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15364" name="直接连接符 10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直接连接符 11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5367" name="矩形 16"/>
          <p:cNvSpPr>
            <a:spLocks noChangeArrowheads="1"/>
          </p:cNvSpPr>
          <p:nvPr/>
        </p:nvSpPr>
        <p:spPr bwMode="auto">
          <a:xfrm>
            <a:off x="3177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5368" name="Rectangle 16"/>
          <p:cNvSpPr>
            <a:spLocks noChangeArrowheads="1"/>
          </p:cNvSpPr>
          <p:nvPr/>
        </p:nvSpPr>
        <p:spPr bwMode="auto">
          <a:xfrm>
            <a:off x="5862640" y="67868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pic>
        <p:nvPicPr>
          <p:cNvPr id="15369" name="直接连接符 13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0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478631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fld id="{677EE89C-61A7-4CC9-9C5B-19F47CE055F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3050" y="14287"/>
            <a:ext cx="1436688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extBox 80"/>
          <p:cNvSpPr txBox="1">
            <a:spLocks noChangeArrowheads="1"/>
          </p:cNvSpPr>
          <p:nvPr/>
        </p:nvSpPr>
        <p:spPr bwMode="auto">
          <a:xfrm>
            <a:off x="123826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16388" name="直接连接符 10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5847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直接连接符 11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505202" y="4731546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0" name="Rectangle 97"/>
          <p:cNvSpPr>
            <a:spLocks noChangeArrowheads="1"/>
          </p:cNvSpPr>
          <p:nvPr/>
        </p:nvSpPr>
        <p:spPr bwMode="auto">
          <a:xfrm>
            <a:off x="2197102" y="4801793"/>
            <a:ext cx="4175125" cy="20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350" b="1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第三章  动量守恒定律和能量守恒定律</a:t>
            </a:r>
          </a:p>
        </p:txBody>
      </p:sp>
      <p:sp>
        <p:nvSpPr>
          <p:cNvPr id="16391" name="矩形 16"/>
          <p:cNvSpPr>
            <a:spLocks noChangeArrowheads="1"/>
          </p:cNvSpPr>
          <p:nvPr/>
        </p:nvSpPr>
        <p:spPr bwMode="auto">
          <a:xfrm>
            <a:off x="3177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6392" name="Rectangle 16"/>
          <p:cNvSpPr>
            <a:spLocks noChangeArrowheads="1"/>
          </p:cNvSpPr>
          <p:nvPr/>
        </p:nvSpPr>
        <p:spPr bwMode="auto">
          <a:xfrm>
            <a:off x="7031039" y="67868"/>
            <a:ext cx="1566862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</a:t>
            </a:r>
          </a:p>
        </p:txBody>
      </p:sp>
      <p:pic>
        <p:nvPicPr>
          <p:cNvPr id="16393" name="直接连接符 13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973890" y="429816"/>
            <a:ext cx="1597025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4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478631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fld id="{FBC54597-84C7-4DDA-A1C3-ED4D06ADD83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6" y="457200"/>
            <a:ext cx="85407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1443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6" y="1428752"/>
            <a:ext cx="8540750" cy="314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7" y="4683919"/>
            <a:ext cx="22891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0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FontTx/>
              <a:buNone/>
              <a:defRPr sz="105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2" y="4683919"/>
            <a:ext cx="22891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050">
                <a:latin typeface="+mn-lt"/>
              </a:defRPr>
            </a:lvl1pPr>
          </a:lstStyle>
          <a:p>
            <a:fld id="{D67065FA-4D9A-47F8-A125-8A58CE269F2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ransition spd="med">
    <p:dissolv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76263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7411" name="Rectangle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6897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75512" y="4775597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50" b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buFontTx/>
              <a:buNone/>
              <a:defRPr/>
            </a:pPr>
            <a:fld id="{9C213DB0-0200-4869-8C2B-1224F9B30E83}" type="slidenum">
              <a:rPr lang="en-US" altLang="zh-CN" smtClean="0">
                <a:solidFill>
                  <a:srgbClr val="545472"/>
                </a:solidFill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29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6"/>
        </a:buBlip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15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4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7.wmf"/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2.jpg"/><Relationship Id="rId11" Type="http://schemas.openxmlformats.org/officeDocument/2006/relationships/image" Target="../media/image17.wmf"/><Relationship Id="rId5" Type="http://schemas.openxmlformats.org/officeDocument/2006/relationships/image" Target="../media/image31.jpg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30.jpg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6.jpg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9.jpg"/><Relationship Id="rId4" Type="http://schemas.openxmlformats.org/officeDocument/2006/relationships/image" Target="../media/image37.jpg"/><Relationship Id="rId9" Type="http://schemas.openxmlformats.org/officeDocument/2006/relationships/image" Target="../media/image3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44.wmf"/><Relationship Id="rId3" Type="http://schemas.openxmlformats.org/officeDocument/2006/relationships/image" Target="../media/image45.png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4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53.png"/><Relationship Id="rId26" Type="http://schemas.openxmlformats.org/officeDocument/2006/relationships/oleObject" Target="../embeddings/oleObject40.bin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9.bin"/><Relationship Id="rId2" Type="http://schemas.openxmlformats.org/officeDocument/2006/relationships/slideLayout" Target="../slideLayouts/slideLayout150.xml"/><Relationship Id="rId16" Type="http://schemas.openxmlformats.org/officeDocument/2006/relationships/image" Target="../media/image52.png"/><Relationship Id="rId20" Type="http://schemas.openxmlformats.org/officeDocument/2006/relationships/oleObject" Target="../embeddings/oleObject34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29.bin"/><Relationship Id="rId24" Type="http://schemas.openxmlformats.org/officeDocument/2006/relationships/oleObject" Target="../embeddings/oleObject38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7.bin"/><Relationship Id="rId28" Type="http://schemas.openxmlformats.org/officeDocument/2006/relationships/image" Target="../media/image55.png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51.wmf"/><Relationship Id="rId22" Type="http://schemas.openxmlformats.org/officeDocument/2006/relationships/oleObject" Target="../embeddings/oleObject36.bin"/><Relationship Id="rId27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51.wmf"/><Relationship Id="rId26" Type="http://schemas.openxmlformats.org/officeDocument/2006/relationships/oleObject" Target="../embeddings/oleObject36.bin"/><Relationship Id="rId3" Type="http://schemas.openxmlformats.org/officeDocument/2006/relationships/oleObject" Target="../embeddings/oleObject41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5.bin"/><Relationship Id="rId2" Type="http://schemas.openxmlformats.org/officeDocument/2006/relationships/slideLayout" Target="../slideLayouts/slideLayout150.xml"/><Relationship Id="rId16" Type="http://schemas.openxmlformats.org/officeDocument/2006/relationships/image" Target="../media/image50.wmf"/><Relationship Id="rId20" Type="http://schemas.openxmlformats.org/officeDocument/2006/relationships/image" Target="../media/image52.png"/><Relationship Id="rId29" Type="http://schemas.openxmlformats.org/officeDocument/2006/relationships/oleObject" Target="../embeddings/oleObject3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27.bin"/><Relationship Id="rId24" Type="http://schemas.openxmlformats.org/officeDocument/2006/relationships/oleObject" Target="../embeddings/oleObject34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oleObject" Target="../embeddings/oleObject38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56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49.wmf"/><Relationship Id="rId22" Type="http://schemas.openxmlformats.org/officeDocument/2006/relationships/image" Target="../media/image53.png"/><Relationship Id="rId27" Type="http://schemas.openxmlformats.org/officeDocument/2006/relationships/oleObject" Target="../embeddings/oleObject37.bin"/><Relationship Id="rId30" Type="http://schemas.openxmlformats.org/officeDocument/2006/relationships/oleObject" Target="../embeddings/oleObject4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15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6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15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155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7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14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7.xml"/><Relationship Id="rId6" Type="http://schemas.openxmlformats.org/officeDocument/2006/relationships/image" Target="../media/image79.jpg"/><Relationship Id="rId5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60.bin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2" Type="http://schemas.openxmlformats.org/officeDocument/2006/relationships/slideLayout" Target="../slideLayouts/slideLayout150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7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28" Type="http://schemas.openxmlformats.org/officeDocument/2006/relationships/image" Target="../media/image92.w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72.bin"/><Relationship Id="rId30" Type="http://schemas.openxmlformats.org/officeDocument/2006/relationships/image" Target="../media/image9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9" Type="http://schemas.openxmlformats.org/officeDocument/2006/relationships/oleObject" Target="../embeddings/oleObject72.bin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89.wmf"/><Relationship Id="rId42" Type="http://schemas.openxmlformats.org/officeDocument/2006/relationships/image" Target="../media/image93.wmf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image" Target="../media/image91.wmf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67.bin"/><Relationship Id="rId41" Type="http://schemas.openxmlformats.org/officeDocument/2006/relationships/oleObject" Target="../embeddings/oleObject73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84.wmf"/><Relationship Id="rId32" Type="http://schemas.openxmlformats.org/officeDocument/2006/relationships/image" Target="../media/image88.wmf"/><Relationship Id="rId37" Type="http://schemas.openxmlformats.org/officeDocument/2006/relationships/oleObject" Target="../embeddings/oleObject71.bin"/><Relationship Id="rId40" Type="http://schemas.openxmlformats.org/officeDocument/2006/relationships/image" Target="../media/image92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86.wmf"/><Relationship Id="rId36" Type="http://schemas.openxmlformats.org/officeDocument/2006/relationships/image" Target="../media/image90.wmf"/><Relationship Id="rId10" Type="http://schemas.openxmlformats.org/officeDocument/2006/relationships/image" Target="../media/image97.wmf"/><Relationship Id="rId19" Type="http://schemas.openxmlformats.org/officeDocument/2006/relationships/oleObject" Target="../embeddings/oleObject62.bin"/><Relationship Id="rId31" Type="http://schemas.openxmlformats.org/officeDocument/2006/relationships/oleObject" Target="../embeddings/oleObject68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99.w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87.wmf"/><Relationship Id="rId35" Type="http://schemas.openxmlformats.org/officeDocument/2006/relationships/oleObject" Target="../embeddings/oleObject7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9" Type="http://schemas.openxmlformats.org/officeDocument/2006/relationships/oleObject" Target="../embeddings/oleObject73.bin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64.bin"/><Relationship Id="rId34" Type="http://schemas.openxmlformats.org/officeDocument/2006/relationships/image" Target="../media/image90.wmf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33" Type="http://schemas.openxmlformats.org/officeDocument/2006/relationships/oleObject" Target="../embeddings/oleObject70.bin"/><Relationship Id="rId38" Type="http://schemas.openxmlformats.org/officeDocument/2006/relationships/image" Target="../media/image92.wmf"/><Relationship Id="rId2" Type="http://schemas.openxmlformats.org/officeDocument/2006/relationships/slideLayout" Target="../slideLayouts/slideLayout150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29" Type="http://schemas.openxmlformats.org/officeDocument/2006/relationships/oleObject" Target="../embeddings/oleObject6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85.wmf"/><Relationship Id="rId32" Type="http://schemas.openxmlformats.org/officeDocument/2006/relationships/image" Target="../media/image89.wmf"/><Relationship Id="rId37" Type="http://schemas.openxmlformats.org/officeDocument/2006/relationships/oleObject" Target="../embeddings/oleObject72.bin"/><Relationship Id="rId40" Type="http://schemas.openxmlformats.org/officeDocument/2006/relationships/image" Target="../media/image93.w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87.wmf"/><Relationship Id="rId36" Type="http://schemas.openxmlformats.org/officeDocument/2006/relationships/image" Target="../media/image91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63.bin"/><Relationship Id="rId31" Type="http://schemas.openxmlformats.org/officeDocument/2006/relationships/oleObject" Target="../embeddings/oleObject69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67.bin"/><Relationship Id="rId30" Type="http://schemas.openxmlformats.org/officeDocument/2006/relationships/image" Target="../media/image88.wmf"/><Relationship Id="rId35" Type="http://schemas.openxmlformats.org/officeDocument/2006/relationships/oleObject" Target="../embeddings/oleObject7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oleObject" Target="../embeddings/oleObject85.bin"/><Relationship Id="rId7" Type="http://schemas.openxmlformats.org/officeDocument/2006/relationships/image" Target="../media/image107.wmf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09.wmf"/><Relationship Id="rId5" Type="http://schemas.openxmlformats.org/officeDocument/2006/relationships/image" Target="../media/image110.png"/><Relationship Id="rId10" Type="http://schemas.openxmlformats.org/officeDocument/2006/relationships/oleObject" Target="../embeddings/oleObject88.bin"/><Relationship Id="rId4" Type="http://schemas.openxmlformats.org/officeDocument/2006/relationships/image" Target="../media/image106.wmf"/><Relationship Id="rId9" Type="http://schemas.openxmlformats.org/officeDocument/2006/relationships/image" Target="../media/image10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18.wmf"/><Relationship Id="rId26" Type="http://schemas.openxmlformats.org/officeDocument/2006/relationships/image" Target="../media/image122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29" Type="http://schemas.openxmlformats.org/officeDocument/2006/relationships/oleObject" Target="../embeddings/oleObject10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121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28" Type="http://schemas.openxmlformats.org/officeDocument/2006/relationships/image" Target="../media/image123.wmf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101.bin"/><Relationship Id="rId30" Type="http://schemas.openxmlformats.org/officeDocument/2006/relationships/image" Target="../media/image12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32.wmf"/><Relationship Id="rId26" Type="http://schemas.openxmlformats.org/officeDocument/2006/relationships/oleObject" Target="../embeddings/oleObject114.bin"/><Relationship Id="rId3" Type="http://schemas.openxmlformats.org/officeDocument/2006/relationships/oleObject" Target="../embeddings/oleObject103.bin"/><Relationship Id="rId21" Type="http://schemas.openxmlformats.org/officeDocument/2006/relationships/image" Target="../media/image133.wmf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10.bin"/><Relationship Id="rId25" Type="http://schemas.openxmlformats.org/officeDocument/2006/relationships/image" Target="../media/image112.wmf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131.wmf"/><Relationship Id="rId20" Type="http://schemas.openxmlformats.org/officeDocument/2006/relationships/oleObject" Target="../embeddings/oleObject111.bin"/><Relationship Id="rId29" Type="http://schemas.openxmlformats.org/officeDocument/2006/relationships/image" Target="../media/image114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07.bin"/><Relationship Id="rId24" Type="http://schemas.openxmlformats.org/officeDocument/2006/relationships/oleObject" Target="../embeddings/oleObject113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image" Target="../media/image134.emf"/><Relationship Id="rId28" Type="http://schemas.openxmlformats.org/officeDocument/2006/relationships/oleObject" Target="../embeddings/oleObject115.bin"/><Relationship Id="rId10" Type="http://schemas.openxmlformats.org/officeDocument/2006/relationships/image" Target="../media/image128.wmf"/><Relationship Id="rId19" Type="http://schemas.openxmlformats.org/officeDocument/2006/relationships/image" Target="../media/image135.png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30.wmf"/><Relationship Id="rId22" Type="http://schemas.openxmlformats.org/officeDocument/2006/relationships/oleObject" Target="../embeddings/oleObject112.bin"/><Relationship Id="rId27" Type="http://schemas.openxmlformats.org/officeDocument/2006/relationships/image" Target="../media/image11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14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4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47.wmf"/><Relationship Id="rId3" Type="http://schemas.openxmlformats.org/officeDocument/2006/relationships/image" Target="../media/image149.png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27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46.wmf"/><Relationship Id="rId5" Type="http://schemas.openxmlformats.org/officeDocument/2006/relationships/image" Target="../media/image143.wmf"/><Relationship Id="rId15" Type="http://schemas.openxmlformats.org/officeDocument/2006/relationships/image" Target="../media/image148.wmf"/><Relationship Id="rId10" Type="http://schemas.openxmlformats.org/officeDocument/2006/relationships/oleObject" Target="../embeddings/oleObject126.bin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2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54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33.bin"/><Relationship Id="rId2" Type="http://schemas.openxmlformats.org/officeDocument/2006/relationships/slideLayout" Target="../slideLayouts/slideLayout150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5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62.wmf"/><Relationship Id="rId26" Type="http://schemas.openxmlformats.org/officeDocument/2006/relationships/image" Target="../media/image166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2" Type="http://schemas.openxmlformats.org/officeDocument/2006/relationships/slideLayout" Target="../slideLayouts/slideLayout150.xml"/><Relationship Id="rId16" Type="http://schemas.openxmlformats.org/officeDocument/2006/relationships/image" Target="../media/image161.wmf"/><Relationship Id="rId20" Type="http://schemas.openxmlformats.org/officeDocument/2006/relationships/image" Target="../media/image163.wmf"/><Relationship Id="rId29" Type="http://schemas.openxmlformats.org/officeDocument/2006/relationships/oleObject" Target="../embeddings/oleObject147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65.wmf"/><Relationship Id="rId32" Type="http://schemas.openxmlformats.org/officeDocument/2006/relationships/image" Target="../media/image169.wmf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67.wmf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42.bin"/><Relationship Id="rId31" Type="http://schemas.openxmlformats.org/officeDocument/2006/relationships/oleObject" Target="../embeddings/oleObject148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60.wmf"/><Relationship Id="rId22" Type="http://schemas.openxmlformats.org/officeDocument/2006/relationships/image" Target="../media/image164.wmf"/><Relationship Id="rId27" Type="http://schemas.openxmlformats.org/officeDocument/2006/relationships/oleObject" Target="../embeddings/oleObject146.bin"/><Relationship Id="rId30" Type="http://schemas.openxmlformats.org/officeDocument/2006/relationships/image" Target="../media/image16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54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33.bin"/><Relationship Id="rId2" Type="http://schemas.openxmlformats.org/officeDocument/2006/relationships/slideLayout" Target="../slideLayouts/slideLayout157.xml"/><Relationship Id="rId16" Type="http://schemas.openxmlformats.org/officeDocument/2006/relationships/image" Target="../media/image153.wmf"/><Relationship Id="rId20" Type="http://schemas.openxmlformats.org/officeDocument/2006/relationships/image" Target="../media/image175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73.wmf"/><Relationship Id="rId19" Type="http://schemas.openxmlformats.org/officeDocument/2006/relationships/oleObject" Target="../embeddings/oleObject155.bin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83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63.bin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8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5.bin"/><Relationship Id="rId2" Type="http://schemas.openxmlformats.org/officeDocument/2006/relationships/slideLayout" Target="../slideLayouts/slideLayout15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8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8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1600" y="488158"/>
            <a:ext cx="6572250" cy="540544"/>
          </a:xfrm>
        </p:spPr>
        <p:txBody>
          <a:bodyPr/>
          <a:lstStyle/>
          <a:p>
            <a:r>
              <a:rPr lang="zh-CN" altLang="en-US" sz="24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第三章 动量守恒定律和能量守恒定律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132410" y="1168003"/>
            <a:ext cx="391004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-1   </a:t>
            </a:r>
            <a:r>
              <a:rPr kumimoji="1" lang="zh-CN" altLang="en-US" sz="2100" b="1">
                <a:ea typeface="华文中宋" pitchFamily="2" charset="-122"/>
              </a:rPr>
              <a:t>质点和质点系的动量定理   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132410" y="1554958"/>
            <a:ext cx="256352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-2   </a:t>
            </a:r>
            <a:r>
              <a:rPr kumimoji="1" lang="zh-CN" altLang="en-US" sz="2100" b="1">
                <a:ea typeface="华文中宋" pitchFamily="2" charset="-122"/>
              </a:rPr>
              <a:t>动量守恒定律   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137173" y="1965722"/>
            <a:ext cx="202491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</a:t>
            </a:r>
            <a:r>
              <a:rPr kumimoji="1" lang="zh-CN" altLang="en-US" sz="2100" b="1">
                <a:ea typeface="华文中宋" pitchFamily="2" charset="-122"/>
              </a:rPr>
              <a:t>4   动能定理   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2151460" y="2422922"/>
            <a:ext cx="384271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</a:t>
            </a:r>
            <a:r>
              <a:rPr kumimoji="1" lang="zh-CN" altLang="en-US" sz="2100" b="1">
                <a:ea typeface="华文中宋" pitchFamily="2" charset="-122"/>
              </a:rPr>
              <a:t>5   保守力与非保守力   势能   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2151462" y="2880122"/>
            <a:ext cx="411202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</a:t>
            </a:r>
            <a:r>
              <a:rPr kumimoji="1" lang="zh-CN" altLang="en-US" sz="2100" b="1">
                <a:ea typeface="华文中宋" pitchFamily="2" charset="-122"/>
              </a:rPr>
              <a:t>6   功能原理   机械能守恒定律   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2152650" y="3337322"/>
            <a:ext cx="45833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</a:t>
            </a:r>
            <a:r>
              <a:rPr kumimoji="1" lang="zh-CN" altLang="en-US" sz="2100" b="1">
                <a:ea typeface="华文中宋" pitchFamily="2" charset="-122"/>
              </a:rPr>
              <a:t>7   完全弹性碰撞   完全非弹性碰撞  </a:t>
            </a:r>
          </a:p>
        </p:txBody>
      </p:sp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2168130" y="3794522"/>
            <a:ext cx="256352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</a:t>
            </a:r>
            <a:r>
              <a:rPr kumimoji="1" lang="zh-CN" altLang="en-US" sz="2100" b="1">
                <a:ea typeface="华文中宋" pitchFamily="2" charset="-122"/>
              </a:rPr>
              <a:t>8   能量守恒定律   </a:t>
            </a:r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2182418" y="4241006"/>
            <a:ext cx="310213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en-US" altLang="zh-CN" sz="2100" b="1">
                <a:ea typeface="华文中宋" pitchFamily="2" charset="-122"/>
              </a:rPr>
              <a:t>3-9   </a:t>
            </a:r>
            <a:r>
              <a:rPr kumimoji="1" lang="zh-CN" altLang="en-US" sz="2100" b="1">
                <a:ea typeface="华文中宋" pitchFamily="2" charset="-122"/>
              </a:rPr>
              <a:t>质心 质心运动定律  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443856" y="4864978"/>
            <a:ext cx="1716881" cy="3571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>
              <a:buFont typeface="Arial" charset="0"/>
            </a:pPr>
            <a:fld id="{FE603C17-FCFA-415A-8B04-CF33DE68F129}" type="slidenum">
              <a:rPr lang="zh-CN" altLang="en-US" sz="1350">
                <a:solidFill>
                  <a:srgbClr val="0000CC"/>
                </a:solidFill>
              </a:rPr>
              <a:pPr>
                <a:buFont typeface="Arial" charset="0"/>
              </a:pPr>
              <a:t>2</a:t>
            </a:fld>
            <a:endParaRPr lang="en-US" altLang="zh-CN" sz="1350">
              <a:solidFill>
                <a:srgbClr val="0000CC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2501" y="4302889"/>
            <a:ext cx="6286500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>
                <a:solidFill>
                  <a:srgbClr val="0000FF"/>
                </a:solidFill>
                <a:latin typeface="宋体"/>
                <a:cs typeface="宋体"/>
              </a:rPr>
              <a:t>问</a:t>
            </a:r>
            <a:r>
              <a:rPr sz="2100" b="1" spc="-4">
                <a:solidFill>
                  <a:srgbClr val="0000FF"/>
                </a:solidFill>
                <a:latin typeface="宋体"/>
                <a:cs typeface="宋体"/>
              </a:rPr>
              <a:t>题：</a:t>
            </a:r>
            <a:r>
              <a:rPr sz="2100" b="1" dirty="0">
                <a:latin typeface="宋体"/>
                <a:cs typeface="宋体"/>
              </a:rPr>
              <a:t>一</a:t>
            </a:r>
            <a:r>
              <a:rPr sz="2100" b="1" spc="-4" dirty="0">
                <a:latin typeface="宋体"/>
                <a:cs typeface="宋体"/>
              </a:rPr>
              <a:t>只小小</a:t>
            </a:r>
            <a:r>
              <a:rPr sz="2100" b="1" dirty="0">
                <a:latin typeface="宋体"/>
                <a:cs typeface="宋体"/>
              </a:rPr>
              <a:t>的</a:t>
            </a:r>
            <a:r>
              <a:rPr sz="2100" b="1" spc="-4" dirty="0">
                <a:latin typeface="宋体"/>
                <a:cs typeface="宋体"/>
              </a:rPr>
              <a:t>飞鸟，</a:t>
            </a:r>
            <a:r>
              <a:rPr sz="2100" b="1" dirty="0">
                <a:latin typeface="宋体"/>
                <a:cs typeface="宋体"/>
              </a:rPr>
              <a:t>为</a:t>
            </a:r>
            <a:r>
              <a:rPr sz="2100" b="1" spc="-4" dirty="0">
                <a:latin typeface="宋体"/>
                <a:cs typeface="宋体"/>
              </a:rPr>
              <a:t>什么会有如此大</a:t>
            </a:r>
            <a:r>
              <a:rPr sz="2100" b="1" dirty="0">
                <a:latin typeface="宋体"/>
                <a:cs typeface="宋体"/>
              </a:rPr>
              <a:t>的</a:t>
            </a:r>
            <a:r>
              <a:rPr sz="2100" b="1" spc="-4" dirty="0">
                <a:latin typeface="宋体"/>
                <a:cs typeface="宋体"/>
              </a:rPr>
              <a:t>威力？</a:t>
            </a:r>
            <a:endParaRPr sz="2100" b="1">
              <a:latin typeface="宋体"/>
              <a:cs typeface="宋体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61874" y="1179313"/>
            <a:ext cx="2889668" cy="2719702"/>
            <a:chOff x="3190796" y="2081782"/>
            <a:chExt cx="3852890" cy="3626270"/>
          </a:xfrm>
        </p:grpSpPr>
        <p:sp>
          <p:nvSpPr>
            <p:cNvPr id="5" name="object 5"/>
            <p:cNvSpPr/>
            <p:nvPr/>
          </p:nvSpPr>
          <p:spPr>
            <a:xfrm>
              <a:off x="3190796" y="2081782"/>
              <a:ext cx="3852890" cy="28598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b="1"/>
            </a:p>
          </p:txBody>
        </p:sp>
        <p:sp>
          <p:nvSpPr>
            <p:cNvPr id="9" name="object 10"/>
            <p:cNvSpPr txBox="1"/>
            <p:nvPr/>
          </p:nvSpPr>
          <p:spPr>
            <a:xfrm>
              <a:off x="4146109" y="5264981"/>
              <a:ext cx="2082953" cy="44307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 algn="ctr">
                <a:spcBef>
                  <a:spcPts val="71"/>
                </a:spcBef>
                <a:tabLst>
                  <a:tab pos="3129915" algn="l"/>
                </a:tabLst>
              </a:pPr>
              <a:r>
                <a:rPr sz="2100" b="1" spc="-4">
                  <a:latin typeface="宋体"/>
                  <a:cs typeface="宋体"/>
                </a:rPr>
                <a:t>鸟</a:t>
              </a:r>
              <a:r>
                <a:rPr lang="zh-CN" altLang="en-US" sz="2100" b="1" spc="-4">
                  <a:latin typeface="宋体"/>
                  <a:cs typeface="宋体"/>
                </a:rPr>
                <a:t>击事件</a:t>
              </a:r>
              <a:endParaRPr sz="2100" b="1">
                <a:latin typeface="宋体"/>
                <a:cs typeface="宋体"/>
              </a:endParaRPr>
            </a:p>
          </p:txBody>
        </p:sp>
      </p:grpSp>
      <p:sp>
        <p:nvSpPr>
          <p:cNvPr id="12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737014" y="339253"/>
            <a:ext cx="5429250" cy="514350"/>
          </a:xfr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2400" b="1">
                <a:solidFill>
                  <a:srgbClr val="000404"/>
                </a:solidFill>
                <a:ea typeface="华文中宋" pitchFamily="2" charset="-122"/>
              </a:rPr>
              <a:t>3</a:t>
            </a:r>
            <a:r>
              <a:rPr lang="en-US" altLang="zh-CN" sz="2400" b="1">
                <a:solidFill>
                  <a:srgbClr val="000404"/>
                </a:solidFill>
                <a:ea typeface="华文中宋" pitchFamily="2" charset="-122"/>
              </a:rPr>
              <a:t>-1    </a:t>
            </a:r>
            <a:r>
              <a:rPr lang="zh-CN" altLang="en-US" sz="2400" b="1">
                <a:solidFill>
                  <a:srgbClr val="000404"/>
                </a:solidFill>
                <a:ea typeface="华文中宋" pitchFamily="2" charset="-122"/>
              </a:rPr>
              <a:t>质点和质点系的动量定理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692699" y="1179313"/>
            <a:ext cx="3332658" cy="2719702"/>
            <a:chOff x="5035880" y="2081782"/>
            <a:chExt cx="3910216" cy="3626270"/>
          </a:xfrm>
        </p:grpSpPr>
        <p:sp>
          <p:nvSpPr>
            <p:cNvPr id="6" name="object 6"/>
            <p:cNvSpPr/>
            <p:nvPr/>
          </p:nvSpPr>
          <p:spPr>
            <a:xfrm>
              <a:off x="5035880" y="2081782"/>
              <a:ext cx="3910216" cy="290236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b="1"/>
            </a:p>
          </p:txBody>
        </p:sp>
        <p:sp>
          <p:nvSpPr>
            <p:cNvPr id="13" name="object 10"/>
            <p:cNvSpPr txBox="1"/>
            <p:nvPr/>
          </p:nvSpPr>
          <p:spPr>
            <a:xfrm>
              <a:off x="5874202" y="5264981"/>
              <a:ext cx="2684595" cy="44307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 algn="ctr">
                <a:spcBef>
                  <a:spcPts val="71"/>
                </a:spcBef>
                <a:tabLst>
                  <a:tab pos="3129915" algn="l"/>
                </a:tabLst>
              </a:pPr>
              <a:r>
                <a:rPr lang="zh-CN" altLang="en-US" sz="2100" b="1">
                  <a:latin typeface="宋体"/>
                  <a:cs typeface="宋体"/>
                </a:rPr>
                <a:t>机毁鸟亡</a:t>
              </a:r>
              <a:endParaRPr sz="2100" b="1">
                <a:latin typeface="宋体"/>
                <a:cs typeface="宋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677273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6125312" y="1464923"/>
            <a:ext cx="789170" cy="1067438"/>
          </a:xfrm>
          <a:prstGeom prst="rect">
            <a:avLst/>
          </a:prstGeom>
          <a:solidFill>
            <a:srgbClr val="79E2ED">
              <a:alpha val="6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08567B-BBE8-4DD1-87CD-42239D4D1D5A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280197" y="266774"/>
            <a:ext cx="437435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C00000"/>
                </a:solidFill>
                <a:latin typeface="Arial" charset="0"/>
              </a:rPr>
              <a:t>一、冲</a:t>
            </a:r>
            <a:r>
              <a:rPr lang="zh-CN" altLang="en-US" sz="2100" b="1" dirty="0">
                <a:solidFill>
                  <a:srgbClr val="C00000"/>
                </a:solidFill>
                <a:latin typeface="Arial" charset="0"/>
              </a:rPr>
              <a:t>量　质点的动量定理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658814" y="845024"/>
            <a:ext cx="387768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</a:pPr>
            <a:r>
              <a:rPr lang="en-US" altLang="zh-CN" sz="2100" b="1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100" b="1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 冲量（力对时间的积累）</a:t>
            </a:r>
            <a:endParaRPr lang="zh-CN" altLang="en-US" sz="2100" b="1">
              <a:solidFill>
                <a:srgbClr val="1C1C1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808757"/>
              </p:ext>
            </p:extLst>
          </p:nvPr>
        </p:nvGraphicFramePr>
        <p:xfrm>
          <a:off x="2403496" y="3657121"/>
          <a:ext cx="1890713" cy="821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2" r:id="rId3" imgW="672833" imgH="355609" progId="Equation.3">
                  <p:embed/>
                </p:oleObj>
              </mc:Choice>
              <mc:Fallback>
                <p:oleObj r:id="rId3" imgW="672833" imgH="355609" progId="Equation.3">
                  <p:embed/>
                  <p:pic>
                    <p:nvPicPr>
                      <p:cNvPr id="194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96" y="3657121"/>
                        <a:ext cx="1890713" cy="82153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DFFD2"/>
                          </a:gs>
                          <a:gs pos="50000">
                            <a:schemeClr val="bg1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427911"/>
              </p:ext>
            </p:extLst>
          </p:nvPr>
        </p:nvGraphicFramePr>
        <p:xfrm>
          <a:off x="2403498" y="1930993"/>
          <a:ext cx="164187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3" name="Equation" r:id="rId5" imgW="583920" imgH="228600" progId="Equation.DSMT4">
                  <p:embed/>
                </p:oleObj>
              </mc:Choice>
              <mc:Fallback>
                <p:oleObj name="Equation" r:id="rId5" imgW="583920" imgH="228600" progId="Equation.DSMT4">
                  <p:embed/>
                  <p:pic>
                    <p:nvPicPr>
                      <p:cNvPr id="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98" y="1930993"/>
                        <a:ext cx="1641872" cy="5286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DFFD2"/>
                          </a:gs>
                          <a:gs pos="50000">
                            <a:schemeClr val="bg1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008405" y="1389328"/>
            <a:ext cx="2285804" cy="480131"/>
            <a:chOff x="1582135" y="2651088"/>
            <a:chExt cx="3047738" cy="640174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1582135" y="2651088"/>
              <a:ext cx="3047738" cy="640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100" b="1">
                  <a:latin typeface="Arial" charset="0"/>
                </a:rPr>
                <a:t>若   为</a:t>
              </a:r>
              <a:r>
                <a:rPr lang="zh-CN" altLang="en-US" sz="2100" b="1">
                  <a:solidFill>
                    <a:srgbClr val="C00000"/>
                  </a:solidFill>
                  <a:latin typeface="Arial" charset="0"/>
                </a:rPr>
                <a:t>恒力</a:t>
              </a:r>
              <a:endParaRPr lang="zh-CN" altLang="en-US" sz="2100" b="1" dirty="0">
                <a:solidFill>
                  <a:srgbClr val="C00000"/>
                </a:solidFill>
                <a:latin typeface="Arial" charset="0"/>
              </a:endParaRPr>
            </a:p>
          </p:txBody>
        </p:sp>
        <p:graphicFrame>
          <p:nvGraphicFramePr>
            <p:cNvPr id="1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4437911"/>
                </p:ext>
              </p:extLst>
            </p:nvPr>
          </p:nvGraphicFramePr>
          <p:xfrm>
            <a:off x="2424822" y="2672156"/>
            <a:ext cx="532918" cy="505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74" name="Equation" r:id="rId7" imgW="164880" imgH="190440" progId="Equation.DSMT4">
                    <p:embed/>
                  </p:oleObj>
                </mc:Choice>
                <mc:Fallback>
                  <p:oleObj name="Equation" r:id="rId7" imgW="164880" imgH="190440" progId="Equation.DSMT4">
                    <p:embed/>
                    <p:pic>
                      <p:nvPicPr>
                        <p:cNvPr id="1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4822" y="2672156"/>
                          <a:ext cx="532918" cy="505589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2008405" y="3099490"/>
            <a:ext cx="2285804" cy="480131"/>
            <a:chOff x="1582135" y="2651088"/>
            <a:chExt cx="3047738" cy="640174"/>
          </a:xfrm>
        </p:grpSpPr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1582135" y="2651088"/>
              <a:ext cx="3047738" cy="640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100" b="1">
                  <a:latin typeface="Arial" charset="0"/>
                </a:rPr>
                <a:t>若   为</a:t>
              </a:r>
              <a:r>
                <a:rPr lang="zh-CN" altLang="en-US" sz="2100" b="1">
                  <a:solidFill>
                    <a:srgbClr val="C00000"/>
                  </a:solidFill>
                  <a:latin typeface="Arial" charset="0"/>
                </a:rPr>
                <a:t>变力</a:t>
              </a:r>
              <a:endParaRPr lang="zh-CN" altLang="en-US" sz="2100" b="1" dirty="0">
                <a:solidFill>
                  <a:srgbClr val="C00000"/>
                </a:solidFill>
                <a:latin typeface="Arial" charset="0"/>
              </a:endParaRPr>
            </a:p>
          </p:txBody>
        </p:sp>
        <p:graphicFrame>
          <p:nvGraphicFramePr>
            <p:cNvPr id="2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127843"/>
                </p:ext>
              </p:extLst>
            </p:nvPr>
          </p:nvGraphicFramePr>
          <p:xfrm>
            <a:off x="2424822" y="2672156"/>
            <a:ext cx="532918" cy="505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75" name="Equation" r:id="rId9" imgW="164880" imgH="190440" progId="Equation.DSMT4">
                    <p:embed/>
                  </p:oleObj>
                </mc:Choice>
                <mc:Fallback>
                  <p:oleObj name="Equation" r:id="rId9" imgW="164880" imgH="190440" progId="Equation.DSMT4">
                    <p:embed/>
                    <p:pic>
                      <p:nvPicPr>
                        <p:cNvPr id="1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4822" y="2672156"/>
                          <a:ext cx="532918" cy="505589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7"/>
          <p:cNvGrpSpPr>
            <a:grpSpLocks/>
          </p:cNvGrpSpPr>
          <p:nvPr/>
        </p:nvGrpSpPr>
        <p:grpSpPr bwMode="auto">
          <a:xfrm>
            <a:off x="5536496" y="1144357"/>
            <a:ext cx="1926731" cy="1682969"/>
            <a:chOff x="91" y="46"/>
            <a:chExt cx="1731" cy="1512"/>
          </a:xfrm>
        </p:grpSpPr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329" y="1293"/>
              <a:ext cx="1248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248" y="0"/>
                </a:cxn>
              </a:cxnLst>
              <a:rect l="0" t="0" r="r" b="b"/>
              <a:pathLst>
                <a:path w="1248" h="1">
                  <a:moveTo>
                    <a:pt x="0" y="1"/>
                  </a:moveTo>
                  <a:lnTo>
                    <a:pt x="124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V="1">
              <a:off x="327" y="46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>
              <a:off x="625" y="334"/>
              <a:ext cx="70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>
              <a:off x="620" y="358"/>
              <a:ext cx="0" cy="936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>
              <a:off x="1329" y="358"/>
              <a:ext cx="0" cy="936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8" name="Text Box 22"/>
            <p:cNvSpPr txBox="1">
              <a:spLocks noChangeArrowheads="1"/>
            </p:cNvSpPr>
            <p:nvPr/>
          </p:nvSpPr>
          <p:spPr bwMode="auto">
            <a:xfrm>
              <a:off x="1648" y="1225"/>
              <a:ext cx="174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t</a:t>
              </a:r>
              <a:endParaRPr lang="en-US" altLang="zh-CN" i="1">
                <a:solidFill>
                  <a:srgbClr val="FFFF00"/>
                </a:solidFill>
              </a:endParaRPr>
            </a:p>
          </p:txBody>
        </p:sp>
        <p:sp>
          <p:nvSpPr>
            <p:cNvPr id="39" name="Text Box 23"/>
            <p:cNvSpPr txBox="1">
              <a:spLocks noChangeArrowheads="1"/>
            </p:cNvSpPr>
            <p:nvPr/>
          </p:nvSpPr>
          <p:spPr bwMode="auto">
            <a:xfrm>
              <a:off x="529" y="1226"/>
              <a:ext cx="243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t</a:t>
              </a:r>
              <a:r>
                <a:rPr lang="en-US" altLang="zh-CN" sz="2100" baseline="-25000"/>
                <a:t>1</a:t>
              </a:r>
              <a:endParaRPr lang="en-US" altLang="zh-CN" sz="2100"/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>
              <a:off x="329" y="337"/>
              <a:ext cx="2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" name="Text Box 27"/>
            <p:cNvSpPr txBox="1">
              <a:spLocks noChangeArrowheads="1"/>
            </p:cNvSpPr>
            <p:nvPr/>
          </p:nvSpPr>
          <p:spPr bwMode="auto">
            <a:xfrm>
              <a:off x="91" y="1180"/>
              <a:ext cx="363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/>
                <a:t>O</a:t>
              </a:r>
            </a:p>
          </p:txBody>
        </p:sp>
        <p:sp>
          <p:nvSpPr>
            <p:cNvPr id="35" name="Text Box 23"/>
            <p:cNvSpPr txBox="1">
              <a:spLocks noChangeArrowheads="1"/>
            </p:cNvSpPr>
            <p:nvPr/>
          </p:nvSpPr>
          <p:spPr bwMode="auto">
            <a:xfrm>
              <a:off x="1262" y="1226"/>
              <a:ext cx="243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smtClean="0"/>
                <a:t>t</a:t>
              </a:r>
              <a:r>
                <a:rPr lang="en-US" altLang="zh-CN" sz="2100" baseline="-25000" smtClean="0"/>
                <a:t>2</a:t>
              </a:r>
              <a:endParaRPr lang="en-US" altLang="zh-CN" sz="2100"/>
            </a:p>
          </p:txBody>
        </p:sp>
      </p:grpSp>
      <p:grpSp>
        <p:nvGrpSpPr>
          <p:cNvPr id="44" name="Group 57"/>
          <p:cNvGrpSpPr>
            <a:grpSpLocks/>
          </p:cNvGrpSpPr>
          <p:nvPr/>
        </p:nvGrpSpPr>
        <p:grpSpPr bwMode="auto">
          <a:xfrm>
            <a:off x="5531645" y="3168368"/>
            <a:ext cx="2009262" cy="1843235"/>
            <a:chOff x="3505" y="2341"/>
            <a:chExt cx="1779" cy="1632"/>
          </a:xfrm>
        </p:grpSpPr>
        <p:sp>
          <p:nvSpPr>
            <p:cNvPr id="45" name="Line 29"/>
            <p:cNvSpPr>
              <a:spLocks noChangeShapeType="1"/>
            </p:cNvSpPr>
            <p:nvPr/>
          </p:nvSpPr>
          <p:spPr bwMode="auto">
            <a:xfrm>
              <a:off x="3750" y="3632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auto">
            <a:xfrm flipV="1">
              <a:off x="3760" y="2341"/>
              <a:ext cx="1" cy="1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" name="Freeform 31"/>
            <p:cNvSpPr>
              <a:spLocks/>
            </p:cNvSpPr>
            <p:nvPr/>
          </p:nvSpPr>
          <p:spPr bwMode="auto">
            <a:xfrm>
              <a:off x="4066" y="2580"/>
              <a:ext cx="675" cy="1038"/>
            </a:xfrm>
            <a:custGeom>
              <a:avLst/>
              <a:gdLst/>
              <a:ahLst/>
              <a:cxnLst>
                <a:cxn ang="0">
                  <a:pos x="0" y="624"/>
                </a:cxn>
                <a:cxn ang="0">
                  <a:pos x="240" y="0"/>
                </a:cxn>
                <a:cxn ang="0">
                  <a:pos x="480" y="624"/>
                </a:cxn>
              </a:cxnLst>
              <a:rect l="0" t="0" r="r" b="b"/>
              <a:pathLst>
                <a:path w="480" h="624">
                  <a:moveTo>
                    <a:pt x="0" y="624"/>
                  </a:moveTo>
                  <a:cubicBezTo>
                    <a:pt x="80" y="312"/>
                    <a:pt x="160" y="0"/>
                    <a:pt x="240" y="0"/>
                  </a:cubicBezTo>
                  <a:cubicBezTo>
                    <a:pt x="320" y="0"/>
                    <a:pt x="440" y="520"/>
                    <a:pt x="480" y="624"/>
                  </a:cubicBezTo>
                </a:path>
              </a:pathLst>
            </a:custGeom>
            <a:solidFill>
              <a:srgbClr val="79E2ED">
                <a:alpha val="60000"/>
              </a:srgbClr>
            </a:solidFill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4" name="Text Box 38"/>
            <p:cNvSpPr txBox="1">
              <a:spLocks noChangeArrowheads="1"/>
            </p:cNvSpPr>
            <p:nvPr/>
          </p:nvSpPr>
          <p:spPr bwMode="auto">
            <a:xfrm>
              <a:off x="3929" y="3564"/>
              <a:ext cx="411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t</a:t>
              </a:r>
              <a:r>
                <a:rPr lang="en-US" altLang="zh-CN" sz="2100" baseline="-25000"/>
                <a:t>1</a:t>
              </a:r>
              <a:endParaRPr lang="en-US" altLang="zh-CN" sz="2100"/>
            </a:p>
          </p:txBody>
        </p:sp>
        <p:sp>
          <p:nvSpPr>
            <p:cNvPr id="55" name="Text Box 39"/>
            <p:cNvSpPr txBox="1">
              <a:spLocks noChangeArrowheads="1"/>
            </p:cNvSpPr>
            <p:nvPr/>
          </p:nvSpPr>
          <p:spPr bwMode="auto">
            <a:xfrm>
              <a:off x="4576" y="3564"/>
              <a:ext cx="411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t</a:t>
              </a:r>
              <a:r>
                <a:rPr lang="en-US" altLang="zh-CN" sz="2100" baseline="-25000"/>
                <a:t>2</a:t>
              </a:r>
              <a:endParaRPr lang="en-US" altLang="zh-CN" sz="2100"/>
            </a:p>
          </p:txBody>
        </p:sp>
        <p:sp>
          <p:nvSpPr>
            <p:cNvPr id="56" name="Text Box 40"/>
            <p:cNvSpPr txBox="1">
              <a:spLocks noChangeArrowheads="1"/>
            </p:cNvSpPr>
            <p:nvPr/>
          </p:nvSpPr>
          <p:spPr bwMode="auto">
            <a:xfrm>
              <a:off x="5086" y="3564"/>
              <a:ext cx="19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t</a:t>
              </a:r>
              <a:endParaRPr lang="en-US" altLang="zh-CN" i="1">
                <a:solidFill>
                  <a:srgbClr val="FFFF00"/>
                </a:solidFill>
              </a:endParaRPr>
            </a:p>
          </p:txBody>
        </p:sp>
        <p:sp>
          <p:nvSpPr>
            <p:cNvPr id="58" name="Text Box 53"/>
            <p:cNvSpPr txBox="1">
              <a:spLocks noChangeArrowheads="1"/>
            </p:cNvSpPr>
            <p:nvPr/>
          </p:nvSpPr>
          <p:spPr bwMode="auto">
            <a:xfrm>
              <a:off x="3505" y="3521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/>
                <a:t>O</a:t>
              </a:r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6629454" y="3620916"/>
            <a:ext cx="51858" cy="1007455"/>
          </a:xfrm>
          <a:prstGeom prst="rect">
            <a:avLst/>
          </a:prstGeom>
          <a:solidFill>
            <a:srgbClr val="0000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graphicFrame>
        <p:nvGraphicFramePr>
          <p:cNvPr id="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282818"/>
              </p:ext>
            </p:extLst>
          </p:nvPr>
        </p:nvGraphicFramePr>
        <p:xfrm>
          <a:off x="5454706" y="996114"/>
          <a:ext cx="399689" cy="37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6" name="Equation" r:id="rId11" imgW="164880" imgH="190440" progId="Equation.DSMT4">
                  <p:embed/>
                </p:oleObj>
              </mc:Choice>
              <mc:Fallback>
                <p:oleObj name="Equation" r:id="rId11" imgW="164880" imgH="190440" progId="Equation.DSMT4">
                  <p:embed/>
                  <p:pic>
                    <p:nvPicPr>
                      <p:cNvPr id="1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706" y="996114"/>
                        <a:ext cx="399689" cy="37919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46897"/>
              </p:ext>
            </p:extLst>
          </p:nvPr>
        </p:nvGraphicFramePr>
        <p:xfrm>
          <a:off x="5454706" y="3031050"/>
          <a:ext cx="399689" cy="37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7" name="Equation" r:id="rId12" imgW="164880" imgH="190440" progId="Equation.DSMT4">
                  <p:embed/>
                </p:oleObj>
              </mc:Choice>
              <mc:Fallback>
                <p:oleObj name="Equation" r:id="rId12" imgW="164880" imgH="190440" progId="Equation.DSMT4">
                  <p:embed/>
                  <p:pic>
                    <p:nvPicPr>
                      <p:cNvPr id="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706" y="3031050"/>
                        <a:ext cx="399689" cy="37919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2682F1-18FF-4D8A-A8E7-9A00D57A4A1B}" type="slidenum">
              <a:rPr lang="zh-CN" altLang="en-US"/>
              <a:pPr/>
              <a:t>4</a:t>
            </a:fld>
            <a:endParaRPr lang="en-US" altLang="zh-CN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837884"/>
              </p:ext>
            </p:extLst>
          </p:nvPr>
        </p:nvGraphicFramePr>
        <p:xfrm>
          <a:off x="1979345" y="2538049"/>
          <a:ext cx="3339222" cy="696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3" r:id="rId3" imgW="1434172" imgH="355609" progId="Equation.3">
                  <p:embed/>
                </p:oleObj>
              </mc:Choice>
              <mc:Fallback>
                <p:oleObj r:id="rId3" imgW="1434172" imgH="35560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345" y="2538049"/>
                        <a:ext cx="3339222" cy="69648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DFFD2"/>
                          </a:gs>
                          <a:gs pos="50000">
                            <a:srgbClr val="FFFFFF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601391" y="4010838"/>
            <a:ext cx="6048375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CC0000"/>
                </a:solidFill>
                <a:latin typeface="Arial" charset="0"/>
              </a:rPr>
              <a:t>动量定理：</a:t>
            </a:r>
            <a:r>
              <a:rPr lang="zh-CN" altLang="en-US" sz="2100" b="1">
                <a:solidFill>
                  <a:srgbClr val="1C1C1C"/>
                </a:solidFill>
                <a:latin typeface="Arial" charset="0"/>
              </a:rPr>
              <a:t>在给定的</a:t>
            </a:r>
            <a:r>
              <a:rPr lang="zh-CN" altLang="en-US" sz="2100" b="1">
                <a:solidFill>
                  <a:srgbClr val="0000FF"/>
                </a:solidFill>
                <a:latin typeface="Arial" charset="0"/>
              </a:rPr>
              <a:t>时间间隔</a:t>
            </a:r>
            <a:r>
              <a:rPr lang="zh-CN" altLang="en-US" sz="2100" b="1">
                <a:solidFill>
                  <a:srgbClr val="1C1C1C"/>
                </a:solidFill>
                <a:latin typeface="Arial" charset="0"/>
              </a:rPr>
              <a:t>内，外力作用在质点上的</a:t>
            </a:r>
            <a:r>
              <a:rPr lang="zh-CN" altLang="en-US" sz="2100" b="1">
                <a:solidFill>
                  <a:srgbClr val="0000FF"/>
                </a:solidFill>
                <a:latin typeface="Arial" charset="0"/>
              </a:rPr>
              <a:t>冲量</a:t>
            </a:r>
            <a:r>
              <a:rPr lang="zh-CN" altLang="en-US" sz="2100" b="1">
                <a:solidFill>
                  <a:srgbClr val="1C1C1C"/>
                </a:solidFill>
                <a:latin typeface="Arial" charset="0"/>
              </a:rPr>
              <a:t>，等于质点在此时间内</a:t>
            </a:r>
            <a:r>
              <a:rPr lang="zh-CN" altLang="en-US" sz="2100" b="1">
                <a:solidFill>
                  <a:srgbClr val="0000FF"/>
                </a:solidFill>
                <a:latin typeface="Arial" charset="0"/>
              </a:rPr>
              <a:t>动量的增量</a:t>
            </a:r>
            <a:r>
              <a:rPr lang="zh-CN" altLang="en-US" sz="2100" b="1">
                <a:solidFill>
                  <a:srgbClr val="1C1C1C"/>
                </a:solidFill>
                <a:latin typeface="Arial" charset="0"/>
              </a:rPr>
              <a:t>．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658814" y="349330"/>
            <a:ext cx="387768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</a:pPr>
            <a:r>
              <a:rPr lang="en-US" altLang="zh-CN" sz="2100" b="1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2100" b="1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质点的动量定理</a:t>
            </a:r>
            <a:endParaRPr lang="zh-CN" altLang="en-US" sz="2100" b="1">
              <a:solidFill>
                <a:srgbClr val="1C1C1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43903908"/>
              </p:ext>
            </p:extLst>
          </p:nvPr>
        </p:nvGraphicFramePr>
        <p:xfrm>
          <a:off x="4995946" y="1004553"/>
          <a:ext cx="2226489" cy="448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4" r:id="rId5" imgW="1130127" imgH="228818" progId="Equation.3">
                  <p:embed/>
                </p:oleObj>
              </mc:Choice>
              <mc:Fallback>
                <p:oleObj r:id="rId5" imgW="1130127" imgH="228818" progId="Equation.3">
                  <p:embed/>
                  <p:pic>
                    <p:nvPicPr>
                      <p:cNvPr id="19462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946" y="1004553"/>
                        <a:ext cx="2226489" cy="448979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789264"/>
              </p:ext>
            </p:extLst>
          </p:nvPr>
        </p:nvGraphicFramePr>
        <p:xfrm>
          <a:off x="1979345" y="877402"/>
          <a:ext cx="2041374" cy="76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5" name="Equation" r:id="rId7" imgW="1054080" imgH="393480" progId="Equation.DSMT4">
                  <p:embed/>
                </p:oleObj>
              </mc:Choice>
              <mc:Fallback>
                <p:oleObj name="Equation" r:id="rId7" imgW="1054080" imgH="393480" progId="Equation.DSMT4">
                  <p:embed/>
                  <p:pic>
                    <p:nvPicPr>
                      <p:cNvPr id="19463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345" y="877402"/>
                        <a:ext cx="2041374" cy="761936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46831"/>
              </p:ext>
            </p:extLst>
          </p:nvPr>
        </p:nvGraphicFramePr>
        <p:xfrm>
          <a:off x="1979345" y="1712291"/>
          <a:ext cx="3479337" cy="694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6" r:id="rId9" imgW="1776775" imgH="355609" progId="Equation.3">
                  <p:embed/>
                </p:oleObj>
              </mc:Choice>
              <mc:Fallback>
                <p:oleObj r:id="rId9" imgW="1776775" imgH="355609" progId="Equation.3">
                  <p:embed/>
                  <p:pic>
                    <p:nvPicPr>
                      <p:cNvPr id="19464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345" y="1712291"/>
                        <a:ext cx="3479337" cy="694436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箭头 1"/>
          <p:cNvSpPr/>
          <p:nvPr/>
        </p:nvSpPr>
        <p:spPr bwMode="auto">
          <a:xfrm>
            <a:off x="4282628" y="1146921"/>
            <a:ext cx="451412" cy="180576"/>
          </a:xfrm>
          <a:prstGeom prst="rightArrow">
            <a:avLst/>
          </a:prstGeom>
          <a:solidFill>
            <a:srgbClr val="00B05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grpSp>
        <p:nvGrpSpPr>
          <p:cNvPr id="3" name="组合 2"/>
          <p:cNvGrpSpPr/>
          <p:nvPr/>
        </p:nvGrpSpPr>
        <p:grpSpPr>
          <a:xfrm>
            <a:off x="1723345" y="3445947"/>
            <a:ext cx="3521343" cy="346706"/>
            <a:chOff x="1574293" y="6169361"/>
            <a:chExt cx="4695124" cy="462274"/>
          </a:xfrm>
        </p:grpSpPr>
        <p:sp>
          <p:nvSpPr>
            <p:cNvPr id="14" name="object 33"/>
            <p:cNvSpPr txBox="1"/>
            <p:nvPr/>
          </p:nvSpPr>
          <p:spPr>
            <a:xfrm>
              <a:off x="1574293" y="6188564"/>
              <a:ext cx="1511935" cy="44307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166688">
                <a:spcBef>
                  <a:spcPts val="71"/>
                </a:spcBef>
              </a:pPr>
              <a:r>
                <a:rPr sz="2100" b="1" spc="-4" dirty="0">
                  <a:latin typeface="宋体"/>
                  <a:cs typeface="宋体"/>
                </a:rPr>
                <a:t>过程量</a:t>
              </a:r>
              <a:endParaRPr sz="2100" b="1">
                <a:latin typeface="宋体"/>
                <a:cs typeface="宋体"/>
              </a:endParaRPr>
            </a:p>
          </p:txBody>
        </p:sp>
        <p:sp>
          <p:nvSpPr>
            <p:cNvPr id="15" name="object 35"/>
            <p:cNvSpPr txBox="1"/>
            <p:nvPr/>
          </p:nvSpPr>
          <p:spPr>
            <a:xfrm>
              <a:off x="4262182" y="6169361"/>
              <a:ext cx="2007235" cy="443070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69056">
                <a:spcBef>
                  <a:spcPts val="71"/>
                </a:spcBef>
              </a:pPr>
              <a:r>
                <a:rPr sz="2100" b="1" spc="-4" dirty="0">
                  <a:latin typeface="宋体"/>
                  <a:cs typeface="宋体"/>
                </a:rPr>
                <a:t>状态量之差</a:t>
              </a:r>
              <a:endParaRPr sz="2100" b="1">
                <a:latin typeface="宋体"/>
                <a:cs typeface="宋体"/>
              </a:endParaRPr>
            </a:p>
          </p:txBody>
        </p:sp>
        <p:sp>
          <p:nvSpPr>
            <p:cNvPr id="16" name="object 36"/>
            <p:cNvSpPr/>
            <p:nvPr/>
          </p:nvSpPr>
          <p:spPr>
            <a:xfrm>
              <a:off x="3051781" y="6285083"/>
              <a:ext cx="1080000" cy="288290"/>
            </a:xfrm>
            <a:custGeom>
              <a:avLst/>
              <a:gdLst/>
              <a:ahLst/>
              <a:cxnLst/>
              <a:rect l="l" t="t" r="r" b="b"/>
              <a:pathLst>
                <a:path w="1518284" h="288289">
                  <a:moveTo>
                    <a:pt x="144399" y="0"/>
                  </a:moveTo>
                  <a:lnTo>
                    <a:pt x="0" y="144018"/>
                  </a:lnTo>
                  <a:lnTo>
                    <a:pt x="144399" y="288036"/>
                  </a:lnTo>
                  <a:lnTo>
                    <a:pt x="144399" y="216027"/>
                  </a:lnTo>
                  <a:lnTo>
                    <a:pt x="1445704" y="216027"/>
                  </a:lnTo>
                  <a:lnTo>
                    <a:pt x="1517904" y="144018"/>
                  </a:lnTo>
                  <a:lnTo>
                    <a:pt x="1445704" y="72009"/>
                  </a:lnTo>
                  <a:lnTo>
                    <a:pt x="144399" y="72009"/>
                  </a:lnTo>
                  <a:lnTo>
                    <a:pt x="144399" y="0"/>
                  </a:lnTo>
                  <a:close/>
                </a:path>
                <a:path w="1518284" h="288289">
                  <a:moveTo>
                    <a:pt x="1445704" y="216027"/>
                  </a:moveTo>
                  <a:lnTo>
                    <a:pt x="1373505" y="216027"/>
                  </a:lnTo>
                  <a:lnTo>
                    <a:pt x="1373505" y="288036"/>
                  </a:lnTo>
                  <a:lnTo>
                    <a:pt x="1445704" y="216027"/>
                  </a:lnTo>
                  <a:close/>
                </a:path>
                <a:path w="1518284" h="288289">
                  <a:moveTo>
                    <a:pt x="1373505" y="0"/>
                  </a:moveTo>
                  <a:lnTo>
                    <a:pt x="1373505" y="72009"/>
                  </a:lnTo>
                  <a:lnTo>
                    <a:pt x="1445704" y="72009"/>
                  </a:lnTo>
                  <a:lnTo>
                    <a:pt x="1373505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sz="1800" b="1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5E0003-AF78-416A-95E3-0E2C12FFB011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1506" name="AutoShape 2"/>
          <p:cNvSpPr>
            <a:spLocks/>
          </p:cNvSpPr>
          <p:nvPr/>
        </p:nvSpPr>
        <p:spPr bwMode="auto">
          <a:xfrm>
            <a:off x="3094435" y="958456"/>
            <a:ext cx="238125" cy="1545431"/>
          </a:xfrm>
          <a:prstGeom prst="leftBrace">
            <a:avLst>
              <a:gd name="adj1" fmla="val 5408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sz="2100" b="1"/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1581747" y="3805238"/>
            <a:ext cx="6718698" cy="535782"/>
            <a:chOff x="-732" y="390"/>
            <a:chExt cx="5643" cy="450"/>
          </a:xfrm>
        </p:grpSpPr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0" y="390"/>
              <a:ext cx="4911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Clr>
                  <a:srgbClr val="0000FF"/>
                </a:buClr>
                <a:buFont typeface="Wingdings" pitchFamily="2" charset="2"/>
                <a:buNone/>
              </a:pPr>
              <a:r>
                <a:rPr lang="zh-CN" altLang="en-US" b="1" dirty="0">
                  <a:latin typeface="Arial" charset="0"/>
                </a:rPr>
                <a:t>某方向</a:t>
              </a:r>
              <a:r>
                <a:rPr lang="zh-CN" altLang="en-US" b="1" dirty="0">
                  <a:solidFill>
                    <a:srgbClr val="0000FF"/>
                  </a:solidFill>
                  <a:latin typeface="Arial" charset="0"/>
                </a:rPr>
                <a:t>受到冲量</a:t>
              </a:r>
              <a:r>
                <a:rPr lang="zh-CN" altLang="en-US" b="1" dirty="0">
                  <a:latin typeface="Arial" charset="0"/>
                </a:rPr>
                <a:t>，该方向上</a:t>
              </a:r>
              <a:r>
                <a:rPr lang="zh-CN" altLang="en-US" b="1" dirty="0">
                  <a:solidFill>
                    <a:srgbClr val="0000FF"/>
                  </a:solidFill>
                  <a:latin typeface="Arial" charset="0"/>
                </a:rPr>
                <a:t>动量就改变</a:t>
              </a:r>
              <a:r>
                <a:rPr lang="zh-CN" altLang="en-US" b="1" dirty="0">
                  <a:latin typeface="Arial" charset="0"/>
                </a:rPr>
                <a:t>．</a:t>
              </a:r>
              <a:endParaRPr lang="zh-CN" altLang="en-US" sz="1350" b="1" dirty="0">
                <a:latin typeface="Arial" charset="0"/>
              </a:endParaRPr>
            </a:p>
          </p:txBody>
        </p:sp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-732" y="421"/>
              <a:ext cx="697" cy="388"/>
            </a:xfrm>
            <a:prstGeom prst="rect">
              <a:avLst/>
            </a:prstGeom>
            <a:gradFill rotWithShape="1">
              <a:gsLst>
                <a:gs pos="0">
                  <a:srgbClr val="EDFFD2"/>
                </a:gs>
                <a:gs pos="50000">
                  <a:schemeClr val="bg1"/>
                </a:gs>
                <a:gs pos="100000">
                  <a:srgbClr val="EDFFD2"/>
                </a:gs>
              </a:gsLst>
              <a:lin ang="5400000" scaled="1"/>
            </a:gradFill>
            <a:ln w="12700">
              <a:solidFill>
                <a:srgbClr val="00808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Arial" charset="0"/>
                </a:rPr>
                <a:t>说明</a:t>
              </a:r>
              <a:r>
                <a:rPr lang="en-US" altLang="zh-CN" b="1">
                  <a:solidFill>
                    <a:srgbClr val="CC0000"/>
                  </a:solidFill>
                  <a:latin typeface="Arial" charset="0"/>
                </a:rPr>
                <a:t>:</a:t>
              </a:r>
            </a:p>
          </p:txBody>
        </p:sp>
      </p:grp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420418" y="1464469"/>
            <a:ext cx="16204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 分量表示</a:t>
            </a:r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796844"/>
              </p:ext>
            </p:extLst>
          </p:nvPr>
        </p:nvGraphicFramePr>
        <p:xfrm>
          <a:off x="3332562" y="1369219"/>
          <a:ext cx="3726656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7" r:id="rId3" imgW="1637196" imgH="355609" progId="Equation.3">
                  <p:embed/>
                </p:oleObj>
              </mc:Choice>
              <mc:Fallback>
                <p:oleObj r:id="rId3" imgW="1637196" imgH="355609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562" y="1369219"/>
                        <a:ext cx="3726656" cy="8096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083511"/>
              </p:ext>
            </p:extLst>
          </p:nvPr>
        </p:nvGraphicFramePr>
        <p:xfrm>
          <a:off x="3332562" y="2060972"/>
          <a:ext cx="3674269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8" r:id="rId5" imgW="1611818" imgH="355609" progId="Equation.3">
                  <p:embed/>
                </p:oleObj>
              </mc:Choice>
              <mc:Fallback>
                <p:oleObj r:id="rId5" imgW="1611818" imgH="355609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562" y="2060972"/>
                        <a:ext cx="3674269" cy="8096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319505"/>
              </p:ext>
            </p:extLst>
          </p:nvPr>
        </p:nvGraphicFramePr>
        <p:xfrm>
          <a:off x="3332560" y="656035"/>
          <a:ext cx="36718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9" r:id="rId7" imgW="1611818" imgH="355609" progId="Equation.3">
                  <p:embed/>
                </p:oleObj>
              </mc:Choice>
              <mc:Fallback>
                <p:oleObj r:id="rId7" imgW="1611818" imgH="355609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560" y="656035"/>
                        <a:ext cx="3671888" cy="8096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4D69FC-32AB-44F3-B58E-8025D6E059A5}" type="slidenum">
              <a:rPr lang="zh-CN" altLang="en-US" smtClean="0"/>
              <a:pPr/>
              <a:t>6</a:t>
            </a:fld>
            <a:endParaRPr lang="en-US" altLang="zh-CN"/>
          </a:p>
        </p:txBody>
      </p:sp>
      <p:grpSp>
        <p:nvGrpSpPr>
          <p:cNvPr id="12" name="组合 11"/>
          <p:cNvGrpSpPr/>
          <p:nvPr/>
        </p:nvGrpSpPr>
        <p:grpSpPr>
          <a:xfrm>
            <a:off x="443552" y="128708"/>
            <a:ext cx="6102752" cy="553468"/>
            <a:chOff x="1215343" y="288222"/>
            <a:chExt cx="8137002" cy="737957"/>
          </a:xfrm>
        </p:grpSpPr>
        <p:sp>
          <p:nvSpPr>
            <p:cNvPr id="3" name="object 19"/>
            <p:cNvSpPr txBox="1"/>
            <p:nvPr/>
          </p:nvSpPr>
          <p:spPr>
            <a:xfrm>
              <a:off x="1803236" y="367666"/>
              <a:ext cx="7549109" cy="658513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lnSpc>
                  <a:spcPct val="150000"/>
                </a:lnSpc>
                <a:spcBef>
                  <a:spcPts val="71"/>
                </a:spcBef>
              </a:pPr>
              <a:r>
                <a:rPr sz="2100" b="1">
                  <a:latin typeface="宋体"/>
                  <a:cs typeface="宋体"/>
                </a:rPr>
                <a:t>碰</a:t>
              </a:r>
              <a:r>
                <a:rPr sz="2100" b="1" spc="-4">
                  <a:latin typeface="宋体"/>
                  <a:cs typeface="宋体"/>
                </a:rPr>
                <a:t>撞时</a:t>
              </a:r>
              <a:r>
                <a:rPr sz="2100" b="1" spc="-4">
                  <a:solidFill>
                    <a:srgbClr val="0000FF"/>
                  </a:solidFill>
                  <a:latin typeface="宋体"/>
                  <a:cs typeface="宋体"/>
                </a:rPr>
                <a:t>冲</a:t>
              </a:r>
              <a:r>
                <a:rPr sz="2100" b="1">
                  <a:solidFill>
                    <a:srgbClr val="0000FF"/>
                  </a:solidFill>
                  <a:latin typeface="宋体"/>
                  <a:cs typeface="宋体"/>
                </a:rPr>
                <a:t>力</a:t>
              </a:r>
              <a:r>
                <a:rPr sz="2100" b="1" spc="-4">
                  <a:latin typeface="宋体"/>
                  <a:cs typeface="宋体"/>
                </a:rPr>
                <a:t>的特点：</a:t>
              </a:r>
              <a:r>
                <a:rPr lang="zh-CN" altLang="en-US" sz="2100" b="1" spc="-4">
                  <a:solidFill>
                    <a:srgbClr val="0000FF"/>
                  </a:solidFill>
                  <a:latin typeface="宋体"/>
                  <a:cs typeface="宋体"/>
                </a:rPr>
                <a:t>时间短，变化快，有峰值</a:t>
              </a:r>
              <a:endParaRPr sz="2100" b="1">
                <a:latin typeface="宋体"/>
                <a:cs typeface="宋体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15343" y="288222"/>
              <a:ext cx="578008" cy="64962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3983051" y="2926006"/>
            <a:ext cx="5003956" cy="1552734"/>
            <a:chOff x="3851172" y="2813327"/>
            <a:chExt cx="5003956" cy="1552734"/>
          </a:xfrm>
        </p:grpSpPr>
        <p:sp>
          <p:nvSpPr>
            <p:cNvPr id="13" name="object 3"/>
            <p:cNvSpPr>
              <a:spLocks noChangeAspect="1"/>
            </p:cNvSpPr>
            <p:nvPr/>
          </p:nvSpPr>
          <p:spPr>
            <a:xfrm>
              <a:off x="6546304" y="2819450"/>
              <a:ext cx="2308824" cy="1546611"/>
            </a:xfrm>
            <a:prstGeom prst="rect">
              <a:avLst/>
            </a:prstGeom>
            <a:blipFill>
              <a:blip r:embed="rId4" cstate="print"/>
              <a:srcRect/>
              <a:stretch>
                <a:fillRect t="-30328" r="-29936" b="-18069"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4" name="object 4"/>
            <p:cNvSpPr>
              <a:spLocks noChangeAspect="1"/>
            </p:cNvSpPr>
            <p:nvPr/>
          </p:nvSpPr>
          <p:spPr>
            <a:xfrm>
              <a:off x="3851172" y="2813327"/>
              <a:ext cx="2432872" cy="15447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983051" y="905884"/>
            <a:ext cx="4984755" cy="1590902"/>
            <a:chOff x="3993533" y="952301"/>
            <a:chExt cx="4984755" cy="1590902"/>
          </a:xfrm>
        </p:grpSpPr>
        <p:sp>
          <p:nvSpPr>
            <p:cNvPr id="15" name="object 5"/>
            <p:cNvSpPr>
              <a:spLocks noChangeAspect="1"/>
            </p:cNvSpPr>
            <p:nvPr/>
          </p:nvSpPr>
          <p:spPr>
            <a:xfrm>
              <a:off x="6688665" y="955168"/>
              <a:ext cx="2289623" cy="1588035"/>
            </a:xfrm>
            <a:prstGeom prst="rect">
              <a:avLst/>
            </a:prstGeom>
            <a:blipFill>
              <a:blip r:embed="rId6" cstate="print"/>
              <a:srcRect/>
              <a:stretch>
                <a:fillRect r="-46380"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6" name="object 21"/>
            <p:cNvSpPr>
              <a:spLocks noChangeAspect="1"/>
            </p:cNvSpPr>
            <p:nvPr/>
          </p:nvSpPr>
          <p:spPr>
            <a:xfrm>
              <a:off x="3993533" y="952301"/>
              <a:ext cx="2432620" cy="15909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aphicFrame>
        <p:nvGraphicFramePr>
          <p:cNvPr id="4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6223"/>
              </p:ext>
            </p:extLst>
          </p:nvPr>
        </p:nvGraphicFramePr>
        <p:xfrm>
          <a:off x="776515" y="3787548"/>
          <a:ext cx="2804886" cy="103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2" r:id="rId8" imgW="1536350" imgH="571569" progId="Equation.3">
                  <p:embed/>
                </p:oleObj>
              </mc:Choice>
              <mc:Fallback>
                <p:oleObj r:id="rId8" imgW="1536350" imgH="571569" progId="Equation.3">
                  <p:embed/>
                  <p:pic>
                    <p:nvPicPr>
                      <p:cNvPr id="2767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515" y="3787548"/>
                        <a:ext cx="2804886" cy="103884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/>
          <p:cNvGrpSpPr/>
          <p:nvPr/>
        </p:nvGrpSpPr>
        <p:grpSpPr>
          <a:xfrm>
            <a:off x="853944" y="865231"/>
            <a:ext cx="1804650" cy="1677972"/>
            <a:chOff x="618011" y="1276410"/>
            <a:chExt cx="2406200" cy="2237296"/>
          </a:xfrm>
        </p:grpSpPr>
        <p:grpSp>
          <p:nvGrpSpPr>
            <p:cNvPr id="18" name="Group 57"/>
            <p:cNvGrpSpPr>
              <a:grpSpLocks/>
            </p:cNvGrpSpPr>
            <p:nvPr/>
          </p:nvGrpSpPr>
          <p:grpSpPr bwMode="auto">
            <a:xfrm>
              <a:off x="818087" y="1381989"/>
              <a:ext cx="2206124" cy="2131717"/>
              <a:chOff x="3505" y="2341"/>
              <a:chExt cx="1779" cy="1719"/>
            </a:xfrm>
          </p:grpSpPr>
          <p:sp>
            <p:nvSpPr>
              <p:cNvPr id="21" name="Freeform 31"/>
              <p:cNvSpPr>
                <a:spLocks/>
              </p:cNvSpPr>
              <p:nvPr/>
            </p:nvSpPr>
            <p:spPr bwMode="auto">
              <a:xfrm>
                <a:off x="4066" y="2580"/>
                <a:ext cx="675" cy="1038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40" y="0"/>
                  </a:cxn>
                  <a:cxn ang="0">
                    <a:pos x="480" y="624"/>
                  </a:cxn>
                </a:cxnLst>
                <a:rect l="0" t="0" r="r" b="b"/>
                <a:pathLst>
                  <a:path w="480" h="624">
                    <a:moveTo>
                      <a:pt x="0" y="624"/>
                    </a:moveTo>
                    <a:cubicBezTo>
                      <a:pt x="80" y="312"/>
                      <a:pt x="160" y="0"/>
                      <a:pt x="240" y="0"/>
                    </a:cubicBezTo>
                    <a:cubicBezTo>
                      <a:pt x="320" y="0"/>
                      <a:pt x="440" y="520"/>
                      <a:pt x="480" y="624"/>
                    </a:cubicBezTo>
                  </a:path>
                </a:pathLst>
              </a:custGeom>
              <a:solidFill>
                <a:srgbClr val="66FFFF">
                  <a:alpha val="90000"/>
                </a:srgbClr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9" name="Line 29"/>
              <p:cNvSpPr>
                <a:spLocks noChangeShapeType="1"/>
              </p:cNvSpPr>
              <p:nvPr/>
            </p:nvSpPr>
            <p:spPr bwMode="auto">
              <a:xfrm>
                <a:off x="3750" y="3632"/>
                <a:ext cx="13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20" name="Line 30"/>
              <p:cNvSpPr>
                <a:spLocks noChangeShapeType="1"/>
              </p:cNvSpPr>
              <p:nvPr/>
            </p:nvSpPr>
            <p:spPr bwMode="auto">
              <a:xfrm flipV="1">
                <a:off x="3760" y="2341"/>
                <a:ext cx="1" cy="128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28" name="Text Box 38"/>
              <p:cNvSpPr txBox="1">
                <a:spLocks noChangeArrowheads="1"/>
              </p:cNvSpPr>
              <p:nvPr/>
            </p:nvSpPr>
            <p:spPr bwMode="auto">
              <a:xfrm>
                <a:off x="3929" y="3564"/>
                <a:ext cx="411" cy="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t</a:t>
                </a:r>
                <a:r>
                  <a:rPr lang="en-US" altLang="zh-CN" sz="2100" baseline="-25000"/>
                  <a:t>1</a:t>
                </a:r>
                <a:endParaRPr lang="en-US" altLang="zh-CN" sz="2100"/>
              </a:p>
            </p:txBody>
          </p:sp>
          <p:sp>
            <p:nvSpPr>
              <p:cNvPr id="29" name="Text Box 39"/>
              <p:cNvSpPr txBox="1">
                <a:spLocks noChangeArrowheads="1"/>
              </p:cNvSpPr>
              <p:nvPr/>
            </p:nvSpPr>
            <p:spPr bwMode="auto">
              <a:xfrm>
                <a:off x="4576" y="3564"/>
                <a:ext cx="411" cy="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t</a:t>
                </a:r>
                <a:r>
                  <a:rPr lang="en-US" altLang="zh-CN" sz="2100" baseline="-25000"/>
                  <a:t>2</a:t>
                </a:r>
                <a:endParaRPr lang="en-US" altLang="zh-CN" sz="2100"/>
              </a:p>
            </p:txBody>
          </p:sp>
          <p:sp>
            <p:nvSpPr>
              <p:cNvPr id="30" name="Text Box 40"/>
              <p:cNvSpPr txBox="1">
                <a:spLocks noChangeArrowheads="1"/>
              </p:cNvSpPr>
              <p:nvPr/>
            </p:nvSpPr>
            <p:spPr bwMode="auto">
              <a:xfrm>
                <a:off x="5086" y="3564"/>
                <a:ext cx="198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t</a:t>
                </a:r>
                <a:endParaRPr lang="en-US" altLang="zh-CN" i="1">
                  <a:solidFill>
                    <a:srgbClr val="FFFF00"/>
                  </a:solidFill>
                </a:endParaRPr>
              </a:p>
            </p:txBody>
          </p:sp>
          <p:sp>
            <p:nvSpPr>
              <p:cNvPr id="31" name="Text Box 53"/>
              <p:cNvSpPr txBox="1">
                <a:spLocks noChangeArrowheads="1"/>
              </p:cNvSpPr>
              <p:nvPr/>
            </p:nvSpPr>
            <p:spPr bwMode="auto">
              <a:xfrm>
                <a:off x="3505" y="3521"/>
                <a:ext cx="363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i="1"/>
                  <a:t>O</a:t>
                </a:r>
              </a:p>
            </p:txBody>
          </p:sp>
        </p:grpSp>
        <p:graphicFrame>
          <p:nvGraphicFramePr>
            <p:cNvPr id="4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6055057"/>
                </p:ext>
              </p:extLst>
            </p:nvPr>
          </p:nvGraphicFramePr>
          <p:xfrm>
            <a:off x="618011" y="1276410"/>
            <a:ext cx="532918" cy="505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73" name="Equation" r:id="rId10" imgW="164880" imgH="190440" progId="Equation.DSMT4">
                    <p:embed/>
                  </p:oleObj>
                </mc:Choice>
                <mc:Fallback>
                  <p:oleObj name="Equation" r:id="rId10" imgW="164880" imgH="190440" progId="Equation.DSMT4">
                    <p:embed/>
                    <p:pic>
                      <p:nvPicPr>
                        <p:cNvPr id="6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011" y="1276410"/>
                          <a:ext cx="532918" cy="505589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285877"/>
              </p:ext>
            </p:extLst>
          </p:nvPr>
        </p:nvGraphicFramePr>
        <p:xfrm>
          <a:off x="776514" y="2849806"/>
          <a:ext cx="2040156" cy="700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4" name="Equation" r:id="rId12" imgW="1143000" imgH="355320" progId="Equation.DSMT4">
                  <p:embed/>
                </p:oleObj>
              </mc:Choice>
              <mc:Fallback>
                <p:oleObj name="Equation" r:id="rId12" imgW="1143000" imgH="355320" progId="Equation.DSMT4">
                  <p:embed/>
                  <p:pic>
                    <p:nvPicPr>
                      <p:cNvPr id="4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514" y="2849806"/>
                        <a:ext cx="2040156" cy="7000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878986" y="1476587"/>
            <a:ext cx="1274581" cy="664675"/>
            <a:chOff x="845319" y="4058510"/>
            <a:chExt cx="1699441" cy="886232"/>
          </a:xfrm>
        </p:grpSpPr>
        <p:sp>
          <p:nvSpPr>
            <p:cNvPr id="36" name="矩形 35"/>
            <p:cNvSpPr/>
            <p:nvPr/>
          </p:nvSpPr>
          <p:spPr bwMode="auto">
            <a:xfrm>
              <a:off x="1707697" y="4230185"/>
              <a:ext cx="837063" cy="714557"/>
            </a:xfrm>
            <a:prstGeom prst="rect">
              <a:avLst/>
            </a:prstGeom>
            <a:solidFill>
              <a:schemeClr val="accent1">
                <a:alpha val="42000"/>
              </a:schemeClr>
            </a:solidFill>
            <a:ln w="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cxnSp>
          <p:nvCxnSpPr>
            <p:cNvPr id="38" name="直接连接符 37"/>
            <p:cNvCxnSpPr/>
            <p:nvPr/>
          </p:nvCxnSpPr>
          <p:spPr bwMode="auto">
            <a:xfrm>
              <a:off x="1329470" y="4231174"/>
              <a:ext cx="596485" cy="0"/>
            </a:xfrm>
            <a:prstGeom prst="line">
              <a:avLst/>
            </a:prstGeom>
            <a:solidFill>
              <a:schemeClr val="accent1"/>
            </a:solidFill>
            <a:ln w="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sm" len="lg"/>
            </a:ln>
            <a:effectLst/>
          </p:spPr>
        </p:cxnSp>
        <p:graphicFrame>
          <p:nvGraphicFramePr>
            <p:cNvPr id="3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9743819"/>
                </p:ext>
              </p:extLst>
            </p:nvPr>
          </p:nvGraphicFramePr>
          <p:xfrm>
            <a:off x="845319" y="4058510"/>
            <a:ext cx="433387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75" name="Equation" r:id="rId14" imgW="164880" imgH="228600" progId="Equation.DSMT4">
                    <p:embed/>
                  </p:oleObj>
                </mc:Choice>
                <mc:Fallback>
                  <p:oleObj name="Equation" r:id="rId14" imgW="164880" imgH="228600" progId="Equation.DSMT4">
                    <p:embed/>
                    <p:pic>
                      <p:nvPicPr>
                        <p:cNvPr id="10" name="Object 6"/>
                        <p:cNvPicPr>
                          <a:picLocks noGrp="1"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319" y="4058510"/>
                          <a:ext cx="433387" cy="600075"/>
                        </a:xfrm>
                        <a:prstGeom prst="rect">
                          <a:avLst/>
                        </a:prstGeom>
                        <a:noFill/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8100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4D69FC-32AB-44F3-B58E-8025D6E059A5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4" name="object 4"/>
          <p:cNvSpPr txBox="1"/>
          <p:nvPr/>
        </p:nvSpPr>
        <p:spPr>
          <a:xfrm>
            <a:off x="7174706" y="554355"/>
            <a:ext cx="628650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95"/>
              </a:spcBef>
              <a:defRPr sz="2800" b="1" spc="-185"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sz="2100"/>
              <a:t>2</a:t>
            </a:r>
            <a:r>
              <a:rPr lang="en-US" sz="2100"/>
              <a:t> k</a:t>
            </a:r>
            <a:r>
              <a:rPr sz="2100"/>
              <a:t>g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3115775" y="190502"/>
            <a:ext cx="2160270" cy="1436544"/>
            <a:chOff x="2630366" y="447040"/>
            <a:chExt cx="2880360" cy="1915393"/>
          </a:xfrm>
        </p:grpSpPr>
        <p:sp>
          <p:nvSpPr>
            <p:cNvPr id="5" name="object 5"/>
            <p:cNvSpPr/>
            <p:nvPr/>
          </p:nvSpPr>
          <p:spPr>
            <a:xfrm>
              <a:off x="2630366" y="447040"/>
              <a:ext cx="2880360" cy="1422400"/>
            </a:xfrm>
            <a:prstGeom prst="rect">
              <a:avLst/>
            </a:prstGeom>
            <a:blipFill>
              <a:blip r:embed="rId3" cstate="print"/>
              <a:srcRect/>
              <a:stretch>
                <a:fillRect t="-20751" b="-23249"/>
              </a:stretch>
            </a:blipFill>
          </p:spPr>
          <p:txBody>
            <a:bodyPr wrap="square" lIns="0" tIns="0" rIns="0" bIns="0" rtlCol="0"/>
            <a:lstStyle/>
            <a:p>
              <a:endParaRPr sz="2100" b="1"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470126" y="1919362"/>
              <a:ext cx="1508609" cy="44307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100" b="1" spc="-139">
                  <a:ea typeface="+mn-ea"/>
                  <a:cs typeface="Times New Roman" panose="02020603050405020304" pitchFamily="18" charset="0"/>
                </a:rPr>
                <a:t>300</a:t>
              </a:r>
              <a:r>
                <a:rPr lang="en-US" sz="2100" b="1" spc="-139">
                  <a:ea typeface="+mn-ea"/>
                  <a:cs typeface="Times New Roman" panose="02020603050405020304" pitchFamily="18" charset="0"/>
                </a:rPr>
                <a:t> </a:t>
              </a:r>
              <a:r>
                <a:rPr sz="2100" b="1" spc="-139">
                  <a:ea typeface="+mn-ea"/>
                  <a:cs typeface="Times New Roman" panose="02020603050405020304" pitchFamily="18" charset="0"/>
                </a:rPr>
                <a:t>m/s</a:t>
              </a:r>
              <a:endParaRPr sz="2100" b="1"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106949" y="1913137"/>
            <a:ext cx="2463165" cy="1062038"/>
            <a:chOff x="5596255" y="3452679"/>
            <a:chExt cx="3284220" cy="1416050"/>
          </a:xfrm>
        </p:grpSpPr>
        <p:sp>
          <p:nvSpPr>
            <p:cNvPr id="22" name="object 22"/>
            <p:cNvSpPr/>
            <p:nvPr/>
          </p:nvSpPr>
          <p:spPr>
            <a:xfrm>
              <a:off x="5596255" y="3452679"/>
              <a:ext cx="3284220" cy="1416050"/>
            </a:xfrm>
            <a:custGeom>
              <a:avLst/>
              <a:gdLst/>
              <a:ahLst/>
              <a:cxnLst/>
              <a:rect l="l" t="t" r="r" b="b"/>
              <a:pathLst>
                <a:path w="3284220" h="1416050">
                  <a:moveTo>
                    <a:pt x="1569019" y="1024293"/>
                  </a:moveTo>
                  <a:lnTo>
                    <a:pt x="1173099" y="1024293"/>
                  </a:lnTo>
                  <a:lnTo>
                    <a:pt x="1290066" y="1415795"/>
                  </a:lnTo>
                  <a:lnTo>
                    <a:pt x="1569019" y="1024293"/>
                  </a:lnTo>
                  <a:close/>
                </a:path>
                <a:path w="3284220" h="1416050">
                  <a:moveTo>
                    <a:pt x="2121060" y="978928"/>
                  </a:moveTo>
                  <a:lnTo>
                    <a:pt x="1601343" y="978928"/>
                  </a:lnTo>
                  <a:lnTo>
                    <a:pt x="2014220" y="1293685"/>
                  </a:lnTo>
                  <a:lnTo>
                    <a:pt x="2121060" y="978928"/>
                  </a:lnTo>
                  <a:close/>
                </a:path>
                <a:path w="3284220" h="1416050">
                  <a:moveTo>
                    <a:pt x="2618537" y="947597"/>
                  </a:moveTo>
                  <a:lnTo>
                    <a:pt x="2131695" y="947597"/>
                  </a:lnTo>
                  <a:lnTo>
                    <a:pt x="2758948" y="1186052"/>
                  </a:lnTo>
                  <a:lnTo>
                    <a:pt x="2618537" y="947597"/>
                  </a:lnTo>
                  <a:close/>
                </a:path>
                <a:path w="3284220" h="1416050">
                  <a:moveTo>
                    <a:pt x="2598466" y="913510"/>
                  </a:moveTo>
                  <a:lnTo>
                    <a:pt x="861695" y="913510"/>
                  </a:lnTo>
                  <a:lnTo>
                    <a:pt x="724026" y="1154722"/>
                  </a:lnTo>
                  <a:lnTo>
                    <a:pt x="1173099" y="1024293"/>
                  </a:lnTo>
                  <a:lnTo>
                    <a:pt x="1569019" y="1024293"/>
                  </a:lnTo>
                  <a:lnTo>
                    <a:pt x="1601343" y="978928"/>
                  </a:lnTo>
                  <a:lnTo>
                    <a:pt x="2121060" y="978928"/>
                  </a:lnTo>
                  <a:lnTo>
                    <a:pt x="2131695" y="947597"/>
                  </a:lnTo>
                  <a:lnTo>
                    <a:pt x="2618537" y="947597"/>
                  </a:lnTo>
                  <a:lnTo>
                    <a:pt x="2598466" y="913510"/>
                  </a:lnTo>
                  <a:close/>
                </a:path>
                <a:path w="3284220" h="1416050">
                  <a:moveTo>
                    <a:pt x="56261" y="150367"/>
                  </a:moveTo>
                  <a:lnTo>
                    <a:pt x="703580" y="499236"/>
                  </a:lnTo>
                  <a:lnTo>
                    <a:pt x="0" y="564680"/>
                  </a:lnTo>
                  <a:lnTo>
                    <a:pt x="565912" y="771804"/>
                  </a:lnTo>
                  <a:lnTo>
                    <a:pt x="20574" y="956119"/>
                  </a:lnTo>
                  <a:lnTo>
                    <a:pt x="861695" y="913510"/>
                  </a:lnTo>
                  <a:lnTo>
                    <a:pt x="2598466" y="913510"/>
                  </a:lnTo>
                  <a:lnTo>
                    <a:pt x="2560066" y="848296"/>
                  </a:lnTo>
                  <a:lnTo>
                    <a:pt x="3209157" y="848296"/>
                  </a:lnTo>
                  <a:lnTo>
                    <a:pt x="2677033" y="686600"/>
                  </a:lnTo>
                  <a:lnTo>
                    <a:pt x="3207766" y="533399"/>
                  </a:lnTo>
                  <a:lnTo>
                    <a:pt x="2539492" y="479424"/>
                  </a:lnTo>
                  <a:lnTo>
                    <a:pt x="2628229" y="414273"/>
                  </a:lnTo>
                  <a:lnTo>
                    <a:pt x="1111758" y="414273"/>
                  </a:lnTo>
                  <a:lnTo>
                    <a:pt x="56261" y="150367"/>
                  </a:lnTo>
                  <a:close/>
                </a:path>
                <a:path w="3284220" h="1416050">
                  <a:moveTo>
                    <a:pt x="3209157" y="848296"/>
                  </a:moveTo>
                  <a:lnTo>
                    <a:pt x="2560066" y="848296"/>
                  </a:lnTo>
                  <a:lnTo>
                    <a:pt x="3284220" y="871105"/>
                  </a:lnTo>
                  <a:lnTo>
                    <a:pt x="3209157" y="848296"/>
                  </a:lnTo>
                  <a:close/>
                </a:path>
                <a:path w="3284220" h="1416050">
                  <a:moveTo>
                    <a:pt x="1269873" y="150367"/>
                  </a:moveTo>
                  <a:lnTo>
                    <a:pt x="1111758" y="414273"/>
                  </a:lnTo>
                  <a:lnTo>
                    <a:pt x="2628229" y="414273"/>
                  </a:lnTo>
                  <a:lnTo>
                    <a:pt x="2674761" y="380110"/>
                  </a:lnTo>
                  <a:lnTo>
                    <a:pt x="1642110" y="380110"/>
                  </a:lnTo>
                  <a:lnTo>
                    <a:pt x="1269873" y="150367"/>
                  </a:lnTo>
                  <a:close/>
                </a:path>
                <a:path w="3284220" h="1416050">
                  <a:moveTo>
                    <a:pt x="2208022" y="0"/>
                  </a:moveTo>
                  <a:lnTo>
                    <a:pt x="1642110" y="380110"/>
                  </a:lnTo>
                  <a:lnTo>
                    <a:pt x="2674761" y="380110"/>
                  </a:lnTo>
                  <a:lnTo>
                    <a:pt x="2717140" y="348995"/>
                  </a:lnTo>
                  <a:lnTo>
                    <a:pt x="2152269" y="348995"/>
                  </a:lnTo>
                  <a:lnTo>
                    <a:pt x="2208022" y="0"/>
                  </a:lnTo>
                  <a:close/>
                </a:path>
                <a:path w="3284220" h="1416050">
                  <a:moveTo>
                    <a:pt x="2794635" y="292099"/>
                  </a:moveTo>
                  <a:lnTo>
                    <a:pt x="2152269" y="348995"/>
                  </a:lnTo>
                  <a:lnTo>
                    <a:pt x="2717140" y="348995"/>
                  </a:lnTo>
                  <a:lnTo>
                    <a:pt x="2794635" y="292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 b="1"/>
            </a:p>
          </p:txBody>
        </p:sp>
        <p:sp>
          <p:nvSpPr>
            <p:cNvPr id="23" name="object 23"/>
            <p:cNvSpPr/>
            <p:nvPr/>
          </p:nvSpPr>
          <p:spPr>
            <a:xfrm>
              <a:off x="5596255" y="3452679"/>
              <a:ext cx="3284220" cy="1416050"/>
            </a:xfrm>
            <a:custGeom>
              <a:avLst/>
              <a:gdLst/>
              <a:ahLst/>
              <a:cxnLst/>
              <a:rect l="l" t="t" r="r" b="b"/>
              <a:pathLst>
                <a:path w="3284220" h="1416050">
                  <a:moveTo>
                    <a:pt x="1642110" y="380110"/>
                  </a:moveTo>
                  <a:lnTo>
                    <a:pt x="2208022" y="0"/>
                  </a:lnTo>
                  <a:lnTo>
                    <a:pt x="2152269" y="348995"/>
                  </a:lnTo>
                  <a:lnTo>
                    <a:pt x="2794635" y="292099"/>
                  </a:lnTo>
                  <a:lnTo>
                    <a:pt x="2539492" y="479424"/>
                  </a:lnTo>
                  <a:lnTo>
                    <a:pt x="3207766" y="533399"/>
                  </a:lnTo>
                  <a:lnTo>
                    <a:pt x="2677033" y="686600"/>
                  </a:lnTo>
                  <a:lnTo>
                    <a:pt x="3284220" y="871105"/>
                  </a:lnTo>
                  <a:lnTo>
                    <a:pt x="2560066" y="848296"/>
                  </a:lnTo>
                  <a:lnTo>
                    <a:pt x="2758948" y="1186052"/>
                  </a:lnTo>
                  <a:lnTo>
                    <a:pt x="2131695" y="947597"/>
                  </a:lnTo>
                  <a:lnTo>
                    <a:pt x="2014220" y="1293685"/>
                  </a:lnTo>
                  <a:lnTo>
                    <a:pt x="1601343" y="978928"/>
                  </a:lnTo>
                  <a:lnTo>
                    <a:pt x="1290066" y="1415795"/>
                  </a:lnTo>
                  <a:lnTo>
                    <a:pt x="1173099" y="1024293"/>
                  </a:lnTo>
                  <a:lnTo>
                    <a:pt x="724026" y="1154722"/>
                  </a:lnTo>
                  <a:lnTo>
                    <a:pt x="861695" y="913510"/>
                  </a:lnTo>
                  <a:lnTo>
                    <a:pt x="20574" y="956119"/>
                  </a:lnTo>
                  <a:lnTo>
                    <a:pt x="565912" y="771804"/>
                  </a:lnTo>
                  <a:lnTo>
                    <a:pt x="0" y="564680"/>
                  </a:lnTo>
                  <a:lnTo>
                    <a:pt x="703580" y="499236"/>
                  </a:lnTo>
                  <a:lnTo>
                    <a:pt x="56261" y="150367"/>
                  </a:lnTo>
                  <a:lnTo>
                    <a:pt x="1111758" y="414273"/>
                  </a:lnTo>
                  <a:lnTo>
                    <a:pt x="1269873" y="150367"/>
                  </a:lnTo>
                  <a:lnTo>
                    <a:pt x="1642110" y="380110"/>
                  </a:lnTo>
                  <a:close/>
                </a:path>
              </a:pathLst>
            </a:custGeom>
            <a:ln w="25908">
              <a:solidFill>
                <a:srgbClr val="6A5F0E"/>
              </a:solidFill>
            </a:ln>
          </p:spPr>
          <p:txBody>
            <a:bodyPr wrap="square" lIns="0" tIns="0" rIns="0" bIns="0" rtlCol="0"/>
            <a:lstStyle/>
            <a:p>
              <a:endParaRPr sz="1800" b="1"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6378576" y="3844500"/>
              <a:ext cx="1861184" cy="56618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>
              <a:defPPr>
                <a:defRPr lang="en-US"/>
              </a:defPPr>
              <a:lvl1pPr marL="12700">
                <a:lnSpc>
                  <a:spcPct val="100000"/>
                </a:lnSpc>
                <a:spcBef>
                  <a:spcPts val="95"/>
                </a:spcBef>
                <a:defRPr sz="2800" b="1">
                  <a:solidFill>
                    <a:srgbClr val="0000FF"/>
                  </a:solidFill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sz="2700">
                  <a:solidFill>
                    <a:schemeClr val="bg1"/>
                  </a:solidFill>
                </a:rPr>
                <a:t>3</a:t>
              </a:r>
              <a:r>
                <a:rPr sz="2700">
                  <a:solidFill>
                    <a:schemeClr val="bg1"/>
                  </a:solidFill>
                </a:rPr>
                <a:t>10000N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721971" y="190500"/>
            <a:ext cx="1407539" cy="1489558"/>
            <a:chOff x="6105292" y="447040"/>
            <a:chExt cx="1876719" cy="1986077"/>
          </a:xfrm>
        </p:grpSpPr>
        <p:sp>
          <p:nvSpPr>
            <p:cNvPr id="3" name="object 3"/>
            <p:cNvSpPr/>
            <p:nvPr/>
          </p:nvSpPr>
          <p:spPr>
            <a:xfrm>
              <a:off x="6105292" y="447040"/>
              <a:ext cx="1876719" cy="14224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100" b="1"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6581372" y="1990046"/>
              <a:ext cx="924560" cy="44307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100" b="1" spc="-135">
                  <a:ea typeface="+mn-ea"/>
                  <a:cs typeface="Times New Roman" panose="02020603050405020304" pitchFamily="18" charset="0"/>
                </a:rPr>
                <a:t>10</a:t>
              </a:r>
              <a:r>
                <a:rPr lang="en-US" sz="2100" b="1" spc="-135">
                  <a:ea typeface="+mn-ea"/>
                  <a:cs typeface="Times New Roman" panose="02020603050405020304" pitchFamily="18" charset="0"/>
                </a:rPr>
                <a:t> </a:t>
              </a:r>
              <a:r>
                <a:rPr sz="2100" b="1" spc="-135">
                  <a:ea typeface="+mn-ea"/>
                  <a:cs typeface="Times New Roman" panose="02020603050405020304" pitchFamily="18" charset="0"/>
                </a:rPr>
                <a:t>m/s</a:t>
              </a:r>
              <a:endParaRPr sz="2100" b="1"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5"/>
          <p:cNvSpPr txBox="1"/>
          <p:nvPr/>
        </p:nvSpPr>
        <p:spPr>
          <a:xfrm>
            <a:off x="1665676" y="320878"/>
            <a:ext cx="539968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lang="zh-CN" altLang="en-US" sz="2100" b="1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问题解释</a:t>
            </a:r>
            <a:r>
              <a:rPr sz="2100" b="1" spc="-4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：</a:t>
            </a:r>
            <a:endParaRPr sz="2100" b="1"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637971" y="1863964"/>
            <a:ext cx="2955608" cy="418203"/>
            <a:chOff x="696901" y="2655994"/>
            <a:chExt cx="3940810" cy="557604"/>
          </a:xfrm>
        </p:grpSpPr>
        <p:sp>
          <p:nvSpPr>
            <p:cNvPr id="12" name="object 12"/>
            <p:cNvSpPr txBox="1"/>
            <p:nvPr/>
          </p:nvSpPr>
          <p:spPr>
            <a:xfrm>
              <a:off x="696901" y="2655994"/>
              <a:ext cx="3940810" cy="446917"/>
            </a:xfrm>
            <a:prstGeom prst="rect">
              <a:avLst/>
            </a:prstGeom>
          </p:spPr>
          <p:txBody>
            <a:bodyPr vert="horz" wrap="square" lIns="0" tIns="11906" rIns="0" bIns="0" rtlCol="0">
              <a:spAutoFit/>
            </a:bodyPr>
            <a:lstStyle/>
            <a:p>
              <a:pPr marL="9525">
                <a:spcBef>
                  <a:spcPts val="94"/>
                </a:spcBef>
              </a:pPr>
              <a:r>
                <a:rPr sz="2100" b="1" spc="-4">
                  <a:latin typeface="宋体"/>
                  <a:cs typeface="宋体"/>
                </a:rPr>
                <a:t>撞击时间</a:t>
              </a:r>
              <a:r>
                <a:rPr sz="2100" b="1" spc="45">
                  <a:latin typeface="微软雅黑"/>
                  <a:cs typeface="微软雅黑"/>
                </a:rPr>
                <a:t>：</a:t>
              </a:r>
              <a:endParaRPr sz="2100" b="1" baseline="1610">
                <a:latin typeface="Times New Roman"/>
                <a:cs typeface="Times New Roman"/>
              </a:endParaRPr>
            </a:p>
          </p:txBody>
        </p:sp>
        <p:graphicFrame>
          <p:nvGraphicFramePr>
            <p:cNvPr id="31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493844"/>
                </p:ext>
              </p:extLst>
            </p:nvPr>
          </p:nvGraphicFramePr>
          <p:xfrm>
            <a:off x="2405025" y="2676314"/>
            <a:ext cx="1856347" cy="537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46" name="Equation" r:id="rId5" imgW="774360" imgH="203040" progId="Equation.DSMT4">
                    <p:embed/>
                  </p:oleObj>
                </mc:Choice>
                <mc:Fallback>
                  <p:oleObj name="Equation" r:id="rId5" imgW="774360" imgH="203040" progId="Equation.DSMT4">
                    <p:embed/>
                    <p:pic>
                      <p:nvPicPr>
                        <p:cNvPr id="4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5025" y="2676314"/>
                          <a:ext cx="1856347" cy="53728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1661160" y="2247800"/>
            <a:ext cx="3098611" cy="831056"/>
            <a:chOff x="457198" y="4317864"/>
            <a:chExt cx="4131481" cy="1108075"/>
          </a:xfrm>
        </p:grpSpPr>
        <p:sp>
          <p:nvSpPr>
            <p:cNvPr id="25" name="object 25"/>
            <p:cNvSpPr txBox="1"/>
            <p:nvPr/>
          </p:nvSpPr>
          <p:spPr>
            <a:xfrm>
              <a:off x="457198" y="4506166"/>
              <a:ext cx="2051228" cy="443071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>
              <a:defPPr>
                <a:defRPr lang="en-US"/>
              </a:defPPr>
              <a:lvl1pPr marL="12700">
                <a:lnSpc>
                  <a:spcPct val="100000"/>
                </a:lnSpc>
                <a:spcBef>
                  <a:spcPts val="95"/>
                </a:spcBef>
                <a:defRPr sz="2800" b="1">
                  <a:solidFill>
                    <a:srgbClr val="0000FF"/>
                  </a:solidFill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sz="2100" dirty="0"/>
                <a:t>平均冲力：</a:t>
              </a:r>
              <a:endParaRPr sz="2100"/>
            </a:p>
          </p:txBody>
        </p:sp>
        <p:graphicFrame>
          <p:nvGraphicFramePr>
            <p:cNvPr id="3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779331"/>
                </p:ext>
              </p:extLst>
            </p:nvPr>
          </p:nvGraphicFramePr>
          <p:xfrm>
            <a:off x="2134403" y="4317864"/>
            <a:ext cx="2454276" cy="1108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47" name="Equation" r:id="rId7" imgW="952200" imgH="431640" progId="Equation.DSMT4">
                    <p:embed/>
                  </p:oleObj>
                </mc:Choice>
                <mc:Fallback>
                  <p:oleObj name="Equation" r:id="rId7" imgW="952200" imgH="431640" progId="Equation.DSMT4">
                    <p:embed/>
                    <p:pic>
                      <p:nvPicPr>
                        <p:cNvPr id="41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4403" y="4317864"/>
                          <a:ext cx="2454276" cy="11080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4" name="直接箭头连接符 33"/>
          <p:cNvCxnSpPr/>
          <p:nvPr/>
        </p:nvCxnSpPr>
        <p:spPr bwMode="auto">
          <a:xfrm>
            <a:off x="4621283" y="1480119"/>
            <a:ext cx="36656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6" name="直接箭头连接符 35"/>
          <p:cNvCxnSpPr/>
          <p:nvPr/>
        </p:nvCxnSpPr>
        <p:spPr bwMode="auto">
          <a:xfrm flipH="1" flipV="1">
            <a:off x="5689603" y="1480119"/>
            <a:ext cx="36656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0" name="object 3"/>
          <p:cNvSpPr/>
          <p:nvPr/>
        </p:nvSpPr>
        <p:spPr>
          <a:xfrm>
            <a:off x="5527118" y="3201789"/>
            <a:ext cx="2042996" cy="15615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1" name="object 4"/>
          <p:cNvSpPr/>
          <p:nvPr/>
        </p:nvSpPr>
        <p:spPr>
          <a:xfrm>
            <a:off x="3111192" y="3201788"/>
            <a:ext cx="1864526" cy="15615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1947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4D69FC-32AB-44F3-B58E-8025D6E059A5}" type="slidenum">
              <a:rPr lang="zh-CN" altLang="en-US" smtClean="0"/>
              <a:pPr/>
              <a:t>8</a:t>
            </a:fld>
            <a:endParaRPr lang="en-US" altLang="zh-CN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764"/>
          <a:stretch/>
        </p:blipFill>
        <p:spPr bwMode="auto">
          <a:xfrm>
            <a:off x="2446528" y="1722894"/>
            <a:ext cx="3580894" cy="110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/>
        </p:nvCxnSpPr>
        <p:spPr bwMode="auto">
          <a:xfrm>
            <a:off x="1339260" y="2823323"/>
            <a:ext cx="653472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22082" y="248365"/>
            <a:ext cx="6375704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0000FF"/>
                </a:solidFill>
                <a:latin typeface="Arial" charset="0"/>
              </a:rPr>
              <a:t>练习：</a:t>
            </a:r>
            <a:r>
              <a:rPr lang="zh-CN" altLang="en-US" b="1" dirty="0">
                <a:latin typeface="Arial" charset="0"/>
              </a:rPr>
              <a:t>光滑平面上两个木块，子弹穿过两木块所用时间分别为     和      ，木块对子弹的阻力位恒力  </a:t>
            </a:r>
            <a:r>
              <a:rPr lang="en-US" altLang="zh-CN" b="1" dirty="0">
                <a:latin typeface="Arial" charset="0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Arial" charset="0"/>
              </a:rPr>
              <a:t>，求</a:t>
            </a:r>
            <a:r>
              <a:rPr lang="zh-CN" altLang="en-US" b="1" dirty="0">
                <a:latin typeface="Arial" charset="0"/>
              </a:rPr>
              <a:t>子弹穿出后两木块的速度。</a:t>
            </a:r>
            <a:endParaRPr lang="zh-CN" altLang="en-US" sz="1350" b="1" dirty="0">
              <a:latin typeface="Arial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614993"/>
              </p:ext>
            </p:extLst>
          </p:nvPr>
        </p:nvGraphicFramePr>
        <p:xfrm>
          <a:off x="3619024" y="728427"/>
          <a:ext cx="491729" cy="520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92" name="Equation" r:id="rId4" imgW="215640" imgH="228600" progId="Equation.DSMT4">
                  <p:embed/>
                </p:oleObj>
              </mc:Choice>
              <mc:Fallback>
                <p:oleObj name="Equation" r:id="rId4" imgW="2156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024" y="728427"/>
                        <a:ext cx="491729" cy="520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823446"/>
              </p:ext>
            </p:extLst>
          </p:nvPr>
        </p:nvGraphicFramePr>
        <p:xfrm>
          <a:off x="4374358" y="728425"/>
          <a:ext cx="521494" cy="52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93" name="Equation" r:id="rId6" imgW="228600" imgH="228600" progId="Equation.DSMT4">
                  <p:embed/>
                </p:oleObj>
              </mc:Choice>
              <mc:Fallback>
                <p:oleObj name="Equation" r:id="rId6" imgW="228600" imgH="228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4358" y="728425"/>
                        <a:ext cx="521494" cy="520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809701"/>
              </p:ext>
            </p:extLst>
          </p:nvPr>
        </p:nvGraphicFramePr>
        <p:xfrm>
          <a:off x="2427685" y="1251347"/>
          <a:ext cx="375047" cy="34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94" name="Equation" r:id="rId8" imgW="164880" imgH="152280" progId="Equation.DSMT4">
                  <p:embed/>
                </p:oleObj>
              </mc:Choice>
              <mc:Fallback>
                <p:oleObj name="Equation" r:id="rId8" imgW="164880" imgH="15228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685" y="1251347"/>
                        <a:ext cx="375047" cy="346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476422" y="2984071"/>
            <a:ext cx="72648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100" b="1" dirty="0">
                <a:solidFill>
                  <a:srgbClr val="0000FF"/>
                </a:solidFill>
              </a:rPr>
              <a:t>解：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502008"/>
              </p:ext>
            </p:extLst>
          </p:nvPr>
        </p:nvGraphicFramePr>
        <p:xfrm>
          <a:off x="2202903" y="3006001"/>
          <a:ext cx="3098735" cy="800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95" name="Equation" r:id="rId10" imgW="1777680" imgH="457200" progId="Equation.DSMT4">
                  <p:embed/>
                </p:oleObj>
              </mc:Choice>
              <mc:Fallback>
                <p:oleObj name="Equation" r:id="rId10" imgW="1777680" imgH="4572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903" y="3006001"/>
                        <a:ext cx="3098735" cy="800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055857"/>
              </p:ext>
            </p:extLst>
          </p:nvPr>
        </p:nvGraphicFramePr>
        <p:xfrm>
          <a:off x="2202903" y="4013159"/>
          <a:ext cx="27876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96" name="Equation" r:id="rId12" imgW="1600200" imgH="457200" progId="Equation.DSMT4">
                  <p:embed/>
                </p:oleObj>
              </mc:Choice>
              <mc:Fallback>
                <p:oleObj name="Equation" r:id="rId12" imgW="1600200" imgH="4572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903" y="4013159"/>
                        <a:ext cx="27876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501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4D69FC-32AB-44F3-B58E-8025D6E059A5}" type="slidenum">
              <a:rPr lang="zh-CN" altLang="en-US" smtClean="0"/>
              <a:pPr/>
              <a:t>9</a:t>
            </a:fld>
            <a:endParaRPr lang="en-US" altLang="zh-CN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527675" y="294323"/>
            <a:ext cx="2514600" cy="2171700"/>
            <a:chOff x="0" y="0"/>
            <a:chExt cx="2112" cy="182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112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8" y="9"/>
              <a:ext cx="91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solidFill>
                    <a:srgbClr val="1C1C1C"/>
                  </a:solidFill>
                  <a:latin typeface="Arial" charset="0"/>
                </a:rPr>
                <a:t>质点系</a:t>
              </a:r>
            </a:p>
          </p:txBody>
        </p:sp>
      </p:grp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35878" y="290171"/>
            <a:ext cx="40505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rgbClr val="C00000"/>
                </a:solidFill>
                <a:latin typeface="宋体" pitchFamily="2" charset="-122"/>
              </a:rPr>
              <a:t>二、质点系的动量定理</a:t>
            </a:r>
          </a:p>
        </p:txBody>
      </p: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5699125" y="846773"/>
            <a:ext cx="2171700" cy="1371600"/>
            <a:chOff x="0" y="0"/>
            <a:chExt cx="1824" cy="1152"/>
          </a:xfrm>
        </p:grpSpPr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720" y="624"/>
              <a:ext cx="48" cy="48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912" y="0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728" y="105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440" y="405"/>
              <a:ext cx="48" cy="48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528" y="240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144" y="76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528" y="110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1776" y="4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1056" y="110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0" y="14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311" y="96"/>
              <a:ext cx="1464" cy="912"/>
            </a:xfrm>
            <a:custGeom>
              <a:avLst/>
              <a:gdLst/>
              <a:ahLst/>
              <a:cxnLst>
                <a:cxn ang="0">
                  <a:pos x="122" y="489"/>
                </a:cxn>
                <a:cxn ang="0">
                  <a:pos x="200" y="345"/>
                </a:cxn>
                <a:cxn ang="0">
                  <a:pos x="234" y="312"/>
                </a:cxn>
                <a:cxn ang="0">
                  <a:pos x="278" y="212"/>
                </a:cxn>
                <a:cxn ang="0">
                  <a:pos x="411" y="134"/>
                </a:cxn>
                <a:cxn ang="0">
                  <a:pos x="578" y="123"/>
                </a:cxn>
                <a:cxn ang="0">
                  <a:pos x="600" y="100"/>
                </a:cxn>
                <a:cxn ang="0">
                  <a:pos x="667" y="78"/>
                </a:cxn>
                <a:cxn ang="0">
                  <a:pos x="834" y="0"/>
                </a:cxn>
                <a:cxn ang="0">
                  <a:pos x="1167" y="12"/>
                </a:cxn>
                <a:cxn ang="0">
                  <a:pos x="1234" y="34"/>
                </a:cxn>
                <a:cxn ang="0">
                  <a:pos x="1267" y="56"/>
                </a:cxn>
                <a:cxn ang="0">
                  <a:pos x="1356" y="78"/>
                </a:cxn>
                <a:cxn ang="0">
                  <a:pos x="1434" y="156"/>
                </a:cxn>
                <a:cxn ang="0">
                  <a:pos x="1434" y="356"/>
                </a:cxn>
                <a:cxn ang="0">
                  <a:pos x="1389" y="423"/>
                </a:cxn>
                <a:cxn ang="0">
                  <a:pos x="1256" y="589"/>
                </a:cxn>
                <a:cxn ang="0">
                  <a:pos x="1178" y="689"/>
                </a:cxn>
                <a:cxn ang="0">
                  <a:pos x="1045" y="767"/>
                </a:cxn>
                <a:cxn ang="0">
                  <a:pos x="567" y="734"/>
                </a:cxn>
                <a:cxn ang="0">
                  <a:pos x="245" y="745"/>
                </a:cxn>
                <a:cxn ang="0">
                  <a:pos x="0" y="634"/>
                </a:cxn>
                <a:cxn ang="0">
                  <a:pos x="122" y="545"/>
                </a:cxn>
                <a:cxn ang="0">
                  <a:pos x="122" y="489"/>
                </a:cxn>
              </a:cxnLst>
              <a:rect l="0" t="0" r="r" b="b"/>
              <a:pathLst>
                <a:path w="1464" h="767">
                  <a:moveTo>
                    <a:pt x="122" y="489"/>
                  </a:moveTo>
                  <a:cubicBezTo>
                    <a:pt x="134" y="382"/>
                    <a:pt x="115" y="373"/>
                    <a:pt x="200" y="345"/>
                  </a:cubicBezTo>
                  <a:cubicBezTo>
                    <a:pt x="211" y="334"/>
                    <a:pt x="226" y="326"/>
                    <a:pt x="234" y="312"/>
                  </a:cubicBezTo>
                  <a:cubicBezTo>
                    <a:pt x="254" y="277"/>
                    <a:pt x="247" y="239"/>
                    <a:pt x="278" y="212"/>
                  </a:cubicBezTo>
                  <a:cubicBezTo>
                    <a:pt x="316" y="179"/>
                    <a:pt x="363" y="150"/>
                    <a:pt x="411" y="134"/>
                  </a:cubicBezTo>
                  <a:cubicBezTo>
                    <a:pt x="487" y="149"/>
                    <a:pt x="482" y="155"/>
                    <a:pt x="578" y="123"/>
                  </a:cubicBezTo>
                  <a:cubicBezTo>
                    <a:pt x="588" y="120"/>
                    <a:pt x="591" y="105"/>
                    <a:pt x="600" y="100"/>
                  </a:cubicBezTo>
                  <a:cubicBezTo>
                    <a:pt x="621" y="89"/>
                    <a:pt x="647" y="91"/>
                    <a:pt x="667" y="78"/>
                  </a:cubicBezTo>
                  <a:cubicBezTo>
                    <a:pt x="703" y="54"/>
                    <a:pt x="789" y="16"/>
                    <a:pt x="834" y="0"/>
                  </a:cubicBezTo>
                  <a:cubicBezTo>
                    <a:pt x="945" y="4"/>
                    <a:pt x="1056" y="3"/>
                    <a:pt x="1167" y="12"/>
                  </a:cubicBezTo>
                  <a:cubicBezTo>
                    <a:pt x="1190" y="14"/>
                    <a:pt x="1234" y="34"/>
                    <a:pt x="1234" y="34"/>
                  </a:cubicBezTo>
                  <a:cubicBezTo>
                    <a:pt x="1245" y="41"/>
                    <a:pt x="1255" y="52"/>
                    <a:pt x="1267" y="56"/>
                  </a:cubicBezTo>
                  <a:cubicBezTo>
                    <a:pt x="1296" y="66"/>
                    <a:pt x="1356" y="78"/>
                    <a:pt x="1356" y="78"/>
                  </a:cubicBezTo>
                  <a:cubicBezTo>
                    <a:pt x="1392" y="102"/>
                    <a:pt x="1409" y="121"/>
                    <a:pt x="1434" y="156"/>
                  </a:cubicBezTo>
                  <a:cubicBezTo>
                    <a:pt x="1459" y="231"/>
                    <a:pt x="1464" y="232"/>
                    <a:pt x="1434" y="356"/>
                  </a:cubicBezTo>
                  <a:cubicBezTo>
                    <a:pt x="1428" y="382"/>
                    <a:pt x="1404" y="401"/>
                    <a:pt x="1389" y="423"/>
                  </a:cubicBezTo>
                  <a:cubicBezTo>
                    <a:pt x="1350" y="481"/>
                    <a:pt x="1305" y="540"/>
                    <a:pt x="1256" y="589"/>
                  </a:cubicBezTo>
                  <a:cubicBezTo>
                    <a:pt x="1235" y="653"/>
                    <a:pt x="1254" y="613"/>
                    <a:pt x="1178" y="689"/>
                  </a:cubicBezTo>
                  <a:cubicBezTo>
                    <a:pt x="1120" y="747"/>
                    <a:pt x="1125" y="747"/>
                    <a:pt x="1045" y="767"/>
                  </a:cubicBezTo>
                  <a:cubicBezTo>
                    <a:pt x="826" y="760"/>
                    <a:pt x="745" y="756"/>
                    <a:pt x="567" y="734"/>
                  </a:cubicBezTo>
                  <a:cubicBezTo>
                    <a:pt x="460" y="738"/>
                    <a:pt x="352" y="745"/>
                    <a:pt x="245" y="745"/>
                  </a:cubicBezTo>
                  <a:cubicBezTo>
                    <a:pt x="115" y="745"/>
                    <a:pt x="66" y="733"/>
                    <a:pt x="0" y="634"/>
                  </a:cubicBezTo>
                  <a:cubicBezTo>
                    <a:pt x="24" y="559"/>
                    <a:pt x="56" y="567"/>
                    <a:pt x="122" y="545"/>
                  </a:cubicBezTo>
                  <a:cubicBezTo>
                    <a:pt x="173" y="497"/>
                    <a:pt x="122" y="546"/>
                    <a:pt x="122" y="489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CC0099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0" name="Object 18"/>
            <p:cNvGraphicFramePr>
              <a:graphicFrameLocks noChangeAspect="1"/>
            </p:cNvGraphicFramePr>
            <p:nvPr/>
          </p:nvGraphicFramePr>
          <p:xfrm>
            <a:off x="624" y="597"/>
            <a:ext cx="28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86" r:id="rId3" imgW="139835" imgH="165202" progId="Equation.3">
                    <p:embed/>
                  </p:oleObj>
                </mc:Choice>
                <mc:Fallback>
                  <p:oleObj r:id="rId3" imgW="139835" imgH="165202" progId="Equation.3">
                    <p:embed/>
                    <p:pic>
                      <p:nvPicPr>
                        <p:cNvPr id="2254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597"/>
                          <a:ext cx="28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9"/>
            <p:cNvGraphicFramePr>
              <a:graphicFrameLocks noChangeAspect="1"/>
            </p:cNvGraphicFramePr>
            <p:nvPr/>
          </p:nvGraphicFramePr>
          <p:xfrm>
            <a:off x="1344" y="432"/>
            <a:ext cx="30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87" r:id="rId5" imgW="152519" imgH="165202" progId="Equation.3">
                    <p:embed/>
                  </p:oleObj>
                </mc:Choice>
                <mc:Fallback>
                  <p:oleObj r:id="rId5" imgW="152519" imgH="165202" progId="Equation.3">
                    <p:embed/>
                    <p:pic>
                      <p:nvPicPr>
                        <p:cNvPr id="2254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432"/>
                          <a:ext cx="30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5699125" y="503873"/>
            <a:ext cx="2085975" cy="1200150"/>
            <a:chOff x="0" y="0"/>
            <a:chExt cx="1752" cy="1008"/>
          </a:xfrm>
        </p:grpSpPr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V="1">
              <a:off x="768" y="864"/>
              <a:ext cx="336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rot="21421042" flipH="1">
              <a:off x="1201" y="719"/>
              <a:ext cx="335" cy="1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 flipV="1">
              <a:off x="144" y="528"/>
              <a:ext cx="624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rot="20397980" flipV="1">
              <a:off x="1392" y="380"/>
              <a:ext cx="360" cy="33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7" name="Object 25"/>
            <p:cNvGraphicFramePr>
              <a:graphicFrameLocks noChangeAspect="1"/>
            </p:cNvGraphicFramePr>
            <p:nvPr/>
          </p:nvGraphicFramePr>
          <p:xfrm>
            <a:off x="672" y="528"/>
            <a:ext cx="384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88" r:id="rId7" imgW="215936" imgH="228620" progId="Equation.3">
                    <p:embed/>
                  </p:oleObj>
                </mc:Choice>
                <mc:Fallback>
                  <p:oleObj r:id="rId7" imgW="215936" imgH="228620" progId="Equation.3">
                    <p:embed/>
                    <p:pic>
                      <p:nvPicPr>
                        <p:cNvPr id="2255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528"/>
                          <a:ext cx="384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6"/>
            <p:cNvGraphicFramePr>
              <a:graphicFrameLocks noChangeAspect="1"/>
            </p:cNvGraphicFramePr>
            <p:nvPr/>
          </p:nvGraphicFramePr>
          <p:xfrm>
            <a:off x="1056" y="384"/>
            <a:ext cx="384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89" r:id="rId9" imgW="215936" imgH="228620" progId="Equation.3">
                    <p:embed/>
                  </p:oleObj>
                </mc:Choice>
                <mc:Fallback>
                  <p:oleObj r:id="rId9" imgW="215936" imgH="228620" progId="Equation.3">
                    <p:embed/>
                    <p:pic>
                      <p:nvPicPr>
                        <p:cNvPr id="22554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84"/>
                          <a:ext cx="384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7"/>
            <p:cNvGraphicFramePr>
              <a:graphicFrameLocks noChangeAspect="1"/>
            </p:cNvGraphicFramePr>
            <p:nvPr/>
          </p:nvGraphicFramePr>
          <p:xfrm>
            <a:off x="0" y="607"/>
            <a:ext cx="336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0" r:id="rId11" imgW="165202" imgH="228620" progId="Equation.3">
                    <p:embed/>
                  </p:oleObj>
                </mc:Choice>
                <mc:Fallback>
                  <p:oleObj r:id="rId11" imgW="165202" imgH="228620" progId="Equation.3">
                    <p:embed/>
                    <p:pic>
                      <p:nvPicPr>
                        <p:cNvPr id="22555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7"/>
                          <a:ext cx="336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8"/>
            <p:cNvGraphicFramePr>
              <a:graphicFrameLocks noChangeAspect="1"/>
            </p:cNvGraphicFramePr>
            <p:nvPr/>
          </p:nvGraphicFramePr>
          <p:xfrm>
            <a:off x="1344" y="0"/>
            <a:ext cx="30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1" r:id="rId13" imgW="177809" imgH="228521" progId="Equation.3">
                    <p:embed/>
                  </p:oleObj>
                </mc:Choice>
                <mc:Fallback>
                  <p:oleObj r:id="rId13" imgW="177809" imgH="228521" progId="Equation.3">
                    <p:embed/>
                    <p:pic>
                      <p:nvPicPr>
                        <p:cNvPr id="22556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0"/>
                          <a:ext cx="302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29"/>
          <p:cNvGrpSpPr>
            <a:grpSpLocks noChangeAspect="1"/>
          </p:cNvGrpSpPr>
          <p:nvPr/>
        </p:nvGrpSpPr>
        <p:grpSpPr bwMode="auto">
          <a:xfrm>
            <a:off x="5641977" y="789623"/>
            <a:ext cx="2339578" cy="1485900"/>
            <a:chOff x="0" y="0"/>
            <a:chExt cx="1965" cy="1248"/>
          </a:xfrm>
        </p:grpSpPr>
        <p:graphicFrame>
          <p:nvGraphicFramePr>
            <p:cNvPr id="32" name="Object 30"/>
            <p:cNvGraphicFramePr>
              <a:graphicFrameLocks noChangeAspect="1"/>
            </p:cNvGraphicFramePr>
            <p:nvPr/>
          </p:nvGraphicFramePr>
          <p:xfrm>
            <a:off x="1728" y="110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2" r:id="rId15" imgW="380852" imgH="390270" progId="">
                    <p:embed/>
                  </p:oleObj>
                </mc:Choice>
                <mc:Fallback>
                  <p:oleObj r:id="rId15" imgW="380852" imgH="390270" progId="">
                    <p:embed/>
                    <p:pic>
                      <p:nvPicPr>
                        <p:cNvPr id="22558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10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1"/>
            <p:cNvGraphicFramePr>
              <a:graphicFrameLocks noChangeAspect="1"/>
            </p:cNvGraphicFramePr>
            <p:nvPr/>
          </p:nvGraphicFramePr>
          <p:xfrm>
            <a:off x="768" y="62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3" r:id="rId17" imgW="380852" imgH="390270" progId="">
                    <p:embed/>
                  </p:oleObj>
                </mc:Choice>
                <mc:Fallback>
                  <p:oleObj r:id="rId17" imgW="380852" imgH="390270" progId="">
                    <p:embed/>
                    <p:pic>
                      <p:nvPicPr>
                        <p:cNvPr id="22559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62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2"/>
            <p:cNvGraphicFramePr>
              <a:graphicFrameLocks noChangeAspect="1"/>
            </p:cNvGraphicFramePr>
            <p:nvPr/>
          </p:nvGraphicFramePr>
          <p:xfrm>
            <a:off x="1059" y="110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4" r:id="rId19" imgW="380852" imgH="390270" progId="">
                    <p:embed/>
                  </p:oleObj>
                </mc:Choice>
                <mc:Fallback>
                  <p:oleObj r:id="rId19" imgW="380852" imgH="390270" progId="">
                    <p:embed/>
                    <p:pic>
                      <p:nvPicPr>
                        <p:cNvPr id="2256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9" y="110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3"/>
            <p:cNvGraphicFramePr>
              <a:graphicFrameLocks noChangeAspect="1"/>
            </p:cNvGraphicFramePr>
            <p:nvPr/>
          </p:nvGraphicFramePr>
          <p:xfrm>
            <a:off x="144" y="768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5" r:id="rId20" imgW="380852" imgH="390270" progId="">
                    <p:embed/>
                  </p:oleObj>
                </mc:Choice>
                <mc:Fallback>
                  <p:oleObj r:id="rId20" imgW="380852" imgH="390270" progId="">
                    <p:embed/>
                    <p:pic>
                      <p:nvPicPr>
                        <p:cNvPr id="22561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768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4"/>
            <p:cNvGraphicFramePr>
              <a:graphicFrameLocks noChangeAspect="1"/>
            </p:cNvGraphicFramePr>
            <p:nvPr/>
          </p:nvGraphicFramePr>
          <p:xfrm>
            <a:off x="1443" y="432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6" r:id="rId21" imgW="380852" imgH="390270" progId="">
                    <p:embed/>
                  </p:oleObj>
                </mc:Choice>
                <mc:Fallback>
                  <p:oleObj r:id="rId21" imgW="380852" imgH="390270" progId="">
                    <p:embed/>
                    <p:pic>
                      <p:nvPicPr>
                        <p:cNvPr id="22562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3" y="432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5"/>
            <p:cNvGraphicFramePr>
              <a:graphicFrameLocks noChangeAspect="1"/>
            </p:cNvGraphicFramePr>
            <p:nvPr/>
          </p:nvGraphicFramePr>
          <p:xfrm>
            <a:off x="528" y="110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7" r:id="rId22" imgW="380852" imgH="390270" progId="">
                    <p:embed/>
                  </p:oleObj>
                </mc:Choice>
                <mc:Fallback>
                  <p:oleObj r:id="rId22" imgW="380852" imgH="390270" progId="">
                    <p:embed/>
                    <p:pic>
                      <p:nvPicPr>
                        <p:cNvPr id="22563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10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6"/>
            <p:cNvGraphicFramePr>
              <a:graphicFrameLocks noChangeAspect="1"/>
            </p:cNvGraphicFramePr>
            <p:nvPr/>
          </p:nvGraphicFramePr>
          <p:xfrm>
            <a:off x="531" y="240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8" r:id="rId23" imgW="380852" imgH="390270" progId="">
                    <p:embed/>
                  </p:oleObj>
                </mc:Choice>
                <mc:Fallback>
                  <p:oleObj r:id="rId23" imgW="380852" imgH="390270" progId="">
                    <p:embed/>
                    <p:pic>
                      <p:nvPicPr>
                        <p:cNvPr id="2256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" y="240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7"/>
            <p:cNvGraphicFramePr>
              <a:graphicFrameLocks noChangeAspect="1"/>
            </p:cNvGraphicFramePr>
            <p:nvPr/>
          </p:nvGraphicFramePr>
          <p:xfrm>
            <a:off x="912" y="0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9" r:id="rId24" imgW="380852" imgH="390270" progId="">
                    <p:embed/>
                  </p:oleObj>
                </mc:Choice>
                <mc:Fallback>
                  <p:oleObj r:id="rId24" imgW="380852" imgH="390270" progId="">
                    <p:embed/>
                    <p:pic>
                      <p:nvPicPr>
                        <p:cNvPr id="22565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0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8"/>
            <p:cNvGraphicFramePr>
              <a:graphicFrameLocks noChangeAspect="1"/>
            </p:cNvGraphicFramePr>
            <p:nvPr/>
          </p:nvGraphicFramePr>
          <p:xfrm>
            <a:off x="0" y="144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00" r:id="rId25" imgW="380852" imgH="390270" progId="">
                    <p:embed/>
                  </p:oleObj>
                </mc:Choice>
                <mc:Fallback>
                  <p:oleObj r:id="rId25" imgW="380852" imgH="390270" progId="">
                    <p:embed/>
                    <p:pic>
                      <p:nvPicPr>
                        <p:cNvPr id="2256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39"/>
            <p:cNvGraphicFramePr>
              <a:graphicFrameLocks noChangeAspect="1"/>
            </p:cNvGraphicFramePr>
            <p:nvPr/>
          </p:nvGraphicFramePr>
          <p:xfrm>
            <a:off x="1824" y="48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01" r:id="rId26" imgW="380852" imgH="390270" progId="">
                    <p:embed/>
                  </p:oleObj>
                </mc:Choice>
                <mc:Fallback>
                  <p:oleObj r:id="rId26" imgW="380852" imgH="390270" progId="">
                    <p:embed/>
                    <p:pic>
                      <p:nvPicPr>
                        <p:cNvPr id="22567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48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1359410" y="4179213"/>
            <a:ext cx="409908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0000FF"/>
                </a:solidFill>
                <a:latin typeface="Arial" charset="0"/>
              </a:rPr>
              <a:t>系统内力对整体运动没有影响</a:t>
            </a:r>
          </a:p>
        </p:txBody>
      </p:sp>
      <p:sp>
        <p:nvSpPr>
          <p:cNvPr id="43" name="Text Box 4"/>
          <p:cNvSpPr txBox="1">
            <a:spLocks noChangeArrowheads="1"/>
          </p:cNvSpPr>
          <p:nvPr/>
        </p:nvSpPr>
        <p:spPr bwMode="auto">
          <a:xfrm>
            <a:off x="1358197" y="3011571"/>
            <a:ext cx="7018020" cy="829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>
                <a:latin typeface="Microsoft JhengHei"/>
                <a:cs typeface="Microsoft JhengHei"/>
              </a:rPr>
              <a:t>“</a:t>
            </a:r>
            <a:r>
              <a:rPr lang="zh-CN" altLang="en-US" sz="2100" b="1" spc="-4">
                <a:latin typeface="Microsoft JhengHei"/>
                <a:cs typeface="Microsoft JhengHei"/>
              </a:rPr>
              <a:t>古之多</a:t>
            </a:r>
            <a:r>
              <a:rPr lang="zh-CN" altLang="en-US" sz="2100" b="1">
                <a:latin typeface="Microsoft JhengHei"/>
                <a:cs typeface="Microsoft JhengHei"/>
              </a:rPr>
              <a:t>力</a:t>
            </a:r>
            <a:r>
              <a:rPr lang="zh-CN" altLang="en-US" sz="2100" b="1" spc="-4">
                <a:latin typeface="Microsoft JhengHei"/>
                <a:cs typeface="Microsoft JhengHei"/>
              </a:rPr>
              <a:t>者，身</a:t>
            </a:r>
            <a:r>
              <a:rPr lang="zh-CN" altLang="en-US" sz="2100" b="1">
                <a:latin typeface="Microsoft JhengHei"/>
                <a:cs typeface="Microsoft JhengHei"/>
              </a:rPr>
              <a:t>能</a:t>
            </a:r>
            <a:r>
              <a:rPr lang="zh-CN" altLang="en-US" sz="2100" b="1" spc="-4">
                <a:latin typeface="Microsoft JhengHei"/>
                <a:cs typeface="Microsoft JhengHei"/>
              </a:rPr>
              <a:t>负荷千</a:t>
            </a:r>
            <a:r>
              <a:rPr lang="zh-CN" altLang="en-US" sz="2100" b="1">
                <a:latin typeface="Microsoft JhengHei"/>
                <a:cs typeface="Microsoft JhengHei"/>
              </a:rPr>
              <a:t>钧</a:t>
            </a:r>
            <a:r>
              <a:rPr lang="zh-CN" altLang="en-US" sz="2100" b="1" spc="-4">
                <a:latin typeface="Microsoft JhengHei"/>
                <a:cs typeface="Microsoft JhengHei"/>
              </a:rPr>
              <a:t>，手能</a:t>
            </a:r>
            <a:r>
              <a:rPr lang="zh-CN" altLang="en-US" sz="2100" b="1">
                <a:latin typeface="Microsoft JhengHei"/>
                <a:cs typeface="Microsoft JhengHei"/>
              </a:rPr>
              <a:t>决</a:t>
            </a:r>
            <a:r>
              <a:rPr lang="zh-CN" altLang="en-US" sz="2100" b="1" spc="-4">
                <a:latin typeface="Microsoft JhengHei"/>
                <a:cs typeface="Microsoft JhengHei"/>
              </a:rPr>
              <a:t>角伸钩</a:t>
            </a:r>
            <a:r>
              <a:rPr lang="zh-CN" altLang="en-US" sz="2100" b="1" spc="-4" smtClean="0">
                <a:latin typeface="Microsoft JhengHei"/>
                <a:cs typeface="Microsoft JhengHei"/>
              </a:rPr>
              <a:t>，</a:t>
            </a:r>
            <a:r>
              <a:rPr lang="zh-CN" altLang="en-US" sz="2100" b="1" spc="4" smtClean="0">
                <a:latin typeface="Microsoft JhengHei"/>
                <a:cs typeface="Microsoft JhengHei"/>
              </a:rPr>
              <a:t>使</a:t>
            </a:r>
            <a:r>
              <a:rPr lang="zh-CN" altLang="en-US" sz="2100" b="1" spc="-4">
                <a:latin typeface="Microsoft JhengHei"/>
                <a:cs typeface="Microsoft JhengHei"/>
              </a:rPr>
              <a:t>之自举</a:t>
            </a:r>
            <a:r>
              <a:rPr lang="zh-CN" altLang="en-US" sz="2100" b="1" spc="4">
                <a:latin typeface="Microsoft JhengHei"/>
                <a:cs typeface="Microsoft JhengHei"/>
              </a:rPr>
              <a:t>，</a:t>
            </a:r>
            <a:r>
              <a:rPr lang="zh-CN" altLang="en-US" sz="2100" b="1" spc="-4">
                <a:latin typeface="Microsoft JhengHei"/>
                <a:cs typeface="Microsoft JhengHei"/>
              </a:rPr>
              <a:t>不能离</a:t>
            </a:r>
            <a:r>
              <a:rPr lang="zh-CN" altLang="en-US" sz="2100" b="1" spc="4">
                <a:latin typeface="Microsoft JhengHei"/>
                <a:cs typeface="Microsoft JhengHei"/>
              </a:rPr>
              <a:t>地</a:t>
            </a:r>
            <a:r>
              <a:rPr lang="zh-CN" altLang="en-US" sz="2100" b="1" spc="-4">
                <a:latin typeface="Microsoft JhengHei"/>
                <a:cs typeface="Microsoft JhengHei"/>
              </a:rPr>
              <a:t>。”</a:t>
            </a:r>
            <a:r>
              <a:rPr lang="en-US" altLang="zh-CN" sz="2100" b="1" spc="-4">
                <a:latin typeface="Microsoft JhengHei"/>
                <a:cs typeface="Microsoft JhengHei"/>
              </a:rPr>
              <a:t>——</a:t>
            </a:r>
            <a:r>
              <a:rPr lang="zh-CN" altLang="en-US" sz="2100" b="1" spc="-4">
                <a:latin typeface="Microsoft JhengHei"/>
                <a:cs typeface="Microsoft JhengHei"/>
              </a:rPr>
              <a:t>王充</a:t>
            </a:r>
            <a:r>
              <a:rPr lang="en-US" altLang="zh-CN" sz="2100" b="1" spc="-4">
                <a:latin typeface="Microsoft JhengHei"/>
                <a:cs typeface="Microsoft JhengHei"/>
              </a:rPr>
              <a:t>·</a:t>
            </a:r>
            <a:r>
              <a:rPr lang="zh-CN" altLang="en-US" sz="2100" b="1" spc="-4">
                <a:latin typeface="Microsoft JhengHei"/>
                <a:cs typeface="Microsoft JhengHei"/>
              </a:rPr>
              <a:t>论衡</a:t>
            </a:r>
            <a:endParaRPr lang="zh-CN" altLang="en-US" sz="2100">
              <a:latin typeface="Microsoft JhengHei"/>
              <a:cs typeface="Microsoft JhengHei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358197" y="853814"/>
            <a:ext cx="2915854" cy="1607669"/>
            <a:chOff x="1168400" y="1151572"/>
            <a:chExt cx="3887805" cy="2143559"/>
          </a:xfrm>
        </p:grpSpPr>
        <p:sp>
          <p:nvSpPr>
            <p:cNvPr id="3" name="object 86"/>
            <p:cNvSpPr/>
            <p:nvPr/>
          </p:nvSpPr>
          <p:spPr>
            <a:xfrm>
              <a:off x="1168400" y="1151572"/>
              <a:ext cx="3887805" cy="214355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2504661" y="1549401"/>
              <a:ext cx="1793367" cy="1068454"/>
              <a:chOff x="8046719" y="4116320"/>
              <a:chExt cx="1793367" cy="1068454"/>
            </a:xfrm>
          </p:grpSpPr>
          <p:sp>
            <p:nvSpPr>
              <p:cNvPr id="44" name="object 97"/>
              <p:cNvSpPr/>
              <p:nvPr/>
            </p:nvSpPr>
            <p:spPr>
              <a:xfrm>
                <a:off x="8046719" y="4983479"/>
                <a:ext cx="792480" cy="201295"/>
              </a:xfrm>
              <a:custGeom>
                <a:avLst/>
                <a:gdLst/>
                <a:ahLst/>
                <a:cxnLst/>
                <a:rect l="l" t="t" r="r" b="b"/>
                <a:pathLst>
                  <a:path w="792479" h="201295">
                    <a:moveTo>
                      <a:pt x="590930" y="0"/>
                    </a:moveTo>
                    <a:lnTo>
                      <a:pt x="590930" y="201168"/>
                    </a:lnTo>
                    <a:lnTo>
                      <a:pt x="725043" y="134112"/>
                    </a:lnTo>
                    <a:lnTo>
                      <a:pt x="624458" y="134112"/>
                    </a:lnTo>
                    <a:lnTo>
                      <a:pt x="624458" y="67056"/>
                    </a:lnTo>
                    <a:lnTo>
                      <a:pt x="725043" y="67056"/>
                    </a:lnTo>
                    <a:lnTo>
                      <a:pt x="590930" y="0"/>
                    </a:lnTo>
                    <a:close/>
                  </a:path>
                  <a:path w="792479" h="201295">
                    <a:moveTo>
                      <a:pt x="590930" y="67056"/>
                    </a:moveTo>
                    <a:lnTo>
                      <a:pt x="0" y="67056"/>
                    </a:lnTo>
                    <a:lnTo>
                      <a:pt x="0" y="134112"/>
                    </a:lnTo>
                    <a:lnTo>
                      <a:pt x="590930" y="134112"/>
                    </a:lnTo>
                    <a:lnTo>
                      <a:pt x="590930" y="67056"/>
                    </a:lnTo>
                    <a:close/>
                  </a:path>
                  <a:path w="792479" h="201295">
                    <a:moveTo>
                      <a:pt x="725043" y="67056"/>
                    </a:moveTo>
                    <a:lnTo>
                      <a:pt x="624458" y="67056"/>
                    </a:lnTo>
                    <a:lnTo>
                      <a:pt x="624458" y="134112"/>
                    </a:lnTo>
                    <a:lnTo>
                      <a:pt x="725043" y="134112"/>
                    </a:lnTo>
                    <a:lnTo>
                      <a:pt x="792099" y="100584"/>
                    </a:lnTo>
                    <a:lnTo>
                      <a:pt x="725043" y="67056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45" name="object 98"/>
              <p:cNvSpPr/>
              <p:nvPr/>
            </p:nvSpPr>
            <p:spPr>
              <a:xfrm>
                <a:off x="8127492" y="4116323"/>
                <a:ext cx="448309" cy="527685"/>
              </a:xfrm>
              <a:custGeom>
                <a:avLst/>
                <a:gdLst/>
                <a:ahLst/>
                <a:cxnLst/>
                <a:rect l="l" t="t" r="r" b="b"/>
                <a:pathLst>
                  <a:path w="448309" h="527685">
                    <a:moveTo>
                      <a:pt x="0" y="527303"/>
                    </a:moveTo>
                    <a:lnTo>
                      <a:pt x="448055" y="527303"/>
                    </a:lnTo>
                    <a:lnTo>
                      <a:pt x="448055" y="0"/>
                    </a:lnTo>
                    <a:lnTo>
                      <a:pt x="0" y="0"/>
                    </a:lnTo>
                    <a:lnTo>
                      <a:pt x="0" y="527303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46" name="object 99"/>
              <p:cNvSpPr/>
              <p:nvPr/>
            </p:nvSpPr>
            <p:spPr>
              <a:xfrm>
                <a:off x="8252685" y="4116320"/>
                <a:ext cx="322874" cy="273918"/>
              </a:xfrm>
              <a:prstGeom prst="rect">
                <a:avLst/>
              </a:prstGeom>
              <a:blipFill>
                <a:blip r:embed="rId2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47" name="object 100"/>
              <p:cNvSpPr txBox="1"/>
              <p:nvPr/>
            </p:nvSpPr>
            <p:spPr>
              <a:xfrm>
                <a:off x="8127492" y="4217809"/>
                <a:ext cx="448309" cy="416139"/>
              </a:xfrm>
              <a:prstGeom prst="rect">
                <a:avLst/>
              </a:prstGeom>
            </p:spPr>
            <p:txBody>
              <a:bodyPr vert="horz" wrap="square" lIns="0" tIns="11906" rIns="0" bIns="0" rtlCol="0">
                <a:spAutoFit/>
              </a:bodyPr>
              <a:lstStyle/>
              <a:p>
                <a:pPr marL="85248">
                  <a:spcBef>
                    <a:spcPts val="94"/>
                  </a:spcBef>
                </a:pPr>
                <a:r>
                  <a:rPr sz="2925" i="1" spc="33" baseline="14957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f</a:t>
                </a:r>
                <a:r>
                  <a:rPr sz="1125" spc="23" dirty="0">
                    <a:solidFill>
                      <a:srgbClr val="FF0000"/>
                    </a:solidFill>
                    <a:latin typeface="宋体"/>
                    <a:cs typeface="宋体"/>
                  </a:rPr>
                  <a:t>21</a:t>
                </a:r>
                <a:endParaRPr sz="1125">
                  <a:solidFill>
                    <a:srgbClr val="FF0000"/>
                  </a:solidFill>
                  <a:latin typeface="宋体"/>
                  <a:cs typeface="宋体"/>
                </a:endParaRPr>
              </a:p>
            </p:txBody>
          </p:sp>
          <p:sp>
            <p:nvSpPr>
              <p:cNvPr id="48" name="object 101"/>
              <p:cNvSpPr/>
              <p:nvPr/>
            </p:nvSpPr>
            <p:spPr>
              <a:xfrm>
                <a:off x="9049511" y="4983479"/>
                <a:ext cx="790575" cy="201295"/>
              </a:xfrm>
              <a:custGeom>
                <a:avLst/>
                <a:gdLst/>
                <a:ahLst/>
                <a:cxnLst/>
                <a:rect l="l" t="t" r="r" b="b"/>
                <a:pathLst>
                  <a:path w="790575" h="201295">
                    <a:moveTo>
                      <a:pt x="201168" y="0"/>
                    </a:moveTo>
                    <a:lnTo>
                      <a:pt x="0" y="100584"/>
                    </a:lnTo>
                    <a:lnTo>
                      <a:pt x="201168" y="201168"/>
                    </a:lnTo>
                    <a:lnTo>
                      <a:pt x="201168" y="134112"/>
                    </a:lnTo>
                    <a:lnTo>
                      <a:pt x="167640" y="134112"/>
                    </a:lnTo>
                    <a:lnTo>
                      <a:pt x="167640" y="67056"/>
                    </a:lnTo>
                    <a:lnTo>
                      <a:pt x="201168" y="67056"/>
                    </a:lnTo>
                    <a:lnTo>
                      <a:pt x="201168" y="0"/>
                    </a:lnTo>
                    <a:close/>
                  </a:path>
                  <a:path w="790575" h="201295">
                    <a:moveTo>
                      <a:pt x="201168" y="67056"/>
                    </a:moveTo>
                    <a:lnTo>
                      <a:pt x="167640" y="67056"/>
                    </a:lnTo>
                    <a:lnTo>
                      <a:pt x="167640" y="134112"/>
                    </a:lnTo>
                    <a:lnTo>
                      <a:pt x="201168" y="134112"/>
                    </a:lnTo>
                    <a:lnTo>
                      <a:pt x="201168" y="67056"/>
                    </a:lnTo>
                    <a:close/>
                  </a:path>
                  <a:path w="790575" h="201295">
                    <a:moveTo>
                      <a:pt x="790575" y="67056"/>
                    </a:moveTo>
                    <a:lnTo>
                      <a:pt x="201168" y="67056"/>
                    </a:lnTo>
                    <a:lnTo>
                      <a:pt x="201168" y="134112"/>
                    </a:lnTo>
                    <a:lnTo>
                      <a:pt x="790575" y="134112"/>
                    </a:lnTo>
                    <a:lnTo>
                      <a:pt x="790575" y="67056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49" name="object 102"/>
              <p:cNvSpPr/>
              <p:nvPr/>
            </p:nvSpPr>
            <p:spPr>
              <a:xfrm>
                <a:off x="9227819" y="4116323"/>
                <a:ext cx="447040" cy="527685"/>
              </a:xfrm>
              <a:custGeom>
                <a:avLst/>
                <a:gdLst/>
                <a:ahLst/>
                <a:cxnLst/>
                <a:rect l="l" t="t" r="r" b="b"/>
                <a:pathLst>
                  <a:path w="447040" h="527685">
                    <a:moveTo>
                      <a:pt x="0" y="527303"/>
                    </a:moveTo>
                    <a:lnTo>
                      <a:pt x="446531" y="527303"/>
                    </a:lnTo>
                    <a:lnTo>
                      <a:pt x="446531" y="0"/>
                    </a:lnTo>
                    <a:lnTo>
                      <a:pt x="0" y="0"/>
                    </a:lnTo>
                    <a:lnTo>
                      <a:pt x="0" y="527303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50" name="object 103"/>
              <p:cNvSpPr/>
              <p:nvPr/>
            </p:nvSpPr>
            <p:spPr>
              <a:xfrm>
                <a:off x="9352585" y="4116320"/>
                <a:ext cx="321774" cy="273918"/>
              </a:xfrm>
              <a:prstGeom prst="rect">
                <a:avLst/>
              </a:prstGeom>
              <a:blipFill>
                <a:blip r:embed="rId2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51" name="object 104"/>
              <p:cNvSpPr txBox="1"/>
              <p:nvPr/>
            </p:nvSpPr>
            <p:spPr>
              <a:xfrm>
                <a:off x="9227819" y="4217809"/>
                <a:ext cx="447040" cy="416139"/>
              </a:xfrm>
              <a:prstGeom prst="rect">
                <a:avLst/>
              </a:prstGeom>
            </p:spPr>
            <p:txBody>
              <a:bodyPr vert="horz" wrap="square" lIns="0" tIns="11906" rIns="0" bIns="0" rtlCol="0">
                <a:spAutoFit/>
              </a:bodyPr>
              <a:lstStyle/>
              <a:p>
                <a:pPr marL="84773">
                  <a:spcBef>
                    <a:spcPts val="94"/>
                  </a:spcBef>
                </a:pPr>
                <a:r>
                  <a:rPr sz="2925" i="1" baseline="14957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f</a:t>
                </a:r>
                <a:r>
                  <a:rPr sz="1125" dirty="0">
                    <a:solidFill>
                      <a:srgbClr val="FF0000"/>
                    </a:solidFill>
                    <a:latin typeface="宋体"/>
                    <a:cs typeface="宋体"/>
                  </a:rPr>
                  <a:t>12</a:t>
                </a:r>
                <a:endParaRPr sz="1125">
                  <a:solidFill>
                    <a:srgbClr val="FF0000"/>
                  </a:solidFill>
                  <a:latin typeface="宋体"/>
                  <a:cs typeface="宋体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247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2090E-C097-4F4E-AA06-888A8B1696A8}" type="slidenum">
              <a:rPr lang="zh-CN" altLang="en-US"/>
              <a:pPr/>
              <a:t>10</a:t>
            </a:fld>
            <a:endParaRPr lang="en-US" altLang="zh-CN"/>
          </a:p>
        </p:txBody>
      </p:sp>
      <p:graphicFrame>
        <p:nvGraphicFramePr>
          <p:cNvPr id="22568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49056"/>
              </p:ext>
            </p:extLst>
          </p:nvPr>
        </p:nvGraphicFramePr>
        <p:xfrm>
          <a:off x="844827" y="3191186"/>
          <a:ext cx="4050506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74" r:id="rId3" imgW="1840220" imgH="355609" progId="Equation.3">
                  <p:embed/>
                </p:oleObj>
              </mc:Choice>
              <mc:Fallback>
                <p:oleObj r:id="rId3" imgW="1840220" imgH="355609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27" y="3191186"/>
                        <a:ext cx="4050506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5302"/>
              </p:ext>
            </p:extLst>
          </p:nvPr>
        </p:nvGraphicFramePr>
        <p:xfrm>
          <a:off x="898404" y="2282741"/>
          <a:ext cx="3942160" cy="806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75" r:id="rId5" imgW="1764086" imgH="355609" progId="Equation.3">
                  <p:embed/>
                </p:oleObj>
              </mc:Choice>
              <mc:Fallback>
                <p:oleObj r:id="rId5" imgW="1764086" imgH="355609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404" y="2282741"/>
                        <a:ext cx="3942160" cy="8060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70" name="Text Box 42"/>
          <p:cNvSpPr txBox="1">
            <a:spLocks noChangeArrowheads="1"/>
          </p:cNvSpPr>
          <p:nvPr/>
        </p:nvSpPr>
        <p:spPr bwMode="auto">
          <a:xfrm>
            <a:off x="775213" y="1551623"/>
            <a:ext cx="4120120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 smtClean="0">
                <a:solidFill>
                  <a:srgbClr val="1C1C1C"/>
                </a:solidFill>
              </a:rPr>
              <a:t>对</a:t>
            </a:r>
            <a:r>
              <a:rPr lang="zh-CN" altLang="en-US" sz="2100" b="1">
                <a:solidFill>
                  <a:srgbClr val="1C1C1C"/>
                </a:solidFill>
              </a:rPr>
              <a:t>两质点分别应用质点动量定理：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986224" y="1563530"/>
            <a:ext cx="2514600" cy="2171700"/>
            <a:chOff x="5618480" y="435293"/>
            <a:chExt cx="3352800" cy="2895600"/>
          </a:xfrm>
        </p:grpSpPr>
        <p:grpSp>
          <p:nvGrpSpPr>
            <p:cNvPr id="44" name="Group 2"/>
            <p:cNvGrpSpPr>
              <a:grpSpLocks/>
            </p:cNvGrpSpPr>
            <p:nvPr/>
          </p:nvGrpSpPr>
          <p:grpSpPr bwMode="auto">
            <a:xfrm>
              <a:off x="5618480" y="435293"/>
              <a:ext cx="3352800" cy="2895600"/>
              <a:chOff x="0" y="0"/>
              <a:chExt cx="2112" cy="1824"/>
            </a:xfrm>
          </p:grpSpPr>
          <p:sp>
            <p:nvSpPr>
              <p:cNvPr id="45" name="Rectangle 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112" cy="182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46" name="Text Box 4"/>
              <p:cNvSpPr txBox="1">
                <a:spLocks noChangeArrowheads="1"/>
              </p:cNvSpPr>
              <p:nvPr/>
            </p:nvSpPr>
            <p:spPr bwMode="auto">
              <a:xfrm>
                <a:off x="48" y="9"/>
                <a:ext cx="912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100" b="1">
                    <a:solidFill>
                      <a:srgbClr val="1C1C1C"/>
                    </a:solidFill>
                    <a:latin typeface="Arial" charset="0"/>
                  </a:rPr>
                  <a:t>质点系</a:t>
                </a:r>
              </a:p>
            </p:txBody>
          </p:sp>
        </p:grpSp>
        <p:grpSp>
          <p:nvGrpSpPr>
            <p:cNvPr id="47" name="Group 6"/>
            <p:cNvGrpSpPr>
              <a:grpSpLocks/>
            </p:cNvGrpSpPr>
            <p:nvPr/>
          </p:nvGrpSpPr>
          <p:grpSpPr bwMode="auto">
            <a:xfrm>
              <a:off x="5770880" y="1121093"/>
              <a:ext cx="2895600" cy="1828800"/>
              <a:chOff x="0" y="0"/>
              <a:chExt cx="1824" cy="1152"/>
            </a:xfrm>
          </p:grpSpPr>
          <p:sp>
            <p:nvSpPr>
              <p:cNvPr id="48" name="Oval 7"/>
              <p:cNvSpPr>
                <a:spLocks noChangeArrowheads="1"/>
              </p:cNvSpPr>
              <p:nvPr/>
            </p:nvSpPr>
            <p:spPr bwMode="auto">
              <a:xfrm>
                <a:off x="720" y="624"/>
                <a:ext cx="48" cy="48"/>
              </a:xfrm>
              <a:prstGeom prst="ellipse">
                <a:avLst/>
              </a:prstGeom>
              <a:solidFill>
                <a:srgbClr val="FF33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49" name="Oval 8"/>
              <p:cNvSpPr>
                <a:spLocks noChangeArrowheads="1"/>
              </p:cNvSpPr>
              <p:nvPr/>
            </p:nvSpPr>
            <p:spPr bwMode="auto">
              <a:xfrm>
                <a:off x="912" y="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0" name="Oval 9"/>
              <p:cNvSpPr>
                <a:spLocks noChangeArrowheads="1"/>
              </p:cNvSpPr>
              <p:nvPr/>
            </p:nvSpPr>
            <p:spPr bwMode="auto">
              <a:xfrm>
                <a:off x="1728" y="105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1" name="Oval 10"/>
              <p:cNvSpPr>
                <a:spLocks noChangeArrowheads="1"/>
              </p:cNvSpPr>
              <p:nvPr/>
            </p:nvSpPr>
            <p:spPr bwMode="auto">
              <a:xfrm>
                <a:off x="1440" y="405"/>
                <a:ext cx="48" cy="48"/>
              </a:xfrm>
              <a:prstGeom prst="ellipse">
                <a:avLst/>
              </a:prstGeom>
              <a:solidFill>
                <a:srgbClr val="FF33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2" name="Oval 11"/>
              <p:cNvSpPr>
                <a:spLocks noChangeArrowheads="1"/>
              </p:cNvSpPr>
              <p:nvPr/>
            </p:nvSpPr>
            <p:spPr bwMode="auto">
              <a:xfrm>
                <a:off x="528" y="24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3" name="Oval 12"/>
              <p:cNvSpPr>
                <a:spLocks noChangeArrowheads="1"/>
              </p:cNvSpPr>
              <p:nvPr/>
            </p:nvSpPr>
            <p:spPr bwMode="auto">
              <a:xfrm>
                <a:off x="144" y="76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4" name="Oval 13"/>
              <p:cNvSpPr>
                <a:spLocks noChangeArrowheads="1"/>
              </p:cNvSpPr>
              <p:nvPr/>
            </p:nvSpPr>
            <p:spPr bwMode="auto">
              <a:xfrm>
                <a:off x="528" y="110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5" name="Oval 14"/>
              <p:cNvSpPr>
                <a:spLocks noChangeArrowheads="1"/>
              </p:cNvSpPr>
              <p:nvPr/>
            </p:nvSpPr>
            <p:spPr bwMode="auto">
              <a:xfrm>
                <a:off x="1776" y="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6" name="Oval 15"/>
              <p:cNvSpPr>
                <a:spLocks noChangeArrowheads="1"/>
              </p:cNvSpPr>
              <p:nvPr/>
            </p:nvSpPr>
            <p:spPr bwMode="auto">
              <a:xfrm>
                <a:off x="1056" y="110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7" name="Oval 16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58" name="Freeform 17"/>
              <p:cNvSpPr>
                <a:spLocks/>
              </p:cNvSpPr>
              <p:nvPr/>
            </p:nvSpPr>
            <p:spPr bwMode="auto">
              <a:xfrm>
                <a:off x="311" y="96"/>
                <a:ext cx="1464" cy="912"/>
              </a:xfrm>
              <a:custGeom>
                <a:avLst/>
                <a:gdLst/>
                <a:ahLst/>
                <a:cxnLst>
                  <a:cxn ang="0">
                    <a:pos x="122" y="489"/>
                  </a:cxn>
                  <a:cxn ang="0">
                    <a:pos x="200" y="345"/>
                  </a:cxn>
                  <a:cxn ang="0">
                    <a:pos x="234" y="312"/>
                  </a:cxn>
                  <a:cxn ang="0">
                    <a:pos x="278" y="212"/>
                  </a:cxn>
                  <a:cxn ang="0">
                    <a:pos x="411" y="134"/>
                  </a:cxn>
                  <a:cxn ang="0">
                    <a:pos x="578" y="123"/>
                  </a:cxn>
                  <a:cxn ang="0">
                    <a:pos x="600" y="100"/>
                  </a:cxn>
                  <a:cxn ang="0">
                    <a:pos x="667" y="78"/>
                  </a:cxn>
                  <a:cxn ang="0">
                    <a:pos x="834" y="0"/>
                  </a:cxn>
                  <a:cxn ang="0">
                    <a:pos x="1167" y="12"/>
                  </a:cxn>
                  <a:cxn ang="0">
                    <a:pos x="1234" y="34"/>
                  </a:cxn>
                  <a:cxn ang="0">
                    <a:pos x="1267" y="56"/>
                  </a:cxn>
                  <a:cxn ang="0">
                    <a:pos x="1356" y="78"/>
                  </a:cxn>
                  <a:cxn ang="0">
                    <a:pos x="1434" y="156"/>
                  </a:cxn>
                  <a:cxn ang="0">
                    <a:pos x="1434" y="356"/>
                  </a:cxn>
                  <a:cxn ang="0">
                    <a:pos x="1389" y="423"/>
                  </a:cxn>
                  <a:cxn ang="0">
                    <a:pos x="1256" y="589"/>
                  </a:cxn>
                  <a:cxn ang="0">
                    <a:pos x="1178" y="689"/>
                  </a:cxn>
                  <a:cxn ang="0">
                    <a:pos x="1045" y="767"/>
                  </a:cxn>
                  <a:cxn ang="0">
                    <a:pos x="567" y="734"/>
                  </a:cxn>
                  <a:cxn ang="0">
                    <a:pos x="245" y="745"/>
                  </a:cxn>
                  <a:cxn ang="0">
                    <a:pos x="0" y="634"/>
                  </a:cxn>
                  <a:cxn ang="0">
                    <a:pos x="122" y="545"/>
                  </a:cxn>
                  <a:cxn ang="0">
                    <a:pos x="122" y="489"/>
                  </a:cxn>
                </a:cxnLst>
                <a:rect l="0" t="0" r="r" b="b"/>
                <a:pathLst>
                  <a:path w="1464" h="767">
                    <a:moveTo>
                      <a:pt x="122" y="489"/>
                    </a:moveTo>
                    <a:cubicBezTo>
                      <a:pt x="134" y="382"/>
                      <a:pt x="115" y="373"/>
                      <a:pt x="200" y="345"/>
                    </a:cubicBezTo>
                    <a:cubicBezTo>
                      <a:pt x="211" y="334"/>
                      <a:pt x="226" y="326"/>
                      <a:pt x="234" y="312"/>
                    </a:cubicBezTo>
                    <a:cubicBezTo>
                      <a:pt x="254" y="277"/>
                      <a:pt x="247" y="239"/>
                      <a:pt x="278" y="212"/>
                    </a:cubicBezTo>
                    <a:cubicBezTo>
                      <a:pt x="316" y="179"/>
                      <a:pt x="363" y="150"/>
                      <a:pt x="411" y="134"/>
                    </a:cubicBezTo>
                    <a:cubicBezTo>
                      <a:pt x="487" y="149"/>
                      <a:pt x="482" y="155"/>
                      <a:pt x="578" y="123"/>
                    </a:cubicBezTo>
                    <a:cubicBezTo>
                      <a:pt x="588" y="120"/>
                      <a:pt x="591" y="105"/>
                      <a:pt x="600" y="100"/>
                    </a:cubicBezTo>
                    <a:cubicBezTo>
                      <a:pt x="621" y="89"/>
                      <a:pt x="647" y="91"/>
                      <a:pt x="667" y="78"/>
                    </a:cubicBezTo>
                    <a:cubicBezTo>
                      <a:pt x="703" y="54"/>
                      <a:pt x="789" y="16"/>
                      <a:pt x="834" y="0"/>
                    </a:cubicBezTo>
                    <a:cubicBezTo>
                      <a:pt x="945" y="4"/>
                      <a:pt x="1056" y="3"/>
                      <a:pt x="1167" y="12"/>
                    </a:cubicBezTo>
                    <a:cubicBezTo>
                      <a:pt x="1190" y="14"/>
                      <a:pt x="1234" y="34"/>
                      <a:pt x="1234" y="34"/>
                    </a:cubicBezTo>
                    <a:cubicBezTo>
                      <a:pt x="1245" y="41"/>
                      <a:pt x="1255" y="52"/>
                      <a:pt x="1267" y="56"/>
                    </a:cubicBezTo>
                    <a:cubicBezTo>
                      <a:pt x="1296" y="66"/>
                      <a:pt x="1356" y="78"/>
                      <a:pt x="1356" y="78"/>
                    </a:cubicBezTo>
                    <a:cubicBezTo>
                      <a:pt x="1392" y="102"/>
                      <a:pt x="1409" y="121"/>
                      <a:pt x="1434" y="156"/>
                    </a:cubicBezTo>
                    <a:cubicBezTo>
                      <a:pt x="1459" y="231"/>
                      <a:pt x="1464" y="232"/>
                      <a:pt x="1434" y="356"/>
                    </a:cubicBezTo>
                    <a:cubicBezTo>
                      <a:pt x="1428" y="382"/>
                      <a:pt x="1404" y="401"/>
                      <a:pt x="1389" y="423"/>
                    </a:cubicBezTo>
                    <a:cubicBezTo>
                      <a:pt x="1350" y="481"/>
                      <a:pt x="1305" y="540"/>
                      <a:pt x="1256" y="589"/>
                    </a:cubicBezTo>
                    <a:cubicBezTo>
                      <a:pt x="1235" y="653"/>
                      <a:pt x="1254" y="613"/>
                      <a:pt x="1178" y="689"/>
                    </a:cubicBezTo>
                    <a:cubicBezTo>
                      <a:pt x="1120" y="747"/>
                      <a:pt x="1125" y="747"/>
                      <a:pt x="1045" y="767"/>
                    </a:cubicBezTo>
                    <a:cubicBezTo>
                      <a:pt x="826" y="760"/>
                      <a:pt x="745" y="756"/>
                      <a:pt x="567" y="734"/>
                    </a:cubicBezTo>
                    <a:cubicBezTo>
                      <a:pt x="460" y="738"/>
                      <a:pt x="352" y="745"/>
                      <a:pt x="245" y="745"/>
                    </a:cubicBezTo>
                    <a:cubicBezTo>
                      <a:pt x="115" y="745"/>
                      <a:pt x="66" y="733"/>
                      <a:pt x="0" y="634"/>
                    </a:cubicBezTo>
                    <a:cubicBezTo>
                      <a:pt x="24" y="559"/>
                      <a:pt x="56" y="567"/>
                      <a:pt x="122" y="545"/>
                    </a:cubicBezTo>
                    <a:cubicBezTo>
                      <a:pt x="173" y="497"/>
                      <a:pt x="122" y="546"/>
                      <a:pt x="122" y="48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rgbClr val="CC0099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9" name="Object 18"/>
              <p:cNvGraphicFramePr>
                <a:graphicFrameLocks noChangeAspect="1"/>
              </p:cNvGraphicFramePr>
              <p:nvPr/>
            </p:nvGraphicFramePr>
            <p:xfrm>
              <a:off x="624" y="597"/>
              <a:ext cx="28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76" r:id="rId7" imgW="139835" imgH="165202" progId="Equation.3">
                      <p:embed/>
                    </p:oleObj>
                  </mc:Choice>
                  <mc:Fallback>
                    <p:oleObj r:id="rId7" imgW="139835" imgH="165202" progId="Equation.3">
                      <p:embed/>
                      <p:pic>
                        <p:nvPicPr>
                          <p:cNvPr id="2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4" y="597"/>
                            <a:ext cx="28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" name="Object 19"/>
              <p:cNvGraphicFramePr>
                <a:graphicFrameLocks noChangeAspect="1"/>
              </p:cNvGraphicFramePr>
              <p:nvPr/>
            </p:nvGraphicFramePr>
            <p:xfrm>
              <a:off x="1344" y="432"/>
              <a:ext cx="30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77" r:id="rId9" imgW="152519" imgH="165202" progId="Equation.3">
                      <p:embed/>
                    </p:oleObj>
                  </mc:Choice>
                  <mc:Fallback>
                    <p:oleObj r:id="rId9" imgW="152519" imgH="165202" progId="Equation.3">
                      <p:embed/>
                      <p:pic>
                        <p:nvPicPr>
                          <p:cNvPr id="21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432"/>
                            <a:ext cx="309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1" name="Group 20"/>
            <p:cNvGrpSpPr>
              <a:grpSpLocks/>
            </p:cNvGrpSpPr>
            <p:nvPr/>
          </p:nvGrpSpPr>
          <p:grpSpPr bwMode="auto">
            <a:xfrm>
              <a:off x="5770880" y="663893"/>
              <a:ext cx="2781300" cy="1600200"/>
              <a:chOff x="0" y="0"/>
              <a:chExt cx="1752" cy="1008"/>
            </a:xfrm>
          </p:grpSpPr>
          <p:sp>
            <p:nvSpPr>
              <p:cNvPr id="62" name="Line 21"/>
              <p:cNvSpPr>
                <a:spLocks noChangeShapeType="1"/>
              </p:cNvSpPr>
              <p:nvPr/>
            </p:nvSpPr>
            <p:spPr bwMode="auto">
              <a:xfrm flipV="1">
                <a:off x="768" y="864"/>
                <a:ext cx="336" cy="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63" name="Line 22"/>
              <p:cNvSpPr>
                <a:spLocks noChangeShapeType="1"/>
              </p:cNvSpPr>
              <p:nvPr/>
            </p:nvSpPr>
            <p:spPr bwMode="auto">
              <a:xfrm rot="21421042" flipH="1">
                <a:off x="1201" y="719"/>
                <a:ext cx="335" cy="10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64" name="Line 23"/>
              <p:cNvSpPr>
                <a:spLocks noChangeShapeType="1"/>
              </p:cNvSpPr>
              <p:nvPr/>
            </p:nvSpPr>
            <p:spPr bwMode="auto">
              <a:xfrm flipH="1" flipV="1">
                <a:off x="144" y="528"/>
                <a:ext cx="624" cy="43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65" name="Line 24"/>
              <p:cNvSpPr>
                <a:spLocks noChangeShapeType="1"/>
              </p:cNvSpPr>
              <p:nvPr/>
            </p:nvSpPr>
            <p:spPr bwMode="auto">
              <a:xfrm rot="20397980" flipV="1">
                <a:off x="1392" y="380"/>
                <a:ext cx="360" cy="33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66" name="Object 25"/>
              <p:cNvGraphicFramePr>
                <a:graphicFrameLocks noChangeAspect="1"/>
              </p:cNvGraphicFramePr>
              <p:nvPr/>
            </p:nvGraphicFramePr>
            <p:xfrm>
              <a:off x="672" y="528"/>
              <a:ext cx="384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78" r:id="rId11" imgW="215936" imgH="228620" progId="Equation.3">
                      <p:embed/>
                    </p:oleObj>
                  </mc:Choice>
                  <mc:Fallback>
                    <p:oleObj r:id="rId11" imgW="215936" imgH="228620" progId="Equation.3">
                      <p:embed/>
                      <p:pic>
                        <p:nvPicPr>
                          <p:cNvPr id="27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528"/>
                            <a:ext cx="384" cy="3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26"/>
              <p:cNvGraphicFramePr>
                <a:graphicFrameLocks noChangeAspect="1"/>
              </p:cNvGraphicFramePr>
              <p:nvPr/>
            </p:nvGraphicFramePr>
            <p:xfrm>
              <a:off x="1056" y="384"/>
              <a:ext cx="384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79" r:id="rId13" imgW="215936" imgH="228620" progId="Equation.3">
                      <p:embed/>
                    </p:oleObj>
                  </mc:Choice>
                  <mc:Fallback>
                    <p:oleObj r:id="rId13" imgW="215936" imgH="228620" progId="Equation.3">
                      <p:embed/>
                      <p:pic>
                        <p:nvPicPr>
                          <p:cNvPr id="28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384"/>
                            <a:ext cx="384" cy="3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Object 27"/>
              <p:cNvGraphicFramePr>
                <a:graphicFrameLocks noChangeAspect="1"/>
              </p:cNvGraphicFramePr>
              <p:nvPr/>
            </p:nvGraphicFramePr>
            <p:xfrm>
              <a:off x="0" y="607"/>
              <a:ext cx="336" cy="4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0" r:id="rId15" imgW="165202" imgH="228620" progId="Equation.3">
                      <p:embed/>
                    </p:oleObj>
                  </mc:Choice>
                  <mc:Fallback>
                    <p:oleObj r:id="rId15" imgW="165202" imgH="228620" progId="Equation.3">
                      <p:embed/>
                      <p:pic>
                        <p:nvPicPr>
                          <p:cNvPr id="29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607"/>
                            <a:ext cx="336" cy="4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28"/>
              <p:cNvGraphicFramePr>
                <a:graphicFrameLocks noChangeAspect="1"/>
              </p:cNvGraphicFramePr>
              <p:nvPr/>
            </p:nvGraphicFramePr>
            <p:xfrm>
              <a:off x="1344" y="0"/>
              <a:ext cx="30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1" r:id="rId17" imgW="177809" imgH="228521" progId="Equation.3">
                      <p:embed/>
                    </p:oleObj>
                  </mc:Choice>
                  <mc:Fallback>
                    <p:oleObj r:id="rId17" imgW="177809" imgH="228521" progId="Equation.3">
                      <p:embed/>
                      <p:pic>
                        <p:nvPicPr>
                          <p:cNvPr id="3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0"/>
                            <a:ext cx="302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0" name="Group 29"/>
            <p:cNvGrpSpPr>
              <a:grpSpLocks noChangeAspect="1"/>
            </p:cNvGrpSpPr>
            <p:nvPr/>
          </p:nvGrpSpPr>
          <p:grpSpPr bwMode="auto">
            <a:xfrm>
              <a:off x="5694680" y="1044893"/>
              <a:ext cx="3119437" cy="1981200"/>
              <a:chOff x="0" y="0"/>
              <a:chExt cx="1965" cy="1248"/>
            </a:xfrm>
          </p:grpSpPr>
          <p:graphicFrame>
            <p:nvGraphicFramePr>
              <p:cNvPr id="71" name="Object 30"/>
              <p:cNvGraphicFramePr>
                <a:graphicFrameLocks noChangeAspect="1"/>
              </p:cNvGraphicFramePr>
              <p:nvPr/>
            </p:nvGraphicFramePr>
            <p:xfrm>
              <a:off x="1728" y="1104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2" r:id="rId19" imgW="380852" imgH="390270" progId="">
                      <p:embed/>
                    </p:oleObj>
                  </mc:Choice>
                  <mc:Fallback>
                    <p:oleObj r:id="rId19" imgW="380852" imgH="390270" progId="">
                      <p:embed/>
                      <p:pic>
                        <p:nvPicPr>
                          <p:cNvPr id="32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1104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31"/>
              <p:cNvGraphicFramePr>
                <a:graphicFrameLocks noChangeAspect="1"/>
              </p:cNvGraphicFramePr>
              <p:nvPr/>
            </p:nvGraphicFramePr>
            <p:xfrm>
              <a:off x="768" y="624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3" r:id="rId21" imgW="380852" imgH="390270" progId="">
                      <p:embed/>
                    </p:oleObj>
                  </mc:Choice>
                  <mc:Fallback>
                    <p:oleObj r:id="rId21" imgW="380852" imgH="390270" progId="">
                      <p:embed/>
                      <p:pic>
                        <p:nvPicPr>
                          <p:cNvPr id="33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8" y="624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32"/>
              <p:cNvGraphicFramePr>
                <a:graphicFrameLocks noChangeAspect="1"/>
              </p:cNvGraphicFramePr>
              <p:nvPr/>
            </p:nvGraphicFramePr>
            <p:xfrm>
              <a:off x="1059" y="1104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4" r:id="rId23" imgW="380852" imgH="390270" progId="">
                      <p:embed/>
                    </p:oleObj>
                  </mc:Choice>
                  <mc:Fallback>
                    <p:oleObj r:id="rId23" imgW="380852" imgH="390270" progId="">
                      <p:embed/>
                      <p:pic>
                        <p:nvPicPr>
                          <p:cNvPr id="34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9" y="1104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Object 33"/>
              <p:cNvGraphicFramePr>
                <a:graphicFrameLocks noChangeAspect="1"/>
              </p:cNvGraphicFramePr>
              <p:nvPr/>
            </p:nvGraphicFramePr>
            <p:xfrm>
              <a:off x="144" y="768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5" r:id="rId24" imgW="380852" imgH="390270" progId="">
                      <p:embed/>
                    </p:oleObj>
                  </mc:Choice>
                  <mc:Fallback>
                    <p:oleObj r:id="rId24" imgW="380852" imgH="390270" progId="">
                      <p:embed/>
                      <p:pic>
                        <p:nvPicPr>
                          <p:cNvPr id="35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768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34"/>
              <p:cNvGraphicFramePr>
                <a:graphicFrameLocks noChangeAspect="1"/>
              </p:cNvGraphicFramePr>
              <p:nvPr/>
            </p:nvGraphicFramePr>
            <p:xfrm>
              <a:off x="1443" y="432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6" r:id="rId25" imgW="380852" imgH="390270" progId="">
                      <p:embed/>
                    </p:oleObj>
                  </mc:Choice>
                  <mc:Fallback>
                    <p:oleObj r:id="rId25" imgW="380852" imgH="390270" progId="">
                      <p:embed/>
                      <p:pic>
                        <p:nvPicPr>
                          <p:cNvPr id="36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3" y="432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" name="Object 35"/>
              <p:cNvGraphicFramePr>
                <a:graphicFrameLocks noChangeAspect="1"/>
              </p:cNvGraphicFramePr>
              <p:nvPr/>
            </p:nvGraphicFramePr>
            <p:xfrm>
              <a:off x="528" y="1104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7" r:id="rId26" imgW="380852" imgH="390270" progId="">
                      <p:embed/>
                    </p:oleObj>
                  </mc:Choice>
                  <mc:Fallback>
                    <p:oleObj r:id="rId26" imgW="380852" imgH="390270" progId="">
                      <p:embed/>
                      <p:pic>
                        <p:nvPicPr>
                          <p:cNvPr id="37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1104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36"/>
              <p:cNvGraphicFramePr>
                <a:graphicFrameLocks noChangeAspect="1"/>
              </p:cNvGraphicFramePr>
              <p:nvPr/>
            </p:nvGraphicFramePr>
            <p:xfrm>
              <a:off x="531" y="240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8" r:id="rId27" imgW="380852" imgH="390270" progId="">
                      <p:embed/>
                    </p:oleObj>
                  </mc:Choice>
                  <mc:Fallback>
                    <p:oleObj r:id="rId27" imgW="380852" imgH="390270" progId="">
                      <p:embed/>
                      <p:pic>
                        <p:nvPicPr>
                          <p:cNvPr id="38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1" y="240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8" name="Object 37"/>
              <p:cNvGraphicFramePr>
                <a:graphicFrameLocks noChangeAspect="1"/>
              </p:cNvGraphicFramePr>
              <p:nvPr/>
            </p:nvGraphicFramePr>
            <p:xfrm>
              <a:off x="912" y="0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9" r:id="rId28" imgW="380852" imgH="390270" progId="">
                      <p:embed/>
                    </p:oleObj>
                  </mc:Choice>
                  <mc:Fallback>
                    <p:oleObj r:id="rId28" imgW="380852" imgH="390270" progId="">
                      <p:embed/>
                      <p:pic>
                        <p:nvPicPr>
                          <p:cNvPr id="39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0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9" name="Object 38"/>
              <p:cNvGraphicFramePr>
                <a:graphicFrameLocks noChangeAspect="1"/>
              </p:cNvGraphicFramePr>
              <p:nvPr/>
            </p:nvGraphicFramePr>
            <p:xfrm>
              <a:off x="0" y="144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90" r:id="rId29" imgW="380852" imgH="390270" progId="">
                      <p:embed/>
                    </p:oleObj>
                  </mc:Choice>
                  <mc:Fallback>
                    <p:oleObj r:id="rId29" imgW="380852" imgH="390270" progId="">
                      <p:embed/>
                      <p:pic>
                        <p:nvPicPr>
                          <p:cNvPr id="4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44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" name="Object 39"/>
              <p:cNvGraphicFramePr>
                <a:graphicFrameLocks noChangeAspect="1"/>
              </p:cNvGraphicFramePr>
              <p:nvPr/>
            </p:nvGraphicFramePr>
            <p:xfrm>
              <a:off x="1824" y="48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91" r:id="rId30" imgW="380852" imgH="390270" progId="">
                      <p:embed/>
                    </p:oleObj>
                  </mc:Choice>
                  <mc:Fallback>
                    <p:oleObj r:id="rId30" imgW="380852" imgH="390270" progId="">
                      <p:embed/>
                      <p:pic>
                        <p:nvPicPr>
                          <p:cNvPr id="41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4" y="48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1" name="Rectangle 5"/>
          <p:cNvSpPr>
            <a:spLocks noChangeArrowheads="1"/>
          </p:cNvSpPr>
          <p:nvPr/>
        </p:nvSpPr>
        <p:spPr bwMode="auto">
          <a:xfrm>
            <a:off x="767120" y="368172"/>
            <a:ext cx="40505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rgbClr val="C00000"/>
                </a:solidFill>
                <a:latin typeface="宋体" pitchFamily="2" charset="-122"/>
              </a:rPr>
              <a:t>二、质点系的动量定理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7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20BA2-79C1-4B71-AE7C-F4E2D4A538B8}" type="slidenum">
              <a:rPr lang="zh-CN" altLang="en-US"/>
              <a:pPr/>
              <a:t>11</a:t>
            </a:fld>
            <a:endParaRPr lang="en-US" altLang="zh-CN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211539"/>
              </p:ext>
            </p:extLst>
          </p:nvPr>
        </p:nvGraphicFramePr>
        <p:xfrm>
          <a:off x="2076450" y="2464840"/>
          <a:ext cx="6318647" cy="71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2" r:id="rId3" imgW="5674754" imgH="635042" progId="Equation.3">
                  <p:embed/>
                </p:oleObj>
              </mc:Choice>
              <mc:Fallback>
                <p:oleObj r:id="rId3" imgW="5674754" imgH="635042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2464840"/>
                        <a:ext cx="6318647" cy="7155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2076450" y="1849639"/>
            <a:ext cx="5807869" cy="492919"/>
            <a:chOff x="0" y="0"/>
            <a:chExt cx="4878" cy="414"/>
          </a:xfrm>
        </p:grpSpPr>
        <p:sp>
          <p:nvSpPr>
            <p:cNvPr id="2355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272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因内力           ，</a:t>
              </a:r>
            </a:p>
          </p:txBody>
        </p:sp>
        <p:graphicFrame>
          <p:nvGraphicFramePr>
            <p:cNvPr id="23557" name="Object 5"/>
            <p:cNvGraphicFramePr>
              <a:graphicFrameLocks noChangeAspect="1"/>
            </p:cNvGraphicFramePr>
            <p:nvPr/>
          </p:nvGraphicFramePr>
          <p:xfrm>
            <a:off x="822" y="28"/>
            <a:ext cx="1451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3" r:id="rId5" imgW="1498267" imgH="381152" progId="Equation.3">
                    <p:embed/>
                  </p:oleObj>
                </mc:Choice>
                <mc:Fallback>
                  <p:oleObj r:id="rId5" imgW="1498267" imgH="381152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" y="28"/>
                          <a:ext cx="1451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58" name="Rectangle 6"/>
            <p:cNvSpPr>
              <a:spLocks noChangeArrowheads="1"/>
            </p:cNvSpPr>
            <p:nvPr/>
          </p:nvSpPr>
          <p:spPr bwMode="auto">
            <a:xfrm>
              <a:off x="2384" y="26"/>
              <a:ext cx="249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1C1C1C"/>
                  </a:solidFill>
                  <a:latin typeface="Arial" charset="0"/>
                </a:rPr>
                <a:t>故将两式相加后得：</a:t>
              </a:r>
            </a:p>
          </p:txBody>
        </p:sp>
      </p:grpSp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865981"/>
              </p:ext>
            </p:extLst>
          </p:nvPr>
        </p:nvGraphicFramePr>
        <p:xfrm>
          <a:off x="2433638" y="879475"/>
          <a:ext cx="40163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4" name="Equation" r:id="rId7" imgW="1828800" imgH="355320" progId="Equation.DSMT4">
                  <p:embed/>
                </p:oleObj>
              </mc:Choice>
              <mc:Fallback>
                <p:oleObj name="Equation" r:id="rId7" imgW="1828800" imgH="3553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879475"/>
                        <a:ext cx="4016375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306539"/>
              </p:ext>
            </p:extLst>
          </p:nvPr>
        </p:nvGraphicFramePr>
        <p:xfrm>
          <a:off x="2432050" y="196850"/>
          <a:ext cx="391001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5" name="Equation" r:id="rId9" imgW="1752480" imgH="355320" progId="Equation.DSMT4">
                  <p:embed/>
                </p:oleObj>
              </mc:Choice>
              <mc:Fallback>
                <p:oleObj name="Equation" r:id="rId9" imgW="1752480" imgH="3553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196850"/>
                        <a:ext cx="3910013" cy="80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AutoShape 9"/>
          <p:cNvSpPr>
            <a:spLocks/>
          </p:cNvSpPr>
          <p:nvPr/>
        </p:nvSpPr>
        <p:spPr bwMode="auto">
          <a:xfrm>
            <a:off x="2205037" y="388620"/>
            <a:ext cx="215504" cy="1014413"/>
          </a:xfrm>
          <a:prstGeom prst="leftBrace">
            <a:avLst>
              <a:gd name="adj1" fmla="val 7085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3562" name="Object 10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5384082"/>
              </p:ext>
            </p:extLst>
          </p:nvPr>
        </p:nvGraphicFramePr>
        <p:xfrm>
          <a:off x="2433638" y="3560865"/>
          <a:ext cx="3714351" cy="9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6" r:id="rId11" imgW="1777546" imgH="431930" progId="Equation.3">
                  <p:embed/>
                </p:oleObj>
              </mc:Choice>
              <mc:Fallback>
                <p:oleObj r:id="rId11" imgW="1777546" imgH="431930" progId="Equation.3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560865"/>
                        <a:ext cx="3714351" cy="9018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DFFD2"/>
                          </a:gs>
                          <a:gs pos="50000">
                            <a:schemeClr val="bg1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673456" y="2983708"/>
          <a:ext cx="869156" cy="1640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7" r:id="rId13" imgW="114419" imgH="215843" progId="Equation.3">
                  <p:embed/>
                </p:oleObj>
              </mc:Choice>
              <mc:Fallback>
                <p:oleObj r:id="rId13" imgW="114419" imgH="215843" progId="Equation.3">
                  <p:embed/>
                  <p:pic>
                    <p:nvPicPr>
                      <p:cNvPr id="0" name="Picture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456" y="2983708"/>
                        <a:ext cx="869156" cy="16406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A5040-9B51-48CB-87BB-218AA8730AD3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249680" y="1860912"/>
            <a:ext cx="724662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1C1C1C"/>
                </a:solidFill>
                <a:latin typeface="宋体" pitchFamily="2" charset="-122"/>
              </a:rPr>
              <a:t>    作用于系统的</a:t>
            </a:r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合外力的冲量</a:t>
            </a:r>
            <a:r>
              <a:rPr lang="zh-CN" altLang="en-US" b="1">
                <a:solidFill>
                  <a:srgbClr val="1C1C1C"/>
                </a:solidFill>
                <a:latin typeface="宋体" pitchFamily="2" charset="-122"/>
              </a:rPr>
              <a:t>等于系统</a:t>
            </a:r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动量的增</a:t>
            </a:r>
            <a:r>
              <a:rPr lang="zh-CN" altLang="en-US" b="1" smtClean="0">
                <a:solidFill>
                  <a:srgbClr val="0000FF"/>
                </a:solidFill>
                <a:latin typeface="宋体" pitchFamily="2" charset="-122"/>
              </a:rPr>
              <a:t>量</a:t>
            </a:r>
            <a:endParaRPr lang="en-US" altLang="zh-CN" b="1" smtClean="0">
              <a:solidFill>
                <a:srgbClr val="0000FF"/>
              </a:solidFill>
              <a:latin typeface="宋体" pitchFamily="2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mtClean="0">
                <a:solidFill>
                  <a:srgbClr val="CC0000"/>
                </a:solidFill>
                <a:latin typeface="Arial" charset="0"/>
              </a:rPr>
              <a:t>—</a:t>
            </a:r>
            <a:r>
              <a:rPr lang="zh-CN" altLang="en-US">
                <a:solidFill>
                  <a:srgbClr val="CC0000"/>
                </a:solidFill>
                <a:latin typeface="Arial" charset="0"/>
              </a:rPr>
              <a:t>—</a:t>
            </a:r>
            <a:r>
              <a:rPr lang="zh-CN" altLang="en-US" b="1">
                <a:solidFill>
                  <a:srgbClr val="CC0000"/>
                </a:solidFill>
                <a:latin typeface="Arial" charset="0"/>
              </a:rPr>
              <a:t>质点系动量定理</a:t>
            </a:r>
          </a:p>
        </p:txBody>
      </p:sp>
      <p:graphicFrame>
        <p:nvGraphicFramePr>
          <p:cNvPr id="24579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819400" y="3078958"/>
          <a:ext cx="3101579" cy="535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1" r:id="rId3" imgW="1396711" imgH="241512" progId="Equation.3">
                  <p:embed/>
                </p:oleObj>
              </mc:Choice>
              <mc:Fallback>
                <p:oleObj r:id="rId3" imgW="1396711" imgH="241512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078958"/>
                        <a:ext cx="3101579" cy="5357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41935" y="627462"/>
          <a:ext cx="5238750" cy="97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2" r:id="rId5" imgW="2310714" imgH="431930" progId="Equation.3">
                  <p:embed/>
                </p:oleObj>
              </mc:Choice>
              <mc:Fallback>
                <p:oleObj r:id="rId5" imgW="2310714" imgH="431930" progId="Equation.3">
                  <p:embed/>
                  <p:pic>
                    <p:nvPicPr>
                      <p:cNvPr id="0" name="Picture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935" y="627462"/>
                        <a:ext cx="5238750" cy="978694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DFFD2"/>
                          </a:gs>
                          <a:gs pos="50000">
                            <a:schemeClr val="bg1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89637" y="3854056"/>
          <a:ext cx="1512094" cy="5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3" r:id="rId7" imgW="660430" imgH="241512" progId="Equation.3">
                  <p:embed/>
                </p:oleObj>
              </mc:Choice>
              <mc:Fallback>
                <p:oleObj r:id="rId7" imgW="660430" imgH="241512" progId="Equation.3">
                  <p:embed/>
                  <p:pic>
                    <p:nvPicPr>
                      <p:cNvPr id="0" name="Picture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637" y="3854056"/>
                        <a:ext cx="1512094" cy="55364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0197B-5382-4849-B12C-4476CC45F140}" type="slidenum">
              <a:rPr lang="zh-CN" altLang="en-US"/>
              <a:pPr/>
              <a:t>13</a:t>
            </a:fld>
            <a:endParaRPr lang="en-US" altLang="zh-CN"/>
          </a:p>
        </p:txBody>
      </p:sp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1709738" y="2314575"/>
            <a:ext cx="5715000" cy="2363391"/>
            <a:chOff x="0" y="0"/>
            <a:chExt cx="4800" cy="1985"/>
          </a:xfrm>
        </p:grpSpPr>
        <p:pic>
          <p:nvPicPr>
            <p:cNvPr id="25603" name="Picture 3" descr="dlsh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8" y="48"/>
              <a:ext cx="4560" cy="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04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4800" cy="1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2764633" y="357188"/>
            <a:ext cx="280868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b="1"/>
              <a:t>区分</a:t>
            </a:r>
            <a:r>
              <a:rPr lang="zh-CN" altLang="en-US" b="1">
                <a:solidFill>
                  <a:srgbClr val="CC0000"/>
                </a:solidFill>
              </a:rPr>
              <a:t>外力</a:t>
            </a:r>
            <a:r>
              <a:rPr lang="zh-CN" altLang="en-US" b="1"/>
              <a:t>和</a:t>
            </a:r>
            <a:r>
              <a:rPr lang="zh-CN" altLang="en-US" b="1">
                <a:solidFill>
                  <a:srgbClr val="CC0000"/>
                </a:solidFill>
              </a:rPr>
              <a:t>内力</a:t>
            </a:r>
            <a:endParaRPr lang="zh-CN" altLang="en-US" b="1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2764633" y="1067993"/>
            <a:ext cx="4751785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b="1"/>
              <a:t>内力仅能改变系统内某个物体的动量，但</a:t>
            </a:r>
            <a:r>
              <a:rPr lang="zh-CN" altLang="en-US" b="1">
                <a:solidFill>
                  <a:srgbClr val="CC0000"/>
                </a:solidFill>
              </a:rPr>
              <a:t>不能改变系统的总动量</a:t>
            </a:r>
            <a:r>
              <a:rPr lang="zh-CN" altLang="en-US" b="1"/>
              <a:t>.</a:t>
            </a:r>
          </a:p>
        </p:txBody>
      </p:sp>
      <p:sp>
        <p:nvSpPr>
          <p:cNvPr id="25607" name="AutoShape 7"/>
          <p:cNvSpPr>
            <a:spLocks noChangeArrowheads="1"/>
          </p:cNvSpPr>
          <p:nvPr/>
        </p:nvSpPr>
        <p:spPr bwMode="auto">
          <a:xfrm>
            <a:off x="1065848" y="484527"/>
            <a:ext cx="1402080" cy="1166932"/>
          </a:xfrm>
          <a:prstGeom prst="irregularSeal1">
            <a:avLst/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12700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100" b="1">
                <a:solidFill>
                  <a:srgbClr val="CC0000"/>
                </a:solidFill>
                <a:latin typeface="Arial" charset="0"/>
              </a:rPr>
              <a:t>注意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B6136-0936-4D08-8C38-31DE082682DA}" type="slidenum">
              <a:rPr lang="zh-CN" altLang="en-US"/>
              <a:pPr/>
              <a:t>14</a:t>
            </a:fld>
            <a:endParaRPr lang="en-US" altLang="zh-CN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607942"/>
              </p:ext>
            </p:extLst>
          </p:nvPr>
        </p:nvGraphicFramePr>
        <p:xfrm>
          <a:off x="3332163" y="1089633"/>
          <a:ext cx="4987637" cy="751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3" name="Equation" r:id="rId3" imgW="2349360" imgH="393480" progId="Equation.DSMT4">
                  <p:embed/>
                </p:oleObj>
              </mc:Choice>
              <mc:Fallback>
                <p:oleObj name="Equation" r:id="rId3" imgW="234936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1089633"/>
                        <a:ext cx="4987637" cy="75120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900114" y="1208276"/>
            <a:ext cx="248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latin typeface="Arial" charset="0"/>
              </a:rPr>
              <a:t>质点系动量定理</a:t>
            </a:r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900115" y="2122646"/>
            <a:ext cx="5405437" cy="701278"/>
            <a:chOff x="-589" y="-65"/>
            <a:chExt cx="4540" cy="589"/>
          </a:xfrm>
        </p:grpSpPr>
        <p:sp>
          <p:nvSpPr>
            <p:cNvPr id="34821" name="Text Box 5"/>
            <p:cNvSpPr txBox="1">
              <a:spLocks noChangeArrowheads="1"/>
            </p:cNvSpPr>
            <p:nvPr/>
          </p:nvSpPr>
          <p:spPr bwMode="auto">
            <a:xfrm>
              <a:off x="-589" y="-65"/>
              <a:ext cx="2676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rgbClr val="0000FF"/>
                  </a:solidFill>
                  <a:latin typeface="Arial" charset="0"/>
                </a:rPr>
                <a:t> 若质点系所受的合外力                                      </a:t>
              </a:r>
            </a:p>
          </p:txBody>
        </p:sp>
        <p:graphicFrame>
          <p:nvGraphicFramePr>
            <p:cNvPr id="3482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0851104"/>
                </p:ext>
              </p:extLst>
            </p:nvPr>
          </p:nvGraphicFramePr>
          <p:xfrm>
            <a:off x="2176" y="-55"/>
            <a:ext cx="1775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04" name="Equation" r:id="rId5" imgW="1079280" imgH="342720" progId="Equation.DSMT4">
                    <p:embed/>
                  </p:oleObj>
                </mc:Choice>
                <mc:Fallback>
                  <p:oleObj name="Equation" r:id="rId5" imgW="1079280" imgH="3427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6" y="-55"/>
                          <a:ext cx="1775" cy="57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293043"/>
              </p:ext>
            </p:extLst>
          </p:nvPr>
        </p:nvGraphicFramePr>
        <p:xfrm>
          <a:off x="3383758" y="3779044"/>
          <a:ext cx="3787379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5" name="Equation" r:id="rId7" imgW="1841400" imgH="393480" progId="Equation.DSMT4">
                  <p:embed/>
                </p:oleObj>
              </mc:Choice>
              <mc:Fallback>
                <p:oleObj name="Equation" r:id="rId7" imgW="184140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758" y="3779044"/>
                        <a:ext cx="3787379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4" name="Group 8"/>
          <p:cNvGrpSpPr>
            <a:grpSpLocks/>
          </p:cNvGrpSpPr>
          <p:nvPr/>
        </p:nvGrpSpPr>
        <p:grpSpPr bwMode="auto">
          <a:xfrm>
            <a:off x="900115" y="2995242"/>
            <a:ext cx="6179344" cy="554832"/>
            <a:chOff x="0" y="0"/>
            <a:chExt cx="5190" cy="466"/>
          </a:xfrm>
        </p:grpSpPr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2332" y="16"/>
              <a:ext cx="2858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CC0000"/>
                  </a:solidFill>
                  <a:latin typeface="宋体"/>
                </a:rPr>
                <a:t>——</a:t>
              </a:r>
              <a:r>
                <a:rPr lang="zh-CN" altLang="en-US" b="1">
                  <a:solidFill>
                    <a:srgbClr val="CC0000"/>
                  </a:solidFill>
                  <a:latin typeface="Arial" charset="0"/>
                </a:rPr>
                <a:t>动量守恒定律</a:t>
              </a:r>
            </a:p>
          </p:txBody>
        </p:sp>
        <p:sp>
          <p:nvSpPr>
            <p:cNvPr id="34826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722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latin typeface="宋体" pitchFamily="2" charset="-122"/>
                </a:rPr>
                <a:t>则系统的总动量不变</a:t>
              </a:r>
              <a:endParaRPr lang="zh-CN" altLang="en-US" b="1">
                <a:solidFill>
                  <a:srgbClr val="CC0000"/>
                </a:solidFill>
                <a:latin typeface="宋体" pitchFamily="2" charset="-122"/>
              </a:endParaRPr>
            </a:p>
          </p:txBody>
        </p:sp>
      </p:grp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3383758" y="195264"/>
            <a:ext cx="256352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</a:t>
            </a:r>
            <a:r>
              <a:rPr kumimoji="1" lang="en-US" altLang="zh-CN" sz="2100" b="1">
                <a:ea typeface="华文中宋" pitchFamily="2" charset="-122"/>
              </a:rPr>
              <a:t>-2   </a:t>
            </a:r>
            <a:r>
              <a:rPr kumimoji="1" lang="zh-CN" altLang="en-US" sz="2100" b="1">
                <a:ea typeface="华文中宋" pitchFamily="2" charset="-122"/>
              </a:rPr>
              <a:t>动量守恒定律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541AC-4C7D-4956-A626-4698765D6EF7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486854" y="1006080"/>
            <a:ext cx="6681785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    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lang="zh-CN" altLang="en-US" b="1">
                <a:solidFill>
                  <a:srgbClr val="1C1C1C"/>
                </a:solidFill>
                <a:latin typeface="宋体" pitchFamily="2" charset="-122"/>
              </a:rPr>
              <a:t>系统的</a:t>
            </a:r>
            <a:r>
              <a:rPr lang="zh-CN" altLang="en-US" b="1">
                <a:latin typeface="宋体" pitchFamily="2" charset="-122"/>
              </a:rPr>
              <a:t>总动量不变，但系统内任一质</a:t>
            </a:r>
            <a:r>
              <a:rPr lang="zh-CN" altLang="en-US" b="1" smtClean="0">
                <a:latin typeface="宋体" pitchFamily="2" charset="-122"/>
              </a:rPr>
              <a:t>点</a:t>
            </a:r>
            <a:r>
              <a:rPr lang="en-US" altLang="zh-CN" b="1" smtClean="0">
                <a:latin typeface="宋体" pitchFamily="2" charset="-122"/>
              </a:rPr>
              <a:t/>
            </a:r>
            <a:br>
              <a:rPr lang="en-US" altLang="zh-CN" b="1" smtClean="0">
                <a:latin typeface="宋体" pitchFamily="2" charset="-122"/>
              </a:rPr>
            </a:br>
            <a:r>
              <a:rPr lang="en-US" altLang="zh-CN" b="1" smtClean="0">
                <a:latin typeface="宋体" pitchFamily="2" charset="-122"/>
              </a:rPr>
              <a:t>        </a:t>
            </a:r>
            <a:r>
              <a:rPr lang="zh-CN" altLang="en-US" b="1" smtClean="0">
                <a:latin typeface="宋体" pitchFamily="2" charset="-122"/>
              </a:rPr>
              <a:t>的</a:t>
            </a:r>
            <a:r>
              <a:rPr lang="zh-CN" altLang="en-US" b="1">
                <a:latin typeface="宋体" pitchFamily="2" charset="-122"/>
              </a:rPr>
              <a:t>动量是可变的．</a:t>
            </a:r>
            <a:endParaRPr lang="zh-CN" altLang="en-US" b="1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1509713" y="2214662"/>
            <a:ext cx="607695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    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守恒条件：</a:t>
            </a:r>
            <a:r>
              <a:rPr lang="zh-CN" altLang="en-US" b="1">
                <a:solidFill>
                  <a:srgbClr val="1C1C1C"/>
                </a:solidFill>
                <a:latin typeface="宋体" pitchFamily="2" charset="-122"/>
              </a:rPr>
              <a:t>合外力为</a:t>
            </a:r>
            <a:r>
              <a:rPr lang="zh-CN" altLang="en-US" b="1" smtClean="0">
                <a:solidFill>
                  <a:srgbClr val="1C1C1C"/>
                </a:solidFill>
                <a:latin typeface="宋体" pitchFamily="2" charset="-122"/>
              </a:rPr>
              <a:t>零  </a:t>
            </a:r>
            <a:endParaRPr lang="zh-CN" altLang="en-US" b="1">
              <a:solidFill>
                <a:srgbClr val="1C1C1C"/>
              </a:solidFill>
              <a:latin typeface="宋体" pitchFamily="2" charset="-122"/>
            </a:endParaRP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464767"/>
              </p:ext>
            </p:extLst>
          </p:nvPr>
        </p:nvGraphicFramePr>
        <p:xfrm>
          <a:off x="6034566" y="2276512"/>
          <a:ext cx="2259806" cy="670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8" r:id="rId3" imgW="1053960" imgH="343068" progId="Equation.3">
                  <p:embed/>
                </p:oleObj>
              </mc:Choice>
              <mc:Fallback>
                <p:oleObj r:id="rId3" imgW="1053960" imgH="343068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566" y="2276512"/>
                        <a:ext cx="2259806" cy="6703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5" name="Group 5"/>
          <p:cNvGrpSpPr>
            <a:grpSpLocks/>
          </p:cNvGrpSpPr>
          <p:nvPr/>
        </p:nvGrpSpPr>
        <p:grpSpPr bwMode="auto">
          <a:xfrm>
            <a:off x="2116693" y="3025765"/>
            <a:ext cx="6623447" cy="978694"/>
            <a:chOff x="0" y="0"/>
            <a:chExt cx="5563" cy="822"/>
          </a:xfrm>
        </p:grpSpPr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5563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b="1" smtClean="0">
                  <a:solidFill>
                    <a:srgbClr val="CC0000"/>
                  </a:solidFill>
                  <a:latin typeface="宋体" pitchFamily="2" charset="-122"/>
                </a:rPr>
                <a:t>(</a:t>
              </a:r>
              <a:r>
                <a:rPr lang="en-US" altLang="zh-CN" b="1" smtClean="0">
                  <a:solidFill>
                    <a:srgbClr val="CC0000"/>
                  </a:solidFill>
                </a:rPr>
                <a:t>3</a:t>
              </a:r>
              <a:r>
                <a:rPr lang="zh-CN" altLang="en-US" b="1" smtClean="0">
                  <a:solidFill>
                    <a:srgbClr val="CC0000"/>
                  </a:solidFill>
                  <a:latin typeface="宋体" pitchFamily="2" charset="-122"/>
                </a:rPr>
                <a:t>)</a:t>
              </a:r>
              <a:r>
                <a:rPr lang="zh-CN" altLang="en-US" b="1" smtClean="0">
                  <a:solidFill>
                    <a:srgbClr val="1C1C1C"/>
                  </a:solidFill>
                  <a:latin typeface="Arial" charset="0"/>
                </a:rPr>
                <a:t>  </a:t>
              </a:r>
              <a:r>
                <a:rPr lang="zh-CN" altLang="en-US" b="1" dirty="0">
                  <a:solidFill>
                    <a:srgbClr val="1C1C1C"/>
                  </a:solidFill>
                  <a:latin typeface="Arial" charset="0"/>
                </a:rPr>
                <a:t>当                时，作用时间很</a:t>
              </a:r>
              <a:r>
                <a:rPr lang="zh-CN" altLang="en-US" b="1">
                  <a:solidFill>
                    <a:srgbClr val="1C1C1C"/>
                  </a:solidFill>
                  <a:latin typeface="Arial" charset="0"/>
                </a:rPr>
                <a:t>短，</a:t>
              </a:r>
              <a:r>
                <a:rPr lang="zh-CN" altLang="en-US" b="1">
                  <a:solidFill>
                    <a:srgbClr val="C00000"/>
                  </a:solidFill>
                  <a:latin typeface="Arial" charset="0"/>
                </a:rPr>
                <a:t>外力的影响可以忽略</a:t>
              </a:r>
              <a:r>
                <a:rPr lang="zh-CN" altLang="en-US" b="1">
                  <a:solidFill>
                    <a:srgbClr val="1C1C1C"/>
                  </a:solidFill>
                  <a:latin typeface="Arial" charset="0"/>
                </a:rPr>
                <a:t>，可</a:t>
              </a:r>
              <a:r>
                <a:rPr lang="zh-CN" altLang="en-US" b="1" dirty="0">
                  <a:solidFill>
                    <a:srgbClr val="1C1C1C"/>
                  </a:solidFill>
                  <a:latin typeface="Arial" charset="0"/>
                </a:rPr>
                <a:t>近似地认为系统总动量守恒．</a:t>
              </a:r>
            </a:p>
          </p:txBody>
        </p:sp>
        <p:graphicFrame>
          <p:nvGraphicFramePr>
            <p:cNvPr id="3584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2901359"/>
                </p:ext>
              </p:extLst>
            </p:nvPr>
          </p:nvGraphicFramePr>
          <p:xfrm>
            <a:off x="850" y="62"/>
            <a:ext cx="109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39" r:id="rId5" imgW="698514" imgH="190734" progId="Equation.3">
                    <p:embed/>
                  </p:oleObj>
                </mc:Choice>
                <mc:Fallback>
                  <p:oleObj r:id="rId5" imgW="698514" imgH="190734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" y="62"/>
                          <a:ext cx="1092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8" name="AutoShape 8"/>
          <p:cNvSpPr>
            <a:spLocks noChangeArrowheads="1"/>
          </p:cNvSpPr>
          <p:nvPr/>
        </p:nvSpPr>
        <p:spPr bwMode="auto">
          <a:xfrm>
            <a:off x="677943" y="1326866"/>
            <a:ext cx="943211" cy="2356842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 smtClean="0">
                <a:solidFill>
                  <a:srgbClr val="0070C0"/>
                </a:solidFill>
              </a:rPr>
              <a:t>注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algn="ctr"/>
            <a:r>
              <a:rPr lang="zh-CN" altLang="en-US" b="1" smtClean="0">
                <a:solidFill>
                  <a:srgbClr val="0070C0"/>
                </a:solidFill>
              </a:rPr>
              <a:t>意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84C5A-B2A9-42D0-90D9-2366463F2470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516143" y="1552397"/>
            <a:ext cx="49684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300" b="1" smtClean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en-US" altLang="zh-CN" sz="2300" b="1" smtClean="0">
                <a:solidFill>
                  <a:srgbClr val="CC0000"/>
                </a:solidFill>
              </a:rPr>
              <a:t>4</a:t>
            </a:r>
            <a:r>
              <a:rPr lang="zh-CN" altLang="en-US" sz="2300" b="1" smtClean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sz="2300" b="1">
                <a:latin typeface="宋体" pitchFamily="2" charset="-122"/>
              </a:rPr>
              <a:t>分量形式</a:t>
            </a:r>
            <a:endParaRPr lang="en-US" altLang="zh-CN" sz="2300" b="1">
              <a:latin typeface="Arial" charset="0"/>
            </a:endParaRPr>
          </a:p>
        </p:txBody>
      </p:sp>
      <p:graphicFrame>
        <p:nvGraphicFramePr>
          <p:cNvPr id="368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347478"/>
              </p:ext>
            </p:extLst>
          </p:nvPr>
        </p:nvGraphicFramePr>
        <p:xfrm>
          <a:off x="4357687" y="863443"/>
          <a:ext cx="3548063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6" r:id="rId3" imgW="1802935" imgH="343068" progId="Equation.3">
                  <p:embed/>
                </p:oleObj>
              </mc:Choice>
              <mc:Fallback>
                <p:oleObj r:id="rId3" imgW="1802935" imgH="343068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7" y="863443"/>
                        <a:ext cx="3548063" cy="673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AutoShape 9"/>
          <p:cNvSpPr>
            <a:spLocks/>
          </p:cNvSpPr>
          <p:nvPr/>
        </p:nvSpPr>
        <p:spPr bwMode="auto">
          <a:xfrm>
            <a:off x="4087416" y="1202770"/>
            <a:ext cx="285750" cy="1200150"/>
          </a:xfrm>
          <a:prstGeom prst="leftBrace">
            <a:avLst>
              <a:gd name="adj1" fmla="val 35000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sz="2100" b="1">
              <a:solidFill>
                <a:srgbClr val="CC0000"/>
              </a:solidFill>
            </a:endParaRP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1516143" y="3339228"/>
            <a:ext cx="7627857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300" b="1" smtClean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en-US" altLang="zh-CN" sz="2300" b="1" smtClean="0">
                <a:solidFill>
                  <a:srgbClr val="CC0000"/>
                </a:solidFill>
              </a:rPr>
              <a:t>5</a:t>
            </a:r>
            <a:r>
              <a:rPr lang="zh-CN" altLang="en-US" sz="2300" b="1" smtClean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sz="2300" b="1" smtClean="0">
                <a:solidFill>
                  <a:srgbClr val="1C1C1C"/>
                </a:solidFill>
                <a:latin typeface="宋体" pitchFamily="2" charset="-122"/>
              </a:rPr>
              <a:t>动</a:t>
            </a:r>
            <a:r>
              <a:rPr lang="zh-CN" altLang="en-US" sz="2300" b="1">
                <a:solidFill>
                  <a:srgbClr val="1C1C1C"/>
                </a:solidFill>
                <a:latin typeface="宋体" pitchFamily="2" charset="-122"/>
              </a:rPr>
              <a:t>量守恒定律是物理学</a:t>
            </a:r>
            <a:r>
              <a:rPr lang="zh-CN" altLang="en-US" sz="2300" b="1">
                <a:latin typeface="宋体" pitchFamily="2" charset="-122"/>
              </a:rPr>
              <a:t>最普遍、最基本的定律之一．</a:t>
            </a:r>
          </a:p>
        </p:txBody>
      </p:sp>
      <p:graphicFrame>
        <p:nvGraphicFramePr>
          <p:cNvPr id="36875" name="Object 11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79701417"/>
              </p:ext>
            </p:extLst>
          </p:nvPr>
        </p:nvGraphicFramePr>
        <p:xfrm>
          <a:off x="4357687" y="1514715"/>
          <a:ext cx="3548063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7" r:id="rId5" imgW="1802935" imgH="343068" progId="Equation.3">
                  <p:embed/>
                </p:oleObj>
              </mc:Choice>
              <mc:Fallback>
                <p:oleObj r:id="rId5" imgW="1802935" imgH="343068" progId="Equation.3">
                  <p:embed/>
                  <p:pic>
                    <p:nvPicPr>
                      <p:cNvPr id="0" name="Picture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7" y="1514715"/>
                        <a:ext cx="3548063" cy="673894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86211677"/>
              </p:ext>
            </p:extLst>
          </p:nvPr>
        </p:nvGraphicFramePr>
        <p:xfrm>
          <a:off x="4357687" y="2187418"/>
          <a:ext cx="3490913" cy="675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8" r:id="rId7" imgW="1777546" imgH="343068" progId="Equation.3">
                  <p:embed/>
                </p:oleObj>
              </mc:Choice>
              <mc:Fallback>
                <p:oleObj r:id="rId7" imgW="1777546" imgH="343068" progId="Equation.3">
                  <p:embed/>
                  <p:pic>
                    <p:nvPicPr>
                      <p:cNvPr id="0" name="Picture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7" y="2187418"/>
                        <a:ext cx="3490913" cy="67508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66463" y="1294806"/>
            <a:ext cx="943211" cy="2356842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 smtClean="0">
                <a:solidFill>
                  <a:srgbClr val="0070C0"/>
                </a:solidFill>
              </a:rPr>
              <a:t>注</a:t>
            </a:r>
            <a:endParaRPr lang="en-US" altLang="zh-CN" b="1" smtClean="0">
              <a:solidFill>
                <a:srgbClr val="0070C0"/>
              </a:solidFill>
            </a:endParaRPr>
          </a:p>
          <a:p>
            <a:pPr algn="ctr"/>
            <a:r>
              <a:rPr lang="zh-CN" altLang="en-US" b="1" smtClean="0">
                <a:solidFill>
                  <a:srgbClr val="0070C0"/>
                </a:solidFill>
              </a:rPr>
              <a:t>意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 animBg="1" autoUpdateAnimBg="0"/>
      <p:bldP spid="3687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970F2-CD5F-4D68-BB64-799B3FAB6513}" type="slidenum">
              <a:rPr lang="zh-CN" altLang="en-US" smtClean="0"/>
              <a:pPr/>
              <a:t>17</a:t>
            </a:fld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1491302" y="138656"/>
            <a:ext cx="6102752" cy="553468"/>
            <a:chOff x="1215343" y="288222"/>
            <a:chExt cx="8137002" cy="737957"/>
          </a:xfrm>
        </p:grpSpPr>
        <p:sp>
          <p:nvSpPr>
            <p:cNvPr id="7" name="object 19"/>
            <p:cNvSpPr txBox="1"/>
            <p:nvPr/>
          </p:nvSpPr>
          <p:spPr>
            <a:xfrm>
              <a:off x="1803236" y="367666"/>
              <a:ext cx="7549109" cy="658513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lnSpc>
                  <a:spcPct val="150000"/>
                </a:lnSpc>
                <a:spcBef>
                  <a:spcPts val="71"/>
                </a:spcBef>
              </a:pPr>
              <a:r>
                <a:rPr lang="zh-CN" altLang="en-US" sz="2100" b="1">
                  <a:latin typeface="宋体"/>
                  <a:cs typeface="宋体"/>
                </a:rPr>
                <a:t>动量守恒案例</a:t>
              </a:r>
              <a:r>
                <a:rPr lang="en-US" altLang="zh-CN" sz="2100" b="1">
                  <a:latin typeface="宋体"/>
                  <a:cs typeface="宋体"/>
                </a:rPr>
                <a:t>——</a:t>
              </a:r>
              <a:r>
                <a:rPr lang="zh-CN" altLang="en-US" sz="2100" b="1">
                  <a:latin typeface="宋体"/>
                  <a:cs typeface="宋体"/>
                </a:rPr>
                <a:t>反冲现象</a:t>
              </a:r>
              <a:endParaRPr sz="2100" b="1">
                <a:latin typeface="宋体"/>
                <a:cs typeface="宋体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15343" y="288222"/>
              <a:ext cx="578008" cy="649620"/>
            </a:xfrm>
            <a:prstGeom prst="rect">
              <a:avLst/>
            </a:prstGeom>
          </p:spPr>
        </p:pic>
      </p:grpSp>
      <p:sp>
        <p:nvSpPr>
          <p:cNvPr id="10" name="object 7"/>
          <p:cNvSpPr/>
          <p:nvPr/>
        </p:nvSpPr>
        <p:spPr>
          <a:xfrm>
            <a:off x="1924808" y="2896551"/>
            <a:ext cx="2700000" cy="1890000"/>
          </a:xfrm>
          <a:prstGeom prst="rect">
            <a:avLst/>
          </a:prstGeom>
          <a:blipFill>
            <a:blip r:embed="rId3" cstate="print"/>
            <a:srcRect/>
            <a:stretch>
              <a:fillRect l="-23914" t="-1" r="-2" b="-49436"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object 5"/>
          <p:cNvSpPr/>
          <p:nvPr/>
        </p:nvSpPr>
        <p:spPr>
          <a:xfrm>
            <a:off x="1924808" y="870394"/>
            <a:ext cx="2700000" cy="1890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3"/>
          <p:cNvSpPr/>
          <p:nvPr/>
        </p:nvSpPr>
        <p:spPr>
          <a:xfrm>
            <a:off x="4810234" y="870394"/>
            <a:ext cx="2700000" cy="1890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3" name="object 4"/>
          <p:cNvSpPr/>
          <p:nvPr/>
        </p:nvSpPr>
        <p:spPr>
          <a:xfrm>
            <a:off x="4810234" y="2896551"/>
            <a:ext cx="2700000" cy="1890000"/>
          </a:xfrm>
          <a:prstGeom prst="rect">
            <a:avLst/>
          </a:prstGeom>
          <a:blipFill>
            <a:blip r:embed="rId6" cstate="print"/>
            <a:srcRect/>
            <a:stretch>
              <a:fillRect l="-383" t="-7155" r="383" b="589"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89847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76635-9A0C-4151-8C02-324CA8B89016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39977" name="Text Box 41"/>
          <p:cNvSpPr txBox="1">
            <a:spLocks noChangeArrowheads="1"/>
          </p:cNvSpPr>
          <p:nvPr/>
        </p:nvSpPr>
        <p:spPr bwMode="auto">
          <a:xfrm>
            <a:off x="403224" y="207335"/>
            <a:ext cx="8321676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smtClean="0">
                <a:solidFill>
                  <a:srgbClr val="C00000"/>
                </a:solidFill>
              </a:rPr>
              <a:t>例</a:t>
            </a:r>
            <a:r>
              <a:rPr lang="en-US" altLang="zh-CN" b="1" smtClean="0">
                <a:solidFill>
                  <a:srgbClr val="C00000"/>
                </a:solidFill>
              </a:rPr>
              <a:t>1 </a:t>
            </a:r>
            <a:r>
              <a:rPr lang="zh-CN" altLang="en-US" b="1" smtClean="0">
                <a:solidFill>
                  <a:srgbClr val="1C1C1C"/>
                </a:solidFill>
              </a:rPr>
              <a:t>一</a:t>
            </a:r>
            <a:r>
              <a:rPr lang="zh-CN" altLang="en-US" b="1" dirty="0">
                <a:solidFill>
                  <a:srgbClr val="1C1C1C"/>
                </a:solidFill>
              </a:rPr>
              <a:t>枚返回式火箭以 </a:t>
            </a:r>
            <a:r>
              <a:rPr lang="zh-CN" altLang="en-US" dirty="0">
                <a:solidFill>
                  <a:srgbClr val="1C1C1C"/>
                </a:solidFill>
              </a:rPr>
              <a:t>2.5</a:t>
            </a:r>
            <a:r>
              <a:rPr lang="zh-CN" altLang="en-US" dirty="0">
                <a:solidFill>
                  <a:srgbClr val="1C1C1C"/>
                </a:solidFill>
                <a:sym typeface="Symbol" pitchFamily="18" charset="2"/>
              </a:rPr>
              <a:t></a:t>
            </a:r>
            <a:r>
              <a:rPr lang="zh-CN" altLang="en-US" dirty="0">
                <a:solidFill>
                  <a:srgbClr val="1C1C1C"/>
                </a:solidFill>
              </a:rPr>
              <a:t>10</a:t>
            </a:r>
            <a:r>
              <a:rPr lang="zh-CN" altLang="en-US" baseline="30000" dirty="0">
                <a:solidFill>
                  <a:srgbClr val="1C1C1C"/>
                </a:solidFill>
              </a:rPr>
              <a:t>3</a:t>
            </a:r>
            <a:r>
              <a:rPr lang="zh-CN" altLang="en-US" i="1" dirty="0">
                <a:solidFill>
                  <a:srgbClr val="1C1C1C"/>
                </a:solidFill>
              </a:rPr>
              <a:t> </a:t>
            </a:r>
            <a:r>
              <a:rPr lang="en-US" altLang="zh-CN" dirty="0">
                <a:solidFill>
                  <a:srgbClr val="1C1C1C"/>
                </a:solidFill>
              </a:rPr>
              <a:t>m</a:t>
            </a:r>
            <a:r>
              <a:rPr lang="en-US" altLang="zh-CN" dirty="0">
                <a:solidFill>
                  <a:srgbClr val="1C1C1C"/>
                </a:solidFill>
                <a:cs typeface="Times New Roman" pitchFamily="18" charset="0"/>
              </a:rPr>
              <a:t>·</a:t>
            </a:r>
            <a:r>
              <a:rPr lang="en-US" altLang="zh-CN" dirty="0">
                <a:solidFill>
                  <a:srgbClr val="1C1C1C"/>
                </a:solidFill>
              </a:rPr>
              <a:t>s</a:t>
            </a:r>
            <a:r>
              <a:rPr lang="en-US" altLang="zh-CN" baseline="30000" dirty="0">
                <a:solidFill>
                  <a:srgbClr val="1C1C1C"/>
                </a:solidFill>
                <a:latin typeface="宋体" pitchFamily="2" charset="-122"/>
              </a:rPr>
              <a:t>-</a:t>
            </a:r>
            <a:r>
              <a:rPr lang="en-US" altLang="zh-CN" baseline="30000" dirty="0">
                <a:solidFill>
                  <a:srgbClr val="1C1C1C"/>
                </a:solidFill>
              </a:rPr>
              <a:t>1 </a:t>
            </a:r>
            <a:r>
              <a:rPr lang="zh-CN" altLang="en-US" b="1" dirty="0">
                <a:solidFill>
                  <a:srgbClr val="1C1C1C"/>
                </a:solidFill>
              </a:rPr>
              <a:t>的速率相对惯性系</a:t>
            </a:r>
            <a:r>
              <a:rPr lang="en-US" altLang="zh-CN" dirty="0">
                <a:solidFill>
                  <a:srgbClr val="1C1C1C"/>
                </a:solidFill>
              </a:rPr>
              <a:t>S</a:t>
            </a:r>
            <a:r>
              <a:rPr lang="zh-CN" altLang="en-US" b="1" dirty="0">
                <a:solidFill>
                  <a:srgbClr val="1C1C1C"/>
                </a:solidFill>
              </a:rPr>
              <a:t>沿水平方向飞行．空气阻力不计．现使火箭分离为两部分,  前方的仪器舱质量为</a:t>
            </a:r>
            <a:r>
              <a:rPr lang="zh-CN" altLang="en-US" dirty="0">
                <a:solidFill>
                  <a:srgbClr val="1C1C1C"/>
                </a:solidFill>
              </a:rPr>
              <a:t>100 </a:t>
            </a:r>
            <a:r>
              <a:rPr lang="en-US" altLang="zh-CN" dirty="0">
                <a:solidFill>
                  <a:srgbClr val="1C1C1C"/>
                </a:solidFill>
              </a:rPr>
              <a:t>kg</a:t>
            </a:r>
            <a:r>
              <a:rPr lang="zh-CN" altLang="en-US" b="1" dirty="0">
                <a:solidFill>
                  <a:srgbClr val="1C1C1C"/>
                </a:solidFill>
              </a:rPr>
              <a:t>，后方的火箭容器质量为</a:t>
            </a:r>
            <a:r>
              <a:rPr lang="zh-CN" altLang="en-US" dirty="0">
                <a:solidFill>
                  <a:srgbClr val="1C1C1C"/>
                </a:solidFill>
              </a:rPr>
              <a:t>200 </a:t>
            </a:r>
            <a:r>
              <a:rPr lang="en-US" altLang="zh-CN" dirty="0">
                <a:solidFill>
                  <a:srgbClr val="1C1C1C"/>
                </a:solidFill>
              </a:rPr>
              <a:t>kg</a:t>
            </a:r>
            <a:r>
              <a:rPr lang="zh-CN" altLang="en-US" b="1" dirty="0">
                <a:solidFill>
                  <a:srgbClr val="1C1C1C"/>
                </a:solidFill>
              </a:rPr>
              <a:t>，仪器舱相对火箭容器的水平速率为</a:t>
            </a:r>
            <a:r>
              <a:rPr lang="zh-CN" altLang="en-US" dirty="0">
                <a:solidFill>
                  <a:srgbClr val="1C1C1C"/>
                </a:solidFill>
              </a:rPr>
              <a:t>1</a:t>
            </a:r>
            <a:r>
              <a:rPr lang="en-US" altLang="zh-CN" dirty="0">
                <a:solidFill>
                  <a:srgbClr val="1C1C1C"/>
                </a:solidFill>
              </a:rPr>
              <a:t>.0</a:t>
            </a:r>
            <a:r>
              <a:rPr lang="en-US" altLang="zh-CN" dirty="0">
                <a:solidFill>
                  <a:srgbClr val="1C1C1C"/>
                </a:solidFill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1C1C1C"/>
                </a:solidFill>
              </a:rPr>
              <a:t>10</a:t>
            </a:r>
            <a:r>
              <a:rPr lang="en-US" altLang="zh-CN" baseline="30000" dirty="0">
                <a:solidFill>
                  <a:srgbClr val="1C1C1C"/>
                </a:solidFill>
              </a:rPr>
              <a:t>3 </a:t>
            </a:r>
            <a:r>
              <a:rPr lang="en-US" altLang="zh-CN" dirty="0">
                <a:solidFill>
                  <a:srgbClr val="1C1C1C"/>
                </a:solidFill>
              </a:rPr>
              <a:t>m</a:t>
            </a:r>
            <a:r>
              <a:rPr lang="en-US" altLang="zh-CN" dirty="0">
                <a:solidFill>
                  <a:srgbClr val="1C1C1C"/>
                </a:solidFill>
                <a:cs typeface="Times New Roman" pitchFamily="18" charset="0"/>
              </a:rPr>
              <a:t>·</a:t>
            </a:r>
            <a:r>
              <a:rPr lang="en-US" altLang="zh-CN" dirty="0">
                <a:solidFill>
                  <a:srgbClr val="1C1C1C"/>
                </a:solidFill>
              </a:rPr>
              <a:t>s</a:t>
            </a:r>
            <a:r>
              <a:rPr lang="en-US" altLang="zh-CN" baseline="30000" dirty="0">
                <a:solidFill>
                  <a:srgbClr val="1C1C1C"/>
                </a:solidFill>
                <a:latin typeface="宋体" pitchFamily="2" charset="-122"/>
              </a:rPr>
              <a:t>-</a:t>
            </a:r>
            <a:r>
              <a:rPr lang="en-US" altLang="zh-CN" baseline="30000" dirty="0">
                <a:solidFill>
                  <a:srgbClr val="1C1C1C"/>
                </a:solidFill>
              </a:rPr>
              <a:t>1</a:t>
            </a:r>
            <a:r>
              <a:rPr lang="zh-CN" altLang="en-US" b="1" dirty="0">
                <a:solidFill>
                  <a:srgbClr val="1C1C1C"/>
                </a:solidFill>
              </a:rPr>
              <a:t>．</a:t>
            </a:r>
          </a:p>
        </p:txBody>
      </p:sp>
      <p:sp>
        <p:nvSpPr>
          <p:cNvPr id="39978" name="Text Box 42"/>
          <p:cNvSpPr txBox="1">
            <a:spLocks noChangeArrowheads="1"/>
          </p:cNvSpPr>
          <p:nvPr/>
        </p:nvSpPr>
        <p:spPr bwMode="auto">
          <a:xfrm>
            <a:off x="403224" y="2029082"/>
            <a:ext cx="892365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C00000"/>
                </a:solidFill>
              </a:rPr>
              <a:t>求：</a:t>
            </a:r>
            <a:r>
              <a:rPr lang="zh-CN" altLang="en-US" b="1" smtClean="0">
                <a:solidFill>
                  <a:srgbClr val="1C1C1C"/>
                </a:solidFill>
              </a:rPr>
              <a:t>仪</a:t>
            </a:r>
            <a:r>
              <a:rPr lang="zh-CN" altLang="en-US" b="1" dirty="0">
                <a:solidFill>
                  <a:srgbClr val="1C1C1C"/>
                </a:solidFill>
              </a:rPr>
              <a:t>器舱和火箭容器相对惯性系的速度．</a:t>
            </a:r>
            <a:endParaRPr lang="zh-CN" altLang="en-US" b="1" dirty="0"/>
          </a:p>
        </p:txBody>
      </p:sp>
      <p:grpSp>
        <p:nvGrpSpPr>
          <p:cNvPr id="44" name="Group 2"/>
          <p:cNvGrpSpPr>
            <a:grpSpLocks/>
          </p:cNvGrpSpPr>
          <p:nvPr/>
        </p:nvGrpSpPr>
        <p:grpSpPr bwMode="auto">
          <a:xfrm>
            <a:off x="2456631" y="2770832"/>
            <a:ext cx="3678499" cy="1742567"/>
            <a:chOff x="11" y="91"/>
            <a:chExt cx="3253" cy="1541"/>
          </a:xfrm>
        </p:grpSpPr>
        <p:sp>
          <p:nvSpPr>
            <p:cNvPr id="46" name="Line 4"/>
            <p:cNvSpPr>
              <a:spLocks noChangeShapeType="1"/>
            </p:cNvSpPr>
            <p:nvPr/>
          </p:nvSpPr>
          <p:spPr bwMode="auto">
            <a:xfrm flipV="1">
              <a:off x="605" y="119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" name="Line 5"/>
            <p:cNvSpPr>
              <a:spLocks noChangeShapeType="1"/>
            </p:cNvSpPr>
            <p:nvPr/>
          </p:nvSpPr>
          <p:spPr bwMode="auto">
            <a:xfrm flipH="1">
              <a:off x="196" y="1095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8" name="Object 6"/>
            <p:cNvGraphicFramePr>
              <a:graphicFrameLocks noChangeAspect="1"/>
            </p:cNvGraphicFramePr>
            <p:nvPr/>
          </p:nvGraphicFramePr>
          <p:xfrm>
            <a:off x="2829" y="1154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9" r:id="rId3" imgW="177809" imgH="190487" progId="Equation.3">
                    <p:embed/>
                  </p:oleObj>
                </mc:Choice>
                <mc:Fallback>
                  <p:oleObj r:id="rId3" imgW="177809" imgH="1904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1154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7"/>
            <p:cNvGraphicFramePr>
              <a:graphicFrameLocks noChangeAspect="1"/>
            </p:cNvGraphicFramePr>
            <p:nvPr/>
          </p:nvGraphicFramePr>
          <p:xfrm>
            <a:off x="11" y="1373"/>
            <a:ext cx="22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0" r:id="rId5" imgW="127042" imgH="127042" progId="Equation.3">
                    <p:embed/>
                  </p:oleObj>
                </mc:Choice>
                <mc:Fallback>
                  <p:oleObj r:id="rId5" imgW="127042" imgH="12704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" y="1373"/>
                          <a:ext cx="226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8"/>
            <p:cNvGraphicFramePr>
              <a:graphicFrameLocks noChangeAspect="1"/>
            </p:cNvGraphicFramePr>
            <p:nvPr/>
          </p:nvGraphicFramePr>
          <p:xfrm>
            <a:off x="359" y="159"/>
            <a:ext cx="24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1" r:id="rId7" imgW="190734" imgH="241512" progId="Equation.3">
                    <p:embed/>
                  </p:oleObj>
                </mc:Choice>
                <mc:Fallback>
                  <p:oleObj r:id="rId7" imgW="190734" imgH="24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" y="159"/>
                          <a:ext cx="24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9"/>
            <p:cNvGraphicFramePr>
              <a:graphicFrameLocks noChangeAspect="1"/>
            </p:cNvGraphicFramePr>
            <p:nvPr/>
          </p:nvGraphicFramePr>
          <p:xfrm>
            <a:off x="505" y="1114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2" r:id="rId9" imgW="127042" imgH="139714" progId="Equation.DSMT4">
                    <p:embed/>
                  </p:oleObj>
                </mc:Choice>
                <mc:Fallback>
                  <p:oleObj r:id="rId9" imgW="127042" imgH="13971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1114"/>
                          <a:ext cx="22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Line 10"/>
            <p:cNvSpPr>
              <a:spLocks noChangeShapeType="1"/>
            </p:cNvSpPr>
            <p:nvPr/>
          </p:nvSpPr>
          <p:spPr bwMode="auto">
            <a:xfrm flipV="1">
              <a:off x="1955" y="119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>
              <a:off x="1955" y="1114"/>
              <a:ext cx="1145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4" name="Line 12"/>
            <p:cNvSpPr>
              <a:spLocks noChangeShapeType="1"/>
            </p:cNvSpPr>
            <p:nvPr/>
          </p:nvSpPr>
          <p:spPr bwMode="auto">
            <a:xfrm flipH="1">
              <a:off x="1546" y="1095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5" name="Object 13"/>
            <p:cNvGraphicFramePr>
              <a:graphicFrameLocks noChangeAspect="1"/>
            </p:cNvGraphicFramePr>
            <p:nvPr/>
          </p:nvGraphicFramePr>
          <p:xfrm>
            <a:off x="2978" y="1075"/>
            <a:ext cx="28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3" r:id="rId11" imgW="152453" imgH="177809" progId="Equation.3">
                    <p:embed/>
                  </p:oleObj>
                </mc:Choice>
                <mc:Fallback>
                  <p:oleObj r:id="rId11" imgW="152453" imgH="1778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8" y="1075"/>
                          <a:ext cx="28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14"/>
            <p:cNvGraphicFramePr>
              <a:graphicFrameLocks noChangeAspect="1"/>
            </p:cNvGraphicFramePr>
            <p:nvPr/>
          </p:nvGraphicFramePr>
          <p:xfrm>
            <a:off x="1344" y="1353"/>
            <a:ext cx="2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4" r:id="rId13" imgW="139835" imgH="165202" progId="Equation.3">
                    <p:embed/>
                  </p:oleObj>
                </mc:Choice>
                <mc:Fallback>
                  <p:oleObj r:id="rId13" imgW="139835" imgH="1652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353"/>
                          <a:ext cx="243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15"/>
            <p:cNvGraphicFramePr>
              <a:graphicFrameLocks noChangeAspect="1"/>
            </p:cNvGraphicFramePr>
            <p:nvPr/>
          </p:nvGraphicFramePr>
          <p:xfrm>
            <a:off x="1669" y="119"/>
            <a:ext cx="31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5" r:id="rId15" imgW="165202" imgH="203253" progId="Equation.3">
                    <p:embed/>
                  </p:oleObj>
                </mc:Choice>
                <mc:Fallback>
                  <p:oleObj r:id="rId15" imgW="165202" imgH="2032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" y="119"/>
                          <a:ext cx="31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Line 16"/>
            <p:cNvSpPr>
              <a:spLocks noChangeShapeType="1"/>
            </p:cNvSpPr>
            <p:nvPr/>
          </p:nvSpPr>
          <p:spPr bwMode="auto">
            <a:xfrm flipH="1">
              <a:off x="605" y="1114"/>
              <a:ext cx="1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59" name="Object 17"/>
            <p:cNvGraphicFramePr>
              <a:graphicFrameLocks noChangeAspect="1"/>
            </p:cNvGraphicFramePr>
            <p:nvPr/>
          </p:nvGraphicFramePr>
          <p:xfrm>
            <a:off x="725" y="139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6" r:id="rId17" imgW="152519" imgH="215936" progId="Equation.3">
                    <p:embed/>
                  </p:oleObj>
                </mc:Choice>
                <mc:Fallback>
                  <p:oleObj r:id="rId17" imgW="152519" imgH="2159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139"/>
                          <a:ext cx="17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18"/>
            <p:cNvGraphicFramePr>
              <a:graphicFrameLocks noChangeAspect="1"/>
            </p:cNvGraphicFramePr>
            <p:nvPr/>
          </p:nvGraphicFramePr>
          <p:xfrm>
            <a:off x="2050" y="91"/>
            <a:ext cx="22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7" r:id="rId19" imgW="203341" imgH="279475" progId="Equation.3">
                    <p:embed/>
                  </p:oleObj>
                </mc:Choice>
                <mc:Fallback>
                  <p:oleObj r:id="rId19" imgW="203341" imgH="2794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0" y="91"/>
                          <a:ext cx="226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19"/>
            <p:cNvGraphicFramePr>
              <a:graphicFrameLocks noChangeAspect="1"/>
            </p:cNvGraphicFramePr>
            <p:nvPr/>
          </p:nvGraphicFramePr>
          <p:xfrm>
            <a:off x="1833" y="1089"/>
            <a:ext cx="27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8" r:id="rId21" imgW="152453" imgH="177809" progId="Equation.3">
                    <p:embed/>
                  </p:oleObj>
                </mc:Choice>
                <mc:Fallback>
                  <p:oleObj r:id="rId21" imgW="152453" imgH="1778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3" y="1089"/>
                          <a:ext cx="27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Line 20"/>
            <p:cNvSpPr>
              <a:spLocks noChangeShapeType="1"/>
            </p:cNvSpPr>
            <p:nvPr/>
          </p:nvSpPr>
          <p:spPr bwMode="auto">
            <a:xfrm>
              <a:off x="932" y="678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3" name="Line 21"/>
            <p:cNvSpPr>
              <a:spLocks noChangeShapeType="1"/>
            </p:cNvSpPr>
            <p:nvPr/>
          </p:nvSpPr>
          <p:spPr bwMode="auto">
            <a:xfrm>
              <a:off x="2446" y="670"/>
              <a:ext cx="3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4" name="Freeform 22"/>
            <p:cNvSpPr>
              <a:spLocks/>
            </p:cNvSpPr>
            <p:nvPr/>
          </p:nvSpPr>
          <p:spPr bwMode="auto">
            <a:xfrm>
              <a:off x="1260" y="907"/>
              <a:ext cx="245" cy="9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5" name="Rectangle 23"/>
            <p:cNvSpPr>
              <a:spLocks noChangeArrowheads="1"/>
            </p:cNvSpPr>
            <p:nvPr/>
          </p:nvSpPr>
          <p:spPr bwMode="auto">
            <a:xfrm>
              <a:off x="944" y="907"/>
              <a:ext cx="350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6" name="Group 24"/>
            <p:cNvGrpSpPr>
              <a:grpSpLocks/>
            </p:cNvGrpSpPr>
            <p:nvPr/>
          </p:nvGrpSpPr>
          <p:grpSpPr bwMode="auto">
            <a:xfrm>
              <a:off x="769" y="875"/>
              <a:ext cx="315" cy="160"/>
              <a:chOff x="0" y="0"/>
              <a:chExt cx="432" cy="240"/>
            </a:xfrm>
          </p:grpSpPr>
          <p:sp>
            <p:nvSpPr>
              <p:cNvPr id="79" name="AutoShape 25"/>
              <p:cNvSpPr>
                <a:spLocks noChangeArrowheads="1"/>
              </p:cNvSpPr>
              <p:nvPr/>
            </p:nvSpPr>
            <p:spPr bwMode="auto">
              <a:xfrm flipH="1">
                <a:off x="0" y="144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0" name="AutoShape 26"/>
              <p:cNvSpPr>
                <a:spLocks noChangeArrowheads="1"/>
              </p:cNvSpPr>
              <p:nvPr/>
            </p:nvSpPr>
            <p:spPr bwMode="auto">
              <a:xfrm>
                <a:off x="0" y="19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1" name="AutoShape 27"/>
              <p:cNvSpPr>
                <a:spLocks noChangeArrowheads="1"/>
              </p:cNvSpPr>
              <p:nvPr/>
            </p:nvSpPr>
            <p:spPr bwMode="auto">
              <a:xfrm flipH="1">
                <a:off x="0" y="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2" name="AutoShape 28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sp>
          <p:nvSpPr>
            <p:cNvPr id="67" name="Freeform 29"/>
            <p:cNvSpPr>
              <a:spLocks/>
            </p:cNvSpPr>
            <p:nvPr/>
          </p:nvSpPr>
          <p:spPr bwMode="auto">
            <a:xfrm>
              <a:off x="2446" y="915"/>
              <a:ext cx="246" cy="97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pSp>
          <p:nvGrpSpPr>
            <p:cNvPr id="68" name="Group 30"/>
            <p:cNvGrpSpPr>
              <a:grpSpLocks/>
            </p:cNvGrpSpPr>
            <p:nvPr/>
          </p:nvGrpSpPr>
          <p:grpSpPr bwMode="auto">
            <a:xfrm>
              <a:off x="1628" y="875"/>
              <a:ext cx="525" cy="160"/>
              <a:chOff x="0" y="0"/>
              <a:chExt cx="720" cy="240"/>
            </a:xfrm>
          </p:grpSpPr>
          <p:sp>
            <p:nvSpPr>
              <p:cNvPr id="73" name="Rectangle 31"/>
              <p:cNvSpPr>
                <a:spLocks noChangeArrowheads="1"/>
              </p:cNvSpPr>
              <p:nvPr/>
            </p:nvSpPr>
            <p:spPr bwMode="auto">
              <a:xfrm>
                <a:off x="240" y="48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pSp>
            <p:nvGrpSpPr>
              <p:cNvPr id="74" name="Group 32"/>
              <p:cNvGrpSpPr>
                <a:grpSpLocks/>
              </p:cNvGrpSpPr>
              <p:nvPr/>
            </p:nvGrpSpPr>
            <p:grpSpPr bwMode="auto">
              <a:xfrm>
                <a:off x="0" y="0"/>
                <a:ext cx="432" cy="240"/>
                <a:chOff x="0" y="0"/>
                <a:chExt cx="432" cy="240"/>
              </a:xfrm>
            </p:grpSpPr>
            <p:sp>
              <p:nvSpPr>
                <p:cNvPr id="75" name="AutoShape 33"/>
                <p:cNvSpPr>
                  <a:spLocks noChangeArrowheads="1"/>
                </p:cNvSpPr>
                <p:nvPr/>
              </p:nvSpPr>
              <p:spPr bwMode="auto">
                <a:xfrm flipH="1">
                  <a:off x="0" y="144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6" name="AutoShape 34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7" name="AutoShape 35"/>
                <p:cNvSpPr>
                  <a:spLocks noChangeArrowheads="1"/>
                </p:cNvSpPr>
                <p:nvPr/>
              </p:nvSpPr>
              <p:spPr bwMode="auto">
                <a:xfrm flipH="1">
                  <a:off x="0" y="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8" name="AutoShape 36"/>
                <p:cNvSpPr>
                  <a:spLocks noChangeArrowheads="1"/>
                </p:cNvSpPr>
                <p:nvPr/>
              </p:nvSpPr>
              <p:spPr bwMode="auto">
                <a:xfrm>
                  <a:off x="0" y="4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</p:grpSp>
        </p:grpSp>
        <p:graphicFrame>
          <p:nvGraphicFramePr>
            <p:cNvPr id="69" name="Object 37"/>
            <p:cNvGraphicFramePr>
              <a:graphicFrameLocks noChangeAspect="1"/>
            </p:cNvGraphicFramePr>
            <p:nvPr/>
          </p:nvGraphicFramePr>
          <p:xfrm>
            <a:off x="1014" y="379"/>
            <a:ext cx="24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9" r:id="rId23" imgW="127042" imgH="177732" progId="Equation.3">
                    <p:embed/>
                  </p:oleObj>
                </mc:Choice>
                <mc:Fallback>
                  <p:oleObj r:id="rId23" imgW="127042" imgH="17773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379"/>
                          <a:ext cx="242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38"/>
            <p:cNvGraphicFramePr>
              <a:graphicFrameLocks noChangeAspect="1"/>
            </p:cNvGraphicFramePr>
            <p:nvPr/>
          </p:nvGraphicFramePr>
          <p:xfrm>
            <a:off x="2487" y="331"/>
            <a:ext cx="3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10" r:id="rId25" imgW="165131" imgH="177809" progId="Equation.3">
                    <p:embed/>
                  </p:oleObj>
                </mc:Choice>
                <mc:Fallback>
                  <p:oleObj r:id="rId25" imgW="165131" imgH="1778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331"/>
                          <a:ext cx="307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39"/>
            <p:cNvGraphicFramePr>
              <a:graphicFrameLocks noChangeAspect="1"/>
            </p:cNvGraphicFramePr>
            <p:nvPr/>
          </p:nvGraphicFramePr>
          <p:xfrm>
            <a:off x="2501" y="616"/>
            <a:ext cx="32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11" r:id="rId27" imgW="190569" imgH="215936" progId="Equation.3">
                    <p:embed/>
                  </p:oleObj>
                </mc:Choice>
                <mc:Fallback>
                  <p:oleObj r:id="rId27" imgW="190569" imgH="2159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1" y="616"/>
                          <a:ext cx="32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40"/>
            <p:cNvGraphicFramePr>
              <a:graphicFrameLocks noChangeAspect="1"/>
            </p:cNvGraphicFramePr>
            <p:nvPr/>
          </p:nvGraphicFramePr>
          <p:xfrm>
            <a:off x="1974" y="660"/>
            <a:ext cx="30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12" r:id="rId29" imgW="203253" imgH="215936" progId="Equation.3">
                    <p:embed/>
                  </p:oleObj>
                </mc:Choice>
                <mc:Fallback>
                  <p:oleObj r:id="rId29" imgW="203253" imgH="2159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" y="660"/>
                          <a:ext cx="30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481BE-BBB5-409B-8C76-6727E2C194E2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81464" y="400767"/>
            <a:ext cx="12965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</a:rPr>
              <a:t>已</a:t>
            </a:r>
            <a:r>
              <a:rPr lang="zh-CN" altLang="en-US" b="1" smtClean="0">
                <a:solidFill>
                  <a:srgbClr val="CC0000"/>
                </a:solidFill>
              </a:rPr>
              <a:t>知：</a:t>
            </a:r>
            <a:r>
              <a:rPr lang="zh-CN" altLang="en-US" b="1">
                <a:solidFill>
                  <a:srgbClr val="CC0000"/>
                </a:solidFill>
              </a:rPr>
              <a:t>　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293138"/>
              </p:ext>
            </p:extLst>
          </p:nvPr>
        </p:nvGraphicFramePr>
        <p:xfrm>
          <a:off x="1224558" y="460001"/>
          <a:ext cx="2191940" cy="40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9" r:id="rId3" imgW="1116948" imgH="203341" progId="Equation.3">
                  <p:embed/>
                </p:oleObj>
              </mc:Choice>
              <mc:Fallback>
                <p:oleObj r:id="rId3" imgW="1116948" imgH="203341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558" y="460001"/>
                        <a:ext cx="2191940" cy="402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479963"/>
              </p:ext>
            </p:extLst>
          </p:nvPr>
        </p:nvGraphicFramePr>
        <p:xfrm>
          <a:off x="4030778" y="457619"/>
          <a:ext cx="22288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0" r:id="rId5" imgW="1116948" imgH="203341" progId="Equation.3">
                  <p:embed/>
                </p:oleObj>
              </mc:Choice>
              <mc:Fallback>
                <p:oleObj r:id="rId5" imgW="1116948" imgH="203341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778" y="457619"/>
                        <a:ext cx="222885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286584" y="1624310"/>
            <a:ext cx="25036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smtClean="0">
                <a:solidFill>
                  <a:srgbClr val="CC0000"/>
                </a:solidFill>
              </a:rPr>
              <a:t>求</a:t>
            </a:r>
            <a:r>
              <a:rPr lang="en-US" altLang="zh-CN" b="1" smtClean="0">
                <a:solidFill>
                  <a:srgbClr val="CC0000"/>
                </a:solidFill>
              </a:rPr>
              <a:t>:</a:t>
            </a:r>
            <a:r>
              <a:rPr lang="zh-CN" altLang="en-US" b="1" smtClean="0">
                <a:solidFill>
                  <a:srgbClr val="CC0000"/>
                </a:solidFill>
              </a:rPr>
              <a:t>      </a:t>
            </a:r>
            <a:r>
              <a:rPr lang="zh-CN" altLang="en-US" b="1">
                <a:solidFill>
                  <a:srgbClr val="CC0000"/>
                </a:solidFill>
              </a:rPr>
              <a:t>　</a:t>
            </a:r>
            <a:r>
              <a:rPr lang="zh-CN" altLang="en-US" sz="2100" b="1">
                <a:solidFill>
                  <a:srgbClr val="CC0000"/>
                </a:solidFill>
              </a:rPr>
              <a:t> </a:t>
            </a:r>
            <a:r>
              <a:rPr lang="zh-CN" altLang="en-US" sz="2100" b="1" smtClean="0">
                <a:solidFill>
                  <a:srgbClr val="000000"/>
                </a:solidFill>
              </a:rPr>
              <a:t>,</a:t>
            </a:r>
            <a:endParaRPr lang="zh-CN" altLang="en-US" sz="2100" b="1">
              <a:solidFill>
                <a:srgbClr val="000000"/>
              </a:solidFill>
            </a:endParaRPr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164645"/>
              </p:ext>
            </p:extLst>
          </p:nvPr>
        </p:nvGraphicFramePr>
        <p:xfrm>
          <a:off x="1194557" y="1569541"/>
          <a:ext cx="416719" cy="525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1" r:id="rId7" imgW="165202" imgH="215936" progId="Equation.3">
                  <p:embed/>
                </p:oleObj>
              </mc:Choice>
              <mc:Fallback>
                <p:oleObj r:id="rId7" imgW="165202" imgH="215936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557" y="1569541"/>
                        <a:ext cx="416719" cy="525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570052"/>
              </p:ext>
            </p:extLst>
          </p:nvPr>
        </p:nvGraphicFramePr>
        <p:xfrm>
          <a:off x="1810107" y="1580257"/>
          <a:ext cx="415529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2" r:id="rId9" imgW="177809" imgH="215843" progId="Equation.3">
                  <p:embed/>
                </p:oleObj>
              </mc:Choice>
              <mc:Fallback>
                <p:oleObj r:id="rId9" imgW="177809" imgH="215843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107" y="1580257"/>
                        <a:ext cx="415529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990347"/>
              </p:ext>
            </p:extLst>
          </p:nvPr>
        </p:nvGraphicFramePr>
        <p:xfrm>
          <a:off x="4030778" y="1007389"/>
          <a:ext cx="1495425" cy="42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3" r:id="rId11" imgW="786693" imgH="215936" progId="Equation.3">
                  <p:embed/>
                </p:oleObj>
              </mc:Choice>
              <mc:Fallback>
                <p:oleObj r:id="rId11" imgW="786693" imgH="215936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778" y="1007389"/>
                        <a:ext cx="1495425" cy="4274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368492"/>
              </p:ext>
            </p:extLst>
          </p:nvPr>
        </p:nvGraphicFramePr>
        <p:xfrm>
          <a:off x="1224558" y="1007389"/>
          <a:ext cx="1565672" cy="429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4" r:id="rId13" imgW="761326" imgH="215936" progId="Equation.3">
                  <p:embed/>
                </p:oleObj>
              </mc:Choice>
              <mc:Fallback>
                <p:oleObj r:id="rId13" imgW="761326" imgH="215936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558" y="1007389"/>
                        <a:ext cx="1565672" cy="4298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2"/>
          <p:cNvGrpSpPr>
            <a:grpSpLocks/>
          </p:cNvGrpSpPr>
          <p:nvPr/>
        </p:nvGrpSpPr>
        <p:grpSpPr bwMode="auto">
          <a:xfrm>
            <a:off x="2456631" y="2770832"/>
            <a:ext cx="3678499" cy="1742567"/>
            <a:chOff x="11" y="91"/>
            <a:chExt cx="3253" cy="1541"/>
          </a:xfrm>
        </p:grpSpPr>
        <p:sp>
          <p:nvSpPr>
            <p:cNvPr id="51" name="Line 4"/>
            <p:cNvSpPr>
              <a:spLocks noChangeShapeType="1"/>
            </p:cNvSpPr>
            <p:nvPr/>
          </p:nvSpPr>
          <p:spPr bwMode="auto">
            <a:xfrm flipV="1">
              <a:off x="605" y="119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2" name="Line 5"/>
            <p:cNvSpPr>
              <a:spLocks noChangeShapeType="1"/>
            </p:cNvSpPr>
            <p:nvPr/>
          </p:nvSpPr>
          <p:spPr bwMode="auto">
            <a:xfrm flipH="1">
              <a:off x="196" y="1095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3" name="Object 6"/>
            <p:cNvGraphicFramePr>
              <a:graphicFrameLocks noChangeAspect="1"/>
            </p:cNvGraphicFramePr>
            <p:nvPr/>
          </p:nvGraphicFramePr>
          <p:xfrm>
            <a:off x="2829" y="1154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5" r:id="rId15" imgW="177809" imgH="190487" progId="Equation.3">
                    <p:embed/>
                  </p:oleObj>
                </mc:Choice>
                <mc:Fallback>
                  <p:oleObj r:id="rId15" imgW="177809" imgH="190487" progId="Equation.3">
                    <p:embed/>
                    <p:pic>
                      <p:nvPicPr>
                        <p:cNvPr id="4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1154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7"/>
            <p:cNvGraphicFramePr>
              <a:graphicFrameLocks noChangeAspect="1"/>
            </p:cNvGraphicFramePr>
            <p:nvPr/>
          </p:nvGraphicFramePr>
          <p:xfrm>
            <a:off x="11" y="1373"/>
            <a:ext cx="22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6" r:id="rId17" imgW="127042" imgH="127042" progId="Equation.3">
                    <p:embed/>
                  </p:oleObj>
                </mc:Choice>
                <mc:Fallback>
                  <p:oleObj r:id="rId17" imgW="127042" imgH="127042" progId="Equation.3">
                    <p:embed/>
                    <p:pic>
                      <p:nvPicPr>
                        <p:cNvPr id="4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" y="1373"/>
                          <a:ext cx="226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8"/>
            <p:cNvGraphicFramePr>
              <a:graphicFrameLocks noChangeAspect="1"/>
            </p:cNvGraphicFramePr>
            <p:nvPr/>
          </p:nvGraphicFramePr>
          <p:xfrm>
            <a:off x="359" y="159"/>
            <a:ext cx="24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7" r:id="rId19" imgW="190734" imgH="241512" progId="Equation.3">
                    <p:embed/>
                  </p:oleObj>
                </mc:Choice>
                <mc:Fallback>
                  <p:oleObj r:id="rId19" imgW="190734" imgH="241512" progId="Equation.3">
                    <p:embed/>
                    <p:pic>
                      <p:nvPicPr>
                        <p:cNvPr id="5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" y="159"/>
                          <a:ext cx="24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9"/>
            <p:cNvGraphicFramePr>
              <a:graphicFrameLocks noChangeAspect="1"/>
            </p:cNvGraphicFramePr>
            <p:nvPr/>
          </p:nvGraphicFramePr>
          <p:xfrm>
            <a:off x="505" y="1114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8" r:id="rId21" imgW="127042" imgH="139714" progId="Equation.DSMT4">
                    <p:embed/>
                  </p:oleObj>
                </mc:Choice>
                <mc:Fallback>
                  <p:oleObj r:id="rId21" imgW="127042" imgH="139714" progId="Equation.DSMT4">
                    <p:embed/>
                    <p:pic>
                      <p:nvPicPr>
                        <p:cNvPr id="5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1114"/>
                          <a:ext cx="22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Line 10"/>
            <p:cNvSpPr>
              <a:spLocks noChangeShapeType="1"/>
            </p:cNvSpPr>
            <p:nvPr/>
          </p:nvSpPr>
          <p:spPr bwMode="auto">
            <a:xfrm flipV="1">
              <a:off x="1955" y="119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8" name="Line 11"/>
            <p:cNvSpPr>
              <a:spLocks noChangeShapeType="1"/>
            </p:cNvSpPr>
            <p:nvPr/>
          </p:nvSpPr>
          <p:spPr bwMode="auto">
            <a:xfrm>
              <a:off x="1955" y="1114"/>
              <a:ext cx="1145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9" name="Line 12"/>
            <p:cNvSpPr>
              <a:spLocks noChangeShapeType="1"/>
            </p:cNvSpPr>
            <p:nvPr/>
          </p:nvSpPr>
          <p:spPr bwMode="auto">
            <a:xfrm flipH="1">
              <a:off x="1546" y="1095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0" name="Object 13"/>
            <p:cNvGraphicFramePr>
              <a:graphicFrameLocks noChangeAspect="1"/>
            </p:cNvGraphicFramePr>
            <p:nvPr/>
          </p:nvGraphicFramePr>
          <p:xfrm>
            <a:off x="2978" y="1075"/>
            <a:ext cx="28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9" r:id="rId23" imgW="152453" imgH="177809" progId="Equation.3">
                    <p:embed/>
                  </p:oleObj>
                </mc:Choice>
                <mc:Fallback>
                  <p:oleObj r:id="rId23" imgW="152453" imgH="177809" progId="Equation.3">
                    <p:embed/>
                    <p:pic>
                      <p:nvPicPr>
                        <p:cNvPr id="5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8" y="1075"/>
                          <a:ext cx="28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14"/>
            <p:cNvGraphicFramePr>
              <a:graphicFrameLocks noChangeAspect="1"/>
            </p:cNvGraphicFramePr>
            <p:nvPr/>
          </p:nvGraphicFramePr>
          <p:xfrm>
            <a:off x="1344" y="1353"/>
            <a:ext cx="2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0" r:id="rId25" imgW="139835" imgH="165202" progId="Equation.3">
                    <p:embed/>
                  </p:oleObj>
                </mc:Choice>
                <mc:Fallback>
                  <p:oleObj r:id="rId25" imgW="139835" imgH="165202" progId="Equation.3">
                    <p:embed/>
                    <p:pic>
                      <p:nvPicPr>
                        <p:cNvPr id="5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353"/>
                          <a:ext cx="243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15"/>
            <p:cNvGraphicFramePr>
              <a:graphicFrameLocks noChangeAspect="1"/>
            </p:cNvGraphicFramePr>
            <p:nvPr/>
          </p:nvGraphicFramePr>
          <p:xfrm>
            <a:off x="1669" y="119"/>
            <a:ext cx="31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1" r:id="rId27" imgW="165202" imgH="203253" progId="Equation.3">
                    <p:embed/>
                  </p:oleObj>
                </mc:Choice>
                <mc:Fallback>
                  <p:oleObj r:id="rId27" imgW="165202" imgH="203253" progId="Equation.3">
                    <p:embed/>
                    <p:pic>
                      <p:nvPicPr>
                        <p:cNvPr id="5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" y="119"/>
                          <a:ext cx="31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16"/>
            <p:cNvSpPr>
              <a:spLocks noChangeShapeType="1"/>
            </p:cNvSpPr>
            <p:nvPr/>
          </p:nvSpPr>
          <p:spPr bwMode="auto">
            <a:xfrm flipH="1">
              <a:off x="605" y="1114"/>
              <a:ext cx="1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64" name="Object 17"/>
            <p:cNvGraphicFramePr>
              <a:graphicFrameLocks noChangeAspect="1"/>
            </p:cNvGraphicFramePr>
            <p:nvPr/>
          </p:nvGraphicFramePr>
          <p:xfrm>
            <a:off x="725" y="139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2" r:id="rId29" imgW="152519" imgH="215936" progId="Equation.3">
                    <p:embed/>
                  </p:oleObj>
                </mc:Choice>
                <mc:Fallback>
                  <p:oleObj r:id="rId29" imgW="152519" imgH="215936" progId="Equation.3">
                    <p:embed/>
                    <p:pic>
                      <p:nvPicPr>
                        <p:cNvPr id="5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139"/>
                          <a:ext cx="17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18"/>
            <p:cNvGraphicFramePr>
              <a:graphicFrameLocks noChangeAspect="1"/>
            </p:cNvGraphicFramePr>
            <p:nvPr/>
          </p:nvGraphicFramePr>
          <p:xfrm>
            <a:off x="2050" y="91"/>
            <a:ext cx="22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3" r:id="rId31" imgW="203341" imgH="279475" progId="Equation.3">
                    <p:embed/>
                  </p:oleObj>
                </mc:Choice>
                <mc:Fallback>
                  <p:oleObj r:id="rId31" imgW="203341" imgH="279475" progId="Equation.3">
                    <p:embed/>
                    <p:pic>
                      <p:nvPicPr>
                        <p:cNvPr id="6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0" y="91"/>
                          <a:ext cx="226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9"/>
            <p:cNvGraphicFramePr>
              <a:graphicFrameLocks noChangeAspect="1"/>
            </p:cNvGraphicFramePr>
            <p:nvPr/>
          </p:nvGraphicFramePr>
          <p:xfrm>
            <a:off x="1833" y="1089"/>
            <a:ext cx="27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4" r:id="rId33" imgW="152453" imgH="177809" progId="Equation.3">
                    <p:embed/>
                  </p:oleObj>
                </mc:Choice>
                <mc:Fallback>
                  <p:oleObj r:id="rId33" imgW="152453" imgH="177809" progId="Equation.3">
                    <p:embed/>
                    <p:pic>
                      <p:nvPicPr>
                        <p:cNvPr id="6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3" y="1089"/>
                          <a:ext cx="27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Line 20"/>
            <p:cNvSpPr>
              <a:spLocks noChangeShapeType="1"/>
            </p:cNvSpPr>
            <p:nvPr/>
          </p:nvSpPr>
          <p:spPr bwMode="auto">
            <a:xfrm>
              <a:off x="932" y="678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8" name="Line 21"/>
            <p:cNvSpPr>
              <a:spLocks noChangeShapeType="1"/>
            </p:cNvSpPr>
            <p:nvPr/>
          </p:nvSpPr>
          <p:spPr bwMode="auto">
            <a:xfrm>
              <a:off x="2446" y="670"/>
              <a:ext cx="3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9" name="Freeform 22"/>
            <p:cNvSpPr>
              <a:spLocks/>
            </p:cNvSpPr>
            <p:nvPr/>
          </p:nvSpPr>
          <p:spPr bwMode="auto">
            <a:xfrm>
              <a:off x="1260" y="907"/>
              <a:ext cx="245" cy="9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0" name="Rectangle 23"/>
            <p:cNvSpPr>
              <a:spLocks noChangeArrowheads="1"/>
            </p:cNvSpPr>
            <p:nvPr/>
          </p:nvSpPr>
          <p:spPr bwMode="auto">
            <a:xfrm>
              <a:off x="944" y="907"/>
              <a:ext cx="350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71" name="Group 24"/>
            <p:cNvGrpSpPr>
              <a:grpSpLocks/>
            </p:cNvGrpSpPr>
            <p:nvPr/>
          </p:nvGrpSpPr>
          <p:grpSpPr bwMode="auto">
            <a:xfrm>
              <a:off x="769" y="875"/>
              <a:ext cx="315" cy="160"/>
              <a:chOff x="0" y="0"/>
              <a:chExt cx="432" cy="240"/>
            </a:xfrm>
          </p:grpSpPr>
          <p:sp>
            <p:nvSpPr>
              <p:cNvPr id="84" name="AutoShape 25"/>
              <p:cNvSpPr>
                <a:spLocks noChangeArrowheads="1"/>
              </p:cNvSpPr>
              <p:nvPr/>
            </p:nvSpPr>
            <p:spPr bwMode="auto">
              <a:xfrm flipH="1">
                <a:off x="0" y="144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5" name="AutoShape 26"/>
              <p:cNvSpPr>
                <a:spLocks noChangeArrowheads="1"/>
              </p:cNvSpPr>
              <p:nvPr/>
            </p:nvSpPr>
            <p:spPr bwMode="auto">
              <a:xfrm>
                <a:off x="0" y="19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6" name="AutoShape 27"/>
              <p:cNvSpPr>
                <a:spLocks noChangeArrowheads="1"/>
              </p:cNvSpPr>
              <p:nvPr/>
            </p:nvSpPr>
            <p:spPr bwMode="auto">
              <a:xfrm flipH="1">
                <a:off x="0" y="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7" name="AutoShape 28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sp>
          <p:nvSpPr>
            <p:cNvPr id="72" name="Freeform 29"/>
            <p:cNvSpPr>
              <a:spLocks/>
            </p:cNvSpPr>
            <p:nvPr/>
          </p:nvSpPr>
          <p:spPr bwMode="auto">
            <a:xfrm>
              <a:off x="2446" y="915"/>
              <a:ext cx="246" cy="97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pSp>
          <p:nvGrpSpPr>
            <p:cNvPr id="73" name="Group 30"/>
            <p:cNvGrpSpPr>
              <a:grpSpLocks/>
            </p:cNvGrpSpPr>
            <p:nvPr/>
          </p:nvGrpSpPr>
          <p:grpSpPr bwMode="auto">
            <a:xfrm>
              <a:off x="1628" y="875"/>
              <a:ext cx="525" cy="160"/>
              <a:chOff x="0" y="0"/>
              <a:chExt cx="720" cy="240"/>
            </a:xfrm>
          </p:grpSpPr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240" y="48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pSp>
            <p:nvGrpSpPr>
              <p:cNvPr id="79" name="Group 32"/>
              <p:cNvGrpSpPr>
                <a:grpSpLocks/>
              </p:cNvGrpSpPr>
              <p:nvPr/>
            </p:nvGrpSpPr>
            <p:grpSpPr bwMode="auto">
              <a:xfrm>
                <a:off x="0" y="0"/>
                <a:ext cx="432" cy="240"/>
                <a:chOff x="0" y="0"/>
                <a:chExt cx="432" cy="240"/>
              </a:xfrm>
            </p:grpSpPr>
            <p:sp>
              <p:nvSpPr>
                <p:cNvPr id="80" name="AutoShape 33"/>
                <p:cNvSpPr>
                  <a:spLocks noChangeArrowheads="1"/>
                </p:cNvSpPr>
                <p:nvPr/>
              </p:nvSpPr>
              <p:spPr bwMode="auto">
                <a:xfrm flipH="1">
                  <a:off x="0" y="144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81" name="AutoShape 34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82" name="AutoShape 35"/>
                <p:cNvSpPr>
                  <a:spLocks noChangeArrowheads="1"/>
                </p:cNvSpPr>
                <p:nvPr/>
              </p:nvSpPr>
              <p:spPr bwMode="auto">
                <a:xfrm flipH="1">
                  <a:off x="0" y="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83" name="AutoShape 36"/>
                <p:cNvSpPr>
                  <a:spLocks noChangeArrowheads="1"/>
                </p:cNvSpPr>
                <p:nvPr/>
              </p:nvSpPr>
              <p:spPr bwMode="auto">
                <a:xfrm>
                  <a:off x="0" y="4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</p:grpSp>
        </p:grpSp>
        <p:graphicFrame>
          <p:nvGraphicFramePr>
            <p:cNvPr id="74" name="Object 37"/>
            <p:cNvGraphicFramePr>
              <a:graphicFrameLocks noChangeAspect="1"/>
            </p:cNvGraphicFramePr>
            <p:nvPr/>
          </p:nvGraphicFramePr>
          <p:xfrm>
            <a:off x="1014" y="379"/>
            <a:ext cx="24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5" r:id="rId35" imgW="127042" imgH="177732" progId="Equation.3">
                    <p:embed/>
                  </p:oleObj>
                </mc:Choice>
                <mc:Fallback>
                  <p:oleObj r:id="rId35" imgW="127042" imgH="177732" progId="Equation.3">
                    <p:embed/>
                    <p:pic>
                      <p:nvPicPr>
                        <p:cNvPr id="6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379"/>
                          <a:ext cx="242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38"/>
            <p:cNvGraphicFramePr>
              <a:graphicFrameLocks noChangeAspect="1"/>
            </p:cNvGraphicFramePr>
            <p:nvPr/>
          </p:nvGraphicFramePr>
          <p:xfrm>
            <a:off x="2487" y="331"/>
            <a:ext cx="3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6" r:id="rId37" imgW="165131" imgH="177809" progId="Equation.3">
                    <p:embed/>
                  </p:oleObj>
                </mc:Choice>
                <mc:Fallback>
                  <p:oleObj r:id="rId37" imgW="165131" imgH="177809" progId="Equation.3">
                    <p:embed/>
                    <p:pic>
                      <p:nvPicPr>
                        <p:cNvPr id="7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331"/>
                          <a:ext cx="307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39"/>
            <p:cNvGraphicFramePr>
              <a:graphicFrameLocks noChangeAspect="1"/>
            </p:cNvGraphicFramePr>
            <p:nvPr/>
          </p:nvGraphicFramePr>
          <p:xfrm>
            <a:off x="2501" y="616"/>
            <a:ext cx="32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7" r:id="rId39" imgW="190569" imgH="215936" progId="Equation.3">
                    <p:embed/>
                  </p:oleObj>
                </mc:Choice>
                <mc:Fallback>
                  <p:oleObj r:id="rId39" imgW="190569" imgH="215936" progId="Equation.3">
                    <p:embed/>
                    <p:pic>
                      <p:nvPicPr>
                        <p:cNvPr id="71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1" y="616"/>
                          <a:ext cx="32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40"/>
            <p:cNvGraphicFramePr>
              <a:graphicFrameLocks noChangeAspect="1"/>
            </p:cNvGraphicFramePr>
            <p:nvPr/>
          </p:nvGraphicFramePr>
          <p:xfrm>
            <a:off x="1974" y="660"/>
            <a:ext cx="30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8" r:id="rId41" imgW="203253" imgH="215936" progId="Equation.3">
                    <p:embed/>
                  </p:oleObj>
                </mc:Choice>
                <mc:Fallback>
                  <p:oleObj r:id="rId41" imgW="203253" imgH="215936" progId="Equation.3">
                    <p:embed/>
                    <p:pic>
                      <p:nvPicPr>
                        <p:cNvPr id="72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" y="660"/>
                          <a:ext cx="30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42"/>
          <p:cNvSpPr txBox="1">
            <a:spLocks noChangeArrowheads="1"/>
          </p:cNvSpPr>
          <p:nvPr/>
        </p:nvSpPr>
        <p:spPr bwMode="auto">
          <a:xfrm>
            <a:off x="411480" y="249494"/>
            <a:ext cx="8100060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CC0000"/>
                </a:solidFill>
              </a:rPr>
              <a:t>解</a:t>
            </a:r>
            <a:r>
              <a:rPr lang="en-US" altLang="zh-CN" b="1" dirty="0">
                <a:solidFill>
                  <a:srgbClr val="CC0000"/>
                </a:solidFill>
              </a:rPr>
              <a:t>: </a:t>
            </a:r>
            <a:r>
              <a:rPr lang="zh-CN" altLang="en-US" b="1" dirty="0">
                <a:solidFill>
                  <a:srgbClr val="1C1C1C"/>
                </a:solidFill>
              </a:rPr>
              <a:t>假设分离后仪器舱和火箭容器相对惯性系的速度大小分别是     和     ，方向向</a:t>
            </a:r>
            <a:r>
              <a:rPr lang="zh-CN" altLang="en-US" b="1">
                <a:solidFill>
                  <a:srgbClr val="1C1C1C"/>
                </a:solidFill>
              </a:rPr>
              <a:t>前</a:t>
            </a:r>
            <a:r>
              <a:rPr lang="zh-CN" altLang="en-US" b="1" smtClean="0">
                <a:solidFill>
                  <a:srgbClr val="1C1C1C"/>
                </a:solidFill>
              </a:rPr>
              <a:t>，</a:t>
            </a:r>
            <a:r>
              <a:rPr lang="en-US" altLang="zh-CN" b="1" smtClean="0">
                <a:solidFill>
                  <a:srgbClr val="1C1C1C"/>
                </a:solidFill>
              </a:rPr>
              <a:t/>
            </a:r>
            <a:br>
              <a:rPr lang="en-US" altLang="zh-CN" b="1" smtClean="0">
                <a:solidFill>
                  <a:srgbClr val="1C1C1C"/>
                </a:solidFill>
              </a:rPr>
            </a:br>
            <a:endParaRPr lang="zh-CN" altLang="en-US" b="1" dirty="0"/>
          </a:p>
        </p:txBody>
      </p:sp>
      <p:graphicFrame>
        <p:nvGraphicFramePr>
          <p:cNvPr id="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438264"/>
              </p:ext>
            </p:extLst>
          </p:nvPr>
        </p:nvGraphicFramePr>
        <p:xfrm>
          <a:off x="1115430" y="692690"/>
          <a:ext cx="1066424" cy="501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22" name="Equation" r:id="rId3" imgW="469800" imgH="228600" progId="Equation.DSMT4">
                  <p:embed/>
                </p:oleObj>
              </mc:Choice>
              <mc:Fallback>
                <p:oleObj name="Equation" r:id="rId3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430" y="692690"/>
                        <a:ext cx="1066424" cy="5016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Text Box 42"/>
          <p:cNvSpPr txBox="1">
            <a:spLocks noChangeArrowheads="1"/>
          </p:cNvSpPr>
          <p:nvPr/>
        </p:nvSpPr>
        <p:spPr bwMode="auto">
          <a:xfrm>
            <a:off x="411480" y="3689401"/>
            <a:ext cx="6140114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由①②得：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11480" y="1838058"/>
            <a:ext cx="6140114" cy="1106086"/>
            <a:chOff x="467544" y="2221225"/>
            <a:chExt cx="8186819" cy="1474783"/>
          </a:xfrm>
        </p:grpSpPr>
        <p:graphicFrame>
          <p:nvGraphicFramePr>
            <p:cNvPr id="4198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181927"/>
                </p:ext>
              </p:extLst>
            </p:nvPr>
          </p:nvGraphicFramePr>
          <p:xfrm>
            <a:off x="1305025" y="3004809"/>
            <a:ext cx="3962400" cy="58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3" r:id="rId5" imgW="1547702" imgH="215936" progId="Equation.3">
                    <p:embed/>
                  </p:oleObj>
                </mc:Choice>
                <mc:Fallback>
                  <p:oleObj r:id="rId5" imgW="1547702" imgH="215936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5025" y="3004809"/>
                          <a:ext cx="3962400" cy="581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Text Box 42"/>
            <p:cNvSpPr txBox="1">
              <a:spLocks noChangeArrowheads="1"/>
            </p:cNvSpPr>
            <p:nvPr/>
          </p:nvSpPr>
          <p:spPr bwMode="auto">
            <a:xfrm>
              <a:off x="467544" y="2221225"/>
              <a:ext cx="8186819" cy="7140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/>
                <a:t>在水平方向合外力为</a:t>
              </a:r>
              <a:r>
                <a:rPr lang="en-US" altLang="zh-CN" b="1" dirty="0"/>
                <a:t>0</a:t>
              </a:r>
              <a:r>
                <a:rPr lang="zh-CN" altLang="en-US" b="1" dirty="0"/>
                <a:t>，由动量守恒定律得：</a:t>
              </a:r>
            </a:p>
          </p:txBody>
        </p:sp>
        <p:sp>
          <p:nvSpPr>
            <p:cNvPr id="92" name="Text Box 42"/>
            <p:cNvSpPr txBox="1">
              <a:spLocks noChangeArrowheads="1"/>
            </p:cNvSpPr>
            <p:nvPr/>
          </p:nvSpPr>
          <p:spPr bwMode="auto">
            <a:xfrm>
              <a:off x="5566075" y="2981966"/>
              <a:ext cx="2305573" cy="7140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/>
                <a:t>②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39591" y="1269609"/>
            <a:ext cx="3942295" cy="560173"/>
            <a:chOff x="2034001" y="1581789"/>
            <a:chExt cx="3942295" cy="560173"/>
          </a:xfrm>
        </p:grpSpPr>
        <p:graphicFrame>
          <p:nvGraphicFramePr>
            <p:cNvPr id="4198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3390305"/>
                </p:ext>
              </p:extLst>
            </p:nvPr>
          </p:nvGraphicFramePr>
          <p:xfrm>
            <a:off x="2510883" y="1589124"/>
            <a:ext cx="1665316" cy="480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4" r:id="rId7" imgW="723276" imgH="215936" progId="Equation.3">
                    <p:embed/>
                  </p:oleObj>
                </mc:Choice>
                <mc:Fallback>
                  <p:oleObj r:id="rId7" imgW="723276" imgH="215936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0883" y="1589124"/>
                          <a:ext cx="1665316" cy="48038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Text Box 42"/>
            <p:cNvSpPr txBox="1">
              <a:spLocks noChangeArrowheads="1"/>
            </p:cNvSpPr>
            <p:nvPr/>
          </p:nvSpPr>
          <p:spPr bwMode="auto">
            <a:xfrm>
              <a:off x="5230002" y="1581789"/>
              <a:ext cx="746294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/>
                <a:t>①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2034001" y="1606431"/>
              <a:ext cx="690198" cy="535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1C1C1C"/>
                  </a:solidFill>
                </a:rPr>
                <a:t>则</a:t>
              </a:r>
              <a:endParaRPr lang="zh-CN" altLang="en-US" b="1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51433" y="3478814"/>
            <a:ext cx="2893396" cy="1020557"/>
            <a:chOff x="1989533" y="3469289"/>
            <a:chExt cx="2893396" cy="1020557"/>
          </a:xfrm>
        </p:grpSpPr>
        <p:graphicFrame>
          <p:nvGraphicFramePr>
            <p:cNvPr id="4198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9371191"/>
                </p:ext>
              </p:extLst>
            </p:nvPr>
          </p:nvGraphicFramePr>
          <p:xfrm>
            <a:off x="2144494" y="3469289"/>
            <a:ext cx="2620565" cy="456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5" r:id="rId9" imgW="1219517" imgH="228917" progId="Equation.3">
                    <p:embed/>
                  </p:oleObj>
                </mc:Choice>
                <mc:Fallback>
                  <p:oleObj r:id="rId9" imgW="1219517" imgH="228917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4494" y="3469289"/>
                          <a:ext cx="2620565" cy="4560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3684371"/>
                </p:ext>
              </p:extLst>
            </p:nvPr>
          </p:nvGraphicFramePr>
          <p:xfrm>
            <a:off x="2154016" y="4001690"/>
            <a:ext cx="2728913" cy="484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6" name="Equation" r:id="rId11" imgW="1269720" imgH="241200" progId="Equation.DSMT4">
                    <p:embed/>
                  </p:oleObj>
                </mc:Choice>
                <mc:Fallback>
                  <p:oleObj name="Equation" r:id="rId11" imgW="1269720" imgH="24120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016" y="4001690"/>
                          <a:ext cx="2728913" cy="4845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AutoShape 9"/>
            <p:cNvSpPr>
              <a:spLocks/>
            </p:cNvSpPr>
            <p:nvPr/>
          </p:nvSpPr>
          <p:spPr bwMode="auto">
            <a:xfrm>
              <a:off x="1989533" y="3475433"/>
              <a:ext cx="215504" cy="1014413"/>
            </a:xfrm>
            <a:prstGeom prst="leftBrace">
              <a:avLst>
                <a:gd name="adj1" fmla="val 7085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56" name="Group 2"/>
          <p:cNvGrpSpPr>
            <a:grpSpLocks/>
          </p:cNvGrpSpPr>
          <p:nvPr/>
        </p:nvGrpSpPr>
        <p:grpSpPr bwMode="auto">
          <a:xfrm>
            <a:off x="5373083" y="2945294"/>
            <a:ext cx="3678499" cy="1742567"/>
            <a:chOff x="11" y="91"/>
            <a:chExt cx="3253" cy="1541"/>
          </a:xfrm>
        </p:grpSpPr>
        <p:sp>
          <p:nvSpPr>
            <p:cNvPr id="57" name="Line 4"/>
            <p:cNvSpPr>
              <a:spLocks noChangeShapeType="1"/>
            </p:cNvSpPr>
            <p:nvPr/>
          </p:nvSpPr>
          <p:spPr bwMode="auto">
            <a:xfrm flipV="1">
              <a:off x="605" y="119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8" name="Line 5"/>
            <p:cNvSpPr>
              <a:spLocks noChangeShapeType="1"/>
            </p:cNvSpPr>
            <p:nvPr/>
          </p:nvSpPr>
          <p:spPr bwMode="auto">
            <a:xfrm flipH="1">
              <a:off x="196" y="1095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9" name="Object 6"/>
            <p:cNvGraphicFramePr>
              <a:graphicFrameLocks noChangeAspect="1"/>
            </p:cNvGraphicFramePr>
            <p:nvPr/>
          </p:nvGraphicFramePr>
          <p:xfrm>
            <a:off x="2829" y="1154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7" r:id="rId13" imgW="177809" imgH="190487" progId="Equation.3">
                    <p:embed/>
                  </p:oleObj>
                </mc:Choice>
                <mc:Fallback>
                  <p:oleObj r:id="rId13" imgW="177809" imgH="190487" progId="Equation.3">
                    <p:embed/>
                    <p:pic>
                      <p:nvPicPr>
                        <p:cNvPr id="5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1154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7"/>
            <p:cNvGraphicFramePr>
              <a:graphicFrameLocks noChangeAspect="1"/>
            </p:cNvGraphicFramePr>
            <p:nvPr/>
          </p:nvGraphicFramePr>
          <p:xfrm>
            <a:off x="11" y="1373"/>
            <a:ext cx="22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8" r:id="rId15" imgW="127042" imgH="127042" progId="Equation.3">
                    <p:embed/>
                  </p:oleObj>
                </mc:Choice>
                <mc:Fallback>
                  <p:oleObj r:id="rId15" imgW="127042" imgH="127042" progId="Equation.3">
                    <p:embed/>
                    <p:pic>
                      <p:nvPicPr>
                        <p:cNvPr id="5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" y="1373"/>
                          <a:ext cx="226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8"/>
            <p:cNvGraphicFramePr>
              <a:graphicFrameLocks noChangeAspect="1"/>
            </p:cNvGraphicFramePr>
            <p:nvPr/>
          </p:nvGraphicFramePr>
          <p:xfrm>
            <a:off x="359" y="159"/>
            <a:ext cx="24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29" r:id="rId17" imgW="190734" imgH="241512" progId="Equation.3">
                    <p:embed/>
                  </p:oleObj>
                </mc:Choice>
                <mc:Fallback>
                  <p:oleObj r:id="rId17" imgW="190734" imgH="241512" progId="Equation.3">
                    <p:embed/>
                    <p:pic>
                      <p:nvPicPr>
                        <p:cNvPr id="5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" y="159"/>
                          <a:ext cx="24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9"/>
            <p:cNvGraphicFramePr>
              <a:graphicFrameLocks noChangeAspect="1"/>
            </p:cNvGraphicFramePr>
            <p:nvPr/>
          </p:nvGraphicFramePr>
          <p:xfrm>
            <a:off x="505" y="1114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0" r:id="rId19" imgW="127042" imgH="139714" progId="Equation.DSMT4">
                    <p:embed/>
                  </p:oleObj>
                </mc:Choice>
                <mc:Fallback>
                  <p:oleObj r:id="rId19" imgW="127042" imgH="139714" progId="Equation.DSMT4">
                    <p:embed/>
                    <p:pic>
                      <p:nvPicPr>
                        <p:cNvPr id="5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1114"/>
                          <a:ext cx="22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10"/>
            <p:cNvSpPr>
              <a:spLocks noChangeShapeType="1"/>
            </p:cNvSpPr>
            <p:nvPr/>
          </p:nvSpPr>
          <p:spPr bwMode="auto">
            <a:xfrm flipV="1">
              <a:off x="1955" y="119"/>
              <a:ext cx="0" cy="99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4" name="Line 11"/>
            <p:cNvSpPr>
              <a:spLocks noChangeShapeType="1"/>
            </p:cNvSpPr>
            <p:nvPr/>
          </p:nvSpPr>
          <p:spPr bwMode="auto">
            <a:xfrm>
              <a:off x="1955" y="1114"/>
              <a:ext cx="1145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 flipH="1">
              <a:off x="1546" y="1095"/>
              <a:ext cx="412" cy="417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6" name="Object 13"/>
            <p:cNvGraphicFramePr>
              <a:graphicFrameLocks noChangeAspect="1"/>
            </p:cNvGraphicFramePr>
            <p:nvPr/>
          </p:nvGraphicFramePr>
          <p:xfrm>
            <a:off x="2978" y="1075"/>
            <a:ext cx="28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1" r:id="rId21" imgW="152453" imgH="177809" progId="Equation.3">
                    <p:embed/>
                  </p:oleObj>
                </mc:Choice>
                <mc:Fallback>
                  <p:oleObj r:id="rId21" imgW="152453" imgH="177809" progId="Equation.3">
                    <p:embed/>
                    <p:pic>
                      <p:nvPicPr>
                        <p:cNvPr id="6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8" y="1075"/>
                          <a:ext cx="28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14"/>
            <p:cNvGraphicFramePr>
              <a:graphicFrameLocks noChangeAspect="1"/>
            </p:cNvGraphicFramePr>
            <p:nvPr/>
          </p:nvGraphicFramePr>
          <p:xfrm>
            <a:off x="1344" y="1353"/>
            <a:ext cx="2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2" r:id="rId23" imgW="139835" imgH="165202" progId="Equation.3">
                    <p:embed/>
                  </p:oleObj>
                </mc:Choice>
                <mc:Fallback>
                  <p:oleObj r:id="rId23" imgW="139835" imgH="165202" progId="Equation.3">
                    <p:embed/>
                    <p:pic>
                      <p:nvPicPr>
                        <p:cNvPr id="61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353"/>
                          <a:ext cx="243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15"/>
            <p:cNvGraphicFramePr>
              <a:graphicFrameLocks noChangeAspect="1"/>
            </p:cNvGraphicFramePr>
            <p:nvPr/>
          </p:nvGraphicFramePr>
          <p:xfrm>
            <a:off x="1669" y="119"/>
            <a:ext cx="31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3" r:id="rId25" imgW="165202" imgH="203253" progId="Equation.3">
                    <p:embed/>
                  </p:oleObj>
                </mc:Choice>
                <mc:Fallback>
                  <p:oleObj r:id="rId25" imgW="165202" imgH="203253" progId="Equation.3">
                    <p:embed/>
                    <p:pic>
                      <p:nvPicPr>
                        <p:cNvPr id="62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" y="119"/>
                          <a:ext cx="31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Line 16"/>
            <p:cNvSpPr>
              <a:spLocks noChangeShapeType="1"/>
            </p:cNvSpPr>
            <p:nvPr/>
          </p:nvSpPr>
          <p:spPr bwMode="auto">
            <a:xfrm flipH="1">
              <a:off x="605" y="1114"/>
              <a:ext cx="1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0" name="Object 17"/>
            <p:cNvGraphicFramePr>
              <a:graphicFrameLocks noChangeAspect="1"/>
            </p:cNvGraphicFramePr>
            <p:nvPr/>
          </p:nvGraphicFramePr>
          <p:xfrm>
            <a:off x="725" y="139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4" r:id="rId27" imgW="152519" imgH="215936" progId="Equation.3">
                    <p:embed/>
                  </p:oleObj>
                </mc:Choice>
                <mc:Fallback>
                  <p:oleObj r:id="rId27" imgW="152519" imgH="215936" progId="Equation.3">
                    <p:embed/>
                    <p:pic>
                      <p:nvPicPr>
                        <p:cNvPr id="6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139"/>
                          <a:ext cx="17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18"/>
            <p:cNvGraphicFramePr>
              <a:graphicFrameLocks noChangeAspect="1"/>
            </p:cNvGraphicFramePr>
            <p:nvPr/>
          </p:nvGraphicFramePr>
          <p:xfrm>
            <a:off x="2050" y="91"/>
            <a:ext cx="22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5" r:id="rId29" imgW="203341" imgH="279475" progId="Equation.3">
                    <p:embed/>
                  </p:oleObj>
                </mc:Choice>
                <mc:Fallback>
                  <p:oleObj r:id="rId29" imgW="203341" imgH="279475" progId="Equation.3">
                    <p:embed/>
                    <p:pic>
                      <p:nvPicPr>
                        <p:cNvPr id="65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0" y="91"/>
                          <a:ext cx="226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19"/>
            <p:cNvGraphicFramePr>
              <a:graphicFrameLocks noChangeAspect="1"/>
            </p:cNvGraphicFramePr>
            <p:nvPr/>
          </p:nvGraphicFramePr>
          <p:xfrm>
            <a:off x="1833" y="1089"/>
            <a:ext cx="27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6" r:id="rId31" imgW="152453" imgH="177809" progId="Equation.3">
                    <p:embed/>
                  </p:oleObj>
                </mc:Choice>
                <mc:Fallback>
                  <p:oleObj r:id="rId31" imgW="152453" imgH="177809" progId="Equation.3">
                    <p:embed/>
                    <p:pic>
                      <p:nvPicPr>
                        <p:cNvPr id="66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3" y="1089"/>
                          <a:ext cx="27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Line 20"/>
            <p:cNvSpPr>
              <a:spLocks noChangeShapeType="1"/>
            </p:cNvSpPr>
            <p:nvPr/>
          </p:nvSpPr>
          <p:spPr bwMode="auto">
            <a:xfrm>
              <a:off x="932" y="678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4" name="Line 21"/>
            <p:cNvSpPr>
              <a:spLocks noChangeShapeType="1"/>
            </p:cNvSpPr>
            <p:nvPr/>
          </p:nvSpPr>
          <p:spPr bwMode="auto">
            <a:xfrm>
              <a:off x="2446" y="670"/>
              <a:ext cx="3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5" name="Freeform 22"/>
            <p:cNvSpPr>
              <a:spLocks/>
            </p:cNvSpPr>
            <p:nvPr/>
          </p:nvSpPr>
          <p:spPr bwMode="auto">
            <a:xfrm>
              <a:off x="1260" y="907"/>
              <a:ext cx="245" cy="96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72549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1905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6" name="Rectangle 23"/>
            <p:cNvSpPr>
              <a:spLocks noChangeArrowheads="1"/>
            </p:cNvSpPr>
            <p:nvPr/>
          </p:nvSpPr>
          <p:spPr bwMode="auto">
            <a:xfrm>
              <a:off x="944" y="907"/>
              <a:ext cx="350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8824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5400000" scaled="1"/>
            </a:gradFill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77" name="Group 24"/>
            <p:cNvGrpSpPr>
              <a:grpSpLocks/>
            </p:cNvGrpSpPr>
            <p:nvPr/>
          </p:nvGrpSpPr>
          <p:grpSpPr bwMode="auto">
            <a:xfrm>
              <a:off x="769" y="875"/>
              <a:ext cx="315" cy="160"/>
              <a:chOff x="0" y="0"/>
              <a:chExt cx="432" cy="240"/>
            </a:xfrm>
          </p:grpSpPr>
          <p:sp>
            <p:nvSpPr>
              <p:cNvPr id="135" name="AutoShape 25"/>
              <p:cNvSpPr>
                <a:spLocks noChangeArrowheads="1"/>
              </p:cNvSpPr>
              <p:nvPr/>
            </p:nvSpPr>
            <p:spPr bwMode="auto">
              <a:xfrm flipH="1">
                <a:off x="0" y="144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36" name="AutoShape 26"/>
              <p:cNvSpPr>
                <a:spLocks noChangeArrowheads="1"/>
              </p:cNvSpPr>
              <p:nvPr/>
            </p:nvSpPr>
            <p:spPr bwMode="auto">
              <a:xfrm>
                <a:off x="0" y="192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37" name="AutoShape 27"/>
              <p:cNvSpPr>
                <a:spLocks noChangeArrowheads="1"/>
              </p:cNvSpPr>
              <p:nvPr/>
            </p:nvSpPr>
            <p:spPr bwMode="auto">
              <a:xfrm flipH="1">
                <a:off x="0" y="0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38" name="AutoShape 28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432" cy="48"/>
              </a:xfrm>
              <a:prstGeom prst="parallelogram">
                <a:avLst>
                  <a:gd name="adj" fmla="val 377083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sp>
          <p:nvSpPr>
            <p:cNvPr id="78" name="Freeform 29"/>
            <p:cNvSpPr>
              <a:spLocks/>
            </p:cNvSpPr>
            <p:nvPr/>
          </p:nvSpPr>
          <p:spPr bwMode="auto">
            <a:xfrm>
              <a:off x="2446" y="915"/>
              <a:ext cx="246" cy="97"/>
            </a:xfrm>
            <a:custGeom>
              <a:avLst/>
              <a:gdLst/>
              <a:ahLst/>
              <a:cxnLst>
                <a:cxn ang="0">
                  <a:pos x="105" y="44"/>
                </a:cxn>
                <a:cxn ang="0">
                  <a:pos x="713" y="31"/>
                </a:cxn>
                <a:cxn ang="0">
                  <a:pos x="943" y="94"/>
                </a:cxn>
                <a:cxn ang="0">
                  <a:pos x="1164" y="250"/>
                </a:cxn>
                <a:cxn ang="0">
                  <a:pos x="973" y="441"/>
                </a:cxn>
                <a:cxn ang="0">
                  <a:pos x="694" y="529"/>
                </a:cxn>
                <a:cxn ang="0">
                  <a:pos x="116" y="541"/>
                </a:cxn>
                <a:cxn ang="0">
                  <a:pos x="82" y="292"/>
                </a:cxn>
                <a:cxn ang="0">
                  <a:pos x="105" y="44"/>
                </a:cxn>
              </a:cxnLst>
              <a:rect l="0" t="0" r="r" b="b"/>
              <a:pathLst>
                <a:path w="1169" h="580">
                  <a:moveTo>
                    <a:pt x="105" y="44"/>
                  </a:moveTo>
                  <a:cubicBezTo>
                    <a:pt x="210" y="0"/>
                    <a:pt x="573" y="23"/>
                    <a:pt x="713" y="31"/>
                  </a:cubicBezTo>
                  <a:cubicBezTo>
                    <a:pt x="853" y="39"/>
                    <a:pt x="868" y="58"/>
                    <a:pt x="943" y="94"/>
                  </a:cubicBezTo>
                  <a:cubicBezTo>
                    <a:pt x="1018" y="131"/>
                    <a:pt x="1158" y="193"/>
                    <a:pt x="1164" y="250"/>
                  </a:cubicBezTo>
                  <a:cubicBezTo>
                    <a:pt x="1169" y="307"/>
                    <a:pt x="1051" y="394"/>
                    <a:pt x="973" y="441"/>
                  </a:cubicBezTo>
                  <a:cubicBezTo>
                    <a:pt x="895" y="487"/>
                    <a:pt x="837" y="512"/>
                    <a:pt x="694" y="529"/>
                  </a:cubicBezTo>
                  <a:cubicBezTo>
                    <a:pt x="551" y="546"/>
                    <a:pt x="218" y="580"/>
                    <a:pt x="116" y="541"/>
                  </a:cubicBezTo>
                  <a:cubicBezTo>
                    <a:pt x="14" y="502"/>
                    <a:pt x="84" y="375"/>
                    <a:pt x="82" y="292"/>
                  </a:cubicBezTo>
                  <a:cubicBezTo>
                    <a:pt x="80" y="209"/>
                    <a:pt x="0" y="88"/>
                    <a:pt x="105" y="4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pSp>
          <p:nvGrpSpPr>
            <p:cNvPr id="79" name="Group 30"/>
            <p:cNvGrpSpPr>
              <a:grpSpLocks/>
            </p:cNvGrpSpPr>
            <p:nvPr/>
          </p:nvGrpSpPr>
          <p:grpSpPr bwMode="auto">
            <a:xfrm>
              <a:off x="1628" y="875"/>
              <a:ext cx="525" cy="160"/>
              <a:chOff x="0" y="0"/>
              <a:chExt cx="720" cy="240"/>
            </a:xfrm>
          </p:grpSpPr>
          <p:sp>
            <p:nvSpPr>
              <p:cNvPr id="84" name="Rectangle 31"/>
              <p:cNvSpPr>
                <a:spLocks noChangeArrowheads="1"/>
              </p:cNvSpPr>
              <p:nvPr/>
            </p:nvSpPr>
            <p:spPr bwMode="auto">
              <a:xfrm>
                <a:off x="240" y="48"/>
                <a:ext cx="480" cy="144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pSp>
            <p:nvGrpSpPr>
              <p:cNvPr id="85" name="Group 32"/>
              <p:cNvGrpSpPr>
                <a:grpSpLocks/>
              </p:cNvGrpSpPr>
              <p:nvPr/>
            </p:nvGrpSpPr>
            <p:grpSpPr bwMode="auto">
              <a:xfrm>
                <a:off x="0" y="0"/>
                <a:ext cx="432" cy="240"/>
                <a:chOff x="0" y="0"/>
                <a:chExt cx="432" cy="240"/>
              </a:xfrm>
            </p:grpSpPr>
            <p:sp>
              <p:nvSpPr>
                <p:cNvPr id="86" name="AutoShape 33"/>
                <p:cNvSpPr>
                  <a:spLocks noChangeArrowheads="1"/>
                </p:cNvSpPr>
                <p:nvPr/>
              </p:nvSpPr>
              <p:spPr bwMode="auto">
                <a:xfrm flipH="1">
                  <a:off x="0" y="144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132" name="AutoShape 34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133" name="AutoShape 35"/>
                <p:cNvSpPr>
                  <a:spLocks noChangeArrowheads="1"/>
                </p:cNvSpPr>
                <p:nvPr/>
              </p:nvSpPr>
              <p:spPr bwMode="auto">
                <a:xfrm flipH="1">
                  <a:off x="0" y="0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134" name="AutoShape 36"/>
                <p:cNvSpPr>
                  <a:spLocks noChangeArrowheads="1"/>
                </p:cNvSpPr>
                <p:nvPr/>
              </p:nvSpPr>
              <p:spPr bwMode="auto">
                <a:xfrm>
                  <a:off x="0" y="48"/>
                  <a:ext cx="432" cy="48"/>
                </a:xfrm>
                <a:prstGeom prst="parallelogram">
                  <a:avLst>
                    <a:gd name="adj" fmla="val 377083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800"/>
                </a:p>
              </p:txBody>
            </p:sp>
          </p:grpSp>
        </p:grpSp>
        <p:graphicFrame>
          <p:nvGraphicFramePr>
            <p:cNvPr id="80" name="Object 37"/>
            <p:cNvGraphicFramePr>
              <a:graphicFrameLocks noChangeAspect="1"/>
            </p:cNvGraphicFramePr>
            <p:nvPr/>
          </p:nvGraphicFramePr>
          <p:xfrm>
            <a:off x="1014" y="379"/>
            <a:ext cx="24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7" r:id="rId33" imgW="127042" imgH="177732" progId="Equation.3">
                    <p:embed/>
                  </p:oleObj>
                </mc:Choice>
                <mc:Fallback>
                  <p:oleObj r:id="rId33" imgW="127042" imgH="177732" progId="Equation.3">
                    <p:embed/>
                    <p:pic>
                      <p:nvPicPr>
                        <p:cNvPr id="74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379"/>
                          <a:ext cx="242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38"/>
            <p:cNvGraphicFramePr>
              <a:graphicFrameLocks noChangeAspect="1"/>
            </p:cNvGraphicFramePr>
            <p:nvPr/>
          </p:nvGraphicFramePr>
          <p:xfrm>
            <a:off x="2487" y="331"/>
            <a:ext cx="3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8" r:id="rId35" imgW="165131" imgH="177809" progId="Equation.3">
                    <p:embed/>
                  </p:oleObj>
                </mc:Choice>
                <mc:Fallback>
                  <p:oleObj r:id="rId35" imgW="165131" imgH="177809" progId="Equation.3">
                    <p:embed/>
                    <p:pic>
                      <p:nvPicPr>
                        <p:cNvPr id="75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331"/>
                          <a:ext cx="307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39"/>
            <p:cNvGraphicFramePr>
              <a:graphicFrameLocks noChangeAspect="1"/>
            </p:cNvGraphicFramePr>
            <p:nvPr/>
          </p:nvGraphicFramePr>
          <p:xfrm>
            <a:off x="2501" y="616"/>
            <a:ext cx="32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39" r:id="rId37" imgW="190569" imgH="215936" progId="Equation.3">
                    <p:embed/>
                  </p:oleObj>
                </mc:Choice>
                <mc:Fallback>
                  <p:oleObj r:id="rId37" imgW="190569" imgH="215936" progId="Equation.3">
                    <p:embed/>
                    <p:pic>
                      <p:nvPicPr>
                        <p:cNvPr id="76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1" y="616"/>
                          <a:ext cx="32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Object 40"/>
            <p:cNvGraphicFramePr>
              <a:graphicFrameLocks noChangeAspect="1"/>
            </p:cNvGraphicFramePr>
            <p:nvPr/>
          </p:nvGraphicFramePr>
          <p:xfrm>
            <a:off x="1974" y="660"/>
            <a:ext cx="30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440" r:id="rId39" imgW="203253" imgH="215936" progId="Equation.3">
                    <p:embed/>
                  </p:oleObj>
                </mc:Choice>
                <mc:Fallback>
                  <p:oleObj r:id="rId39" imgW="203253" imgH="215936" progId="Equation.3">
                    <p:embed/>
                    <p:pic>
                      <p:nvPicPr>
                        <p:cNvPr id="77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" y="660"/>
                          <a:ext cx="30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CF0F9-A4C6-40D9-8178-85C422720812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46099" name="Text Box 19"/>
          <p:cNvSpPr txBox="1">
            <a:spLocks noChangeArrowheads="1"/>
          </p:cNvSpPr>
          <p:nvPr/>
        </p:nvSpPr>
        <p:spPr bwMode="auto">
          <a:xfrm>
            <a:off x="3555445" y="238126"/>
            <a:ext cx="248483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kumimoji="1" lang="zh-CN" altLang="en-US" sz="2100" b="1">
                <a:ea typeface="华文中宋" pitchFamily="2" charset="-122"/>
              </a:rPr>
              <a:t>3.4   动能定理   </a:t>
            </a:r>
          </a:p>
        </p:txBody>
      </p:sp>
      <p:pic>
        <p:nvPicPr>
          <p:cNvPr id="3" name="刹车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59518" y="706993"/>
            <a:ext cx="5509022" cy="2424209"/>
          </a:xfrm>
          <a:prstGeom prst="rect">
            <a:avLst/>
          </a:prstGeom>
        </p:spPr>
      </p:pic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1661400" y="3480658"/>
            <a:ext cx="631340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100" b="1">
                <a:latin typeface="Arial" charset="0"/>
              </a:rPr>
              <a:t>从</a:t>
            </a:r>
            <a:r>
              <a:rPr lang="zh-CN" altLang="en-US" sz="2100" b="1">
                <a:solidFill>
                  <a:srgbClr val="C00000"/>
                </a:solidFill>
                <a:latin typeface="Arial" charset="0"/>
              </a:rPr>
              <a:t>时间</a:t>
            </a:r>
            <a:r>
              <a:rPr lang="zh-CN" altLang="en-US" sz="2100" b="1">
                <a:latin typeface="Arial" charset="0"/>
              </a:rPr>
              <a:t>角度看：阻力作用一段时间，汽车</a:t>
            </a:r>
            <a:r>
              <a:rPr lang="zh-CN" altLang="en-US" sz="2100" b="1">
                <a:solidFill>
                  <a:srgbClr val="C00000"/>
                </a:solidFill>
                <a:latin typeface="Arial" charset="0"/>
              </a:rPr>
              <a:t>失去动量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1661399" y="4100133"/>
            <a:ext cx="583668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100" b="1">
                <a:latin typeface="Arial" charset="0"/>
              </a:rPr>
              <a:t>从</a:t>
            </a:r>
            <a:r>
              <a:rPr lang="zh-CN" altLang="en-US" sz="2100" b="1">
                <a:solidFill>
                  <a:srgbClr val="C00000"/>
                </a:solidFill>
                <a:latin typeface="Arial" charset="0"/>
              </a:rPr>
              <a:t>空间</a:t>
            </a:r>
            <a:r>
              <a:rPr lang="zh-CN" altLang="en-US" sz="2100" b="1">
                <a:latin typeface="Arial" charset="0"/>
              </a:rPr>
              <a:t>角度看：阻力做负功，汽车</a:t>
            </a:r>
            <a:r>
              <a:rPr lang="zh-CN" altLang="en-US" sz="2100" b="1">
                <a:solidFill>
                  <a:srgbClr val="C00000"/>
                </a:solidFill>
                <a:latin typeface="Arial" charset="0"/>
              </a:rPr>
              <a:t>失去动能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CF0F9-A4C6-40D9-8178-85C422720812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579835" y="675087"/>
            <a:ext cx="1324402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Arial" charset="0"/>
              </a:rPr>
              <a:t>一、功</a:t>
            </a:r>
            <a:r>
              <a:rPr lang="zh-CN" altLang="en-US" sz="2700">
                <a:solidFill>
                  <a:srgbClr val="CC0000"/>
                </a:solidFill>
                <a:latin typeface="Arial" charset="0"/>
              </a:rPr>
              <a:t> 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1013221" y="1393659"/>
            <a:ext cx="32944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CC0000"/>
                </a:solidFill>
              </a:rPr>
              <a:t>1</a:t>
            </a:r>
            <a:r>
              <a:rPr lang="en-US" altLang="zh-CN" b="1">
                <a:solidFill>
                  <a:srgbClr val="C00000"/>
                </a:solidFill>
                <a:latin typeface="Arial" charset="0"/>
              </a:rPr>
              <a:t>.</a:t>
            </a:r>
            <a:r>
              <a:rPr lang="zh-CN" altLang="en-US" b="1">
                <a:latin typeface="Arial" charset="0"/>
              </a:rPr>
              <a:t>恒力作用下的功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487831"/>
              </p:ext>
            </p:extLst>
          </p:nvPr>
        </p:nvGraphicFramePr>
        <p:xfrm>
          <a:off x="3977879" y="1388034"/>
          <a:ext cx="3798094" cy="583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94" name="Equation" r:id="rId3" imgW="1587240" imgH="253800" progId="Equation.DSMT4">
                  <p:embed/>
                </p:oleObj>
              </mc:Choice>
              <mc:Fallback>
                <p:oleObj name="Equation" r:id="rId3" imgW="1587240" imgH="253800" progId="Equation.DSMT4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7879" y="1388034"/>
                        <a:ext cx="3798094" cy="5834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168255" y="2638425"/>
            <a:ext cx="3284087" cy="1500188"/>
            <a:chOff x="3168255" y="2847977"/>
            <a:chExt cx="2825353" cy="1290636"/>
          </a:xfrm>
        </p:grpSpPr>
        <p:sp>
          <p:nvSpPr>
            <p:cNvPr id="46085" name="Rectangle 5"/>
            <p:cNvSpPr>
              <a:spLocks noChangeArrowheads="1"/>
            </p:cNvSpPr>
            <p:nvPr/>
          </p:nvSpPr>
          <p:spPr bwMode="auto">
            <a:xfrm>
              <a:off x="5166122" y="3156347"/>
              <a:ext cx="485775" cy="43219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86" name="Line 6"/>
            <p:cNvSpPr>
              <a:spLocks noChangeShapeType="1"/>
            </p:cNvSpPr>
            <p:nvPr/>
          </p:nvSpPr>
          <p:spPr bwMode="auto">
            <a:xfrm>
              <a:off x="3168255" y="3599260"/>
              <a:ext cx="28253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87" name="Line 7"/>
            <p:cNvSpPr>
              <a:spLocks noChangeShapeType="1"/>
            </p:cNvSpPr>
            <p:nvPr/>
          </p:nvSpPr>
          <p:spPr bwMode="auto">
            <a:xfrm>
              <a:off x="5412581" y="3381375"/>
              <a:ext cx="0" cy="7572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88" name="Line 8"/>
            <p:cNvSpPr>
              <a:spLocks noChangeShapeType="1"/>
            </p:cNvSpPr>
            <p:nvPr/>
          </p:nvSpPr>
          <p:spPr bwMode="auto">
            <a:xfrm>
              <a:off x="3736183" y="4030266"/>
              <a:ext cx="16847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89" name="Rectangle 9" descr="深色上对角线"/>
            <p:cNvSpPr>
              <a:spLocks noChangeArrowheads="1"/>
            </p:cNvSpPr>
            <p:nvPr/>
          </p:nvSpPr>
          <p:spPr bwMode="auto">
            <a:xfrm>
              <a:off x="3168255" y="3611168"/>
              <a:ext cx="2807494" cy="107156"/>
            </a:xfrm>
            <a:prstGeom prst="rect">
              <a:avLst/>
            </a:prstGeom>
            <a:blipFill dpi="0" rotWithShape="0">
              <a:blip r:embed="rId5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90" name="Rectangle 10"/>
            <p:cNvSpPr>
              <a:spLocks noChangeArrowheads="1"/>
            </p:cNvSpPr>
            <p:nvPr/>
          </p:nvSpPr>
          <p:spPr bwMode="auto">
            <a:xfrm>
              <a:off x="3492104" y="3156347"/>
              <a:ext cx="485775" cy="43219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 flipV="1">
              <a:off x="3729039" y="3026569"/>
              <a:ext cx="627460" cy="36195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92" name="Line 12"/>
            <p:cNvSpPr>
              <a:spLocks noChangeShapeType="1"/>
            </p:cNvSpPr>
            <p:nvPr/>
          </p:nvSpPr>
          <p:spPr bwMode="auto">
            <a:xfrm>
              <a:off x="3740944" y="3373041"/>
              <a:ext cx="0" cy="7572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6093" name="Line 13"/>
            <p:cNvSpPr>
              <a:spLocks noChangeShapeType="1"/>
            </p:cNvSpPr>
            <p:nvPr/>
          </p:nvSpPr>
          <p:spPr bwMode="auto">
            <a:xfrm>
              <a:off x="3740944" y="3382566"/>
              <a:ext cx="11334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4609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2861733"/>
                </p:ext>
              </p:extLst>
            </p:nvPr>
          </p:nvGraphicFramePr>
          <p:xfrm>
            <a:off x="4106468" y="3092055"/>
            <a:ext cx="221456" cy="3119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95" r:id="rId6" imgW="127042" imgH="177732" progId="Equation.3">
                    <p:embed/>
                  </p:oleObj>
                </mc:Choice>
                <mc:Fallback>
                  <p:oleObj r:id="rId6" imgW="127042" imgH="177732" progId="Equation.3">
                    <p:embed/>
                    <p:pic>
                      <p:nvPicPr>
                        <p:cNvPr id="4609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6468" y="3092055"/>
                          <a:ext cx="221456" cy="3119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841524"/>
                </p:ext>
              </p:extLst>
            </p:nvPr>
          </p:nvGraphicFramePr>
          <p:xfrm>
            <a:off x="4323160" y="3677841"/>
            <a:ext cx="46077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96" r:id="rId8" imgW="215936" imgH="165202" progId="Equation.3">
                    <p:embed/>
                  </p:oleObj>
                </mc:Choice>
                <mc:Fallback>
                  <p:oleObj r:id="rId8" imgW="215936" imgH="165202" progId="Equation.3">
                    <p:embed/>
                    <p:pic>
                      <p:nvPicPr>
                        <p:cNvPr id="4609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3160" y="3677841"/>
                          <a:ext cx="460772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6" name="Freeform 16"/>
            <p:cNvSpPr>
              <a:spLocks/>
            </p:cNvSpPr>
            <p:nvPr/>
          </p:nvSpPr>
          <p:spPr bwMode="auto">
            <a:xfrm>
              <a:off x="4052890" y="3219450"/>
              <a:ext cx="32147" cy="1583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9"/>
                </a:cxn>
                <a:cxn ang="0">
                  <a:pos x="15" y="133"/>
                </a:cxn>
              </a:cxnLst>
              <a:rect l="0" t="0" r="r" b="b"/>
              <a:pathLst>
                <a:path w="27" h="133">
                  <a:moveTo>
                    <a:pt x="0" y="0"/>
                  </a:moveTo>
                  <a:cubicBezTo>
                    <a:pt x="4" y="10"/>
                    <a:pt x="21" y="37"/>
                    <a:pt x="24" y="59"/>
                  </a:cubicBezTo>
                  <a:cubicBezTo>
                    <a:pt x="27" y="81"/>
                    <a:pt x="17" y="118"/>
                    <a:pt x="15" y="133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4609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760773"/>
                </p:ext>
              </p:extLst>
            </p:nvPr>
          </p:nvGraphicFramePr>
          <p:xfrm>
            <a:off x="4368403" y="2847977"/>
            <a:ext cx="328613" cy="3798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97" r:id="rId10" imgW="165202" imgH="190569" progId="Equation.3">
                    <p:embed/>
                  </p:oleObj>
                </mc:Choice>
                <mc:Fallback>
                  <p:oleObj r:id="rId10" imgW="165202" imgH="190569" progId="Equation.3">
                    <p:embed/>
                    <p:pic>
                      <p:nvPicPr>
                        <p:cNvPr id="4609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403" y="2847977"/>
                          <a:ext cx="328613" cy="3798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07991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621B3E-8156-4327-9A5C-91A67C8C7915}" type="slidenum">
              <a:rPr lang="zh-CN" altLang="en-US"/>
              <a:pPr/>
              <a:t>23</a:t>
            </a:fld>
            <a:endParaRPr lang="en-US" altLang="zh-CN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772009"/>
              </p:ext>
            </p:extLst>
          </p:nvPr>
        </p:nvGraphicFramePr>
        <p:xfrm>
          <a:off x="1650123" y="1146086"/>
          <a:ext cx="2552700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08" r:id="rId3" imgW="1066192" imgH="254097" progId="Equation.3">
                  <p:embed/>
                </p:oleObj>
              </mc:Choice>
              <mc:Fallback>
                <p:oleObj r:id="rId3" imgW="1066192" imgH="254097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123" y="1146086"/>
                        <a:ext cx="2552700" cy="5845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7" name="Group 3"/>
          <p:cNvGrpSpPr>
            <a:grpSpLocks/>
          </p:cNvGrpSpPr>
          <p:nvPr/>
        </p:nvGrpSpPr>
        <p:grpSpPr bwMode="auto">
          <a:xfrm>
            <a:off x="6411502" y="1297557"/>
            <a:ext cx="2168128" cy="2478881"/>
            <a:chOff x="3" y="87"/>
            <a:chExt cx="1821" cy="2082"/>
          </a:xfrm>
        </p:grpSpPr>
        <p:sp>
          <p:nvSpPr>
            <p:cNvPr id="47109" name="Freeform 5"/>
            <p:cNvSpPr>
              <a:spLocks/>
            </p:cNvSpPr>
            <p:nvPr/>
          </p:nvSpPr>
          <p:spPr bwMode="auto">
            <a:xfrm>
              <a:off x="304" y="364"/>
              <a:ext cx="1520" cy="1600"/>
            </a:xfrm>
            <a:custGeom>
              <a:avLst/>
              <a:gdLst/>
              <a:ahLst/>
              <a:cxnLst>
                <a:cxn ang="0">
                  <a:pos x="0" y="1600"/>
                </a:cxn>
                <a:cxn ang="0">
                  <a:pos x="72" y="1112"/>
                </a:cxn>
                <a:cxn ang="0">
                  <a:pos x="98" y="976"/>
                </a:cxn>
                <a:cxn ang="0">
                  <a:pos x="249" y="646"/>
                </a:cxn>
                <a:cxn ang="0">
                  <a:pos x="391" y="400"/>
                </a:cxn>
                <a:cxn ang="0">
                  <a:pos x="630" y="176"/>
                </a:cxn>
                <a:cxn ang="0">
                  <a:pos x="1146" y="22"/>
                </a:cxn>
                <a:cxn ang="0">
                  <a:pos x="1520" y="43"/>
                </a:cxn>
              </a:cxnLst>
              <a:rect l="0" t="0" r="r" b="b"/>
              <a:pathLst>
                <a:path w="1520" h="1600">
                  <a:moveTo>
                    <a:pt x="0" y="1600"/>
                  </a:moveTo>
                  <a:cubicBezTo>
                    <a:pt x="12" y="1519"/>
                    <a:pt x="56" y="1216"/>
                    <a:pt x="72" y="1112"/>
                  </a:cubicBezTo>
                  <a:cubicBezTo>
                    <a:pt x="88" y="1008"/>
                    <a:pt x="69" y="1054"/>
                    <a:pt x="98" y="976"/>
                  </a:cubicBezTo>
                  <a:cubicBezTo>
                    <a:pt x="127" y="898"/>
                    <a:pt x="200" y="742"/>
                    <a:pt x="249" y="646"/>
                  </a:cubicBezTo>
                  <a:cubicBezTo>
                    <a:pt x="298" y="550"/>
                    <a:pt x="327" y="478"/>
                    <a:pt x="391" y="400"/>
                  </a:cubicBezTo>
                  <a:cubicBezTo>
                    <a:pt x="455" y="322"/>
                    <a:pt x="504" y="239"/>
                    <a:pt x="630" y="176"/>
                  </a:cubicBezTo>
                  <a:cubicBezTo>
                    <a:pt x="756" y="113"/>
                    <a:pt x="998" y="44"/>
                    <a:pt x="1146" y="22"/>
                  </a:cubicBezTo>
                  <a:cubicBezTo>
                    <a:pt x="1294" y="0"/>
                    <a:pt x="1442" y="39"/>
                    <a:pt x="1520" y="43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ys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110" name="Line 6"/>
            <p:cNvSpPr>
              <a:spLocks noChangeShapeType="1"/>
            </p:cNvSpPr>
            <p:nvPr/>
          </p:nvSpPr>
          <p:spPr bwMode="auto">
            <a:xfrm>
              <a:off x="424" y="1292"/>
              <a:ext cx="652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111" name="Line 7"/>
            <p:cNvSpPr>
              <a:spLocks noChangeShapeType="1"/>
            </p:cNvSpPr>
            <p:nvPr/>
          </p:nvSpPr>
          <p:spPr bwMode="auto">
            <a:xfrm rot="21199633" flipV="1">
              <a:off x="384" y="1004"/>
              <a:ext cx="130" cy="288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7112" name="Object 8"/>
            <p:cNvGraphicFramePr>
              <a:graphicFrameLocks noChangeAspect="1"/>
            </p:cNvGraphicFramePr>
            <p:nvPr/>
          </p:nvGraphicFramePr>
          <p:xfrm>
            <a:off x="1030" y="1128"/>
            <a:ext cx="286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09" r:id="rId5" imgW="127042" imgH="152387" progId="Equation.3">
                    <p:embed/>
                  </p:oleObj>
                </mc:Choice>
                <mc:Fallback>
                  <p:oleObj r:id="rId5" imgW="127042" imgH="152387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1128"/>
                          <a:ext cx="286" cy="3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3" name="Object 9"/>
            <p:cNvGraphicFramePr>
              <a:graphicFrameLocks noChangeAspect="1"/>
            </p:cNvGraphicFramePr>
            <p:nvPr/>
          </p:nvGraphicFramePr>
          <p:xfrm>
            <a:off x="153" y="904"/>
            <a:ext cx="26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0" r:id="rId7" imgW="203165" imgH="177809" progId="Equation.3">
                    <p:embed/>
                  </p:oleObj>
                </mc:Choice>
                <mc:Fallback>
                  <p:oleObj r:id="rId7" imgW="203165" imgH="177809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" y="904"/>
                          <a:ext cx="266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4" name="Arc 10"/>
            <p:cNvSpPr>
              <a:spLocks/>
            </p:cNvSpPr>
            <p:nvPr/>
          </p:nvSpPr>
          <p:spPr bwMode="auto">
            <a:xfrm>
              <a:off x="468" y="1115"/>
              <a:ext cx="130" cy="180"/>
            </a:xfrm>
            <a:custGeom>
              <a:avLst/>
              <a:gdLst>
                <a:gd name="G0" fmla="+- 0 0 0"/>
                <a:gd name="G1" fmla="+- 20168 0 0"/>
                <a:gd name="G2" fmla="+- 21600 0 0"/>
                <a:gd name="T0" fmla="*/ 7735 w 21600"/>
                <a:gd name="T1" fmla="*/ 0 h 20168"/>
                <a:gd name="T2" fmla="*/ 21600 w 21600"/>
                <a:gd name="T3" fmla="*/ 20168 h 20168"/>
                <a:gd name="T4" fmla="*/ 0 w 21600"/>
                <a:gd name="T5" fmla="*/ 20168 h 20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168" fill="none" extrusionOk="0">
                  <a:moveTo>
                    <a:pt x="7734" y="0"/>
                  </a:moveTo>
                  <a:cubicBezTo>
                    <a:pt x="16086" y="3203"/>
                    <a:pt x="21600" y="11223"/>
                    <a:pt x="21600" y="20168"/>
                  </a:cubicBezTo>
                </a:path>
                <a:path w="21600" h="20168" stroke="0" extrusionOk="0">
                  <a:moveTo>
                    <a:pt x="7734" y="0"/>
                  </a:moveTo>
                  <a:cubicBezTo>
                    <a:pt x="16086" y="3203"/>
                    <a:pt x="21600" y="11223"/>
                    <a:pt x="21600" y="20168"/>
                  </a:cubicBezTo>
                  <a:lnTo>
                    <a:pt x="0" y="20168"/>
                  </a:lnTo>
                  <a:close/>
                </a:path>
              </a:pathLst>
            </a:custGeom>
            <a:noFill/>
            <a:ln w="28575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7115" name="Object 11"/>
            <p:cNvGraphicFramePr>
              <a:graphicFrameLocks noChangeAspect="1"/>
            </p:cNvGraphicFramePr>
            <p:nvPr/>
          </p:nvGraphicFramePr>
          <p:xfrm>
            <a:off x="555" y="1023"/>
            <a:ext cx="21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1" r:id="rId9" imgW="101829" imgH="139896" progId="Equation.3">
                    <p:embed/>
                  </p:oleObj>
                </mc:Choice>
                <mc:Fallback>
                  <p:oleObj r:id="rId9" imgW="101829" imgH="139896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" y="1023"/>
                          <a:ext cx="214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6" name="Line 12"/>
            <p:cNvSpPr>
              <a:spLocks noChangeShapeType="1"/>
            </p:cNvSpPr>
            <p:nvPr/>
          </p:nvSpPr>
          <p:spPr bwMode="auto">
            <a:xfrm flipV="1">
              <a:off x="294" y="1676"/>
              <a:ext cx="347" cy="144"/>
            </a:xfrm>
            <a:prstGeom prst="line">
              <a:avLst/>
            </a:prstGeom>
            <a:noFill/>
            <a:ln w="34925">
              <a:solidFill>
                <a:srgbClr val="FF66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117" name="Line 13"/>
            <p:cNvSpPr>
              <a:spLocks noChangeShapeType="1"/>
            </p:cNvSpPr>
            <p:nvPr/>
          </p:nvSpPr>
          <p:spPr bwMode="auto">
            <a:xfrm>
              <a:off x="955" y="524"/>
              <a:ext cx="478" cy="432"/>
            </a:xfrm>
            <a:prstGeom prst="line">
              <a:avLst/>
            </a:prstGeom>
            <a:noFill/>
            <a:ln w="34925">
              <a:solidFill>
                <a:srgbClr val="CC0099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118" name="Line 14"/>
            <p:cNvSpPr>
              <a:spLocks noChangeShapeType="1"/>
            </p:cNvSpPr>
            <p:nvPr/>
          </p:nvSpPr>
          <p:spPr bwMode="auto">
            <a:xfrm rot="20890679" flipV="1">
              <a:off x="283" y="1532"/>
              <a:ext cx="53" cy="288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 flipV="1">
              <a:off x="955" y="380"/>
              <a:ext cx="261" cy="144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7120" name="Object 16"/>
            <p:cNvGraphicFramePr>
              <a:graphicFrameLocks noChangeAspect="1"/>
            </p:cNvGraphicFramePr>
            <p:nvPr/>
          </p:nvGraphicFramePr>
          <p:xfrm>
            <a:off x="1415" y="765"/>
            <a:ext cx="263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2" r:id="rId11" imgW="127042" imgH="190404" progId="Equation.3">
                    <p:embed/>
                  </p:oleObj>
                </mc:Choice>
                <mc:Fallback>
                  <p:oleObj r:id="rId11" imgW="127042" imgH="190404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5" y="765"/>
                          <a:ext cx="263" cy="4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1" name="Object 17"/>
            <p:cNvGraphicFramePr>
              <a:graphicFrameLocks noChangeAspect="1"/>
            </p:cNvGraphicFramePr>
            <p:nvPr/>
          </p:nvGraphicFramePr>
          <p:xfrm>
            <a:off x="3" y="1448"/>
            <a:ext cx="301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3" r:id="rId13" imgW="203253" imgH="215936" progId="Equation.3">
                    <p:embed/>
                  </p:oleObj>
                </mc:Choice>
                <mc:Fallback>
                  <p:oleObj r:id="rId13" imgW="203253" imgH="215936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" y="1448"/>
                          <a:ext cx="301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2" name="Object 18"/>
            <p:cNvGraphicFramePr>
              <a:graphicFrameLocks noChangeAspect="1"/>
            </p:cNvGraphicFramePr>
            <p:nvPr/>
          </p:nvGraphicFramePr>
          <p:xfrm>
            <a:off x="732" y="87"/>
            <a:ext cx="262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4" r:id="rId15" imgW="203341" imgH="228719" progId="Equation.3">
                    <p:embed/>
                  </p:oleObj>
                </mc:Choice>
                <mc:Fallback>
                  <p:oleObj r:id="rId15" imgW="203341" imgH="228719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2" y="87"/>
                          <a:ext cx="262" cy="3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3" name="Text Box 19"/>
            <p:cNvSpPr txBox="1">
              <a:spLocks noChangeArrowheads="1"/>
            </p:cNvSpPr>
            <p:nvPr/>
          </p:nvSpPr>
          <p:spPr bwMode="auto">
            <a:xfrm>
              <a:off x="1296" y="101"/>
              <a:ext cx="30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i="1">
                  <a:solidFill>
                    <a:srgbClr val="A50021"/>
                  </a:solidFill>
                </a:rPr>
                <a:t>B</a:t>
              </a:r>
              <a:endParaRPr lang="en-US" altLang="zh-CN" sz="2100" i="1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H="1" flipV="1">
              <a:off x="555" y="1004"/>
              <a:ext cx="477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7125" name="Text Box 21"/>
            <p:cNvSpPr txBox="1">
              <a:spLocks noChangeArrowheads="1"/>
            </p:cNvSpPr>
            <p:nvPr/>
          </p:nvSpPr>
          <p:spPr bwMode="auto">
            <a:xfrm>
              <a:off x="1216" y="284"/>
              <a:ext cx="391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/>
                <a:t>*</a:t>
              </a:r>
            </a:p>
          </p:txBody>
        </p:sp>
        <p:sp>
          <p:nvSpPr>
            <p:cNvPr id="47126" name="Text Box 22"/>
            <p:cNvSpPr txBox="1">
              <a:spLocks noChangeArrowheads="1"/>
            </p:cNvSpPr>
            <p:nvPr/>
          </p:nvSpPr>
          <p:spPr bwMode="auto">
            <a:xfrm>
              <a:off x="174" y="1724"/>
              <a:ext cx="26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/>
                <a:t>*</a:t>
              </a:r>
            </a:p>
          </p:txBody>
        </p:sp>
        <p:graphicFrame>
          <p:nvGraphicFramePr>
            <p:cNvPr id="47127" name="Object 23"/>
            <p:cNvGraphicFramePr>
              <a:graphicFrameLocks noChangeAspect="1"/>
            </p:cNvGraphicFramePr>
            <p:nvPr/>
          </p:nvGraphicFramePr>
          <p:xfrm>
            <a:off x="1117" y="429"/>
            <a:ext cx="18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5" r:id="rId17" imgW="203341" imgH="330231" progId="Equation.3">
                    <p:embed/>
                  </p:oleObj>
                </mc:Choice>
                <mc:Fallback>
                  <p:oleObj r:id="rId17" imgW="203341" imgH="330231" progId="Equation.3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" y="429"/>
                          <a:ext cx="18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8" name="Object 24"/>
            <p:cNvGraphicFramePr>
              <a:graphicFrameLocks noChangeAspect="1"/>
            </p:cNvGraphicFramePr>
            <p:nvPr/>
          </p:nvGraphicFramePr>
          <p:xfrm>
            <a:off x="363" y="1436"/>
            <a:ext cx="18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6" r:id="rId19" imgW="215936" imgH="317404" progId="Equation.3">
                    <p:embed/>
                  </p:oleObj>
                </mc:Choice>
                <mc:Fallback>
                  <p:oleObj r:id="rId19" imgW="215936" imgH="317404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1436"/>
                          <a:ext cx="18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9" name="Text Box 25"/>
            <p:cNvSpPr txBox="1">
              <a:spLocks noChangeArrowheads="1"/>
            </p:cNvSpPr>
            <p:nvPr/>
          </p:nvSpPr>
          <p:spPr bwMode="auto">
            <a:xfrm>
              <a:off x="288" y="1820"/>
              <a:ext cx="24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i="1">
                  <a:solidFill>
                    <a:srgbClr val="A50021"/>
                  </a:solidFill>
                </a:rPr>
                <a:t>A</a:t>
              </a:r>
              <a:endParaRPr lang="en-US" altLang="zh-CN" sz="2100" i="1"/>
            </a:p>
          </p:txBody>
        </p:sp>
        <p:graphicFrame>
          <p:nvGraphicFramePr>
            <p:cNvPr id="47130" name="Object 26"/>
            <p:cNvGraphicFramePr>
              <a:graphicFrameLocks noChangeAspect="1"/>
            </p:cNvGraphicFramePr>
            <p:nvPr/>
          </p:nvGraphicFramePr>
          <p:xfrm>
            <a:off x="596" y="1491"/>
            <a:ext cx="311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017" r:id="rId21" imgW="127042" imgH="177732" progId="Equation.3">
                    <p:embed/>
                  </p:oleObj>
                </mc:Choice>
                <mc:Fallback>
                  <p:oleObj r:id="rId21" imgW="127042" imgH="177732" progId="Equation.3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" y="1491"/>
                          <a:ext cx="311" cy="4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1358673" y="424098"/>
            <a:ext cx="2114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</a:rPr>
              <a:t>2</a:t>
            </a:r>
            <a:r>
              <a:rPr lang="en-US" altLang="zh-CN" b="1">
                <a:solidFill>
                  <a:srgbClr val="C00000"/>
                </a:solidFill>
                <a:latin typeface="Arial" charset="0"/>
              </a:rPr>
              <a:t>.</a:t>
            </a:r>
            <a:r>
              <a:rPr lang="zh-CN" altLang="en-US" b="1">
                <a:latin typeface="Arial" charset="0"/>
              </a:rPr>
              <a:t>变力的功</a:t>
            </a:r>
          </a:p>
        </p:txBody>
      </p:sp>
      <p:graphicFrame>
        <p:nvGraphicFramePr>
          <p:cNvPr id="4713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865608"/>
              </p:ext>
            </p:extLst>
          </p:nvPr>
        </p:nvGraphicFramePr>
        <p:xfrm>
          <a:off x="4181052" y="1146939"/>
          <a:ext cx="1151335" cy="460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18" name="Equation" r:id="rId23" imgW="507960" imgH="203040" progId="Equation.DSMT4">
                  <p:embed/>
                </p:oleObj>
              </mc:Choice>
              <mc:Fallback>
                <p:oleObj name="Equation" r:id="rId23" imgW="507960" imgH="2030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052" y="1146939"/>
                        <a:ext cx="1151335" cy="4607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3" name="Object 29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10029923"/>
              </p:ext>
            </p:extLst>
          </p:nvPr>
        </p:nvGraphicFramePr>
        <p:xfrm>
          <a:off x="1856079" y="3646432"/>
          <a:ext cx="3746435" cy="72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19" r:id="rId25" imgW="1714073" imgH="330374" progId="Equation.3">
                  <p:embed/>
                </p:oleObj>
              </mc:Choice>
              <mc:Fallback>
                <p:oleObj r:id="rId25" imgW="1714073" imgH="330374" progId="Equation.3">
                  <p:embed/>
                  <p:pic>
                    <p:nvPicPr>
                      <p:cNvPr id="0" name="Picture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079" y="3646432"/>
                        <a:ext cx="3746435" cy="721999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ECFF"/>
                          </a:gs>
                          <a:gs pos="50000">
                            <a:schemeClr val="bg1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4" name="Object 30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10575676"/>
              </p:ext>
            </p:extLst>
          </p:nvPr>
        </p:nvGraphicFramePr>
        <p:xfrm>
          <a:off x="1650123" y="1985534"/>
          <a:ext cx="1296591" cy="498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20" name="Equation" r:id="rId27" imgW="660240" imgH="253800" progId="Equation.DSMT4">
                  <p:embed/>
                </p:oleObj>
              </mc:Choice>
              <mc:Fallback>
                <p:oleObj name="Equation" r:id="rId27" imgW="660240" imgH="253800" progId="Equation.DSMT4">
                  <p:embed/>
                  <p:pic>
                    <p:nvPicPr>
                      <p:cNvPr id="0" name="Picture 3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123" y="1985534"/>
                        <a:ext cx="1296591" cy="49887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946805"/>
              </p:ext>
            </p:extLst>
          </p:nvPr>
        </p:nvGraphicFramePr>
        <p:xfrm>
          <a:off x="1650123" y="2801426"/>
          <a:ext cx="2589610" cy="460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21" name="Equation" r:id="rId29" imgW="1143000" imgH="203040" progId="Equation.DSMT4">
                  <p:embed/>
                </p:oleObj>
              </mc:Choice>
              <mc:Fallback>
                <p:oleObj name="Equation" r:id="rId29" imgW="1143000" imgH="20304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123" y="2801426"/>
                        <a:ext cx="2589610" cy="46077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CA27F-0768-43E5-AC2C-28264EE09AD9}" type="slidenum">
              <a:rPr lang="zh-CN" altLang="en-US"/>
              <a:pPr/>
              <a:t>24</a:t>
            </a:fld>
            <a:endParaRPr lang="en-US" altLang="zh-CN"/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111439"/>
              </p:ext>
            </p:extLst>
          </p:nvPr>
        </p:nvGraphicFramePr>
        <p:xfrm>
          <a:off x="1800153" y="1264164"/>
          <a:ext cx="2921866" cy="461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6" r:id="rId3" imgW="1370133" imgH="215936" progId="Equation.3">
                  <p:embed/>
                </p:oleObj>
              </mc:Choice>
              <mc:Fallback>
                <p:oleObj r:id="rId3" imgW="1370133" imgH="215936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153" y="1264164"/>
                        <a:ext cx="2921866" cy="46105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645502"/>
              </p:ext>
            </p:extLst>
          </p:nvPr>
        </p:nvGraphicFramePr>
        <p:xfrm>
          <a:off x="1800153" y="1800441"/>
          <a:ext cx="3217385" cy="45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7" r:id="rId5" imgW="1509652" imgH="215936" progId="Equation.3">
                  <p:embed/>
                </p:oleObj>
              </mc:Choice>
              <mc:Fallback>
                <p:oleObj r:id="rId5" imgW="1509652" imgH="215936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153" y="1800441"/>
                        <a:ext cx="3217385" cy="45994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156569"/>
              </p:ext>
            </p:extLst>
          </p:nvPr>
        </p:nvGraphicFramePr>
        <p:xfrm>
          <a:off x="1800153" y="2335607"/>
          <a:ext cx="3449578" cy="485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8" r:id="rId7" imgW="1600517" imgH="228917" progId="Equation.3">
                  <p:embed/>
                </p:oleObj>
              </mc:Choice>
              <mc:Fallback>
                <p:oleObj r:id="rId7" imgW="1600517" imgH="228917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153" y="2335607"/>
                        <a:ext cx="3449578" cy="48549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AutoShape 5"/>
          <p:cNvSpPr>
            <a:spLocks/>
          </p:cNvSpPr>
          <p:nvPr/>
        </p:nvSpPr>
        <p:spPr bwMode="auto">
          <a:xfrm>
            <a:off x="1559515" y="1386114"/>
            <a:ext cx="213849" cy="1388323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sz="135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402017" y="643600"/>
            <a:ext cx="3028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en-US" altLang="zh-CN" b="1">
                <a:solidFill>
                  <a:srgbClr val="CC0000"/>
                </a:solidFill>
              </a:rPr>
              <a:t>1</a:t>
            </a:r>
            <a:r>
              <a:rPr lang="en-US" altLang="zh-CN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en-US" altLang="zh-CN" b="1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b="1"/>
              <a:t>功的正、负</a:t>
            </a: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1402017" y="3050668"/>
            <a:ext cx="27765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en-US" altLang="zh-CN" b="1">
                <a:solidFill>
                  <a:srgbClr val="CC0000"/>
                </a:solidFill>
              </a:rPr>
              <a:t>2</a:t>
            </a:r>
            <a:r>
              <a:rPr lang="en-US" altLang="zh-CN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en-US" altLang="zh-CN" b="1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b="1">
                <a:latin typeface="宋体" pitchFamily="2" charset="-122"/>
              </a:rPr>
              <a:t>作</a:t>
            </a:r>
            <a:r>
              <a:rPr lang="zh-CN" altLang="en-US" b="1"/>
              <a:t>功的图示</a:t>
            </a:r>
          </a:p>
        </p:txBody>
      </p:sp>
      <p:grpSp>
        <p:nvGrpSpPr>
          <p:cNvPr id="48137" name="Group 9"/>
          <p:cNvGrpSpPr>
            <a:grpSpLocks/>
          </p:cNvGrpSpPr>
          <p:nvPr/>
        </p:nvGrpSpPr>
        <p:grpSpPr bwMode="auto">
          <a:xfrm>
            <a:off x="6367921" y="2928476"/>
            <a:ext cx="2319338" cy="1656159"/>
            <a:chOff x="48" y="15"/>
            <a:chExt cx="1948" cy="1391"/>
          </a:xfrm>
        </p:grpSpPr>
        <p:sp>
          <p:nvSpPr>
            <p:cNvPr id="48139" name="Line 11"/>
            <p:cNvSpPr>
              <a:spLocks noChangeShapeType="1"/>
            </p:cNvSpPr>
            <p:nvPr/>
          </p:nvSpPr>
          <p:spPr bwMode="auto">
            <a:xfrm>
              <a:off x="192" y="1142"/>
              <a:ext cx="15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8140" name="Line 12"/>
            <p:cNvSpPr>
              <a:spLocks noChangeShapeType="1"/>
            </p:cNvSpPr>
            <p:nvPr/>
          </p:nvSpPr>
          <p:spPr bwMode="auto">
            <a:xfrm flipV="1">
              <a:off x="192" y="134"/>
              <a:ext cx="0" cy="10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8141" name="Freeform 13"/>
            <p:cNvSpPr>
              <a:spLocks/>
            </p:cNvSpPr>
            <p:nvPr/>
          </p:nvSpPr>
          <p:spPr bwMode="auto">
            <a:xfrm>
              <a:off x="384" y="306"/>
              <a:ext cx="1104" cy="438"/>
            </a:xfrm>
            <a:custGeom>
              <a:avLst/>
              <a:gdLst/>
              <a:ahLst/>
              <a:cxnLst>
                <a:cxn ang="0">
                  <a:pos x="0" y="438"/>
                </a:cxn>
                <a:cxn ang="0">
                  <a:pos x="208" y="308"/>
                </a:cxn>
                <a:cxn ang="0">
                  <a:pos x="336" y="194"/>
                </a:cxn>
                <a:cxn ang="0">
                  <a:pos x="584" y="28"/>
                </a:cxn>
                <a:cxn ang="0">
                  <a:pos x="800" y="28"/>
                </a:cxn>
                <a:cxn ang="0">
                  <a:pos x="960" y="71"/>
                </a:cxn>
              </a:cxnLst>
              <a:rect l="0" t="0" r="r" b="b"/>
              <a:pathLst>
                <a:path w="960" h="438">
                  <a:moveTo>
                    <a:pt x="0" y="438"/>
                  </a:moveTo>
                  <a:cubicBezTo>
                    <a:pt x="35" y="416"/>
                    <a:pt x="152" y="349"/>
                    <a:pt x="208" y="308"/>
                  </a:cubicBezTo>
                  <a:cubicBezTo>
                    <a:pt x="264" y="267"/>
                    <a:pt x="273" y="241"/>
                    <a:pt x="336" y="194"/>
                  </a:cubicBezTo>
                  <a:cubicBezTo>
                    <a:pt x="399" y="147"/>
                    <a:pt x="507" y="56"/>
                    <a:pt x="584" y="28"/>
                  </a:cubicBezTo>
                  <a:cubicBezTo>
                    <a:pt x="661" y="0"/>
                    <a:pt x="737" y="21"/>
                    <a:pt x="800" y="28"/>
                  </a:cubicBezTo>
                  <a:cubicBezTo>
                    <a:pt x="863" y="35"/>
                    <a:pt x="927" y="62"/>
                    <a:pt x="960" y="71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8142" name="Line 14"/>
            <p:cNvSpPr>
              <a:spLocks noChangeShapeType="1"/>
            </p:cNvSpPr>
            <p:nvPr/>
          </p:nvSpPr>
          <p:spPr bwMode="auto">
            <a:xfrm>
              <a:off x="384" y="726"/>
              <a:ext cx="0" cy="43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8143" name="Line 15"/>
            <p:cNvSpPr>
              <a:spLocks noChangeShapeType="1"/>
            </p:cNvSpPr>
            <p:nvPr/>
          </p:nvSpPr>
          <p:spPr bwMode="auto">
            <a:xfrm>
              <a:off x="1488" y="374"/>
              <a:ext cx="0" cy="76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8144" name="Object 16"/>
            <p:cNvGraphicFramePr>
              <a:graphicFrameLocks noChangeAspect="1"/>
            </p:cNvGraphicFramePr>
            <p:nvPr/>
          </p:nvGraphicFramePr>
          <p:xfrm>
            <a:off x="237" y="15"/>
            <a:ext cx="81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19" r:id="rId9" imgW="482081" imgH="177809" progId="Equation.3">
                    <p:embed/>
                  </p:oleObj>
                </mc:Choice>
                <mc:Fallback>
                  <p:oleObj r:id="rId9" imgW="482081" imgH="177809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" y="15"/>
                          <a:ext cx="816" cy="3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5" name="Object 17"/>
            <p:cNvGraphicFramePr>
              <a:graphicFrameLocks noChangeAspect="1"/>
            </p:cNvGraphicFramePr>
            <p:nvPr/>
          </p:nvGraphicFramePr>
          <p:xfrm>
            <a:off x="201" y="1044"/>
            <a:ext cx="326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0" r:id="rId11" imgW="139835" imgH="215936" progId="Equation.3">
                    <p:embed/>
                  </p:oleObj>
                </mc:Choice>
                <mc:Fallback>
                  <p:oleObj r:id="rId11" imgW="139835" imgH="215936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" y="1044"/>
                          <a:ext cx="326" cy="3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6" name="Object 18"/>
            <p:cNvGraphicFramePr>
              <a:graphicFrameLocks noChangeAspect="1"/>
            </p:cNvGraphicFramePr>
            <p:nvPr/>
          </p:nvGraphicFramePr>
          <p:xfrm>
            <a:off x="1369" y="1044"/>
            <a:ext cx="255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1" r:id="rId13" imgW="152519" imgH="215936" progId="Equation.3">
                    <p:embed/>
                  </p:oleObj>
                </mc:Choice>
                <mc:Fallback>
                  <p:oleObj r:id="rId13" imgW="152519" imgH="215936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9" y="1044"/>
                          <a:ext cx="255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7" name="Object 19"/>
            <p:cNvGraphicFramePr>
              <a:graphicFrameLocks noChangeAspect="1"/>
            </p:cNvGraphicFramePr>
            <p:nvPr/>
          </p:nvGraphicFramePr>
          <p:xfrm>
            <a:off x="834" y="1130"/>
            <a:ext cx="27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2" r:id="rId15" imgW="190487" imgH="177809" progId="Equation.3">
                    <p:embed/>
                  </p:oleObj>
                </mc:Choice>
                <mc:Fallback>
                  <p:oleObj r:id="rId15" imgW="190487" imgH="177809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" y="1130"/>
                          <a:ext cx="277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1959573"/>
                </p:ext>
              </p:extLst>
            </p:nvPr>
          </p:nvGraphicFramePr>
          <p:xfrm>
            <a:off x="1776" y="987"/>
            <a:ext cx="2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3" r:id="rId17" imgW="114419" imgH="139775" progId="Equation.3">
                    <p:embed/>
                  </p:oleObj>
                </mc:Choice>
                <mc:Fallback>
                  <p:oleObj r:id="rId17" imgW="114419" imgH="139775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987"/>
                          <a:ext cx="220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9" name="Freeform 21" descr="深色上对角线"/>
            <p:cNvSpPr>
              <a:spLocks/>
            </p:cNvSpPr>
            <p:nvPr/>
          </p:nvSpPr>
          <p:spPr bwMode="auto">
            <a:xfrm>
              <a:off x="912" y="374"/>
              <a:ext cx="96" cy="768"/>
            </a:xfrm>
            <a:custGeom>
              <a:avLst/>
              <a:gdLst/>
              <a:ahLst/>
              <a:cxnLst>
                <a:cxn ang="0">
                  <a:pos x="0" y="816"/>
                </a:cxn>
                <a:cxn ang="0">
                  <a:pos x="0" y="48"/>
                </a:cxn>
                <a:cxn ang="0">
                  <a:pos x="96" y="0"/>
                </a:cxn>
                <a:cxn ang="0">
                  <a:pos x="96" y="816"/>
                </a:cxn>
                <a:cxn ang="0">
                  <a:pos x="0" y="816"/>
                </a:cxn>
              </a:cxnLst>
              <a:rect l="0" t="0" r="r" b="b"/>
              <a:pathLst>
                <a:path w="96" h="816">
                  <a:moveTo>
                    <a:pt x="0" y="816"/>
                  </a:moveTo>
                  <a:lnTo>
                    <a:pt x="0" y="48"/>
                  </a:lnTo>
                  <a:lnTo>
                    <a:pt x="96" y="0"/>
                  </a:lnTo>
                  <a:lnTo>
                    <a:pt x="96" y="816"/>
                  </a:lnTo>
                  <a:lnTo>
                    <a:pt x="0" y="816"/>
                  </a:lnTo>
                  <a:close/>
                </a:path>
              </a:pathLst>
            </a:custGeom>
            <a:blipFill dpi="0" rotWithShape="0">
              <a:blip r:embed="rId19" cstate="print"/>
              <a:srcRect/>
              <a:tile tx="0" ty="0" sx="100000" sy="100000" flip="none" algn="tl"/>
            </a:blipFill>
            <a:ln w="9525" cap="flat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8150" name="Object 22"/>
            <p:cNvGraphicFramePr>
              <a:graphicFrameLocks noChangeAspect="1"/>
            </p:cNvGraphicFramePr>
            <p:nvPr/>
          </p:nvGraphicFramePr>
          <p:xfrm>
            <a:off x="48" y="1142"/>
            <a:ext cx="16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4" r:id="rId20" imgW="165202" imgH="190569" progId="Equation.3">
                    <p:embed/>
                  </p:oleObj>
                </mc:Choice>
                <mc:Fallback>
                  <p:oleObj r:id="rId20" imgW="165202" imgH="190569" progId="Equation.3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142"/>
                          <a:ext cx="165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757910"/>
              </p:ext>
            </p:extLst>
          </p:nvPr>
        </p:nvGraphicFramePr>
        <p:xfrm>
          <a:off x="1822152" y="3621932"/>
          <a:ext cx="2376488" cy="807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5" r:id="rId22" imgW="1104259" imgH="355609" progId="Equation.3">
                  <p:embed/>
                </p:oleObj>
              </mc:Choice>
              <mc:Fallback>
                <p:oleObj r:id="rId22" imgW="1104259" imgH="355609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152" y="3621932"/>
                        <a:ext cx="2376488" cy="807244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/>
          <p:cNvGrpSpPr/>
          <p:nvPr/>
        </p:nvGrpSpPr>
        <p:grpSpPr>
          <a:xfrm>
            <a:off x="6333946" y="827748"/>
            <a:ext cx="1601055" cy="1432250"/>
            <a:chOff x="6784743" y="96185"/>
            <a:chExt cx="2134740" cy="1909666"/>
          </a:xfrm>
        </p:grpSpPr>
        <p:sp>
          <p:nvSpPr>
            <p:cNvPr id="27" name="Freeform 5"/>
            <p:cNvSpPr>
              <a:spLocks/>
            </p:cNvSpPr>
            <p:nvPr/>
          </p:nvSpPr>
          <p:spPr bwMode="auto">
            <a:xfrm rot="430801">
              <a:off x="7186894" y="96185"/>
              <a:ext cx="1332148" cy="1909666"/>
            </a:xfrm>
            <a:custGeom>
              <a:avLst/>
              <a:gdLst/>
              <a:ahLst/>
              <a:cxnLst>
                <a:cxn ang="0">
                  <a:pos x="0" y="1600"/>
                </a:cxn>
                <a:cxn ang="0">
                  <a:pos x="72" y="1112"/>
                </a:cxn>
                <a:cxn ang="0">
                  <a:pos x="98" y="976"/>
                </a:cxn>
                <a:cxn ang="0">
                  <a:pos x="249" y="646"/>
                </a:cxn>
                <a:cxn ang="0">
                  <a:pos x="391" y="400"/>
                </a:cxn>
                <a:cxn ang="0">
                  <a:pos x="630" y="176"/>
                </a:cxn>
                <a:cxn ang="0">
                  <a:pos x="1146" y="22"/>
                </a:cxn>
                <a:cxn ang="0">
                  <a:pos x="1520" y="43"/>
                </a:cxn>
              </a:cxnLst>
              <a:rect l="0" t="0" r="r" b="b"/>
              <a:pathLst>
                <a:path w="1520" h="1600">
                  <a:moveTo>
                    <a:pt x="0" y="1600"/>
                  </a:moveTo>
                  <a:cubicBezTo>
                    <a:pt x="12" y="1519"/>
                    <a:pt x="56" y="1216"/>
                    <a:pt x="72" y="1112"/>
                  </a:cubicBezTo>
                  <a:cubicBezTo>
                    <a:pt x="88" y="1008"/>
                    <a:pt x="69" y="1054"/>
                    <a:pt x="98" y="976"/>
                  </a:cubicBezTo>
                  <a:cubicBezTo>
                    <a:pt x="127" y="898"/>
                    <a:pt x="200" y="742"/>
                    <a:pt x="249" y="646"/>
                  </a:cubicBezTo>
                  <a:cubicBezTo>
                    <a:pt x="298" y="550"/>
                    <a:pt x="327" y="478"/>
                    <a:pt x="391" y="400"/>
                  </a:cubicBezTo>
                  <a:cubicBezTo>
                    <a:pt x="455" y="322"/>
                    <a:pt x="504" y="239"/>
                    <a:pt x="630" y="176"/>
                  </a:cubicBezTo>
                  <a:cubicBezTo>
                    <a:pt x="756" y="113"/>
                    <a:pt x="998" y="44"/>
                    <a:pt x="1146" y="22"/>
                  </a:cubicBezTo>
                  <a:cubicBezTo>
                    <a:pt x="1294" y="0"/>
                    <a:pt x="1442" y="39"/>
                    <a:pt x="1520" y="43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ys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" name="Line 6"/>
            <p:cNvSpPr>
              <a:spLocks noChangeShapeType="1"/>
            </p:cNvSpPr>
            <p:nvPr/>
          </p:nvSpPr>
          <p:spPr bwMode="auto">
            <a:xfrm>
              <a:off x="7282175" y="1129745"/>
              <a:ext cx="1196777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" name="Line 7"/>
            <p:cNvSpPr>
              <a:spLocks noChangeShapeType="1"/>
            </p:cNvSpPr>
            <p:nvPr/>
          </p:nvSpPr>
          <p:spPr bwMode="auto">
            <a:xfrm rot="21199633" flipV="1">
              <a:off x="7209159" y="609522"/>
              <a:ext cx="254688" cy="519261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0" name="Object 8"/>
            <p:cNvGraphicFramePr>
              <a:graphicFrameLocks noChangeAspect="1"/>
            </p:cNvGraphicFramePr>
            <p:nvPr/>
          </p:nvGraphicFramePr>
          <p:xfrm>
            <a:off x="8394517" y="829548"/>
            <a:ext cx="524966" cy="695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6" r:id="rId24" imgW="127042" imgH="152387" progId="Equation.3">
                    <p:embed/>
                  </p:oleObj>
                </mc:Choice>
                <mc:Fallback>
                  <p:oleObj r:id="rId24" imgW="127042" imgH="152387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4517" y="829548"/>
                          <a:ext cx="524966" cy="6955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9"/>
            <p:cNvGraphicFramePr>
              <a:graphicFrameLocks noChangeAspect="1"/>
            </p:cNvGraphicFramePr>
            <p:nvPr/>
          </p:nvGraphicFramePr>
          <p:xfrm>
            <a:off x="6784743" y="419523"/>
            <a:ext cx="488255" cy="543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7" r:id="rId26" imgW="203165" imgH="177809" progId="Equation.3">
                    <p:embed/>
                  </p:oleObj>
                </mc:Choice>
                <mc:Fallback>
                  <p:oleObj r:id="rId26" imgW="203165" imgH="177809" progId="Equation.3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4743" y="419523"/>
                          <a:ext cx="488255" cy="543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Arc 10"/>
            <p:cNvSpPr>
              <a:spLocks/>
            </p:cNvSpPr>
            <p:nvPr/>
          </p:nvSpPr>
          <p:spPr bwMode="auto">
            <a:xfrm>
              <a:off x="7362939" y="805752"/>
              <a:ext cx="238621" cy="329484"/>
            </a:xfrm>
            <a:custGeom>
              <a:avLst/>
              <a:gdLst>
                <a:gd name="G0" fmla="+- 0 0 0"/>
                <a:gd name="G1" fmla="+- 20168 0 0"/>
                <a:gd name="G2" fmla="+- 21600 0 0"/>
                <a:gd name="T0" fmla="*/ 7735 w 21600"/>
                <a:gd name="T1" fmla="*/ 0 h 20168"/>
                <a:gd name="T2" fmla="*/ 21600 w 21600"/>
                <a:gd name="T3" fmla="*/ 20168 h 20168"/>
                <a:gd name="T4" fmla="*/ 0 w 21600"/>
                <a:gd name="T5" fmla="*/ 20168 h 20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168" fill="none" extrusionOk="0">
                  <a:moveTo>
                    <a:pt x="7734" y="0"/>
                  </a:moveTo>
                  <a:cubicBezTo>
                    <a:pt x="16086" y="3203"/>
                    <a:pt x="21600" y="11223"/>
                    <a:pt x="21600" y="20168"/>
                  </a:cubicBezTo>
                </a:path>
                <a:path w="21600" h="20168" stroke="0" extrusionOk="0">
                  <a:moveTo>
                    <a:pt x="7734" y="0"/>
                  </a:moveTo>
                  <a:cubicBezTo>
                    <a:pt x="16086" y="3203"/>
                    <a:pt x="21600" y="11223"/>
                    <a:pt x="21600" y="20168"/>
                  </a:cubicBezTo>
                  <a:lnTo>
                    <a:pt x="0" y="20168"/>
                  </a:lnTo>
                  <a:close/>
                </a:path>
              </a:pathLst>
            </a:custGeom>
            <a:noFill/>
            <a:ln w="28575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3" name="Object 11"/>
            <p:cNvGraphicFramePr>
              <a:graphicFrameLocks noChangeAspect="1"/>
            </p:cNvGraphicFramePr>
            <p:nvPr/>
          </p:nvGraphicFramePr>
          <p:xfrm>
            <a:off x="7544064" y="637349"/>
            <a:ext cx="392807" cy="607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28" r:id="rId28" imgW="101829" imgH="139896" progId="Equation.3">
                    <p:embed/>
                  </p:oleObj>
                </mc:Choice>
                <mc:Fallback>
                  <p:oleObj r:id="rId28" imgW="101829" imgH="139896" progId="Equation.3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4064" y="637349"/>
                          <a:ext cx="392807" cy="6077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20"/>
            <p:cNvSpPr>
              <a:spLocks noChangeShapeType="1"/>
            </p:cNvSpPr>
            <p:nvPr/>
          </p:nvSpPr>
          <p:spPr bwMode="auto">
            <a:xfrm flipH="1" flipV="1">
              <a:off x="7522632" y="602570"/>
              <a:ext cx="875556" cy="5271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2" name="竖卷形 1"/>
          <p:cNvSpPr/>
          <p:nvPr/>
        </p:nvSpPr>
        <p:spPr bwMode="auto">
          <a:xfrm>
            <a:off x="422021" y="1265620"/>
            <a:ext cx="741400" cy="2346058"/>
          </a:xfrm>
          <a:prstGeom prst="verticalScroll">
            <a:avLst/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 smtClean="0">
                <a:solidFill>
                  <a:srgbClr val="CC0000"/>
                </a:solidFill>
                <a:latin typeface="Arial" charset="0"/>
              </a:rPr>
              <a:t>注</a:t>
            </a:r>
            <a:endParaRPr lang="en-US" altLang="zh-CN" b="1" smtClean="0">
              <a:solidFill>
                <a:srgbClr val="CC0000"/>
              </a:solidFill>
              <a:latin typeface="Arial" charset="0"/>
            </a:endParaRPr>
          </a:p>
          <a:p>
            <a:pPr algn="ctr"/>
            <a:endParaRPr lang="en-US" altLang="zh-CN" b="1">
              <a:solidFill>
                <a:srgbClr val="CC0000"/>
              </a:solidFill>
              <a:latin typeface="Arial" charset="0"/>
            </a:endParaRPr>
          </a:p>
          <a:p>
            <a:pPr algn="ctr"/>
            <a:r>
              <a:rPr lang="zh-CN" altLang="en-US" b="1" smtClean="0">
                <a:solidFill>
                  <a:srgbClr val="CC0000"/>
                </a:solidFill>
                <a:latin typeface="Arial" charset="0"/>
              </a:rPr>
              <a:t>意</a:t>
            </a:r>
            <a:endParaRPr lang="zh-CN" altLang="en-US" b="1">
              <a:solidFill>
                <a:srgbClr val="CC0000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animBg="1" autoUpdateAnimBg="0"/>
      <p:bldP spid="4813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52DDD0-645F-423E-8E2D-7EE4DE0F05B3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1069524" y="350495"/>
            <a:ext cx="63728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CC0000"/>
                </a:solidFill>
              </a:rPr>
              <a:t>（</a:t>
            </a:r>
            <a:r>
              <a:rPr lang="en-US" altLang="zh-CN" b="1">
                <a:solidFill>
                  <a:srgbClr val="CC0000"/>
                </a:solidFill>
              </a:rPr>
              <a:t>3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）</a:t>
            </a:r>
            <a:r>
              <a:rPr lang="zh-CN" altLang="en-US" b="1"/>
              <a:t>功是一个过程量，与路径有关．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1069524" y="891039"/>
            <a:ext cx="65649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 smtClean="0">
                <a:solidFill>
                  <a:srgbClr val="CC0000"/>
                </a:solidFill>
              </a:rPr>
              <a:t>（</a:t>
            </a:r>
            <a:r>
              <a:rPr lang="en-US" altLang="zh-CN" b="1" smtClean="0">
                <a:solidFill>
                  <a:srgbClr val="CC0000"/>
                </a:solidFill>
              </a:rPr>
              <a:t>4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）</a:t>
            </a:r>
            <a:r>
              <a:rPr lang="zh-CN" altLang="en-US" b="1"/>
              <a:t>合力的功，等于各分力的功的代数和．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950557"/>
              </p:ext>
            </p:extLst>
          </p:nvPr>
        </p:nvGraphicFramePr>
        <p:xfrm>
          <a:off x="1439153" y="2280106"/>
          <a:ext cx="4811383" cy="655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14" r:id="rId3" imgW="2412270" imgH="330374" progId="Equation.3">
                  <p:embed/>
                </p:oleObj>
              </mc:Choice>
              <mc:Fallback>
                <p:oleObj r:id="rId3" imgW="2412270" imgH="330374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153" y="2280106"/>
                        <a:ext cx="4811383" cy="655396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88320359"/>
              </p:ext>
            </p:extLst>
          </p:nvPr>
        </p:nvGraphicFramePr>
        <p:xfrm>
          <a:off x="1439153" y="3064729"/>
          <a:ext cx="1590054" cy="656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15" r:id="rId5" imgW="800070" imgH="330374" progId="Equation.3">
                  <p:embed/>
                </p:oleObj>
              </mc:Choice>
              <mc:Fallback>
                <p:oleObj r:id="rId5" imgW="800070" imgH="330374" progId="Equation.3">
                  <p:embed/>
                  <p:pic>
                    <p:nvPicPr>
                      <p:cNvPr id="0" name="Picture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153" y="3064729"/>
                        <a:ext cx="1590054" cy="656426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078870058"/>
              </p:ext>
            </p:extLst>
          </p:nvPr>
        </p:nvGraphicFramePr>
        <p:xfrm>
          <a:off x="1439153" y="4033347"/>
          <a:ext cx="2321408" cy="50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16" r:id="rId7" imgW="1104738" imgH="241512" progId="Equation.3">
                  <p:embed/>
                </p:oleObj>
              </mc:Choice>
              <mc:Fallback>
                <p:oleObj r:id="rId7" imgW="1104738" imgH="241512" progId="Equation.3">
                  <p:embed/>
                  <p:pic>
                    <p:nvPicPr>
                      <p:cNvPr id="0" name="Picture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153" y="4033347"/>
                        <a:ext cx="2321408" cy="50631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ECFF"/>
                          </a:gs>
                          <a:gs pos="50000">
                            <a:schemeClr val="bg1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11485119"/>
              </p:ext>
            </p:extLst>
          </p:nvPr>
        </p:nvGraphicFramePr>
        <p:xfrm>
          <a:off x="1439153" y="1541518"/>
          <a:ext cx="2834812" cy="57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17" name="Equation" r:id="rId9" imgW="1257120" imgH="253800" progId="Equation.DSMT4">
                  <p:embed/>
                </p:oleObj>
              </mc:Choice>
              <mc:Fallback>
                <p:oleObj name="Equation" r:id="rId9" imgW="1257120" imgH="253800" progId="Equation.DSMT4">
                  <p:embed/>
                  <p:pic>
                    <p:nvPicPr>
                      <p:cNvPr id="0" name="Picture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153" y="1541518"/>
                        <a:ext cx="2834812" cy="572514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144391993"/>
              </p:ext>
            </p:extLst>
          </p:nvPr>
        </p:nvGraphicFramePr>
        <p:xfrm>
          <a:off x="4900330" y="1544068"/>
          <a:ext cx="2843041" cy="510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18" name="Equation" r:id="rId11" imgW="1269720" imgH="228600" progId="Equation.DSMT4">
                  <p:embed/>
                </p:oleObj>
              </mc:Choice>
              <mc:Fallback>
                <p:oleObj name="Equation" r:id="rId11" imgW="1269720" imgH="228600" progId="Equation.DSMT4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330" y="1544068"/>
                        <a:ext cx="2843041" cy="510796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930309"/>
              </p:ext>
            </p:extLst>
          </p:nvPr>
        </p:nvGraphicFramePr>
        <p:xfrm>
          <a:off x="3545368" y="3086159"/>
          <a:ext cx="1636427" cy="704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19" r:id="rId13" imgW="825101" imgH="355609" progId="Equation.3">
                  <p:embed/>
                </p:oleObj>
              </mc:Choice>
              <mc:Fallback>
                <p:oleObj r:id="rId13" imgW="825101" imgH="355609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368" y="3086159"/>
                        <a:ext cx="1636427" cy="704859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336545"/>
              </p:ext>
            </p:extLst>
          </p:nvPr>
        </p:nvGraphicFramePr>
        <p:xfrm>
          <a:off x="5651586" y="3100449"/>
          <a:ext cx="1542651" cy="646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20" r:id="rId15" imgW="787375" imgH="330374" progId="Equation.3">
                  <p:embed/>
                </p:oleObj>
              </mc:Choice>
              <mc:Fallback>
                <p:oleObj r:id="rId15" imgW="787375" imgH="330374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86" y="3100449"/>
                        <a:ext cx="1542651" cy="646121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76955-8162-4614-B001-655521372D9D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1543052" y="519113"/>
            <a:ext cx="3407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Arial" charset="0"/>
              <a:buBlip>
                <a:blip r:embed="rId3"/>
              </a:buBlip>
            </a:pPr>
            <a:r>
              <a:rPr lang="zh-CN" altLang="en-US" b="1">
                <a:solidFill>
                  <a:srgbClr val="1C1C1C"/>
                </a:solidFill>
                <a:latin typeface="Arial" charset="0"/>
              </a:rPr>
              <a:t>  功的单位</a:t>
            </a:r>
            <a:r>
              <a:rPr lang="zh-CN" altLang="en-US" b="1">
                <a:solidFill>
                  <a:srgbClr val="000000"/>
                </a:solidFill>
              </a:rPr>
              <a:t>（</a:t>
            </a:r>
            <a:r>
              <a:rPr lang="zh-CN" altLang="en-US" b="1">
                <a:solidFill>
                  <a:srgbClr val="1C1C1C"/>
                </a:solidFill>
              </a:rPr>
              <a:t>焦耳）</a:t>
            </a:r>
            <a:endParaRPr lang="zh-CN" altLang="en-US" b="1">
              <a:solidFill>
                <a:srgbClr val="1C1C1C"/>
              </a:solidFill>
              <a:latin typeface="Arial" charset="0"/>
            </a:endParaRPr>
          </a:p>
        </p:txBody>
      </p:sp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3262313" y="1095377"/>
          <a:ext cx="1525191" cy="83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9" r:id="rId4" imgW="914717" imgH="609917" progId="Equation.3">
                  <p:embed/>
                </p:oleObj>
              </mc:Choice>
              <mc:Fallback>
                <p:oleObj r:id="rId4" imgW="914717" imgH="609917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095377"/>
                        <a:ext cx="1525191" cy="831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1547813" y="1270399"/>
            <a:ext cx="2343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Arial" charset="0"/>
              <a:buBlip>
                <a:blip r:embed="rId3"/>
              </a:buBlip>
            </a:pPr>
            <a:r>
              <a:rPr lang="zh-CN" altLang="en-US" b="1">
                <a:solidFill>
                  <a:srgbClr val="1C1C1C"/>
                </a:solidFill>
                <a:latin typeface="Arial" charset="0"/>
              </a:rPr>
              <a:t>  平均功率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547813" y="2183607"/>
            <a:ext cx="21062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Blip>
                <a:blip r:embed="rId3"/>
              </a:buBlip>
            </a:pPr>
            <a:r>
              <a:rPr lang="zh-CN" altLang="en-US" b="1">
                <a:latin typeface="Arial" charset="0"/>
              </a:rPr>
              <a:t>  </a:t>
            </a:r>
            <a:r>
              <a:rPr lang="zh-CN" altLang="en-US" b="1">
                <a:solidFill>
                  <a:srgbClr val="1C1C1C"/>
                </a:solidFill>
                <a:latin typeface="Arial" charset="0"/>
              </a:rPr>
              <a:t>瞬时功率</a:t>
            </a: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3221833" y="1977631"/>
          <a:ext cx="4493419" cy="88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50" r:id="rId6" imgW="1637906" imgH="393846" progId="Equation.3">
                  <p:embed/>
                </p:oleObj>
              </mc:Choice>
              <mc:Fallback>
                <p:oleObj r:id="rId6" imgW="1637906" imgH="393846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33" y="1977631"/>
                        <a:ext cx="4493419" cy="8870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3221833" y="3057525"/>
          <a:ext cx="199906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51" r:id="rId8" imgW="799030" imgH="177809" progId="Equation.3">
                  <p:embed/>
                </p:oleObj>
              </mc:Choice>
              <mc:Fallback>
                <p:oleObj r:id="rId8" imgW="799030" imgH="177809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33" y="3057525"/>
                        <a:ext cx="199906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84" name="Group 8"/>
          <p:cNvGrpSpPr>
            <a:grpSpLocks/>
          </p:cNvGrpSpPr>
          <p:nvPr/>
        </p:nvGrpSpPr>
        <p:grpSpPr bwMode="auto">
          <a:xfrm>
            <a:off x="1544241" y="3649268"/>
            <a:ext cx="5242322" cy="920353"/>
            <a:chOff x="0" y="0"/>
            <a:chExt cx="4403" cy="773"/>
          </a:xfrm>
        </p:grpSpPr>
        <p:grpSp>
          <p:nvGrpSpPr>
            <p:cNvPr id="50185" name="Group 9"/>
            <p:cNvGrpSpPr>
              <a:grpSpLocks/>
            </p:cNvGrpSpPr>
            <p:nvPr/>
          </p:nvGrpSpPr>
          <p:grpSpPr bwMode="auto">
            <a:xfrm>
              <a:off x="0" y="0"/>
              <a:ext cx="2928" cy="388"/>
              <a:chOff x="0" y="0"/>
              <a:chExt cx="2928" cy="388"/>
            </a:xfrm>
          </p:grpSpPr>
          <p:sp>
            <p:nvSpPr>
              <p:cNvPr id="5018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873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Blip>
                    <a:blip r:embed="rId3"/>
                  </a:buBlip>
                </a:pPr>
                <a:r>
                  <a:rPr lang="zh-CN" altLang="en-US" b="1">
                    <a:solidFill>
                      <a:srgbClr val="1C1C1C"/>
                    </a:solidFill>
                    <a:latin typeface="Arial" charset="0"/>
                  </a:rPr>
                  <a:t>  功率的单位</a:t>
                </a:r>
              </a:p>
            </p:txBody>
          </p:sp>
          <p:sp>
            <p:nvSpPr>
              <p:cNvPr id="50187" name="Text Box 11"/>
              <p:cNvSpPr txBox="1">
                <a:spLocks noChangeArrowheads="1"/>
              </p:cNvSpPr>
              <p:nvPr/>
            </p:nvSpPr>
            <p:spPr bwMode="auto">
              <a:xfrm>
                <a:off x="1392" y="0"/>
                <a:ext cx="1536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/>
                  <a:t> </a:t>
                </a:r>
                <a:r>
                  <a:rPr lang="zh-CN" altLang="en-US" b="1">
                    <a:solidFill>
                      <a:srgbClr val="000000"/>
                    </a:solidFill>
                  </a:rPr>
                  <a:t>（</a:t>
                </a:r>
                <a:r>
                  <a:rPr lang="zh-CN" altLang="en-US" b="1">
                    <a:solidFill>
                      <a:srgbClr val="1C1C1C"/>
                    </a:solidFill>
                  </a:rPr>
                  <a:t>瓦特）</a:t>
                </a:r>
              </a:p>
            </p:txBody>
          </p:sp>
        </p:grpSp>
        <p:graphicFrame>
          <p:nvGraphicFramePr>
            <p:cNvPr id="50188" name="Object 12"/>
            <p:cNvGraphicFramePr>
              <a:graphicFrameLocks noChangeAspect="1"/>
            </p:cNvGraphicFramePr>
            <p:nvPr/>
          </p:nvGraphicFramePr>
          <p:xfrm>
            <a:off x="2679" y="330"/>
            <a:ext cx="1724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52" r:id="rId10" imgW="889317" imgH="228917" progId="Equation.3">
                    <p:embed/>
                  </p:oleObj>
                </mc:Choice>
                <mc:Fallback>
                  <p:oleObj r:id="rId10" imgW="889317" imgH="228917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9" y="330"/>
                          <a:ext cx="1724" cy="4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89" name="Object 13"/>
            <p:cNvGraphicFramePr>
              <a:graphicFrameLocks noChangeAspect="1"/>
            </p:cNvGraphicFramePr>
            <p:nvPr/>
          </p:nvGraphicFramePr>
          <p:xfrm>
            <a:off x="759" y="330"/>
            <a:ext cx="1557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53" r:id="rId12" imgW="800070" imgH="228818" progId="Equation.3">
                    <p:embed/>
                  </p:oleObj>
                </mc:Choice>
                <mc:Fallback>
                  <p:oleObj r:id="rId12" imgW="800070" imgH="228818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330"/>
                          <a:ext cx="1557" cy="4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90" name="Object 14"/>
          <p:cNvGraphicFramePr>
            <a:graphicFrameLocks noChangeAspect="1"/>
          </p:cNvGraphicFramePr>
          <p:nvPr/>
        </p:nvGraphicFramePr>
        <p:xfrm>
          <a:off x="5378053" y="525068"/>
          <a:ext cx="1365647" cy="459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54" r:id="rId14" imgW="736278" imgH="203341" progId="Equation.3">
                  <p:embed/>
                </p:oleObj>
              </mc:Choice>
              <mc:Fallback>
                <p:oleObj r:id="rId14" imgW="736278" imgH="203341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053" y="525068"/>
                        <a:ext cx="1365647" cy="4595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  <p:bldP spid="5018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33B3D-C9C4-40AE-92E6-C8DB349B0D40}" type="slidenum">
              <a:rPr lang="zh-CN" altLang="en-US"/>
              <a:pPr/>
              <a:t>27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255361" y="268285"/>
            <a:ext cx="8358868" cy="1865126"/>
            <a:chOff x="255361" y="268285"/>
            <a:chExt cx="8358868" cy="1865126"/>
          </a:xfrm>
        </p:grpSpPr>
        <p:sp>
          <p:nvSpPr>
            <p:cNvPr id="51202" name="Text Box 2"/>
            <p:cNvSpPr txBox="1">
              <a:spLocks noChangeArrowheads="1"/>
            </p:cNvSpPr>
            <p:nvPr/>
          </p:nvSpPr>
          <p:spPr bwMode="auto">
            <a:xfrm>
              <a:off x="255361" y="268285"/>
              <a:ext cx="8358868" cy="1865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CC0000"/>
                  </a:solidFill>
                </a:rPr>
                <a:t>例 </a:t>
              </a:r>
              <a:r>
                <a:rPr lang="en-US" altLang="zh-CN" b="1" dirty="0">
                  <a:solidFill>
                    <a:srgbClr val="CC0000"/>
                  </a:solidFill>
                </a:rPr>
                <a:t>1</a:t>
              </a:r>
              <a:r>
                <a:rPr lang="zh-CN" altLang="en-US" b="1" dirty="0">
                  <a:solidFill>
                    <a:srgbClr val="CC0000"/>
                  </a:solidFill>
                </a:rPr>
                <a:t>　</a:t>
              </a:r>
              <a:r>
                <a:rPr lang="zh-CN" altLang="en-US" b="1" dirty="0">
                  <a:solidFill>
                    <a:srgbClr val="1C1C1C"/>
                  </a:solidFill>
                </a:rPr>
                <a:t>一质量为 </a:t>
              </a:r>
              <a:r>
                <a:rPr lang="en-US" altLang="zh-CN" i="1" dirty="0">
                  <a:solidFill>
                    <a:srgbClr val="1C1C1C"/>
                  </a:solidFill>
                </a:rPr>
                <a:t>m </a:t>
              </a:r>
              <a:r>
                <a:rPr lang="zh-CN" altLang="en-US" b="1" dirty="0">
                  <a:solidFill>
                    <a:srgbClr val="1C1C1C"/>
                  </a:solidFill>
                </a:rPr>
                <a:t>的小球竖直落入水中， 刚接触水面时其速率为     ．设此球在水中所受的浮力与重力相等，水的</a:t>
              </a:r>
              <a:r>
                <a:rPr lang="zh-CN" altLang="en-US" b="1">
                  <a:solidFill>
                    <a:srgbClr val="1C1C1C"/>
                  </a:solidFill>
                </a:rPr>
                <a:t>阻</a:t>
              </a:r>
              <a:r>
                <a:rPr lang="zh-CN" altLang="en-US" b="1" smtClean="0">
                  <a:solidFill>
                    <a:srgbClr val="1C1C1C"/>
                  </a:solidFill>
                </a:rPr>
                <a:t>力为              </a:t>
              </a:r>
              <a:endParaRPr lang="en-US" altLang="zh-CN" b="1" smtClean="0">
                <a:solidFill>
                  <a:srgbClr val="1C1C1C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b="1" smtClean="0">
                  <a:solidFill>
                    <a:srgbClr val="1C1C1C"/>
                  </a:solidFill>
                </a:rPr>
                <a:t>               ,  </a:t>
              </a:r>
              <a:r>
                <a:rPr lang="en-US" altLang="zh-CN" i="1" dirty="0">
                  <a:solidFill>
                    <a:srgbClr val="1C1C1C"/>
                  </a:solidFill>
                </a:rPr>
                <a:t>b </a:t>
              </a:r>
              <a:r>
                <a:rPr lang="zh-CN" altLang="en-US" b="1" dirty="0">
                  <a:solidFill>
                    <a:srgbClr val="1C1C1C"/>
                  </a:solidFill>
                </a:rPr>
                <a:t>为一常量</a:t>
              </a:r>
              <a:r>
                <a:rPr lang="en-US" altLang="zh-CN" b="1">
                  <a:solidFill>
                    <a:srgbClr val="1C1C1C"/>
                  </a:solidFill>
                </a:rPr>
                <a:t>.  </a:t>
              </a:r>
              <a:endParaRPr lang="en-US" altLang="zh-CN" b="1" smtClean="0">
                <a:solidFill>
                  <a:srgbClr val="1C1C1C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CC0000"/>
                  </a:solidFill>
                </a:rPr>
                <a:t>求：</a:t>
              </a:r>
              <a:r>
                <a:rPr lang="zh-CN" altLang="en-US" b="1" smtClean="0">
                  <a:solidFill>
                    <a:srgbClr val="1C1C1C"/>
                  </a:solidFill>
                </a:rPr>
                <a:t>阻力对球作的功与时间的函数关系．</a:t>
              </a:r>
              <a:endParaRPr lang="zh-CN" altLang="en-US" b="1" dirty="0">
                <a:solidFill>
                  <a:srgbClr val="1C1C1C"/>
                </a:solidFill>
              </a:endParaRPr>
            </a:p>
          </p:txBody>
        </p:sp>
        <p:graphicFrame>
          <p:nvGraphicFramePr>
            <p:cNvPr id="5120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6047788"/>
                </p:ext>
              </p:extLst>
            </p:nvPr>
          </p:nvGraphicFramePr>
          <p:xfrm>
            <a:off x="953834" y="686255"/>
            <a:ext cx="40005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78" r:id="rId4" imgW="177809" imgH="228521" progId="Equation.3">
                    <p:embed/>
                  </p:oleObj>
                </mc:Choice>
                <mc:Fallback>
                  <p:oleObj r:id="rId4" imgW="177809" imgH="228521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834" y="686255"/>
                          <a:ext cx="400050" cy="571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0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8705943"/>
                </p:ext>
              </p:extLst>
            </p:nvPr>
          </p:nvGraphicFramePr>
          <p:xfrm>
            <a:off x="394383" y="1227911"/>
            <a:ext cx="1080008" cy="428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79" name="Equation" r:id="rId6" imgW="533160" imgH="228600" progId="Equation.DSMT4">
                    <p:embed/>
                  </p:oleObj>
                </mc:Choice>
                <mc:Fallback>
                  <p:oleObj name="Equation" r:id="rId6" imgW="533160" imgH="22860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83" y="1227911"/>
                          <a:ext cx="1080008" cy="4285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6878241" y="2015295"/>
            <a:ext cx="1314450" cy="2499329"/>
            <a:chOff x="6878241" y="2015295"/>
            <a:chExt cx="1314450" cy="2499329"/>
          </a:xfrm>
        </p:grpSpPr>
        <p:sp>
          <p:nvSpPr>
            <p:cNvPr id="51205" name="Rectangle 5"/>
            <p:cNvSpPr>
              <a:spLocks noChangeArrowheads="1"/>
            </p:cNvSpPr>
            <p:nvPr/>
          </p:nvSpPr>
          <p:spPr bwMode="auto">
            <a:xfrm>
              <a:off x="6878241" y="2285774"/>
              <a:ext cx="1314450" cy="22288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66CC">
                    <a:alpha val="5000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1206" name="Oval 6"/>
            <p:cNvSpPr>
              <a:spLocks noChangeArrowheads="1"/>
            </p:cNvSpPr>
            <p:nvPr/>
          </p:nvSpPr>
          <p:spPr bwMode="auto">
            <a:xfrm>
              <a:off x="7607017" y="2182929"/>
              <a:ext cx="208981" cy="208981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FF9933">
                    <a:gamma/>
                    <a:shade val="6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1207" name="Line 7"/>
            <p:cNvSpPr>
              <a:spLocks noChangeShapeType="1"/>
            </p:cNvSpPr>
            <p:nvPr/>
          </p:nvSpPr>
          <p:spPr bwMode="auto">
            <a:xfrm>
              <a:off x="7713096" y="2413455"/>
              <a:ext cx="0" cy="5715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120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860255"/>
                </p:ext>
              </p:extLst>
            </p:nvPr>
          </p:nvGraphicFramePr>
          <p:xfrm>
            <a:off x="7572375" y="3085876"/>
            <a:ext cx="391716" cy="4929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80"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2375" y="3085876"/>
                          <a:ext cx="391716" cy="4929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9" name="Line 9"/>
            <p:cNvSpPr>
              <a:spLocks noChangeShapeType="1"/>
            </p:cNvSpPr>
            <p:nvPr/>
          </p:nvSpPr>
          <p:spPr bwMode="auto">
            <a:xfrm flipH="1">
              <a:off x="7449741" y="2285774"/>
              <a:ext cx="0" cy="2114549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12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4531244"/>
                </p:ext>
              </p:extLst>
            </p:nvPr>
          </p:nvGraphicFramePr>
          <p:xfrm>
            <a:off x="7465221" y="4109811"/>
            <a:ext cx="384572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81" r:id="rId10" imgW="127042" imgH="139714" progId="Equation.3">
                    <p:embed/>
                  </p:oleObj>
                </mc:Choice>
                <mc:Fallback>
                  <p:oleObj r:id="rId10" imgW="127042" imgH="139714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5221" y="4109811"/>
                          <a:ext cx="384572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1" name="Line 11"/>
            <p:cNvSpPr>
              <a:spLocks noChangeShapeType="1"/>
            </p:cNvSpPr>
            <p:nvPr/>
          </p:nvSpPr>
          <p:spPr bwMode="auto">
            <a:xfrm>
              <a:off x="6992541" y="2285774"/>
              <a:ext cx="10858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121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198535"/>
                </p:ext>
              </p:extLst>
            </p:nvPr>
          </p:nvGraphicFramePr>
          <p:xfrm>
            <a:off x="7315200" y="2015295"/>
            <a:ext cx="248841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82" r:id="rId12" imgW="165202" imgH="190569" progId="Equation.3">
                    <p:embed/>
                  </p:oleObj>
                </mc:Choice>
                <mc:Fallback>
                  <p:oleObj r:id="rId12" imgW="165202" imgH="190569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5200" y="2015295"/>
                          <a:ext cx="248841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3" name="Line 13"/>
            <p:cNvSpPr>
              <a:spLocks noChangeShapeType="1"/>
            </p:cNvSpPr>
            <p:nvPr/>
          </p:nvSpPr>
          <p:spPr bwMode="auto">
            <a:xfrm flipV="1">
              <a:off x="7163991" y="25143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14" name="Line 14"/>
            <p:cNvSpPr>
              <a:spLocks noChangeShapeType="1"/>
            </p:cNvSpPr>
            <p:nvPr/>
          </p:nvSpPr>
          <p:spPr bwMode="auto">
            <a:xfrm flipV="1">
              <a:off x="7221141" y="27429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16" name="Line 16"/>
            <p:cNvSpPr>
              <a:spLocks noChangeShapeType="1"/>
            </p:cNvSpPr>
            <p:nvPr/>
          </p:nvSpPr>
          <p:spPr bwMode="auto">
            <a:xfrm flipV="1">
              <a:off x="7849791" y="26286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18" name="Line 18"/>
            <p:cNvSpPr>
              <a:spLocks noChangeShapeType="1"/>
            </p:cNvSpPr>
            <p:nvPr/>
          </p:nvSpPr>
          <p:spPr bwMode="auto">
            <a:xfrm flipV="1">
              <a:off x="7564041" y="24572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19" name="Line 19"/>
            <p:cNvSpPr>
              <a:spLocks noChangeShapeType="1"/>
            </p:cNvSpPr>
            <p:nvPr/>
          </p:nvSpPr>
          <p:spPr bwMode="auto">
            <a:xfrm flipV="1">
              <a:off x="7906941" y="24572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20" name="Line 20"/>
            <p:cNvSpPr>
              <a:spLocks noChangeShapeType="1"/>
            </p:cNvSpPr>
            <p:nvPr/>
          </p:nvSpPr>
          <p:spPr bwMode="auto">
            <a:xfrm flipV="1">
              <a:off x="7221141" y="25143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22" name="Line 22"/>
            <p:cNvSpPr>
              <a:spLocks noChangeShapeType="1"/>
            </p:cNvSpPr>
            <p:nvPr/>
          </p:nvSpPr>
          <p:spPr bwMode="auto">
            <a:xfrm flipV="1">
              <a:off x="7449741" y="26858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23" name="Line 23"/>
            <p:cNvSpPr>
              <a:spLocks noChangeShapeType="1"/>
            </p:cNvSpPr>
            <p:nvPr/>
          </p:nvSpPr>
          <p:spPr bwMode="auto">
            <a:xfrm flipV="1">
              <a:off x="7163991" y="29144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24" name="Line 24"/>
            <p:cNvSpPr>
              <a:spLocks noChangeShapeType="1"/>
            </p:cNvSpPr>
            <p:nvPr/>
          </p:nvSpPr>
          <p:spPr bwMode="auto">
            <a:xfrm flipV="1">
              <a:off x="7049691" y="24000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226" name="Line 26"/>
            <p:cNvSpPr>
              <a:spLocks noChangeShapeType="1"/>
            </p:cNvSpPr>
            <p:nvPr/>
          </p:nvSpPr>
          <p:spPr bwMode="auto">
            <a:xfrm flipV="1">
              <a:off x="7792641" y="29144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3159" y="598277"/>
            <a:ext cx="5222571" cy="1421928"/>
            <a:chOff x="457199" y="195262"/>
            <a:chExt cx="5222571" cy="1421928"/>
          </a:xfrm>
        </p:grpSpPr>
        <p:sp>
          <p:nvSpPr>
            <p:cNvPr id="43026" name="Text Box 2"/>
            <p:cNvSpPr txBox="1">
              <a:spLocks noChangeArrowheads="1"/>
            </p:cNvSpPr>
            <p:nvPr/>
          </p:nvSpPr>
          <p:spPr bwMode="auto">
            <a:xfrm>
              <a:off x="457199" y="195262"/>
              <a:ext cx="5222571" cy="1421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    若球体在水面上具有竖直向下的速率  ，且在水中  </a:t>
              </a:r>
              <a:r>
                <a:rPr lang="zh-CN" altLang="en-US" b="1" smtClean="0">
                  <a:solidFill>
                    <a:srgbClr val="1C1C1C"/>
                  </a:solidFill>
                  <a:latin typeface="宋体" pitchFamily="2" charset="-122"/>
                </a:rPr>
                <a:t>     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，则球在水中仅受阻力       </a:t>
              </a:r>
              <a:r>
                <a:rPr lang="zh-CN" altLang="en-US" b="1" smtClean="0">
                  <a:solidFill>
                    <a:srgbClr val="1C1C1C"/>
                  </a:solidFill>
                  <a:latin typeface="宋体" pitchFamily="2" charset="-122"/>
                </a:rPr>
                <a:t> 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的作用     </a:t>
              </a:r>
            </a:p>
          </p:txBody>
        </p:sp>
        <p:graphicFrame>
          <p:nvGraphicFramePr>
            <p:cNvPr id="43010" name="Object 3"/>
            <p:cNvGraphicFramePr>
              <a:graphicFrameLocks noChangeAspect="1"/>
            </p:cNvGraphicFramePr>
            <p:nvPr>
              <p:extLst/>
            </p:nvPr>
          </p:nvGraphicFramePr>
          <p:xfrm>
            <a:off x="1134072" y="613475"/>
            <a:ext cx="40005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05" r:id="rId3" imgW="177809" imgH="228521" progId="Equation.3">
                    <p:embed/>
                  </p:oleObj>
                </mc:Choice>
                <mc:Fallback>
                  <p:oleObj r:id="rId3" imgW="177809" imgH="228521" progId="Equation.3">
                    <p:embed/>
                    <p:pic>
                      <p:nvPicPr>
                        <p:cNvPr id="4301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4072" y="613475"/>
                          <a:ext cx="400050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1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2943225" y="644525"/>
            <a:ext cx="1284288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06" name="Equation" r:id="rId5" imgW="558720" imgH="228600" progId="Equation.DSMT4">
                    <p:embed/>
                  </p:oleObj>
                </mc:Choice>
                <mc:Fallback>
                  <p:oleObj name="Equation" r:id="rId5" imgW="558720" imgH="228600" progId="Equation.DSMT4">
                    <p:embed/>
                    <p:pic>
                      <p:nvPicPr>
                        <p:cNvPr id="4301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225" y="644525"/>
                          <a:ext cx="1284288" cy="527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2" name="Object 5"/>
            <p:cNvGraphicFramePr>
              <a:graphicFrameLocks noChangeAspect="1"/>
            </p:cNvGraphicFramePr>
            <p:nvPr>
              <p:extLst/>
            </p:nvPr>
          </p:nvGraphicFramePr>
          <p:xfrm>
            <a:off x="2506265" y="1084170"/>
            <a:ext cx="1093788" cy="528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07" name="Equation" r:id="rId7" imgW="482400" imgH="228600" progId="Equation.DSMT4">
                    <p:embed/>
                  </p:oleObj>
                </mc:Choice>
                <mc:Fallback>
                  <p:oleObj name="Equation" r:id="rId7" imgW="482400" imgH="228600" progId="Equation.DSMT4">
                    <p:embed/>
                    <p:pic>
                      <p:nvPicPr>
                        <p:cNvPr id="4301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6265" y="1084170"/>
                          <a:ext cx="1093788" cy="528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120966"/>
              </p:ext>
            </p:extLst>
          </p:nvPr>
        </p:nvGraphicFramePr>
        <p:xfrm>
          <a:off x="1187154" y="2149135"/>
          <a:ext cx="1631388" cy="753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8" r:id="rId9" imgW="749292" imgH="393846" progId="Equation.3">
                  <p:embed/>
                </p:oleObj>
              </mc:Choice>
              <mc:Fallback>
                <p:oleObj r:id="rId9" imgW="749292" imgH="393846" progId="Equation.3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4" y="2149135"/>
                        <a:ext cx="1631388" cy="7533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77454"/>
              </p:ext>
            </p:extLst>
          </p:nvPr>
        </p:nvGraphicFramePr>
        <p:xfrm>
          <a:off x="1187154" y="3104270"/>
          <a:ext cx="2468860" cy="754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9" r:id="rId11" imgW="1079349" imgH="393846" progId="Equation.3">
                  <p:embed/>
                </p:oleObj>
              </mc:Choice>
              <mc:Fallback>
                <p:oleObj r:id="rId11" imgW="1079349" imgH="393846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4" y="3104270"/>
                        <a:ext cx="2468860" cy="7543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98369"/>
              </p:ext>
            </p:extLst>
          </p:nvPr>
        </p:nvGraphicFramePr>
        <p:xfrm>
          <a:off x="1187154" y="4157448"/>
          <a:ext cx="2395606" cy="584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0" r:id="rId13" imgW="812764" imgH="241512" progId="Equation.3">
                  <p:embed/>
                </p:oleObj>
              </mc:Choice>
              <mc:Fallback>
                <p:oleObj r:id="rId13" imgW="812764" imgH="241512" progId="Equation.3">
                  <p:embed/>
                  <p:pic>
                    <p:nvPicPr>
                      <p:cNvPr id="86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4" y="4157448"/>
                        <a:ext cx="2395606" cy="58405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6404862" y="3132189"/>
            <a:ext cx="2135981" cy="1616869"/>
            <a:chOff x="0" y="0"/>
            <a:chExt cx="1794" cy="1358"/>
          </a:xfrm>
        </p:grpSpPr>
        <p:sp>
          <p:nvSpPr>
            <p:cNvPr id="43029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1794" cy="13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030" name="Line 29"/>
            <p:cNvSpPr>
              <a:spLocks noChangeShapeType="1"/>
            </p:cNvSpPr>
            <p:nvPr/>
          </p:nvSpPr>
          <p:spPr bwMode="auto">
            <a:xfrm flipV="1">
              <a:off x="372" y="96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031" name="Line 30"/>
            <p:cNvSpPr>
              <a:spLocks noChangeShapeType="1"/>
            </p:cNvSpPr>
            <p:nvPr/>
          </p:nvSpPr>
          <p:spPr bwMode="auto">
            <a:xfrm>
              <a:off x="372" y="124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3016" name="Object 31"/>
            <p:cNvGraphicFramePr>
              <a:graphicFrameLocks noChangeAspect="1"/>
            </p:cNvGraphicFramePr>
            <p:nvPr/>
          </p:nvGraphicFramePr>
          <p:xfrm>
            <a:off x="386" y="34"/>
            <a:ext cx="27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1" r:id="rId15" imgW="127042" imgH="139714" progId="Equation.3">
                    <p:embed/>
                  </p:oleObj>
                </mc:Choice>
                <mc:Fallback>
                  <p:oleObj r:id="rId15" imgW="127042" imgH="139714" progId="Equation.3">
                    <p:embed/>
                    <p:pic>
                      <p:nvPicPr>
                        <p:cNvPr id="43016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34"/>
                          <a:ext cx="27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Freeform 32"/>
            <p:cNvSpPr>
              <a:spLocks/>
            </p:cNvSpPr>
            <p:nvPr/>
          </p:nvSpPr>
          <p:spPr bwMode="auto">
            <a:xfrm>
              <a:off x="379" y="514"/>
              <a:ext cx="1135" cy="710"/>
            </a:xfrm>
            <a:custGeom>
              <a:avLst/>
              <a:gdLst>
                <a:gd name="T0" fmla="*/ 0 w 1135"/>
                <a:gd name="T1" fmla="*/ 0 h 710"/>
                <a:gd name="T2" fmla="*/ 102 w 1135"/>
                <a:gd name="T3" fmla="*/ 244 h 710"/>
                <a:gd name="T4" fmla="*/ 202 w 1135"/>
                <a:gd name="T5" fmla="*/ 408 h 710"/>
                <a:gd name="T6" fmla="*/ 312 w 1135"/>
                <a:gd name="T7" fmla="*/ 518 h 710"/>
                <a:gd name="T8" fmla="*/ 476 w 1135"/>
                <a:gd name="T9" fmla="*/ 609 h 710"/>
                <a:gd name="T10" fmla="*/ 742 w 1135"/>
                <a:gd name="T11" fmla="*/ 673 h 710"/>
                <a:gd name="T12" fmla="*/ 1135 w 1135"/>
                <a:gd name="T13" fmla="*/ 710 h 7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35"/>
                <a:gd name="T22" fmla="*/ 0 h 710"/>
                <a:gd name="T23" fmla="*/ 1135 w 1135"/>
                <a:gd name="T24" fmla="*/ 710 h 7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35" h="710">
                  <a:moveTo>
                    <a:pt x="0" y="0"/>
                  </a:moveTo>
                  <a:cubicBezTo>
                    <a:pt x="17" y="41"/>
                    <a:pt x="68" y="176"/>
                    <a:pt x="102" y="244"/>
                  </a:cubicBezTo>
                  <a:cubicBezTo>
                    <a:pt x="136" y="312"/>
                    <a:pt x="167" y="362"/>
                    <a:pt x="202" y="408"/>
                  </a:cubicBezTo>
                  <a:cubicBezTo>
                    <a:pt x="237" y="454"/>
                    <a:pt x="266" y="485"/>
                    <a:pt x="312" y="518"/>
                  </a:cubicBezTo>
                  <a:cubicBezTo>
                    <a:pt x="358" y="551"/>
                    <a:pt x="404" y="583"/>
                    <a:pt x="476" y="609"/>
                  </a:cubicBezTo>
                  <a:cubicBezTo>
                    <a:pt x="548" y="635"/>
                    <a:pt x="632" y="656"/>
                    <a:pt x="742" y="673"/>
                  </a:cubicBezTo>
                  <a:cubicBezTo>
                    <a:pt x="852" y="690"/>
                    <a:pt x="1053" y="702"/>
                    <a:pt x="1135" y="71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3017" name="Object 33"/>
            <p:cNvGraphicFramePr>
              <a:graphicFrameLocks noChangeAspect="1"/>
            </p:cNvGraphicFramePr>
            <p:nvPr/>
          </p:nvGraphicFramePr>
          <p:xfrm>
            <a:off x="1542" y="960"/>
            <a:ext cx="1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2" r:id="rId17" imgW="114419" imgH="215843" progId="Equation.3">
                    <p:embed/>
                  </p:oleObj>
                </mc:Choice>
                <mc:Fallback>
                  <p:oleObj r:id="rId17" imgW="114419" imgH="215843" progId="Equation.3">
                    <p:embed/>
                    <p:pic>
                      <p:nvPicPr>
                        <p:cNvPr id="43017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60"/>
                          <a:ext cx="12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8" name="Object 34"/>
            <p:cNvGraphicFramePr>
              <a:graphicFrameLocks noChangeAspect="1"/>
            </p:cNvGraphicFramePr>
            <p:nvPr/>
          </p:nvGraphicFramePr>
          <p:xfrm>
            <a:off x="66" y="1008"/>
            <a:ext cx="30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3" r:id="rId19" imgW="127042" imgH="139714" progId="Equation.3">
                    <p:embed/>
                  </p:oleObj>
                </mc:Choice>
                <mc:Fallback>
                  <p:oleObj r:id="rId19" imgW="127042" imgH="139714" progId="Equation.3">
                    <p:embed/>
                    <p:pic>
                      <p:nvPicPr>
                        <p:cNvPr id="4301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1008"/>
                          <a:ext cx="30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35"/>
            <p:cNvGraphicFramePr>
              <a:graphicFrameLocks noChangeAspect="1"/>
            </p:cNvGraphicFramePr>
            <p:nvPr/>
          </p:nvGraphicFramePr>
          <p:xfrm>
            <a:off x="0" y="315"/>
            <a:ext cx="356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4" r:id="rId21" imgW="177809" imgH="228521" progId="Equation.3">
                    <p:embed/>
                  </p:oleObj>
                </mc:Choice>
                <mc:Fallback>
                  <p:oleObj r:id="rId21" imgW="177809" imgH="228521" progId="Equation.3">
                    <p:embed/>
                    <p:pic>
                      <p:nvPicPr>
                        <p:cNvPr id="43019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15"/>
                          <a:ext cx="356" cy="4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6248890" y="127847"/>
            <a:ext cx="1718075" cy="2693591"/>
            <a:chOff x="6811647" y="1546224"/>
            <a:chExt cx="1718075" cy="2693591"/>
          </a:xfrm>
        </p:grpSpPr>
        <p:grpSp>
          <p:nvGrpSpPr>
            <p:cNvPr id="38" name="Group 4"/>
            <p:cNvGrpSpPr>
              <a:grpSpLocks/>
            </p:cNvGrpSpPr>
            <p:nvPr/>
          </p:nvGrpSpPr>
          <p:grpSpPr bwMode="auto">
            <a:xfrm>
              <a:off x="7211698" y="2725340"/>
              <a:ext cx="981075" cy="802482"/>
              <a:chOff x="0" y="-49"/>
              <a:chExt cx="824" cy="674"/>
            </a:xfrm>
          </p:grpSpPr>
          <p:sp>
            <p:nvSpPr>
              <p:cNvPr id="51" name="Line 5"/>
              <p:cNvSpPr>
                <a:spLocks noChangeShapeType="1"/>
              </p:cNvSpPr>
              <p:nvPr/>
            </p:nvSpPr>
            <p:spPr bwMode="auto">
              <a:xfrm>
                <a:off x="692" y="19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2" name="Object 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60" y="-49"/>
              <a:ext cx="264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815" name="Equation" r:id="rId23" imgW="126720" imgH="139680" progId="Equation.DSMT4">
                      <p:embed/>
                    </p:oleObj>
                  </mc:Choice>
                  <mc:Fallback>
                    <p:oleObj name="Equation" r:id="rId23" imgW="126720" imgH="139680" progId="Equation.DSMT4">
                      <p:embed/>
                      <p:pic>
                        <p:nvPicPr>
                          <p:cNvPr id="5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" y="-49"/>
                            <a:ext cx="264" cy="2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Oval 7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240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39" name="Group 8"/>
            <p:cNvGrpSpPr>
              <a:grpSpLocks/>
            </p:cNvGrpSpPr>
            <p:nvPr/>
          </p:nvGrpSpPr>
          <p:grpSpPr bwMode="auto">
            <a:xfrm>
              <a:off x="7441487" y="2125266"/>
              <a:ext cx="439341" cy="772715"/>
              <a:chOff x="0" y="1"/>
              <a:chExt cx="369" cy="649"/>
            </a:xfrm>
          </p:grpSpPr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 flipV="1">
                <a:off x="0" y="122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CC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0" name="Object 1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" y="1"/>
              <a:ext cx="341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816" name="Equation" r:id="rId25" imgW="164880" imgH="228600" progId="Equation.DSMT4">
                      <p:embed/>
                    </p:oleObj>
                  </mc:Choice>
                  <mc:Fallback>
                    <p:oleObj name="Equation" r:id="rId25" imgW="164880" imgH="228600" progId="Equation.DSMT4">
                      <p:embed/>
                      <p:pic>
                        <p:nvPicPr>
                          <p:cNvPr id="5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" y="1"/>
                            <a:ext cx="341" cy="4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Group 13"/>
            <p:cNvGrpSpPr>
              <a:grpSpLocks/>
            </p:cNvGrpSpPr>
            <p:nvPr/>
          </p:nvGrpSpPr>
          <p:grpSpPr bwMode="auto">
            <a:xfrm>
              <a:off x="7083110" y="3100387"/>
              <a:ext cx="544115" cy="1139428"/>
              <a:chOff x="-84" y="0"/>
              <a:chExt cx="457" cy="957"/>
            </a:xfrm>
          </p:grpSpPr>
          <p:sp>
            <p:nvSpPr>
              <p:cNvPr id="47" name="Line 14"/>
              <p:cNvSpPr>
                <a:spLocks noChangeShapeType="1"/>
              </p:cNvSpPr>
              <p:nvPr/>
            </p:nvSpPr>
            <p:spPr bwMode="auto">
              <a:xfrm>
                <a:off x="145" y="0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8" name="Object 1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-84" y="648"/>
              <a:ext cx="457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817" name="Equation" r:id="rId27" imgW="241200" imgH="164880" progId="Equation.DSMT4">
                      <p:embed/>
                    </p:oleObj>
                  </mc:Choice>
                  <mc:Fallback>
                    <p:oleObj name="Equation" r:id="rId27" imgW="241200" imgH="164880" progId="Equation.DSMT4">
                      <p:embed/>
                      <p:pic>
                        <p:nvPicPr>
                          <p:cNvPr id="48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4" y="648"/>
                            <a:ext cx="457" cy="3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Group 16"/>
            <p:cNvGrpSpPr>
              <a:grpSpLocks/>
            </p:cNvGrpSpPr>
            <p:nvPr/>
          </p:nvGrpSpPr>
          <p:grpSpPr bwMode="auto">
            <a:xfrm>
              <a:off x="8210634" y="1546224"/>
              <a:ext cx="319088" cy="2602706"/>
              <a:chOff x="0" y="160"/>
              <a:chExt cx="268" cy="2186"/>
            </a:xfrm>
          </p:grpSpPr>
          <p:sp>
            <p:nvSpPr>
              <p:cNvPr id="45" name="Line 17"/>
              <p:cNvSpPr>
                <a:spLocks noChangeShapeType="1"/>
              </p:cNvSpPr>
              <p:nvPr/>
            </p:nvSpPr>
            <p:spPr bwMode="auto">
              <a:xfrm>
                <a:off x="144" y="160"/>
                <a:ext cx="0" cy="1802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 type="none" w="lg" len="lg"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6" name="Object 18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0" y="2010"/>
              <a:ext cx="26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818" r:id="rId29" imgW="190734" imgH="241512" progId="Equation.3">
                      <p:embed/>
                    </p:oleObj>
                  </mc:Choice>
                  <mc:Fallback>
                    <p:oleObj r:id="rId29" imgW="190734" imgH="241512" progId="Equation.3">
                      <p:embed/>
                      <p:pic>
                        <p:nvPicPr>
                          <p:cNvPr id="46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010"/>
                            <a:ext cx="26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" name="Group 20"/>
            <p:cNvGrpSpPr>
              <a:grpSpLocks/>
            </p:cNvGrpSpPr>
            <p:nvPr/>
          </p:nvGrpSpPr>
          <p:grpSpPr bwMode="auto">
            <a:xfrm>
              <a:off x="6811647" y="2249091"/>
              <a:ext cx="457201" cy="648891"/>
              <a:chOff x="0" y="0"/>
              <a:chExt cx="384" cy="545"/>
            </a:xfrm>
          </p:grpSpPr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 flipV="1">
                <a:off x="384" y="11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4" name="Object 2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0" y="0"/>
              <a:ext cx="352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819" name="Equation" r:id="rId31" imgW="190440" imgH="228600" progId="Equation.DSMT4">
                      <p:embed/>
                    </p:oleObj>
                  </mc:Choice>
                  <mc:Fallback>
                    <p:oleObj name="Equation" r:id="rId31" imgW="190440" imgH="228600" progId="Equation.DSMT4">
                      <p:embed/>
                      <p:pic>
                        <p:nvPicPr>
                          <p:cNvPr id="44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52" cy="4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矩形 2"/>
          <p:cNvSpPr/>
          <p:nvPr/>
        </p:nvSpPr>
        <p:spPr>
          <a:xfrm>
            <a:off x="-87409" y="19999"/>
            <a:ext cx="17726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上次例题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82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697AD-5543-4D4A-B231-1CD32F06321D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495302" y="411632"/>
            <a:ext cx="426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</a:rPr>
              <a:t>解：</a:t>
            </a:r>
            <a:r>
              <a:rPr lang="zh-CN" altLang="en-US" b="1">
                <a:solidFill>
                  <a:srgbClr val="1C1C1C"/>
                </a:solidFill>
              </a:rPr>
              <a:t>建立如右图所示的坐标系</a:t>
            </a: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195888"/>
              </p:ext>
            </p:extLst>
          </p:nvPr>
        </p:nvGraphicFramePr>
        <p:xfrm>
          <a:off x="1172766" y="937640"/>
          <a:ext cx="3018731" cy="578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2" r:id="rId3" imgW="1460183" imgH="279596" progId="Equation.3">
                  <p:embed/>
                </p:oleObj>
              </mc:Choice>
              <mc:Fallback>
                <p:oleObj r:id="rId3" imgW="1460183" imgH="279596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766" y="937640"/>
                        <a:ext cx="3018731" cy="5782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168241" y="2571514"/>
            <a:ext cx="3429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1C1C1C"/>
                </a:solidFill>
              </a:rPr>
              <a:t>又由 </a:t>
            </a:r>
            <a:r>
              <a:rPr lang="zh-CN" altLang="en-US" b="1" dirty="0" smtClean="0">
                <a:solidFill>
                  <a:srgbClr val="1C1C1C"/>
                </a:solidFill>
              </a:rPr>
              <a:t>上次课的例题知</a:t>
            </a:r>
            <a:endParaRPr lang="zh-CN" altLang="en-US" b="1" dirty="0">
              <a:solidFill>
                <a:srgbClr val="1C1C1C"/>
              </a:solidFill>
            </a:endParaRP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372966"/>
              </p:ext>
            </p:extLst>
          </p:nvPr>
        </p:nvGraphicFramePr>
        <p:xfrm>
          <a:off x="4131706" y="2434590"/>
          <a:ext cx="14954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3" name="Equation" r:id="rId5" imgW="1104738" imgH="431930" progId="Equation.DSMT4">
                  <p:embed/>
                </p:oleObj>
              </mc:Choice>
              <mc:Fallback>
                <p:oleObj name="Equation" r:id="rId5" imgW="1104738" imgH="43193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1706" y="2434590"/>
                        <a:ext cx="1495425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124977"/>
              </p:ext>
            </p:extLst>
          </p:nvPr>
        </p:nvGraphicFramePr>
        <p:xfrm>
          <a:off x="1016641" y="3049297"/>
          <a:ext cx="3186115" cy="712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4" r:id="rId7" imgW="1257072" imgH="330374" progId="Equation.3">
                  <p:embed/>
                </p:oleObj>
              </mc:Choice>
              <mc:Fallback>
                <p:oleObj r:id="rId7" imgW="1257072" imgH="330374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641" y="3049297"/>
                        <a:ext cx="3186115" cy="71261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733069"/>
              </p:ext>
            </p:extLst>
          </p:nvPr>
        </p:nvGraphicFramePr>
        <p:xfrm>
          <a:off x="1755616" y="3853282"/>
          <a:ext cx="22542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5" name="Equation" r:id="rId9" imgW="1066680" imgH="393480" progId="Equation.DSMT4">
                  <p:embed/>
                </p:oleObj>
              </mc:Choice>
              <mc:Fallback>
                <p:oleObj name="Equation" r:id="rId9" imgW="106668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616" y="3853282"/>
                        <a:ext cx="2254250" cy="8350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5" name="Object 31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4004738264"/>
              </p:ext>
            </p:extLst>
          </p:nvPr>
        </p:nvGraphicFramePr>
        <p:xfrm>
          <a:off x="1448094" y="1580200"/>
          <a:ext cx="3265292" cy="830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6" r:id="rId11" imgW="1549045" imgH="393846" progId="Equation.3">
                  <p:embed/>
                </p:oleObj>
              </mc:Choice>
              <mc:Fallback>
                <p:oleObj r:id="rId11" imgW="1549045" imgH="393846" progId="Equation.3">
                  <p:embed/>
                  <p:pic>
                    <p:nvPicPr>
                      <p:cNvPr id="0" name="Picture 3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094" y="1580200"/>
                        <a:ext cx="3265292" cy="830233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6878241" y="2015295"/>
            <a:ext cx="1314450" cy="2499329"/>
            <a:chOff x="6878241" y="2015295"/>
            <a:chExt cx="1314450" cy="2499329"/>
          </a:xfrm>
        </p:grpSpPr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6878241" y="2285774"/>
              <a:ext cx="1314450" cy="22288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66CC">
                    <a:alpha val="5000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5" name="Oval 6"/>
            <p:cNvSpPr>
              <a:spLocks noChangeArrowheads="1"/>
            </p:cNvSpPr>
            <p:nvPr/>
          </p:nvSpPr>
          <p:spPr bwMode="auto">
            <a:xfrm>
              <a:off x="7607017" y="2182929"/>
              <a:ext cx="208981" cy="208981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FF9933">
                    <a:gamma/>
                    <a:shade val="6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7713096" y="2413455"/>
              <a:ext cx="0" cy="5715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5845638"/>
                </p:ext>
              </p:extLst>
            </p:nvPr>
          </p:nvGraphicFramePr>
          <p:xfrm>
            <a:off x="7572375" y="3085876"/>
            <a:ext cx="391716" cy="4929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17" name="Equation" r:id="rId13" imgW="177480" imgH="228600" progId="Equation.DSMT4">
                    <p:embed/>
                  </p:oleObj>
                </mc:Choice>
                <mc:Fallback>
                  <p:oleObj name="Equation" r:id="rId13" imgW="177480" imgH="228600" progId="Equation.DSMT4">
                    <p:embed/>
                    <p:pic>
                      <p:nvPicPr>
                        <p:cNvPr id="5120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2375" y="3085876"/>
                          <a:ext cx="391716" cy="4929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9"/>
            <p:cNvSpPr>
              <a:spLocks noChangeShapeType="1"/>
            </p:cNvSpPr>
            <p:nvPr/>
          </p:nvSpPr>
          <p:spPr bwMode="auto">
            <a:xfrm flipH="1">
              <a:off x="7449741" y="2285774"/>
              <a:ext cx="0" cy="2114549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1094584"/>
                </p:ext>
              </p:extLst>
            </p:nvPr>
          </p:nvGraphicFramePr>
          <p:xfrm>
            <a:off x="7465221" y="4109811"/>
            <a:ext cx="384572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18" r:id="rId15" imgW="127042" imgH="139714" progId="Equation.3">
                    <p:embed/>
                  </p:oleObj>
                </mc:Choice>
                <mc:Fallback>
                  <p:oleObj r:id="rId15" imgW="127042" imgH="139714" progId="Equation.3">
                    <p:embed/>
                    <p:pic>
                      <p:nvPicPr>
                        <p:cNvPr id="5121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5221" y="4109811"/>
                          <a:ext cx="384572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Line 11"/>
            <p:cNvSpPr>
              <a:spLocks noChangeShapeType="1"/>
            </p:cNvSpPr>
            <p:nvPr/>
          </p:nvSpPr>
          <p:spPr bwMode="auto">
            <a:xfrm>
              <a:off x="6992541" y="2285774"/>
              <a:ext cx="10858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1170332"/>
                </p:ext>
              </p:extLst>
            </p:nvPr>
          </p:nvGraphicFramePr>
          <p:xfrm>
            <a:off x="7315200" y="2015295"/>
            <a:ext cx="248841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19" r:id="rId17" imgW="165202" imgH="190569" progId="Equation.3">
                    <p:embed/>
                  </p:oleObj>
                </mc:Choice>
                <mc:Fallback>
                  <p:oleObj r:id="rId17" imgW="165202" imgH="190569" progId="Equation.3">
                    <p:embed/>
                    <p:pic>
                      <p:nvPicPr>
                        <p:cNvPr id="5121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5200" y="2015295"/>
                          <a:ext cx="248841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13"/>
            <p:cNvSpPr>
              <a:spLocks noChangeShapeType="1"/>
            </p:cNvSpPr>
            <p:nvPr/>
          </p:nvSpPr>
          <p:spPr bwMode="auto">
            <a:xfrm flipV="1">
              <a:off x="7163991" y="25143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3" name="Line 14"/>
            <p:cNvSpPr>
              <a:spLocks noChangeShapeType="1"/>
            </p:cNvSpPr>
            <p:nvPr/>
          </p:nvSpPr>
          <p:spPr bwMode="auto">
            <a:xfrm flipV="1">
              <a:off x="7221141" y="27429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4" name="Line 16"/>
            <p:cNvSpPr>
              <a:spLocks noChangeShapeType="1"/>
            </p:cNvSpPr>
            <p:nvPr/>
          </p:nvSpPr>
          <p:spPr bwMode="auto">
            <a:xfrm flipV="1">
              <a:off x="7849791" y="26286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5" name="Line 18"/>
            <p:cNvSpPr>
              <a:spLocks noChangeShapeType="1"/>
            </p:cNvSpPr>
            <p:nvPr/>
          </p:nvSpPr>
          <p:spPr bwMode="auto">
            <a:xfrm flipV="1">
              <a:off x="7564041" y="24572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6" name="Line 19"/>
            <p:cNvSpPr>
              <a:spLocks noChangeShapeType="1"/>
            </p:cNvSpPr>
            <p:nvPr/>
          </p:nvSpPr>
          <p:spPr bwMode="auto">
            <a:xfrm flipV="1">
              <a:off x="7906941" y="24572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 flipV="1">
              <a:off x="7221141" y="25143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 flipV="1">
              <a:off x="7449741" y="26858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49" name="Line 23"/>
            <p:cNvSpPr>
              <a:spLocks noChangeShapeType="1"/>
            </p:cNvSpPr>
            <p:nvPr/>
          </p:nvSpPr>
          <p:spPr bwMode="auto">
            <a:xfrm flipV="1">
              <a:off x="7163991" y="29144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0" name="Line 24"/>
            <p:cNvSpPr>
              <a:spLocks noChangeShapeType="1"/>
            </p:cNvSpPr>
            <p:nvPr/>
          </p:nvSpPr>
          <p:spPr bwMode="auto">
            <a:xfrm flipV="1">
              <a:off x="7049691" y="240007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" name="Line 26"/>
            <p:cNvSpPr>
              <a:spLocks noChangeShapeType="1"/>
            </p:cNvSpPr>
            <p:nvPr/>
          </p:nvSpPr>
          <p:spPr bwMode="auto">
            <a:xfrm flipV="1">
              <a:off x="7792641" y="2914424"/>
              <a:ext cx="17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221904" y="207737"/>
            <a:ext cx="3870105" cy="1492594"/>
            <a:chOff x="5221904" y="207737"/>
            <a:chExt cx="3870105" cy="1492594"/>
          </a:xfrm>
        </p:grpSpPr>
        <p:graphicFrame>
          <p:nvGraphicFramePr>
            <p:cNvPr id="2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591932"/>
                </p:ext>
              </p:extLst>
            </p:nvPr>
          </p:nvGraphicFramePr>
          <p:xfrm>
            <a:off x="5978922" y="207737"/>
            <a:ext cx="3113087" cy="1106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20" name="Equation" r:id="rId19" imgW="1409400" imgH="609480" progId="Equation.DSMT4">
                    <p:embed/>
                  </p:oleObj>
                </mc:Choice>
                <mc:Fallback>
                  <p:oleObj name="Equation" r:id="rId19" imgW="1409400" imgH="609480" progId="Equation.DSMT4">
                    <p:embed/>
                    <p:pic>
                      <p:nvPicPr>
                        <p:cNvPr id="5018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8922" y="207737"/>
                          <a:ext cx="3113087" cy="1106488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C00000"/>
                          </a:solidFill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" name="直接箭头连接符 2"/>
            <p:cNvCxnSpPr/>
            <p:nvPr/>
          </p:nvCxnSpPr>
          <p:spPr bwMode="auto">
            <a:xfrm flipH="1">
              <a:off x="5221904" y="1314225"/>
              <a:ext cx="757018" cy="38610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CD114-29B8-4E97-AEB3-DF18A40461D4}" type="slidenum">
              <a:rPr lang="zh-CN" altLang="en-US"/>
              <a:pPr/>
              <a:t>30</a:t>
            </a:fld>
            <a:endParaRPr lang="en-US" altLang="zh-CN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743313"/>
              </p:ext>
            </p:extLst>
          </p:nvPr>
        </p:nvGraphicFramePr>
        <p:xfrm>
          <a:off x="1083131" y="1024931"/>
          <a:ext cx="1574770" cy="57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1" r:id="rId3" imgW="761986" imgH="279596" progId="Equation.3">
                  <p:embed/>
                </p:oleObj>
              </mc:Choice>
              <mc:Fallback>
                <p:oleObj r:id="rId3" imgW="761986" imgH="279596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131" y="1024931"/>
                        <a:ext cx="1574770" cy="579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1" name="Group 3"/>
          <p:cNvGrpSpPr>
            <a:grpSpLocks/>
          </p:cNvGrpSpPr>
          <p:nvPr/>
        </p:nvGrpSpPr>
        <p:grpSpPr bwMode="auto">
          <a:xfrm>
            <a:off x="1083131" y="1817221"/>
            <a:ext cx="1934765" cy="900113"/>
            <a:chOff x="0" y="0"/>
            <a:chExt cx="1625" cy="756"/>
          </a:xfrm>
        </p:grpSpPr>
        <p:graphicFrame>
          <p:nvGraphicFramePr>
            <p:cNvPr id="53252" name="Object 4"/>
            <p:cNvGraphicFramePr>
              <a:graphicFrameLocks noChangeAspect="1"/>
            </p:cNvGraphicFramePr>
            <p:nvPr/>
          </p:nvGraphicFramePr>
          <p:xfrm>
            <a:off x="409" y="0"/>
            <a:ext cx="1216" cy="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32" r:id="rId5" imgW="647736" imgH="393846" progId="Equation.3">
                    <p:embed/>
                  </p:oleObj>
                </mc:Choice>
                <mc:Fallback>
                  <p:oleObj r:id="rId5" imgW="647736" imgH="393846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" y="0"/>
                          <a:ext cx="1216" cy="7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3" name="Text Box 5"/>
            <p:cNvSpPr txBox="1">
              <a:spLocks noChangeArrowheads="1"/>
            </p:cNvSpPr>
            <p:nvPr/>
          </p:nvSpPr>
          <p:spPr bwMode="auto">
            <a:xfrm>
              <a:off x="0" y="177"/>
              <a:ext cx="46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1C1C1C"/>
                  </a:solidFill>
                </a:rPr>
                <a:t>而</a:t>
              </a:r>
            </a:p>
          </p:txBody>
        </p:sp>
      </p:grpSp>
      <p:graphicFrame>
        <p:nvGraphicFramePr>
          <p:cNvPr id="5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041577"/>
              </p:ext>
            </p:extLst>
          </p:nvPr>
        </p:nvGraphicFramePr>
        <p:xfrm>
          <a:off x="1925241" y="3756096"/>
          <a:ext cx="2402919" cy="806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3" r:id="rId7" imgW="1041265" imgH="393846" progId="Equation.3">
                  <p:embed/>
                </p:oleObj>
              </mc:Choice>
              <mc:Fallback>
                <p:oleObj r:id="rId7" imgW="1041265" imgH="393846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241" y="3756096"/>
                        <a:ext cx="2402919" cy="80670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427525" y="310340"/>
            <a:ext cx="35897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Arial" charset="0"/>
              </a:rPr>
              <a:t>二、质</a:t>
            </a:r>
            <a:r>
              <a:rPr lang="zh-CN" altLang="en-US" b="1" dirty="0">
                <a:solidFill>
                  <a:srgbClr val="CC0000"/>
                </a:solidFill>
                <a:latin typeface="Arial" charset="0"/>
              </a:rPr>
              <a:t>点的动能定理</a:t>
            </a:r>
          </a:p>
        </p:txBody>
      </p:sp>
      <p:graphicFrame>
        <p:nvGraphicFramePr>
          <p:cNvPr id="53256" name="Object 8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62259014"/>
              </p:ext>
            </p:extLst>
          </p:nvPr>
        </p:nvGraphicFramePr>
        <p:xfrm>
          <a:off x="1358761" y="2844404"/>
          <a:ext cx="2077860" cy="73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4" r:id="rId9" imgW="1002747" imgH="355609" progId="Equation.3">
                  <p:embed/>
                </p:oleObj>
              </mc:Choice>
              <mc:Fallback>
                <p:oleObj r:id="rId9" imgW="1002747" imgH="355609" progId="Equation.3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761" y="2844404"/>
                        <a:ext cx="2077860" cy="736188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9710578"/>
              </p:ext>
            </p:extLst>
          </p:nvPr>
        </p:nvGraphicFramePr>
        <p:xfrm>
          <a:off x="2657901" y="1020937"/>
          <a:ext cx="2672339" cy="572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5" name="Equation" r:id="rId11" imgW="1422360" imgH="304560" progId="Equation.DSMT4">
                  <p:embed/>
                </p:oleObj>
              </mc:Choice>
              <mc:Fallback>
                <p:oleObj name="Equation" r:id="rId11" imgW="1422360" imgH="304560" progId="Equation.DSMT4">
                  <p:embed/>
                  <p:pic>
                    <p:nvPicPr>
                      <p:cNvPr id="0" name="Picture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901" y="1020937"/>
                        <a:ext cx="2672339" cy="572644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23739850"/>
              </p:ext>
            </p:extLst>
          </p:nvPr>
        </p:nvGraphicFramePr>
        <p:xfrm>
          <a:off x="6946108" y="1522216"/>
          <a:ext cx="332184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6" r:id="rId13" imgW="165202" imgH="215936" progId="Equation.3">
                  <p:embed/>
                </p:oleObj>
              </mc:Choice>
              <mc:Fallback>
                <p:oleObj r:id="rId13" imgW="165202" imgH="215936" progId="Equation.3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108" y="1522216"/>
                        <a:ext cx="332184" cy="43219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9" name="Group 11"/>
          <p:cNvGrpSpPr>
            <a:grpSpLocks/>
          </p:cNvGrpSpPr>
          <p:nvPr/>
        </p:nvGrpSpPr>
        <p:grpSpPr bwMode="auto">
          <a:xfrm>
            <a:off x="6413898" y="1575793"/>
            <a:ext cx="1782366" cy="1747838"/>
            <a:chOff x="0" y="0"/>
            <a:chExt cx="1497" cy="1468"/>
          </a:xfrm>
        </p:grpSpPr>
        <p:sp>
          <p:nvSpPr>
            <p:cNvPr id="53260" name="Freeform 12"/>
            <p:cNvSpPr>
              <a:spLocks/>
            </p:cNvSpPr>
            <p:nvPr/>
          </p:nvSpPr>
          <p:spPr bwMode="auto">
            <a:xfrm>
              <a:off x="89" y="316"/>
              <a:ext cx="1297" cy="11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3" y="81"/>
                </a:cxn>
                <a:cxn ang="0">
                  <a:pos x="757" y="291"/>
                </a:cxn>
                <a:cxn ang="0">
                  <a:pos x="1104" y="694"/>
                </a:cxn>
                <a:cxn ang="0">
                  <a:pos x="1296" y="1151"/>
                </a:cxn>
              </a:cxnLst>
              <a:rect l="0" t="0" r="r" b="b"/>
              <a:pathLst>
                <a:path w="1296" h="1151">
                  <a:moveTo>
                    <a:pt x="0" y="0"/>
                  </a:moveTo>
                  <a:cubicBezTo>
                    <a:pt x="60" y="13"/>
                    <a:pt x="237" y="33"/>
                    <a:pt x="363" y="81"/>
                  </a:cubicBezTo>
                  <a:cubicBezTo>
                    <a:pt x="489" y="129"/>
                    <a:pt x="634" y="189"/>
                    <a:pt x="757" y="291"/>
                  </a:cubicBezTo>
                  <a:cubicBezTo>
                    <a:pt x="880" y="393"/>
                    <a:pt x="1014" y="551"/>
                    <a:pt x="1104" y="694"/>
                  </a:cubicBezTo>
                  <a:cubicBezTo>
                    <a:pt x="1194" y="837"/>
                    <a:pt x="1256" y="1056"/>
                    <a:pt x="1296" y="115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3261" name="Line 13"/>
            <p:cNvSpPr>
              <a:spLocks noChangeShapeType="1"/>
            </p:cNvSpPr>
            <p:nvPr/>
          </p:nvSpPr>
          <p:spPr bwMode="auto">
            <a:xfrm>
              <a:off x="90" y="317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3262" name="Line 14"/>
            <p:cNvSpPr>
              <a:spLocks noChangeShapeType="1"/>
            </p:cNvSpPr>
            <p:nvPr/>
          </p:nvSpPr>
          <p:spPr bwMode="auto">
            <a:xfrm>
              <a:off x="816" y="590"/>
              <a:ext cx="0" cy="5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3263" name="Oval 15"/>
            <p:cNvSpPr>
              <a:spLocks noChangeArrowheads="1"/>
            </p:cNvSpPr>
            <p:nvPr/>
          </p:nvSpPr>
          <p:spPr bwMode="auto">
            <a:xfrm>
              <a:off x="1206" y="1043"/>
              <a:ext cx="46" cy="4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3264" name="Oval 16"/>
            <p:cNvSpPr>
              <a:spLocks noChangeArrowheads="1"/>
            </p:cNvSpPr>
            <p:nvPr/>
          </p:nvSpPr>
          <p:spPr bwMode="auto">
            <a:xfrm>
              <a:off x="54" y="290"/>
              <a:ext cx="46" cy="4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3265" name="Oval 17"/>
            <p:cNvSpPr>
              <a:spLocks noChangeArrowheads="1"/>
            </p:cNvSpPr>
            <p:nvPr/>
          </p:nvSpPr>
          <p:spPr bwMode="auto">
            <a:xfrm>
              <a:off x="798" y="553"/>
              <a:ext cx="46" cy="4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3266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31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/>
                <a:t>A</a:t>
              </a:r>
            </a:p>
          </p:txBody>
        </p:sp>
        <p:sp>
          <p:nvSpPr>
            <p:cNvPr id="53267" name="Text Box 19"/>
            <p:cNvSpPr txBox="1">
              <a:spLocks noChangeArrowheads="1"/>
            </p:cNvSpPr>
            <p:nvPr/>
          </p:nvSpPr>
          <p:spPr bwMode="auto">
            <a:xfrm>
              <a:off x="1179" y="816"/>
              <a:ext cx="31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/>
                <a:t>B</a:t>
              </a:r>
            </a:p>
          </p:txBody>
        </p:sp>
        <p:sp>
          <p:nvSpPr>
            <p:cNvPr id="53268" name="Freeform 20"/>
            <p:cNvSpPr>
              <a:spLocks/>
            </p:cNvSpPr>
            <p:nvPr/>
          </p:nvSpPr>
          <p:spPr bwMode="auto">
            <a:xfrm>
              <a:off x="807" y="572"/>
              <a:ext cx="286" cy="1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182"/>
                </a:cxn>
              </a:cxnLst>
              <a:rect l="0" t="0" r="r" b="b"/>
              <a:pathLst>
                <a:path w="213" h="182">
                  <a:moveTo>
                    <a:pt x="0" y="0"/>
                  </a:moveTo>
                  <a:lnTo>
                    <a:pt x="213" y="182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3269" name="Arc 21"/>
            <p:cNvSpPr>
              <a:spLocks/>
            </p:cNvSpPr>
            <p:nvPr/>
          </p:nvSpPr>
          <p:spPr bwMode="auto">
            <a:xfrm flipV="1">
              <a:off x="822" y="623"/>
              <a:ext cx="127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0125"/>
                <a:gd name="T1" fmla="*/ 0 h 21600"/>
                <a:gd name="T2" fmla="*/ 20125 w 20125"/>
                <a:gd name="T3" fmla="*/ 13755 h 21600"/>
                <a:gd name="T4" fmla="*/ 0 w 2012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125" h="21600" fill="none" extrusionOk="0">
                  <a:moveTo>
                    <a:pt x="-1" y="0"/>
                  </a:moveTo>
                  <a:cubicBezTo>
                    <a:pt x="8901" y="0"/>
                    <a:pt x="16891" y="5461"/>
                    <a:pt x="20125" y="13754"/>
                  </a:cubicBezTo>
                </a:path>
                <a:path w="20125" h="21600" stroke="0" extrusionOk="0">
                  <a:moveTo>
                    <a:pt x="-1" y="0"/>
                  </a:moveTo>
                  <a:cubicBezTo>
                    <a:pt x="8901" y="0"/>
                    <a:pt x="16891" y="5461"/>
                    <a:pt x="20125" y="1375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3270" name="Text Box 22"/>
            <p:cNvSpPr txBox="1">
              <a:spLocks noChangeArrowheads="1"/>
            </p:cNvSpPr>
            <p:nvPr/>
          </p:nvSpPr>
          <p:spPr bwMode="auto">
            <a:xfrm>
              <a:off x="798" y="665"/>
              <a:ext cx="31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/>
                <a:t>θ</a:t>
              </a:r>
            </a:p>
          </p:txBody>
        </p:sp>
      </p:grpSp>
      <p:sp>
        <p:nvSpPr>
          <p:cNvPr id="53271" name="Text Box 23"/>
          <p:cNvSpPr txBox="1">
            <a:spLocks noChangeArrowheads="1"/>
          </p:cNvSpPr>
          <p:nvPr/>
        </p:nvSpPr>
        <p:spPr bwMode="auto">
          <a:xfrm>
            <a:off x="1439466" y="3905251"/>
            <a:ext cx="48577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1350">
              <a:latin typeface="Arial" charset="0"/>
            </a:endParaRPr>
          </a:p>
        </p:txBody>
      </p:sp>
      <p:graphicFrame>
        <p:nvGraphicFramePr>
          <p:cNvPr id="53273" name="Object 25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99160513"/>
              </p:ext>
            </p:extLst>
          </p:nvPr>
        </p:nvGraphicFramePr>
        <p:xfrm>
          <a:off x="7998622" y="2818808"/>
          <a:ext cx="354806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7" r:id="rId15" imgW="177809" imgH="215843" progId="Equation.3">
                  <p:embed/>
                </p:oleObj>
              </mc:Choice>
              <mc:Fallback>
                <p:oleObj r:id="rId15" imgW="177809" imgH="215843" progId="Equation.3">
                  <p:embed/>
                  <p:pic>
                    <p:nvPicPr>
                      <p:cNvPr id="0" name="Picture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8622" y="2818808"/>
                        <a:ext cx="354806" cy="431006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060458"/>
              </p:ext>
            </p:extLst>
          </p:nvPr>
        </p:nvGraphicFramePr>
        <p:xfrm>
          <a:off x="7008020" y="2818806"/>
          <a:ext cx="327422" cy="37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8" r:id="rId17" imgW="165202" imgH="190569" progId="Equation.3">
                  <p:embed/>
                </p:oleObj>
              </mc:Choice>
              <mc:Fallback>
                <p:oleObj r:id="rId17" imgW="165202" imgH="190569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020" y="2818806"/>
                        <a:ext cx="327422" cy="37742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914802"/>
              </p:ext>
            </p:extLst>
          </p:nvPr>
        </p:nvGraphicFramePr>
        <p:xfrm>
          <a:off x="7440219" y="1954414"/>
          <a:ext cx="432197" cy="378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9" r:id="rId19" imgW="203165" imgH="177809" progId="Equation.3">
                  <p:embed/>
                </p:oleObj>
              </mc:Choice>
              <mc:Fallback>
                <p:oleObj r:id="rId19" imgW="203165" imgH="177809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219" y="1954414"/>
                        <a:ext cx="432197" cy="37861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BD026-E83D-4A62-914A-18F1B9B25E60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1577340" y="3194925"/>
            <a:ext cx="636270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000000"/>
                </a:solidFill>
                <a:latin typeface="Arial" charset="0"/>
              </a:rPr>
              <a:t>合</a:t>
            </a:r>
            <a:r>
              <a:rPr lang="zh-CN" altLang="en-US" b="1">
                <a:solidFill>
                  <a:srgbClr val="1C1C1C"/>
                </a:solidFill>
                <a:latin typeface="Arial" charset="0"/>
              </a:rPr>
              <a:t>外力对</a:t>
            </a:r>
            <a:r>
              <a:rPr lang="zh-CN" altLang="en-US" b="1">
                <a:solidFill>
                  <a:srgbClr val="000000"/>
                </a:solidFill>
                <a:latin typeface="Arial" charset="0"/>
              </a:rPr>
              <a:t>质点</a:t>
            </a:r>
            <a:r>
              <a:rPr lang="zh-CN" altLang="en-US" b="1">
                <a:solidFill>
                  <a:srgbClr val="1C1C1C"/>
                </a:solidFill>
                <a:latin typeface="Arial" charset="0"/>
              </a:rPr>
              <a:t>所作的功，等于质点动能的</a:t>
            </a:r>
            <a:r>
              <a:rPr lang="zh-CN" altLang="en-US" b="1">
                <a:solidFill>
                  <a:srgbClr val="000000"/>
                </a:solidFill>
                <a:latin typeface="Arial" charset="0"/>
              </a:rPr>
              <a:t>增量</a:t>
            </a:r>
            <a:r>
              <a:rPr lang="zh-CN" altLang="en-US" b="1">
                <a:solidFill>
                  <a:srgbClr val="1C1C1C"/>
                </a:solidFill>
                <a:latin typeface="Arial" charset="0"/>
              </a:rPr>
              <a:t> </a:t>
            </a:r>
            <a:endParaRPr lang="en-US" altLang="zh-CN" b="1" smtClean="0">
              <a:solidFill>
                <a:srgbClr val="1C1C1C"/>
              </a:solidFill>
              <a:latin typeface="Arial" charset="0"/>
            </a:endParaRPr>
          </a:p>
          <a:p>
            <a:pPr algn="r">
              <a:lnSpc>
                <a:spcPct val="120000"/>
              </a:lnSpc>
            </a:pPr>
            <a:r>
              <a:rPr lang="en-US" altLang="zh-CN" smtClean="0">
                <a:solidFill>
                  <a:srgbClr val="CC0000"/>
                </a:solidFill>
                <a:latin typeface="Arial" charset="0"/>
              </a:rPr>
              <a:t>——</a:t>
            </a:r>
            <a:r>
              <a:rPr lang="zh-CN" altLang="en-US" b="1">
                <a:solidFill>
                  <a:srgbClr val="CC0000"/>
                </a:solidFill>
                <a:latin typeface="Arial" charset="0"/>
              </a:rPr>
              <a:t>质点的动能定理</a:t>
            </a:r>
            <a:endParaRPr lang="zh-CN" altLang="en-US" b="1">
              <a:solidFill>
                <a:srgbClr val="1C1C1C"/>
              </a:solidFill>
              <a:latin typeface="Arial" charset="0"/>
            </a:endParaRPr>
          </a:p>
        </p:txBody>
      </p:sp>
      <p:graphicFrame>
        <p:nvGraphicFramePr>
          <p:cNvPr id="54279" name="Object 7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209071259"/>
              </p:ext>
            </p:extLst>
          </p:nvPr>
        </p:nvGraphicFramePr>
        <p:xfrm>
          <a:off x="2167639" y="801599"/>
          <a:ext cx="4286250" cy="88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4" r:id="rId3" imgW="1904491" imgH="393846" progId="Equation.3">
                  <p:embed/>
                </p:oleObj>
              </mc:Choice>
              <mc:Fallback>
                <p:oleObj r:id="rId3" imgW="1904491" imgH="393846" progId="Equation.3">
                  <p:embed/>
                  <p:pic>
                    <p:nvPicPr>
                      <p:cNvPr id="0" name="Picture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639" y="801599"/>
                        <a:ext cx="4286250" cy="88820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AEEF0"/>
                          </a:gs>
                          <a:gs pos="50000">
                            <a:srgbClr val="FFFFFF"/>
                          </a:gs>
                          <a:gs pos="100000">
                            <a:srgbClr val="DAEEF0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294847" y="2145515"/>
            <a:ext cx="3999275" cy="392871"/>
            <a:chOff x="1574293" y="6169361"/>
            <a:chExt cx="5332367" cy="523828"/>
          </a:xfrm>
        </p:grpSpPr>
        <p:sp>
          <p:nvSpPr>
            <p:cNvPr id="12" name="object 33"/>
            <p:cNvSpPr txBox="1"/>
            <p:nvPr/>
          </p:nvSpPr>
          <p:spPr>
            <a:xfrm>
              <a:off x="1574293" y="6188564"/>
              <a:ext cx="1511935" cy="504625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166688">
                <a:spcBef>
                  <a:spcPts val="71"/>
                </a:spcBef>
              </a:pPr>
              <a:r>
                <a:rPr b="1" spc="-4" dirty="0">
                  <a:latin typeface="宋体"/>
                  <a:cs typeface="宋体"/>
                </a:rPr>
                <a:t>过程量</a:t>
              </a:r>
              <a:endParaRPr b="1">
                <a:latin typeface="宋体"/>
                <a:cs typeface="宋体"/>
              </a:endParaRPr>
            </a:p>
          </p:txBody>
        </p:sp>
        <p:sp>
          <p:nvSpPr>
            <p:cNvPr id="13" name="object 35"/>
            <p:cNvSpPr txBox="1"/>
            <p:nvPr/>
          </p:nvSpPr>
          <p:spPr>
            <a:xfrm>
              <a:off x="4262183" y="6169361"/>
              <a:ext cx="2644477" cy="504625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69056">
                <a:spcBef>
                  <a:spcPts val="71"/>
                </a:spcBef>
              </a:pPr>
              <a:r>
                <a:rPr b="1" spc="-4" dirty="0">
                  <a:latin typeface="宋体"/>
                  <a:cs typeface="宋体"/>
                </a:rPr>
                <a:t>状态量之差</a:t>
              </a:r>
              <a:endParaRPr b="1">
                <a:latin typeface="宋体"/>
                <a:cs typeface="宋体"/>
              </a:endParaRPr>
            </a:p>
          </p:txBody>
        </p:sp>
        <p:sp>
          <p:nvSpPr>
            <p:cNvPr id="14" name="object 36"/>
            <p:cNvSpPr/>
            <p:nvPr/>
          </p:nvSpPr>
          <p:spPr>
            <a:xfrm>
              <a:off x="3072101" y="6295243"/>
              <a:ext cx="1080000" cy="288290"/>
            </a:xfrm>
            <a:custGeom>
              <a:avLst/>
              <a:gdLst/>
              <a:ahLst/>
              <a:cxnLst/>
              <a:rect l="l" t="t" r="r" b="b"/>
              <a:pathLst>
                <a:path w="1518284" h="288289">
                  <a:moveTo>
                    <a:pt x="144399" y="0"/>
                  </a:moveTo>
                  <a:lnTo>
                    <a:pt x="0" y="144018"/>
                  </a:lnTo>
                  <a:lnTo>
                    <a:pt x="144399" y="288036"/>
                  </a:lnTo>
                  <a:lnTo>
                    <a:pt x="144399" y="216027"/>
                  </a:lnTo>
                  <a:lnTo>
                    <a:pt x="1445704" y="216027"/>
                  </a:lnTo>
                  <a:lnTo>
                    <a:pt x="1517904" y="144018"/>
                  </a:lnTo>
                  <a:lnTo>
                    <a:pt x="1445704" y="72009"/>
                  </a:lnTo>
                  <a:lnTo>
                    <a:pt x="144399" y="72009"/>
                  </a:lnTo>
                  <a:lnTo>
                    <a:pt x="144399" y="0"/>
                  </a:lnTo>
                  <a:close/>
                </a:path>
                <a:path w="1518284" h="288289">
                  <a:moveTo>
                    <a:pt x="1445704" y="216027"/>
                  </a:moveTo>
                  <a:lnTo>
                    <a:pt x="1373505" y="216027"/>
                  </a:lnTo>
                  <a:lnTo>
                    <a:pt x="1373505" y="288036"/>
                  </a:lnTo>
                  <a:lnTo>
                    <a:pt x="1445704" y="216027"/>
                  </a:lnTo>
                  <a:close/>
                </a:path>
                <a:path w="1518284" h="288289">
                  <a:moveTo>
                    <a:pt x="1373505" y="0"/>
                  </a:moveTo>
                  <a:lnTo>
                    <a:pt x="1373505" y="72009"/>
                  </a:lnTo>
                  <a:lnTo>
                    <a:pt x="1445704" y="72009"/>
                  </a:lnTo>
                  <a:lnTo>
                    <a:pt x="1373505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/>
          </p:cNvSpPr>
          <p:nvPr/>
        </p:nvSpPr>
        <p:spPr bwMode="auto">
          <a:xfrm>
            <a:off x="3654030" y="1793081"/>
            <a:ext cx="235744" cy="571500"/>
          </a:xfrm>
          <a:prstGeom prst="leftBrace">
            <a:avLst>
              <a:gd name="adj1" fmla="val 2020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1774033" y="1564481"/>
            <a:ext cx="5660231" cy="1110854"/>
            <a:chOff x="0" y="0"/>
            <a:chExt cx="4754" cy="933"/>
          </a:xfrm>
        </p:grpSpPr>
        <p:sp>
          <p:nvSpPr>
            <p:cNvPr id="18436" name="Text Box 4"/>
            <p:cNvSpPr txBox="1">
              <a:spLocks noChangeArrowheads="1"/>
            </p:cNvSpPr>
            <p:nvPr/>
          </p:nvSpPr>
          <p:spPr bwMode="auto">
            <a:xfrm>
              <a:off x="0" y="258"/>
              <a:ext cx="15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Arial" charset="0"/>
                </a:rPr>
                <a:t>力</a:t>
              </a:r>
              <a:r>
                <a:rPr lang="zh-CN" altLang="en-US" b="1">
                  <a:solidFill>
                    <a:srgbClr val="1C1C1C"/>
                  </a:solidFill>
                  <a:latin typeface="Arial" charset="0"/>
                </a:rPr>
                <a:t>的</a:t>
              </a:r>
              <a:r>
                <a:rPr lang="zh-CN" altLang="en-US" b="1">
                  <a:solidFill>
                    <a:srgbClr val="CC0000"/>
                  </a:solidFill>
                  <a:latin typeface="Arial" charset="0"/>
                </a:rPr>
                <a:t>累积</a:t>
              </a:r>
              <a:r>
                <a:rPr lang="zh-CN" altLang="en-US" b="1">
                  <a:solidFill>
                    <a:srgbClr val="1C1C1C"/>
                  </a:solidFill>
                  <a:latin typeface="Arial" charset="0"/>
                </a:rPr>
                <a:t>效应</a:t>
              </a:r>
              <a:endParaRPr lang="zh-CN" altLang="en-US">
                <a:latin typeface="Arial" charset="0"/>
              </a:endParaRPr>
            </a:p>
          </p:txBody>
        </p:sp>
        <p:graphicFrame>
          <p:nvGraphicFramePr>
            <p:cNvPr id="18437" name="Object 5"/>
            <p:cNvGraphicFramePr>
              <a:graphicFrameLocks noChangeAspect="1"/>
            </p:cNvGraphicFramePr>
            <p:nvPr/>
          </p:nvGraphicFramePr>
          <p:xfrm>
            <a:off x="1758" y="0"/>
            <a:ext cx="2996" cy="9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39" r:id="rId3" imgW="1523656" imgH="482708" progId="Equation.3">
                    <p:embed/>
                  </p:oleObj>
                </mc:Choice>
                <mc:Fallback>
                  <p:oleObj r:id="rId3" imgW="1523656" imgH="4827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8" y="0"/>
                          <a:ext cx="2996" cy="9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8" name="Text Box 6"/>
            <p:cNvSpPr txBox="1">
              <a:spLocks noChangeArrowheads="1"/>
            </p:cNvSpPr>
            <p:nvPr/>
          </p:nvSpPr>
          <p:spPr bwMode="auto">
            <a:xfrm>
              <a:off x="1987" y="25"/>
              <a:ext cx="163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1C1C1C"/>
                  </a:solidFill>
                </a:rPr>
                <a:t>对时间积累</a:t>
              </a:r>
            </a:p>
          </p:txBody>
        </p:sp>
        <p:sp>
          <p:nvSpPr>
            <p:cNvPr id="18439" name="Text Box 7"/>
            <p:cNvSpPr txBox="1">
              <a:spLocks noChangeArrowheads="1"/>
            </p:cNvSpPr>
            <p:nvPr/>
          </p:nvSpPr>
          <p:spPr bwMode="auto">
            <a:xfrm>
              <a:off x="1987" y="519"/>
              <a:ext cx="145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1C1C1C"/>
                  </a:solidFill>
                </a:rPr>
                <a:t>对空间积累</a:t>
              </a:r>
            </a:p>
          </p:txBody>
        </p:sp>
      </p:grpSp>
      <p:grpSp>
        <p:nvGrpSpPr>
          <p:cNvPr id="18440" name="Group 8"/>
          <p:cNvGrpSpPr>
            <a:grpSpLocks/>
          </p:cNvGrpSpPr>
          <p:nvPr/>
        </p:nvGrpSpPr>
        <p:grpSpPr bwMode="auto">
          <a:xfrm>
            <a:off x="1818087" y="2842022"/>
            <a:ext cx="6579393" cy="1126332"/>
            <a:chOff x="0" y="-59"/>
            <a:chExt cx="5526" cy="946"/>
          </a:xfrm>
        </p:grpSpPr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694" y="499"/>
              <a:ext cx="411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1C1C1C"/>
                  </a:solidFill>
                </a:rPr>
                <a:t>功、动能</a:t>
              </a:r>
              <a:r>
                <a:rPr lang="zh-CN" altLang="en-US" b="1" smtClean="0">
                  <a:solidFill>
                    <a:srgbClr val="1C1C1C"/>
                  </a:solidFill>
                </a:rPr>
                <a:t>、动</a:t>
              </a:r>
              <a:r>
                <a:rPr lang="zh-CN" altLang="en-US" b="1">
                  <a:solidFill>
                    <a:srgbClr val="1C1C1C"/>
                  </a:solidFill>
                </a:rPr>
                <a:t>能定理、机械能守恒</a:t>
              </a: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719" y="-59"/>
              <a:ext cx="4807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40000"/>
                </a:lnSpc>
              </a:pPr>
              <a:r>
                <a:rPr lang="zh-CN" altLang="en-US" b="1">
                  <a:solidFill>
                    <a:srgbClr val="000000"/>
                  </a:solidFill>
                </a:rPr>
                <a:t>冲量 、动量</a:t>
              </a:r>
              <a:r>
                <a:rPr lang="zh-CN" altLang="en-US" b="1" smtClean="0">
                  <a:solidFill>
                    <a:srgbClr val="000000"/>
                  </a:solidFill>
                </a:rPr>
                <a:t>、动</a:t>
              </a:r>
              <a:r>
                <a:rPr lang="zh-CN" altLang="en-US" b="1" dirty="0">
                  <a:solidFill>
                    <a:srgbClr val="000000"/>
                  </a:solidFill>
                </a:rPr>
                <a:t>量定理、动量守恒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8443" name="AutoShape 11"/>
            <p:cNvSpPr>
              <a:spLocks/>
            </p:cNvSpPr>
            <p:nvPr/>
          </p:nvSpPr>
          <p:spPr bwMode="auto">
            <a:xfrm>
              <a:off x="601" y="227"/>
              <a:ext cx="139" cy="499"/>
            </a:xfrm>
            <a:prstGeom prst="leftBrace">
              <a:avLst>
                <a:gd name="adj1" fmla="val 29916"/>
                <a:gd name="adj2" fmla="val 50102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444" name="AutoShape 12"/>
            <p:cNvSpPr>
              <a:spLocks noChangeArrowheads="1"/>
            </p:cNvSpPr>
            <p:nvPr/>
          </p:nvSpPr>
          <p:spPr bwMode="auto">
            <a:xfrm>
              <a:off x="0" y="435"/>
              <a:ext cx="509" cy="91"/>
            </a:xfrm>
            <a:prstGeom prst="rightArrow">
              <a:avLst>
                <a:gd name="adj1" fmla="val 50000"/>
                <a:gd name="adj2" fmla="val 139835"/>
              </a:avLst>
            </a:prstGeom>
            <a:gradFill rotWithShape="1">
              <a:gsLst>
                <a:gs pos="0">
                  <a:srgbClr val="AEEDF4">
                    <a:gamma/>
                    <a:shade val="0"/>
                    <a:invGamma/>
                  </a:srgbClr>
                </a:gs>
                <a:gs pos="50000">
                  <a:srgbClr val="AEEDF4"/>
                </a:gs>
                <a:gs pos="100000">
                  <a:srgbClr val="AEEDF4">
                    <a:gamma/>
                    <a:shade val="0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644381" y="442411"/>
            <a:ext cx="35897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smtClean="0">
                <a:solidFill>
                  <a:srgbClr val="CC0000"/>
                </a:solidFill>
                <a:latin typeface="Arial" charset="0"/>
              </a:rPr>
              <a:t>小  结</a:t>
            </a:r>
            <a:endParaRPr lang="zh-CN" altLang="en-US" b="1" dirty="0">
              <a:solidFill>
                <a:srgbClr val="CC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7028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第六版PPT主题模板NEW">
  <a:themeElements>
    <a:clrScheme name="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大学物理模版-定稿3">
  <a:themeElements>
    <a:clrScheme name="1_大学物理模版-定稿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大学物理模版-定稿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大学物理模版-定稿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第六版PPT主题模板NEW">
  <a:themeElements>
    <a:clrScheme name="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第六版PPT主题模板NEW">
  <a:themeElements>
    <a:clrScheme name="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第六版PPT主题模板NEW">
  <a:themeElements>
    <a:clrScheme name="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第六版PPT主题模板NEW">
  <a:themeElements>
    <a:clrScheme name="4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4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第六版PPT主题模板NEW">
  <a:themeElements>
    <a:clrScheme name="5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5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第六版PPT主题模板NEW">
  <a:themeElements>
    <a:clrScheme name="6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6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第六版PPT主题模板NEW">
  <a:themeElements>
    <a:clrScheme name="7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7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第六版PPT主题模板NEW">
  <a:themeElements>
    <a:clrScheme name="8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8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第六版PPT主题模板NEW">
  <a:themeElements>
    <a:clrScheme name="9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9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第六版PPT主题模板NEW">
  <a:themeElements>
    <a:clrScheme name="10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0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_第六版母版">
  <a:themeElements>
    <a:clrScheme name="1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诗情画意">
  <a:themeElements>
    <a:clrScheme name="">
      <a:dk1>
        <a:srgbClr val="000404"/>
      </a:dk1>
      <a:lt1>
        <a:srgbClr val="FFFFFF"/>
      </a:lt1>
      <a:dk2>
        <a:srgbClr val="FF3300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0303"/>
      </a:accent4>
      <a:accent5>
        <a:srgbClr val="F3FAFF"/>
      </a:accent5>
      <a:accent6>
        <a:srgbClr val="2D5CE7"/>
      </a:accent6>
      <a:hlink>
        <a:srgbClr val="DC5900"/>
      </a:hlink>
      <a:folHlink>
        <a:srgbClr val="FB3223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040000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040000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Pages>0</Pages>
  <Words>1216</Words>
  <Characters>0</Characters>
  <Application>Microsoft Office PowerPoint</Application>
  <DocSecurity>0</DocSecurity>
  <PresentationFormat>全屏显示(16:9)</PresentationFormat>
  <Lines>0</Lines>
  <Paragraphs>163</Paragraphs>
  <Slides>32</Slides>
  <Notes>2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18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65" baseType="lpstr">
      <vt:lpstr>Microsoft JhengHei</vt:lpstr>
      <vt:lpstr>华文中宋</vt:lpstr>
      <vt:lpstr>楷体</vt:lpstr>
      <vt:lpstr>楷体_GB2312</vt:lpstr>
      <vt:lpstr>宋体</vt:lpstr>
      <vt:lpstr>微软雅黑</vt:lpstr>
      <vt:lpstr>Arial</vt:lpstr>
      <vt:lpstr>Calibri</vt:lpstr>
      <vt:lpstr>Symbol</vt:lpstr>
      <vt:lpstr>Tahoma</vt:lpstr>
      <vt:lpstr>Times New Roman</vt:lpstr>
      <vt:lpstr>Wingdings</vt:lpstr>
      <vt:lpstr>1_默认设计模板</vt:lpstr>
      <vt:lpstr>1_第六版PPT主题模板NEW</vt:lpstr>
      <vt:lpstr>1_大学物理模版-定稿3</vt:lpstr>
      <vt:lpstr>第六版PPT主题模板NEW</vt:lpstr>
      <vt:lpstr>2_第六版PPT主题模板NEW</vt:lpstr>
      <vt:lpstr>3_第六版PPT主题模板NEW</vt:lpstr>
      <vt:lpstr>4_第六版PPT主题模板NEW</vt:lpstr>
      <vt:lpstr>5_第六版PPT主题模板NEW</vt:lpstr>
      <vt:lpstr>6_第六版PPT主题模板NEW</vt:lpstr>
      <vt:lpstr>7_第六版PPT主题模板NEW</vt:lpstr>
      <vt:lpstr>8_第六版PPT主题模板NEW</vt:lpstr>
      <vt:lpstr>9_第六版PPT主题模板NEW</vt:lpstr>
      <vt:lpstr>10_第六版PPT主题模板NEW</vt:lpstr>
      <vt:lpstr>第六版母版</vt:lpstr>
      <vt:lpstr>1_第六版母版</vt:lpstr>
      <vt:lpstr>2_第六版母版</vt:lpstr>
      <vt:lpstr>诗情画意</vt:lpstr>
      <vt:lpstr>Sumi Painting</vt:lpstr>
      <vt:lpstr>Microsoft Equation 3.0</vt:lpstr>
      <vt:lpstr>Equation</vt:lpstr>
      <vt:lpstr>MathType 6.7 Equation</vt:lpstr>
      <vt:lpstr>第三章 动量守恒定律和能量守恒定律</vt:lpstr>
      <vt:lpstr>3-1    质点和质点系的动量定理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江南大学理学院物理系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3-1 质点和质点系的动量定理</dc:title>
  <dc:creator>张薇</dc:creator>
  <cp:lastModifiedBy>Administrator</cp:lastModifiedBy>
  <cp:revision>244</cp:revision>
  <dcterms:created xsi:type="dcterms:W3CDTF">2014-10-30T07:30:44Z</dcterms:created>
  <dcterms:modified xsi:type="dcterms:W3CDTF">2024-03-12T04:53:51Z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2052-9.1.0.4862</vt:lpwstr>
  </property>
</Properties>
</file>