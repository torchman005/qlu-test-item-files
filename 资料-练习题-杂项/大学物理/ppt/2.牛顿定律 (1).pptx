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theme/theme20.xml" ContentType="application/vnd.openxmlformats-officedocument.theme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21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2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3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24.xml" ContentType="application/vnd.openxmlformats-officedocument.theme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theme/theme25.xml" ContentType="application/vnd.openxmlformats-officedocument.theme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26.xml" ContentType="application/vnd.openxmlformats-officedocument.theme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theme/theme27.xml" ContentType="application/vnd.openxmlformats-officedocument.theme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theme/theme28.xml" ContentType="application/vnd.openxmlformats-officedocument.theme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theme/theme29.xml" ContentType="application/vnd.openxmlformats-officedocument.theme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theme/theme30.xml" ContentType="application/vnd.openxmlformats-officedocument.theme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theme/theme31.xml" ContentType="application/vnd.openxmlformats-officedocument.theme+xml"/>
  <Override PartName="/ppt/theme/theme3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  <p:sldMasterId id="2147483661" r:id="rId13"/>
    <p:sldMasterId id="2147483662" r:id="rId14"/>
    <p:sldMasterId id="2147483663" r:id="rId15"/>
    <p:sldMasterId id="2147483664" r:id="rId16"/>
    <p:sldMasterId id="2147483665" r:id="rId17"/>
    <p:sldMasterId id="2147483666" r:id="rId18"/>
    <p:sldMasterId id="2147483667" r:id="rId19"/>
    <p:sldMasterId id="2147483668" r:id="rId20"/>
    <p:sldMasterId id="2147483669" r:id="rId21"/>
    <p:sldMasterId id="2147483670" r:id="rId22"/>
    <p:sldMasterId id="2147483671" r:id="rId23"/>
    <p:sldMasterId id="2147483672" r:id="rId24"/>
    <p:sldMasterId id="2147483673" r:id="rId25"/>
    <p:sldMasterId id="2147483674" r:id="rId26"/>
    <p:sldMasterId id="2147483675" r:id="rId27"/>
    <p:sldMasterId id="2147483676" r:id="rId28"/>
    <p:sldMasterId id="2147483677" r:id="rId29"/>
    <p:sldMasterId id="2147483678" r:id="rId30"/>
    <p:sldMasterId id="2147484011" r:id="rId31"/>
  </p:sldMasterIdLst>
  <p:notesMasterIdLst>
    <p:notesMasterId r:id="rId72"/>
  </p:notesMasterIdLst>
  <p:sldIdLst>
    <p:sldId id="325" r:id="rId32"/>
    <p:sldId id="318" r:id="rId33"/>
    <p:sldId id="257" r:id="rId34"/>
    <p:sldId id="258" r:id="rId35"/>
    <p:sldId id="332" r:id="rId36"/>
    <p:sldId id="272" r:id="rId37"/>
    <p:sldId id="269" r:id="rId38"/>
    <p:sldId id="276" r:id="rId39"/>
    <p:sldId id="270" r:id="rId40"/>
    <p:sldId id="273" r:id="rId41"/>
    <p:sldId id="274" r:id="rId42"/>
    <p:sldId id="265" r:id="rId43"/>
    <p:sldId id="267" r:id="rId44"/>
    <p:sldId id="268" r:id="rId45"/>
    <p:sldId id="277" r:id="rId46"/>
    <p:sldId id="284" r:id="rId47"/>
    <p:sldId id="327" r:id="rId48"/>
    <p:sldId id="328" r:id="rId49"/>
    <p:sldId id="319" r:id="rId50"/>
    <p:sldId id="320" r:id="rId51"/>
    <p:sldId id="287" r:id="rId52"/>
    <p:sldId id="329" r:id="rId53"/>
    <p:sldId id="292" r:id="rId54"/>
    <p:sldId id="298" r:id="rId55"/>
    <p:sldId id="299" r:id="rId56"/>
    <p:sldId id="300" r:id="rId57"/>
    <p:sldId id="303" r:id="rId58"/>
    <p:sldId id="304" r:id="rId59"/>
    <p:sldId id="333" r:id="rId60"/>
    <p:sldId id="305" r:id="rId61"/>
    <p:sldId id="306" r:id="rId62"/>
    <p:sldId id="314" r:id="rId63"/>
    <p:sldId id="315" r:id="rId64"/>
    <p:sldId id="316" r:id="rId65"/>
    <p:sldId id="330" r:id="rId66"/>
    <p:sldId id="321" r:id="rId67"/>
    <p:sldId id="322" r:id="rId68"/>
    <p:sldId id="331" r:id="rId69"/>
    <p:sldId id="323" r:id="rId70"/>
    <p:sldId id="324" r:id="rId71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FF"/>
    <a:srgbClr val="FFDBB7"/>
    <a:srgbClr val="FFD5AB"/>
    <a:srgbClr val="FFCCCC"/>
    <a:srgbClr val="FFCCFF"/>
    <a:srgbClr val="66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0" autoAdjust="0"/>
    <p:restoredTop sz="94650" autoAdjust="0"/>
  </p:normalViewPr>
  <p:slideViewPr>
    <p:cSldViewPr snapToGrid="0">
      <p:cViewPr varScale="1">
        <p:scale>
          <a:sx n="127" d="100"/>
          <a:sy n="127" d="100"/>
        </p:scale>
        <p:origin x="1062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2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slide" Target="slides/slide16.xml"/><Relationship Id="rId50" Type="http://schemas.openxmlformats.org/officeDocument/2006/relationships/slide" Target="slides/slide19.xml"/><Relationship Id="rId55" Type="http://schemas.openxmlformats.org/officeDocument/2006/relationships/slide" Target="slides/slide24.xml"/><Relationship Id="rId63" Type="http://schemas.openxmlformats.org/officeDocument/2006/relationships/slide" Target="slides/slide32.xml"/><Relationship Id="rId68" Type="http://schemas.openxmlformats.org/officeDocument/2006/relationships/slide" Target="slides/slide37.xml"/><Relationship Id="rId76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40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3" Type="http://schemas.openxmlformats.org/officeDocument/2006/relationships/slide" Target="slides/slide22.xml"/><Relationship Id="rId58" Type="http://schemas.openxmlformats.org/officeDocument/2006/relationships/slide" Target="slides/slide27.xml"/><Relationship Id="rId66" Type="http://schemas.openxmlformats.org/officeDocument/2006/relationships/slide" Target="slides/slide35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49" Type="http://schemas.openxmlformats.org/officeDocument/2006/relationships/slide" Target="slides/slide18.xml"/><Relationship Id="rId57" Type="http://schemas.openxmlformats.org/officeDocument/2006/relationships/slide" Target="slides/slide26.xml"/><Relationship Id="rId61" Type="http://schemas.openxmlformats.org/officeDocument/2006/relationships/slide" Target="slides/slide30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3.xml"/><Relationship Id="rId52" Type="http://schemas.openxmlformats.org/officeDocument/2006/relationships/slide" Target="slides/slide21.xml"/><Relationship Id="rId60" Type="http://schemas.openxmlformats.org/officeDocument/2006/relationships/slide" Target="slides/slide29.xml"/><Relationship Id="rId65" Type="http://schemas.openxmlformats.org/officeDocument/2006/relationships/slide" Target="slides/slide34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slide" Target="slides/slide17.xml"/><Relationship Id="rId56" Type="http://schemas.openxmlformats.org/officeDocument/2006/relationships/slide" Target="slides/slide25.xml"/><Relationship Id="rId64" Type="http://schemas.openxmlformats.org/officeDocument/2006/relationships/slide" Target="slides/slide33.xml"/><Relationship Id="rId69" Type="http://schemas.openxmlformats.org/officeDocument/2006/relationships/slide" Target="slides/slide3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0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slide" Target="slides/slide15.xml"/><Relationship Id="rId59" Type="http://schemas.openxmlformats.org/officeDocument/2006/relationships/slide" Target="slides/slide28.xml"/><Relationship Id="rId67" Type="http://schemas.openxmlformats.org/officeDocument/2006/relationships/slide" Target="slides/slide36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0.xml"/><Relationship Id="rId54" Type="http://schemas.openxmlformats.org/officeDocument/2006/relationships/slide" Target="slides/slide23.xml"/><Relationship Id="rId62" Type="http://schemas.openxmlformats.org/officeDocument/2006/relationships/slide" Target="slides/slide31.xml"/><Relationship Id="rId70" Type="http://schemas.openxmlformats.org/officeDocument/2006/relationships/slide" Target="slides/slide3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wmf"/><Relationship Id="rId1" Type="http://schemas.openxmlformats.org/officeDocument/2006/relationships/image" Target="../media/image21.w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image" Target="../media/image63.wmf"/><Relationship Id="rId3" Type="http://schemas.openxmlformats.org/officeDocument/2006/relationships/image" Target="../media/image53.emf"/><Relationship Id="rId7" Type="http://schemas.openxmlformats.org/officeDocument/2006/relationships/image" Target="../media/image57.wmf"/><Relationship Id="rId12" Type="http://schemas.openxmlformats.org/officeDocument/2006/relationships/image" Target="../media/image62.emf"/><Relationship Id="rId17" Type="http://schemas.openxmlformats.org/officeDocument/2006/relationships/image" Target="../media/image67.wmf"/><Relationship Id="rId2" Type="http://schemas.openxmlformats.org/officeDocument/2006/relationships/image" Target="../media/image52.wmf"/><Relationship Id="rId16" Type="http://schemas.openxmlformats.org/officeDocument/2006/relationships/image" Target="../media/image66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5" Type="http://schemas.openxmlformats.org/officeDocument/2006/relationships/image" Target="../media/image65.wmf"/><Relationship Id="rId10" Type="http://schemas.openxmlformats.org/officeDocument/2006/relationships/image" Target="../media/image60.wmf"/><Relationship Id="rId4" Type="http://schemas.openxmlformats.org/officeDocument/2006/relationships/image" Target="../media/image54.emf"/><Relationship Id="rId9" Type="http://schemas.openxmlformats.org/officeDocument/2006/relationships/image" Target="../media/image59.wmf"/><Relationship Id="rId14" Type="http://schemas.openxmlformats.org/officeDocument/2006/relationships/image" Target="../media/image6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image" Target="../media/image89.emf"/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12" Type="http://schemas.openxmlformats.org/officeDocument/2006/relationships/image" Target="../media/image88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6" Type="http://schemas.openxmlformats.org/officeDocument/2006/relationships/image" Target="../media/image82.emf"/><Relationship Id="rId11" Type="http://schemas.openxmlformats.org/officeDocument/2006/relationships/image" Target="../media/image87.emf"/><Relationship Id="rId5" Type="http://schemas.openxmlformats.org/officeDocument/2006/relationships/image" Target="../media/image81.emf"/><Relationship Id="rId10" Type="http://schemas.openxmlformats.org/officeDocument/2006/relationships/image" Target="../media/image86.emf"/><Relationship Id="rId4" Type="http://schemas.openxmlformats.org/officeDocument/2006/relationships/image" Target="../media/image80.emf"/><Relationship Id="rId9" Type="http://schemas.openxmlformats.org/officeDocument/2006/relationships/image" Target="../media/image85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92.wmf"/><Relationship Id="rId7" Type="http://schemas.openxmlformats.org/officeDocument/2006/relationships/image" Target="../media/image82.emf"/><Relationship Id="rId2" Type="http://schemas.openxmlformats.org/officeDocument/2006/relationships/image" Target="../media/image91.wmf"/><Relationship Id="rId1" Type="http://schemas.openxmlformats.org/officeDocument/2006/relationships/image" Target="../media/image90.emf"/><Relationship Id="rId6" Type="http://schemas.openxmlformats.org/officeDocument/2006/relationships/image" Target="../media/image81.emf"/><Relationship Id="rId5" Type="http://schemas.openxmlformats.org/officeDocument/2006/relationships/image" Target="../media/image94.emf"/><Relationship Id="rId10" Type="http://schemas.openxmlformats.org/officeDocument/2006/relationships/image" Target="../media/image85.emf"/><Relationship Id="rId4" Type="http://schemas.openxmlformats.org/officeDocument/2006/relationships/image" Target="../media/image93.emf"/><Relationship Id="rId9" Type="http://schemas.openxmlformats.org/officeDocument/2006/relationships/image" Target="../media/image8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4" Type="http://schemas.openxmlformats.org/officeDocument/2006/relationships/image" Target="../media/image10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122.wmf"/><Relationship Id="rId3" Type="http://schemas.openxmlformats.org/officeDocument/2006/relationships/image" Target="../media/image114.wmf"/><Relationship Id="rId7" Type="http://schemas.openxmlformats.org/officeDocument/2006/relationships/image" Target="../media/image116.wmf"/><Relationship Id="rId12" Type="http://schemas.openxmlformats.org/officeDocument/2006/relationships/image" Target="../media/image121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5.wmf"/><Relationship Id="rId11" Type="http://schemas.openxmlformats.org/officeDocument/2006/relationships/image" Target="../media/image120.wmf"/><Relationship Id="rId5" Type="http://schemas.openxmlformats.org/officeDocument/2006/relationships/image" Target="../media/image109.wmf"/><Relationship Id="rId10" Type="http://schemas.openxmlformats.org/officeDocument/2006/relationships/image" Target="../media/image119.wmf"/><Relationship Id="rId4" Type="http://schemas.openxmlformats.org/officeDocument/2006/relationships/image" Target="../media/image108.wmf"/><Relationship Id="rId9" Type="http://schemas.openxmlformats.org/officeDocument/2006/relationships/image" Target="../media/image11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image" Target="../media/image125.wmf"/><Relationship Id="rId7" Type="http://schemas.openxmlformats.org/officeDocument/2006/relationships/image" Target="../media/image128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61.wmf"/><Relationship Id="rId11" Type="http://schemas.openxmlformats.org/officeDocument/2006/relationships/image" Target="../media/image132.wmf"/><Relationship Id="rId5" Type="http://schemas.openxmlformats.org/officeDocument/2006/relationships/image" Target="../media/image127.wmf"/><Relationship Id="rId10" Type="http://schemas.openxmlformats.org/officeDocument/2006/relationships/image" Target="../media/image131.wmf"/><Relationship Id="rId4" Type="http://schemas.openxmlformats.org/officeDocument/2006/relationships/image" Target="../media/image126.wmf"/><Relationship Id="rId9" Type="http://schemas.openxmlformats.org/officeDocument/2006/relationships/image" Target="../media/image130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image" Target="../media/image142.wmf"/><Relationship Id="rId3" Type="http://schemas.openxmlformats.org/officeDocument/2006/relationships/image" Target="../media/image135.wmf"/><Relationship Id="rId7" Type="http://schemas.openxmlformats.org/officeDocument/2006/relationships/image" Target="../media/image139.wmf"/><Relationship Id="rId12" Type="http://schemas.openxmlformats.org/officeDocument/2006/relationships/image" Target="../media/image141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8.wmf"/><Relationship Id="rId11" Type="http://schemas.openxmlformats.org/officeDocument/2006/relationships/image" Target="../media/image129.wmf"/><Relationship Id="rId5" Type="http://schemas.openxmlformats.org/officeDocument/2006/relationships/image" Target="../media/image137.wmf"/><Relationship Id="rId10" Type="http://schemas.openxmlformats.org/officeDocument/2006/relationships/image" Target="../media/image128.wmf"/><Relationship Id="rId4" Type="http://schemas.openxmlformats.org/officeDocument/2006/relationships/image" Target="../media/image136.wmf"/><Relationship Id="rId9" Type="http://schemas.openxmlformats.org/officeDocument/2006/relationships/image" Target="../media/image61.wmf"/><Relationship Id="rId14" Type="http://schemas.openxmlformats.org/officeDocument/2006/relationships/image" Target="../media/image14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7.wmf"/><Relationship Id="rId7" Type="http://schemas.openxmlformats.org/officeDocument/2006/relationships/image" Target="../media/image160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61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6.wmf"/><Relationship Id="rId12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5.wmf"/><Relationship Id="rId11" Type="http://schemas.openxmlformats.org/officeDocument/2006/relationships/image" Target="../media/image160.wmf"/><Relationship Id="rId5" Type="http://schemas.openxmlformats.org/officeDocument/2006/relationships/image" Target="../media/image155.wmf"/><Relationship Id="rId10" Type="http://schemas.openxmlformats.org/officeDocument/2006/relationships/image" Target="../media/image157.wmf"/><Relationship Id="rId4" Type="http://schemas.openxmlformats.org/officeDocument/2006/relationships/image" Target="../media/image159.wmf"/><Relationship Id="rId9" Type="http://schemas.openxmlformats.org/officeDocument/2006/relationships/image" Target="../media/image61.wmf"/><Relationship Id="rId14" Type="http://schemas.openxmlformats.org/officeDocument/2006/relationships/image" Target="../media/image17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image" Target="../media/image181.wmf"/><Relationship Id="rId3" Type="http://schemas.openxmlformats.org/officeDocument/2006/relationships/image" Target="../media/image173.wmf"/><Relationship Id="rId7" Type="http://schemas.openxmlformats.org/officeDocument/2006/relationships/image" Target="../media/image176.wmf"/><Relationship Id="rId12" Type="http://schemas.openxmlformats.org/officeDocument/2006/relationships/image" Target="../media/image180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75.wmf"/><Relationship Id="rId11" Type="http://schemas.openxmlformats.org/officeDocument/2006/relationships/image" Target="../media/image21.wmf"/><Relationship Id="rId5" Type="http://schemas.openxmlformats.org/officeDocument/2006/relationships/image" Target="../media/image121.wmf"/><Relationship Id="rId10" Type="http://schemas.openxmlformats.org/officeDocument/2006/relationships/image" Target="../media/image179.wmf"/><Relationship Id="rId4" Type="http://schemas.openxmlformats.org/officeDocument/2006/relationships/image" Target="../media/image174.wmf"/><Relationship Id="rId9" Type="http://schemas.openxmlformats.org/officeDocument/2006/relationships/image" Target="../media/image17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84.wmf"/><Relationship Id="rId7" Type="http://schemas.openxmlformats.org/officeDocument/2006/relationships/image" Target="../media/image17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85.wmf"/><Relationship Id="rId9" Type="http://schemas.openxmlformats.org/officeDocument/2006/relationships/image" Target="../media/image175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image" Target="../media/image121.w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12" Type="http://schemas.openxmlformats.org/officeDocument/2006/relationships/image" Target="../media/image174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11" Type="http://schemas.openxmlformats.org/officeDocument/2006/relationships/image" Target="../media/image172.wmf"/><Relationship Id="rId5" Type="http://schemas.openxmlformats.org/officeDocument/2006/relationships/image" Target="../media/image190.wmf"/><Relationship Id="rId10" Type="http://schemas.openxmlformats.org/officeDocument/2006/relationships/image" Target="../media/image171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Relationship Id="rId14" Type="http://schemas.openxmlformats.org/officeDocument/2006/relationships/image" Target="../media/image175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174.wmf"/><Relationship Id="rId3" Type="http://schemas.openxmlformats.org/officeDocument/2006/relationships/image" Target="../media/image197.wmf"/><Relationship Id="rId7" Type="http://schemas.openxmlformats.org/officeDocument/2006/relationships/image" Target="../media/image190.wmf"/><Relationship Id="rId12" Type="http://schemas.openxmlformats.org/officeDocument/2006/relationships/image" Target="../media/image172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6" Type="http://schemas.openxmlformats.org/officeDocument/2006/relationships/image" Target="../media/image200.wmf"/><Relationship Id="rId11" Type="http://schemas.openxmlformats.org/officeDocument/2006/relationships/image" Target="../media/image171.wmf"/><Relationship Id="rId5" Type="http://schemas.openxmlformats.org/officeDocument/2006/relationships/image" Target="../media/image199.wmf"/><Relationship Id="rId15" Type="http://schemas.openxmlformats.org/officeDocument/2006/relationships/image" Target="../media/image175.wmf"/><Relationship Id="rId10" Type="http://schemas.openxmlformats.org/officeDocument/2006/relationships/image" Target="../media/image201.wmf"/><Relationship Id="rId4" Type="http://schemas.openxmlformats.org/officeDocument/2006/relationships/image" Target="../media/image198.wmf"/><Relationship Id="rId9" Type="http://schemas.openxmlformats.org/officeDocument/2006/relationships/image" Target="../media/image193.wmf"/><Relationship Id="rId14" Type="http://schemas.openxmlformats.org/officeDocument/2006/relationships/image" Target="../media/image12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156.wmf"/><Relationship Id="rId6" Type="http://schemas.openxmlformats.org/officeDocument/2006/relationships/image" Target="../media/image206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4.wmf"/><Relationship Id="rId2" Type="http://schemas.openxmlformats.org/officeDocument/2006/relationships/image" Target="../media/image156.wmf"/><Relationship Id="rId1" Type="http://schemas.openxmlformats.org/officeDocument/2006/relationships/image" Target="../media/image209.wmf"/><Relationship Id="rId6" Type="http://schemas.openxmlformats.org/officeDocument/2006/relationships/image" Target="../media/image213.wmf"/><Relationship Id="rId11" Type="http://schemas.openxmlformats.org/officeDocument/2006/relationships/image" Target="../media/image218.wmf"/><Relationship Id="rId5" Type="http://schemas.openxmlformats.org/officeDocument/2006/relationships/image" Target="../media/image212.wmf"/><Relationship Id="rId10" Type="http://schemas.openxmlformats.org/officeDocument/2006/relationships/image" Target="../media/image217.wmf"/><Relationship Id="rId4" Type="http://schemas.openxmlformats.org/officeDocument/2006/relationships/image" Target="../media/image211.wmf"/><Relationship Id="rId9" Type="http://schemas.openxmlformats.org/officeDocument/2006/relationships/image" Target="../media/image21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7" Type="http://schemas.openxmlformats.org/officeDocument/2006/relationships/image" Target="../media/image224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3.wmf"/><Relationship Id="rId5" Type="http://schemas.openxmlformats.org/officeDocument/2006/relationships/image" Target="../media/image202.wmf"/><Relationship Id="rId4" Type="http://schemas.openxmlformats.org/officeDocument/2006/relationships/image" Target="../media/image222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image" Target="../media/image226.wmf"/><Relationship Id="rId7" Type="http://schemas.openxmlformats.org/officeDocument/2006/relationships/image" Target="../media/image202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27.wmf"/><Relationship Id="rId9" Type="http://schemas.openxmlformats.org/officeDocument/2006/relationships/image" Target="../media/image23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31749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F826DA5-3AE6-4BC3-B77D-CE8065C023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0464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826DA5-3AE6-4BC3-B77D-CE8065C02335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9051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buFontTx/>
              <a:buNone/>
            </a:pPr>
            <a:fld id="{9EBBCEFB-A97E-4073-8B86-6D9299C5E09E}" type="slidenum">
              <a:rPr kumimoji="1" lang="en-US" altLang="zh-CN" sz="1200">
                <a:solidFill>
                  <a:prstClr val="black"/>
                </a:solidFill>
              </a:rPr>
              <a:pPr algn="r" eaLnBrk="0" hangingPunct="0">
                <a:buFontTx/>
                <a:buNone/>
              </a:pPr>
              <a:t>19</a:t>
            </a:fld>
            <a:endParaRPr kumimoji="1" lang="en-US" altLang="zh-CN" sz="1200">
              <a:solidFill>
                <a:prstClr val="black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anchor="t"/>
          <a:lstStyle/>
          <a:p>
            <a:pPr eaLnBrk="1" hangingPunct="1"/>
            <a:r>
              <a:rPr lang="zh-CN" altLang="en-US" smtClean="0"/>
              <a:t>泰勒级数展开，忽略高此项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826DA5-3AE6-4BC3-B77D-CE8065C02335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053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本题用机械能守恒定律也可以做，这里用积分方法是为了展示一种变形技巧。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826DA5-3AE6-4BC3-B77D-CE8065C02335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301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本题用机械能守恒定律也可以做，这里用积分方法是为了展示一种变形技巧。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826DA5-3AE6-4BC3-B77D-CE8065C02335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209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blinds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BA99D-6819-453E-942D-674E0B865B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CA63E-DA54-4B27-A988-146D878AA7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C4739-B9D0-47CF-9CB9-68D57FF859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CFCD4-B34C-49A1-AF37-719EC21F54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F7597-90A8-441F-9879-70493F56E7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63C6B-925C-48A3-8AB6-AC4961BE29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B04F0-6B3B-4CB3-9658-EF906A19590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AE961-BF5A-4F4F-BA25-A1A2B58159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38254-DDB1-4210-A8BC-D290B7E1CC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040C3-89EA-4CA5-81F3-6AB48EF8A7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76803-9709-4CA0-956F-416D0B0523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28589-A682-425D-9B3E-E32A68D041A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B1F45-0584-4BD3-BC1A-917B135DFF7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9CCB16-EE88-49CC-91DE-11984C9DCB9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7B65B-ACCA-4C6F-8B6A-986B82FB812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64771-7697-47C4-B451-29559C8FEDC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37118-7641-4FD0-ABC1-53B4E8E99D2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3483F-48E2-4810-950A-5B20ED2E2B1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6464A-688B-4B01-8643-8DA015C292D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B56B0-EDDF-483E-B9FD-991BA1AE76A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DE09F-1BCE-4A84-AF06-161C7D19ACD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51176-A5FA-4947-9E4C-49DF61B6934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71B10-1B71-4653-ADB0-7DA6079D51E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C9A82-6568-4CC4-99C7-54ED71B5630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967C8-9792-4FBD-80BD-2ED0270C280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508B2-CB40-401C-A71F-14A5DA1C5CB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C1F5F-0E14-495F-8C19-B90AC850BEB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4DD26-D68D-43CA-8F52-7C0466303CD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2F680-9230-4866-9FD4-3D9EB25EF36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95718-65D7-4BAE-9C23-A667C1165F8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B2C4DE-C322-49EA-8832-612D594A6EE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493C4-2F9C-4F34-9DAE-E1E5F77F617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F214F-CE6C-4CF5-AB07-315D08484CE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0E945-599D-41D8-85A7-1FE863DF639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8ABB8-6CC8-42B4-A6C9-01EB2D75B37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50CE3-E30B-4D82-BB66-5D4DAC9E3DF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C9FAB-E0E7-4EFD-92FE-F2BFE38DA60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5F7C9-C09F-4C19-B8F5-4EFCE723E3A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B593D-2AC3-445A-8C4D-4E003BDF2AD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F2808-ADDB-4A20-9186-EB10D51DDD1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A61A2-080A-4B5C-9F98-B05CAA203DD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B11AE-150D-4F94-AEC5-765BA334DAF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67802-D2DB-49FD-8BAC-3CC0A4E29C1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DA75F-9DBD-40A1-B880-1D86229471B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21757-816E-48C9-B74F-C09C2A64F2C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AC40D-1C0E-4C5A-B3E4-AB259A779C6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D85B7-ECED-416A-BE51-EAA076FEFAC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55100-70F3-4777-8823-F7FD7FAA828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C37B0-6EF0-49D1-B7C4-B1639874F7F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38743-FFFC-461C-B763-D7B464A30F0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73311-C5D9-4C54-84CD-1513D7CED88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045DF-DD7F-45D4-B95E-26C9BB3B708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C3DCE-456A-479C-9127-BA027A3DB9F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53713-0969-4954-BCB1-A129161F07C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507B6-B6A9-488F-8400-2FCD110F964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2EEC9-1FF0-4193-9BE3-976E899DAEE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C5247-5F28-40C8-9688-1C6BBAFC2F4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B71A4-BC6E-4688-870D-D622BBC3ACF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97213-679C-448B-88C1-8CB62B26B3B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23D59-7B57-4865-A554-05F2A66F59C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BFF0B4-7B58-4B03-B53B-23C6F615592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1FF3D-D9CF-4E69-B063-BCE4F344EE5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F54C1-71FC-4400-8073-93F06A2169D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23236-F4D6-4DCF-8E0D-48196FDE997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1696A1-E8B9-4A8B-84A4-ADCF62DE0A5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95F81-12C4-415E-8206-0EA6FCD1B30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C74E3-630A-4D6A-996F-8261FDB2BC1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47DF8F-8F40-4493-BF3B-61525852FE7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B1980-3A45-4F5C-91F2-5427FC7A784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37BF0-2091-4773-86C3-C2331408808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20C0E-86F4-472F-90D2-35A976E744A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ADBA8-90A9-4D2E-B3A0-5314BCD49EC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B55ED-C2DF-49B0-AC34-CB016CB3BFB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AF0BF-4AB5-476C-9DE5-22B455703D9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3184B-3F4D-45C0-9028-18EE7315ED7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134E5-EC05-49F6-A8CD-6DF2813EFB7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70C0B-9369-4B16-AE6C-135C15B5877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EE826-188C-45CD-85C7-327E5529F43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64676-A3DB-46F5-BFF3-599723907B6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3D058B-AF0B-4FAC-BABC-99BC361F6B8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B994F-9C7A-4E09-BF89-A5C18240850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F1E04-8ED4-4A03-AE8C-41B32DD524C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75753-5B26-47DD-B215-1AB325A9D10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04344-8485-4D7E-8E30-7AE652D74AB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23B93-80B7-4C70-AFA8-6AE3E5704BD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C50AE-E3BF-4E4E-BDEB-40682C53B5C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F7888-D260-4E08-AEF6-980E65EB8B8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B0F71-FC28-426D-B2CF-0D12631229F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8F278-32AA-4F79-BD09-0EBEE129127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FB561-3C59-4C72-9436-BC3431CDE54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F6D59-0CA5-4CB6-AB55-139EDA39666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5CC33-9CE8-412B-B5A2-779372EF621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534A0-2BD6-47B8-8ADF-040C895CFC6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EA289-4341-4EB0-8B4B-34DBA36F2AB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7E708-F087-413C-86D2-EB2EB3F371F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D3E17-5D67-4F6A-AA21-45AE8693289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873BB-614E-45B5-A7B7-49A08955A7B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689BE-C7BE-4534-B746-BA480B93243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D149F1-A4DC-4E5D-867D-154F8243575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22CAD-190D-433B-90B8-9A2FBF52785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16872-33D1-4659-9457-D7CAF111028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1F72C-A41D-4C6A-8B27-D04D54378E9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3296F-C7BF-4B81-9D7B-B292664730B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D8ACC-BE44-4811-A828-6D58F45BF96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A9-7FFE-4F1A-B2A0-0F9BE9D058F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418DC-F2BA-4675-AD15-20C9CE29D33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CFC20-641E-4129-9032-F5DBB9F4C2E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4CDF7-5365-46E4-9596-FF37BB39D11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01458-5050-4B6C-A7FF-9E83D6E5D18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1E6C8-F547-4382-BD95-4F8CB99179F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0583A-75BA-4123-B8F6-1DF145845DF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08BBB-F19D-473C-8E00-0A6352A3062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3E62B-F3E9-4579-9821-7A2B102CCA8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6ABB8-B746-4EEC-B765-BD535E38347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4F6F5-C922-4A3A-9603-F031069EFC8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D81B8-9111-400A-BBED-31D8D6BA81A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8746D-71D4-42C5-AEE3-3D7EEE67224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70484-4665-447A-AE60-BC82B90E5D5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5394F-9F2A-4786-AEAD-BB630C18C16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ABC9B-824B-41AB-A241-A36CE3024E3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909B4-7D47-4AB4-AF85-C4264AD9706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blinds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15F35-AC2D-4D70-B7E9-D19285EB76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92B2C-DF24-4F34-9F96-DF4ABF7868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774CA-35EE-426F-829D-9F5E68F630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FCE14-153D-4381-965E-F896B82477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06635-3B23-452E-9D1F-616BB20C9E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A6546-BB42-456E-87AE-B2492B2B055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502509-AD21-4FD2-8A62-3058D9F071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769F5-E489-4FDC-AA53-C6D87263D48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29954-7106-43C2-91E6-F84212275B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F4E89-37D6-410B-BE09-8B5A95B24D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D20B0-DD51-4BC0-B16D-9BD8053BFE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E5AE8-5E0C-440B-BB04-62A6683F556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052EA-197C-4BA7-B700-FA51BC951EC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524A1-107A-4F02-A363-96FE2F032DE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02D203-9473-4825-955E-69F03FC41E8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088F68-8492-4577-8B01-0E458D0CAC9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E0FBF-32C1-4454-9F89-41A52EAA856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7C80C-436D-4AFC-B788-8F51C25B0B1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23484-6E04-4E29-B04F-F5B97785747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D32DB-A4E8-4740-82FA-072D0D28A8C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C276D-A246-47BB-B800-34B59FDD562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9F553-7431-4C99-BD9B-0DD390FF0B8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2981E-718A-42EB-88F2-FB5F75BCB93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527CD-9608-4E42-AB6F-3C1C5F7E313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0F228-8E0B-4608-91FE-67C97687508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0F396-B3AA-49BF-8135-7417DBD5E2C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9E6BF-D91D-464E-9372-80DFFBC91AC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AACAA-A5E7-4D39-A35B-8B249BF12F5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B786B-5D11-412A-A08D-E30AF893FEC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954562-D0AC-4E0F-875B-1C03F277056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FD2DC9-60FF-4D2E-806F-4D8912057BB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1BB4A0-617A-4C33-A0AD-6DB8121B052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BD34C-7F24-4744-B265-7E4FC15EB26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106144-480A-4E3B-ADB7-33C9AB735D3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CC79C-923E-445E-8151-9528D277562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3E239-E2F0-4BD1-9723-DC5D17DD24A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2B300-6505-418A-9767-692F22D1873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E5433E-8E2E-4594-9008-60003293FD9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81087-2AFC-41BE-8934-2925B573E5D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F84F1-6315-408A-878F-BA71D38921C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C2172-EA20-42E7-9D1D-DBBED9E6171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73EDA-4783-42F6-91F3-5BAAB202BB0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F5502-5ABF-439E-9DA2-046F6CDF61B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8F366-778F-4129-AA41-FE1E929C939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58DF0-50B4-4188-9334-7308679B58A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86C9E-5870-47C0-8AE0-1E88CB4B88B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8A78D9-D622-4E7B-BE94-629E3410B88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6C6AD-5EA6-40BE-8502-76018B4F329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76447-9439-45C7-A243-FF0A8FB3454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23046-F540-4D54-A356-387CEF4C3DE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884D6-FB8F-4630-ADFE-1D821AA9187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E1666-0657-4280-9A59-713F1BBEE3A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C21B3-1C9E-441E-9D80-107F5677A62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286070-FAA5-496F-9501-7F06FD3C3CC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C9033-D22C-4EE8-83DB-7C1FDE88C92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F2E19-01D6-456B-BE21-C16751131F8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148E8-89C3-4514-81AB-FABE0FA42D3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D608C-5BC9-475D-ACE5-35985B50C95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D9451-1D24-4BB5-9BEB-2F963B240F8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D9997-3E2D-425C-8A96-BAAAB901F5E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B1339-16DB-44A8-B663-887CB939B69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66F27B-AF98-4064-A40E-BEF8B4ACA90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F70AB-87D6-41BC-9A2E-495ABDECB68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EBB18-DDFA-4735-8AFE-030F672B1C5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0B07F-BC12-47D2-853F-347379888C2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492A8-FC54-44BA-8837-5332A22835F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A0B307-E62F-493E-B2D7-53569F043C6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F9B7C-599D-4240-9CF8-96F8175A695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7B720-D621-4502-AF41-A326CFF09F8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F882C-E8BE-4F68-B600-993B111CCBC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02EB8-6E4C-4D98-9582-C10FD1B003A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8FA0D-7892-4C7C-B276-AE430043799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4AD0EB-26B0-484B-A4B5-D69E0CC6E7A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67736-BFD8-4570-A67A-17D10AE7E84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D5EC0-5C62-4379-9CE7-4B7C84E9812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21B3B-043B-426B-9119-4E336D6A163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17B40-F9FB-4E1B-A56F-FA5F307DD8D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0B68E-F350-49DE-9466-3A907D20478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2404B-D9C0-414F-82D2-6FC9BC6B894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EA538-24D1-4F91-8AB6-842F4E90FCC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35BE9-DEA3-4720-B175-7CEA95C4DD4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C2435-BF22-4583-8CD7-33395A4992D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E287E-0BB8-4DBA-82A5-3324939882F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B0AAE-7DCF-4335-9E51-83CE4C5730C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CE552-778F-41F8-98C6-1A9130673C7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0673C-18FA-403C-9718-D82F9198A89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001BD-8B7B-4F01-A299-3466E40ECB2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E93CA-3F9D-4E72-B68D-876EB5F3E36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61319-0B7A-4BB0-B6C7-835B82FDFF0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6DFF7-3DC6-4145-89F9-CEF6168236E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CD5119-3DDD-48FA-B166-477161B39F5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DF4FE-8E6D-4774-A6FC-41A78D58A6B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C3ED4-BCCA-4D43-AFD9-7FB126E8640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39DC6-8E71-411B-BE4B-FF319A28E44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A47C3-377E-4C72-81B9-FBAE140B9ED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A3822-ED55-4EF8-AFD5-FCD82CBBC97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ECCF7-09AE-4E31-A809-0F66B7580E3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B78109-ABF4-49DD-85D2-032B4BF4000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921158-D022-4559-B0FB-365928E0D3E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E3815-4FA9-468C-8158-3FAAEA28D8A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9AC2E-D7B2-477B-81BA-E7F05FE6864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8E632-A67E-4AE7-8986-15176B67306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F7152-99FA-4EC2-9C98-96E2C4D0FB0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E70B6-B18F-4289-9CF1-7FE3471E7374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0158D-4253-4A58-AF43-1720A4EFE96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1AA4C-954C-4E0E-A232-C5766FBA28B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F8F2B-6338-417C-BDBF-A6FF46B60C8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E44B5-9D68-40A4-93D5-0F53A15E1A2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6ECA-F96A-43D4-8574-D6FA50A5DE4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EA2EC-A755-44C1-8090-D47FB7D6C05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EC15A-50B6-42B7-83BA-B294D35B19B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6413B-4873-41B5-AA64-9ACA07EA4C3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4C8A7-80B5-4448-A5E4-7C8EE6B69BA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9DB86-91D2-411B-AE5F-09C85563C21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132C1-14B8-4E0C-9153-C014BB15E89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4F0EE-E6F3-4ABD-8ECB-16998FC79FA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8C126-8C67-4D5D-B3E1-1C14D292F08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FEC30-C709-48E2-BDE1-D0AA42E69CD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2FEBB-C41D-44F2-A787-0E1516462EC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81E0B-0CC7-4FFE-B8CC-A457B22B207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C3AA4-232A-4185-B551-49523A380BD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C9FD4-318C-4CBF-897D-88081CC18E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B5A5C-EABD-43AA-A825-17D618C749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9872F-E8C6-48EF-8B3E-46B34B4EE2E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32F16-CCC2-4B0C-9EB7-001778084C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82C4DC-1311-4166-9633-A6BC876811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99E09-F365-407A-8CE9-F99F2EF4B7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B6CD19-2801-48C9-8565-FDEF3BE5075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87576-03C3-4AFC-803E-1F2FA177F86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63883-638E-4E18-816B-A6B3D8EFCD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71200-AD80-4202-85ED-555E8D9092E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FD066-8073-462E-91CE-F08C9175ED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7D4EF-42B3-46A5-B4D1-8EC826BE92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E7A70-2E9C-4C17-9261-4DD70C6B67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05CF4-3D65-49F1-B003-B734C4E408B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6614C-0556-4FB1-911B-522E2E43B8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5F800-D1A2-4910-A728-34F708F383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F12EC-33D4-4C95-AEBB-8A57820126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FC4DF-57BD-42E7-91AA-AB05DC5931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80082-B343-4A09-AD2B-8E3D764FDD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0AC4E2-298F-4E99-9F16-E7D5362FFD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3C964-DA40-4760-B690-903364E467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4B62F-8CFF-424C-BFC4-24411C405C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B474E-C547-4018-A9A1-7EAFCD439A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09E2D-03EE-4191-8D44-3E40FCCDE6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57EC6-5674-41B0-B001-726761D86C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4DE82-37EC-4ABF-9C38-91CA3C71AD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19FCEF-6D56-49C8-B560-3BC023465D1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D1FED6-A9CF-4B9D-85BE-B409BB536F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93E8A-3AAF-4E7C-A938-1FE07EBAA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32663-B830-4254-B53D-66A0008703B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D7230-8876-474D-8F3D-9C72B359B37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DD783-7D1A-4375-B3AA-E736D3C461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496AD-0CAC-4AB0-969C-3C70F9B98C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12DABC-8442-4CEB-ACA8-181E041A61B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3C39D-1748-4D5B-8224-EC3787C622D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7D2EC-DF1A-46F7-B9C6-5ABA2B6D6B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7420666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EE318A-E64A-47FF-9B15-0099B1C090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454579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F35ED-E914-4CE9-B93F-EC60ED1BF7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283044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59119-EEEA-4124-A4E1-E05373F6E7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999456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E575B-81DA-4151-8244-4C85E78508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79808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A638E-5B2A-44F0-B06E-16DB96321A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167736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47CC4-D510-42B9-9317-0D72EB4D18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817654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3A74F-5271-41BA-8150-FAE0F52B6D2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0350092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FCAAD-0D32-42BF-A694-C799116BC3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146006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1F470-32D9-43FE-B198-90D7E4E27C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1098903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E827A-DFF2-4399-85DC-B1233EC302A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33277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E1901-6BC1-4C9D-9AB0-6D0AD49662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703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hyperlink" Target="../&#24635;&#30446;&#24405;.ppt#-1,1,2. &#24187;&#28783;&#29255; 2" TargetMode="Externa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4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hyperlink" Target="../&#24635;&#30446;&#24405;.ppt#-1,1,2. &#24187;&#28783;&#29255; 2" TargetMode="External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image" Target="../media/image6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7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Relationship Id="rId1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8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0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theme" Target="../theme/theme20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1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Relationship Id="rId14" Type="http://schemas.openxmlformats.org/officeDocument/2006/relationships/image" Target="../media/image2.png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7.xml"/><Relationship Id="rId12" Type="http://schemas.openxmlformats.org/officeDocument/2006/relationships/theme" Target="../theme/theme2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2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2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4.xml"/><Relationship Id="rId9" Type="http://schemas.openxmlformats.org/officeDocument/2006/relationships/slideLayout" Target="../slideLayouts/slideLayout229.xml"/><Relationship Id="rId14" Type="http://schemas.openxmlformats.org/officeDocument/2006/relationships/image" Target="../media/image2.png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238.xml"/><Relationship Id="rId12" Type="http://schemas.openxmlformats.org/officeDocument/2006/relationships/theme" Target="../theme/theme2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3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12" Type="http://schemas.openxmlformats.org/officeDocument/2006/relationships/theme" Target="../theme/theme2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4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4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Relationship Id="rId1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12" Type="http://schemas.openxmlformats.org/officeDocument/2006/relationships/theme" Target="../theme/theme2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5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5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Relationship Id="rId1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71.xml"/><Relationship Id="rId12" Type="http://schemas.openxmlformats.org/officeDocument/2006/relationships/theme" Target="../theme/theme2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6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68.xml"/><Relationship Id="rId9" Type="http://schemas.openxmlformats.org/officeDocument/2006/relationships/slideLayout" Target="../slideLayouts/slideLayout273.xml"/><Relationship Id="rId1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82.xml"/><Relationship Id="rId12" Type="http://schemas.openxmlformats.org/officeDocument/2006/relationships/theme" Target="../theme/theme2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7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4.xml"/><Relationship Id="rId1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93.xml"/><Relationship Id="rId12" Type="http://schemas.openxmlformats.org/officeDocument/2006/relationships/theme" Target="../theme/theme2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8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0.xml"/><Relationship Id="rId9" Type="http://schemas.openxmlformats.org/officeDocument/2006/relationships/slideLayout" Target="../slideLayouts/slideLayout295.xml"/><Relationship Id="rId14" Type="http://schemas.openxmlformats.org/officeDocument/2006/relationships/image" Target="../media/image2.pn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5.xml"/><Relationship Id="rId13" Type="http://schemas.openxmlformats.org/officeDocument/2006/relationships/theme" Target="../theme/theme28.xml"/><Relationship Id="rId3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9.xml"/><Relationship Id="rId2" Type="http://schemas.openxmlformats.org/officeDocument/2006/relationships/slideLayout" Target="../slideLayouts/slideLayout299.xml"/><Relationship Id="rId1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1.xml"/><Relationship Id="rId9" Type="http://schemas.openxmlformats.org/officeDocument/2006/relationships/slideLayout" Target="../slideLayouts/slideLayout306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12.xml"/><Relationship Id="rId7" Type="http://schemas.openxmlformats.org/officeDocument/2006/relationships/slideLayout" Target="../slideLayouts/slideLayout316.xml"/><Relationship Id="rId12" Type="http://schemas.openxmlformats.org/officeDocument/2006/relationships/theme" Target="../theme/theme29.xml"/><Relationship Id="rId2" Type="http://schemas.openxmlformats.org/officeDocument/2006/relationships/slideLayout" Target="../slideLayouts/slideLayout311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310.xml"/><Relationship Id="rId6" Type="http://schemas.openxmlformats.org/officeDocument/2006/relationships/slideLayout" Target="../slideLayouts/slideLayout315.xml"/><Relationship Id="rId11" Type="http://schemas.openxmlformats.org/officeDocument/2006/relationships/slideLayout" Target="../slideLayouts/slideLayout320.xml"/><Relationship Id="rId5" Type="http://schemas.openxmlformats.org/officeDocument/2006/relationships/slideLayout" Target="../slideLayouts/slideLayout314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19.xml"/><Relationship Id="rId4" Type="http://schemas.openxmlformats.org/officeDocument/2006/relationships/slideLayout" Target="../slideLayouts/slideLayout313.xml"/><Relationship Id="rId9" Type="http://schemas.openxmlformats.org/officeDocument/2006/relationships/slideLayout" Target="../slideLayouts/slideLayout318.xml"/><Relationship Id="rId14" Type="http://schemas.openxmlformats.org/officeDocument/2006/relationships/image" Target="../media/image3.png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8.xml"/><Relationship Id="rId13" Type="http://schemas.openxmlformats.org/officeDocument/2006/relationships/theme" Target="../theme/theme30.xml"/><Relationship Id="rId3" Type="http://schemas.openxmlformats.org/officeDocument/2006/relationships/slideLayout" Target="../slideLayouts/slideLayout323.xml"/><Relationship Id="rId7" Type="http://schemas.openxmlformats.org/officeDocument/2006/relationships/slideLayout" Target="../slideLayouts/slideLayout327.xml"/><Relationship Id="rId12" Type="http://schemas.openxmlformats.org/officeDocument/2006/relationships/slideLayout" Target="../slideLayouts/slideLayout332.xml"/><Relationship Id="rId2" Type="http://schemas.openxmlformats.org/officeDocument/2006/relationships/slideLayout" Target="../slideLayouts/slideLayout322.xml"/><Relationship Id="rId1" Type="http://schemas.openxmlformats.org/officeDocument/2006/relationships/slideLayout" Target="../slideLayouts/slideLayout321.xml"/><Relationship Id="rId6" Type="http://schemas.openxmlformats.org/officeDocument/2006/relationships/slideLayout" Target="../slideLayouts/slideLayout326.xml"/><Relationship Id="rId11" Type="http://schemas.openxmlformats.org/officeDocument/2006/relationships/slideLayout" Target="../slideLayouts/slideLayout331.xml"/><Relationship Id="rId5" Type="http://schemas.openxmlformats.org/officeDocument/2006/relationships/slideLayout" Target="../slideLayouts/slideLayout325.xml"/><Relationship Id="rId10" Type="http://schemas.openxmlformats.org/officeDocument/2006/relationships/slideLayout" Target="../slideLayouts/slideLayout330.xml"/><Relationship Id="rId4" Type="http://schemas.openxmlformats.org/officeDocument/2006/relationships/slideLayout" Target="../slideLayouts/slideLayout324.xml"/><Relationship Id="rId9" Type="http://schemas.openxmlformats.org/officeDocument/2006/relationships/slideLayout" Target="../slideLayouts/slideLayout329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0.xml"/><Relationship Id="rId13" Type="http://schemas.openxmlformats.org/officeDocument/2006/relationships/theme" Target="../theme/theme31.xml"/><Relationship Id="rId3" Type="http://schemas.openxmlformats.org/officeDocument/2006/relationships/slideLayout" Target="../slideLayouts/slideLayout335.xml"/><Relationship Id="rId7" Type="http://schemas.openxmlformats.org/officeDocument/2006/relationships/slideLayout" Target="../slideLayouts/slideLayout339.xml"/><Relationship Id="rId12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33.xml"/><Relationship Id="rId6" Type="http://schemas.openxmlformats.org/officeDocument/2006/relationships/slideLayout" Target="../slideLayouts/slideLayout338.xml"/><Relationship Id="rId11" Type="http://schemas.openxmlformats.org/officeDocument/2006/relationships/slideLayout" Target="../slideLayouts/slideLayout343.xml"/><Relationship Id="rId5" Type="http://schemas.openxmlformats.org/officeDocument/2006/relationships/slideLayout" Target="../slideLayouts/slideLayout337.xml"/><Relationship Id="rId10" Type="http://schemas.openxmlformats.org/officeDocument/2006/relationships/slideLayout" Target="../slideLayouts/slideLayout342.xml"/><Relationship Id="rId4" Type="http://schemas.openxmlformats.org/officeDocument/2006/relationships/slideLayout" Target="../slideLayouts/slideLayout336.xml"/><Relationship Id="rId9" Type="http://schemas.openxmlformats.org/officeDocument/2006/relationships/slideLayout" Target="../slideLayouts/slideLayout3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4036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7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8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5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 b="1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第二章  牛顿定律</a:t>
            </a:r>
          </a:p>
        </p:txBody>
      </p:sp>
      <p:pic>
        <p:nvPicPr>
          <p:cNvPr id="44040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7" name="Text Box 9"/>
          <p:cNvSpPr txBox="1">
            <a:spLocks noChangeArrowheads="1"/>
          </p:cNvSpPr>
          <p:nvPr userDrawn="1"/>
        </p:nvSpPr>
        <p:spPr bwMode="auto">
          <a:xfrm>
            <a:off x="5940426" y="122635"/>
            <a:ext cx="25193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2-1 </a:t>
            </a:r>
            <a:r>
              <a:rPr lang="en-US" altLang="zh-CN" sz="1800" b="1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1800" b="1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牛顿定律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>
    <p:blinds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4833937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50"/>
            </a:lvl1pPr>
          </a:lstStyle>
          <a:p>
            <a:pPr>
              <a:defRPr/>
            </a:pPr>
            <a:fld id="{6DCE9692-9EC6-4828-89A6-1756E0B3CC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5" name="Oval 3"/>
          <p:cNvSpPr>
            <a:spLocks noChangeArrowheads="1"/>
          </p:cNvSpPr>
          <p:nvPr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rgbClr val="9933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/>
          </a:p>
        </p:txBody>
      </p:sp>
      <p:sp>
        <p:nvSpPr>
          <p:cNvPr id="3076" name="Text Box 4">
            <a:hlinkClick r:id="rId13" action="ppaction://hlinkpres?slideindex=1&amp;slidetitle=2. 幻灯片 2"/>
          </p:cNvPr>
          <p:cNvSpPr txBox="1">
            <a:spLocks noChangeArrowheads="1"/>
          </p:cNvSpPr>
          <p:nvPr/>
        </p:nvSpPr>
        <p:spPr bwMode="auto">
          <a:xfrm>
            <a:off x="-33338" y="65485"/>
            <a:ext cx="896938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b="1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第五版</a:t>
            </a:r>
          </a:p>
        </p:txBody>
      </p:sp>
      <p:pic>
        <p:nvPicPr>
          <p:cNvPr id="45061" name="Picture 5" descr="BOOK0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8200" y="4400550"/>
            <a:ext cx="533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ransition>
    <p:blinds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410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608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608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5124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710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711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2CB32772-27E4-4571-A0CB-8256AD6DC9B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1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6148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813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813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52E78C80-3AE9-48E7-9BDA-EB5C4280C4A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15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717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915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916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8D66F22B-65BB-41EF-90C6-7DAC21170B0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717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8196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018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018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2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898E0B3A-3A4F-47CD-A207-FECE3FA564C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203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922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120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120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6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7390394A-21B0-4E90-8C37-2D3A5F9B0453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9227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0244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222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223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0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BD41E124-B55C-4744-A1FF-9577942BF9F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0251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1268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325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325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4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8E472585-1EAA-4C26-B6A9-4819CADB594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1275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229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427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428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3BE48370-0760-490B-A53B-762301A2A39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229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3316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530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530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679D86DF-3E44-4AE4-AD44-C682034BEB3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332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434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632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632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1220EC96-054C-442D-AAAE-06BE6BBF7A5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434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7348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9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50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7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第二章  牛顿定律</a:t>
            </a:r>
          </a:p>
        </p:txBody>
      </p:sp>
      <p:pic>
        <p:nvPicPr>
          <p:cNvPr id="57352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ransition>
    <p:blinds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4833937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50"/>
            </a:lvl1pPr>
          </a:lstStyle>
          <a:p>
            <a:pPr>
              <a:defRPr/>
            </a:pPr>
            <a:fld id="{7746C027-F416-4805-AB33-FF0202C98B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rgbClr val="9933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/>
          </a:p>
        </p:txBody>
      </p:sp>
      <p:sp>
        <p:nvSpPr>
          <p:cNvPr id="16388" name="Text Box 4">
            <a:hlinkClick r:id="rId13" action="ppaction://hlinkpres?slideindex=1&amp;slidetitle=2. 幻灯片 2"/>
          </p:cNvPr>
          <p:cNvSpPr txBox="1">
            <a:spLocks noChangeArrowheads="1"/>
          </p:cNvSpPr>
          <p:nvPr/>
        </p:nvSpPr>
        <p:spPr bwMode="auto">
          <a:xfrm>
            <a:off x="-33338" y="65485"/>
            <a:ext cx="896938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b="1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第五版</a:t>
            </a:r>
          </a:p>
        </p:txBody>
      </p:sp>
      <p:pic>
        <p:nvPicPr>
          <p:cNvPr id="58373" name="Picture 5" descr="BOOK0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8200" y="4400550"/>
            <a:ext cx="533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ransition>
    <p:blinds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741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939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940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8436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042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042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0C16D21C-D785-4BBF-BD08-6072FA6D87C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844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946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144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144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8A930F73-DE76-4331-B17D-468B8B24816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946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0484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246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247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90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38B612F6-D7C8-444B-BA6F-6981DBB365F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0491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1508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349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349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4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63E357C4-EF76-49E7-9C8F-73D8E72BE09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1515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253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451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452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8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0AA5B6CC-811C-4FD6-8E22-C5FFE3AD8BEF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2539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3556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554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554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2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303462F3-D244-4F3D-9C81-07A2FBBE470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3563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458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656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656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6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C4F40417-CE9F-4326-9E44-02CB964D332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4587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5604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758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759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0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92A1F2A3-08FB-49A7-8192-4EB1F450312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5611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6628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861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861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158C6FA5-43B1-4D7E-BF24-63FC9D22124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663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765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963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964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3EADEC40-C00A-4D7C-8F00-BD7263761F7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765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6913" y="4836319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4AD924E0-514B-46C2-9387-ECCAACA8DD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8680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71684" name="直接连接符 10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5" name="直接连接符 11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29703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9704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pic>
        <p:nvPicPr>
          <p:cNvPr id="71689" name="直接连接符 13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6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478631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4A733467-5681-42A8-BBD1-7A75DBAC1B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30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6913" y="4836319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D995AE97-E92D-4568-8310-CDC446C0A5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灯片编号占位符 15">
            <a:extLst/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20272" y="4894008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350">
                <a:solidFill>
                  <a:srgbClr val="0000CC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738B56A-90DC-4826-AD24-6566E6357206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276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4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../../../&#39532;&#25991;&#34074;&#31532;&#20116;&#29256;&#29289;&#29702;&#23398;&#30005;&#23376;&#25945;&#26696;/&#31532;02&#31456;%20&#29275;&#39039;&#23450;&#24459;/2-2%20&#29289;&#29702;&#37327;&#30340;&#21333;&#20301;&#21644;&#37327;&#32434;.ppt#-1,1,&#24187;&#28783;&#29255; 1" TargetMode="External"/><Relationship Id="rId2" Type="http://schemas.openxmlformats.org/officeDocument/2006/relationships/hyperlink" Target="../../../&#39532;&#25991;&#34074;&#31532;&#20116;&#29256;&#29289;&#29702;&#23398;&#30005;&#23376;&#25945;&#26696;/&#31532;02&#31456;%20&#29275;&#39039;&#23450;&#24459;/2-1%20&#29275;&#39039;&#23450;&#24459;.ppt#-1,1,&#24187;&#28783;&#29255; 1" TargetMode="External"/><Relationship Id="rId1" Type="http://schemas.openxmlformats.org/officeDocument/2006/relationships/slideLayout" Target="../slideLayouts/slideLayout298.xml"/><Relationship Id="rId5" Type="http://schemas.openxmlformats.org/officeDocument/2006/relationships/hyperlink" Target="../../../&#39532;&#25991;&#34074;&#31532;&#20116;&#29256;&#29289;&#29702;&#23398;&#30005;&#23376;&#25945;&#26696;/&#31532;02&#31456;%20&#29275;&#39039;&#23450;&#24459;/2-4%20&#29275;&#39039;&#23450;&#24459;&#30340;&#24212;&#29992;&#20030;&#20363;.ppt#-1,1,&#24187;&#28783;&#29255; 1" TargetMode="External"/><Relationship Id="rId4" Type="http://schemas.openxmlformats.org/officeDocument/2006/relationships/hyperlink" Target="../../../&#39532;&#25991;&#34074;&#31532;&#20116;&#29256;&#29289;&#29702;&#23398;&#30005;&#23376;&#25945;&#26696;/&#31532;02&#31456;%20&#29275;&#39039;&#23450;&#24459;/2-3%20&#20960;&#31181;&#24120;&#35265;&#30340;&#21147;.ppt#-1,1,&#24187;&#28783;&#29255; 1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hyperlink" Target="../../../&#39532;&#25991;&#34074;&#31532;&#20116;&#29256;&#29289;&#29702;&#23398;&#30005;&#23376;&#25945;&#26696;/&#31532;02&#31456;%20&#29275;&#39039;&#23450;&#24459;/2-1%20&#29275;&#39039;&#23450;&#24459;.ppt#-1,1,&#24187;&#28783;&#29255; 1" TargetMode="External"/><Relationship Id="rId2" Type="http://schemas.openxmlformats.org/officeDocument/2006/relationships/slideLayout" Target="../slideLayouts/slideLayout30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99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309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30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301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3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9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30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34.bin"/><Relationship Id="rId3" Type="http://schemas.openxmlformats.org/officeDocument/2006/relationships/image" Target="../media/image49.jpeg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6.emf"/><Relationship Id="rId2" Type="http://schemas.openxmlformats.org/officeDocument/2006/relationships/slideLayout" Target="../slideLayouts/slideLayout299.xml"/><Relationship Id="rId16" Type="http://schemas.openxmlformats.org/officeDocument/2006/relationships/image" Target="../media/image48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45.emf"/><Relationship Id="rId4" Type="http://schemas.openxmlformats.org/officeDocument/2006/relationships/image" Target="../media/image50.jpeg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58.wmf"/><Relationship Id="rId26" Type="http://schemas.openxmlformats.org/officeDocument/2006/relationships/image" Target="../media/image62.emf"/><Relationship Id="rId3" Type="http://schemas.openxmlformats.org/officeDocument/2006/relationships/oleObject" Target="../embeddings/oleObject36.bin"/><Relationship Id="rId21" Type="http://schemas.openxmlformats.org/officeDocument/2006/relationships/oleObject" Target="../embeddings/oleObject45.bin"/><Relationship Id="rId34" Type="http://schemas.openxmlformats.org/officeDocument/2006/relationships/image" Target="../media/image66.wmf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43.bin"/><Relationship Id="rId25" Type="http://schemas.openxmlformats.org/officeDocument/2006/relationships/oleObject" Target="../embeddings/oleObject47.bin"/><Relationship Id="rId33" Type="http://schemas.openxmlformats.org/officeDocument/2006/relationships/oleObject" Target="../embeddings/oleObject51.bin"/><Relationship Id="rId2" Type="http://schemas.openxmlformats.org/officeDocument/2006/relationships/slideLayout" Target="../slideLayouts/slideLayout301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29" Type="http://schemas.openxmlformats.org/officeDocument/2006/relationships/oleObject" Target="../embeddings/oleObject4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40.bin"/><Relationship Id="rId24" Type="http://schemas.openxmlformats.org/officeDocument/2006/relationships/image" Target="../media/image61.wmf"/><Relationship Id="rId32" Type="http://schemas.openxmlformats.org/officeDocument/2006/relationships/image" Target="../media/image65.wmf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23" Type="http://schemas.openxmlformats.org/officeDocument/2006/relationships/oleObject" Target="../embeddings/oleObject46.bin"/><Relationship Id="rId28" Type="http://schemas.openxmlformats.org/officeDocument/2006/relationships/image" Target="../media/image63.wmf"/><Relationship Id="rId36" Type="http://schemas.openxmlformats.org/officeDocument/2006/relationships/image" Target="../media/image67.wmf"/><Relationship Id="rId10" Type="http://schemas.openxmlformats.org/officeDocument/2006/relationships/image" Target="../media/image54.emf"/><Relationship Id="rId19" Type="http://schemas.openxmlformats.org/officeDocument/2006/relationships/oleObject" Target="../embeddings/oleObject44.bin"/><Relationship Id="rId31" Type="http://schemas.openxmlformats.org/officeDocument/2006/relationships/oleObject" Target="../embeddings/oleObject50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56.wmf"/><Relationship Id="rId22" Type="http://schemas.openxmlformats.org/officeDocument/2006/relationships/image" Target="../media/image60.wmf"/><Relationship Id="rId27" Type="http://schemas.openxmlformats.org/officeDocument/2006/relationships/oleObject" Target="../embeddings/oleObject48.bin"/><Relationship Id="rId30" Type="http://schemas.openxmlformats.org/officeDocument/2006/relationships/image" Target="../media/image64.emf"/><Relationship Id="rId35" Type="http://schemas.openxmlformats.org/officeDocument/2006/relationships/oleObject" Target="../embeddings/oleObject5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../../../&#39532;&#25991;&#34074;&#31532;&#20116;&#29256;&#29289;&#29702;&#23398;&#30005;&#23376;&#25945;&#26696;/&#31532;02&#31456;%20&#29275;&#39039;&#23450;&#24459;/2-2%20&#29289;&#29702;&#37327;&#30340;&#21333;&#20301;&#21644;&#37327;&#32434;.ppt#-1,1,&#24187;&#28783;&#29255; 1" TargetMode="External"/><Relationship Id="rId1" Type="http://schemas.openxmlformats.org/officeDocument/2006/relationships/slideLayout" Target="../slideLayouts/slideLayout32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hyperlink" Target="../../../&#39532;&#25991;&#34074;&#31532;&#20116;&#29256;&#29289;&#29702;&#23398;&#30005;&#23376;&#25945;&#26696;/&#31532;02&#31456;%20&#29275;&#39039;&#23450;&#24459;/2-3%20&#20960;&#31181;&#24120;&#35265;&#30340;&#21147;.ppt#-1,1,&#24187;&#28783;&#29255; 1" TargetMode="External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32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5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32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81.emf"/><Relationship Id="rId18" Type="http://schemas.openxmlformats.org/officeDocument/2006/relationships/oleObject" Target="../embeddings/oleObject65.bin"/><Relationship Id="rId26" Type="http://schemas.openxmlformats.org/officeDocument/2006/relationships/oleObject" Target="../embeddings/oleObject6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85.emf"/><Relationship Id="rId7" Type="http://schemas.openxmlformats.org/officeDocument/2006/relationships/image" Target="../media/image78.e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83.emf"/><Relationship Id="rId25" Type="http://schemas.openxmlformats.org/officeDocument/2006/relationships/image" Target="../media/image87.emf"/><Relationship Id="rId2" Type="http://schemas.openxmlformats.org/officeDocument/2006/relationships/slideLayout" Target="../slideLayouts/slideLayout339.xml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6.bin"/><Relationship Id="rId29" Type="http://schemas.openxmlformats.org/officeDocument/2006/relationships/image" Target="../media/image89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80.emf"/><Relationship Id="rId24" Type="http://schemas.openxmlformats.org/officeDocument/2006/relationships/oleObject" Target="../embeddings/oleObject68.bin"/><Relationship Id="rId5" Type="http://schemas.openxmlformats.org/officeDocument/2006/relationships/image" Target="../media/image77.emf"/><Relationship Id="rId15" Type="http://schemas.openxmlformats.org/officeDocument/2006/relationships/image" Target="../media/image82.emf"/><Relationship Id="rId23" Type="http://schemas.openxmlformats.org/officeDocument/2006/relationships/image" Target="../media/image86.emf"/><Relationship Id="rId28" Type="http://schemas.openxmlformats.org/officeDocument/2006/relationships/oleObject" Target="../embeddings/oleObject70.bin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84.e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79.emf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67.bin"/><Relationship Id="rId27" Type="http://schemas.openxmlformats.org/officeDocument/2006/relationships/image" Target="../media/image88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83.e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94.e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339.xml"/><Relationship Id="rId16" Type="http://schemas.openxmlformats.org/officeDocument/2006/relationships/image" Target="../media/image82.emf"/><Relationship Id="rId20" Type="http://schemas.openxmlformats.org/officeDocument/2006/relationships/image" Target="../media/image84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93.e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90.e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1.emf"/><Relationship Id="rId22" Type="http://schemas.openxmlformats.org/officeDocument/2006/relationships/image" Target="../media/image8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32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95.wmf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7.bin"/><Relationship Id="rId7" Type="http://schemas.openxmlformats.org/officeDocument/2006/relationships/image" Target="../media/image99.png"/><Relationship Id="rId12" Type="http://schemas.microsoft.com/office/2007/relationships/hdphoto" Target="../media/hdphoto2.wdp"/><Relationship Id="rId2" Type="http://schemas.openxmlformats.org/officeDocument/2006/relationships/slideLayout" Target="../slideLayouts/slideLayout32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7.wmf"/><Relationship Id="rId11" Type="http://schemas.openxmlformats.org/officeDocument/2006/relationships/image" Target="../media/image100.png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98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7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32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8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7" Type="http://schemas.openxmlformats.org/officeDocument/2006/relationships/image" Target="../media/image106.wmf"/><Relationship Id="rId2" Type="http://schemas.openxmlformats.org/officeDocument/2006/relationships/slideLayout" Target="../slideLayouts/slideLayout32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6.bin"/><Relationship Id="rId5" Type="http://schemas.openxmlformats.org/officeDocument/2006/relationships/hyperlink" Target="../../../&#39532;&#25991;&#34074;&#31532;&#20116;&#29256;&#29289;&#29702;&#23398;&#30005;&#23376;&#25945;&#26696;/&#31532;02&#31456;%20&#29275;&#39039;&#23450;&#24459;/2-4%20&#29275;&#39039;&#23450;&#24459;&#30340;&#24212;&#29992;&#20030;&#20363;.ppt#-1,1,&#24187;&#28783;&#29255; 1" TargetMode="External"/><Relationship Id="rId4" Type="http://schemas.openxmlformats.org/officeDocument/2006/relationships/image" Target="../media/image10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32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0.jpeg"/><Relationship Id="rId11" Type="http://schemas.openxmlformats.org/officeDocument/2006/relationships/image" Target="../media/image111.png"/><Relationship Id="rId5" Type="http://schemas.openxmlformats.org/officeDocument/2006/relationships/image" Target="../media/image107.wmf"/><Relationship Id="rId10" Type="http://schemas.openxmlformats.org/officeDocument/2006/relationships/image" Target="../media/image109.wmf"/><Relationship Id="rId4" Type="http://schemas.openxmlformats.org/officeDocument/2006/relationships/oleObject" Target="../embeddings/oleObject87.bin"/><Relationship Id="rId9" Type="http://schemas.openxmlformats.org/officeDocument/2006/relationships/oleObject" Target="../embeddings/oleObject8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09.wmf"/><Relationship Id="rId18" Type="http://schemas.openxmlformats.org/officeDocument/2006/relationships/image" Target="../media/image116.wmf"/><Relationship Id="rId26" Type="http://schemas.openxmlformats.org/officeDocument/2006/relationships/image" Target="../media/image120.w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2.bin"/><Relationship Id="rId12" Type="http://schemas.openxmlformats.org/officeDocument/2006/relationships/oleObject" Target="../embeddings/oleObject94.bin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0.bin"/><Relationship Id="rId33" Type="http://schemas.openxmlformats.org/officeDocument/2006/relationships/oleObject" Target="../embeddings/oleObject105.bin"/><Relationship Id="rId2" Type="http://schemas.openxmlformats.org/officeDocument/2006/relationships/slideLayout" Target="../slideLayouts/slideLayout332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29" Type="http://schemas.openxmlformats.org/officeDocument/2006/relationships/oleObject" Target="../embeddings/oleObject102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3.wmf"/><Relationship Id="rId11" Type="http://schemas.openxmlformats.org/officeDocument/2006/relationships/image" Target="../media/image108.wmf"/><Relationship Id="rId24" Type="http://schemas.openxmlformats.org/officeDocument/2006/relationships/image" Target="../media/image119.wmf"/><Relationship Id="rId32" Type="http://schemas.openxmlformats.org/officeDocument/2006/relationships/oleObject" Target="../embeddings/oleObject10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28" Type="http://schemas.openxmlformats.org/officeDocument/2006/relationships/image" Target="../media/image121.wmf"/><Relationship Id="rId10" Type="http://schemas.openxmlformats.org/officeDocument/2006/relationships/oleObject" Target="../embeddings/oleObject93.bin"/><Relationship Id="rId19" Type="http://schemas.openxmlformats.org/officeDocument/2006/relationships/oleObject" Target="../embeddings/oleObject97.bin"/><Relationship Id="rId31" Type="http://schemas.openxmlformats.org/officeDocument/2006/relationships/oleObject" Target="../embeddings/oleObject103.bin"/><Relationship Id="rId4" Type="http://schemas.openxmlformats.org/officeDocument/2006/relationships/image" Target="../media/image112.wmf"/><Relationship Id="rId9" Type="http://schemas.openxmlformats.org/officeDocument/2006/relationships/image" Target="../media/image110.jpeg"/><Relationship Id="rId14" Type="http://schemas.openxmlformats.org/officeDocument/2006/relationships/image" Target="../media/image111.png"/><Relationship Id="rId22" Type="http://schemas.openxmlformats.org/officeDocument/2006/relationships/image" Target="../media/image118.wmf"/><Relationship Id="rId27" Type="http://schemas.openxmlformats.org/officeDocument/2006/relationships/oleObject" Target="../embeddings/oleObject101.bin"/><Relationship Id="rId30" Type="http://schemas.openxmlformats.org/officeDocument/2006/relationships/image" Target="../media/image12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29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113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28.wmf"/><Relationship Id="rId20" Type="http://schemas.openxmlformats.org/officeDocument/2006/relationships/image" Target="../media/image13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32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10" Type="http://schemas.openxmlformats.org/officeDocument/2006/relationships/image" Target="../media/image126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61.wmf"/><Relationship Id="rId22" Type="http://schemas.openxmlformats.org/officeDocument/2006/relationships/image" Target="../media/image13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37.wmf"/><Relationship Id="rId18" Type="http://schemas.openxmlformats.org/officeDocument/2006/relationships/oleObject" Target="../embeddings/oleObject124.bin"/><Relationship Id="rId26" Type="http://schemas.openxmlformats.org/officeDocument/2006/relationships/oleObject" Target="../embeddings/oleObject125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61.wmf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39.wmf"/><Relationship Id="rId25" Type="http://schemas.openxmlformats.org/officeDocument/2006/relationships/image" Target="../media/image129.wmf"/><Relationship Id="rId2" Type="http://schemas.openxmlformats.org/officeDocument/2006/relationships/slideLayout" Target="../slideLayouts/slideLayout322.xml"/><Relationship Id="rId16" Type="http://schemas.openxmlformats.org/officeDocument/2006/relationships/oleObject" Target="../embeddings/oleObject123.bin"/><Relationship Id="rId20" Type="http://schemas.openxmlformats.org/officeDocument/2006/relationships/oleObject" Target="../embeddings/oleObject111.bin"/><Relationship Id="rId29" Type="http://schemas.openxmlformats.org/officeDocument/2006/relationships/image" Target="../media/image142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36.wmf"/><Relationship Id="rId24" Type="http://schemas.openxmlformats.org/officeDocument/2006/relationships/oleObject" Target="../embeddings/oleObject113.bin"/><Relationship Id="rId5" Type="http://schemas.openxmlformats.org/officeDocument/2006/relationships/image" Target="../media/image133.wmf"/><Relationship Id="rId15" Type="http://schemas.openxmlformats.org/officeDocument/2006/relationships/image" Target="../media/image138.wmf"/><Relationship Id="rId23" Type="http://schemas.openxmlformats.org/officeDocument/2006/relationships/image" Target="../media/image128.wmf"/><Relationship Id="rId28" Type="http://schemas.openxmlformats.org/officeDocument/2006/relationships/oleObject" Target="../embeddings/oleObject126.bin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40.wmf"/><Relationship Id="rId31" Type="http://schemas.openxmlformats.org/officeDocument/2006/relationships/image" Target="../media/image143.w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22.bin"/><Relationship Id="rId22" Type="http://schemas.openxmlformats.org/officeDocument/2006/relationships/oleObject" Target="../embeddings/oleObject112.bin"/><Relationship Id="rId27" Type="http://schemas.openxmlformats.org/officeDocument/2006/relationships/image" Target="../media/image141.wmf"/><Relationship Id="rId30" Type="http://schemas.openxmlformats.org/officeDocument/2006/relationships/oleObject" Target="../embeddings/oleObject12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46.wmf"/><Relationship Id="rId18" Type="http://schemas.openxmlformats.org/officeDocument/2006/relationships/oleObject" Target="../embeddings/oleObject133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3.png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48.wmf"/><Relationship Id="rId2" Type="http://schemas.openxmlformats.org/officeDocument/2006/relationships/slideLayout" Target="../slideLayouts/slideLayout322.xml"/><Relationship Id="rId16" Type="http://schemas.openxmlformats.org/officeDocument/2006/relationships/oleObject" Target="../embeddings/oleObject132.bin"/><Relationship Id="rId20" Type="http://schemas.openxmlformats.org/officeDocument/2006/relationships/image" Target="../media/image154.png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2.png"/><Relationship Id="rId11" Type="http://schemas.openxmlformats.org/officeDocument/2006/relationships/image" Target="../media/image145.wmf"/><Relationship Id="rId5" Type="http://schemas.openxmlformats.org/officeDocument/2006/relationships/image" Target="../media/image151.png"/><Relationship Id="rId15" Type="http://schemas.openxmlformats.org/officeDocument/2006/relationships/image" Target="../media/image147.w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49.wmf"/><Relationship Id="rId4" Type="http://schemas.openxmlformats.org/officeDocument/2006/relationships/image" Target="../media/image150.png"/><Relationship Id="rId9" Type="http://schemas.openxmlformats.org/officeDocument/2006/relationships/image" Target="../media/image144.wmf"/><Relationship Id="rId14" Type="http://schemas.openxmlformats.org/officeDocument/2006/relationships/oleObject" Target="../embeddings/oleObject13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60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327.xml"/><Relationship Id="rId16" Type="http://schemas.openxmlformats.org/officeDocument/2006/relationships/oleObject" Target="../embeddings/oleObject141.bin"/><Relationship Id="rId20" Type="http://schemas.openxmlformats.org/officeDocument/2006/relationships/image" Target="../media/image16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5" Type="http://schemas.openxmlformats.org/officeDocument/2006/relationships/image" Target="../media/image61.wmf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143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37.bin"/><Relationship Id="rId14" Type="http://schemas.openxmlformats.org/officeDocument/2006/relationships/oleObject" Target="../embeddings/oleObject14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67.wmf"/><Relationship Id="rId26" Type="http://schemas.openxmlformats.org/officeDocument/2006/relationships/oleObject" Target="../embeddings/oleObject156.bin"/><Relationship Id="rId3" Type="http://schemas.openxmlformats.org/officeDocument/2006/relationships/oleObject" Target="../embeddings/oleObject144.bin"/><Relationship Id="rId21" Type="http://schemas.openxmlformats.org/officeDocument/2006/relationships/image" Target="../media/image61.wmf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51.bin"/><Relationship Id="rId25" Type="http://schemas.openxmlformats.org/officeDocument/2006/relationships/image" Target="../media/image160.wmf"/><Relationship Id="rId2" Type="http://schemas.openxmlformats.org/officeDocument/2006/relationships/slideLayout" Target="../slideLayouts/slideLayout322.xml"/><Relationship Id="rId16" Type="http://schemas.openxmlformats.org/officeDocument/2006/relationships/image" Target="../media/image166.wmf"/><Relationship Id="rId20" Type="http://schemas.openxmlformats.org/officeDocument/2006/relationships/oleObject" Target="../embeddings/oleObject153.bin"/><Relationship Id="rId29" Type="http://schemas.openxmlformats.org/officeDocument/2006/relationships/image" Target="../media/image169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48.bin"/><Relationship Id="rId24" Type="http://schemas.openxmlformats.org/officeDocument/2006/relationships/oleObject" Target="../embeddings/oleObject155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23" Type="http://schemas.openxmlformats.org/officeDocument/2006/relationships/image" Target="../media/image157.wmf"/><Relationship Id="rId28" Type="http://schemas.openxmlformats.org/officeDocument/2006/relationships/oleObject" Target="../embeddings/oleObject157.bin"/><Relationship Id="rId10" Type="http://schemas.openxmlformats.org/officeDocument/2006/relationships/image" Target="../media/image159.wmf"/><Relationship Id="rId19" Type="http://schemas.openxmlformats.org/officeDocument/2006/relationships/oleObject" Target="../embeddings/oleObject152.bin"/><Relationship Id="rId31" Type="http://schemas.openxmlformats.org/officeDocument/2006/relationships/image" Target="../media/image170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65.wmf"/><Relationship Id="rId22" Type="http://schemas.openxmlformats.org/officeDocument/2006/relationships/oleObject" Target="../embeddings/oleObject154.bin"/><Relationship Id="rId27" Type="http://schemas.openxmlformats.org/officeDocument/2006/relationships/image" Target="../media/image168.wmf"/><Relationship Id="rId30" Type="http://schemas.openxmlformats.org/officeDocument/2006/relationships/oleObject" Target="../embeddings/oleObject15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77.wmf"/><Relationship Id="rId26" Type="http://schemas.openxmlformats.org/officeDocument/2006/relationships/image" Target="../media/image180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66.bin"/><Relationship Id="rId25" Type="http://schemas.openxmlformats.org/officeDocument/2006/relationships/oleObject" Target="../embeddings/oleObject170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76.wmf"/><Relationship Id="rId20" Type="http://schemas.openxmlformats.org/officeDocument/2006/relationships/image" Target="../media/image178.wmf"/><Relationship Id="rId29" Type="http://schemas.openxmlformats.org/officeDocument/2006/relationships/oleObject" Target="../embeddings/oleObject172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63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23" Type="http://schemas.openxmlformats.org/officeDocument/2006/relationships/oleObject" Target="../embeddings/oleObject169.bin"/><Relationship Id="rId28" Type="http://schemas.openxmlformats.org/officeDocument/2006/relationships/image" Target="../media/image181.wmf"/><Relationship Id="rId10" Type="http://schemas.openxmlformats.org/officeDocument/2006/relationships/image" Target="../media/image174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75.wmf"/><Relationship Id="rId22" Type="http://schemas.openxmlformats.org/officeDocument/2006/relationships/image" Target="../media/image179.wmf"/><Relationship Id="rId27" Type="http://schemas.openxmlformats.org/officeDocument/2006/relationships/oleObject" Target="../embeddings/oleObject17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163.bin"/><Relationship Id="rId2" Type="http://schemas.openxmlformats.org/officeDocument/2006/relationships/slideLayout" Target="../slideLayouts/slideLayout332.xml"/><Relationship Id="rId16" Type="http://schemas.openxmlformats.org/officeDocument/2006/relationships/image" Target="../media/image174.wmf"/><Relationship Id="rId20" Type="http://schemas.openxmlformats.org/officeDocument/2006/relationships/image" Target="../media/image175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10" Type="http://schemas.openxmlformats.org/officeDocument/2006/relationships/image" Target="../media/image185.wmf"/><Relationship Id="rId19" Type="http://schemas.openxmlformats.org/officeDocument/2006/relationships/oleObject" Target="../embeddings/oleObject180.bin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7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93.wmf"/><Relationship Id="rId26" Type="http://schemas.openxmlformats.org/officeDocument/2006/relationships/image" Target="../media/image174.wmf"/><Relationship Id="rId3" Type="http://schemas.openxmlformats.org/officeDocument/2006/relationships/oleObject" Target="../embeddings/oleObject181.bin"/><Relationship Id="rId21" Type="http://schemas.openxmlformats.org/officeDocument/2006/relationships/oleObject" Target="../embeddings/oleObject190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90.wmf"/><Relationship Id="rId17" Type="http://schemas.openxmlformats.org/officeDocument/2006/relationships/oleObject" Target="../embeddings/oleObject188.bin"/><Relationship Id="rId25" Type="http://schemas.openxmlformats.org/officeDocument/2006/relationships/oleObject" Target="../embeddings/oleObject192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92.wmf"/><Relationship Id="rId20" Type="http://schemas.openxmlformats.org/officeDocument/2006/relationships/image" Target="../media/image194.wmf"/><Relationship Id="rId29" Type="http://schemas.openxmlformats.org/officeDocument/2006/relationships/oleObject" Target="../embeddings/oleObject193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172.wmf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23" Type="http://schemas.openxmlformats.org/officeDocument/2006/relationships/oleObject" Target="../embeddings/oleObject191.bin"/><Relationship Id="rId28" Type="http://schemas.openxmlformats.org/officeDocument/2006/relationships/image" Target="../media/image121.wmf"/><Relationship Id="rId10" Type="http://schemas.openxmlformats.org/officeDocument/2006/relationships/image" Target="../media/image189.wmf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91.wmf"/><Relationship Id="rId22" Type="http://schemas.openxmlformats.org/officeDocument/2006/relationships/image" Target="../media/image171.wmf"/><Relationship Id="rId27" Type="http://schemas.openxmlformats.org/officeDocument/2006/relationships/oleObject" Target="../embeddings/oleObject163.bin"/><Relationship Id="rId30" Type="http://schemas.openxmlformats.org/officeDocument/2006/relationships/image" Target="../media/image17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192.wmf"/><Relationship Id="rId26" Type="http://schemas.openxmlformats.org/officeDocument/2006/relationships/image" Target="../media/image172.wmf"/><Relationship Id="rId3" Type="http://schemas.openxmlformats.org/officeDocument/2006/relationships/oleObject" Target="../embeddings/oleObject194.bin"/><Relationship Id="rId21" Type="http://schemas.openxmlformats.org/officeDocument/2006/relationships/oleObject" Target="../embeddings/oleObject203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99.wmf"/><Relationship Id="rId17" Type="http://schemas.openxmlformats.org/officeDocument/2006/relationships/oleObject" Target="../embeddings/oleObject201.bin"/><Relationship Id="rId25" Type="http://schemas.openxmlformats.org/officeDocument/2006/relationships/oleObject" Target="../embeddings/oleObject205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90.wmf"/><Relationship Id="rId20" Type="http://schemas.openxmlformats.org/officeDocument/2006/relationships/image" Target="../media/image193.wmf"/><Relationship Id="rId29" Type="http://schemas.openxmlformats.org/officeDocument/2006/relationships/oleObject" Target="../embeddings/oleObject163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198.bin"/><Relationship Id="rId24" Type="http://schemas.openxmlformats.org/officeDocument/2006/relationships/image" Target="../media/image171.wmf"/><Relationship Id="rId32" Type="http://schemas.openxmlformats.org/officeDocument/2006/relationships/image" Target="../media/image175.wmf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23" Type="http://schemas.openxmlformats.org/officeDocument/2006/relationships/oleObject" Target="../embeddings/oleObject204.bin"/><Relationship Id="rId28" Type="http://schemas.openxmlformats.org/officeDocument/2006/relationships/image" Target="../media/image174.wmf"/><Relationship Id="rId10" Type="http://schemas.openxmlformats.org/officeDocument/2006/relationships/image" Target="../media/image198.wmf"/><Relationship Id="rId19" Type="http://schemas.openxmlformats.org/officeDocument/2006/relationships/oleObject" Target="../embeddings/oleObject202.bin"/><Relationship Id="rId31" Type="http://schemas.openxmlformats.org/officeDocument/2006/relationships/oleObject" Target="../embeddings/oleObject207.bin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200.wmf"/><Relationship Id="rId22" Type="http://schemas.openxmlformats.org/officeDocument/2006/relationships/image" Target="../media/image201.wmf"/><Relationship Id="rId27" Type="http://schemas.openxmlformats.org/officeDocument/2006/relationships/oleObject" Target="../embeddings/oleObject206.bin"/><Relationship Id="rId30" Type="http://schemas.openxmlformats.org/officeDocument/2006/relationships/image" Target="../media/image12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06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208.png"/><Relationship Id="rId17" Type="http://schemas.openxmlformats.org/officeDocument/2006/relationships/oleObject" Target="../embeddings/oleObject215.bin"/><Relationship Id="rId2" Type="http://schemas.openxmlformats.org/officeDocument/2006/relationships/slideLayout" Target="../slideLayouts/slideLayout327.xml"/><Relationship Id="rId16" Type="http://schemas.openxmlformats.org/officeDocument/2006/relationships/oleObject" Target="../embeddings/oleObject214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02.wmf"/><Relationship Id="rId11" Type="http://schemas.openxmlformats.org/officeDocument/2006/relationships/image" Target="../media/image207.png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3.bin"/><Relationship Id="rId10" Type="http://schemas.openxmlformats.org/officeDocument/2006/relationships/image" Target="../media/image204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20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oleObject" Target="../embeddings/oleObject221.bin"/><Relationship Id="rId18" Type="http://schemas.openxmlformats.org/officeDocument/2006/relationships/image" Target="../media/image214.wmf"/><Relationship Id="rId26" Type="http://schemas.openxmlformats.org/officeDocument/2006/relationships/image" Target="../media/image218.wmf"/><Relationship Id="rId3" Type="http://schemas.openxmlformats.org/officeDocument/2006/relationships/image" Target="../media/image208.png"/><Relationship Id="rId21" Type="http://schemas.openxmlformats.org/officeDocument/2006/relationships/oleObject" Target="../embeddings/oleObject225.bin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220.bin"/><Relationship Id="rId17" Type="http://schemas.openxmlformats.org/officeDocument/2006/relationships/oleObject" Target="../embeddings/oleObject223.bin"/><Relationship Id="rId25" Type="http://schemas.openxmlformats.org/officeDocument/2006/relationships/oleObject" Target="../embeddings/oleObject227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213.wmf"/><Relationship Id="rId20" Type="http://schemas.openxmlformats.org/officeDocument/2006/relationships/image" Target="../media/image215.wmf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11.wmf"/><Relationship Id="rId24" Type="http://schemas.openxmlformats.org/officeDocument/2006/relationships/image" Target="../media/image217.wmf"/><Relationship Id="rId5" Type="http://schemas.openxmlformats.org/officeDocument/2006/relationships/image" Target="../media/image209.wmf"/><Relationship Id="rId15" Type="http://schemas.openxmlformats.org/officeDocument/2006/relationships/oleObject" Target="../embeddings/oleObject222.bin"/><Relationship Id="rId23" Type="http://schemas.openxmlformats.org/officeDocument/2006/relationships/oleObject" Target="../embeddings/oleObject226.bin"/><Relationship Id="rId10" Type="http://schemas.openxmlformats.org/officeDocument/2006/relationships/oleObject" Target="../embeddings/oleObject219.bin"/><Relationship Id="rId19" Type="http://schemas.openxmlformats.org/officeDocument/2006/relationships/oleObject" Target="../embeddings/oleObject224.bin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210.wmf"/><Relationship Id="rId14" Type="http://schemas.openxmlformats.org/officeDocument/2006/relationships/image" Target="../media/image212.wmf"/><Relationship Id="rId22" Type="http://schemas.openxmlformats.org/officeDocument/2006/relationships/image" Target="../media/image216.wmf"/><Relationship Id="rId27" Type="http://schemas.openxmlformats.org/officeDocument/2006/relationships/image" Target="../media/image20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0.bin"/><Relationship Id="rId13" Type="http://schemas.openxmlformats.org/officeDocument/2006/relationships/image" Target="../media/image202.wmf"/><Relationship Id="rId3" Type="http://schemas.openxmlformats.org/officeDocument/2006/relationships/image" Target="../media/image207.png"/><Relationship Id="rId7" Type="http://schemas.openxmlformats.org/officeDocument/2006/relationships/image" Target="../media/image220.wmf"/><Relationship Id="rId12" Type="http://schemas.openxmlformats.org/officeDocument/2006/relationships/oleObject" Target="../embeddings/oleObject232.bin"/><Relationship Id="rId17" Type="http://schemas.openxmlformats.org/officeDocument/2006/relationships/image" Target="../media/image224.wmf"/><Relationship Id="rId2" Type="http://schemas.openxmlformats.org/officeDocument/2006/relationships/slideLayout" Target="../slideLayouts/slideLayout332.xml"/><Relationship Id="rId16" Type="http://schemas.openxmlformats.org/officeDocument/2006/relationships/oleObject" Target="../embeddings/oleObject234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29.bin"/><Relationship Id="rId11" Type="http://schemas.openxmlformats.org/officeDocument/2006/relationships/image" Target="../media/image222.wmf"/><Relationship Id="rId5" Type="http://schemas.openxmlformats.org/officeDocument/2006/relationships/image" Target="../media/image219.wmf"/><Relationship Id="rId15" Type="http://schemas.openxmlformats.org/officeDocument/2006/relationships/image" Target="../media/image223.wmf"/><Relationship Id="rId10" Type="http://schemas.openxmlformats.org/officeDocument/2006/relationships/oleObject" Target="../embeddings/oleObject231.bin"/><Relationship Id="rId4" Type="http://schemas.openxmlformats.org/officeDocument/2006/relationships/oleObject" Target="../embeddings/oleObject228.bin"/><Relationship Id="rId9" Type="http://schemas.openxmlformats.org/officeDocument/2006/relationships/image" Target="../media/image221.wmf"/><Relationship Id="rId14" Type="http://schemas.openxmlformats.org/officeDocument/2006/relationships/oleObject" Target="../embeddings/oleObject233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13" Type="http://schemas.openxmlformats.org/officeDocument/2006/relationships/image" Target="../media/image228.wmf"/><Relationship Id="rId18" Type="http://schemas.openxmlformats.org/officeDocument/2006/relationships/image" Target="../media/image202.wmf"/><Relationship Id="rId3" Type="http://schemas.openxmlformats.org/officeDocument/2006/relationships/image" Target="../media/image231.png"/><Relationship Id="rId21" Type="http://schemas.openxmlformats.org/officeDocument/2006/relationships/oleObject" Target="../embeddings/oleObject234.bin"/><Relationship Id="rId7" Type="http://schemas.openxmlformats.org/officeDocument/2006/relationships/image" Target="../media/image225.wmf"/><Relationship Id="rId12" Type="http://schemas.openxmlformats.org/officeDocument/2006/relationships/oleObject" Target="../embeddings/oleObject239.bin"/><Relationship Id="rId17" Type="http://schemas.openxmlformats.org/officeDocument/2006/relationships/oleObject" Target="../embeddings/oleObject232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207.png"/><Relationship Id="rId20" Type="http://schemas.openxmlformats.org/officeDocument/2006/relationships/image" Target="../media/image223.wmf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27.wmf"/><Relationship Id="rId5" Type="http://schemas.openxmlformats.org/officeDocument/2006/relationships/image" Target="../media/image224.wmf"/><Relationship Id="rId15" Type="http://schemas.openxmlformats.org/officeDocument/2006/relationships/image" Target="../media/image229.wmf"/><Relationship Id="rId23" Type="http://schemas.openxmlformats.org/officeDocument/2006/relationships/image" Target="../media/image230.wmf"/><Relationship Id="rId10" Type="http://schemas.openxmlformats.org/officeDocument/2006/relationships/oleObject" Target="../embeddings/oleObject238.bin"/><Relationship Id="rId19" Type="http://schemas.openxmlformats.org/officeDocument/2006/relationships/oleObject" Target="../embeddings/oleObject233.bin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26.wmf"/><Relationship Id="rId14" Type="http://schemas.openxmlformats.org/officeDocument/2006/relationships/oleObject" Target="../embeddings/oleObject240.bin"/><Relationship Id="rId22" Type="http://schemas.openxmlformats.org/officeDocument/2006/relationships/oleObject" Target="../embeddings/oleObject241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image" Target="../media/image235.wmf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4.bin"/><Relationship Id="rId12" Type="http://schemas.openxmlformats.org/officeDocument/2006/relationships/oleObject" Target="../embeddings/oleObject245.bin"/><Relationship Id="rId2" Type="http://schemas.openxmlformats.org/officeDocument/2006/relationships/slideLayout" Target="../slideLayouts/slideLayout33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33.wmf"/><Relationship Id="rId11" Type="http://schemas.openxmlformats.org/officeDocument/2006/relationships/image" Target="../media/image224.wmf"/><Relationship Id="rId5" Type="http://schemas.openxmlformats.org/officeDocument/2006/relationships/oleObject" Target="../embeddings/oleObject243.bin"/><Relationship Id="rId15" Type="http://schemas.openxmlformats.org/officeDocument/2006/relationships/image" Target="../media/image236.wmf"/><Relationship Id="rId10" Type="http://schemas.openxmlformats.org/officeDocument/2006/relationships/oleObject" Target="../embeddings/oleObject235.bin"/><Relationship Id="rId4" Type="http://schemas.openxmlformats.org/officeDocument/2006/relationships/image" Target="../media/image232.wmf"/><Relationship Id="rId9" Type="http://schemas.openxmlformats.org/officeDocument/2006/relationships/image" Target="../media/image231.png"/><Relationship Id="rId14" Type="http://schemas.openxmlformats.org/officeDocument/2006/relationships/oleObject" Target="../embeddings/oleObject24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6CD19-2801-48C9-8565-FDEF3BE5075D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15" y="305270"/>
            <a:ext cx="2250755" cy="167847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592" y="305269"/>
            <a:ext cx="2292436" cy="16784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450" y="317019"/>
            <a:ext cx="2459158" cy="1678472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93465" y="2930793"/>
            <a:ext cx="817431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r>
              <a:rPr lang="zh-CN" altLang="en-US" sz="2100">
                <a:solidFill>
                  <a:srgbClr val="C00000"/>
                </a:solidFill>
                <a:latin typeface="+mn-ea"/>
                <a:ea typeface="+mn-ea"/>
              </a:rPr>
              <a:t>动力学的任务</a:t>
            </a:r>
            <a:r>
              <a:rPr lang="zh-CN" altLang="en-US" sz="2100">
                <a:latin typeface="+mn-ea"/>
                <a:ea typeface="+mn-ea"/>
              </a:rPr>
              <a:t>：研究引起物体发生机械运动变化的原因，物体间的相互作用对物体运动状态的影响。</a:t>
            </a:r>
            <a:endParaRPr lang="en-US" altLang="zh-CN" sz="2100">
              <a:latin typeface="+mn-ea"/>
              <a:ea typeface="+mn-ea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693465" y="2074799"/>
            <a:ext cx="817431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r>
              <a:rPr lang="zh-CN" altLang="en-US" sz="2100">
                <a:solidFill>
                  <a:srgbClr val="C00000"/>
                </a:solidFill>
                <a:latin typeface="+mn-ea"/>
                <a:ea typeface="+mn-ea"/>
              </a:rPr>
              <a:t>运动学的任务</a:t>
            </a:r>
            <a:r>
              <a:rPr lang="zh-CN" altLang="en-US" sz="2100">
                <a:latin typeface="+mn-ea"/>
                <a:ea typeface="+mn-ea"/>
              </a:rPr>
              <a:t>：描述物体在空间的位置随时间变化的规律以及运动的轨道问题，没有涉及运动状态变化的原因。</a:t>
            </a:r>
            <a:endParaRPr lang="en-US" altLang="zh-CN" sz="2100">
              <a:latin typeface="+mn-ea"/>
              <a:ea typeface="+mn-ea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693464" y="3786788"/>
            <a:ext cx="8029775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r>
              <a:rPr lang="zh-CN" altLang="en-US" sz="2100">
                <a:latin typeface="+mn-ea"/>
                <a:ea typeface="+mn-ea"/>
              </a:rPr>
              <a:t>    只有掌握了物体的运动规律，才能按照规律精确地</a:t>
            </a:r>
            <a:r>
              <a:rPr lang="zh-CN" altLang="en-US" sz="2100">
                <a:solidFill>
                  <a:srgbClr val="C00000"/>
                </a:solidFill>
                <a:latin typeface="+mn-ea"/>
                <a:ea typeface="+mn-ea"/>
              </a:rPr>
              <a:t>设计</a:t>
            </a:r>
            <a:r>
              <a:rPr lang="zh-CN" altLang="en-US" sz="2100">
                <a:latin typeface="+mn-ea"/>
                <a:ea typeface="+mn-ea"/>
              </a:rPr>
              <a:t>和</a:t>
            </a:r>
            <a:r>
              <a:rPr lang="zh-CN" altLang="en-US" sz="2100">
                <a:solidFill>
                  <a:srgbClr val="C00000"/>
                </a:solidFill>
                <a:latin typeface="+mn-ea"/>
                <a:ea typeface="+mn-ea"/>
              </a:rPr>
              <a:t>控制</a:t>
            </a:r>
            <a:r>
              <a:rPr lang="zh-CN" altLang="en-US" sz="2100">
                <a:latin typeface="+mn-ea"/>
                <a:ea typeface="+mn-ea"/>
              </a:rPr>
              <a:t>物体的机械运动</a:t>
            </a:r>
            <a:r>
              <a:rPr lang="zh-CN" altLang="en-US" sz="2100" smtClean="0">
                <a:latin typeface="+mn-ea"/>
                <a:ea typeface="+mn-ea"/>
              </a:rPr>
              <a:t>！</a:t>
            </a:r>
            <a:endParaRPr lang="en-US" altLang="zh-CN" sz="21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58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3">
            <a:hlinkClick r:id="rId2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514600" y="2038350"/>
            <a:ext cx="2700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2-1</a:t>
            </a:r>
            <a:r>
              <a:rPr lang="zh-CN" altLang="en-US" b="1">
                <a:ea typeface="华文中宋" pitchFamily="2" charset="-122"/>
              </a:rPr>
              <a:t>　牛顿定律</a:t>
            </a:r>
          </a:p>
        </p:txBody>
      </p:sp>
      <p:sp>
        <p:nvSpPr>
          <p:cNvPr id="88068" name="Text Box 4">
            <a:hlinkClick r:id="rId3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514600" y="2577704"/>
            <a:ext cx="47994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2-2</a:t>
            </a:r>
            <a:r>
              <a:rPr lang="zh-CN" altLang="en-US" b="1">
                <a:ea typeface="华文中宋" pitchFamily="2" charset="-122"/>
              </a:rPr>
              <a:t>　物理量的单位和量纲</a:t>
            </a:r>
          </a:p>
        </p:txBody>
      </p:sp>
      <p:sp>
        <p:nvSpPr>
          <p:cNvPr id="88069" name="Text Box 5">
            <a:hlinkClick r:id="rId4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514601" y="3118248"/>
            <a:ext cx="46315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2-3</a:t>
            </a:r>
            <a:r>
              <a:rPr lang="zh-CN" altLang="en-US" b="1">
                <a:ea typeface="华文中宋" pitchFamily="2" charset="-122"/>
              </a:rPr>
              <a:t>　几种常见的力</a:t>
            </a:r>
          </a:p>
        </p:txBody>
      </p:sp>
      <p:sp>
        <p:nvSpPr>
          <p:cNvPr id="88070" name="Text Box 6">
            <a:hlinkClick r:id="rId5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514600" y="3655219"/>
            <a:ext cx="48339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2-4</a:t>
            </a:r>
            <a:r>
              <a:rPr lang="zh-CN" altLang="en-US" b="1">
                <a:ea typeface="华文中宋" pitchFamily="2" charset="-122"/>
              </a:rPr>
              <a:t>　牛顿定律的应用举例</a:t>
            </a: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2278856" y="850107"/>
            <a:ext cx="39957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b="1"/>
              <a:t>第二章    牛顿定律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08A202-2350-4B61-AA86-573E30CC9837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58803" y="814835"/>
            <a:ext cx="5013721" cy="310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 dirty="0">
                <a:solidFill>
                  <a:srgbClr val="1C1C1C"/>
                </a:solidFill>
                <a:latin typeface="宋体" pitchFamily="2" charset="-122"/>
              </a:rPr>
              <a:t>　　杰出的英国物理学家，经典物理学的奠基人．</a:t>
            </a:r>
            <a:r>
              <a:rPr lang="zh-CN" altLang="en-US" sz="2100" b="1" dirty="0">
                <a:latin typeface="宋体" pitchFamily="2" charset="-122"/>
              </a:rPr>
              <a:t>他的不朽巨著</a:t>
            </a:r>
            <a:r>
              <a:rPr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《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自然哲学的数学原理</a:t>
            </a:r>
            <a:r>
              <a:rPr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》</a:t>
            </a:r>
            <a:r>
              <a:rPr lang="zh-CN" altLang="en-US" sz="2100" b="1" dirty="0">
                <a:latin typeface="宋体" pitchFamily="2" charset="-122"/>
              </a:rPr>
              <a:t>总结了前人和自己关于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力学</a:t>
            </a:r>
            <a:r>
              <a:rPr lang="zh-CN" altLang="en-US" sz="2100" b="1" dirty="0">
                <a:latin typeface="宋体" pitchFamily="2" charset="-122"/>
              </a:rPr>
              <a:t>以及微积分学方面的研究成果，其中含有三条牛顿运动定律和万有引力定律</a:t>
            </a:r>
            <a:r>
              <a:rPr lang="en-US" altLang="zh-CN" sz="2100" b="1" dirty="0">
                <a:latin typeface="宋体" pitchFamily="2" charset="-122"/>
              </a:rPr>
              <a:t>,</a:t>
            </a:r>
            <a:r>
              <a:rPr lang="zh-CN" altLang="en-US" sz="2100" b="1" dirty="0">
                <a:latin typeface="宋体" pitchFamily="2" charset="-122"/>
              </a:rPr>
              <a:t>以及质量、动量、力和加速度等概念．在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光学</a:t>
            </a:r>
            <a:r>
              <a:rPr lang="zh-CN" altLang="en-US" sz="2100" b="1" dirty="0">
                <a:latin typeface="宋体" pitchFamily="2" charset="-122"/>
              </a:rPr>
              <a:t>方面，他说明了色散的起因，发现了色差及牛顿环，他还提出了光的微粒说．</a:t>
            </a:r>
          </a:p>
        </p:txBody>
      </p:sp>
      <p:pic>
        <p:nvPicPr>
          <p:cNvPr id="74756" name="Picture 3" descr="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719138"/>
            <a:ext cx="2115741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7" name="Rectangle 4"/>
          <p:cNvSpPr>
            <a:spLocks noChangeArrowheads="1"/>
          </p:cNvSpPr>
          <p:nvPr/>
        </p:nvSpPr>
        <p:spPr bwMode="auto">
          <a:xfrm>
            <a:off x="912019" y="3467100"/>
            <a:ext cx="2495550" cy="90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CC0000"/>
                </a:solidFill>
              </a:rPr>
              <a:t>牛顿  </a:t>
            </a:r>
            <a:r>
              <a:rPr lang="en-US" altLang="zh-CN" sz="2100" b="1">
                <a:solidFill>
                  <a:srgbClr val="1C1C1C"/>
                </a:solidFill>
              </a:rPr>
              <a:t>Issac  Newton</a:t>
            </a:r>
          </a:p>
          <a:p>
            <a:pPr>
              <a:spcBef>
                <a:spcPct val="50000"/>
              </a:spcBef>
            </a:pPr>
            <a:r>
              <a:rPr lang="en-US" altLang="zh-CN" sz="2100" b="1">
                <a:solidFill>
                  <a:srgbClr val="1C1C1C"/>
                </a:solidFill>
              </a:rPr>
              <a:t>   </a:t>
            </a:r>
            <a:r>
              <a:rPr lang="zh-CN" altLang="en-US" sz="2100" b="1">
                <a:solidFill>
                  <a:srgbClr val="1C1C1C"/>
                </a:solidFill>
              </a:rPr>
              <a:t>（</a:t>
            </a:r>
            <a:r>
              <a:rPr lang="en-US" altLang="zh-CN" sz="2100" b="1">
                <a:solidFill>
                  <a:srgbClr val="1C1C1C"/>
                </a:solidFill>
              </a:rPr>
              <a:t>1643</a:t>
            </a:r>
            <a:r>
              <a:rPr lang="zh-CN" altLang="en-US" sz="2100" b="1">
                <a:solidFill>
                  <a:srgbClr val="1C1C1C"/>
                </a:solidFill>
              </a:rPr>
              <a:t>－</a:t>
            </a:r>
            <a:r>
              <a:rPr lang="en-US" altLang="zh-CN" sz="2100" b="1">
                <a:solidFill>
                  <a:srgbClr val="1C1C1C"/>
                </a:solidFill>
              </a:rPr>
              <a:t>1727</a:t>
            </a:r>
            <a:r>
              <a:rPr lang="zh-CN" altLang="en-US" sz="2100" b="1">
                <a:solidFill>
                  <a:srgbClr val="1C1C1C"/>
                </a:solidFill>
              </a:rPr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43800" y="4869656"/>
            <a:ext cx="1600200" cy="273844"/>
          </a:xfrm>
        </p:spPr>
        <p:txBody>
          <a:bodyPr/>
          <a:lstStyle/>
          <a:p>
            <a:pPr>
              <a:defRPr/>
            </a:pPr>
            <a:fld id="{10DC3D61-7B6B-4CF6-977F-284164462AF0}" type="slidenum">
              <a:rPr lang="zh-CN" altLang="en-US"/>
              <a:pPr>
                <a:defRPr/>
              </a:pPr>
              <a:t>4</a:t>
            </a:fld>
            <a:endParaRPr lang="en-US" altLang="zh-CN" dirty="0"/>
          </a:p>
        </p:txBody>
      </p:sp>
      <p:sp>
        <p:nvSpPr>
          <p:cNvPr id="1029" name="Text Box 2"/>
          <p:cNvSpPr txBox="1">
            <a:spLocks noChangeArrowheads="1"/>
          </p:cNvSpPr>
          <p:nvPr/>
        </p:nvSpPr>
        <p:spPr bwMode="auto">
          <a:xfrm>
            <a:off x="1112044" y="1661500"/>
            <a:ext cx="7250906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　　任何物体都要保持其</a:t>
            </a:r>
            <a:r>
              <a:rPr lang="zh-CN" altLang="en-US" b="1">
                <a:solidFill>
                  <a:schemeClr val="hlink"/>
                </a:solidFill>
                <a:latin typeface="Arial" pitchFamily="34" charset="0"/>
              </a:rPr>
              <a:t>静止</a:t>
            </a: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或</a:t>
            </a:r>
            <a:r>
              <a:rPr lang="zh-CN" altLang="en-US" b="1">
                <a:solidFill>
                  <a:schemeClr val="hlink"/>
                </a:solidFill>
                <a:latin typeface="Arial" pitchFamily="34" charset="0"/>
              </a:rPr>
              <a:t>匀速直线</a:t>
            </a: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运动状态，直到外力迫使它改变运动状态为止</a:t>
            </a:r>
            <a:r>
              <a:rPr lang="en-US" altLang="zh-CN" b="1">
                <a:solidFill>
                  <a:srgbClr val="000000"/>
                </a:solidFill>
              </a:rPr>
              <a:t>.</a:t>
            </a:r>
            <a:endParaRPr lang="en-US" altLang="zh-CN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>
            <a:off x="1112044" y="1048662"/>
            <a:ext cx="330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一、牛顿第一定律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62149" y="2814638"/>
            <a:ext cx="4057650" cy="482203"/>
            <a:chOff x="0" y="49"/>
            <a:chExt cx="3408" cy="405"/>
          </a:xfrm>
        </p:grpSpPr>
        <p:sp>
          <p:nvSpPr>
            <p:cNvPr id="1034" name="Text Box 8"/>
            <p:cNvSpPr txBox="1">
              <a:spLocks noChangeArrowheads="1"/>
            </p:cNvSpPr>
            <p:nvPr/>
          </p:nvSpPr>
          <p:spPr bwMode="auto">
            <a:xfrm>
              <a:off x="1056" y="66"/>
              <a:ext cx="235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hlink"/>
                  </a:solidFill>
                  <a:latin typeface="宋体" pitchFamily="2" charset="-122"/>
                </a:rPr>
                <a:t>时，   恒矢量</a:t>
              </a:r>
            </a:p>
          </p:txBody>
        </p:sp>
        <p:graphicFrame>
          <p:nvGraphicFramePr>
            <p:cNvPr id="1026" name="Object 9"/>
            <p:cNvGraphicFramePr>
              <a:graphicFrameLocks noChangeAspect="1"/>
            </p:cNvGraphicFramePr>
            <p:nvPr/>
          </p:nvGraphicFramePr>
          <p:xfrm>
            <a:off x="1577" y="81"/>
            <a:ext cx="476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8" name="Equation" r:id="rId3" imgW="253800" imgH="177480" progId="Equation.DSMT4">
                    <p:embed/>
                  </p:oleObj>
                </mc:Choice>
                <mc:Fallback>
                  <p:oleObj name="Equation" r:id="rId3" imgW="253800" imgH="17748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7" y="81"/>
                          <a:ext cx="476" cy="3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10"/>
            <p:cNvGraphicFramePr>
              <a:graphicFrameLocks noChangeAspect="1"/>
            </p:cNvGraphicFramePr>
            <p:nvPr/>
          </p:nvGraphicFramePr>
          <p:xfrm>
            <a:off x="272" y="49"/>
            <a:ext cx="828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9" name="Equation" r:id="rId5" imgW="393480" imgH="203040" progId="Equation.DSMT4">
                    <p:embed/>
                  </p:oleObj>
                </mc:Choice>
                <mc:Fallback>
                  <p:oleObj name="Equation" r:id="rId5" imgW="393480" imgH="2030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" y="49"/>
                          <a:ext cx="828" cy="3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3" name="AutoShape 11"/>
            <p:cNvSpPr>
              <a:spLocks noChangeArrowheads="1"/>
            </p:cNvSpPr>
            <p:nvPr/>
          </p:nvSpPr>
          <p:spPr bwMode="auto">
            <a:xfrm>
              <a:off x="0" y="144"/>
              <a:ext cx="144" cy="144"/>
            </a:xfrm>
            <a:prstGeom prst="star5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800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800"/>
            </a:p>
          </p:txBody>
        </p:sp>
      </p:grp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1112044" y="3448014"/>
            <a:ext cx="760333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>
              <a:lnSpc>
                <a:spcPct val="125000"/>
              </a:lnSpc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b="1">
                <a:latin typeface="宋体" pitchFamily="2" charset="-122"/>
              </a:rPr>
              <a:t>    如物体在一参考系中不受其它物体作用，而保持静止或匀速直线运动，这个参考系就称为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惯性参考系．</a:t>
            </a:r>
          </a:p>
        </p:txBody>
      </p:sp>
      <p:sp>
        <p:nvSpPr>
          <p:cNvPr id="33805" name="Text Box 13">
            <a:hlinkClick r:id="rId7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742010" y="427490"/>
            <a:ext cx="36718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2-1</a:t>
            </a:r>
            <a:r>
              <a:rPr lang="zh-CN" altLang="en-US" b="1">
                <a:ea typeface="华文中宋" pitchFamily="2" charset="-122"/>
              </a:rPr>
              <a:t>　牛顿定律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9B5A5C-EABD-43AA-A825-17D618C74958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734018" y="791604"/>
            <a:ext cx="2700000" cy="1890000"/>
          </a:xfrm>
          <a:prstGeom prst="rect">
            <a:avLst/>
          </a:prstGeom>
        </p:spPr>
      </p:pic>
      <p:pic>
        <p:nvPicPr>
          <p:cNvPr id="6" name="图片 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791604"/>
            <a:ext cx="2700000" cy="1890000"/>
          </a:xfrm>
          <a:prstGeom prst="rect">
            <a:avLst/>
          </a:prstGeom>
        </p:spPr>
      </p:pic>
      <p:pic>
        <p:nvPicPr>
          <p:cNvPr id="7" name="图片 6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2950002"/>
            <a:ext cx="2700000" cy="18900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34018" y="2950002"/>
            <a:ext cx="2700000" cy="1890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58385" y="195486"/>
            <a:ext cx="669674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100" b="1">
                <a:solidFill>
                  <a:srgbClr val="CC0000"/>
                </a:solidFill>
                <a:latin typeface="宋体" pitchFamily="2" charset="-122"/>
              </a:rPr>
              <a:t>惯性与生活和工程技术密切相关，应取其益，避其害。</a:t>
            </a:r>
          </a:p>
        </p:txBody>
      </p:sp>
    </p:spTree>
    <p:extLst>
      <p:ext uri="{BB962C8B-B14F-4D97-AF65-F5344CB8AC3E}">
        <p14:creationId xmlns:p14="http://schemas.microsoft.com/office/powerpoint/2010/main" val="44141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93B1B6-2B6C-4252-8AC7-8F0B020CEA7E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104430"/>
              </p:ext>
            </p:extLst>
          </p:nvPr>
        </p:nvGraphicFramePr>
        <p:xfrm>
          <a:off x="2159000" y="2368550"/>
          <a:ext cx="21463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" name="Equation" r:id="rId3" imgW="1130040" imgH="393480" progId="Equation.DSMT4">
                  <p:embed/>
                </p:oleObj>
              </mc:Choice>
              <mc:Fallback>
                <p:oleObj name="Equation" r:id="rId3" imgW="113004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2368550"/>
                        <a:ext cx="2146300" cy="819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Rectangle 3"/>
          <p:cNvSpPr>
            <a:spLocks noChangeArrowheads="1"/>
          </p:cNvSpPr>
          <p:nvPr/>
        </p:nvSpPr>
        <p:spPr bwMode="auto">
          <a:xfrm>
            <a:off x="1007268" y="514014"/>
            <a:ext cx="318611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二、牛顿第二定律</a:t>
            </a:r>
          </a:p>
        </p:txBody>
      </p:sp>
      <p:sp>
        <p:nvSpPr>
          <p:cNvPr id="2059" name="Rectangle 4"/>
          <p:cNvSpPr>
            <a:spLocks noChangeArrowheads="1"/>
          </p:cNvSpPr>
          <p:nvPr/>
        </p:nvSpPr>
        <p:spPr bwMode="auto">
          <a:xfrm>
            <a:off x="957858" y="1221860"/>
            <a:ext cx="768072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    动量为</a:t>
            </a:r>
            <a:r>
              <a:rPr lang="zh-CN" altLang="en-US" b="1" i="1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的物体，在合外力　        的作用下，其</a:t>
            </a:r>
            <a:r>
              <a:rPr lang="zh-CN" altLang="en-US" b="1">
                <a:solidFill>
                  <a:srgbClr val="0000FF"/>
                </a:solidFill>
                <a:latin typeface="宋体" pitchFamily="2" charset="-122"/>
              </a:rPr>
              <a:t>动量随时间的变化率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应当等于作用于物体的</a:t>
            </a:r>
            <a:r>
              <a:rPr lang="zh-CN" altLang="en-US" b="1">
                <a:solidFill>
                  <a:srgbClr val="0000FF"/>
                </a:solidFill>
                <a:latin typeface="宋体" pitchFamily="2" charset="-122"/>
              </a:rPr>
              <a:t>合外力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．</a:t>
            </a:r>
            <a:endParaRPr lang="zh-CN" altLang="en-US" b="1" i="1">
              <a:solidFill>
                <a:srgbClr val="000000"/>
              </a:solidFill>
              <a:latin typeface="宋体" pitchFamily="2" charset="-122"/>
              <a:sym typeface="Symbol" pitchFamily="18" charset="2"/>
            </a:endParaRPr>
          </a:p>
        </p:txBody>
      </p:sp>
      <p:graphicFrame>
        <p:nvGraphicFramePr>
          <p:cNvPr id="20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332618"/>
              </p:ext>
            </p:extLst>
          </p:nvPr>
        </p:nvGraphicFramePr>
        <p:xfrm>
          <a:off x="2599929" y="1288813"/>
          <a:ext cx="329803" cy="410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" r:id="rId5" imgW="152280" imgH="190440" progId="Equation.3">
                  <p:embed/>
                </p:oleObj>
              </mc:Choice>
              <mc:Fallback>
                <p:oleObj r:id="rId5" imgW="152280" imgH="1904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929" y="1288813"/>
                        <a:ext cx="329803" cy="4107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58000"/>
              </p:ext>
            </p:extLst>
          </p:nvPr>
        </p:nvGraphicFramePr>
        <p:xfrm>
          <a:off x="5378848" y="1246732"/>
          <a:ext cx="1412477" cy="514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" r:id="rId7" imgW="698514" imgH="254207" progId="Equation.3">
                  <p:embed/>
                </p:oleObj>
              </mc:Choice>
              <mc:Fallback>
                <p:oleObj r:id="rId7" imgW="698514" imgH="2542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848" y="1246732"/>
                        <a:ext cx="1412477" cy="5147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198960" y="3624263"/>
            <a:ext cx="3942160" cy="535781"/>
            <a:chOff x="0" y="0"/>
            <a:chExt cx="3311" cy="450"/>
          </a:xfrm>
        </p:grpSpPr>
        <p:sp>
          <p:nvSpPr>
            <p:cNvPr id="206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3311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当       时</a:t>
              </a:r>
              <a:r>
                <a:rPr lang="zh-CN" altLang="en-US" b="1" smtClean="0">
                  <a:solidFill>
                    <a:srgbClr val="000000"/>
                  </a:solidFill>
                  <a:latin typeface="宋体" pitchFamily="2" charset="-122"/>
                </a:rPr>
                <a:t>，  为</a:t>
              </a:r>
              <a:r>
                <a:rPr lang="zh-CN" altLang="en-US" b="1">
                  <a:latin typeface="宋体" pitchFamily="2" charset="-122"/>
                </a:rPr>
                <a:t>常</a:t>
              </a:r>
              <a:r>
                <a:rPr lang="zh-CN" altLang="en-US" b="1" smtClean="0">
                  <a:latin typeface="宋体" pitchFamily="2" charset="-122"/>
                </a:rPr>
                <a:t>量</a:t>
              </a:r>
              <a:endParaRPr lang="zh-CN" altLang="en-US" b="1">
                <a:latin typeface="宋体" pitchFamily="2" charset="-122"/>
              </a:endParaRPr>
            </a:p>
          </p:txBody>
        </p:sp>
        <p:graphicFrame>
          <p:nvGraphicFramePr>
            <p:cNvPr id="205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0501936"/>
                </p:ext>
              </p:extLst>
            </p:nvPr>
          </p:nvGraphicFramePr>
          <p:xfrm>
            <a:off x="364" y="105"/>
            <a:ext cx="77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8" r:id="rId9" imgW="432304" imgH="140078" progId="Equation.3">
                    <p:embed/>
                  </p:oleObj>
                </mc:Choice>
                <mc:Fallback>
                  <p:oleObj r:id="rId9" imgW="432304" imgH="14007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" y="105"/>
                          <a:ext cx="770" cy="28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0834949"/>
                </p:ext>
              </p:extLst>
            </p:nvPr>
          </p:nvGraphicFramePr>
          <p:xfrm>
            <a:off x="1672" y="110"/>
            <a:ext cx="3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9" r:id="rId11" imgW="165489" imgH="140078" progId="Equation.3">
                    <p:embed/>
                  </p:oleObj>
                </mc:Choice>
                <mc:Fallback>
                  <p:oleObj r:id="rId11" imgW="165489" imgH="140078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2" y="110"/>
                          <a:ext cx="34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27" name="Object 11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860169237"/>
              </p:ext>
            </p:extLst>
          </p:nvPr>
        </p:nvGraphicFramePr>
        <p:xfrm>
          <a:off x="4897638" y="3504721"/>
          <a:ext cx="2033586" cy="829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" r:id="rId13" imgW="965517" imgH="394017" progId="Equation.3">
                  <p:embed/>
                </p:oleObj>
              </mc:Choice>
              <mc:Fallback>
                <p:oleObj r:id="rId13" imgW="965517" imgH="394017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638" y="3504721"/>
                        <a:ext cx="2033586" cy="829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936547"/>
              </p:ext>
            </p:extLst>
          </p:nvPr>
        </p:nvGraphicFramePr>
        <p:xfrm>
          <a:off x="4897638" y="2552984"/>
          <a:ext cx="1101328" cy="4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" name="Equation" r:id="rId15" imgW="545760" imgH="203040" progId="Equation.DSMT4">
                  <p:embed/>
                </p:oleObj>
              </mc:Choice>
              <mc:Fallback>
                <p:oleObj name="Equation" r:id="rId15" imgW="54576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638" y="2552984"/>
                        <a:ext cx="1101328" cy="449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9" name="AutoShape 13"/>
          <p:cNvSpPr>
            <a:spLocks noChangeArrowheads="1"/>
          </p:cNvSpPr>
          <p:nvPr/>
        </p:nvSpPr>
        <p:spPr bwMode="auto">
          <a:xfrm>
            <a:off x="3759995" y="4317608"/>
            <a:ext cx="1905793" cy="552799"/>
          </a:xfrm>
          <a:prstGeom prst="cloudCallout">
            <a:avLst>
              <a:gd name="adj1" fmla="val 14107"/>
              <a:gd name="adj2" fmla="val -99677"/>
            </a:avLst>
          </a:prstGeom>
          <a:gradFill rotWithShape="1">
            <a:gsLst>
              <a:gs pos="0">
                <a:srgbClr val="66CCFF"/>
              </a:gs>
              <a:gs pos="50000">
                <a:schemeClr val="bg1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100" b="1">
                <a:solidFill>
                  <a:srgbClr val="C00000"/>
                </a:solidFill>
              </a:rPr>
              <a:t>合外力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9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DEC3F9-679D-4102-9FD5-0FDE8AB42A63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97518"/>
              </p:ext>
            </p:extLst>
          </p:nvPr>
        </p:nvGraphicFramePr>
        <p:xfrm>
          <a:off x="1651397" y="1087041"/>
          <a:ext cx="50244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" name="公式" r:id="rId3" imgW="2476440" imgH="419040" progId="Equation.3">
                  <p:embed/>
                </p:oleObj>
              </mc:Choice>
              <mc:Fallback>
                <p:oleObj name="公式" r:id="rId3" imgW="247644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397" y="1087041"/>
                        <a:ext cx="5024438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651397" y="3146823"/>
            <a:ext cx="1596629" cy="1674019"/>
            <a:chOff x="45" y="0"/>
            <a:chExt cx="1341" cy="1406"/>
          </a:xfrm>
        </p:grpSpPr>
        <p:graphicFrame>
          <p:nvGraphicFramePr>
            <p:cNvPr id="3076" name="Object 4"/>
            <p:cNvGraphicFramePr>
              <a:graphicFrameLocks noChangeAspect="1"/>
            </p:cNvGraphicFramePr>
            <p:nvPr/>
          </p:nvGraphicFramePr>
          <p:xfrm>
            <a:off x="162" y="0"/>
            <a:ext cx="1224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0" r:id="rId5" imgW="584517" imgH="228917" progId="Equation.3">
                    <p:embed/>
                  </p:oleObj>
                </mc:Choice>
                <mc:Fallback>
                  <p:oleObj r:id="rId5" imgW="584517" imgH="228917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" y="0"/>
                          <a:ext cx="1224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" name="Object 5"/>
            <p:cNvGraphicFramePr>
              <a:graphicFrameLocks noChangeAspect="1"/>
            </p:cNvGraphicFramePr>
            <p:nvPr/>
          </p:nvGraphicFramePr>
          <p:xfrm>
            <a:off x="153" y="498"/>
            <a:ext cx="1225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1" r:id="rId7" imgW="597217" imgH="241617" progId="Equation.3">
                    <p:embed/>
                  </p:oleObj>
                </mc:Choice>
                <mc:Fallback>
                  <p:oleObj r:id="rId7" imgW="597217" imgH="24161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" y="498"/>
                          <a:ext cx="1225" cy="4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" name="Object 6"/>
            <p:cNvGraphicFramePr>
              <a:graphicFrameLocks noChangeAspect="1"/>
            </p:cNvGraphicFramePr>
            <p:nvPr/>
          </p:nvGraphicFramePr>
          <p:xfrm>
            <a:off x="198" y="1042"/>
            <a:ext cx="108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2" r:id="rId9" imgW="914320" imgH="317679" progId="Equation.3">
                    <p:embed/>
                  </p:oleObj>
                </mc:Choice>
                <mc:Fallback>
                  <p:oleObj r:id="rId9" imgW="914320" imgH="31767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" y="1042"/>
                          <a:ext cx="1089" cy="3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" name="AutoShape 7"/>
            <p:cNvSpPr>
              <a:spLocks/>
            </p:cNvSpPr>
            <p:nvPr/>
          </p:nvSpPr>
          <p:spPr bwMode="auto">
            <a:xfrm>
              <a:off x="45" y="195"/>
              <a:ext cx="162" cy="985"/>
            </a:xfrm>
            <a:prstGeom prst="leftBrace">
              <a:avLst>
                <a:gd name="adj1" fmla="val 2767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575196" y="2333626"/>
            <a:ext cx="3940969" cy="581025"/>
            <a:chOff x="0" y="0"/>
            <a:chExt cx="3310" cy="488"/>
          </a:xfrm>
        </p:grpSpPr>
        <p:graphicFrame>
          <p:nvGraphicFramePr>
            <p:cNvPr id="3075" name="Object 9"/>
            <p:cNvGraphicFramePr>
              <a:graphicFrameLocks noChangeAspect="1"/>
            </p:cNvGraphicFramePr>
            <p:nvPr/>
          </p:nvGraphicFramePr>
          <p:xfrm>
            <a:off x="230" y="0"/>
            <a:ext cx="3080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3" r:id="rId11" imgW="1599129" imgH="254097" progId="Equation.3">
                    <p:embed/>
                  </p:oleObj>
                </mc:Choice>
                <mc:Fallback>
                  <p:oleObj r:id="rId11" imgW="1599129" imgH="254097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" y="0"/>
                          <a:ext cx="3080" cy="488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" name="Text Box 10"/>
            <p:cNvSpPr txBox="1">
              <a:spLocks noChangeArrowheads="1"/>
            </p:cNvSpPr>
            <p:nvPr/>
          </p:nvSpPr>
          <p:spPr bwMode="auto">
            <a:xfrm>
              <a:off x="0" y="32"/>
              <a:ext cx="31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即</a:t>
              </a:r>
            </a:p>
          </p:txBody>
        </p:sp>
      </p:grpSp>
      <p:sp>
        <p:nvSpPr>
          <p:cNvPr id="3082" name="Text Box 13"/>
          <p:cNvSpPr txBox="1">
            <a:spLocks noChangeArrowheads="1"/>
          </p:cNvSpPr>
          <p:nvPr/>
        </p:nvSpPr>
        <p:spPr bwMode="auto">
          <a:xfrm>
            <a:off x="1058466" y="438151"/>
            <a:ext cx="2645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</a:rPr>
              <a:t>1. </a:t>
            </a: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在直角坐标系中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C90C67-FD7F-4A57-93DA-77A3334FFF3F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762000" y="4024313"/>
            <a:ext cx="53145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</a:rPr>
              <a:t>注：</a:t>
            </a:r>
            <a:r>
              <a:rPr lang="zh-CN" altLang="en-US" b="1" dirty="0"/>
              <a:t>    为</a:t>
            </a:r>
            <a:r>
              <a:rPr lang="en-US" altLang="zh-CN" i="1" dirty="0"/>
              <a:t>A</a:t>
            </a:r>
            <a:r>
              <a:rPr lang="zh-CN" altLang="en-US" b="1" dirty="0"/>
              <a:t>处曲线的曲率半径．</a:t>
            </a: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2250281" y="1762125"/>
          <a:ext cx="2430066" cy="950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3" r:id="rId3" imgW="1156519" imgH="419599" progId="Equation.3">
                  <p:embed/>
                </p:oleObj>
              </mc:Choice>
              <mc:Fallback>
                <p:oleObj r:id="rId3" imgW="1156519" imgH="41959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1" y="1762125"/>
                        <a:ext cx="2430066" cy="950119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AutoShape 4"/>
          <p:cNvSpPr>
            <a:spLocks/>
          </p:cNvSpPr>
          <p:nvPr/>
        </p:nvSpPr>
        <p:spPr bwMode="auto">
          <a:xfrm>
            <a:off x="2033588" y="2225278"/>
            <a:ext cx="216694" cy="1156097"/>
          </a:xfrm>
          <a:prstGeom prst="leftBrace">
            <a:avLst>
              <a:gd name="adj1" fmla="val 31986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108" name="Text Box 5"/>
          <p:cNvSpPr txBox="1">
            <a:spLocks noChangeArrowheads="1"/>
          </p:cNvSpPr>
          <p:nvPr/>
        </p:nvSpPr>
        <p:spPr bwMode="auto">
          <a:xfrm>
            <a:off x="896542" y="407343"/>
            <a:ext cx="2915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tabLst>
                <a:tab pos="2491979" algn="l"/>
              </a:tabLst>
            </a:pPr>
            <a:r>
              <a:rPr lang="en-US" altLang="zh-CN" b="1">
                <a:solidFill>
                  <a:srgbClr val="CC0000"/>
                </a:solidFill>
              </a:rPr>
              <a:t>2. </a:t>
            </a:r>
            <a:r>
              <a:rPr lang="zh-CN" altLang="en-US" b="1">
                <a:solidFill>
                  <a:srgbClr val="CC0000"/>
                </a:solidFill>
              </a:rPr>
              <a:t>在自然坐标系中</a:t>
            </a:r>
          </a:p>
        </p:txBody>
      </p:sp>
      <p:graphicFrame>
        <p:nvGraphicFramePr>
          <p:cNvPr id="409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998205"/>
              </p:ext>
            </p:extLst>
          </p:nvPr>
        </p:nvGraphicFramePr>
        <p:xfrm>
          <a:off x="1283495" y="784622"/>
          <a:ext cx="5555456" cy="100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" r:id="rId5" imgW="2450354" imgH="444624" progId="Equation.3">
                  <p:embed/>
                </p:oleObj>
              </mc:Choice>
              <mc:Fallback>
                <p:oleObj r:id="rId5" imgW="2450354" imgH="4446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495" y="784622"/>
                        <a:ext cx="5555456" cy="1008459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2250282" y="2853928"/>
          <a:ext cx="1403747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5" r:id="rId7" imgW="660717" imgH="444817" progId="Equation.3">
                  <p:embed/>
                </p:oleObj>
              </mc:Choice>
              <mc:Fallback>
                <p:oleObj r:id="rId7" imgW="660717" imgH="44481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2" y="2853928"/>
                        <a:ext cx="1403747" cy="10144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9" name="Group 8"/>
          <p:cNvGrpSpPr>
            <a:grpSpLocks/>
          </p:cNvGrpSpPr>
          <p:nvPr/>
        </p:nvGrpSpPr>
        <p:grpSpPr bwMode="auto">
          <a:xfrm>
            <a:off x="5905103" y="2415185"/>
            <a:ext cx="2046685" cy="1590675"/>
            <a:chOff x="141" y="252"/>
            <a:chExt cx="1719" cy="1336"/>
          </a:xfrm>
        </p:grpSpPr>
        <p:sp>
          <p:nvSpPr>
            <p:cNvPr id="4111" name="Freeform 9"/>
            <p:cNvSpPr>
              <a:spLocks/>
            </p:cNvSpPr>
            <p:nvPr/>
          </p:nvSpPr>
          <p:spPr bwMode="auto">
            <a:xfrm>
              <a:off x="141" y="252"/>
              <a:ext cx="1655" cy="1336"/>
            </a:xfrm>
            <a:custGeom>
              <a:avLst/>
              <a:gdLst>
                <a:gd name="T0" fmla="*/ 0 w 1655"/>
                <a:gd name="T1" fmla="*/ 1170 h 1336"/>
                <a:gd name="T2" fmla="*/ 320 w 1655"/>
                <a:gd name="T3" fmla="*/ 1188 h 1336"/>
                <a:gd name="T4" fmla="*/ 859 w 1655"/>
                <a:gd name="T5" fmla="*/ 1298 h 1336"/>
                <a:gd name="T6" fmla="*/ 1271 w 1655"/>
                <a:gd name="T7" fmla="*/ 960 h 1336"/>
                <a:gd name="T8" fmla="*/ 1335 w 1655"/>
                <a:gd name="T9" fmla="*/ 302 h 1336"/>
                <a:gd name="T10" fmla="*/ 1435 w 1655"/>
                <a:gd name="T11" fmla="*/ 73 h 1336"/>
                <a:gd name="T12" fmla="*/ 1655 w 1655"/>
                <a:gd name="T13" fmla="*/ 0 h 1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55"/>
                <a:gd name="T22" fmla="*/ 0 h 1336"/>
                <a:gd name="T23" fmla="*/ 1655 w 1655"/>
                <a:gd name="T24" fmla="*/ 1336 h 1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55" h="1336">
                  <a:moveTo>
                    <a:pt x="0" y="1170"/>
                  </a:moveTo>
                  <a:cubicBezTo>
                    <a:pt x="53" y="1173"/>
                    <a:pt x="177" y="1167"/>
                    <a:pt x="320" y="1188"/>
                  </a:cubicBezTo>
                  <a:cubicBezTo>
                    <a:pt x="463" y="1209"/>
                    <a:pt x="701" y="1336"/>
                    <a:pt x="859" y="1298"/>
                  </a:cubicBezTo>
                  <a:cubicBezTo>
                    <a:pt x="1017" y="1260"/>
                    <a:pt x="1192" y="1126"/>
                    <a:pt x="1271" y="960"/>
                  </a:cubicBezTo>
                  <a:cubicBezTo>
                    <a:pt x="1350" y="794"/>
                    <a:pt x="1308" y="450"/>
                    <a:pt x="1335" y="302"/>
                  </a:cubicBezTo>
                  <a:cubicBezTo>
                    <a:pt x="1362" y="154"/>
                    <a:pt x="1382" y="123"/>
                    <a:pt x="1435" y="73"/>
                  </a:cubicBezTo>
                  <a:cubicBezTo>
                    <a:pt x="1488" y="23"/>
                    <a:pt x="1609" y="15"/>
                    <a:pt x="1655" y="0"/>
                  </a:cubicBezTo>
                </a:path>
              </a:pathLst>
            </a:custGeom>
            <a:noFill/>
            <a:ln w="28575" cmpd="sng">
              <a:solidFill>
                <a:srgbClr val="CC00CC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2" name="Line 10"/>
            <p:cNvSpPr>
              <a:spLocks noChangeShapeType="1"/>
            </p:cNvSpPr>
            <p:nvPr/>
          </p:nvSpPr>
          <p:spPr bwMode="auto">
            <a:xfrm flipV="1">
              <a:off x="1261" y="1007"/>
              <a:ext cx="363" cy="40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Line 11"/>
            <p:cNvSpPr>
              <a:spLocks noChangeShapeType="1"/>
            </p:cNvSpPr>
            <p:nvPr/>
          </p:nvSpPr>
          <p:spPr bwMode="auto">
            <a:xfrm flipH="1" flipV="1">
              <a:off x="998" y="1088"/>
              <a:ext cx="272" cy="31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Line 12"/>
            <p:cNvSpPr>
              <a:spLocks noChangeShapeType="1"/>
            </p:cNvSpPr>
            <p:nvPr/>
          </p:nvSpPr>
          <p:spPr bwMode="auto">
            <a:xfrm flipH="1" flipV="1">
              <a:off x="1134" y="362"/>
              <a:ext cx="136" cy="104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1800"/>
            </a:p>
          </p:txBody>
        </p:sp>
        <p:graphicFrame>
          <p:nvGraphicFramePr>
            <p:cNvPr id="4102" name="Object 13"/>
            <p:cNvGraphicFramePr>
              <a:graphicFrameLocks noChangeAspect="1"/>
            </p:cNvGraphicFramePr>
            <p:nvPr/>
          </p:nvGraphicFramePr>
          <p:xfrm>
            <a:off x="869" y="317"/>
            <a:ext cx="26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46" r:id="rId9" imgW="127262" imgH="165345" progId="Equation.3">
                    <p:embed/>
                  </p:oleObj>
                </mc:Choice>
                <mc:Fallback>
                  <p:oleObj r:id="rId9" imgW="127262" imgH="16534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9" y="317"/>
                          <a:ext cx="265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3" name="Object 14"/>
            <p:cNvGraphicFramePr>
              <a:graphicFrameLocks noChangeAspect="1"/>
            </p:cNvGraphicFramePr>
            <p:nvPr/>
          </p:nvGraphicFramePr>
          <p:xfrm>
            <a:off x="1603" y="952"/>
            <a:ext cx="257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47" r:id="rId11" imgW="140199" imgH="229215" progId="Equation.3">
                    <p:embed/>
                  </p:oleObj>
                </mc:Choice>
                <mc:Fallback>
                  <p:oleObj r:id="rId11" imgW="140199" imgH="22921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" y="952"/>
                          <a:ext cx="257" cy="4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4" name="Object 15"/>
            <p:cNvGraphicFramePr>
              <a:graphicFrameLocks noChangeAspect="1"/>
            </p:cNvGraphicFramePr>
            <p:nvPr/>
          </p:nvGraphicFramePr>
          <p:xfrm>
            <a:off x="754" y="872"/>
            <a:ext cx="304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48" r:id="rId13" imgW="165417" imgH="216217" progId="Equation.3">
                    <p:embed/>
                  </p:oleObj>
                </mc:Choice>
                <mc:Fallback>
                  <p:oleObj r:id="rId13" imgW="165417" imgH="216217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" y="872"/>
                          <a:ext cx="304" cy="3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10" name="Rectangle 17"/>
          <p:cNvSpPr>
            <a:spLocks noChangeArrowheads="1"/>
          </p:cNvSpPr>
          <p:nvPr/>
        </p:nvSpPr>
        <p:spPr bwMode="auto">
          <a:xfrm>
            <a:off x="7152878" y="3660578"/>
            <a:ext cx="3722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/>
              <a:t>A</a:t>
            </a:r>
            <a:endParaRPr lang="zh-CN" altLang="en-US" i="1"/>
          </a:p>
        </p:txBody>
      </p:sp>
      <p:graphicFrame>
        <p:nvGraphicFramePr>
          <p:cNvPr id="36882" name="Object 1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9914598"/>
              </p:ext>
            </p:extLst>
          </p:nvPr>
        </p:nvGraphicFramePr>
        <p:xfrm>
          <a:off x="1506142" y="4076671"/>
          <a:ext cx="335756" cy="36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9" r:id="rId15" imgW="152783" imgH="165489" progId="Equation.3">
                  <p:embed/>
                </p:oleObj>
              </mc:Choice>
              <mc:Fallback>
                <p:oleObj r:id="rId15" imgW="152783" imgH="165489" progId="Equation.3">
                  <p:embed/>
                  <p:pic>
                    <p:nvPicPr>
                      <p:cNvPr id="0" name="Object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142" y="4076671"/>
                        <a:ext cx="335756" cy="36314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50931" y="4863035"/>
            <a:ext cx="1600200" cy="273844"/>
          </a:xfrm>
        </p:spPr>
        <p:txBody>
          <a:bodyPr/>
          <a:lstStyle/>
          <a:p>
            <a:pPr>
              <a:defRPr/>
            </a:pPr>
            <a:fld id="{F16C8BDA-2897-4B8E-88E9-2AA40347DEB1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126" name="Text Box 2"/>
          <p:cNvSpPr txBox="1">
            <a:spLocks noChangeArrowheads="1"/>
          </p:cNvSpPr>
          <p:nvPr/>
        </p:nvSpPr>
        <p:spPr bwMode="auto">
          <a:xfrm>
            <a:off x="589359" y="1386246"/>
            <a:ext cx="25384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宋体" pitchFamily="2" charset="-122"/>
              </a:rPr>
              <a:t> </a:t>
            </a: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瞬时</a:t>
            </a:r>
            <a:r>
              <a:rPr lang="zh-CN" altLang="en-US" b="1">
                <a:latin typeface="Arial" pitchFamily="34" charset="0"/>
              </a:rPr>
              <a:t>关系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522684" y="1948549"/>
            <a:ext cx="41302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smtClean="0">
                <a:solidFill>
                  <a:srgbClr val="CC0000"/>
                </a:solidFill>
                <a:latin typeface="宋体" pitchFamily="2" charset="-122"/>
              </a:rPr>
              <a:t> (</a:t>
            </a:r>
            <a:r>
              <a:rPr lang="zh-CN" altLang="en-US" b="1">
                <a:solidFill>
                  <a:srgbClr val="CC0000"/>
                </a:solidFill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</a:rPr>
              <a:t>牛顿定律只适用于</a:t>
            </a:r>
            <a:r>
              <a:rPr lang="zh-CN" altLang="en-US" b="1">
                <a:solidFill>
                  <a:srgbClr val="CC0000"/>
                </a:solidFill>
              </a:rPr>
              <a:t>质点</a:t>
            </a:r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7892" name="AutoShape 4"/>
          <p:cNvSpPr>
            <a:spLocks noChangeArrowheads="1"/>
          </p:cNvSpPr>
          <p:nvPr/>
        </p:nvSpPr>
        <p:spPr bwMode="auto">
          <a:xfrm>
            <a:off x="619125" y="466725"/>
            <a:ext cx="1258491" cy="61347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EDFFD2"/>
              </a:gs>
              <a:gs pos="50000">
                <a:schemeClr val="bg1"/>
              </a:gs>
              <a:gs pos="100000">
                <a:srgbClr val="EDFFD2"/>
              </a:gs>
            </a:gsLst>
            <a:lin ang="5400000" scaled="1"/>
          </a:gradFill>
          <a:ln w="12700">
            <a:solidFill>
              <a:srgbClr val="00808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注意</a:t>
            </a: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763318"/>
              </p:ext>
            </p:extLst>
          </p:nvPr>
        </p:nvGraphicFramePr>
        <p:xfrm>
          <a:off x="4967309" y="3832724"/>
          <a:ext cx="3380184" cy="500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7" name="Equation" r:id="rId3" imgW="1346040" imgH="228600" progId="Equation.DSMT4">
                  <p:embed/>
                </p:oleObj>
              </mc:Choice>
              <mc:Fallback>
                <p:oleObj name="Equation" r:id="rId3" imgW="134604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309" y="3832724"/>
                        <a:ext cx="3380184" cy="50048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596663"/>
              </p:ext>
            </p:extLst>
          </p:nvPr>
        </p:nvGraphicFramePr>
        <p:xfrm>
          <a:off x="4871463" y="466724"/>
          <a:ext cx="3730804" cy="546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8" name="Equation" r:id="rId5" imgW="1777680" imgH="241200" progId="Equation.DSMT4">
                  <p:embed/>
                </p:oleObj>
              </mc:Choice>
              <mc:Fallback>
                <p:oleObj name="Equation" r:id="rId5" imgW="177768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463" y="466724"/>
                        <a:ext cx="3730804" cy="54635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589359" y="2418519"/>
            <a:ext cx="27217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 dirty="0">
                <a:solidFill>
                  <a:srgbClr val="CC0000"/>
                </a:solidFill>
              </a:rPr>
              <a:t>3</a:t>
            </a:r>
            <a:r>
              <a:rPr lang="zh-CN" altLang="en-US" b="1" dirty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Arial" pitchFamily="34" charset="0"/>
              </a:rPr>
              <a:t>叠加原理</a:t>
            </a: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585325"/>
              </p:ext>
            </p:extLst>
          </p:nvPr>
        </p:nvGraphicFramePr>
        <p:xfrm>
          <a:off x="5115255" y="1288805"/>
          <a:ext cx="1178200" cy="1730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" name="Equation" r:id="rId7" imgW="622080" imgH="914400" progId="Equation.DSMT4">
                  <p:embed/>
                </p:oleObj>
              </mc:Choice>
              <mc:Fallback>
                <p:oleObj name="Equation" r:id="rId7" imgW="622080" imgH="914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255" y="1288805"/>
                        <a:ext cx="1178200" cy="1730178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4562475" y="0"/>
            <a:ext cx="0" cy="5143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utoUpdateAnimBg="0"/>
      <p:bldP spid="3789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2E282B-9CFE-49A3-A98B-C3CEFFBC5D30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28663" y="1240631"/>
            <a:ext cx="8224837" cy="978694"/>
            <a:chOff x="-837" y="0"/>
            <a:chExt cx="6908" cy="822"/>
          </a:xfrm>
        </p:grpSpPr>
        <p:sp>
          <p:nvSpPr>
            <p:cNvPr id="6160" name="Rectangle 3"/>
            <p:cNvSpPr>
              <a:spLocks noChangeArrowheads="1"/>
            </p:cNvSpPr>
            <p:nvPr/>
          </p:nvSpPr>
          <p:spPr bwMode="auto">
            <a:xfrm>
              <a:off x="-837" y="0"/>
              <a:ext cx="6908" cy="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000000"/>
                  </a:solidFill>
                  <a:latin typeface="Arial" pitchFamily="34" charset="0"/>
                </a:rPr>
                <a:t>       两个物体之间作用力     和反作用力     ，沿同一直线，大小相等，方向相反，分别作用在两个物体上．</a:t>
              </a:r>
            </a:p>
          </p:txBody>
        </p:sp>
        <p:graphicFrame>
          <p:nvGraphicFramePr>
            <p:cNvPr id="614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880312"/>
                </p:ext>
              </p:extLst>
            </p:nvPr>
          </p:nvGraphicFramePr>
          <p:xfrm>
            <a:off x="2094" y="37"/>
            <a:ext cx="30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1" r:id="rId3" imgW="164880" imgH="190440" progId="Equation.3">
                    <p:embed/>
                  </p:oleObj>
                </mc:Choice>
                <mc:Fallback>
                  <p:oleObj r:id="rId3" imgW="164880" imgH="1904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4" y="37"/>
                          <a:ext cx="308" cy="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1089787"/>
                </p:ext>
              </p:extLst>
            </p:nvPr>
          </p:nvGraphicFramePr>
          <p:xfrm>
            <a:off x="3681" y="38"/>
            <a:ext cx="379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22" r:id="rId5" imgW="203694" imgH="190983" progId="Equation.3">
                    <p:embed/>
                  </p:oleObj>
                </mc:Choice>
                <mc:Fallback>
                  <p:oleObj r:id="rId5" imgW="203694" imgH="190983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1" y="38"/>
                          <a:ext cx="379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343621"/>
              </p:ext>
            </p:extLst>
          </p:nvPr>
        </p:nvGraphicFramePr>
        <p:xfrm>
          <a:off x="2218135" y="2677716"/>
          <a:ext cx="1368028" cy="446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3" r:id="rId7" imgW="546417" imgH="190817" progId="Equation.3">
                  <p:embed/>
                </p:oleObj>
              </mc:Choice>
              <mc:Fallback>
                <p:oleObj r:id="rId7" imgW="546417" imgH="19081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135" y="2677716"/>
                        <a:ext cx="1368028" cy="446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3815954" y="2725341"/>
            <a:ext cx="35111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</a:rPr>
              <a:t>（物体间相互作用规律）</a:t>
            </a:r>
          </a:p>
        </p:txBody>
      </p:sp>
      <p:sp>
        <p:nvSpPr>
          <p:cNvPr id="6154" name="Rectangle 8"/>
          <p:cNvSpPr>
            <a:spLocks noChangeArrowheads="1"/>
          </p:cNvSpPr>
          <p:nvPr/>
        </p:nvSpPr>
        <p:spPr bwMode="auto">
          <a:xfrm>
            <a:off x="634008" y="551825"/>
            <a:ext cx="358140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三、牛顿第三定律</a:t>
            </a:r>
          </a:p>
        </p:txBody>
      </p:sp>
      <p:sp>
        <p:nvSpPr>
          <p:cNvPr id="6155" name="Oval 9"/>
          <p:cNvSpPr>
            <a:spLocks noChangeArrowheads="1"/>
          </p:cNvSpPr>
          <p:nvPr/>
        </p:nvSpPr>
        <p:spPr bwMode="auto">
          <a:xfrm>
            <a:off x="2855119" y="3663553"/>
            <a:ext cx="432197" cy="432197"/>
          </a:xfrm>
          <a:prstGeom prst="ellipse">
            <a:avLst/>
          </a:prstGeom>
          <a:gradFill rotWithShape="1">
            <a:gsLst>
              <a:gs pos="0">
                <a:srgbClr val="EDFAD2"/>
              </a:gs>
              <a:gs pos="100000">
                <a:srgbClr val="6E746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33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156" name="Oval 10"/>
          <p:cNvSpPr>
            <a:spLocks noChangeArrowheads="1"/>
          </p:cNvSpPr>
          <p:nvPr/>
        </p:nvSpPr>
        <p:spPr bwMode="auto">
          <a:xfrm>
            <a:off x="5166122" y="3651647"/>
            <a:ext cx="432197" cy="432197"/>
          </a:xfrm>
          <a:prstGeom prst="ellipse">
            <a:avLst/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66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157" name="Line 11"/>
          <p:cNvSpPr>
            <a:spLocks noChangeShapeType="1"/>
          </p:cNvSpPr>
          <p:nvPr/>
        </p:nvSpPr>
        <p:spPr bwMode="auto">
          <a:xfrm>
            <a:off x="3275410" y="3882629"/>
            <a:ext cx="594122" cy="0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158" name="Line 12"/>
          <p:cNvSpPr>
            <a:spLocks noChangeShapeType="1"/>
          </p:cNvSpPr>
          <p:nvPr/>
        </p:nvSpPr>
        <p:spPr bwMode="auto">
          <a:xfrm flipH="1">
            <a:off x="4572001" y="3882629"/>
            <a:ext cx="59412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6147" name="Object 13"/>
          <p:cNvGraphicFramePr>
            <a:graphicFrameLocks noChangeAspect="1"/>
          </p:cNvGraphicFramePr>
          <p:nvPr/>
        </p:nvGraphicFramePr>
        <p:xfrm>
          <a:off x="3489722" y="3923110"/>
          <a:ext cx="390525" cy="42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4" r:id="rId9" imgW="165489" imgH="190900" progId="Equation.3">
                  <p:embed/>
                </p:oleObj>
              </mc:Choice>
              <mc:Fallback>
                <p:oleObj r:id="rId9" imgW="165489" imgH="190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722" y="3923110"/>
                        <a:ext cx="390525" cy="420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14"/>
          <p:cNvGraphicFramePr>
            <a:graphicFrameLocks noChangeAspect="1"/>
          </p:cNvGraphicFramePr>
          <p:nvPr/>
        </p:nvGraphicFramePr>
        <p:xfrm>
          <a:off x="4569619" y="3938588"/>
          <a:ext cx="382191" cy="383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5" r:id="rId11" imgW="191065" imgH="191065" progId="Equation.3">
                  <p:embed/>
                </p:oleObj>
              </mc:Choice>
              <mc:Fallback>
                <p:oleObj r:id="rId11" imgW="191065" imgH="19106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619" y="3938588"/>
                        <a:ext cx="382191" cy="383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35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Line 15"/>
          <p:cNvSpPr>
            <a:spLocks noChangeShapeType="1"/>
          </p:cNvSpPr>
          <p:nvPr/>
        </p:nvSpPr>
        <p:spPr bwMode="auto">
          <a:xfrm>
            <a:off x="3837385" y="3882629"/>
            <a:ext cx="756047" cy="0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9DB908-39FE-4923-A278-CF9D8AFABF0C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19351" y="2274094"/>
            <a:ext cx="1314450" cy="1265634"/>
            <a:chOff x="432" y="240"/>
            <a:chExt cx="1104" cy="1063"/>
          </a:xfrm>
        </p:grpSpPr>
        <p:sp>
          <p:nvSpPr>
            <p:cNvPr id="7201" name="Rectangle 4" descr="纸莎草纸"/>
            <p:cNvSpPr>
              <a:spLocks noChangeArrowheads="1"/>
            </p:cNvSpPr>
            <p:nvPr/>
          </p:nvSpPr>
          <p:spPr bwMode="auto">
            <a:xfrm>
              <a:off x="432" y="240"/>
              <a:ext cx="1104" cy="96"/>
            </a:xfrm>
            <a:prstGeom prst="rect">
              <a:avLst/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1800"/>
            </a:p>
          </p:txBody>
        </p:sp>
        <p:sp>
          <p:nvSpPr>
            <p:cNvPr id="7202" name="Oval 5"/>
            <p:cNvSpPr>
              <a:spLocks noChangeArrowheads="1"/>
            </p:cNvSpPr>
            <p:nvPr/>
          </p:nvSpPr>
          <p:spPr bwMode="auto">
            <a:xfrm>
              <a:off x="960" y="336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3" name="Oval 6"/>
            <p:cNvSpPr>
              <a:spLocks noChangeArrowheads="1"/>
            </p:cNvSpPr>
            <p:nvPr/>
          </p:nvSpPr>
          <p:spPr bwMode="auto">
            <a:xfrm>
              <a:off x="960" y="432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4" name="Oval 7"/>
            <p:cNvSpPr>
              <a:spLocks noChangeArrowheads="1"/>
            </p:cNvSpPr>
            <p:nvPr/>
          </p:nvSpPr>
          <p:spPr bwMode="auto">
            <a:xfrm>
              <a:off x="960" y="528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5" name="Oval 8"/>
            <p:cNvSpPr>
              <a:spLocks noChangeArrowheads="1"/>
            </p:cNvSpPr>
            <p:nvPr/>
          </p:nvSpPr>
          <p:spPr bwMode="auto">
            <a:xfrm>
              <a:off x="960" y="624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6" name="Oval 9"/>
            <p:cNvSpPr>
              <a:spLocks noChangeArrowheads="1"/>
            </p:cNvSpPr>
            <p:nvPr/>
          </p:nvSpPr>
          <p:spPr bwMode="auto">
            <a:xfrm>
              <a:off x="960" y="720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7" name="Oval 10"/>
            <p:cNvSpPr>
              <a:spLocks noChangeArrowheads="1"/>
            </p:cNvSpPr>
            <p:nvPr/>
          </p:nvSpPr>
          <p:spPr bwMode="auto">
            <a:xfrm>
              <a:off x="960" y="816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8" name="Oval 11"/>
            <p:cNvSpPr>
              <a:spLocks noChangeArrowheads="1"/>
            </p:cNvSpPr>
            <p:nvPr/>
          </p:nvSpPr>
          <p:spPr bwMode="auto">
            <a:xfrm>
              <a:off x="960" y="912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9" name="AutoShape 12" descr="白色大理石"/>
            <p:cNvSpPr>
              <a:spLocks noChangeArrowheads="1"/>
            </p:cNvSpPr>
            <p:nvPr/>
          </p:nvSpPr>
          <p:spPr bwMode="auto">
            <a:xfrm flipV="1">
              <a:off x="768" y="1008"/>
              <a:ext cx="43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750 w 21600"/>
                <a:gd name="T13" fmla="*/ 3750 h 21600"/>
                <a:gd name="T14" fmla="*/ 17850 w 21600"/>
                <a:gd name="T15" fmla="*/ 178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921" y="21600"/>
                  </a:lnTo>
                  <a:lnTo>
                    <a:pt x="17679" y="21600"/>
                  </a:lnTo>
                  <a:lnTo>
                    <a:pt x="21600" y="0"/>
                  </a:lnTo>
                  <a:close/>
                </a:path>
              </a:pathLst>
            </a:custGeom>
            <a:blipFill dpi="0" rotWithShape="0">
              <a:blip r:embed="rId4" cstate="print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7175" name="Object 13"/>
            <p:cNvGraphicFramePr>
              <a:graphicFrameLocks noChangeAspect="1"/>
            </p:cNvGraphicFramePr>
            <p:nvPr/>
          </p:nvGraphicFramePr>
          <p:xfrm>
            <a:off x="864" y="1056"/>
            <a:ext cx="29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4" r:id="rId5" imgW="165489" imgH="140078" progId="Equation.3">
                    <p:embed/>
                  </p:oleObj>
                </mc:Choice>
                <mc:Fallback>
                  <p:oleObj r:id="rId5" imgW="165489" imgH="140078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056"/>
                          <a:ext cx="292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90" name="Group 16"/>
          <p:cNvGrpSpPr>
            <a:grpSpLocks/>
          </p:cNvGrpSpPr>
          <p:nvPr/>
        </p:nvGrpSpPr>
        <p:grpSpPr bwMode="auto">
          <a:xfrm>
            <a:off x="6386513" y="1004293"/>
            <a:ext cx="1314450" cy="2115145"/>
            <a:chOff x="0" y="0"/>
            <a:chExt cx="1104" cy="1824"/>
          </a:xfrm>
        </p:grpSpPr>
        <p:sp>
          <p:nvSpPr>
            <p:cNvPr id="7191" name="Rectangle 17" descr="纸莎草纸"/>
            <p:cNvSpPr>
              <a:spLocks noChangeArrowheads="1"/>
            </p:cNvSpPr>
            <p:nvPr/>
          </p:nvSpPr>
          <p:spPr bwMode="auto">
            <a:xfrm>
              <a:off x="0" y="0"/>
              <a:ext cx="1104" cy="96"/>
            </a:xfrm>
            <a:prstGeom prst="rect">
              <a:avLst/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1800"/>
            </a:p>
          </p:txBody>
        </p:sp>
        <p:sp>
          <p:nvSpPr>
            <p:cNvPr id="7192" name="Oval 18"/>
            <p:cNvSpPr>
              <a:spLocks noChangeArrowheads="1"/>
            </p:cNvSpPr>
            <p:nvPr/>
          </p:nvSpPr>
          <p:spPr bwMode="auto">
            <a:xfrm>
              <a:off x="528" y="96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3" name="Oval 19"/>
            <p:cNvSpPr>
              <a:spLocks noChangeArrowheads="1"/>
            </p:cNvSpPr>
            <p:nvPr/>
          </p:nvSpPr>
          <p:spPr bwMode="auto">
            <a:xfrm>
              <a:off x="528" y="192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4" name="Oval 20"/>
            <p:cNvSpPr>
              <a:spLocks noChangeArrowheads="1"/>
            </p:cNvSpPr>
            <p:nvPr/>
          </p:nvSpPr>
          <p:spPr bwMode="auto">
            <a:xfrm>
              <a:off x="528" y="288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5" name="Oval 21"/>
            <p:cNvSpPr>
              <a:spLocks noChangeArrowheads="1"/>
            </p:cNvSpPr>
            <p:nvPr/>
          </p:nvSpPr>
          <p:spPr bwMode="auto">
            <a:xfrm>
              <a:off x="528" y="384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6" name="Oval 22"/>
            <p:cNvSpPr>
              <a:spLocks noChangeArrowheads="1"/>
            </p:cNvSpPr>
            <p:nvPr/>
          </p:nvSpPr>
          <p:spPr bwMode="auto">
            <a:xfrm>
              <a:off x="528" y="480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7" name="Oval 23"/>
            <p:cNvSpPr>
              <a:spLocks noChangeArrowheads="1"/>
            </p:cNvSpPr>
            <p:nvPr/>
          </p:nvSpPr>
          <p:spPr bwMode="auto">
            <a:xfrm>
              <a:off x="528" y="576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8" name="Oval 24"/>
            <p:cNvSpPr>
              <a:spLocks noChangeArrowheads="1"/>
            </p:cNvSpPr>
            <p:nvPr/>
          </p:nvSpPr>
          <p:spPr bwMode="auto">
            <a:xfrm>
              <a:off x="528" y="672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9" name="AutoShape 25" descr="白色大理石"/>
            <p:cNvSpPr>
              <a:spLocks noChangeArrowheads="1"/>
            </p:cNvSpPr>
            <p:nvPr/>
          </p:nvSpPr>
          <p:spPr bwMode="auto">
            <a:xfrm flipV="1">
              <a:off x="336" y="1529"/>
              <a:ext cx="43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750 w 21600"/>
                <a:gd name="T13" fmla="*/ 3750 h 21600"/>
                <a:gd name="T14" fmla="*/ 17850 w 21600"/>
                <a:gd name="T15" fmla="*/ 178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921" y="21600"/>
                  </a:lnTo>
                  <a:lnTo>
                    <a:pt x="17679" y="21600"/>
                  </a:lnTo>
                  <a:lnTo>
                    <a:pt x="21600" y="0"/>
                  </a:lnTo>
                  <a:close/>
                </a:path>
              </a:pathLst>
            </a:custGeom>
            <a:blipFill dpi="0" rotWithShape="0">
              <a:blip r:embed="rId4" cstate="print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7174" name="Object 26"/>
            <p:cNvGraphicFramePr>
              <a:graphicFrameLocks noChangeAspect="1"/>
            </p:cNvGraphicFramePr>
            <p:nvPr/>
          </p:nvGraphicFramePr>
          <p:xfrm>
            <a:off x="432" y="1577"/>
            <a:ext cx="29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5" r:id="rId7" imgW="165489" imgH="140078" progId="Equation.3">
                    <p:embed/>
                  </p:oleObj>
                </mc:Choice>
                <mc:Fallback>
                  <p:oleObj r:id="rId7" imgW="165489" imgH="140078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577"/>
                          <a:ext cx="292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6574632" y="1834754"/>
            <a:ext cx="475060" cy="473869"/>
            <a:chOff x="0" y="0"/>
            <a:chExt cx="399" cy="398"/>
          </a:xfrm>
        </p:grpSpPr>
        <p:sp>
          <p:nvSpPr>
            <p:cNvPr id="7188" name="Line 28"/>
            <p:cNvSpPr>
              <a:spLocks noChangeShapeType="1"/>
            </p:cNvSpPr>
            <p:nvPr/>
          </p:nvSpPr>
          <p:spPr bwMode="auto">
            <a:xfrm>
              <a:off x="399" y="33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7173" name="Object 29"/>
            <p:cNvGraphicFramePr>
              <a:graphicFrameLocks noChangeAspect="1"/>
            </p:cNvGraphicFramePr>
            <p:nvPr/>
          </p:nvGraphicFramePr>
          <p:xfrm>
            <a:off x="0" y="0"/>
            <a:ext cx="333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6" r:id="rId9" imgW="190983" imgH="229116" progId="Equation.3">
                    <p:embed/>
                  </p:oleObj>
                </mc:Choice>
                <mc:Fallback>
                  <p:oleObj r:id="rId9" imgW="190983" imgH="229116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33" cy="3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6479382" y="2301479"/>
            <a:ext cx="970360" cy="1266825"/>
            <a:chOff x="0" y="0"/>
            <a:chExt cx="815" cy="1064"/>
          </a:xfrm>
        </p:grpSpPr>
        <p:sp>
          <p:nvSpPr>
            <p:cNvPr id="7186" name="Line 31"/>
            <p:cNvSpPr>
              <a:spLocks noChangeShapeType="1"/>
            </p:cNvSpPr>
            <p:nvPr/>
          </p:nvSpPr>
          <p:spPr bwMode="auto">
            <a:xfrm flipV="1">
              <a:off x="479" y="7"/>
              <a:ext cx="0" cy="38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187" name="Line 32"/>
            <p:cNvSpPr>
              <a:spLocks noChangeShapeType="1"/>
            </p:cNvSpPr>
            <p:nvPr/>
          </p:nvSpPr>
          <p:spPr bwMode="auto">
            <a:xfrm>
              <a:off x="479" y="679"/>
              <a:ext cx="0" cy="3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7171" name="Object 33"/>
            <p:cNvGraphicFramePr>
              <a:graphicFrameLocks noChangeAspect="1"/>
            </p:cNvGraphicFramePr>
            <p:nvPr/>
          </p:nvGraphicFramePr>
          <p:xfrm>
            <a:off x="0" y="0"/>
            <a:ext cx="377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7" r:id="rId11" imgW="216217" imgH="228917" progId="Equation.3">
                    <p:embed/>
                  </p:oleObj>
                </mc:Choice>
                <mc:Fallback>
                  <p:oleObj r:id="rId11" imgW="216217" imgH="228917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77" cy="3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" name="Object 34"/>
            <p:cNvGraphicFramePr>
              <a:graphicFrameLocks noChangeAspect="1"/>
            </p:cNvGraphicFramePr>
            <p:nvPr/>
          </p:nvGraphicFramePr>
          <p:xfrm>
            <a:off x="546" y="727"/>
            <a:ext cx="26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8" r:id="rId13" imgW="152849" imgH="190983" progId="Equation.3">
                    <p:embed/>
                  </p:oleObj>
                </mc:Choice>
                <mc:Fallback>
                  <p:oleObj r:id="rId13" imgW="152849" imgH="190983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" y="727"/>
                          <a:ext cx="269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6157913" y="3702844"/>
            <a:ext cx="1771650" cy="940594"/>
            <a:chOff x="0" y="0"/>
            <a:chExt cx="1488" cy="790"/>
          </a:xfrm>
        </p:grpSpPr>
        <p:sp>
          <p:nvSpPr>
            <p:cNvPr id="7183" name="Freeform 36"/>
            <p:cNvSpPr>
              <a:spLocks/>
            </p:cNvSpPr>
            <p:nvPr/>
          </p:nvSpPr>
          <p:spPr bwMode="auto">
            <a:xfrm>
              <a:off x="0" y="384"/>
              <a:ext cx="1488" cy="144"/>
            </a:xfrm>
            <a:custGeom>
              <a:avLst/>
              <a:gdLst>
                <a:gd name="T0" fmla="*/ 0 w 1392"/>
                <a:gd name="T1" fmla="*/ 144 h 144"/>
                <a:gd name="T2" fmla="*/ 821 w 1392"/>
                <a:gd name="T3" fmla="*/ 0 h 144"/>
                <a:gd name="T4" fmla="*/ 1701 w 1392"/>
                <a:gd name="T5" fmla="*/ 144 h 144"/>
                <a:gd name="T6" fmla="*/ 0 60000 65536"/>
                <a:gd name="T7" fmla="*/ 0 60000 65536"/>
                <a:gd name="T8" fmla="*/ 0 60000 65536"/>
                <a:gd name="T9" fmla="*/ 0 w 1392"/>
                <a:gd name="T10" fmla="*/ 0 h 144"/>
                <a:gd name="T11" fmla="*/ 1392 w 1392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2" h="144">
                  <a:moveTo>
                    <a:pt x="0" y="144"/>
                  </a:moveTo>
                  <a:cubicBezTo>
                    <a:pt x="220" y="72"/>
                    <a:pt x="440" y="0"/>
                    <a:pt x="672" y="0"/>
                  </a:cubicBezTo>
                  <a:cubicBezTo>
                    <a:pt x="904" y="0"/>
                    <a:pt x="1148" y="72"/>
                    <a:pt x="1392" y="144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184" name="Line 37"/>
            <p:cNvSpPr>
              <a:spLocks noChangeShapeType="1"/>
            </p:cNvSpPr>
            <p:nvPr/>
          </p:nvSpPr>
          <p:spPr bwMode="auto">
            <a:xfrm flipV="1">
              <a:off x="749" y="96"/>
              <a:ext cx="0" cy="38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7170" name="Object 38"/>
            <p:cNvGraphicFramePr>
              <a:graphicFrameLocks noChangeAspect="1"/>
            </p:cNvGraphicFramePr>
            <p:nvPr/>
          </p:nvGraphicFramePr>
          <p:xfrm>
            <a:off x="779" y="0"/>
            <a:ext cx="336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9" r:id="rId15" imgW="191065" imgH="191065" progId="Equation.3">
                    <p:embed/>
                  </p:oleObj>
                </mc:Choice>
                <mc:Fallback>
                  <p:oleObj r:id="rId15" imgW="191065" imgH="19106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9" y="0"/>
                          <a:ext cx="336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5" name="Text Box 39"/>
            <p:cNvSpPr txBox="1">
              <a:spLocks noChangeArrowheads="1"/>
            </p:cNvSpPr>
            <p:nvPr/>
          </p:nvSpPr>
          <p:spPr bwMode="auto">
            <a:xfrm>
              <a:off x="480" y="441"/>
              <a:ext cx="81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>
                  <a:solidFill>
                    <a:srgbClr val="1C1C1C"/>
                  </a:solidFill>
                </a:rPr>
                <a:t>地球</a:t>
              </a:r>
            </a:p>
          </p:txBody>
        </p:sp>
      </p:grpSp>
      <p:sp>
        <p:nvSpPr>
          <p:cNvPr id="7182" name="Text Box 40"/>
          <p:cNvSpPr txBox="1">
            <a:spLocks noChangeArrowheads="1"/>
          </p:cNvSpPr>
          <p:nvPr/>
        </p:nvSpPr>
        <p:spPr bwMode="auto">
          <a:xfrm>
            <a:off x="876300" y="857251"/>
            <a:ext cx="4662488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例  </a:t>
            </a:r>
            <a:r>
              <a:rPr lang="zh-CN" altLang="en-US" b="1">
                <a:latin typeface="Arial" pitchFamily="34" charset="0"/>
              </a:rPr>
              <a:t>分析物体间的相互作用力</a:t>
            </a:r>
            <a:endParaRPr lang="zh-CN" altLang="en-US" b="1">
              <a:solidFill>
                <a:srgbClr val="CC000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D20AFD-CD89-4BA0-A5EF-829CC16D329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496252" y="1043732"/>
            <a:ext cx="35878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作用力与反作用力特点：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573042" y="2248869"/>
            <a:ext cx="743426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20000"/>
              </a:lnSpc>
              <a:buClr>
                <a:srgbClr val="CC0000"/>
              </a:buClr>
            </a:pPr>
            <a:r>
              <a:rPr lang="zh-CN" altLang="en-US" b="1">
                <a:solidFill>
                  <a:schemeClr val="tx2"/>
                </a:solidFill>
                <a:latin typeface="宋体" pitchFamily="2" charset="-122"/>
              </a:rPr>
              <a:t>      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宋体" pitchFamily="2" charset="-122"/>
              </a:rPr>
              <a:t>大小相等、方向相反，分别作用在不同物体上，</a:t>
            </a:r>
            <a:r>
              <a:rPr lang="zh-CN" altLang="en-US" b="1">
                <a:latin typeface="Arial" pitchFamily="34" charset="0"/>
              </a:rPr>
              <a:t>同时存在、同时消失</a:t>
            </a:r>
            <a:r>
              <a:rPr lang="zh-CN" altLang="en-US" b="1">
                <a:latin typeface="宋体" pitchFamily="2" charset="-122"/>
              </a:rPr>
              <a:t>，它们不能相互抵消．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1277541" y="3608041"/>
            <a:ext cx="37111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Arial" pitchFamily="34" charset="0"/>
              </a:rPr>
              <a:t>   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Arial" pitchFamily="34" charset="0"/>
              </a:rPr>
              <a:t>是同一性质的力．</a:t>
            </a:r>
          </a:p>
        </p:txBody>
      </p:sp>
      <p:sp>
        <p:nvSpPr>
          <p:cNvPr id="40965" name="AutoShape 5"/>
          <p:cNvSpPr>
            <a:spLocks noChangeArrowheads="1"/>
          </p:cNvSpPr>
          <p:nvPr/>
        </p:nvSpPr>
        <p:spPr bwMode="auto">
          <a:xfrm>
            <a:off x="631031" y="842368"/>
            <a:ext cx="1672829" cy="864394"/>
          </a:xfrm>
          <a:prstGeom prst="irregularSeal1">
            <a:avLst/>
          </a:prstGeom>
          <a:gradFill rotWithShape="1">
            <a:gsLst>
              <a:gs pos="0">
                <a:srgbClr val="EDFAD2"/>
              </a:gs>
              <a:gs pos="50000">
                <a:schemeClr val="bg1"/>
              </a:gs>
              <a:gs pos="100000">
                <a:srgbClr val="EDFAD2"/>
              </a:gs>
            </a:gsLst>
            <a:lin ang="5400000" scaled="1"/>
          </a:gradFill>
          <a:ln w="9525">
            <a:solidFill>
              <a:srgbClr val="0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注意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E61798-1A41-46F8-9BC9-EF3BD66BD713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8213" name="Rectangle 2"/>
          <p:cNvSpPr>
            <a:spLocks noChangeArrowheads="1"/>
          </p:cNvSpPr>
          <p:nvPr/>
        </p:nvSpPr>
        <p:spPr bwMode="auto">
          <a:xfrm>
            <a:off x="699611" y="460786"/>
            <a:ext cx="3618310" cy="558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四、力学相对性原理</a:t>
            </a: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894333"/>
              </p:ext>
            </p:extLst>
          </p:nvPr>
        </p:nvGraphicFramePr>
        <p:xfrm>
          <a:off x="1413569" y="1291629"/>
          <a:ext cx="1538884" cy="445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3" r:id="rId3" imgW="609124" imgH="177886" progId="Equation.3">
                  <p:embed/>
                </p:oleObj>
              </mc:Choice>
              <mc:Fallback>
                <p:oleObj r:id="rId3" imgW="609124" imgH="17788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569" y="1291629"/>
                        <a:ext cx="1538884" cy="4452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021953"/>
              </p:ext>
            </p:extLst>
          </p:nvPr>
        </p:nvGraphicFramePr>
        <p:xfrm>
          <a:off x="1484114" y="4151608"/>
          <a:ext cx="26452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4" name="Equation" r:id="rId5" imgW="1307880" imgH="203040" progId="Equation.DSMT4">
                  <p:embed/>
                </p:oleObj>
              </mc:Choice>
              <mc:Fallback>
                <p:oleObj name="Equation" r:id="rId5" imgW="130788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114" y="4151608"/>
                        <a:ext cx="2645200" cy="4048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Text Box 5"/>
          <p:cNvSpPr txBox="1">
            <a:spLocks noChangeArrowheads="1"/>
          </p:cNvSpPr>
          <p:nvPr/>
        </p:nvSpPr>
        <p:spPr bwMode="auto">
          <a:xfrm>
            <a:off x="7540910" y="1519805"/>
            <a:ext cx="28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Arial" pitchFamily="34" charset="0"/>
              </a:rPr>
              <a:t> </a:t>
            </a:r>
            <a:endParaRPr lang="zh-CN" altLang="en-US" sz="1800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8216" name="Line 7"/>
          <p:cNvSpPr>
            <a:spLocks noChangeShapeType="1"/>
          </p:cNvSpPr>
          <p:nvPr/>
        </p:nvSpPr>
        <p:spPr bwMode="auto">
          <a:xfrm flipV="1">
            <a:off x="6055010" y="1176905"/>
            <a:ext cx="0" cy="1200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17" name="Line 8"/>
          <p:cNvSpPr>
            <a:spLocks noChangeShapeType="1"/>
          </p:cNvSpPr>
          <p:nvPr/>
        </p:nvSpPr>
        <p:spPr bwMode="auto">
          <a:xfrm>
            <a:off x="6055010" y="2377055"/>
            <a:ext cx="24574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18" name="Line 9"/>
          <p:cNvSpPr>
            <a:spLocks noChangeShapeType="1"/>
          </p:cNvSpPr>
          <p:nvPr/>
        </p:nvSpPr>
        <p:spPr bwMode="auto">
          <a:xfrm flipH="1">
            <a:off x="5540660" y="2377055"/>
            <a:ext cx="514350" cy="6286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19" name="Line 10"/>
          <p:cNvSpPr>
            <a:spLocks noChangeShapeType="1"/>
          </p:cNvSpPr>
          <p:nvPr/>
        </p:nvSpPr>
        <p:spPr bwMode="auto">
          <a:xfrm>
            <a:off x="6626510" y="1519805"/>
            <a:ext cx="5143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0" name="Line 11"/>
          <p:cNvSpPr>
            <a:spLocks noChangeShapeType="1"/>
          </p:cNvSpPr>
          <p:nvPr/>
        </p:nvSpPr>
        <p:spPr bwMode="auto">
          <a:xfrm flipV="1">
            <a:off x="6626510" y="1176905"/>
            <a:ext cx="0" cy="1200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1" name="Line 12"/>
          <p:cNvSpPr>
            <a:spLocks noChangeShapeType="1"/>
          </p:cNvSpPr>
          <p:nvPr/>
        </p:nvSpPr>
        <p:spPr bwMode="auto">
          <a:xfrm>
            <a:off x="7636160" y="1530521"/>
            <a:ext cx="0" cy="131445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2" name="Line 13"/>
          <p:cNvSpPr>
            <a:spLocks noChangeShapeType="1"/>
          </p:cNvSpPr>
          <p:nvPr/>
        </p:nvSpPr>
        <p:spPr bwMode="auto">
          <a:xfrm>
            <a:off x="5712110" y="2834255"/>
            <a:ext cx="1943100" cy="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3" name="Line 14"/>
          <p:cNvSpPr>
            <a:spLocks noChangeShapeType="1"/>
          </p:cNvSpPr>
          <p:nvPr/>
        </p:nvSpPr>
        <p:spPr bwMode="auto">
          <a:xfrm flipH="1">
            <a:off x="7655210" y="2377055"/>
            <a:ext cx="342900" cy="45720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4" name="Line 15"/>
          <p:cNvSpPr>
            <a:spLocks noChangeShapeType="1"/>
          </p:cNvSpPr>
          <p:nvPr/>
        </p:nvSpPr>
        <p:spPr bwMode="auto">
          <a:xfrm flipH="1">
            <a:off x="6112160" y="2377055"/>
            <a:ext cx="514350" cy="6286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5" name="Line 16"/>
          <p:cNvSpPr>
            <a:spLocks noChangeShapeType="1"/>
          </p:cNvSpPr>
          <p:nvPr/>
        </p:nvSpPr>
        <p:spPr bwMode="auto">
          <a:xfrm>
            <a:off x="6055010" y="1977005"/>
            <a:ext cx="1600200" cy="0"/>
          </a:xfrm>
          <a:prstGeom prst="line">
            <a:avLst/>
          </a:prstGeom>
          <a:noFill/>
          <a:ln w="19050">
            <a:solidFill>
              <a:srgbClr val="00CC00"/>
            </a:solidFill>
            <a:prstDash val="dash"/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6" name="Line 17"/>
          <p:cNvSpPr>
            <a:spLocks noChangeShapeType="1"/>
          </p:cNvSpPr>
          <p:nvPr/>
        </p:nvSpPr>
        <p:spPr bwMode="auto">
          <a:xfrm>
            <a:off x="6569360" y="2491355"/>
            <a:ext cx="131445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7" name="Line 18"/>
          <p:cNvSpPr>
            <a:spLocks noChangeShapeType="1"/>
          </p:cNvSpPr>
          <p:nvPr/>
        </p:nvSpPr>
        <p:spPr bwMode="auto">
          <a:xfrm>
            <a:off x="5940710" y="2491355"/>
            <a:ext cx="628650" cy="0"/>
          </a:xfrm>
          <a:prstGeom prst="line">
            <a:avLst/>
          </a:prstGeom>
          <a:noFill/>
          <a:ln w="19050">
            <a:solidFill>
              <a:srgbClr val="A50021"/>
            </a:solidFill>
            <a:prstDash val="dash"/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819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744992"/>
              </p:ext>
            </p:extLst>
          </p:nvPr>
        </p:nvGraphicFramePr>
        <p:xfrm>
          <a:off x="6797960" y="1672205"/>
          <a:ext cx="28217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5" r:id="rId7" imgW="178117" imgH="190817" progId="Equation.3">
                  <p:embed/>
                </p:oleObj>
              </mc:Choice>
              <mc:Fallback>
                <p:oleObj r:id="rId7" imgW="178117" imgH="190817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960" y="1672205"/>
                        <a:ext cx="282178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716988"/>
              </p:ext>
            </p:extLst>
          </p:nvPr>
        </p:nvGraphicFramePr>
        <p:xfrm>
          <a:off x="6074065" y="2488976"/>
          <a:ext cx="251843" cy="225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6" r:id="rId9" imgW="241617" imgH="216217" progId="Equation.3">
                  <p:embed/>
                </p:oleObj>
              </mc:Choice>
              <mc:Fallback>
                <p:oleObj r:id="rId9" imgW="241617" imgH="21621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065" y="2488976"/>
                        <a:ext cx="251843" cy="22555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452872"/>
              </p:ext>
            </p:extLst>
          </p:nvPr>
        </p:nvGraphicFramePr>
        <p:xfrm>
          <a:off x="7905750" y="2022475"/>
          <a:ext cx="6270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7" name="Equation" r:id="rId11" imgW="253800" imgH="203040" progId="Equation.DSMT4">
                  <p:embed/>
                </p:oleObj>
              </mc:Choice>
              <mc:Fallback>
                <p:oleObj name="Equation" r:id="rId11" imgW="253800" imgH="203040" progId="Equation.DSMT4">
                  <p:embed/>
                  <p:pic>
                    <p:nvPicPr>
                      <p:cNvPr id="0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0" y="2022475"/>
                        <a:ext cx="627063" cy="3841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615173"/>
              </p:ext>
            </p:extLst>
          </p:nvPr>
        </p:nvGraphicFramePr>
        <p:xfrm>
          <a:off x="5712110" y="1229292"/>
          <a:ext cx="294084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8" r:id="rId13" imgW="140078" imgH="165489" progId="Equation.3">
                  <p:embed/>
                </p:oleObj>
              </mc:Choice>
              <mc:Fallback>
                <p:oleObj r:id="rId13" imgW="140078" imgH="16548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2110" y="1229292"/>
                        <a:ext cx="294084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515361"/>
              </p:ext>
            </p:extLst>
          </p:nvPr>
        </p:nvGraphicFramePr>
        <p:xfrm>
          <a:off x="6226175" y="1181100"/>
          <a:ext cx="2476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9" name="Equation" r:id="rId15" imgW="177480" imgH="203040" progId="Equation.DSMT4">
                  <p:embed/>
                </p:oleObj>
              </mc:Choice>
              <mc:Fallback>
                <p:oleObj name="Equation" r:id="rId15" imgW="177480" imgH="20304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175" y="1181100"/>
                        <a:ext cx="247650" cy="269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08977"/>
              </p:ext>
            </p:extLst>
          </p:nvPr>
        </p:nvGraphicFramePr>
        <p:xfrm>
          <a:off x="5516844" y="2924743"/>
          <a:ext cx="252963" cy="25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0" r:id="rId17" imgW="127372" imgH="127372" progId="Equation.3">
                  <p:embed/>
                </p:oleObj>
              </mc:Choice>
              <mc:Fallback>
                <p:oleObj r:id="rId17" imgW="127372" imgH="127372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844" y="2924743"/>
                        <a:ext cx="252963" cy="2529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887477"/>
              </p:ext>
            </p:extLst>
          </p:nvPr>
        </p:nvGraphicFramePr>
        <p:xfrm>
          <a:off x="6088209" y="2887211"/>
          <a:ext cx="275931" cy="286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1" name="Equation" r:id="rId19" imgW="164880" imgH="164880" progId="Equation.DSMT4">
                  <p:embed/>
                </p:oleObj>
              </mc:Choice>
              <mc:Fallback>
                <p:oleObj name="Equation" r:id="rId19" imgW="164880" imgH="1648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209" y="2887211"/>
                        <a:ext cx="275931" cy="2864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536507"/>
              </p:ext>
            </p:extLst>
          </p:nvPr>
        </p:nvGraphicFramePr>
        <p:xfrm>
          <a:off x="6253163" y="1974850"/>
          <a:ext cx="212725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2" name="Equation" r:id="rId21" imgW="164880" imgH="177480" progId="Equation.DSMT4">
                  <p:embed/>
                </p:oleObj>
              </mc:Choice>
              <mc:Fallback>
                <p:oleObj name="Equation" r:id="rId21" imgW="164880" imgH="1774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163" y="1974850"/>
                        <a:ext cx="212725" cy="2651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248634"/>
              </p:ext>
            </p:extLst>
          </p:nvPr>
        </p:nvGraphicFramePr>
        <p:xfrm>
          <a:off x="5690679" y="2148455"/>
          <a:ext cx="307181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3" r:id="rId23" imgW="126720" imgH="139680" progId="Equation.3">
                  <p:embed/>
                </p:oleObj>
              </mc:Choice>
              <mc:Fallback>
                <p:oleObj r:id="rId23" imgW="126720" imgH="1396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0679" y="2148455"/>
                        <a:ext cx="307181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753548"/>
              </p:ext>
            </p:extLst>
          </p:nvPr>
        </p:nvGraphicFramePr>
        <p:xfrm>
          <a:off x="6786054" y="1130471"/>
          <a:ext cx="302419" cy="394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4" r:id="rId25" imgW="127262" imgH="165345" progId="Equation.3">
                  <p:embed/>
                </p:oleObj>
              </mc:Choice>
              <mc:Fallback>
                <p:oleObj r:id="rId25" imgW="127262" imgH="16534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054" y="1130471"/>
                        <a:ext cx="302419" cy="3940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560774"/>
              </p:ext>
            </p:extLst>
          </p:nvPr>
        </p:nvGraphicFramePr>
        <p:xfrm>
          <a:off x="6975475" y="2500313"/>
          <a:ext cx="203200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5" name="Equation" r:id="rId27" imgW="164880" imgH="177480" progId="Equation.DSMT4">
                  <p:embed/>
                </p:oleObj>
              </mc:Choice>
              <mc:Fallback>
                <p:oleObj name="Equation" r:id="rId27" imgW="164880" imgH="1774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2500313"/>
                        <a:ext cx="203200" cy="28098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Oval 31"/>
          <p:cNvSpPr>
            <a:spLocks noChangeArrowheads="1"/>
          </p:cNvSpPr>
          <p:nvPr/>
        </p:nvSpPr>
        <p:spPr bwMode="auto">
          <a:xfrm>
            <a:off x="7576629" y="1380502"/>
            <a:ext cx="114300" cy="1143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82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630090"/>
              </p:ext>
            </p:extLst>
          </p:nvPr>
        </p:nvGraphicFramePr>
        <p:xfrm>
          <a:off x="7690929" y="1249533"/>
          <a:ext cx="316706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6" r:id="rId29" imgW="152783" imgH="165489" progId="Equation.3">
                  <p:embed/>
                </p:oleObj>
              </mc:Choice>
              <mc:Fallback>
                <p:oleObj r:id="rId29" imgW="152783" imgH="165489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0929" y="1249533"/>
                        <a:ext cx="316706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425970"/>
              </p:ext>
            </p:extLst>
          </p:nvPr>
        </p:nvGraphicFramePr>
        <p:xfrm>
          <a:off x="1484114" y="3483416"/>
          <a:ext cx="11572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7" r:id="rId31" imgW="520340" imgH="177886" progId="Equation.3">
                  <p:embed/>
                </p:oleObj>
              </mc:Choice>
              <mc:Fallback>
                <p:oleObj r:id="rId31" imgW="520340" imgH="177886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114" y="3483416"/>
                        <a:ext cx="115728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8" name="Text Box 34"/>
          <p:cNvSpPr txBox="1">
            <a:spLocks noChangeArrowheads="1"/>
          </p:cNvSpPr>
          <p:nvPr/>
        </p:nvSpPr>
        <p:spPr bwMode="auto">
          <a:xfrm>
            <a:off x="1943635" y="2001760"/>
            <a:ext cx="1025128" cy="487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algn="ctr"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latin typeface="宋体" pitchFamily="2" charset="-122"/>
              </a:rPr>
              <a:t>为常量</a:t>
            </a:r>
          </a:p>
        </p:txBody>
      </p:sp>
      <p:graphicFrame>
        <p:nvGraphicFramePr>
          <p:cNvPr id="42019" name="Object 3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77525548"/>
              </p:ext>
            </p:extLst>
          </p:nvPr>
        </p:nvGraphicFramePr>
        <p:xfrm>
          <a:off x="2783086" y="2599611"/>
          <a:ext cx="1136254" cy="766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8" r:id="rId33" imgW="584517" imgH="394017" progId="Equation.3">
                  <p:embed/>
                </p:oleObj>
              </mc:Choice>
              <mc:Fallback>
                <p:oleObj r:id="rId33" imgW="584517" imgH="394017" progId="Equation.3">
                  <p:embed/>
                  <p:pic>
                    <p:nvPicPr>
                      <p:cNvPr id="0" name="Object 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086" y="2599611"/>
                        <a:ext cx="1136254" cy="766048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0" name="Object 36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60276432"/>
              </p:ext>
            </p:extLst>
          </p:nvPr>
        </p:nvGraphicFramePr>
        <p:xfrm>
          <a:off x="1400830" y="2009152"/>
          <a:ext cx="653534" cy="42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9" r:id="rId35" imgW="254317" imgH="165417" progId="Equation.3">
                  <p:embed/>
                </p:oleObj>
              </mc:Choice>
              <mc:Fallback>
                <p:oleObj r:id="rId35" imgW="254317" imgH="165417" progId="Equation.3">
                  <p:embed/>
                  <p:pic>
                    <p:nvPicPr>
                      <p:cNvPr id="0" name="Object 3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830" y="2009152"/>
                        <a:ext cx="653534" cy="42564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1537892" y="2761036"/>
            <a:ext cx="1527571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Ctr="1">
            <a:spAutoFit/>
          </a:bodyPr>
          <a:lstStyle/>
          <a:p>
            <a:pPr algn="ctr"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latin typeface="宋体" pitchFamily="2" charset="-122"/>
              </a:rPr>
              <a:t>求</a:t>
            </a:r>
            <a:r>
              <a:rPr lang="zh-CN" altLang="en-US" b="1" smtClean="0">
                <a:latin typeface="宋体" pitchFamily="2" charset="-122"/>
              </a:rPr>
              <a:t>导得：</a:t>
            </a:r>
            <a:endParaRPr lang="zh-CN" altLang="en-US" b="1">
              <a:latin typeface="宋体" pitchFamily="2" charset="-122"/>
            </a:endParaRP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4386291" y="4122171"/>
            <a:ext cx="255862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形式相同</a:t>
            </a:r>
            <a:endParaRPr lang="zh-CN" altLang="en-US" b="1">
              <a:solidFill>
                <a:srgbClr val="0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8" grpId="0" autoUpdateAnimBg="0"/>
      <p:bldP spid="38" grpId="0"/>
      <p:bldP spid="3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F912C4-3242-4A7B-9703-7F9BEBB691E8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771649" y="2463404"/>
            <a:ext cx="6617607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latin typeface="宋体" pitchFamily="2" charset="-122"/>
              </a:rPr>
              <a:t>    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宋体" pitchFamily="2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对于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不同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惯性系，牛顿力学的规律都具有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相同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的形式，与惯性系的运动无</a:t>
            </a: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关</a:t>
            </a:r>
            <a:r>
              <a:rPr lang="en-US" altLang="zh-CN" b="1" smtClean="0">
                <a:solidFill>
                  <a:srgbClr val="000000"/>
                </a:solidFill>
                <a:latin typeface="宋体" pitchFamily="2" charset="-122"/>
              </a:rPr>
              <a:t>.</a:t>
            </a:r>
            <a:endParaRPr lang="zh-CN" altLang="en-US" b="1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771649" y="1253243"/>
            <a:ext cx="6338830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latin typeface="宋体" pitchFamily="2" charset="-122"/>
              </a:rPr>
              <a:t>    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宋体" pitchFamily="2" charset="-122"/>
              </a:rPr>
              <a:t> </a:t>
            </a: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相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对于惯性系作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匀速直线运动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的一切参考系都是惯性系．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663791" y="3626158"/>
            <a:ext cx="3725465" cy="461963"/>
            <a:chOff x="0" y="0"/>
            <a:chExt cx="3129" cy="388"/>
          </a:xfrm>
        </p:grpSpPr>
        <p:sp>
          <p:nvSpPr>
            <p:cNvPr id="76807" name="Line 5"/>
            <p:cNvSpPr>
              <a:spLocks noChangeShapeType="1"/>
            </p:cNvSpPr>
            <p:nvPr/>
          </p:nvSpPr>
          <p:spPr bwMode="auto">
            <a:xfrm>
              <a:off x="0" y="183"/>
              <a:ext cx="576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6808" name="Text Box 6"/>
            <p:cNvSpPr txBox="1">
              <a:spLocks noChangeArrowheads="1"/>
            </p:cNvSpPr>
            <p:nvPr/>
          </p:nvSpPr>
          <p:spPr bwMode="auto">
            <a:xfrm>
              <a:off x="576" y="0"/>
              <a:ext cx="255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伽利略相对性原理．</a:t>
              </a:r>
            </a:p>
          </p:txBody>
        </p:sp>
      </p:grpSp>
      <p:sp>
        <p:nvSpPr>
          <p:cNvPr id="43015" name="AutoShape 7"/>
          <p:cNvSpPr>
            <a:spLocks noChangeArrowheads="1"/>
          </p:cNvSpPr>
          <p:nvPr/>
        </p:nvSpPr>
        <p:spPr bwMode="auto">
          <a:xfrm>
            <a:off x="594802" y="487069"/>
            <a:ext cx="1526381" cy="864394"/>
          </a:xfrm>
          <a:prstGeom prst="irregularSeal1">
            <a:avLst/>
          </a:prstGeom>
          <a:gradFill rotWithShape="1">
            <a:gsLst>
              <a:gs pos="0">
                <a:srgbClr val="EDFAD2"/>
              </a:gs>
              <a:gs pos="50000">
                <a:schemeClr val="bg1"/>
              </a:gs>
              <a:gs pos="100000">
                <a:srgbClr val="EDFAD2"/>
              </a:gs>
            </a:gsLst>
            <a:lin ang="5400000" scaled="1"/>
          </a:gradFill>
          <a:ln w="12700">
            <a:solidFill>
              <a:srgbClr val="00808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hangingPunct="0">
              <a:lnSpc>
                <a:spcPct val="120000"/>
              </a:lnSpc>
              <a:defRPr/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注意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7FF410-7B22-4E77-8500-F43830CC1056}" type="slidenum">
              <a:rPr lang="zh-CN" altLang="en-US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1460219" y="2867026"/>
            <a:ext cx="1257300" cy="646331"/>
          </a:xfrm>
          <a:prstGeom prst="rect">
            <a:avLst/>
          </a:prstGeom>
          <a:gradFill rotWithShape="1">
            <a:gsLst>
              <a:gs pos="0">
                <a:srgbClr val="EDFAD2"/>
              </a:gs>
              <a:gs pos="50000">
                <a:srgbClr val="FFFFFF"/>
              </a:gs>
              <a:gs pos="100000">
                <a:srgbClr val="EDFAD2"/>
              </a:gs>
            </a:gsLst>
            <a:lin ang="5400000" scaled="1"/>
          </a:gradFill>
          <a:ln w="12700">
            <a:solidFill>
              <a:srgbClr val="006666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2100" b="1">
                <a:solidFill>
                  <a:srgbClr val="CC0000"/>
                </a:solidFill>
                <a:latin typeface="宋体" pitchFamily="2" charset="-122"/>
              </a:rPr>
              <a:t>力</a:t>
            </a:r>
            <a:r>
              <a:rPr lang="zh-CN" altLang="en-US" sz="2100" b="1" smtClean="0">
                <a:solidFill>
                  <a:srgbClr val="CC0000"/>
                </a:solidFill>
                <a:latin typeface="宋体" pitchFamily="2" charset="-122"/>
              </a:rPr>
              <a:t>学</a:t>
            </a:r>
            <a:endParaRPr lang="zh-CN" altLang="en-US" sz="2100" b="1">
              <a:solidFill>
                <a:srgbClr val="CC0000"/>
              </a:solidFill>
              <a:latin typeface="宋体" pitchFamily="2" charset="-122"/>
            </a:endParaRPr>
          </a:p>
          <a:p>
            <a:pPr algn="ctr"/>
            <a:r>
              <a:rPr lang="zh-CN" altLang="en-US" sz="2100" b="1">
                <a:solidFill>
                  <a:srgbClr val="CC0000"/>
                </a:solidFill>
                <a:latin typeface="宋体" pitchFamily="2" charset="-122"/>
              </a:rPr>
              <a:t>基本单位</a:t>
            </a:r>
          </a:p>
        </p:txBody>
      </p:sp>
      <p:sp>
        <p:nvSpPr>
          <p:cNvPr id="77828" name="Text Box 3"/>
          <p:cNvSpPr txBox="1">
            <a:spLocks noChangeArrowheads="1"/>
          </p:cNvSpPr>
          <p:nvPr/>
        </p:nvSpPr>
        <p:spPr bwMode="auto">
          <a:xfrm>
            <a:off x="1126897" y="728225"/>
            <a:ext cx="74583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        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1984年2月27日，我国国务院颁布实行以</a:t>
            </a:r>
            <a:r>
              <a:rPr lang="zh-CN" altLang="en-US" b="1" smtClean="0">
                <a:solidFill>
                  <a:srgbClr val="000000"/>
                </a:solidFill>
                <a:cs typeface="Times New Roman" panose="02020603050405020304" pitchFamily="18" charset="0"/>
              </a:rPr>
              <a:t>国  </a:t>
            </a:r>
            <a:r>
              <a:rPr lang="en-US" altLang="zh-CN" b="1" smtClean="0">
                <a:solidFill>
                  <a:srgbClr val="000000"/>
                </a:solidFill>
                <a:cs typeface="Times New Roman" panose="02020603050405020304" pitchFamily="18" charset="0"/>
              </a:rPr>
              <a:t/>
            </a:r>
            <a:br>
              <a:rPr lang="en-US" altLang="zh-CN" b="1" smtClean="0">
                <a:solidFill>
                  <a:srgbClr val="000000"/>
                </a:solidFill>
                <a:cs typeface="Times New Roman" panose="02020603050405020304" pitchFamily="18" charset="0"/>
              </a:rPr>
            </a:br>
            <a:r>
              <a:rPr lang="en-US" altLang="zh-CN" b="1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smtClean="0">
                <a:solidFill>
                  <a:srgbClr val="000000"/>
                </a:solidFill>
                <a:cs typeface="Times New Roman" panose="02020603050405020304" pitchFamily="18" charset="0"/>
              </a:rPr>
              <a:t>际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单位制</a:t>
            </a:r>
            <a:r>
              <a:rPr lang="zh-CN" altLang="en-US" b="1">
                <a:solidFill>
                  <a:srgbClr val="000066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b="1">
                <a:solidFill>
                  <a:srgbClr val="000066"/>
                </a:solidFill>
                <a:cs typeface="Times New Roman" panose="02020603050405020304" pitchFamily="18" charset="0"/>
              </a:rPr>
              <a:t>SI</a:t>
            </a:r>
            <a:r>
              <a:rPr lang="zh-CN" altLang="en-US" b="1">
                <a:solidFill>
                  <a:srgbClr val="000066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为基础的法定单位制．</a:t>
            </a:r>
          </a:p>
        </p:txBody>
      </p:sp>
      <p:graphicFrame>
        <p:nvGraphicFramePr>
          <p:cNvPr id="4506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219081"/>
              </p:ext>
            </p:extLst>
          </p:nvPr>
        </p:nvGraphicFramePr>
        <p:xfrm>
          <a:off x="2755619" y="2597945"/>
          <a:ext cx="4591050" cy="1319213"/>
        </p:xfrm>
        <a:graphic>
          <a:graphicData uri="http://schemas.openxmlformats.org/drawingml/2006/table">
            <a:tbl>
              <a:tblPr/>
              <a:tblGrid>
                <a:gridCol w="145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物理量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DFAD2"/>
                        </a:gs>
                        <a:gs pos="50000">
                          <a:schemeClr val="bg1"/>
                        </a:gs>
                        <a:gs pos="100000">
                          <a:srgbClr val="EDFAD2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长度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质量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时间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单位名称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DFAD2"/>
                        </a:gs>
                        <a:gs pos="50000">
                          <a:schemeClr val="bg1"/>
                        </a:gs>
                        <a:gs pos="100000">
                          <a:srgbClr val="EDFAD2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米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千克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秒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符号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DFAD2"/>
                        </a:gs>
                        <a:gs pos="50000">
                          <a:schemeClr val="bg1"/>
                        </a:gs>
                        <a:gs pos="100000">
                          <a:srgbClr val="EDFAD2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kg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-18030" pitchFamily="1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851" name="Text Box 26"/>
          <p:cNvSpPr txBox="1">
            <a:spLocks noChangeArrowheads="1"/>
          </p:cNvSpPr>
          <p:nvPr/>
        </p:nvSpPr>
        <p:spPr bwMode="auto">
          <a:xfrm>
            <a:off x="494705" y="826942"/>
            <a:ext cx="2322909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一、单位制</a:t>
            </a:r>
            <a:endParaRPr lang="zh-CN" altLang="en-US" sz="2700" b="1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45083" name="Text Box 27"/>
          <p:cNvSpPr txBox="1">
            <a:spLocks noChangeArrowheads="1"/>
          </p:cNvSpPr>
          <p:nvPr/>
        </p:nvSpPr>
        <p:spPr bwMode="auto">
          <a:xfrm>
            <a:off x="2940221" y="2126548"/>
            <a:ext cx="486132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 b="1">
                <a:solidFill>
                  <a:srgbClr val="000000"/>
                </a:solidFill>
                <a:latin typeface="Arial" pitchFamily="34" charset="0"/>
              </a:rPr>
              <a:t>国际单位制规定了</a:t>
            </a:r>
            <a:r>
              <a:rPr lang="zh-CN" altLang="en-US" sz="2100" b="1">
                <a:solidFill>
                  <a:srgbClr val="000066"/>
                </a:solidFill>
                <a:latin typeface="Arial" pitchFamily="34" charset="0"/>
              </a:rPr>
              <a:t>七个基本单位．</a:t>
            </a:r>
          </a:p>
        </p:txBody>
      </p:sp>
      <p:sp>
        <p:nvSpPr>
          <p:cNvPr id="88068" name="Text Box 4">
            <a:hlinkClick r:id="rId2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364582" y="224799"/>
            <a:ext cx="47994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2-2</a:t>
            </a:r>
            <a:r>
              <a:rPr lang="zh-CN" altLang="en-US" b="1">
                <a:ea typeface="华文中宋" pitchFamily="2" charset="-122"/>
              </a:rPr>
              <a:t>　物理量的单位和量纲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187292" y="4108562"/>
            <a:ext cx="5485209" cy="682228"/>
            <a:chOff x="871" y="3530"/>
            <a:chExt cx="4607" cy="573"/>
          </a:xfrm>
        </p:grpSpPr>
        <p:sp>
          <p:nvSpPr>
            <p:cNvPr id="80927" name="Text Box 31"/>
            <p:cNvSpPr txBox="1">
              <a:spLocks noChangeArrowheads="1"/>
            </p:cNvSpPr>
            <p:nvPr/>
          </p:nvSpPr>
          <p:spPr bwMode="auto">
            <a:xfrm>
              <a:off x="871" y="3530"/>
              <a:ext cx="459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1800" b="1" dirty="0"/>
                <a:t>安培      坎德拉      开尔文       摩尔</a:t>
              </a:r>
            </a:p>
          </p:txBody>
        </p:sp>
        <p:sp>
          <p:nvSpPr>
            <p:cNvPr id="80928" name="Text Box 32"/>
            <p:cNvSpPr txBox="1">
              <a:spLocks noChangeArrowheads="1"/>
            </p:cNvSpPr>
            <p:nvPr/>
          </p:nvSpPr>
          <p:spPr bwMode="auto">
            <a:xfrm>
              <a:off x="884" y="3793"/>
              <a:ext cx="459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800" b="1"/>
                <a:t> A            cd              K</a:t>
              </a:r>
              <a:r>
                <a:rPr lang="zh-CN" altLang="en-US" sz="1800" b="1"/>
                <a:t>              </a:t>
              </a:r>
              <a:r>
                <a:rPr lang="en-US" altLang="zh-CN" sz="1800" b="1"/>
                <a:t>mol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nimBg="1" autoUpdateAnimBg="0"/>
      <p:bldP spid="4508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A5B0CE-A71E-4BB9-AAD1-C95271251EE0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050739"/>
              </p:ext>
            </p:extLst>
          </p:nvPr>
        </p:nvGraphicFramePr>
        <p:xfrm>
          <a:off x="1156226" y="1942921"/>
          <a:ext cx="1575663" cy="842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2" r:id="rId3" imgW="787320" imgH="393480" progId="Equation.3">
                  <p:embed/>
                </p:oleObj>
              </mc:Choice>
              <mc:Fallback>
                <p:oleObj r:id="rId3" imgW="78732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226" y="1942921"/>
                        <a:ext cx="1575663" cy="84223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3"/>
          <p:cNvSpPr>
            <a:spLocks noChangeArrowheads="1"/>
          </p:cNvSpPr>
          <p:nvPr/>
        </p:nvSpPr>
        <p:spPr bwMode="auto">
          <a:xfrm>
            <a:off x="439340" y="1091803"/>
            <a:ext cx="24836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一、万有引力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75097" y="3082003"/>
            <a:ext cx="5604272" cy="477442"/>
            <a:chOff x="723" y="0"/>
            <a:chExt cx="4707" cy="401"/>
          </a:xfrm>
        </p:grpSpPr>
        <p:sp>
          <p:nvSpPr>
            <p:cNvPr id="11293" name="Text Box 5"/>
            <p:cNvSpPr txBox="1">
              <a:spLocks noChangeArrowheads="1"/>
            </p:cNvSpPr>
            <p:nvPr/>
          </p:nvSpPr>
          <p:spPr bwMode="auto">
            <a:xfrm>
              <a:off x="4208" y="2"/>
              <a:ext cx="122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引力常数</a:t>
              </a:r>
            </a:p>
          </p:txBody>
        </p:sp>
        <p:graphicFrame>
          <p:nvGraphicFramePr>
            <p:cNvPr id="1127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1547547"/>
                </p:ext>
              </p:extLst>
            </p:nvPr>
          </p:nvGraphicFramePr>
          <p:xfrm>
            <a:off x="723" y="0"/>
            <a:ext cx="3287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43" r:id="rId5" imgW="1930717" imgH="228917" progId="Equation.3">
                    <p:embed/>
                  </p:oleObj>
                </mc:Choice>
                <mc:Fallback>
                  <p:oleObj r:id="rId5" imgW="1930717" imgH="228917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" y="0"/>
                          <a:ext cx="3287" cy="40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980010" y="3997595"/>
            <a:ext cx="2025254" cy="516732"/>
            <a:chOff x="137" y="206"/>
            <a:chExt cx="1701" cy="434"/>
          </a:xfrm>
        </p:grpSpPr>
        <p:sp>
          <p:nvSpPr>
            <p:cNvPr id="11291" name="Rectangle 20"/>
            <p:cNvSpPr>
              <a:spLocks noChangeArrowheads="1"/>
            </p:cNvSpPr>
            <p:nvPr/>
          </p:nvSpPr>
          <p:spPr bwMode="auto">
            <a:xfrm>
              <a:off x="137" y="206"/>
              <a:ext cx="95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 重力</a:t>
              </a:r>
              <a:endParaRPr lang="zh-CN" altLang="en-US" b="1">
                <a:solidFill>
                  <a:srgbClr val="990099"/>
                </a:solidFill>
                <a:latin typeface="宋体" pitchFamily="2" charset="-122"/>
              </a:endParaRPr>
            </a:p>
          </p:txBody>
        </p:sp>
        <p:graphicFrame>
          <p:nvGraphicFramePr>
            <p:cNvPr id="11269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3788978"/>
                </p:ext>
              </p:extLst>
            </p:nvPr>
          </p:nvGraphicFramePr>
          <p:xfrm>
            <a:off x="881" y="282"/>
            <a:ext cx="957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44" name="Equation" r:id="rId7" imgW="507960" imgH="190440" progId="Equation.DSMT4">
                    <p:embed/>
                  </p:oleObj>
                </mc:Choice>
                <mc:Fallback>
                  <p:oleObj name="Equation" r:id="rId7" imgW="507960" imgH="19044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1" y="282"/>
                          <a:ext cx="957" cy="35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3690086" y="3869340"/>
            <a:ext cx="4006454" cy="751284"/>
            <a:chOff x="0" y="87"/>
            <a:chExt cx="3365" cy="631"/>
          </a:xfrm>
        </p:grpSpPr>
        <p:graphicFrame>
          <p:nvGraphicFramePr>
            <p:cNvPr id="1126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5669254"/>
                </p:ext>
              </p:extLst>
            </p:nvPr>
          </p:nvGraphicFramePr>
          <p:xfrm>
            <a:off x="2114" y="221"/>
            <a:ext cx="125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45" r:id="rId9" imgW="787717" imgH="228917" progId="Equation.3">
                    <p:embed/>
                  </p:oleObj>
                </mc:Choice>
                <mc:Fallback>
                  <p:oleObj r:id="rId9" imgW="787717" imgH="22891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4" y="221"/>
                          <a:ext cx="1251" cy="35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8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8434732"/>
                </p:ext>
              </p:extLst>
            </p:nvPr>
          </p:nvGraphicFramePr>
          <p:xfrm>
            <a:off x="1158" y="87"/>
            <a:ext cx="979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46" r:id="rId11" imgW="609653" imgH="393846" progId="Equation.3">
                    <p:embed/>
                  </p:oleObj>
                </mc:Choice>
                <mc:Fallback>
                  <p:oleObj r:id="rId11" imgW="609653" imgH="393846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8" y="87"/>
                          <a:ext cx="979" cy="63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0" name="Text Box 27"/>
            <p:cNvSpPr txBox="1">
              <a:spLocks noChangeArrowheads="1"/>
            </p:cNvSpPr>
            <p:nvPr/>
          </p:nvSpPr>
          <p:spPr bwMode="auto">
            <a:xfrm>
              <a:off x="0" y="224"/>
              <a:ext cx="127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地表附近</a:t>
              </a:r>
            </a:p>
          </p:txBody>
        </p:sp>
      </p:grpSp>
      <p:sp>
        <p:nvSpPr>
          <p:cNvPr id="88069" name="Text Box 5">
            <a:hlinkClick r:id="rId13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097285" y="260861"/>
            <a:ext cx="46315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2-3</a:t>
            </a:r>
            <a:r>
              <a:rPr lang="zh-CN" altLang="en-US" b="1">
                <a:ea typeface="华文中宋" pitchFamily="2" charset="-122"/>
              </a:rPr>
              <a:t>　几种常见的力</a:t>
            </a:r>
          </a:p>
        </p:txBody>
      </p:sp>
      <p:sp>
        <p:nvSpPr>
          <p:cNvPr id="13347" name="Rectangle 35"/>
          <p:cNvSpPr>
            <a:spLocks noChangeArrowheads="1"/>
          </p:cNvSpPr>
          <p:nvPr/>
        </p:nvSpPr>
        <p:spPr bwMode="auto">
          <a:xfrm>
            <a:off x="3082528" y="2119240"/>
            <a:ext cx="266104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200" b="1" smtClean="0"/>
              <a:t>只</a:t>
            </a:r>
            <a:r>
              <a:rPr lang="zh-CN" altLang="en-US" sz="2200" b="1"/>
              <a:t>适用于两</a:t>
            </a:r>
            <a:r>
              <a:rPr lang="zh-CN" altLang="en-US" sz="2200" b="1">
                <a:solidFill>
                  <a:srgbClr val="FF0000"/>
                </a:solidFill>
              </a:rPr>
              <a:t>质点</a:t>
            </a:r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6467474" y="2116634"/>
            <a:ext cx="1643063" cy="0"/>
          </a:xfrm>
          <a:prstGeom prst="line">
            <a:avLst/>
          </a:prstGeom>
          <a:noFill/>
          <a:ln w="3175" cap="sq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6034087" y="1422499"/>
            <a:ext cx="7143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lang="en-US" altLang="zh-CN" i="1">
                <a:solidFill>
                  <a:schemeClr val="tx2"/>
                </a:solidFill>
                <a:ea typeface="仿宋_GB2312" pitchFamily="49" charset="-122"/>
              </a:rPr>
              <a:t>m</a:t>
            </a:r>
            <a:r>
              <a:rPr lang="en-US" altLang="zh-CN" baseline="-25000">
                <a:solidFill>
                  <a:schemeClr val="tx2"/>
                </a:solidFill>
                <a:ea typeface="仿宋_GB2312" pitchFamily="49" charset="-122"/>
              </a:rPr>
              <a:t>1</a:t>
            </a:r>
            <a:r>
              <a:rPr lang="en-US" altLang="zh-CN" b="1" i="1">
                <a:solidFill>
                  <a:schemeClr val="tx2"/>
                </a:solidFill>
                <a:ea typeface="仿宋_GB2312" pitchFamily="49" charset="-122"/>
              </a:rPr>
              <a:t> </a:t>
            </a:r>
            <a:r>
              <a:rPr lang="en-US" altLang="zh-CN" b="1">
                <a:solidFill>
                  <a:schemeClr val="tx2"/>
                </a:solidFill>
                <a:ea typeface="仿宋_GB2312" pitchFamily="49" charset="-122"/>
              </a:rPr>
              <a:t> </a:t>
            </a:r>
            <a:endParaRPr lang="en-US" altLang="zh-CN">
              <a:solidFill>
                <a:schemeClr val="tx2"/>
              </a:solidFill>
              <a:ea typeface="仿宋_GB2312" pitchFamily="49" charset="-122"/>
            </a:endParaRP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8086724" y="1422499"/>
            <a:ext cx="7143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lang="en-US" altLang="zh-CN" i="1">
                <a:solidFill>
                  <a:schemeClr val="tx2"/>
                </a:solidFill>
                <a:ea typeface="仿宋_GB2312" pitchFamily="49" charset="-122"/>
              </a:rPr>
              <a:t>m</a:t>
            </a:r>
            <a:r>
              <a:rPr lang="en-US" altLang="zh-CN" baseline="-25000">
                <a:solidFill>
                  <a:schemeClr val="tx2"/>
                </a:solidFill>
                <a:ea typeface="仿宋_GB2312" pitchFamily="49" charset="-122"/>
              </a:rPr>
              <a:t>2</a:t>
            </a:r>
            <a:endParaRPr lang="en-US" altLang="zh-CN" sz="2100">
              <a:solidFill>
                <a:schemeClr val="tx2"/>
              </a:solidFill>
              <a:ea typeface="仿宋_GB2312" pitchFamily="49" charset="-122"/>
            </a:endParaRPr>
          </a:p>
        </p:txBody>
      </p:sp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7222331" y="2234505"/>
            <a:ext cx="2452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lang="en-US" altLang="zh-CN" i="1">
                <a:solidFill>
                  <a:schemeClr val="tx2"/>
                </a:solidFill>
                <a:ea typeface="仿宋_GB2312" pitchFamily="49" charset="-122"/>
              </a:rPr>
              <a:t>r</a:t>
            </a:r>
          </a:p>
        </p:txBody>
      </p:sp>
      <p:sp>
        <p:nvSpPr>
          <p:cNvPr id="36" name="Oval 12"/>
          <p:cNvSpPr>
            <a:spLocks noChangeArrowheads="1"/>
          </p:cNvSpPr>
          <p:nvPr/>
        </p:nvSpPr>
        <p:spPr bwMode="auto">
          <a:xfrm>
            <a:off x="6034087" y="1891606"/>
            <a:ext cx="432197" cy="432197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66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9933FF"/>
            </a:solidFill>
            <a:round/>
            <a:headEnd/>
            <a:tailEnd/>
          </a:ln>
          <a:effectLst>
            <a:prstShdw prst="shdw17" dist="17961" dir="2700000">
              <a:srgbClr val="5C1F99"/>
            </a:prstShdw>
          </a:effectLst>
        </p:spPr>
        <p:txBody>
          <a:bodyPr wrap="none" anchor="ctr"/>
          <a:lstStyle/>
          <a:p>
            <a:pPr eaLnBrk="1" hangingPunct="1">
              <a:buFont typeface="Arial" charset="0"/>
              <a:buNone/>
            </a:pPr>
            <a:endParaRPr lang="zh-CN" altLang="en-US" sz="1800"/>
          </a:p>
        </p:txBody>
      </p:sp>
      <p:sp>
        <p:nvSpPr>
          <p:cNvPr id="37" name="Oval 13"/>
          <p:cNvSpPr>
            <a:spLocks noChangeArrowheads="1"/>
          </p:cNvSpPr>
          <p:nvPr/>
        </p:nvSpPr>
        <p:spPr bwMode="auto">
          <a:xfrm>
            <a:off x="8121253" y="1901131"/>
            <a:ext cx="432197" cy="432197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8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3366"/>
            </a:solidFill>
            <a:round/>
            <a:headEnd/>
            <a:tailEnd/>
          </a:ln>
          <a:effectLst>
            <a:prstShdw prst="shdw17" dist="17961" dir="2700000">
              <a:srgbClr val="001F3D"/>
            </a:prstShdw>
          </a:effectLst>
        </p:spPr>
        <p:txBody>
          <a:bodyPr wrap="none" anchor="ctr"/>
          <a:lstStyle/>
          <a:p>
            <a:pPr eaLnBrk="1" hangingPunct="1">
              <a:buFont typeface="Arial" charset="0"/>
              <a:buNone/>
            </a:pPr>
            <a:endParaRPr lang="zh-CN" altLang="en-US" sz="1800"/>
          </a:p>
        </p:txBody>
      </p:sp>
      <p:sp>
        <p:nvSpPr>
          <p:cNvPr id="39" name="Line 15"/>
          <p:cNvSpPr>
            <a:spLocks noChangeShapeType="1"/>
          </p:cNvSpPr>
          <p:nvPr/>
        </p:nvSpPr>
        <p:spPr bwMode="auto">
          <a:xfrm>
            <a:off x="8340328" y="2101155"/>
            <a:ext cx="0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>
            <a:off x="6249590" y="2110680"/>
            <a:ext cx="0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1" name="Line 17"/>
          <p:cNvSpPr>
            <a:spLocks noChangeShapeType="1"/>
          </p:cNvSpPr>
          <p:nvPr/>
        </p:nvSpPr>
        <p:spPr bwMode="auto">
          <a:xfrm>
            <a:off x="6249591" y="2558355"/>
            <a:ext cx="210621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30" name="AutoShape 11"/>
          <p:cNvSpPr>
            <a:spLocks noChangeArrowheads="1"/>
          </p:cNvSpPr>
          <p:nvPr/>
        </p:nvSpPr>
        <p:spPr bwMode="auto">
          <a:xfrm>
            <a:off x="6485419" y="2084698"/>
            <a:ext cx="533400" cy="71437"/>
          </a:xfrm>
          <a:prstGeom prst="rightArrow">
            <a:avLst>
              <a:gd name="adj1" fmla="val 50000"/>
              <a:gd name="adj2" fmla="val 186668"/>
            </a:avLst>
          </a:prstGeom>
          <a:solidFill>
            <a:srgbClr val="008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3" name="AutoShape 14"/>
          <p:cNvSpPr>
            <a:spLocks noChangeArrowheads="1"/>
          </p:cNvSpPr>
          <p:nvPr/>
        </p:nvSpPr>
        <p:spPr bwMode="auto">
          <a:xfrm flipH="1">
            <a:off x="7572715" y="2084698"/>
            <a:ext cx="533400" cy="69850"/>
          </a:xfrm>
          <a:prstGeom prst="rightArrow">
            <a:avLst>
              <a:gd name="adj1" fmla="val 50000"/>
              <a:gd name="adj2" fmla="val 190909"/>
            </a:avLst>
          </a:prstGeom>
          <a:solidFill>
            <a:srgbClr val="9933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4409" r="16096"/>
          <a:stretch/>
        </p:blipFill>
        <p:spPr>
          <a:xfrm>
            <a:off x="1077941" y="593586"/>
            <a:ext cx="3130568" cy="1674186"/>
          </a:xfrm>
          <a:prstGeom prst="rect">
            <a:avLst/>
          </a:prstGeom>
        </p:spPr>
      </p:pic>
      <p:sp>
        <p:nvSpPr>
          <p:cNvPr id="6" name="object 60"/>
          <p:cNvSpPr/>
          <p:nvPr/>
        </p:nvSpPr>
        <p:spPr>
          <a:xfrm>
            <a:off x="5202737" y="357644"/>
            <a:ext cx="3099422" cy="21460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28171" y="2992773"/>
            <a:ext cx="8570686" cy="1869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FontTx/>
              <a:buNone/>
            </a:pPr>
            <a:r>
              <a:rPr lang="en-US" altLang="zh-CN" sz="2100" b="1" smtClean="0"/>
              <a:t>2018</a:t>
            </a:r>
            <a:r>
              <a:rPr lang="zh-CN" altLang="en-US" sz="2100" b="1"/>
              <a:t>年</a:t>
            </a:r>
            <a:r>
              <a:rPr lang="en-US" altLang="zh-CN" sz="2100" b="1"/>
              <a:t>《</a:t>
            </a:r>
            <a:r>
              <a:rPr lang="zh-CN" altLang="en-US" sz="2100" b="1"/>
              <a:t>自然</a:t>
            </a:r>
            <a:r>
              <a:rPr lang="en-US" altLang="zh-CN" sz="2100" b="1"/>
              <a:t>》</a:t>
            </a:r>
            <a:r>
              <a:rPr lang="zh-CN" altLang="en-US" sz="2100" b="1"/>
              <a:t>杂志刊发了华中科技大学罗俊院士团队历经</a:t>
            </a:r>
            <a:r>
              <a:rPr lang="en-US" altLang="zh-CN" sz="2100" b="1"/>
              <a:t>30</a:t>
            </a:r>
            <a:r>
              <a:rPr lang="zh-CN" altLang="en-US" sz="2100" b="1"/>
              <a:t>年艰辛，采用精密扭称技术测量出国际上最高精度的</a:t>
            </a:r>
            <a:r>
              <a:rPr lang="en-US" altLang="zh-CN" sz="2100" b="1"/>
              <a:t>G</a:t>
            </a:r>
            <a:r>
              <a:rPr lang="zh-CN" altLang="en-US" sz="2100" b="1" smtClean="0"/>
              <a:t>值，误差小于</a:t>
            </a:r>
            <a:r>
              <a:rPr lang="en-US" altLang="zh-CN" sz="2100" b="1" smtClean="0"/>
              <a:t>12ppm</a:t>
            </a:r>
            <a:r>
              <a:rPr lang="zh-CN" altLang="en-US" sz="2100" b="1" smtClean="0"/>
              <a:t>。</a:t>
            </a:r>
            <a:endParaRPr lang="en-US" altLang="zh-CN" sz="2100" b="1"/>
          </a:p>
          <a:p>
            <a:pPr eaLnBrk="0" hangingPunct="0">
              <a:lnSpc>
                <a:spcPct val="110000"/>
              </a:lnSpc>
              <a:buFontTx/>
              <a:buNone/>
            </a:pPr>
            <a:endParaRPr lang="en-US" altLang="zh-CN" sz="2100" b="1" smtClean="0"/>
          </a:p>
          <a:p>
            <a:pPr eaLnBrk="0" hangingPunct="0">
              <a:lnSpc>
                <a:spcPct val="110000"/>
              </a:lnSpc>
              <a:buFontTx/>
              <a:buNone/>
            </a:pPr>
            <a:r>
              <a:rPr lang="en-US" altLang="zh-CN" sz="2100" b="1" smtClean="0"/>
              <a:t>Nature</a:t>
            </a:r>
            <a:r>
              <a:rPr lang="en-US" altLang="zh-CN" sz="2100" b="1"/>
              <a:t>, 560, 582-588, (</a:t>
            </a:r>
            <a:r>
              <a:rPr lang="en-US" altLang="zh-CN" sz="2100" b="1" smtClean="0"/>
              <a:t>2018) </a:t>
            </a:r>
          </a:p>
          <a:p>
            <a:pPr eaLnBrk="0" hangingPunct="0">
              <a:lnSpc>
                <a:spcPct val="110000"/>
              </a:lnSpc>
              <a:buFontTx/>
              <a:buNone/>
            </a:pPr>
            <a:r>
              <a:rPr lang="en-US" altLang="zh-CN" sz="2100" b="1" smtClean="0">
                <a:solidFill>
                  <a:srgbClr val="0000FF"/>
                </a:solidFill>
              </a:rPr>
              <a:t>https</a:t>
            </a:r>
            <a:r>
              <a:rPr lang="en-US" altLang="zh-CN" sz="2100" b="1">
                <a:solidFill>
                  <a:srgbClr val="0000FF"/>
                </a:solidFill>
              </a:rPr>
              <a:t>://doi.org/10.1038/s41586-018-0431-5</a:t>
            </a:r>
          </a:p>
        </p:txBody>
      </p:sp>
    </p:spTree>
    <p:extLst>
      <p:ext uri="{BB962C8B-B14F-4D97-AF65-F5344CB8AC3E}">
        <p14:creationId xmlns:p14="http://schemas.microsoft.com/office/powerpoint/2010/main" val="147596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/>
          <p:cNvSpPr txBox="1"/>
          <p:nvPr/>
        </p:nvSpPr>
        <p:spPr>
          <a:xfrm>
            <a:off x="1577264" y="410209"/>
            <a:ext cx="5903594" cy="1482618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spc="-4" dirty="0">
                <a:solidFill>
                  <a:srgbClr val="C00000"/>
                </a:solidFill>
                <a:latin typeface="黑体"/>
                <a:cs typeface="黑体"/>
              </a:rPr>
              <a:t>应用：</a:t>
            </a:r>
            <a:r>
              <a:rPr sz="2100" b="1" spc="-4" dirty="0">
                <a:solidFill>
                  <a:srgbClr val="0000CC"/>
                </a:solidFill>
                <a:latin typeface="黑体"/>
                <a:cs typeface="黑体"/>
              </a:rPr>
              <a:t>重力加速度异常与重力探矿</a:t>
            </a:r>
            <a:r>
              <a:rPr sz="2100" b="1" spc="-15" dirty="0">
                <a:solidFill>
                  <a:srgbClr val="0000CC"/>
                </a:solidFill>
                <a:latin typeface="黑体"/>
                <a:cs typeface="黑体"/>
              </a:rPr>
              <a:t>法</a:t>
            </a:r>
            <a:endParaRPr sz="2100">
              <a:latin typeface="黑体"/>
              <a:cs typeface="黑体"/>
            </a:endParaRPr>
          </a:p>
          <a:p>
            <a:pPr>
              <a:spcBef>
                <a:spcPts val="30"/>
              </a:spcBef>
            </a:pPr>
            <a:endParaRPr sz="2025">
              <a:latin typeface="Times New Roman"/>
              <a:cs typeface="Times New Roman"/>
            </a:endParaRPr>
          </a:p>
          <a:p>
            <a:pPr marL="536258">
              <a:spcBef>
                <a:spcPts val="4"/>
              </a:spcBef>
            </a:pPr>
            <a:r>
              <a:rPr sz="2100" b="1" spc="-4" dirty="0">
                <a:latin typeface="黑体"/>
                <a:cs typeface="黑体"/>
              </a:rPr>
              <a:t>密度较大的金属矿藏</a:t>
            </a:r>
            <a:r>
              <a:rPr sz="2100" b="1" spc="-15" dirty="0">
                <a:latin typeface="黑体"/>
                <a:cs typeface="黑体"/>
              </a:rPr>
              <a:t>，</a:t>
            </a:r>
            <a:r>
              <a:rPr sz="2100" b="1" spc="-694" dirty="0">
                <a:latin typeface="黑体"/>
                <a:cs typeface="黑体"/>
              </a:rPr>
              <a:t> </a:t>
            </a:r>
            <a:r>
              <a:rPr sz="2813" i="1" spc="62" baseline="17777" dirty="0">
                <a:latin typeface="Times New Roman"/>
                <a:cs typeface="Times New Roman"/>
              </a:rPr>
              <a:t>g</a:t>
            </a:r>
            <a:r>
              <a:rPr sz="1631" spc="-11" baseline="3831" dirty="0">
                <a:latin typeface="宋体"/>
                <a:cs typeface="宋体"/>
              </a:rPr>
              <a:t>测</a:t>
            </a:r>
            <a:r>
              <a:rPr sz="1631" spc="67" baseline="3831" dirty="0">
                <a:latin typeface="宋体"/>
                <a:cs typeface="宋体"/>
              </a:rPr>
              <a:t> </a:t>
            </a:r>
            <a:r>
              <a:rPr sz="2813" spc="-5" baseline="17777" dirty="0">
                <a:latin typeface="Symbol"/>
                <a:cs typeface="Symbol"/>
              </a:rPr>
              <a:t></a:t>
            </a:r>
            <a:r>
              <a:rPr sz="2813" spc="56" baseline="17777" dirty="0">
                <a:latin typeface="Times New Roman"/>
                <a:cs typeface="Times New Roman"/>
              </a:rPr>
              <a:t> </a:t>
            </a:r>
            <a:r>
              <a:rPr sz="2813" i="1" spc="56" baseline="17777" dirty="0">
                <a:latin typeface="Times New Roman"/>
                <a:cs typeface="Times New Roman"/>
              </a:rPr>
              <a:t>g</a:t>
            </a:r>
            <a:r>
              <a:rPr sz="1631" spc="56" baseline="5747" dirty="0">
                <a:latin typeface="Times New Roman"/>
                <a:cs typeface="Times New Roman"/>
              </a:rPr>
              <a:t>0</a:t>
            </a:r>
            <a:endParaRPr sz="1631" baseline="5747">
              <a:latin typeface="Times New Roman"/>
              <a:cs typeface="Times New Roman"/>
            </a:endParaRPr>
          </a:p>
          <a:p>
            <a:pPr marL="536258">
              <a:spcBef>
                <a:spcPts val="1519"/>
              </a:spcBef>
            </a:pPr>
            <a:r>
              <a:rPr sz="2100" b="1" spc="-4" dirty="0">
                <a:latin typeface="黑体"/>
                <a:cs typeface="黑体"/>
              </a:rPr>
              <a:t>密度较小的石油或石膏等非金属矿藏</a:t>
            </a:r>
            <a:r>
              <a:rPr sz="2100" b="1" spc="-15" dirty="0">
                <a:latin typeface="黑体"/>
                <a:cs typeface="黑体"/>
              </a:rPr>
              <a:t>，</a:t>
            </a:r>
            <a:r>
              <a:rPr sz="2100" b="1" spc="-614" dirty="0">
                <a:latin typeface="黑体"/>
                <a:cs typeface="黑体"/>
              </a:rPr>
              <a:t> </a:t>
            </a:r>
            <a:r>
              <a:rPr sz="2813" i="1" spc="62" baseline="11111" dirty="0">
                <a:latin typeface="Times New Roman"/>
                <a:cs typeface="Times New Roman"/>
              </a:rPr>
              <a:t>g</a:t>
            </a:r>
            <a:r>
              <a:rPr sz="1631" spc="-11" baseline="-7662" dirty="0">
                <a:latin typeface="宋体"/>
                <a:cs typeface="宋体"/>
              </a:rPr>
              <a:t>测</a:t>
            </a:r>
            <a:r>
              <a:rPr sz="1631" spc="45" baseline="-7662" dirty="0">
                <a:latin typeface="宋体"/>
                <a:cs typeface="宋体"/>
              </a:rPr>
              <a:t> </a:t>
            </a:r>
            <a:r>
              <a:rPr sz="2813" spc="-5" baseline="11111" dirty="0">
                <a:latin typeface="Symbol"/>
                <a:cs typeface="Symbol"/>
              </a:rPr>
              <a:t></a:t>
            </a:r>
            <a:r>
              <a:rPr sz="2813" spc="73" baseline="11111" dirty="0">
                <a:latin typeface="Times New Roman"/>
                <a:cs typeface="Times New Roman"/>
              </a:rPr>
              <a:t> </a:t>
            </a:r>
            <a:r>
              <a:rPr sz="2813" i="1" spc="56" baseline="11111" dirty="0">
                <a:latin typeface="Times New Roman"/>
                <a:cs typeface="Times New Roman"/>
              </a:rPr>
              <a:t>g</a:t>
            </a:r>
            <a:r>
              <a:rPr sz="1631" spc="56" baseline="-5747" dirty="0">
                <a:latin typeface="Times New Roman"/>
                <a:cs typeface="Times New Roman"/>
              </a:rPr>
              <a:t>0</a:t>
            </a:r>
            <a:endParaRPr sz="1631" baseline="-5747">
              <a:latin typeface="Times New Roman"/>
              <a:cs typeface="Times New Roman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932663-B830-4254-B53D-66A0008703B1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  <p:grpSp>
        <p:nvGrpSpPr>
          <p:cNvPr id="8" name="组合 7"/>
          <p:cNvGrpSpPr/>
          <p:nvPr/>
        </p:nvGrpSpPr>
        <p:grpSpPr>
          <a:xfrm>
            <a:off x="2188478" y="2305159"/>
            <a:ext cx="2118828" cy="2531160"/>
            <a:chOff x="1403648" y="2708920"/>
            <a:chExt cx="2825104" cy="3374880"/>
          </a:xfrm>
        </p:grpSpPr>
        <p:sp>
          <p:nvSpPr>
            <p:cNvPr id="3" name="object 2"/>
            <p:cNvSpPr/>
            <p:nvPr/>
          </p:nvSpPr>
          <p:spPr>
            <a:xfrm>
              <a:off x="1403648" y="2708920"/>
              <a:ext cx="2825104" cy="28251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5" name="object 4"/>
            <p:cNvSpPr txBox="1"/>
            <p:nvPr/>
          </p:nvSpPr>
          <p:spPr>
            <a:xfrm>
              <a:off x="2267744" y="5661248"/>
              <a:ext cx="1095375" cy="422552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000" b="1" dirty="0">
                  <a:latin typeface="黑体"/>
                  <a:cs typeface="黑体"/>
                </a:rPr>
                <a:t>重力</a:t>
              </a:r>
              <a:r>
                <a:rPr sz="2000" b="1" spc="-15" dirty="0">
                  <a:latin typeface="黑体"/>
                  <a:cs typeface="黑体"/>
                </a:rPr>
                <a:t>仪</a:t>
              </a:r>
              <a:endParaRPr sz="2000">
                <a:latin typeface="黑体"/>
                <a:cs typeface="黑体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996790" y="2305159"/>
            <a:ext cx="2397970" cy="2531160"/>
            <a:chOff x="5148064" y="2708920"/>
            <a:chExt cx="3197293" cy="3374880"/>
          </a:xfrm>
        </p:grpSpPr>
        <p:sp>
          <p:nvSpPr>
            <p:cNvPr id="4" name="object 3"/>
            <p:cNvSpPr/>
            <p:nvPr/>
          </p:nvSpPr>
          <p:spPr>
            <a:xfrm>
              <a:off x="5148064" y="2708920"/>
              <a:ext cx="3197293" cy="28251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6" name="object 5"/>
            <p:cNvSpPr txBox="1"/>
            <p:nvPr/>
          </p:nvSpPr>
          <p:spPr>
            <a:xfrm>
              <a:off x="5852263" y="5661248"/>
              <a:ext cx="1810385" cy="422552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000" b="1" spc="-4" dirty="0">
                  <a:latin typeface="黑体"/>
                  <a:cs typeface="黑体"/>
                </a:rPr>
                <a:t>重力仪探</a:t>
              </a:r>
              <a:r>
                <a:rPr sz="2000" b="1" spc="-15" dirty="0">
                  <a:latin typeface="黑体"/>
                  <a:cs typeface="黑体"/>
                </a:rPr>
                <a:t>矿</a:t>
              </a:r>
              <a:endParaRPr sz="2000">
                <a:latin typeface="黑体"/>
                <a:cs typeface="黑体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797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8" name="灯片编号占位符 1"/>
          <p:cNvSpPr txBox="1">
            <a:spLocks noGrp="1"/>
          </p:cNvSpPr>
          <p:nvPr/>
        </p:nvSpPr>
        <p:spPr bwMode="auto">
          <a:xfrm>
            <a:off x="7575775" y="4900726"/>
            <a:ext cx="16002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0" hangingPunct="0">
              <a:buFontTx/>
              <a:buNone/>
            </a:pPr>
            <a:fld id="{C9AA422B-C56C-4D24-8A3B-495E83129BD4}" type="slidenum">
              <a:rPr kumimoji="1" lang="en-US" altLang="zh-CN" sz="1050">
                <a:solidFill>
                  <a:srgbClr val="000000"/>
                </a:solidFill>
              </a:rPr>
              <a:pPr algn="r" eaLnBrk="0" hangingPunct="0">
                <a:buFontTx/>
                <a:buNone/>
              </a:pPr>
              <a:t>19</a:t>
            </a:fld>
            <a:endParaRPr kumimoji="1" lang="en-US" altLang="zh-CN" sz="1050">
              <a:solidFill>
                <a:srgbClr val="000000"/>
              </a:solidFill>
            </a:endParaRPr>
          </a:p>
        </p:txBody>
      </p:sp>
      <p:sp>
        <p:nvSpPr>
          <p:cNvPr id="12309" name="Text Box 2"/>
          <p:cNvSpPr txBox="1">
            <a:spLocks noChangeArrowheads="1"/>
          </p:cNvSpPr>
          <p:nvPr/>
        </p:nvSpPr>
        <p:spPr bwMode="auto">
          <a:xfrm>
            <a:off x="950685" y="334214"/>
            <a:ext cx="7518400" cy="803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FontTx/>
              <a:buNone/>
            </a:pPr>
            <a:r>
              <a:rPr lang="zh-CN" altLang="en-US" sz="2100" b="1" dirty="0">
                <a:solidFill>
                  <a:srgbClr val="CC0000"/>
                </a:solidFill>
              </a:rPr>
              <a:t>例</a:t>
            </a:r>
            <a:r>
              <a:rPr lang="en-US" altLang="zh-CN" sz="2100" b="1">
                <a:solidFill>
                  <a:srgbClr val="CC0000"/>
                </a:solidFill>
              </a:rPr>
              <a:t>1</a:t>
            </a:r>
            <a:r>
              <a:rPr lang="zh-CN" altLang="en-US" sz="2100" b="1">
                <a:solidFill>
                  <a:srgbClr val="000000"/>
                </a:solidFill>
              </a:rPr>
              <a:t>  </a:t>
            </a:r>
            <a:r>
              <a:rPr lang="zh-CN" altLang="en-US" sz="2100" b="1" smtClean="0">
                <a:solidFill>
                  <a:srgbClr val="000000"/>
                </a:solidFill>
              </a:rPr>
              <a:t>如</a:t>
            </a:r>
            <a:r>
              <a:rPr lang="zh-CN" altLang="en-US" sz="2100" b="1" dirty="0">
                <a:solidFill>
                  <a:srgbClr val="000000"/>
                </a:solidFill>
              </a:rPr>
              <a:t>图所示，一质点</a:t>
            </a:r>
            <a:r>
              <a:rPr lang="en-US" altLang="zh-CN" sz="2100" i="1" dirty="0">
                <a:solidFill>
                  <a:srgbClr val="000000"/>
                </a:solidFill>
              </a:rPr>
              <a:t>m</a:t>
            </a:r>
            <a:r>
              <a:rPr lang="en-US" altLang="zh-CN" sz="2100" b="1" i="1" dirty="0">
                <a:solidFill>
                  <a:srgbClr val="000000"/>
                </a:solidFill>
              </a:rPr>
              <a:t> </a:t>
            </a:r>
            <a:r>
              <a:rPr lang="zh-CN" altLang="en-US" sz="2100" b="1" dirty="0">
                <a:solidFill>
                  <a:srgbClr val="000000"/>
                </a:solidFill>
              </a:rPr>
              <a:t>旁边放一长度为</a:t>
            </a:r>
            <a:r>
              <a:rPr lang="en-US" altLang="zh-CN" sz="2100" i="1" dirty="0">
                <a:solidFill>
                  <a:srgbClr val="000000"/>
                </a:solidFill>
              </a:rPr>
              <a:t>L</a:t>
            </a:r>
            <a:r>
              <a:rPr lang="en-US" altLang="zh-CN" sz="2100" b="1" i="1" dirty="0">
                <a:solidFill>
                  <a:srgbClr val="000000"/>
                </a:solidFill>
              </a:rPr>
              <a:t> </a:t>
            </a:r>
            <a:r>
              <a:rPr lang="zh-CN" altLang="en-US" sz="2100" b="1" dirty="0">
                <a:solidFill>
                  <a:srgbClr val="000000"/>
                </a:solidFill>
              </a:rPr>
              <a:t>、质量为</a:t>
            </a:r>
            <a:r>
              <a:rPr lang="en-US" altLang="zh-CN" sz="2100" i="1" dirty="0">
                <a:solidFill>
                  <a:srgbClr val="000000"/>
                </a:solidFill>
              </a:rPr>
              <a:t>M</a:t>
            </a:r>
            <a:r>
              <a:rPr lang="en-US" altLang="zh-CN" sz="2100" b="1" i="1" dirty="0">
                <a:solidFill>
                  <a:srgbClr val="000000"/>
                </a:solidFill>
              </a:rPr>
              <a:t> </a:t>
            </a:r>
            <a:r>
              <a:rPr lang="zh-CN" altLang="en-US" sz="2100" b="1" dirty="0">
                <a:solidFill>
                  <a:srgbClr val="000000"/>
                </a:solidFill>
              </a:rPr>
              <a:t>的</a:t>
            </a:r>
            <a:r>
              <a:rPr lang="zh-CN" altLang="en-US" sz="2100" b="1">
                <a:solidFill>
                  <a:srgbClr val="000000"/>
                </a:solidFill>
              </a:rPr>
              <a:t>杆</a:t>
            </a:r>
            <a:r>
              <a:rPr lang="zh-CN" altLang="en-US" sz="2100" b="1" smtClean="0">
                <a:solidFill>
                  <a:srgbClr val="000000"/>
                </a:solidFill>
              </a:rPr>
              <a:t>， </a:t>
            </a:r>
            <a:r>
              <a:rPr lang="en-US" altLang="zh-CN" sz="2100" b="1" smtClean="0">
                <a:solidFill>
                  <a:srgbClr val="000000"/>
                </a:solidFill>
              </a:rPr>
              <a:t/>
            </a:r>
            <a:br>
              <a:rPr lang="en-US" altLang="zh-CN" sz="2100" b="1" smtClean="0">
                <a:solidFill>
                  <a:srgbClr val="000000"/>
                </a:solidFill>
              </a:rPr>
            </a:br>
            <a:r>
              <a:rPr lang="en-US" altLang="zh-CN" sz="2100" b="1" smtClean="0">
                <a:solidFill>
                  <a:srgbClr val="000000"/>
                </a:solidFill>
              </a:rPr>
              <a:t>        </a:t>
            </a:r>
            <a:r>
              <a:rPr lang="zh-CN" altLang="en-US" sz="2100" b="1" smtClean="0">
                <a:solidFill>
                  <a:srgbClr val="000000"/>
                </a:solidFill>
              </a:rPr>
              <a:t>杆</a:t>
            </a:r>
            <a:r>
              <a:rPr lang="zh-CN" altLang="en-US" sz="2100" b="1" dirty="0">
                <a:solidFill>
                  <a:srgbClr val="000000"/>
                </a:solidFill>
              </a:rPr>
              <a:t>离质点近端距离为</a:t>
            </a:r>
            <a:r>
              <a:rPr lang="en-US" altLang="zh-CN" sz="2100" i="1" dirty="0">
                <a:solidFill>
                  <a:srgbClr val="000000"/>
                </a:solidFill>
              </a:rPr>
              <a:t>l .</a:t>
            </a:r>
          </a:p>
        </p:txBody>
      </p:sp>
      <p:sp>
        <p:nvSpPr>
          <p:cNvPr id="12311" name="Rectangle 4"/>
          <p:cNvSpPr>
            <a:spLocks noChangeArrowheads="1"/>
          </p:cNvSpPr>
          <p:nvPr/>
        </p:nvSpPr>
        <p:spPr bwMode="auto">
          <a:xfrm>
            <a:off x="1436288" y="1187674"/>
            <a:ext cx="248818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>
                <a:solidFill>
                  <a:srgbClr val="000000"/>
                </a:solidFill>
                <a:latin typeface="宋体" pitchFamily="2" charset="-122"/>
              </a:rPr>
              <a:t>该系统的万有引力</a:t>
            </a:r>
            <a:r>
              <a:rPr lang="en-US" altLang="zh-CN" sz="2100" b="1">
                <a:solidFill>
                  <a:srgbClr val="000000"/>
                </a:solidFill>
                <a:latin typeface="宋体" pitchFamily="2" charset="-122"/>
              </a:rPr>
              <a:t>.</a:t>
            </a:r>
            <a:endParaRPr lang="en-US" altLang="zh-CN" sz="2100" b="1">
              <a:solidFill>
                <a:srgbClr val="000000"/>
              </a:solidFill>
            </a:endParaRPr>
          </a:p>
        </p:txBody>
      </p:sp>
      <p:sp>
        <p:nvSpPr>
          <p:cNvPr id="12312" name="Line 6"/>
          <p:cNvSpPr>
            <a:spLocks noChangeShapeType="1"/>
          </p:cNvSpPr>
          <p:nvPr/>
        </p:nvSpPr>
        <p:spPr bwMode="auto">
          <a:xfrm>
            <a:off x="5654843" y="1185351"/>
            <a:ext cx="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2313" name="Text Box 40"/>
          <p:cNvSpPr txBox="1">
            <a:spLocks noChangeArrowheads="1"/>
          </p:cNvSpPr>
          <p:nvPr/>
        </p:nvSpPr>
        <p:spPr bwMode="auto">
          <a:xfrm>
            <a:off x="6685924" y="1180589"/>
            <a:ext cx="1314450" cy="64294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buFontTx/>
              <a:buNone/>
            </a:pPr>
            <a:endParaRPr kumimoji="1" lang="zh-CN" altLang="en-US" sz="2100" b="1">
              <a:solidFill>
                <a:srgbClr val="000000"/>
              </a:solidFill>
            </a:endParaRPr>
          </a:p>
        </p:txBody>
      </p:sp>
      <p:sp>
        <p:nvSpPr>
          <p:cNvPr id="12314" name="Oval 8"/>
          <p:cNvSpPr>
            <a:spLocks noChangeArrowheads="1"/>
          </p:cNvSpPr>
          <p:nvPr/>
        </p:nvSpPr>
        <p:spPr bwMode="auto">
          <a:xfrm>
            <a:off x="5597693" y="1128201"/>
            <a:ext cx="114300" cy="1143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buFontTx/>
              <a:buNone/>
            </a:pPr>
            <a:endParaRPr kumimoji="1" lang="zh-CN" altLang="en-US" sz="2100" b="1">
              <a:solidFill>
                <a:srgbClr val="000000"/>
              </a:solidFill>
            </a:endParaRPr>
          </a:p>
        </p:txBody>
      </p:sp>
      <p:graphicFrame>
        <p:nvGraphicFramePr>
          <p:cNvPr id="1229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345213"/>
              </p:ext>
            </p:extLst>
          </p:nvPr>
        </p:nvGraphicFramePr>
        <p:xfrm>
          <a:off x="7603896" y="898411"/>
          <a:ext cx="32385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99" name="Equation" r:id="rId4" imgW="203040" imgH="152280" progId="Equation.DSMT4">
                  <p:embed/>
                </p:oleObj>
              </mc:Choice>
              <mc:Fallback>
                <p:oleObj name="Equation" r:id="rId4" imgW="2030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3896" y="898411"/>
                        <a:ext cx="323850" cy="242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980622"/>
              </p:ext>
            </p:extLst>
          </p:nvPr>
        </p:nvGraphicFramePr>
        <p:xfrm>
          <a:off x="5778668" y="1071051"/>
          <a:ext cx="219075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100" name="公式" r:id="rId6" imgW="291960" imgH="228600" progId="Equation.3">
                  <p:embed/>
                </p:oleObj>
              </mc:Choice>
              <mc:Fallback>
                <p:oleObj name="公式" r:id="rId6" imgW="291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668" y="1071051"/>
                        <a:ext cx="219075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022176"/>
              </p:ext>
            </p:extLst>
          </p:nvPr>
        </p:nvGraphicFramePr>
        <p:xfrm>
          <a:off x="7282427" y="1307987"/>
          <a:ext cx="191691" cy="220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101" name="公式" r:id="rId8" imgW="253800" imgH="291960" progId="Equation.3">
                  <p:embed/>
                </p:oleObj>
              </mc:Choice>
              <mc:Fallback>
                <p:oleObj name="公式" r:id="rId8" imgW="253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2427" y="1307987"/>
                        <a:ext cx="191691" cy="2202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6404"/>
              </p:ext>
            </p:extLst>
          </p:nvPr>
        </p:nvGraphicFramePr>
        <p:xfrm>
          <a:off x="6022746" y="1460387"/>
          <a:ext cx="104775" cy="23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102" name="公式" r:id="rId10" imgW="139680" imgH="317160" progId="Equation.3">
                  <p:embed/>
                </p:oleObj>
              </mc:Choice>
              <mc:Fallback>
                <p:oleObj name="公式" r:id="rId10" imgW="1396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746" y="1460387"/>
                        <a:ext cx="104775" cy="2393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5" name="Line 13"/>
          <p:cNvSpPr>
            <a:spLocks noChangeShapeType="1"/>
          </p:cNvSpPr>
          <p:nvPr/>
        </p:nvSpPr>
        <p:spPr bwMode="auto">
          <a:xfrm>
            <a:off x="6683543" y="1185351"/>
            <a:ext cx="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2316" name="Line 14"/>
          <p:cNvSpPr>
            <a:spLocks noChangeShapeType="1"/>
          </p:cNvSpPr>
          <p:nvPr/>
        </p:nvSpPr>
        <p:spPr bwMode="auto">
          <a:xfrm>
            <a:off x="5654843" y="135680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2317" name="Rectangle 15"/>
          <p:cNvSpPr>
            <a:spLocks noChangeArrowheads="1"/>
          </p:cNvSpPr>
          <p:nvPr/>
        </p:nvSpPr>
        <p:spPr bwMode="auto">
          <a:xfrm>
            <a:off x="1014054" y="1161367"/>
            <a:ext cx="59183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2100" b="1">
                <a:solidFill>
                  <a:srgbClr val="CC0000"/>
                </a:solidFill>
                <a:latin typeface="宋体" pitchFamily="2" charset="-122"/>
              </a:rPr>
              <a:t>求</a:t>
            </a:r>
            <a:r>
              <a:rPr lang="en-US" altLang="zh-CN" sz="2100" b="1">
                <a:solidFill>
                  <a:srgbClr val="CC0000"/>
                </a:solidFill>
                <a:latin typeface="宋体" pitchFamily="2" charset="-122"/>
              </a:rPr>
              <a:t>:</a:t>
            </a:r>
            <a:endParaRPr lang="en-US" altLang="zh-CN" sz="2100" b="1">
              <a:solidFill>
                <a:srgbClr val="CC0000"/>
              </a:solidFill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316152" y="3330896"/>
            <a:ext cx="3689470" cy="1009221"/>
            <a:chOff x="3073" y="1956"/>
            <a:chExt cx="2570" cy="703"/>
          </a:xfrm>
        </p:grpSpPr>
        <p:sp>
          <p:nvSpPr>
            <p:cNvPr id="12323" name="Line 23"/>
            <p:cNvSpPr>
              <a:spLocks noChangeShapeType="1"/>
            </p:cNvSpPr>
            <p:nvPr/>
          </p:nvSpPr>
          <p:spPr bwMode="auto">
            <a:xfrm>
              <a:off x="3305" y="2208"/>
              <a:ext cx="0" cy="4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2324" name="Line 24"/>
            <p:cNvSpPr>
              <a:spLocks noChangeShapeType="1"/>
            </p:cNvSpPr>
            <p:nvPr/>
          </p:nvSpPr>
          <p:spPr bwMode="auto">
            <a:xfrm>
              <a:off x="3353" y="2208"/>
              <a:ext cx="2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wrap="none" anchor="ctr"/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2325" name="Rectangle 25"/>
            <p:cNvSpPr>
              <a:spLocks noChangeArrowheads="1"/>
            </p:cNvSpPr>
            <p:nvPr/>
          </p:nvSpPr>
          <p:spPr bwMode="auto">
            <a:xfrm>
              <a:off x="4169" y="2184"/>
              <a:ext cx="1104" cy="4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sp>
          <p:nvSpPr>
            <p:cNvPr id="12326" name="Oval 26"/>
            <p:cNvSpPr>
              <a:spLocks noChangeArrowheads="1"/>
            </p:cNvSpPr>
            <p:nvPr/>
          </p:nvSpPr>
          <p:spPr bwMode="auto">
            <a:xfrm>
              <a:off x="3257" y="2160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2300" name="Object 28"/>
            <p:cNvGraphicFramePr>
              <a:graphicFrameLocks noChangeAspect="1"/>
            </p:cNvGraphicFramePr>
            <p:nvPr/>
          </p:nvGraphicFramePr>
          <p:xfrm>
            <a:off x="3189" y="1956"/>
            <a:ext cx="24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103" name="公式" r:id="rId12" imgW="164880" imgH="139680" progId="Equation.DSMT4">
                    <p:embed/>
                  </p:oleObj>
                </mc:Choice>
                <mc:Fallback>
                  <p:oleObj name="公式" r:id="rId12" imgW="1648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" y="1956"/>
                          <a:ext cx="240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2" name="Object 30"/>
            <p:cNvGraphicFramePr>
              <a:graphicFrameLocks noChangeAspect="1"/>
            </p:cNvGraphicFramePr>
            <p:nvPr/>
          </p:nvGraphicFramePr>
          <p:xfrm>
            <a:off x="3787" y="2342"/>
            <a:ext cx="17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104" name="公式" r:id="rId14" imgW="126720" imgH="139680" progId="Equation.DSMT4">
                    <p:embed/>
                  </p:oleObj>
                </mc:Choice>
                <mc:Fallback>
                  <p:oleObj name="公式" r:id="rId14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342"/>
                          <a:ext cx="171" cy="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7" name="Rectangle 31"/>
            <p:cNvSpPr>
              <a:spLocks noChangeArrowheads="1"/>
            </p:cNvSpPr>
            <p:nvPr/>
          </p:nvSpPr>
          <p:spPr bwMode="auto">
            <a:xfrm>
              <a:off x="4482" y="2191"/>
              <a:ext cx="50" cy="41"/>
            </a:xfrm>
            <a:prstGeom prst="rect">
              <a:avLst/>
            </a:prstGeom>
            <a:solidFill>
              <a:srgbClr val="CC0000"/>
            </a:solidFill>
            <a:ln w="222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2304" name="Object 33"/>
            <p:cNvGraphicFramePr>
              <a:graphicFrameLocks noChangeAspect="1"/>
            </p:cNvGraphicFramePr>
            <p:nvPr/>
          </p:nvGraphicFramePr>
          <p:xfrm>
            <a:off x="5507" y="2160"/>
            <a:ext cx="13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105" name="公式" r:id="rId16" imgW="215640" imgH="228600" progId="Equation.3">
                    <p:embed/>
                  </p:oleObj>
                </mc:Choice>
                <mc:Fallback>
                  <p:oleObj name="公式" r:id="rId16" imgW="215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7" y="2160"/>
                          <a:ext cx="136" cy="1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34"/>
            <p:cNvGraphicFramePr>
              <a:graphicFrameLocks noChangeAspect="1"/>
            </p:cNvGraphicFramePr>
            <p:nvPr/>
          </p:nvGraphicFramePr>
          <p:xfrm>
            <a:off x="3073" y="2249"/>
            <a:ext cx="13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106" name="公式" r:id="rId18" imgW="215640" imgH="228600" progId="Equation.3">
                    <p:embed/>
                  </p:oleObj>
                </mc:Choice>
                <mc:Fallback>
                  <p:oleObj name="公式" r:id="rId18" imgW="215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3" y="2249"/>
                          <a:ext cx="136" cy="1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8" name="Line 36"/>
            <p:cNvSpPr>
              <a:spLocks noChangeShapeType="1"/>
            </p:cNvSpPr>
            <p:nvPr/>
          </p:nvSpPr>
          <p:spPr bwMode="auto">
            <a:xfrm>
              <a:off x="4512" y="2251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2329" name="Line 37"/>
            <p:cNvSpPr>
              <a:spLocks noChangeShapeType="1"/>
            </p:cNvSpPr>
            <p:nvPr/>
          </p:nvSpPr>
          <p:spPr bwMode="auto">
            <a:xfrm>
              <a:off x="3320" y="2523"/>
              <a:ext cx="11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2306" name="Object 35"/>
            <p:cNvGraphicFramePr>
              <a:graphicFrameLocks noChangeAspect="1"/>
            </p:cNvGraphicFramePr>
            <p:nvPr/>
          </p:nvGraphicFramePr>
          <p:xfrm>
            <a:off x="4553" y="2278"/>
            <a:ext cx="2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107" name="公式" r:id="rId20" imgW="368280" imgH="317160" progId="Equation.DSMT4">
                    <p:embed/>
                  </p:oleObj>
                </mc:Choice>
                <mc:Fallback>
                  <p:oleObj name="公式" r:id="rId20" imgW="368280" imgH="317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3" y="2278"/>
                          <a:ext cx="232" cy="2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/>
          <p:cNvGrpSpPr/>
          <p:nvPr/>
        </p:nvGrpSpPr>
        <p:grpSpPr>
          <a:xfrm>
            <a:off x="1086284" y="1946051"/>
            <a:ext cx="6599396" cy="1146235"/>
            <a:chOff x="253365" y="2246392"/>
            <a:chExt cx="8799195" cy="1528313"/>
          </a:xfrm>
        </p:grpSpPr>
        <p:sp>
          <p:nvSpPr>
            <p:cNvPr id="152579" name="Text Box 3"/>
            <p:cNvSpPr txBox="1">
              <a:spLocks noChangeArrowheads="1"/>
            </p:cNvSpPr>
            <p:nvPr/>
          </p:nvSpPr>
          <p:spPr bwMode="auto">
            <a:xfrm>
              <a:off x="253365" y="2368312"/>
              <a:ext cx="930275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buFontTx/>
                <a:buNone/>
              </a:pPr>
              <a:r>
                <a:rPr lang="zh-CN" altLang="en-US" sz="2100" b="1" dirty="0">
                  <a:solidFill>
                    <a:srgbClr val="CC0000"/>
                  </a:solidFill>
                  <a:latin typeface="宋体" pitchFamily="2" charset="-122"/>
                </a:rPr>
                <a:t>解</a:t>
              </a:r>
              <a:r>
                <a:rPr lang="en-US" altLang="zh-CN" sz="2100" b="1" dirty="0">
                  <a:solidFill>
                    <a:srgbClr val="CC0000"/>
                  </a:solidFill>
                  <a:latin typeface="宋体" pitchFamily="2" charset="-122"/>
                </a:rPr>
                <a:t>:</a:t>
              </a:r>
              <a:endParaRPr lang="en-US" altLang="zh-CN" sz="2100" b="1" dirty="0">
                <a:solidFill>
                  <a:srgbClr val="CC0000"/>
                </a:solidFill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840422" y="2246392"/>
              <a:ext cx="8212138" cy="1333955"/>
              <a:chOff x="931862" y="2246392"/>
              <a:chExt cx="8212138" cy="1333955"/>
            </a:xfrm>
          </p:grpSpPr>
          <p:sp>
            <p:nvSpPr>
              <p:cNvPr id="41" name="Text Box 38"/>
              <p:cNvSpPr txBox="1">
                <a:spLocks noChangeArrowheads="1"/>
              </p:cNvSpPr>
              <p:nvPr/>
            </p:nvSpPr>
            <p:spPr bwMode="auto">
              <a:xfrm>
                <a:off x="931862" y="2246392"/>
                <a:ext cx="8212138" cy="13339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150000"/>
                  </a:lnSpc>
                  <a:buFontTx/>
                  <a:buNone/>
                </a:pPr>
                <a:r>
                  <a:rPr lang="zh-CN" altLang="en-US" sz="2100" b="1" dirty="0">
                    <a:solidFill>
                      <a:srgbClr val="000000"/>
                    </a:solidFill>
                  </a:rPr>
                  <a:t>建立坐标系如图所示，在坐标为   </a:t>
                </a:r>
                <a:r>
                  <a:rPr lang="en-US" altLang="zh-CN" sz="2100" b="1" dirty="0">
                    <a:solidFill>
                      <a:srgbClr val="000000"/>
                    </a:solidFill>
                  </a:rPr>
                  <a:t> </a:t>
                </a:r>
                <a:r>
                  <a:rPr lang="zh-CN" altLang="en-US" sz="2100" b="1" dirty="0">
                    <a:solidFill>
                      <a:srgbClr val="000000"/>
                    </a:solidFill>
                  </a:rPr>
                  <a:t>处取长度为</a:t>
                </a:r>
                <a:r>
                  <a:rPr lang="en-US" altLang="zh-CN" sz="2100" b="1" dirty="0">
                    <a:solidFill>
                      <a:srgbClr val="000000"/>
                    </a:solidFill>
                  </a:rPr>
                  <a:t>     </a:t>
                </a:r>
                <a:r>
                  <a:rPr lang="zh-CN" altLang="en-US" sz="2100" b="1" dirty="0">
                    <a:solidFill>
                      <a:srgbClr val="000000"/>
                    </a:solidFill>
                  </a:rPr>
                  <a:t>的质量元，则质量元的</a:t>
                </a:r>
                <a:r>
                  <a:rPr lang="zh-CN" altLang="en-US" sz="2100" b="1">
                    <a:solidFill>
                      <a:srgbClr val="000000"/>
                    </a:solidFill>
                  </a:rPr>
                  <a:t>质</a:t>
                </a:r>
                <a:r>
                  <a:rPr lang="zh-CN" altLang="en-US" sz="2100" b="1" smtClean="0">
                    <a:solidFill>
                      <a:srgbClr val="000000"/>
                    </a:solidFill>
                  </a:rPr>
                  <a:t>量：</a:t>
                </a:r>
              </a:p>
            </p:txBody>
          </p:sp>
          <p:graphicFrame>
            <p:nvGraphicFramePr>
              <p:cNvPr id="42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2879988"/>
                  </p:ext>
                </p:extLst>
              </p:nvPr>
            </p:nvGraphicFramePr>
            <p:xfrm>
              <a:off x="8218861" y="2457268"/>
              <a:ext cx="443753" cy="3825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08" name="公式" r:id="rId22" imgW="368280" imgH="317160" progId="Equation.DSMT4">
                      <p:embed/>
                    </p:oleObj>
                  </mc:Choice>
                  <mc:Fallback>
                    <p:oleObj name="公式" r:id="rId22" imgW="368280" imgH="31716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18861" y="2457268"/>
                            <a:ext cx="443753" cy="38254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30"/>
              <p:cNvGraphicFramePr>
                <a:graphicFrameLocks noChangeAspect="1"/>
              </p:cNvGraphicFramePr>
              <p:nvPr/>
            </p:nvGraphicFramePr>
            <p:xfrm>
              <a:off x="6023560" y="2421454"/>
              <a:ext cx="409918" cy="455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09" name="公式" r:id="rId24" imgW="126720" imgH="139680" progId="Equation.DSMT4">
                      <p:embed/>
                    </p:oleObj>
                  </mc:Choice>
                  <mc:Fallback>
                    <p:oleObj name="公式" r:id="rId24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23560" y="2421454"/>
                            <a:ext cx="409918" cy="45546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hlink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5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8590020"/>
                </p:ext>
              </p:extLst>
            </p:nvPr>
          </p:nvGraphicFramePr>
          <p:xfrm>
            <a:off x="5118740" y="3097696"/>
            <a:ext cx="1626759" cy="437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110" name="Equation" r:id="rId26" imgW="660240" imgH="177480" progId="Equation.DSMT4">
                    <p:embed/>
                  </p:oleObj>
                </mc:Choice>
                <mc:Fallback>
                  <p:oleObj name="Equation" r:id="rId26" imgW="660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8740" y="3097696"/>
                          <a:ext cx="1626759" cy="43746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" name="组合 48"/>
            <p:cNvGrpSpPr/>
            <p:nvPr/>
          </p:nvGrpSpPr>
          <p:grpSpPr>
            <a:xfrm>
              <a:off x="6883007" y="2937774"/>
              <a:ext cx="1891535" cy="836931"/>
              <a:chOff x="5308207" y="3760734"/>
              <a:chExt cx="1891535" cy="836931"/>
            </a:xfrm>
          </p:grpSpPr>
          <p:graphicFrame>
            <p:nvGraphicFramePr>
              <p:cNvPr id="47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4993490"/>
                  </p:ext>
                </p:extLst>
              </p:nvPr>
            </p:nvGraphicFramePr>
            <p:xfrm>
              <a:off x="6173054" y="3760734"/>
              <a:ext cx="1026688" cy="8369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11" name="Equation" r:id="rId28" imgW="482400" imgH="393480" progId="Equation.DSMT4">
                      <p:embed/>
                    </p:oleObj>
                  </mc:Choice>
                  <mc:Fallback>
                    <p:oleObj name="Equation" r:id="rId28" imgW="48240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73054" y="3760734"/>
                            <a:ext cx="1026688" cy="83693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" name="矩形 47"/>
              <p:cNvSpPr/>
              <p:nvPr/>
            </p:nvSpPr>
            <p:spPr>
              <a:xfrm>
                <a:off x="5308207" y="3838248"/>
                <a:ext cx="968641" cy="553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0" hangingPunct="0">
                  <a:buFontTx/>
                  <a:buNone/>
                </a:pPr>
                <a:r>
                  <a:rPr lang="zh-CN" altLang="en-US" sz="2100" b="1" dirty="0">
                    <a:solidFill>
                      <a:srgbClr val="000000"/>
                    </a:solidFill>
                  </a:rPr>
                  <a:t>其中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10575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B47CC4-D510-42B9-9317-0D72EB4D1893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475615"/>
              </p:ext>
            </p:extLst>
          </p:nvPr>
        </p:nvGraphicFramePr>
        <p:xfrm>
          <a:off x="2668575" y="2623637"/>
          <a:ext cx="2439205" cy="72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34" name="公式" r:id="rId3" imgW="1320480" imgH="393480" progId="Equation.DSMT4">
                  <p:embed/>
                </p:oleObj>
              </mc:Choice>
              <mc:Fallback>
                <p:oleObj name="公式" r:id="rId3" imgW="1320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75" y="2623637"/>
                        <a:ext cx="2439205" cy="72671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1995770" y="3890668"/>
            <a:ext cx="1476686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>
                <a:solidFill>
                  <a:srgbClr val="000000"/>
                </a:solidFill>
              </a:rPr>
              <a:t>当 </a:t>
            </a:r>
            <a:r>
              <a:rPr lang="en-US" altLang="zh-CN" sz="2100" b="1" i="1">
                <a:solidFill>
                  <a:srgbClr val="000000"/>
                </a:solidFill>
              </a:rPr>
              <a:t>l</a:t>
            </a:r>
            <a:r>
              <a:rPr lang="en-US" altLang="zh-CN" sz="2100" b="1">
                <a:solidFill>
                  <a:srgbClr val="000000"/>
                </a:solidFill>
              </a:rPr>
              <a:t> &gt;&gt;</a:t>
            </a:r>
            <a:r>
              <a:rPr lang="en-US" altLang="zh-CN" sz="2100" b="1" i="1">
                <a:solidFill>
                  <a:srgbClr val="000000"/>
                </a:solidFill>
              </a:rPr>
              <a:t>L</a:t>
            </a:r>
            <a:r>
              <a:rPr lang="en-US" altLang="zh-CN" sz="2100" b="1">
                <a:solidFill>
                  <a:srgbClr val="000000"/>
                </a:solidFill>
              </a:rPr>
              <a:t> </a:t>
            </a:r>
            <a:r>
              <a:rPr lang="zh-CN" altLang="en-US" sz="2100" b="1">
                <a:solidFill>
                  <a:srgbClr val="000000"/>
                </a:solidFill>
              </a:rPr>
              <a:t>时</a:t>
            </a:r>
          </a:p>
        </p:txBody>
      </p:sp>
      <p:graphicFrame>
        <p:nvGraphicFramePr>
          <p:cNvPr id="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395687"/>
              </p:ext>
            </p:extLst>
          </p:nvPr>
        </p:nvGraphicFramePr>
        <p:xfrm>
          <a:off x="3541713" y="3793216"/>
          <a:ext cx="1138064" cy="658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35" name="Equation" r:id="rId5" imgW="723600" imgH="419040" progId="Equation.DSMT4">
                  <p:embed/>
                </p:oleObj>
              </mc:Choice>
              <mc:Fallback>
                <p:oleObj name="Equation" r:id="rId5" imgW="723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3793216"/>
                        <a:ext cx="1138064" cy="65887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144753"/>
              </p:ext>
            </p:extLst>
          </p:nvPr>
        </p:nvGraphicFramePr>
        <p:xfrm>
          <a:off x="4684713" y="3801154"/>
          <a:ext cx="1174784" cy="676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36" name="Equation" r:id="rId7" imgW="685800" imgH="393480" progId="Equation.DSMT4">
                  <p:embed/>
                </p:oleObj>
              </mc:Choice>
              <mc:Fallback>
                <p:oleObj name="Equation" r:id="rId7" imgW="685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3801154"/>
                        <a:ext cx="1174784" cy="67650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9"/>
          <p:cNvSpPr txBox="1">
            <a:spLocks noChangeArrowheads="1"/>
          </p:cNvSpPr>
          <p:nvPr/>
        </p:nvSpPr>
        <p:spPr bwMode="auto">
          <a:xfrm>
            <a:off x="1054406" y="2803704"/>
            <a:ext cx="181011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 dirty="0">
                <a:solidFill>
                  <a:srgbClr val="000000"/>
                </a:solidFill>
              </a:rPr>
              <a:t>对上式积分：</a:t>
            </a:r>
          </a:p>
        </p:txBody>
      </p:sp>
      <p:sp>
        <p:nvSpPr>
          <p:cNvPr id="9" name="Text Box 40"/>
          <p:cNvSpPr txBox="1">
            <a:spLocks noChangeArrowheads="1"/>
          </p:cNvSpPr>
          <p:nvPr/>
        </p:nvSpPr>
        <p:spPr bwMode="auto">
          <a:xfrm>
            <a:off x="1114709" y="3881143"/>
            <a:ext cx="113524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>
                <a:solidFill>
                  <a:srgbClr val="1F497D"/>
                </a:solidFill>
                <a:latin typeface="宋体" pitchFamily="2" charset="-122"/>
              </a:rPr>
              <a:t>讨论 </a:t>
            </a:r>
            <a:r>
              <a:rPr lang="en-US" altLang="zh-CN" sz="2100" b="1">
                <a:solidFill>
                  <a:srgbClr val="1F497D"/>
                </a:solidFill>
                <a:latin typeface="宋体" pitchFamily="2" charset="-122"/>
              </a:rPr>
              <a:t>: </a:t>
            </a:r>
          </a:p>
        </p:txBody>
      </p:sp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283614"/>
              </p:ext>
            </p:extLst>
          </p:nvPr>
        </p:nvGraphicFramePr>
        <p:xfrm>
          <a:off x="5412815" y="1679471"/>
          <a:ext cx="2664386" cy="657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37" name="公式" r:id="rId9" imgW="1536480" imgH="393480" progId="Equation.3">
                  <p:embed/>
                </p:oleObj>
              </mc:Choice>
              <mc:Fallback>
                <p:oleObj name="公式" r:id="rId9" imgW="1536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815" y="1679471"/>
                        <a:ext cx="2664386" cy="65778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1054406" y="1786103"/>
            <a:ext cx="450601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 dirty="0">
                <a:solidFill>
                  <a:srgbClr val="000000"/>
                </a:solidFill>
              </a:rPr>
              <a:t>质点与</a:t>
            </a:r>
            <a:r>
              <a:rPr lang="zh-CN" altLang="en-US" sz="2100" b="1" dirty="0">
                <a:solidFill>
                  <a:srgbClr val="C00000"/>
                </a:solidFill>
              </a:rPr>
              <a:t>质量元</a:t>
            </a:r>
            <a:r>
              <a:rPr lang="zh-CN" altLang="en-US" sz="2100" b="1" dirty="0">
                <a:solidFill>
                  <a:srgbClr val="000000"/>
                </a:solidFill>
              </a:rPr>
              <a:t>间的万有引力大</a:t>
            </a:r>
            <a:r>
              <a:rPr lang="zh-CN" altLang="en-US" sz="2100" b="1">
                <a:solidFill>
                  <a:srgbClr val="000000"/>
                </a:solidFill>
              </a:rPr>
              <a:t>小</a:t>
            </a:r>
            <a:r>
              <a:rPr lang="zh-CN" altLang="en-US" sz="2100" b="1" smtClean="0">
                <a:solidFill>
                  <a:srgbClr val="000000"/>
                </a:solidFill>
              </a:rPr>
              <a:t>为</a:t>
            </a:r>
            <a:r>
              <a:rPr lang="en-US" altLang="zh-CN" sz="2100" b="1" smtClean="0">
                <a:solidFill>
                  <a:srgbClr val="000000"/>
                </a:solidFill>
              </a:rPr>
              <a:t>:</a:t>
            </a:r>
            <a:endParaRPr lang="zh-CN" altLang="en-US" sz="2100" b="1" dirty="0">
              <a:solidFill>
                <a:srgbClr val="000000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288184" y="2652665"/>
            <a:ext cx="2095844" cy="723193"/>
            <a:chOff x="4879340" y="2926081"/>
            <a:chExt cx="3077306" cy="1061856"/>
          </a:xfrm>
        </p:grpSpPr>
        <p:graphicFrame>
          <p:nvGraphicFramePr>
            <p:cNvPr id="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7516354"/>
                </p:ext>
              </p:extLst>
            </p:nvPr>
          </p:nvGraphicFramePr>
          <p:xfrm>
            <a:off x="5639055" y="2926081"/>
            <a:ext cx="2317591" cy="1061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38" name="公式" r:id="rId11" imgW="914400" imgH="419040" progId="Equation.DSMT4">
                    <p:embed/>
                  </p:oleObj>
                </mc:Choice>
                <mc:Fallback>
                  <p:oleObj name="公式" r:id="rId11" imgW="91440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9055" y="2926081"/>
                          <a:ext cx="2317591" cy="106185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39"/>
            <p:cNvSpPr txBox="1">
              <a:spLocks noChangeArrowheads="1"/>
            </p:cNvSpPr>
            <p:nvPr/>
          </p:nvSpPr>
          <p:spPr bwMode="auto">
            <a:xfrm>
              <a:off x="4879340" y="3131304"/>
              <a:ext cx="968641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buFontTx/>
                <a:buNone/>
              </a:pPr>
              <a:r>
                <a:rPr lang="zh-CN" altLang="en-US" sz="2100" b="1" dirty="0">
                  <a:solidFill>
                    <a:srgbClr val="000000"/>
                  </a:solidFill>
                </a:rPr>
                <a:t>得：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55520" y="302635"/>
            <a:ext cx="3689470" cy="1009221"/>
            <a:chOff x="2155520" y="302635"/>
            <a:chExt cx="3689470" cy="1009221"/>
          </a:xfrm>
        </p:grpSpPr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488577" y="664404"/>
              <a:ext cx="0" cy="6474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2557486" y="664404"/>
              <a:ext cx="30319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wrap="none" anchor="ctr"/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3728928" y="629950"/>
              <a:ext cx="1584893" cy="6890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sp>
          <p:nvSpPr>
            <p:cNvPr id="32" name="Oval 26"/>
            <p:cNvSpPr>
              <a:spLocks noChangeArrowheads="1"/>
            </p:cNvSpPr>
            <p:nvPr/>
          </p:nvSpPr>
          <p:spPr bwMode="auto">
            <a:xfrm>
              <a:off x="2419669" y="595496"/>
              <a:ext cx="137817" cy="13781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33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4280671"/>
                </p:ext>
              </p:extLst>
            </p:nvPr>
          </p:nvGraphicFramePr>
          <p:xfrm>
            <a:off x="2322049" y="302635"/>
            <a:ext cx="344542" cy="291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39" name="公式" r:id="rId13" imgW="164880" imgH="139680" progId="Equation.DSMT4">
                    <p:embed/>
                  </p:oleObj>
                </mc:Choice>
                <mc:Fallback>
                  <p:oleObj name="公式" r:id="rId13" imgW="164880" imgH="139680" progId="Equation.DSMT4">
                    <p:embed/>
                    <p:pic>
                      <p:nvPicPr>
                        <p:cNvPr id="1230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2049" y="302635"/>
                          <a:ext cx="344542" cy="291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5596357"/>
                </p:ext>
              </p:extLst>
            </p:nvPr>
          </p:nvGraphicFramePr>
          <p:xfrm>
            <a:off x="3180532" y="856773"/>
            <a:ext cx="245486" cy="27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40" name="公式" r:id="rId15" imgW="126720" imgH="139680" progId="Equation.DSMT4">
                    <p:embed/>
                  </p:oleObj>
                </mc:Choice>
                <mc:Fallback>
                  <p:oleObj name="公式" r:id="rId15" imgW="126720" imgH="139680" progId="Equation.DSMT4">
                    <p:embed/>
                    <p:pic>
                      <p:nvPicPr>
                        <p:cNvPr id="12302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0532" y="856773"/>
                          <a:ext cx="245486" cy="2727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Rectangle 31"/>
            <p:cNvSpPr>
              <a:spLocks noChangeArrowheads="1"/>
            </p:cNvSpPr>
            <p:nvPr/>
          </p:nvSpPr>
          <p:spPr bwMode="auto">
            <a:xfrm>
              <a:off x="4178268" y="639999"/>
              <a:ext cx="71780" cy="58859"/>
            </a:xfrm>
            <a:prstGeom prst="rect">
              <a:avLst/>
            </a:prstGeom>
            <a:solidFill>
              <a:srgbClr val="CC0000"/>
            </a:solidFill>
            <a:ln w="222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36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7634186"/>
                </p:ext>
              </p:extLst>
            </p:nvPr>
          </p:nvGraphicFramePr>
          <p:xfrm>
            <a:off x="5649750" y="595496"/>
            <a:ext cx="195240" cy="205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41" name="公式" r:id="rId17" imgW="215640" imgH="228600" progId="Equation.3">
                    <p:embed/>
                  </p:oleObj>
                </mc:Choice>
                <mc:Fallback>
                  <p:oleObj name="公式" r:id="rId17" imgW="215640" imgH="228600" progId="Equation.3">
                    <p:embed/>
                    <p:pic>
                      <p:nvPicPr>
                        <p:cNvPr id="12304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9750" y="595496"/>
                          <a:ext cx="195240" cy="205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6426061"/>
                </p:ext>
              </p:extLst>
            </p:nvPr>
          </p:nvGraphicFramePr>
          <p:xfrm>
            <a:off x="2155520" y="723263"/>
            <a:ext cx="195240" cy="205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42" name="公式" r:id="rId19" imgW="215640" imgH="228600" progId="Equation.3">
                    <p:embed/>
                  </p:oleObj>
                </mc:Choice>
                <mc:Fallback>
                  <p:oleObj name="公式" r:id="rId19" imgW="215640" imgH="228600" progId="Equation.3">
                    <p:embed/>
                    <p:pic>
                      <p:nvPicPr>
                        <p:cNvPr id="1230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5520" y="723263"/>
                          <a:ext cx="195240" cy="205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4221336" y="726135"/>
              <a:ext cx="0" cy="5857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2510111" y="1116616"/>
              <a:ext cx="16925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40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645693"/>
                </p:ext>
              </p:extLst>
            </p:nvPr>
          </p:nvGraphicFramePr>
          <p:xfrm>
            <a:off x="4280195" y="764896"/>
            <a:ext cx="333057" cy="287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43" name="公式" r:id="rId21" imgW="368280" imgH="317160" progId="Equation.DSMT4">
                    <p:embed/>
                  </p:oleObj>
                </mc:Choice>
                <mc:Fallback>
                  <p:oleObj name="公式" r:id="rId21" imgW="368280" imgH="317160" progId="Equation.DSMT4">
                    <p:embed/>
                    <p:pic>
                      <p:nvPicPr>
                        <p:cNvPr id="1230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0195" y="764896"/>
                          <a:ext cx="333057" cy="28711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7628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C315E4-138E-45A5-B17A-8552C710AADC}" type="slidenum">
              <a:rPr lang="zh-CN" altLang="en-US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530565" y="681484"/>
            <a:ext cx="299640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二、弹性力</a:t>
            </a:r>
            <a:endParaRPr lang="zh-CN" altLang="en-US" sz="2700" b="1">
              <a:latin typeface="宋体" pitchFamily="2" charset="-122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530565" y="1653692"/>
            <a:ext cx="7747453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    常见弹性力有：正压力、张力、弹簧弹性力等．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97458" y="2692105"/>
            <a:ext cx="5406628" cy="508397"/>
            <a:chOff x="0" y="0"/>
            <a:chExt cx="4541" cy="427"/>
          </a:xfrm>
        </p:grpSpPr>
        <p:graphicFrame>
          <p:nvGraphicFramePr>
            <p:cNvPr id="13314" name="Object 5"/>
            <p:cNvGraphicFramePr>
              <a:graphicFrameLocks noChangeAspect="1"/>
            </p:cNvGraphicFramePr>
            <p:nvPr/>
          </p:nvGraphicFramePr>
          <p:xfrm>
            <a:off x="1389" y="39"/>
            <a:ext cx="104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1" r:id="rId3" imgW="545471" imgH="177809" progId="Equation.3">
                    <p:embed/>
                  </p:oleObj>
                </mc:Choice>
                <mc:Fallback>
                  <p:oleObj r:id="rId3" imgW="545471" imgH="177809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9" y="39"/>
                          <a:ext cx="1043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0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145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弹簧弹性力</a:t>
              </a:r>
            </a:p>
          </p:txBody>
        </p:sp>
        <p:sp>
          <p:nvSpPr>
            <p:cNvPr id="13321" name="Rectangle 7"/>
            <p:cNvSpPr>
              <a:spLocks noChangeArrowheads="1"/>
            </p:cNvSpPr>
            <p:nvPr/>
          </p:nvSpPr>
          <p:spPr bwMode="auto">
            <a:xfrm>
              <a:off x="2840" y="39"/>
              <a:ext cx="170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宋体" pitchFamily="2" charset="-122"/>
                </a:rPr>
                <a:t>——</a:t>
              </a:r>
              <a:r>
                <a:rPr lang="zh-CN" altLang="en-US" b="1"/>
                <a:t>胡克定律</a:t>
              </a:r>
            </a:p>
          </p:txBody>
        </p:sp>
      </p:grpSp>
      <p:sp>
        <p:nvSpPr>
          <p:cNvPr id="13319" name="Text Box 8"/>
          <p:cNvSpPr txBox="1">
            <a:spLocks noChangeArrowheads="1"/>
          </p:cNvSpPr>
          <p:nvPr/>
        </p:nvSpPr>
        <p:spPr bwMode="auto">
          <a:xfrm>
            <a:off x="2811860" y="737799"/>
            <a:ext cx="38885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Arial" pitchFamily="34" charset="0"/>
              </a:rPr>
              <a:t>由物体形变而产生的．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197458" y="3714459"/>
            <a:ext cx="5130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宋体" pitchFamily="2" charset="-122"/>
              </a:rPr>
              <a:t>同一根绳子上的张力相同吗？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857EC6-5674-41B0-B001-726761D86C44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41" name="object 64"/>
          <p:cNvSpPr txBox="1"/>
          <p:nvPr/>
        </p:nvSpPr>
        <p:spPr>
          <a:xfrm>
            <a:off x="1324383" y="3634381"/>
            <a:ext cx="7151960" cy="978634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>
              <a:lnSpc>
                <a:spcPct val="150000"/>
              </a:lnSpc>
              <a:spcBef>
                <a:spcPts val="71"/>
              </a:spcBef>
            </a:pPr>
            <a:r>
              <a:rPr lang="en-US" sz="2100" b="1" spc="-4">
                <a:latin typeface="黑体"/>
                <a:cs typeface="黑体"/>
              </a:rPr>
              <a:t>    </a:t>
            </a:r>
            <a:r>
              <a:rPr sz="2100" b="1" spc="-4">
                <a:latin typeface="黑体"/>
                <a:cs typeface="黑体"/>
              </a:rPr>
              <a:t>处于平衡状态的绳子中</a:t>
            </a:r>
            <a:r>
              <a:rPr sz="2100" b="1" spc="-4" dirty="0">
                <a:latin typeface="黑体"/>
                <a:cs typeface="黑体"/>
              </a:rPr>
              <a:t>，每一段所受的合力必须为零。然而</a:t>
            </a:r>
            <a:r>
              <a:rPr sz="2100" b="1" spc="-4">
                <a:latin typeface="黑体"/>
                <a:cs typeface="黑体"/>
              </a:rPr>
              <a:t>，如果张力</a:t>
            </a:r>
            <a:r>
              <a:rPr sz="2100" b="1" spc="-15">
                <a:latin typeface="黑体"/>
                <a:cs typeface="黑体"/>
              </a:rPr>
              <a:t>太</a:t>
            </a:r>
            <a:r>
              <a:rPr sz="2100" b="1" spc="-4">
                <a:latin typeface="黑体"/>
                <a:cs typeface="黑体"/>
              </a:rPr>
              <a:t>大</a:t>
            </a:r>
            <a:r>
              <a:rPr sz="2100" b="1" spc="-4" dirty="0">
                <a:latin typeface="黑体"/>
                <a:cs typeface="黑体"/>
              </a:rPr>
              <a:t>，达到断裂强度</a:t>
            </a:r>
            <a:r>
              <a:rPr sz="2100" b="1" spc="-4">
                <a:latin typeface="黑体"/>
                <a:cs typeface="黑体"/>
              </a:rPr>
              <a:t>，绳子会断</a:t>
            </a:r>
            <a:r>
              <a:rPr sz="2100" b="1" spc="-15" dirty="0">
                <a:latin typeface="黑体"/>
                <a:cs typeface="黑体"/>
              </a:rPr>
              <a:t>。</a:t>
            </a:r>
            <a:endParaRPr sz="2100">
              <a:latin typeface="黑体"/>
              <a:cs typeface="黑体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5172484" y="731015"/>
            <a:ext cx="739916" cy="1169159"/>
            <a:chOff x="5372645" y="1013391"/>
            <a:chExt cx="986555" cy="1558878"/>
          </a:xfrm>
        </p:grpSpPr>
        <p:cxnSp>
          <p:nvCxnSpPr>
            <p:cNvPr id="3" name="直接箭头连接符 2"/>
            <p:cNvCxnSpPr/>
            <p:nvPr/>
          </p:nvCxnSpPr>
          <p:spPr bwMode="auto">
            <a:xfrm flipV="1">
              <a:off x="5557486" y="1719868"/>
              <a:ext cx="0" cy="852401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graphicFrame>
          <p:nvGraphicFramePr>
            <p:cNvPr id="2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4984204"/>
                </p:ext>
              </p:extLst>
            </p:nvPr>
          </p:nvGraphicFramePr>
          <p:xfrm>
            <a:off x="5372645" y="1013391"/>
            <a:ext cx="986555" cy="568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36" name="Equation" r:id="rId3" imgW="393480" imgH="228600" progId="Equation.DSMT4">
                    <p:embed/>
                  </p:oleObj>
                </mc:Choice>
                <mc:Fallback>
                  <p:oleObj name="Equation" r:id="rId3" imgW="393480" imgH="228600" progId="Equation.DSMT4">
                    <p:embed/>
                    <p:pic>
                      <p:nvPicPr>
                        <p:cNvPr id="1331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2645" y="1013391"/>
                          <a:ext cx="986555" cy="56805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组合 58"/>
          <p:cNvGrpSpPr/>
          <p:nvPr/>
        </p:nvGrpSpPr>
        <p:grpSpPr>
          <a:xfrm>
            <a:off x="5210176" y="2079286"/>
            <a:ext cx="1289447" cy="1246631"/>
            <a:chOff x="5422901" y="2811085"/>
            <a:chExt cx="1719262" cy="1662175"/>
          </a:xfrm>
        </p:grpSpPr>
        <p:cxnSp>
          <p:nvCxnSpPr>
            <p:cNvPr id="38" name="直接箭头连接符 37"/>
            <p:cNvCxnSpPr/>
            <p:nvPr/>
          </p:nvCxnSpPr>
          <p:spPr bwMode="auto">
            <a:xfrm>
              <a:off x="5557486" y="2811085"/>
              <a:ext cx="0" cy="852401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graphicFrame>
          <p:nvGraphicFramePr>
            <p:cNvPr id="3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3901720"/>
                </p:ext>
              </p:extLst>
            </p:nvPr>
          </p:nvGraphicFramePr>
          <p:xfrm>
            <a:off x="5422901" y="3493772"/>
            <a:ext cx="1719262" cy="979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37" name="Equation" r:id="rId5" imgW="685800" imgH="393480" progId="Equation.DSMT4">
                    <p:embed/>
                  </p:oleObj>
                </mc:Choice>
                <mc:Fallback>
                  <p:oleObj name="Equation" r:id="rId5" imgW="685800" imgH="393480" progId="Equation.DSMT4">
                    <p:embed/>
                    <p:pic>
                      <p:nvPicPr>
                        <p:cNvPr id="2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2901" y="3493772"/>
                          <a:ext cx="1719262" cy="97948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/>
          <p:cNvGrpSpPr/>
          <p:nvPr/>
        </p:nvGrpSpPr>
        <p:grpSpPr>
          <a:xfrm>
            <a:off x="5257500" y="1604364"/>
            <a:ext cx="383398" cy="793882"/>
            <a:chOff x="5486000" y="2177856"/>
            <a:chExt cx="511197" cy="1058509"/>
          </a:xfrm>
        </p:grpSpPr>
        <p:cxnSp>
          <p:nvCxnSpPr>
            <p:cNvPr id="28" name="直接连接符 27"/>
            <p:cNvCxnSpPr/>
            <p:nvPr/>
          </p:nvCxnSpPr>
          <p:spPr bwMode="auto">
            <a:xfrm>
              <a:off x="5496160" y="2186356"/>
              <a:ext cx="37992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/>
          </p:nvCxnSpPr>
          <p:spPr bwMode="auto">
            <a:xfrm>
              <a:off x="5541922" y="3227760"/>
              <a:ext cx="37992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" name="object 44"/>
            <p:cNvSpPr/>
            <p:nvPr/>
          </p:nvSpPr>
          <p:spPr>
            <a:xfrm>
              <a:off x="5486000" y="2177856"/>
              <a:ext cx="136871" cy="1058509"/>
            </a:xfrm>
            <a:prstGeom prst="rect">
              <a:avLst/>
            </a:prstGeom>
            <a:blipFill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40000" contrast="-2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6" t="-99581" r="-19885" b="-3"/>
              </a:stretch>
            </a:blip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 flipV="1">
              <a:off x="5818541" y="2193220"/>
              <a:ext cx="0" cy="103681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graphicFrame>
          <p:nvGraphicFramePr>
            <p:cNvPr id="4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1772676"/>
                </p:ext>
              </p:extLst>
            </p:nvPr>
          </p:nvGraphicFramePr>
          <p:xfrm>
            <a:off x="5707336" y="2542750"/>
            <a:ext cx="289861" cy="3159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38" name="Equation" r:id="rId9" imgW="126720" imgH="139680" progId="Equation.DSMT4">
                    <p:embed/>
                  </p:oleObj>
                </mc:Choice>
                <mc:Fallback>
                  <p:oleObj name="Equation" r:id="rId9" imgW="126720" imgH="139680" progId="Equation.DSMT4">
                    <p:embed/>
                    <p:pic>
                      <p:nvPicPr>
                        <p:cNvPr id="4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7336" y="2542750"/>
                          <a:ext cx="289861" cy="3159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/>
          <p:cNvGrpSpPr/>
          <p:nvPr/>
        </p:nvGrpSpPr>
        <p:grpSpPr>
          <a:xfrm>
            <a:off x="2058293" y="599601"/>
            <a:ext cx="1963122" cy="1824877"/>
            <a:chOff x="1220391" y="799468"/>
            <a:chExt cx="2617496" cy="2433169"/>
          </a:xfrm>
        </p:grpSpPr>
        <p:grpSp>
          <p:nvGrpSpPr>
            <p:cNvPr id="36" name="组合 35"/>
            <p:cNvGrpSpPr/>
            <p:nvPr/>
          </p:nvGrpSpPr>
          <p:grpSpPr>
            <a:xfrm>
              <a:off x="1220391" y="799468"/>
              <a:ext cx="2617496" cy="2433169"/>
              <a:chOff x="2438465" y="1158214"/>
              <a:chExt cx="2014727" cy="1872849"/>
            </a:xfrm>
          </p:grpSpPr>
          <p:sp>
            <p:nvSpPr>
              <p:cNvPr id="16" name="object 44"/>
              <p:cNvSpPr/>
              <p:nvPr/>
            </p:nvSpPr>
            <p:spPr>
              <a:xfrm>
                <a:off x="3563888" y="1404956"/>
                <a:ext cx="111252" cy="1626107"/>
              </a:xfrm>
              <a:prstGeom prst="rect">
                <a:avLst/>
              </a:prstGeom>
              <a:blipFill>
                <a:blip r:embed="rId7" cstate="print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rightnessContrast bright="40000" contrast="-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15" name="object 43"/>
              <p:cNvSpPr/>
              <p:nvPr/>
            </p:nvSpPr>
            <p:spPr>
              <a:xfrm>
                <a:off x="2438465" y="1158214"/>
                <a:ext cx="2014727" cy="681661"/>
              </a:xfrm>
              <a:prstGeom prst="rect">
                <a:avLst/>
              </a:prstGeom>
              <a:blipFill>
                <a:blip r:embed="rId11" cstate="print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backgroundRemoval t="60519" b="95584" l="9917" r="89876">
                              <a14:foregroundMark x1="41942" y1="60519" x2="41942" y2="60519"/>
                              <a14:foregroundMark x1="29132" y1="62597" x2="29132" y2="62597"/>
                              <a14:backgroundMark x1="34504" y1="57662" x2="34504" y2="57662"/>
                              <a14:backgroundMark x1="35124" y1="58442" x2="35124" y2="58442"/>
                              <a14:backgroundMark x1="36777" y1="58701" x2="36777" y2="58701"/>
                            </a14:backgroundRemoval>
                          </a14:imgEffect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t="-134525" b="-1"/>
                </a:stretch>
              </a:blip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20" name="object 48"/>
              <p:cNvSpPr txBox="1"/>
              <p:nvPr/>
            </p:nvSpPr>
            <p:spPr>
              <a:xfrm>
                <a:off x="3014587" y="1963944"/>
                <a:ext cx="231775" cy="354856"/>
              </a:xfrm>
              <a:prstGeom prst="rect">
                <a:avLst/>
              </a:prstGeom>
            </p:spPr>
            <p:txBody>
              <a:bodyPr vert="horz" wrap="square" lIns="0" tIns="10953" rIns="0" bIns="0" rtlCol="0">
                <a:spAutoFit/>
              </a:bodyPr>
              <a:lstStyle/>
              <a:p>
                <a:pPr marL="9525">
                  <a:spcBef>
                    <a:spcPts val="86"/>
                  </a:spcBef>
                </a:pPr>
                <a:r>
                  <a:rPr sz="2175" i="1" spc="4" dirty="0">
                    <a:latin typeface="Times New Roman"/>
                    <a:cs typeface="Times New Roman"/>
                  </a:rPr>
                  <a:t>L</a:t>
                </a:r>
                <a:endParaRPr sz="2175">
                  <a:latin typeface="Times New Roman"/>
                  <a:cs typeface="Times New Roman"/>
                </a:endParaRPr>
              </a:p>
            </p:txBody>
          </p:sp>
        </p:grpSp>
        <p:cxnSp>
          <p:nvCxnSpPr>
            <p:cNvPr id="40" name="直接箭头连接符 39"/>
            <p:cNvCxnSpPr/>
            <p:nvPr/>
          </p:nvCxnSpPr>
          <p:spPr bwMode="auto">
            <a:xfrm flipV="1">
              <a:off x="2915313" y="2193220"/>
              <a:ext cx="0" cy="103681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graphicFrame>
          <p:nvGraphicFramePr>
            <p:cNvPr id="4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3654836"/>
                </p:ext>
              </p:extLst>
            </p:nvPr>
          </p:nvGraphicFramePr>
          <p:xfrm>
            <a:off x="2804108" y="2542750"/>
            <a:ext cx="289861" cy="3159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39" name="Equation" r:id="rId13" imgW="126720" imgH="139680" progId="Equation.DSMT4">
                    <p:embed/>
                  </p:oleObj>
                </mc:Choice>
                <mc:Fallback>
                  <p:oleObj name="Equation" r:id="rId13" imgW="126720" imgH="139680" progId="Equation.DSMT4">
                    <p:embed/>
                    <p:pic>
                      <p:nvPicPr>
                        <p:cNvPr id="3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4108" y="2542750"/>
                          <a:ext cx="289861" cy="3159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直接连接符 48"/>
            <p:cNvCxnSpPr/>
            <p:nvPr/>
          </p:nvCxnSpPr>
          <p:spPr bwMode="auto">
            <a:xfrm>
              <a:off x="2759076" y="2186356"/>
              <a:ext cx="37992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/>
          </p:nvCxnSpPr>
          <p:spPr bwMode="auto">
            <a:xfrm>
              <a:off x="2306320" y="3227760"/>
              <a:ext cx="78764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箭头连接符 51"/>
            <p:cNvCxnSpPr/>
            <p:nvPr/>
          </p:nvCxnSpPr>
          <p:spPr bwMode="auto">
            <a:xfrm flipV="1">
              <a:off x="2447953" y="1137534"/>
              <a:ext cx="0" cy="20924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 bwMode="auto">
            <a:xfrm>
              <a:off x="2306320" y="1132454"/>
              <a:ext cx="4127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4094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96EB16-23B2-49A8-B5EC-67CDF825BE6A}" type="slidenum">
              <a:rPr lang="zh-CN" altLang="en-US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8439" name="Text Box 2"/>
          <p:cNvSpPr txBox="1">
            <a:spLocks noChangeArrowheads="1"/>
          </p:cNvSpPr>
          <p:nvPr/>
        </p:nvSpPr>
        <p:spPr bwMode="auto">
          <a:xfrm>
            <a:off x="502274" y="601000"/>
            <a:ext cx="2106215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三、摩擦力</a:t>
            </a:r>
            <a:endParaRPr lang="zh-CN" altLang="en-US" sz="2700" b="1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247323" y="1565411"/>
            <a:ext cx="2354317" cy="560785"/>
            <a:chOff x="0" y="-12"/>
            <a:chExt cx="1927" cy="459"/>
          </a:xfrm>
        </p:grpSpPr>
        <p:graphicFrame>
          <p:nvGraphicFramePr>
            <p:cNvPr id="1843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1820382"/>
                </p:ext>
              </p:extLst>
            </p:nvPr>
          </p:nvGraphicFramePr>
          <p:xfrm>
            <a:off x="1105" y="-12"/>
            <a:ext cx="822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82" name="Equation" r:id="rId3" imgW="444240" imgH="228600" progId="Equation.DSMT4">
                    <p:embed/>
                  </p:oleObj>
                </mc:Choice>
                <mc:Fallback>
                  <p:oleObj name="Equation" r:id="rId3" imgW="444240" imgH="2286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5" y="-12"/>
                          <a:ext cx="822" cy="4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9" name="Text Box 5"/>
            <p:cNvSpPr txBox="1">
              <a:spLocks noChangeArrowheads="1"/>
            </p:cNvSpPr>
            <p:nvPr/>
          </p:nvSpPr>
          <p:spPr bwMode="auto">
            <a:xfrm>
              <a:off x="0" y="41"/>
              <a:ext cx="12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FF"/>
                  </a:solidFill>
                  <a:latin typeface="宋体" pitchFamily="2" charset="-122"/>
                </a:rPr>
                <a:t>一般情况 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979712" y="1257301"/>
            <a:ext cx="3534970" cy="554831"/>
            <a:chOff x="0" y="0"/>
            <a:chExt cx="2969" cy="466"/>
          </a:xfrm>
        </p:grpSpPr>
        <p:graphicFrame>
          <p:nvGraphicFramePr>
            <p:cNvPr id="1843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4474877"/>
                </p:ext>
              </p:extLst>
            </p:nvPr>
          </p:nvGraphicFramePr>
          <p:xfrm>
            <a:off x="1800" y="26"/>
            <a:ext cx="1169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83" r:id="rId5" imgW="584264" imgH="228818" progId="Equation.3">
                    <p:embed/>
                  </p:oleObj>
                </mc:Choice>
                <mc:Fallback>
                  <p:oleObj r:id="rId5" imgW="584264" imgH="22881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0" y="26"/>
                          <a:ext cx="1169" cy="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8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172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滑动</a:t>
              </a:r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摩擦力</a:t>
              </a:r>
              <a:endParaRPr lang="zh-CN" altLang="en-US" b="1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965198" y="2167683"/>
            <a:ext cx="3725467" cy="485775"/>
            <a:chOff x="0" y="0"/>
            <a:chExt cx="3129" cy="408"/>
          </a:xfrm>
        </p:grpSpPr>
        <p:graphicFrame>
          <p:nvGraphicFramePr>
            <p:cNvPr id="1843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730862"/>
                </p:ext>
              </p:extLst>
            </p:nvPr>
          </p:nvGraphicFramePr>
          <p:xfrm>
            <a:off x="1814" y="38"/>
            <a:ext cx="1315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84" r:id="rId7" imgW="1460183" imgH="381152" progId="Equation.3">
                    <p:embed/>
                  </p:oleObj>
                </mc:Choice>
                <mc:Fallback>
                  <p:oleObj r:id="rId7" imgW="1460183" imgH="381152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4" y="38"/>
                          <a:ext cx="1315" cy="3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7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171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</a:rPr>
                <a:t>最大静</a:t>
              </a:r>
              <a:r>
                <a:rPr lang="zh-CN" altLang="en-US" b="1">
                  <a:solidFill>
                    <a:srgbClr val="000000"/>
                  </a:solidFill>
                </a:rPr>
                <a:t>摩擦力</a:t>
              </a:r>
            </a:p>
          </p:txBody>
        </p:sp>
      </p:grpSp>
      <p:grpSp>
        <p:nvGrpSpPr>
          <p:cNvPr id="18444" name="Group 13"/>
          <p:cNvGrpSpPr>
            <a:grpSpLocks/>
          </p:cNvGrpSpPr>
          <p:nvPr/>
        </p:nvGrpSpPr>
        <p:grpSpPr bwMode="auto">
          <a:xfrm>
            <a:off x="1950684" y="3009009"/>
            <a:ext cx="3449241" cy="527447"/>
            <a:chOff x="0" y="-55"/>
            <a:chExt cx="2897" cy="443"/>
          </a:xfrm>
        </p:grpSpPr>
        <p:sp>
          <p:nvSpPr>
            <p:cNvPr id="18446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134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宋体" pitchFamily="2" charset="-122"/>
                </a:rPr>
                <a:t>关系：</a:t>
              </a:r>
              <a:endParaRPr lang="zh-CN" altLang="en-US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graphicFrame>
          <p:nvGraphicFramePr>
            <p:cNvPr id="1843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7897084"/>
                </p:ext>
              </p:extLst>
            </p:nvPr>
          </p:nvGraphicFramePr>
          <p:xfrm>
            <a:off x="1748" y="-55"/>
            <a:ext cx="1149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85" name="Equation" r:id="rId9" imgW="571320" imgH="228600" progId="Equation.DSMT4">
                    <p:embed/>
                  </p:oleObj>
                </mc:Choice>
                <mc:Fallback>
                  <p:oleObj name="Equation" r:id="rId9" imgW="571320" imgH="2286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8" y="-55"/>
                          <a:ext cx="1149" cy="4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979712" y="3892008"/>
            <a:ext cx="52059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方向：</a:t>
            </a:r>
            <a:r>
              <a:rPr lang="zh-CN" altLang="en-US" b="1">
                <a:latin typeface="宋体" pitchFamily="2" charset="-122"/>
              </a:rPr>
              <a:t>阻碍相对滑动（趋势）</a:t>
            </a:r>
            <a:endParaRPr lang="zh-CN" altLang="en-US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6B491F-791E-470B-AD41-7B6493C37E5A}" type="slidenum">
              <a:rPr lang="zh-CN" altLang="en-US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802482" y="2860091"/>
            <a:ext cx="232291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二、解题步骤 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820341" y="1126316"/>
            <a:ext cx="5400675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一、质点动力学两类常见问题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16943" y="1707357"/>
            <a:ext cx="5449948" cy="646331"/>
            <a:chOff x="2216943" y="1707357"/>
            <a:chExt cx="5449948" cy="646331"/>
          </a:xfrm>
        </p:grpSpPr>
        <p:sp>
          <p:nvSpPr>
            <p:cNvPr id="66563" name="Text Box 3"/>
            <p:cNvSpPr txBox="1">
              <a:spLocks noChangeArrowheads="1"/>
            </p:cNvSpPr>
            <p:nvPr/>
          </p:nvSpPr>
          <p:spPr bwMode="auto">
            <a:xfrm>
              <a:off x="2216943" y="1707357"/>
              <a:ext cx="3228975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lnSpc>
                  <a:spcPct val="150000"/>
                </a:lnSpc>
                <a:buClr>
                  <a:srgbClr val="990099"/>
                </a:buClr>
                <a:buFont typeface="Wingdings" pitchFamily="2" charset="2"/>
                <a:buChar char="Ø"/>
              </a:pPr>
              <a:r>
                <a:rPr lang="zh-CN" altLang="en-US" b="1">
                  <a:solidFill>
                    <a:schemeClr val="folHlink"/>
                  </a:solidFill>
                  <a:latin typeface="宋体" pitchFamily="2" charset="-122"/>
                </a:rPr>
                <a:t> </a:t>
              </a:r>
              <a:r>
                <a:rPr lang="zh-CN" altLang="en-US" b="1">
                  <a:latin typeface="宋体" pitchFamily="2" charset="-122"/>
                </a:rPr>
                <a:t>已知力求运动方</a:t>
              </a:r>
              <a:r>
                <a:rPr lang="zh-CN" altLang="en-US" b="1" smtClean="0">
                  <a:latin typeface="宋体" pitchFamily="2" charset="-122"/>
                </a:rPr>
                <a:t>程</a:t>
              </a:r>
              <a:endParaRPr lang="zh-CN" altLang="en-US" b="1">
                <a:latin typeface="宋体" pitchFamily="2" charset="-122"/>
              </a:endParaRPr>
            </a:p>
          </p:txBody>
        </p:sp>
        <p:graphicFrame>
          <p:nvGraphicFramePr>
            <p:cNvPr id="6656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9120852"/>
                </p:ext>
              </p:extLst>
            </p:nvPr>
          </p:nvGraphicFramePr>
          <p:xfrm>
            <a:off x="5323741" y="1871663"/>
            <a:ext cx="234315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9" name="Equation" r:id="rId3" imgW="2120760" imgH="330120" progId="Equation.DSMT4">
                    <p:embed/>
                  </p:oleObj>
                </mc:Choice>
                <mc:Fallback>
                  <p:oleObj name="Equation" r:id="rId3" imgW="2120760" imgH="33012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3741" y="1871663"/>
                          <a:ext cx="2343150" cy="365125"/>
                        </a:xfrm>
                        <a:prstGeom prst="rect">
                          <a:avLst/>
                        </a:prstGeom>
                        <a:noFill/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2163366" y="3458254"/>
            <a:ext cx="5486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zh-CN" altLang="en-US" b="1">
                <a:latin typeface="宋体" pitchFamily="2" charset="-122"/>
              </a:rPr>
              <a:t>隔离物体    受力分析    建立坐标  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b="1">
                <a:latin typeface="宋体" pitchFamily="2" charset="-122"/>
              </a:rPr>
              <a:t>    列方程    解方程    结果讨论</a:t>
            </a:r>
          </a:p>
        </p:txBody>
      </p:sp>
      <p:sp>
        <p:nvSpPr>
          <p:cNvPr id="66567" name="AutoShape 7"/>
          <p:cNvSpPr>
            <a:spLocks noChangeArrowheads="1"/>
          </p:cNvSpPr>
          <p:nvPr/>
        </p:nvSpPr>
        <p:spPr bwMode="auto">
          <a:xfrm>
            <a:off x="3520679" y="3727335"/>
            <a:ext cx="529828" cy="91679"/>
          </a:xfrm>
          <a:prstGeom prst="rightArrow">
            <a:avLst>
              <a:gd name="adj1" fmla="val 50000"/>
              <a:gd name="adj2" fmla="val 144480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6568" name="AutoShape 8"/>
          <p:cNvSpPr>
            <a:spLocks noChangeArrowheads="1"/>
          </p:cNvSpPr>
          <p:nvPr/>
        </p:nvSpPr>
        <p:spPr bwMode="auto">
          <a:xfrm>
            <a:off x="2264569" y="4178582"/>
            <a:ext cx="529829" cy="91678"/>
          </a:xfrm>
          <a:prstGeom prst="rightArrow">
            <a:avLst>
              <a:gd name="adj1" fmla="val 50000"/>
              <a:gd name="adj2" fmla="val 144481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6569" name="AutoShape 9"/>
          <p:cNvSpPr>
            <a:spLocks noChangeArrowheads="1"/>
          </p:cNvSpPr>
          <p:nvPr/>
        </p:nvSpPr>
        <p:spPr bwMode="auto">
          <a:xfrm>
            <a:off x="3840956" y="4178582"/>
            <a:ext cx="529829" cy="91678"/>
          </a:xfrm>
          <a:prstGeom prst="rightArrow">
            <a:avLst>
              <a:gd name="adj1" fmla="val 50000"/>
              <a:gd name="adj2" fmla="val 144481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6570" name="AutoShape 10"/>
          <p:cNvSpPr>
            <a:spLocks noChangeArrowheads="1"/>
          </p:cNvSpPr>
          <p:nvPr/>
        </p:nvSpPr>
        <p:spPr bwMode="auto">
          <a:xfrm>
            <a:off x="5363766" y="4165485"/>
            <a:ext cx="529828" cy="91679"/>
          </a:xfrm>
          <a:prstGeom prst="rightArrow">
            <a:avLst>
              <a:gd name="adj1" fmla="val 50000"/>
              <a:gd name="adj2" fmla="val 144480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6571" name="AutoShape 11"/>
          <p:cNvSpPr>
            <a:spLocks noChangeArrowheads="1"/>
          </p:cNvSpPr>
          <p:nvPr/>
        </p:nvSpPr>
        <p:spPr bwMode="auto">
          <a:xfrm>
            <a:off x="5363766" y="3727335"/>
            <a:ext cx="529828" cy="91679"/>
          </a:xfrm>
          <a:prstGeom prst="rightArrow">
            <a:avLst>
              <a:gd name="adj1" fmla="val 50000"/>
              <a:gd name="adj2" fmla="val 144480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8070" name="Text Box 6">
            <a:hlinkClick r:id="rId5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141935" y="395570"/>
            <a:ext cx="48339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2-4</a:t>
            </a:r>
            <a:r>
              <a:rPr lang="zh-CN" altLang="en-US" b="1">
                <a:ea typeface="华文中宋" pitchFamily="2" charset="-122"/>
              </a:rPr>
              <a:t>　牛顿定律的应用举例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16943" y="2247039"/>
            <a:ext cx="5432823" cy="610291"/>
            <a:chOff x="2216943" y="2247039"/>
            <a:chExt cx="5432823" cy="610291"/>
          </a:xfrm>
        </p:grpSpPr>
        <p:graphicFrame>
          <p:nvGraphicFramePr>
            <p:cNvPr id="1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8814980"/>
                </p:ext>
              </p:extLst>
            </p:nvPr>
          </p:nvGraphicFramePr>
          <p:xfrm>
            <a:off x="5347891" y="2411243"/>
            <a:ext cx="2301875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40" name="Equation" r:id="rId6" imgW="1955520" imgH="380880" progId="Equation.DSMT4">
                    <p:embed/>
                  </p:oleObj>
                </mc:Choice>
                <mc:Fallback>
                  <p:oleObj name="Equation" r:id="rId6" imgW="1955520" imgH="380880" progId="Equation.DSMT4">
                    <p:embed/>
                    <p:pic>
                      <p:nvPicPr>
                        <p:cNvPr id="6656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7891" y="2411243"/>
                          <a:ext cx="2301875" cy="44608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3"/>
            <p:cNvSpPr txBox="1">
              <a:spLocks noChangeArrowheads="1"/>
            </p:cNvSpPr>
            <p:nvPr/>
          </p:nvSpPr>
          <p:spPr bwMode="auto">
            <a:xfrm>
              <a:off x="2216943" y="2247039"/>
              <a:ext cx="3228975" cy="559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lnSpc>
                  <a:spcPct val="150000"/>
                </a:lnSpc>
                <a:buClr>
                  <a:srgbClr val="990099"/>
                </a:buClr>
                <a:buFont typeface="Wingdings" pitchFamily="2" charset="2"/>
                <a:buChar char="Ø"/>
              </a:pPr>
              <a:r>
                <a:rPr lang="zh-CN" altLang="en-US" b="1" smtClean="0">
                  <a:latin typeface="宋体" pitchFamily="2" charset="-122"/>
                </a:rPr>
                <a:t>已</a:t>
              </a:r>
              <a:r>
                <a:rPr lang="zh-CN" altLang="en-US" b="1">
                  <a:latin typeface="宋体" pitchFamily="2" charset="-122"/>
                </a:rPr>
                <a:t>知运动方程求力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64" grpId="0" autoUpdateAnimBg="0"/>
      <p:bldP spid="66566" grpId="0"/>
      <p:bldP spid="66567" grpId="0" animBg="1"/>
      <p:bldP spid="66568" grpId="0" animBg="1"/>
      <p:bldP spid="66569" grpId="0" animBg="1"/>
      <p:bldP spid="66570" grpId="0" animBg="1"/>
      <p:bldP spid="6657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4260AA-1210-4AB3-8FAC-C1B1F2C587D4}" type="slidenum">
              <a:rPr lang="zh-CN" altLang="en-US"/>
              <a:pPr>
                <a:defRPr/>
              </a:pPr>
              <a:t>25</a:t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490651" y="1574612"/>
            <a:ext cx="5947320" cy="1421928"/>
            <a:chOff x="379141" y="1463102"/>
            <a:chExt cx="5947320" cy="1421928"/>
          </a:xfrm>
        </p:grpSpPr>
        <p:sp>
          <p:nvSpPr>
            <p:cNvPr id="24582" name="Text Box 2"/>
            <p:cNvSpPr txBox="1">
              <a:spLocks noChangeArrowheads="1"/>
            </p:cNvSpPr>
            <p:nvPr/>
          </p:nvSpPr>
          <p:spPr bwMode="auto">
            <a:xfrm>
              <a:off x="379141" y="1463102"/>
              <a:ext cx="5947320" cy="1421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CC0000"/>
                  </a:solidFill>
                  <a:latin typeface="宋体" pitchFamily="2" charset="-122"/>
                </a:rPr>
                <a:t>　　</a:t>
              </a:r>
              <a:r>
                <a:rPr lang="zh-CN" altLang="en-US" b="1" dirty="0">
                  <a:latin typeface="宋体" pitchFamily="2" charset="-122"/>
                </a:rPr>
                <a:t>如图所示滑轮和绳子的质量均</a:t>
              </a:r>
              <a:r>
                <a:rPr lang="zh-CN" altLang="en-US" b="1" dirty="0">
                  <a:solidFill>
                    <a:srgbClr val="0000FF"/>
                  </a:solidFill>
                  <a:latin typeface="宋体" pitchFamily="2" charset="-122"/>
                </a:rPr>
                <a:t>不计</a:t>
              </a:r>
              <a:r>
                <a:rPr lang="zh-CN" altLang="en-US" b="1" dirty="0">
                  <a:latin typeface="宋体" pitchFamily="2" charset="-122"/>
                </a:rPr>
                <a:t>，滑轮与绳间的摩擦力以及滑轮与轴间的摩擦力均</a:t>
              </a:r>
              <a:r>
                <a:rPr lang="zh-CN" altLang="en-US" b="1" dirty="0">
                  <a:solidFill>
                    <a:srgbClr val="0000FF"/>
                  </a:solidFill>
                  <a:latin typeface="宋体" pitchFamily="2" charset="-122"/>
                </a:rPr>
                <a:t>不计</a:t>
              </a:r>
              <a:r>
                <a:rPr lang="en-US" altLang="zh-CN" b="1" dirty="0">
                  <a:latin typeface="宋体" pitchFamily="2" charset="-122"/>
                </a:rPr>
                <a:t>,</a:t>
              </a:r>
              <a:r>
                <a:rPr lang="zh-CN" altLang="en-US" b="1">
                  <a:latin typeface="宋体" pitchFamily="2" charset="-122"/>
                </a:rPr>
                <a:t>且       </a:t>
              </a:r>
              <a:r>
                <a:rPr lang="zh-CN" altLang="en-US" b="1" smtClean="0">
                  <a:latin typeface="宋体" pitchFamily="2" charset="-122"/>
                </a:rPr>
                <a:t>．</a:t>
              </a:r>
              <a:endParaRPr lang="zh-CN" altLang="en-US" b="1" dirty="0">
                <a:latin typeface="宋体" pitchFamily="2" charset="-122"/>
              </a:endParaRPr>
            </a:p>
          </p:txBody>
        </p:sp>
        <p:graphicFrame>
          <p:nvGraphicFramePr>
            <p:cNvPr id="2457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670692"/>
                </p:ext>
              </p:extLst>
            </p:nvPr>
          </p:nvGraphicFramePr>
          <p:xfrm>
            <a:off x="2499922" y="2389740"/>
            <a:ext cx="10858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83" r:id="rId4" imgW="799723" imgH="317542" progId="Equation.3">
                    <p:embed/>
                  </p:oleObj>
                </mc:Choice>
                <mc:Fallback>
                  <p:oleObj r:id="rId4" imgW="799723" imgH="317542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9922" y="2389740"/>
                          <a:ext cx="10858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3" name="Rectangle 4"/>
          <p:cNvSpPr>
            <a:spLocks noChangeArrowheads="1"/>
          </p:cNvSpPr>
          <p:nvPr/>
        </p:nvSpPr>
        <p:spPr bwMode="auto">
          <a:xfrm>
            <a:off x="-187829" y="783727"/>
            <a:ext cx="43207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　　例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　</a:t>
            </a:r>
            <a:r>
              <a:rPr lang="zh-CN" altLang="en-US" b="1">
                <a:latin typeface="宋体" pitchFamily="2" charset="-122"/>
              </a:rPr>
              <a:t>阿特伍德机</a:t>
            </a:r>
          </a:p>
        </p:txBody>
      </p:sp>
      <p:grpSp>
        <p:nvGrpSpPr>
          <p:cNvPr id="24584" name="Group 5"/>
          <p:cNvGrpSpPr>
            <a:grpSpLocks/>
          </p:cNvGrpSpPr>
          <p:nvPr/>
        </p:nvGrpSpPr>
        <p:grpSpPr bwMode="auto">
          <a:xfrm>
            <a:off x="7287419" y="1406843"/>
            <a:ext cx="826294" cy="1828800"/>
            <a:chOff x="178" y="88"/>
            <a:chExt cx="694" cy="1536"/>
          </a:xfrm>
        </p:grpSpPr>
        <p:sp>
          <p:nvSpPr>
            <p:cNvPr id="24586" name="Oval 7" descr="栎木"/>
            <p:cNvSpPr>
              <a:spLocks noChangeArrowheads="1"/>
            </p:cNvSpPr>
            <p:nvPr/>
          </p:nvSpPr>
          <p:spPr bwMode="auto">
            <a:xfrm>
              <a:off x="317" y="234"/>
              <a:ext cx="381" cy="380"/>
            </a:xfrm>
            <a:prstGeom prst="ellipse">
              <a:avLst/>
            </a:prstGeom>
            <a:blipFill dpi="0" rotWithShape="0">
              <a:blip r:embed="rId6" cstate="print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7592" name="AutoShape 8"/>
            <p:cNvSpPr>
              <a:spLocks noChangeArrowheads="1"/>
            </p:cNvSpPr>
            <p:nvPr/>
          </p:nvSpPr>
          <p:spPr bwMode="auto">
            <a:xfrm>
              <a:off x="472" y="146"/>
              <a:ext cx="59" cy="29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1">
                    <a:gamma/>
                    <a:tint val="43922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4588" name="Line 9"/>
            <p:cNvSpPr>
              <a:spLocks noChangeShapeType="1"/>
            </p:cNvSpPr>
            <p:nvPr/>
          </p:nvSpPr>
          <p:spPr bwMode="auto">
            <a:xfrm>
              <a:off x="698" y="421"/>
              <a:ext cx="0" cy="7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589" name="Rectangle 10"/>
            <p:cNvSpPr>
              <a:spLocks noChangeArrowheads="1"/>
            </p:cNvSpPr>
            <p:nvPr/>
          </p:nvSpPr>
          <p:spPr bwMode="auto">
            <a:xfrm>
              <a:off x="610" y="1082"/>
              <a:ext cx="176" cy="175"/>
            </a:xfrm>
            <a:prstGeom prst="rect">
              <a:avLst/>
            </a:prstGeom>
            <a:gradFill rotWithShape="0">
              <a:gsLst>
                <a:gs pos="0">
                  <a:srgbClr val="8F8FFF"/>
                </a:gs>
                <a:gs pos="100000">
                  <a:srgbClr val="0000FF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4579" name="Object 12"/>
            <p:cNvGraphicFramePr>
              <a:graphicFrameLocks noChangeAspect="1"/>
            </p:cNvGraphicFramePr>
            <p:nvPr/>
          </p:nvGraphicFramePr>
          <p:xfrm>
            <a:off x="230" y="1144"/>
            <a:ext cx="28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84" r:id="rId7" imgW="266670" imgH="317404" progId="Equation.3">
                    <p:embed/>
                  </p:oleObj>
                </mc:Choice>
                <mc:Fallback>
                  <p:oleObj r:id="rId7" imgW="266670" imgH="317404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" y="1144"/>
                          <a:ext cx="28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0" name="Object 13"/>
            <p:cNvGraphicFramePr>
              <a:graphicFrameLocks noChangeAspect="1"/>
            </p:cNvGraphicFramePr>
            <p:nvPr/>
          </p:nvGraphicFramePr>
          <p:xfrm>
            <a:off x="561" y="1288"/>
            <a:ext cx="31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85" r:id="rId9" imgW="292164" imgH="317542" progId="Equation.3">
                    <p:embed/>
                  </p:oleObj>
                </mc:Choice>
                <mc:Fallback>
                  <p:oleObj r:id="rId9" imgW="292164" imgH="317542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" y="1288"/>
                          <a:ext cx="311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Line 14"/>
            <p:cNvSpPr>
              <a:spLocks noChangeShapeType="1"/>
            </p:cNvSpPr>
            <p:nvPr/>
          </p:nvSpPr>
          <p:spPr bwMode="auto">
            <a:xfrm>
              <a:off x="319" y="416"/>
              <a:ext cx="0" cy="5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592" name="Rectangle 15" descr="深色上对角线"/>
            <p:cNvSpPr>
              <a:spLocks noChangeArrowheads="1"/>
            </p:cNvSpPr>
            <p:nvPr/>
          </p:nvSpPr>
          <p:spPr bwMode="auto">
            <a:xfrm>
              <a:off x="178" y="88"/>
              <a:ext cx="644" cy="77"/>
            </a:xfrm>
            <a:prstGeom prst="rect">
              <a:avLst/>
            </a:prstGeom>
            <a:blipFill dpi="0" rotWithShape="0">
              <a:blip r:embed="rId11" cstate="print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590" name="Rectangle 11"/>
            <p:cNvSpPr>
              <a:spLocks noChangeArrowheads="1"/>
            </p:cNvSpPr>
            <p:nvPr/>
          </p:nvSpPr>
          <p:spPr bwMode="auto">
            <a:xfrm>
              <a:off x="230" y="978"/>
              <a:ext cx="177" cy="175"/>
            </a:xfrm>
            <a:prstGeom prst="rect">
              <a:avLst/>
            </a:prstGeom>
            <a:gradFill rotWithShape="0">
              <a:gsLst>
                <a:gs pos="0">
                  <a:srgbClr val="FFBAA9"/>
                </a:gs>
                <a:gs pos="100000">
                  <a:srgbClr val="FF3300"/>
                </a:gs>
              </a:gsLst>
              <a:lin ang="5400000" scaled="1"/>
            </a:gradFill>
            <a:ln w="28575">
              <a:solidFill>
                <a:srgbClr val="8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490651" y="3549085"/>
            <a:ext cx="6969574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solidFill>
                  <a:srgbClr val="FF0000"/>
                </a:solidFill>
                <a:latin typeface="宋体" pitchFamily="2" charset="-122"/>
              </a:rPr>
              <a:t>求：</a:t>
            </a: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重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物</a:t>
            </a:r>
            <a:r>
              <a:rPr lang="zh-CN" altLang="en-US" b="1" dirty="0">
                <a:latin typeface="宋体" pitchFamily="2" charset="-122"/>
              </a:rPr>
              <a:t>释放后，物体的加速度和绳的张力．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148405"/>
              </p:ext>
            </p:extLst>
          </p:nvPr>
        </p:nvGraphicFramePr>
        <p:xfrm>
          <a:off x="1684378" y="1362462"/>
          <a:ext cx="2194322" cy="48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2" r:id="rId3" imgW="964262" imgH="215936" progId="Equation.3">
                  <p:embed/>
                </p:oleObj>
              </mc:Choice>
              <mc:Fallback>
                <p:oleObj r:id="rId3" imgW="964262" imgH="21593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78" y="1362462"/>
                        <a:ext cx="2194322" cy="4893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60932"/>
              </p:ext>
            </p:extLst>
          </p:nvPr>
        </p:nvGraphicFramePr>
        <p:xfrm>
          <a:off x="1684378" y="1903005"/>
          <a:ext cx="251817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3" r:id="rId5" imgW="1103780" imgH="215936" progId="Equation.3">
                  <p:embed/>
                </p:oleObj>
              </mc:Choice>
              <mc:Fallback>
                <p:oleObj r:id="rId5" imgW="1103780" imgH="21593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78" y="1903005"/>
                        <a:ext cx="2518172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686138"/>
              </p:ext>
            </p:extLst>
          </p:nvPr>
        </p:nvGraphicFramePr>
        <p:xfrm>
          <a:off x="1638776" y="3832105"/>
          <a:ext cx="1971199" cy="913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4" r:id="rId7" imgW="965098" imgH="431930" progId="Equation.3">
                  <p:embed/>
                </p:oleObj>
              </mc:Choice>
              <mc:Fallback>
                <p:oleObj r:id="rId7" imgW="965098" imgH="4319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776" y="3832105"/>
                        <a:ext cx="1971199" cy="91372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9" name="Text Box 5"/>
          <p:cNvSpPr txBox="1">
            <a:spLocks noChangeArrowheads="1"/>
          </p:cNvSpPr>
          <p:nvPr/>
        </p:nvSpPr>
        <p:spPr bwMode="auto">
          <a:xfrm>
            <a:off x="831889" y="564029"/>
            <a:ext cx="616255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解：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以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地面为参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考</a:t>
            </a: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系</a:t>
            </a:r>
            <a:r>
              <a:rPr lang="zh-CN" altLang="en-US" b="1">
                <a:latin typeface="宋体" pitchFamily="2" charset="-122"/>
              </a:rPr>
              <a:t>受力分析如图所示</a:t>
            </a:r>
            <a:r>
              <a:rPr lang="en-US" altLang="zh-CN" b="1">
                <a:latin typeface="宋体" pitchFamily="2" charset="-122"/>
              </a:rPr>
              <a:t>.</a:t>
            </a:r>
            <a:endParaRPr lang="zh-CN" altLang="en-US" b="1"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endParaRPr lang="zh-CN" altLang="en-US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68614" name="AutoShape 6"/>
          <p:cNvSpPr>
            <a:spLocks/>
          </p:cNvSpPr>
          <p:nvPr/>
        </p:nvSpPr>
        <p:spPr bwMode="auto">
          <a:xfrm>
            <a:off x="1398627" y="1601777"/>
            <a:ext cx="228600" cy="571500"/>
          </a:xfrm>
          <a:prstGeom prst="leftBrace">
            <a:avLst>
              <a:gd name="adj1" fmla="val 20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25622" name="Group 8"/>
          <p:cNvGrpSpPr>
            <a:grpSpLocks/>
          </p:cNvGrpSpPr>
          <p:nvPr/>
        </p:nvGrpSpPr>
        <p:grpSpPr bwMode="auto">
          <a:xfrm>
            <a:off x="6746798" y="521375"/>
            <a:ext cx="826294" cy="1828800"/>
            <a:chOff x="178" y="88"/>
            <a:chExt cx="694" cy="1536"/>
          </a:xfrm>
        </p:grpSpPr>
        <p:sp>
          <p:nvSpPr>
            <p:cNvPr id="25638" name="Oval 10" descr="栎木"/>
            <p:cNvSpPr>
              <a:spLocks noChangeArrowheads="1"/>
            </p:cNvSpPr>
            <p:nvPr/>
          </p:nvSpPr>
          <p:spPr bwMode="auto">
            <a:xfrm>
              <a:off x="317" y="234"/>
              <a:ext cx="381" cy="380"/>
            </a:xfrm>
            <a:prstGeom prst="ellipse">
              <a:avLst/>
            </a:prstGeom>
            <a:blipFill dpi="0" rotWithShape="0">
              <a:blip r:embed="rId9" cstate="print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8619" name="AutoShape 11"/>
            <p:cNvSpPr>
              <a:spLocks noChangeArrowheads="1"/>
            </p:cNvSpPr>
            <p:nvPr/>
          </p:nvSpPr>
          <p:spPr bwMode="auto">
            <a:xfrm>
              <a:off x="472" y="146"/>
              <a:ext cx="59" cy="29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1">
                    <a:gamma/>
                    <a:tint val="43922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5640" name="Line 12"/>
            <p:cNvSpPr>
              <a:spLocks noChangeShapeType="1"/>
            </p:cNvSpPr>
            <p:nvPr/>
          </p:nvSpPr>
          <p:spPr bwMode="auto">
            <a:xfrm>
              <a:off x="698" y="421"/>
              <a:ext cx="0" cy="7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641" name="Rectangle 13"/>
            <p:cNvSpPr>
              <a:spLocks noChangeArrowheads="1"/>
            </p:cNvSpPr>
            <p:nvPr/>
          </p:nvSpPr>
          <p:spPr bwMode="auto">
            <a:xfrm>
              <a:off x="610" y="1082"/>
              <a:ext cx="176" cy="175"/>
            </a:xfrm>
            <a:prstGeom prst="rect">
              <a:avLst/>
            </a:prstGeom>
            <a:gradFill rotWithShape="0">
              <a:gsLst>
                <a:gs pos="0">
                  <a:srgbClr val="8F8FFF"/>
                </a:gs>
                <a:gs pos="100000">
                  <a:srgbClr val="0000FF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5616" name="Object 15"/>
            <p:cNvGraphicFramePr>
              <a:graphicFrameLocks noChangeAspect="1"/>
            </p:cNvGraphicFramePr>
            <p:nvPr/>
          </p:nvGraphicFramePr>
          <p:xfrm>
            <a:off x="230" y="1144"/>
            <a:ext cx="28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65" r:id="rId10" imgW="266670" imgH="317404" progId="Equation.3">
                    <p:embed/>
                  </p:oleObj>
                </mc:Choice>
                <mc:Fallback>
                  <p:oleObj r:id="rId10" imgW="266670" imgH="317404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" y="1144"/>
                          <a:ext cx="28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7" name="Object 16"/>
            <p:cNvGraphicFramePr>
              <a:graphicFrameLocks noChangeAspect="1"/>
            </p:cNvGraphicFramePr>
            <p:nvPr/>
          </p:nvGraphicFramePr>
          <p:xfrm>
            <a:off x="561" y="1288"/>
            <a:ext cx="31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66" r:id="rId12" imgW="292164" imgH="317542" progId="Equation.3">
                    <p:embed/>
                  </p:oleObj>
                </mc:Choice>
                <mc:Fallback>
                  <p:oleObj r:id="rId12" imgW="292164" imgH="31754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" y="1288"/>
                          <a:ext cx="311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3" name="Line 17"/>
            <p:cNvSpPr>
              <a:spLocks noChangeShapeType="1"/>
            </p:cNvSpPr>
            <p:nvPr/>
          </p:nvSpPr>
          <p:spPr bwMode="auto">
            <a:xfrm>
              <a:off x="319" y="416"/>
              <a:ext cx="0" cy="5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644" name="Rectangle 18" descr="深色上对角线"/>
            <p:cNvSpPr>
              <a:spLocks noChangeArrowheads="1"/>
            </p:cNvSpPr>
            <p:nvPr/>
          </p:nvSpPr>
          <p:spPr bwMode="auto">
            <a:xfrm>
              <a:off x="178" y="88"/>
              <a:ext cx="644" cy="77"/>
            </a:xfrm>
            <a:prstGeom prst="rect">
              <a:avLst/>
            </a:prstGeom>
            <a:blipFill dpi="0" rotWithShape="0">
              <a:blip r:embed="rId14" cstate="print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642" name="Rectangle 14"/>
            <p:cNvSpPr>
              <a:spLocks noChangeArrowheads="1"/>
            </p:cNvSpPr>
            <p:nvPr/>
          </p:nvSpPr>
          <p:spPr bwMode="auto">
            <a:xfrm>
              <a:off x="230" y="978"/>
              <a:ext cx="177" cy="175"/>
            </a:xfrm>
            <a:prstGeom prst="rect">
              <a:avLst/>
            </a:prstGeom>
            <a:gradFill rotWithShape="0">
              <a:gsLst>
                <a:gs pos="0">
                  <a:srgbClr val="FFBAA9"/>
                </a:gs>
                <a:gs pos="100000">
                  <a:srgbClr val="FF3300"/>
                </a:gs>
              </a:gsLst>
              <a:lin ang="5400000" scaled="1"/>
            </a:gradFill>
            <a:ln w="28575">
              <a:solidFill>
                <a:srgbClr val="8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1345883" y="2837259"/>
            <a:ext cx="1982391" cy="1363266"/>
            <a:chOff x="0" y="34"/>
            <a:chExt cx="1665" cy="1145"/>
          </a:xfrm>
        </p:grpSpPr>
        <p:graphicFrame>
          <p:nvGraphicFramePr>
            <p:cNvPr id="25615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9439134"/>
                </p:ext>
              </p:extLst>
            </p:nvPr>
          </p:nvGraphicFramePr>
          <p:xfrm>
            <a:off x="256" y="34"/>
            <a:ext cx="1409" cy="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67" r:id="rId15" imgW="1396711" imgH="673125" progId="Equation.3">
                    <p:embed/>
                  </p:oleObj>
                </mc:Choice>
                <mc:Fallback>
                  <p:oleObj r:id="rId15" imgW="1396711" imgH="67312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" y="34"/>
                          <a:ext cx="1409" cy="70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6" name="AutoShape 21"/>
            <p:cNvSpPr>
              <a:spLocks/>
            </p:cNvSpPr>
            <p:nvPr/>
          </p:nvSpPr>
          <p:spPr bwMode="auto">
            <a:xfrm>
              <a:off x="0" y="363"/>
              <a:ext cx="192" cy="816"/>
            </a:xfrm>
            <a:prstGeom prst="leftBrace">
              <a:avLst>
                <a:gd name="adj1" fmla="val 3541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25625" name="Rectangle 23"/>
          <p:cNvSpPr>
            <a:spLocks noChangeArrowheads="1"/>
          </p:cNvSpPr>
          <p:nvPr/>
        </p:nvSpPr>
        <p:spPr bwMode="auto">
          <a:xfrm>
            <a:off x="6566275" y="3527703"/>
            <a:ext cx="210740" cy="208360"/>
          </a:xfrm>
          <a:prstGeom prst="rect">
            <a:avLst/>
          </a:prstGeom>
          <a:gradFill rotWithShape="0">
            <a:gsLst>
              <a:gs pos="0">
                <a:srgbClr val="FFBAA9"/>
              </a:gs>
              <a:gs pos="100000">
                <a:srgbClr val="FF3300"/>
              </a:gs>
            </a:gsLst>
            <a:lin ang="5400000" scaled="1"/>
          </a:gradFill>
          <a:ln w="28575">
            <a:solidFill>
              <a:srgbClr val="800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0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725150"/>
              </p:ext>
            </p:extLst>
          </p:nvPr>
        </p:nvGraphicFramePr>
        <p:xfrm>
          <a:off x="6418560" y="4142065"/>
          <a:ext cx="412873" cy="393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8" name="Equation" r:id="rId17" imgW="279360" imgH="228600" progId="Equation.DSMT4">
                  <p:embed/>
                </p:oleObj>
              </mc:Choice>
              <mc:Fallback>
                <p:oleObj name="Equation" r:id="rId17" imgW="27936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560" y="4142065"/>
                        <a:ext cx="412873" cy="3936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6" name="Line 25"/>
          <p:cNvSpPr>
            <a:spLocks noChangeShapeType="1"/>
          </p:cNvSpPr>
          <p:nvPr/>
        </p:nvSpPr>
        <p:spPr bwMode="auto">
          <a:xfrm>
            <a:off x="6680575" y="3608665"/>
            <a:ext cx="0" cy="6048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0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51075"/>
              </p:ext>
            </p:extLst>
          </p:nvPr>
        </p:nvGraphicFramePr>
        <p:xfrm>
          <a:off x="6488091" y="2803654"/>
          <a:ext cx="355836" cy="45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9" name="Equation" r:id="rId19" imgW="190440" imgH="228600" progId="Equation.DSMT4">
                  <p:embed/>
                </p:oleObj>
              </mc:Choice>
              <mc:Fallback>
                <p:oleObj name="Equation" r:id="rId19" imgW="19044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091" y="2803654"/>
                        <a:ext cx="355836" cy="4585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Line 27"/>
          <p:cNvSpPr>
            <a:spLocks noChangeShapeType="1"/>
          </p:cNvSpPr>
          <p:nvPr/>
        </p:nvSpPr>
        <p:spPr bwMode="auto">
          <a:xfrm flipV="1">
            <a:off x="6680575" y="3208615"/>
            <a:ext cx="0" cy="43338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7814787" y="3550325"/>
            <a:ext cx="209550" cy="208359"/>
          </a:xfrm>
          <a:prstGeom prst="rect">
            <a:avLst/>
          </a:prstGeom>
          <a:gradFill rotWithShape="0">
            <a:gsLst>
              <a:gs pos="0">
                <a:srgbClr val="8F8FFF"/>
              </a:gs>
              <a:gs pos="100000">
                <a:srgbClr val="0000FF"/>
              </a:gs>
            </a:gsLst>
            <a:lin ang="5400000" scaled="1"/>
          </a:gra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0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72898"/>
              </p:ext>
            </p:extLst>
          </p:nvPr>
        </p:nvGraphicFramePr>
        <p:xfrm>
          <a:off x="7730849" y="2810549"/>
          <a:ext cx="41810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0" name="Equation" r:id="rId21" imgW="228600" imgH="228600" progId="Equation.DSMT4">
                  <p:embed/>
                </p:oleObj>
              </mc:Choice>
              <mc:Fallback>
                <p:oleObj name="Equation" r:id="rId21" imgW="22860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0849" y="2810549"/>
                        <a:ext cx="418107" cy="409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9" name="Line 30"/>
          <p:cNvSpPr>
            <a:spLocks noChangeShapeType="1"/>
          </p:cNvSpPr>
          <p:nvPr/>
        </p:nvSpPr>
        <p:spPr bwMode="auto">
          <a:xfrm flipV="1">
            <a:off x="7923134" y="3255050"/>
            <a:ext cx="0" cy="466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5630" name="Line 31"/>
          <p:cNvSpPr>
            <a:spLocks noChangeShapeType="1"/>
          </p:cNvSpPr>
          <p:nvPr/>
        </p:nvSpPr>
        <p:spPr bwMode="auto">
          <a:xfrm>
            <a:off x="7923134" y="3661053"/>
            <a:ext cx="0" cy="51792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909895"/>
              </p:ext>
            </p:extLst>
          </p:nvPr>
        </p:nvGraphicFramePr>
        <p:xfrm>
          <a:off x="7679477" y="4150003"/>
          <a:ext cx="412012" cy="352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1" name="Equation" r:id="rId23" imgW="304560" imgH="228600" progId="Equation.DSMT4">
                  <p:embed/>
                </p:oleObj>
              </mc:Choice>
              <mc:Fallback>
                <p:oleObj name="Equation" r:id="rId23" imgW="30456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477" y="4150003"/>
                        <a:ext cx="412012" cy="35214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51309"/>
              </p:ext>
            </p:extLst>
          </p:nvPr>
        </p:nvGraphicFramePr>
        <p:xfrm>
          <a:off x="6182555" y="3226476"/>
          <a:ext cx="215504" cy="288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2" r:id="rId25" imgW="177809" imgH="190487" progId="Equation.3">
                  <p:embed/>
                </p:oleObj>
              </mc:Choice>
              <mc:Fallback>
                <p:oleObj r:id="rId25" imgW="177809" imgH="19048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555" y="3226476"/>
                        <a:ext cx="215504" cy="2881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1" name="Line 34"/>
          <p:cNvSpPr>
            <a:spLocks noChangeShapeType="1"/>
          </p:cNvSpPr>
          <p:nvPr/>
        </p:nvSpPr>
        <p:spPr bwMode="auto">
          <a:xfrm flipV="1">
            <a:off x="6337675" y="3516476"/>
            <a:ext cx="0" cy="4000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5632" name="Line 35"/>
          <p:cNvSpPr>
            <a:spLocks noChangeShapeType="1"/>
          </p:cNvSpPr>
          <p:nvPr/>
        </p:nvSpPr>
        <p:spPr bwMode="auto">
          <a:xfrm>
            <a:off x="5990070" y="3035975"/>
            <a:ext cx="0" cy="1257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1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141274"/>
              </p:ext>
            </p:extLst>
          </p:nvPr>
        </p:nvGraphicFramePr>
        <p:xfrm>
          <a:off x="5850768" y="4296846"/>
          <a:ext cx="25360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3" r:id="rId27" imgW="190734" imgH="241512" progId="Equation.3">
                  <p:embed/>
                </p:oleObj>
              </mc:Choice>
              <mc:Fallback>
                <p:oleObj r:id="rId27" imgW="190734" imgH="241512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0768" y="4296846"/>
                        <a:ext cx="253603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09315"/>
              </p:ext>
            </p:extLst>
          </p:nvPr>
        </p:nvGraphicFramePr>
        <p:xfrm>
          <a:off x="5882914" y="2746653"/>
          <a:ext cx="296466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4" r:id="rId29" imgW="127042" imgH="139714" progId="Equation.3">
                  <p:embed/>
                </p:oleObj>
              </mc:Choice>
              <mc:Fallback>
                <p:oleObj r:id="rId29" imgW="127042" imgH="139714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914" y="2746653"/>
                        <a:ext cx="296466" cy="3262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3" name="Line 38"/>
          <p:cNvSpPr>
            <a:spLocks noChangeShapeType="1"/>
          </p:cNvSpPr>
          <p:nvPr/>
        </p:nvSpPr>
        <p:spPr bwMode="auto">
          <a:xfrm flipV="1">
            <a:off x="7610851" y="3182934"/>
            <a:ext cx="0" cy="4572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1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939134"/>
              </p:ext>
            </p:extLst>
          </p:nvPr>
        </p:nvGraphicFramePr>
        <p:xfrm>
          <a:off x="7473911" y="3659183"/>
          <a:ext cx="23931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5" r:id="rId31" imgW="177809" imgH="190487" progId="Equation.3">
                  <p:embed/>
                </p:oleObj>
              </mc:Choice>
              <mc:Fallback>
                <p:oleObj r:id="rId31" imgW="177809" imgH="190487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11" y="3659183"/>
                        <a:ext cx="23931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4" name="Line 40"/>
          <p:cNvSpPr>
            <a:spLocks noChangeShapeType="1"/>
          </p:cNvSpPr>
          <p:nvPr/>
        </p:nvSpPr>
        <p:spPr bwMode="auto">
          <a:xfrm>
            <a:off x="8519632" y="3035975"/>
            <a:ext cx="0" cy="122753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13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389716"/>
              </p:ext>
            </p:extLst>
          </p:nvPr>
        </p:nvGraphicFramePr>
        <p:xfrm>
          <a:off x="8405332" y="2693074"/>
          <a:ext cx="253604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6" r:id="rId32" imgW="190734" imgH="241512" progId="Equation.3">
                  <p:embed/>
                </p:oleObj>
              </mc:Choice>
              <mc:Fallback>
                <p:oleObj r:id="rId32" imgW="190734" imgH="241512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332" y="2693074"/>
                        <a:ext cx="253604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4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39445419"/>
              </p:ext>
            </p:extLst>
          </p:nvPr>
        </p:nvGraphicFramePr>
        <p:xfrm>
          <a:off x="8419620" y="4250412"/>
          <a:ext cx="29408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7" r:id="rId33" imgW="127042" imgH="139714" progId="Equation.3">
                  <p:embed/>
                </p:oleObj>
              </mc:Choice>
              <mc:Fallback>
                <p:oleObj r:id="rId33" imgW="127042" imgH="139714" progId="Equation.3">
                  <p:embed/>
                  <p:pic>
                    <p:nvPicPr>
                      <p:cNvPr id="0" name="Object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9620" y="4250412"/>
                        <a:ext cx="294085" cy="3238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22D22-E647-4D06-981C-FED967159687}" type="slidenum">
              <a:rPr lang="zh-CN" altLang="en-US"/>
              <a:pPr>
                <a:defRPr/>
              </a:pPr>
              <a:t>27</a:t>
            </a:fld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450877" y="473280"/>
            <a:ext cx="8359748" cy="979283"/>
            <a:chOff x="536602" y="987630"/>
            <a:chExt cx="8359748" cy="979283"/>
          </a:xfrm>
        </p:grpSpPr>
        <p:sp>
          <p:nvSpPr>
            <p:cNvPr id="28688" name="Text Box 2"/>
            <p:cNvSpPr txBox="1">
              <a:spLocks noChangeArrowheads="1"/>
            </p:cNvSpPr>
            <p:nvPr/>
          </p:nvSpPr>
          <p:spPr bwMode="auto">
            <a:xfrm>
              <a:off x="536602" y="987630"/>
              <a:ext cx="8359748" cy="978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smtClean="0">
                  <a:solidFill>
                    <a:srgbClr val="CC0000"/>
                  </a:solidFill>
                  <a:latin typeface="宋体" pitchFamily="2" charset="-122"/>
                </a:rPr>
                <a:t>例</a:t>
              </a:r>
              <a:r>
                <a:rPr lang="zh-CN" altLang="en-US" b="1">
                  <a:solidFill>
                    <a:srgbClr val="CC0000"/>
                  </a:solidFill>
                </a:rPr>
                <a:t>2</a:t>
              </a: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 </a:t>
              </a:r>
              <a:r>
                <a:rPr lang="zh-CN" altLang="en-US" b="1" smtClean="0">
                  <a:latin typeface="宋体" pitchFamily="2" charset="-122"/>
                </a:rPr>
                <a:t>如</a:t>
              </a:r>
              <a:r>
                <a:rPr lang="zh-CN" altLang="en-US" b="1">
                  <a:latin typeface="宋体" pitchFamily="2" charset="-122"/>
                </a:rPr>
                <a:t>图，长为 的轻绳，一端系质量为  的小球</a:t>
              </a:r>
              <a:r>
                <a:rPr lang="en-US" altLang="zh-CN" b="1">
                  <a:latin typeface="宋体" pitchFamily="2" charset="-122"/>
                </a:rPr>
                <a:t>,</a:t>
              </a:r>
              <a:r>
                <a:rPr lang="zh-CN" altLang="en-US" b="1">
                  <a:latin typeface="宋体" pitchFamily="2" charset="-122"/>
                </a:rPr>
                <a:t>另一端系于定点  ，  </a:t>
              </a:r>
              <a:r>
                <a:rPr lang="zh-CN" altLang="en-US" b="1" smtClean="0">
                  <a:latin typeface="宋体" pitchFamily="2" charset="-122"/>
                </a:rPr>
                <a:t>  </a:t>
              </a:r>
              <a:r>
                <a:rPr lang="zh-CN" altLang="en-US" b="1">
                  <a:latin typeface="宋体" pitchFamily="2" charset="-122"/>
                </a:rPr>
                <a:t>时小球位于最低位置，并具有水平速度  </a:t>
              </a:r>
              <a:r>
                <a:rPr lang="zh-CN" altLang="en-US" b="1" smtClean="0">
                  <a:latin typeface="宋体" pitchFamily="2" charset="-122"/>
                </a:rPr>
                <a:t>．</a:t>
              </a:r>
              <a:endParaRPr lang="zh-CN" altLang="en-US">
                <a:solidFill>
                  <a:srgbClr val="A50021"/>
                </a:solidFill>
                <a:latin typeface="宋体" pitchFamily="2" charset="-122"/>
              </a:endParaRPr>
            </a:p>
          </p:txBody>
        </p:sp>
        <p:graphicFrame>
          <p:nvGraphicFramePr>
            <p:cNvPr id="2867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4451086"/>
                </p:ext>
              </p:extLst>
            </p:nvPr>
          </p:nvGraphicFramePr>
          <p:xfrm>
            <a:off x="7954963" y="1452563"/>
            <a:ext cx="319087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3" name="Equation" r:id="rId3" imgW="177809" imgH="228521" progId="Equation.DSMT4">
                    <p:embed/>
                  </p:oleObj>
                </mc:Choice>
                <mc:Fallback>
                  <p:oleObj name="Equation" r:id="rId3" imgW="177809" imgH="228521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4963" y="1452563"/>
                          <a:ext cx="319087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4425129"/>
                </p:ext>
              </p:extLst>
            </p:nvPr>
          </p:nvGraphicFramePr>
          <p:xfrm>
            <a:off x="6004322" y="1136516"/>
            <a:ext cx="295275" cy="245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4" r:id="rId5" imgW="228818" imgH="190734" progId="Equation.3">
                    <p:embed/>
                  </p:oleObj>
                </mc:Choice>
                <mc:Fallback>
                  <p:oleObj r:id="rId5" imgW="228818" imgH="190734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4322" y="1136516"/>
                          <a:ext cx="295275" cy="245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6453855"/>
                </p:ext>
              </p:extLst>
            </p:nvPr>
          </p:nvGraphicFramePr>
          <p:xfrm>
            <a:off x="2087571" y="1514296"/>
            <a:ext cx="701278" cy="341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5" r:id="rId7" imgW="495402" imgH="241512" progId="Equation.3">
                    <p:embed/>
                  </p:oleObj>
                </mc:Choice>
                <mc:Fallback>
                  <p:oleObj r:id="rId7" imgW="495402" imgH="2415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7571" y="1514296"/>
                          <a:ext cx="701278" cy="3417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7638665"/>
                </p:ext>
              </p:extLst>
            </p:nvPr>
          </p:nvGraphicFramePr>
          <p:xfrm>
            <a:off x="2805779" y="1067437"/>
            <a:ext cx="144066" cy="322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6" r:id="rId9" imgW="114419" imgH="253877" progId="Equation.3">
                    <p:embed/>
                  </p:oleObj>
                </mc:Choice>
                <mc:Fallback>
                  <p:oleObj r:id="rId9" imgW="114419" imgH="253877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5779" y="1067437"/>
                          <a:ext cx="144066" cy="3226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1409260"/>
                </p:ext>
              </p:extLst>
            </p:nvPr>
          </p:nvGraphicFramePr>
          <p:xfrm>
            <a:off x="1509254" y="1535293"/>
            <a:ext cx="297811" cy="346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7" name="Equation" r:id="rId11" imgW="152280" imgH="177480" progId="Equation.DSMT4">
                    <p:embed/>
                  </p:oleObj>
                </mc:Choice>
                <mc:Fallback>
                  <p:oleObj name="Equation" r:id="rId11" imgW="152280" imgH="1774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254" y="1535293"/>
                          <a:ext cx="297811" cy="34647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89" name="Group 8"/>
          <p:cNvGrpSpPr>
            <a:grpSpLocks/>
          </p:cNvGrpSpPr>
          <p:nvPr/>
        </p:nvGrpSpPr>
        <p:grpSpPr bwMode="auto">
          <a:xfrm>
            <a:off x="6313885" y="1933576"/>
            <a:ext cx="2015728" cy="2066925"/>
            <a:chOff x="288" y="94"/>
            <a:chExt cx="1693" cy="1736"/>
          </a:xfrm>
        </p:grpSpPr>
        <p:sp>
          <p:nvSpPr>
            <p:cNvPr id="28691" name="Oval 10"/>
            <p:cNvSpPr>
              <a:spLocks noChangeArrowheads="1"/>
            </p:cNvSpPr>
            <p:nvPr/>
          </p:nvSpPr>
          <p:spPr bwMode="auto">
            <a:xfrm>
              <a:off x="288" y="94"/>
              <a:ext cx="1296" cy="12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692" name="Line 11"/>
            <p:cNvSpPr>
              <a:spLocks noChangeShapeType="1"/>
            </p:cNvSpPr>
            <p:nvPr/>
          </p:nvSpPr>
          <p:spPr bwMode="auto">
            <a:xfrm>
              <a:off x="960" y="762"/>
              <a:ext cx="0" cy="576"/>
            </a:xfrm>
            <a:prstGeom prst="line">
              <a:avLst/>
            </a:prstGeom>
            <a:noFill/>
            <a:ln w="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693" name="Oval 12"/>
            <p:cNvSpPr>
              <a:spLocks noChangeArrowheads="1"/>
            </p:cNvSpPr>
            <p:nvPr/>
          </p:nvSpPr>
          <p:spPr bwMode="auto">
            <a:xfrm>
              <a:off x="891" y="1317"/>
              <a:ext cx="144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8679" name="Object 13"/>
            <p:cNvGraphicFramePr>
              <a:graphicFrameLocks noChangeAspect="1"/>
            </p:cNvGraphicFramePr>
            <p:nvPr/>
          </p:nvGraphicFramePr>
          <p:xfrm>
            <a:off x="678" y="636"/>
            <a:ext cx="26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8" r:id="rId13" imgW="126720" imgH="139680" progId="Equation.3">
                    <p:embed/>
                  </p:oleObj>
                </mc:Choice>
                <mc:Fallback>
                  <p:oleObj r:id="rId13" imgW="126720" imgH="1396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" y="636"/>
                          <a:ext cx="260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4" name="Line 14"/>
            <p:cNvSpPr>
              <a:spLocks noChangeShapeType="1"/>
            </p:cNvSpPr>
            <p:nvPr/>
          </p:nvSpPr>
          <p:spPr bwMode="auto">
            <a:xfrm rot="17771953">
              <a:off x="1239" y="593"/>
              <a:ext cx="0" cy="629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695" name="Arc 15"/>
            <p:cNvSpPr>
              <a:spLocks/>
            </p:cNvSpPr>
            <p:nvPr/>
          </p:nvSpPr>
          <p:spPr bwMode="auto">
            <a:xfrm flipV="1">
              <a:off x="956" y="827"/>
              <a:ext cx="129" cy="103"/>
            </a:xfrm>
            <a:custGeom>
              <a:avLst/>
              <a:gdLst>
                <a:gd name="T0" fmla="*/ 0 w 26692"/>
                <a:gd name="T1" fmla="*/ 0 h 21600"/>
                <a:gd name="T2" fmla="*/ 0 w 26692"/>
                <a:gd name="T3" fmla="*/ 0 h 21600"/>
                <a:gd name="T4" fmla="*/ 0 w 26692"/>
                <a:gd name="T5" fmla="*/ 0 h 21600"/>
                <a:gd name="T6" fmla="*/ 0 60000 65536"/>
                <a:gd name="T7" fmla="*/ 0 60000 65536"/>
                <a:gd name="T8" fmla="*/ 0 60000 65536"/>
                <a:gd name="T9" fmla="*/ 0 w 26692"/>
                <a:gd name="T10" fmla="*/ 0 h 21600"/>
                <a:gd name="T11" fmla="*/ 26692 w 2669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692" h="21600" fill="none" extrusionOk="0">
                  <a:moveTo>
                    <a:pt x="-1" y="608"/>
                  </a:moveTo>
                  <a:cubicBezTo>
                    <a:pt x="1667" y="204"/>
                    <a:pt x="3376" y="-1"/>
                    <a:pt x="5092" y="0"/>
                  </a:cubicBezTo>
                  <a:cubicBezTo>
                    <a:pt x="17021" y="0"/>
                    <a:pt x="26692" y="9670"/>
                    <a:pt x="26692" y="21600"/>
                  </a:cubicBezTo>
                </a:path>
                <a:path w="26692" h="21600" stroke="0" extrusionOk="0">
                  <a:moveTo>
                    <a:pt x="-1" y="608"/>
                  </a:moveTo>
                  <a:cubicBezTo>
                    <a:pt x="1667" y="204"/>
                    <a:pt x="3376" y="-1"/>
                    <a:pt x="5092" y="0"/>
                  </a:cubicBezTo>
                  <a:cubicBezTo>
                    <a:pt x="17021" y="0"/>
                    <a:pt x="26692" y="9670"/>
                    <a:pt x="26692" y="21600"/>
                  </a:cubicBezTo>
                  <a:lnTo>
                    <a:pt x="5092" y="21600"/>
                  </a:lnTo>
                  <a:close/>
                </a:path>
              </a:pathLst>
            </a:cu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868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9863819"/>
                </p:ext>
              </p:extLst>
            </p:nvPr>
          </p:nvGraphicFramePr>
          <p:xfrm>
            <a:off x="941" y="874"/>
            <a:ext cx="20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9" r:id="rId15" imgW="101829" imgH="139896" progId="Equation.3">
                    <p:embed/>
                  </p:oleObj>
                </mc:Choice>
                <mc:Fallback>
                  <p:oleObj r:id="rId15" imgW="101829" imgH="139896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1" y="874"/>
                          <a:ext cx="203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6" name="Oval 17"/>
            <p:cNvSpPr>
              <a:spLocks noChangeArrowheads="1"/>
            </p:cNvSpPr>
            <p:nvPr/>
          </p:nvSpPr>
          <p:spPr bwMode="auto">
            <a:xfrm rot="-3828047">
              <a:off x="1440" y="96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A9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697" name="Line 18"/>
            <p:cNvSpPr>
              <a:spLocks noChangeShapeType="1"/>
            </p:cNvSpPr>
            <p:nvPr/>
          </p:nvSpPr>
          <p:spPr bwMode="auto">
            <a:xfrm>
              <a:off x="956" y="1406"/>
              <a:ext cx="43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868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5797171"/>
                </p:ext>
              </p:extLst>
            </p:nvPr>
          </p:nvGraphicFramePr>
          <p:xfrm>
            <a:off x="1009" y="1392"/>
            <a:ext cx="424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00" r:id="rId17" imgW="177809" imgH="228521" progId="Equation.3">
                    <p:embed/>
                  </p:oleObj>
                </mc:Choice>
                <mc:Fallback>
                  <p:oleObj r:id="rId17" imgW="177809" imgH="228521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1392"/>
                          <a:ext cx="424" cy="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3499403"/>
                </p:ext>
              </p:extLst>
            </p:nvPr>
          </p:nvGraphicFramePr>
          <p:xfrm>
            <a:off x="1724" y="446"/>
            <a:ext cx="25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01" name="Equation" r:id="rId19" imgW="126720" imgH="139680" progId="Equation.DSMT4">
                    <p:embed/>
                  </p:oleObj>
                </mc:Choice>
                <mc:Fallback>
                  <p:oleObj name="Equation" r:id="rId19" imgW="126720" imgH="13968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4" y="446"/>
                          <a:ext cx="257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Freeform 21"/>
            <p:cNvSpPr>
              <a:spLocks/>
            </p:cNvSpPr>
            <p:nvPr/>
          </p:nvSpPr>
          <p:spPr bwMode="auto">
            <a:xfrm>
              <a:off x="1513" y="646"/>
              <a:ext cx="230" cy="402"/>
            </a:xfrm>
            <a:custGeom>
              <a:avLst/>
              <a:gdLst>
                <a:gd name="T0" fmla="*/ 0 w 230"/>
                <a:gd name="T1" fmla="*/ 402 h 402"/>
                <a:gd name="T2" fmla="*/ 230 w 230"/>
                <a:gd name="T3" fmla="*/ 0 h 402"/>
                <a:gd name="T4" fmla="*/ 0 60000 65536"/>
                <a:gd name="T5" fmla="*/ 0 60000 65536"/>
                <a:gd name="T6" fmla="*/ 0 w 230"/>
                <a:gd name="T7" fmla="*/ 0 h 402"/>
                <a:gd name="T8" fmla="*/ 230 w 230"/>
                <a:gd name="T9" fmla="*/ 402 h 4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0" h="402">
                  <a:moveTo>
                    <a:pt x="0" y="402"/>
                  </a:moveTo>
                  <a:lnTo>
                    <a:pt x="230" y="0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316391" y="2468167"/>
            <a:ext cx="457200" cy="583406"/>
            <a:chOff x="7037388" y="1843088"/>
            <a:chExt cx="609600" cy="777875"/>
          </a:xfrm>
        </p:grpSpPr>
        <p:sp>
          <p:nvSpPr>
            <p:cNvPr id="32" name="Line 22"/>
            <p:cNvSpPr>
              <a:spLocks noChangeShapeType="1"/>
            </p:cNvSpPr>
            <p:nvPr/>
          </p:nvSpPr>
          <p:spPr bwMode="auto">
            <a:xfrm flipH="1" flipV="1">
              <a:off x="7037388" y="2335213"/>
              <a:ext cx="609600" cy="28575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3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134796"/>
                </p:ext>
              </p:extLst>
            </p:nvPr>
          </p:nvGraphicFramePr>
          <p:xfrm>
            <a:off x="7065963" y="1843088"/>
            <a:ext cx="473075" cy="569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02" name="Equation" r:id="rId21" imgW="190440" imgH="228600" progId="Equation.DSMT4">
                    <p:embed/>
                  </p:oleObj>
                </mc:Choice>
                <mc:Fallback>
                  <p:oleObj name="Equation" r:id="rId21" imgW="190440" imgH="228600" progId="Equation.DSMT4">
                    <p:embed/>
                    <p:pic>
                      <p:nvPicPr>
                        <p:cNvPr id="28683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5963" y="1843088"/>
                          <a:ext cx="473075" cy="569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7761597" y="3046811"/>
            <a:ext cx="458481" cy="781775"/>
            <a:chOff x="7630991" y="2614613"/>
            <a:chExt cx="611308" cy="1042366"/>
          </a:xfrm>
        </p:grpSpPr>
        <p:sp>
          <p:nvSpPr>
            <p:cNvPr id="35" name="Line 25"/>
            <p:cNvSpPr>
              <a:spLocks noChangeShapeType="1"/>
            </p:cNvSpPr>
            <p:nvPr/>
          </p:nvSpPr>
          <p:spPr bwMode="auto">
            <a:xfrm>
              <a:off x="7646988" y="2614613"/>
              <a:ext cx="0" cy="83820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6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7619702"/>
                </p:ext>
              </p:extLst>
            </p:nvPr>
          </p:nvGraphicFramePr>
          <p:xfrm>
            <a:off x="7630991" y="3234266"/>
            <a:ext cx="611308" cy="422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03" name="Equation" r:id="rId23" imgW="241200" imgH="164880" progId="Equation.DSMT4">
                    <p:embed/>
                  </p:oleObj>
                </mc:Choice>
                <mc:Fallback>
                  <p:oleObj name="Equation" r:id="rId23" imgW="241200" imgH="164880" progId="Equation.DSMT4">
                    <p:embed/>
                    <p:pic>
                      <p:nvPicPr>
                        <p:cNvPr id="2868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0991" y="3234266"/>
                          <a:ext cx="611308" cy="4227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477762" y="1552439"/>
            <a:ext cx="708847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solidFill>
                  <a:srgbClr val="CC0000"/>
                </a:solidFill>
                <a:latin typeface="宋体" pitchFamily="2" charset="-122"/>
              </a:rPr>
              <a:t>求</a:t>
            </a:r>
            <a:r>
              <a:rPr lang="en-US" altLang="zh-CN" b="1">
                <a:solidFill>
                  <a:srgbClr val="CC0000"/>
                </a:solidFill>
                <a:latin typeface="宋体" pitchFamily="2" charset="-122"/>
              </a:rPr>
              <a:t>:</a:t>
            </a:r>
            <a:r>
              <a:rPr lang="zh-CN" altLang="en-US" b="1">
                <a:latin typeface="宋体" pitchFamily="2" charset="-122"/>
              </a:rPr>
              <a:t>小球在任意位置的速率及绳的张力．</a:t>
            </a:r>
            <a:endParaRPr lang="zh-CN" altLang="en-US">
              <a:solidFill>
                <a:srgbClr val="A50021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6E1D60-E0AD-488E-992D-8985AB7417EA}" type="slidenum">
              <a:rPr lang="zh-CN" altLang="en-US"/>
              <a:pPr>
                <a:defRPr/>
              </a:pPr>
              <a:t>28</a:t>
            </a:fld>
            <a:endParaRPr lang="en-US" altLang="zh-CN" dirty="0"/>
          </a:p>
        </p:txBody>
      </p:sp>
      <p:graphicFrame>
        <p:nvGraphicFramePr>
          <p:cNvPr id="727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498142"/>
              </p:ext>
            </p:extLst>
          </p:nvPr>
        </p:nvGraphicFramePr>
        <p:xfrm>
          <a:off x="1419663" y="2817625"/>
          <a:ext cx="3004865" cy="660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12" name="Equation" r:id="rId4" imgW="1460160" imgH="355320" progId="Equation.DSMT4">
                  <p:embed/>
                </p:oleObj>
              </mc:Choice>
              <mc:Fallback>
                <p:oleObj name="Equation" r:id="rId4" imgW="1460160" imgH="3553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663" y="2817625"/>
                        <a:ext cx="3004865" cy="66019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710467"/>
              </p:ext>
            </p:extLst>
          </p:nvPr>
        </p:nvGraphicFramePr>
        <p:xfrm>
          <a:off x="5861102" y="1307016"/>
          <a:ext cx="1992572" cy="1253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13" name="Equation" r:id="rId6" imgW="1155600" imgH="812520" progId="Equation.DSMT4">
                  <p:embed/>
                </p:oleObj>
              </mc:Choice>
              <mc:Fallback>
                <p:oleObj name="Equation" r:id="rId6" imgW="1155600" imgH="8125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102" y="1307016"/>
                        <a:ext cx="1992572" cy="12539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15" name="Group 4"/>
          <p:cNvGrpSpPr>
            <a:grpSpLocks/>
          </p:cNvGrpSpPr>
          <p:nvPr/>
        </p:nvGrpSpPr>
        <p:grpSpPr bwMode="auto">
          <a:xfrm>
            <a:off x="881614" y="230696"/>
            <a:ext cx="3339688" cy="902913"/>
            <a:chOff x="-89" y="0"/>
            <a:chExt cx="3070" cy="830"/>
          </a:xfrm>
        </p:grpSpPr>
        <p:sp>
          <p:nvSpPr>
            <p:cNvPr id="29738" name="AutoShape 5"/>
            <p:cNvSpPr>
              <a:spLocks/>
            </p:cNvSpPr>
            <p:nvPr/>
          </p:nvSpPr>
          <p:spPr bwMode="auto">
            <a:xfrm>
              <a:off x="432" y="192"/>
              <a:ext cx="144" cy="480"/>
            </a:xfrm>
            <a:prstGeom prst="leftBrace">
              <a:avLst>
                <a:gd name="adj1" fmla="val 2777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9739" name="Text Box 6"/>
            <p:cNvSpPr txBox="1">
              <a:spLocks noChangeArrowheads="1"/>
            </p:cNvSpPr>
            <p:nvPr/>
          </p:nvSpPr>
          <p:spPr bwMode="auto">
            <a:xfrm>
              <a:off x="-89" y="179"/>
              <a:ext cx="64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解：</a:t>
              </a:r>
              <a:endParaRPr lang="zh-CN" altLang="en-US">
                <a:solidFill>
                  <a:srgbClr val="CC0000"/>
                </a:solidFill>
                <a:latin typeface="宋体" pitchFamily="2" charset="-122"/>
              </a:endParaRPr>
            </a:p>
          </p:txBody>
        </p:sp>
        <p:graphicFrame>
          <p:nvGraphicFramePr>
            <p:cNvPr id="29712" name="Object 7"/>
            <p:cNvGraphicFramePr>
              <a:graphicFrameLocks noChangeAspect="1"/>
            </p:cNvGraphicFramePr>
            <p:nvPr/>
          </p:nvGraphicFramePr>
          <p:xfrm>
            <a:off x="577" y="394"/>
            <a:ext cx="2041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14" r:id="rId8" imgW="1029017" imgH="228917" progId="Equation.3">
                    <p:embed/>
                  </p:oleObj>
                </mc:Choice>
                <mc:Fallback>
                  <p:oleObj r:id="rId8" imgW="1029017" imgH="228917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" y="394"/>
                          <a:ext cx="2041" cy="4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3" name="Object 8"/>
            <p:cNvGraphicFramePr>
              <a:graphicFrameLocks noChangeAspect="1"/>
            </p:cNvGraphicFramePr>
            <p:nvPr/>
          </p:nvGraphicFramePr>
          <p:xfrm>
            <a:off x="532" y="0"/>
            <a:ext cx="2449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15" r:id="rId10" imgW="1255982" imgH="215936" progId="Equation.3">
                    <p:embed/>
                  </p:oleObj>
                </mc:Choice>
                <mc:Fallback>
                  <p:oleObj r:id="rId10" imgW="1255982" imgH="215936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0"/>
                          <a:ext cx="2449" cy="4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419663" y="1170597"/>
            <a:ext cx="2656521" cy="1526249"/>
            <a:chOff x="37" y="-330"/>
            <a:chExt cx="2442" cy="1403"/>
          </a:xfrm>
        </p:grpSpPr>
        <p:graphicFrame>
          <p:nvGraphicFramePr>
            <p:cNvPr id="297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3037148"/>
                </p:ext>
              </p:extLst>
            </p:nvPr>
          </p:nvGraphicFramePr>
          <p:xfrm>
            <a:off x="227" y="379"/>
            <a:ext cx="2131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16" r:id="rId12" imgW="1117432" imgH="393846" progId="Equation.3">
                    <p:embed/>
                  </p:oleObj>
                </mc:Choice>
                <mc:Fallback>
                  <p:oleObj r:id="rId12" imgW="1117432" imgH="393846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379"/>
                          <a:ext cx="2131" cy="69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5570700"/>
                </p:ext>
              </p:extLst>
            </p:nvPr>
          </p:nvGraphicFramePr>
          <p:xfrm>
            <a:off x="211" y="-330"/>
            <a:ext cx="2268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17" name="Equation" r:id="rId14" imgW="1295280" imgH="419040" progId="Equation.DSMT4">
                    <p:embed/>
                  </p:oleObj>
                </mc:Choice>
                <mc:Fallback>
                  <p:oleObj name="Equation" r:id="rId14" imgW="1295280" imgH="4190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" y="-330"/>
                          <a:ext cx="2268" cy="72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7" name="AutoShape 12"/>
            <p:cNvSpPr>
              <a:spLocks/>
            </p:cNvSpPr>
            <p:nvPr/>
          </p:nvSpPr>
          <p:spPr bwMode="auto">
            <a:xfrm>
              <a:off x="37" y="66"/>
              <a:ext cx="136" cy="633"/>
            </a:xfrm>
            <a:prstGeom prst="leftBrace">
              <a:avLst>
                <a:gd name="adj1" fmla="val 2777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448382" y="3643150"/>
            <a:ext cx="3148659" cy="1302787"/>
            <a:chOff x="0" y="6"/>
            <a:chExt cx="3038" cy="1257"/>
          </a:xfrm>
        </p:grpSpPr>
        <p:graphicFrame>
          <p:nvGraphicFramePr>
            <p:cNvPr id="2970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6104090"/>
                </p:ext>
              </p:extLst>
            </p:nvPr>
          </p:nvGraphicFramePr>
          <p:xfrm>
            <a:off x="138" y="517"/>
            <a:ext cx="2900" cy="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18" r:id="rId16" imgW="1702117" imgH="419417" progId="Equation.3">
                    <p:embed/>
                  </p:oleObj>
                </mc:Choice>
                <mc:Fallback>
                  <p:oleObj r:id="rId16" imgW="1702117" imgH="419417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" y="517"/>
                          <a:ext cx="2900" cy="74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9351428"/>
                </p:ext>
              </p:extLst>
            </p:nvPr>
          </p:nvGraphicFramePr>
          <p:xfrm>
            <a:off x="136" y="6"/>
            <a:ext cx="2776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19" name="Equation" r:id="rId18" imgW="1498320" imgH="291960" progId="Equation.DSMT4">
                    <p:embed/>
                  </p:oleObj>
                </mc:Choice>
                <mc:Fallback>
                  <p:oleObj name="Equation" r:id="rId18" imgW="1498320" imgH="29196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" y="6"/>
                          <a:ext cx="2776" cy="52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6" name="AutoShape 16"/>
            <p:cNvSpPr>
              <a:spLocks/>
            </p:cNvSpPr>
            <p:nvPr/>
          </p:nvSpPr>
          <p:spPr bwMode="auto">
            <a:xfrm>
              <a:off x="0" y="270"/>
              <a:ext cx="136" cy="6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1883039" y="2166011"/>
            <a:ext cx="1557338" cy="333373"/>
            <a:chOff x="91" y="7"/>
            <a:chExt cx="1308" cy="280"/>
          </a:xfrm>
        </p:grpSpPr>
        <p:sp>
          <p:nvSpPr>
            <p:cNvPr id="29734" name="Line 18"/>
            <p:cNvSpPr>
              <a:spLocks noChangeShapeType="1"/>
            </p:cNvSpPr>
            <p:nvPr/>
          </p:nvSpPr>
          <p:spPr bwMode="auto">
            <a:xfrm>
              <a:off x="91" y="15"/>
              <a:ext cx="181" cy="27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9735" name="Line 19"/>
            <p:cNvSpPr>
              <a:spLocks noChangeShapeType="1"/>
            </p:cNvSpPr>
            <p:nvPr/>
          </p:nvSpPr>
          <p:spPr bwMode="auto">
            <a:xfrm>
              <a:off x="1218" y="7"/>
              <a:ext cx="181" cy="27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08459" y="2736024"/>
            <a:ext cx="2015729" cy="2009775"/>
            <a:chOff x="5700713" y="1130300"/>
            <a:chExt cx="2687638" cy="2679700"/>
          </a:xfrm>
        </p:grpSpPr>
        <p:grpSp>
          <p:nvGrpSpPr>
            <p:cNvPr id="105" name="Group 8"/>
            <p:cNvGrpSpPr>
              <a:grpSpLocks/>
            </p:cNvGrpSpPr>
            <p:nvPr/>
          </p:nvGrpSpPr>
          <p:grpSpPr bwMode="auto">
            <a:xfrm>
              <a:off x="5700713" y="1130300"/>
              <a:ext cx="2687638" cy="2679700"/>
              <a:chOff x="288" y="94"/>
              <a:chExt cx="1693" cy="1688"/>
            </a:xfrm>
          </p:grpSpPr>
          <p:sp>
            <p:nvSpPr>
              <p:cNvPr id="107" name="Oval 10"/>
              <p:cNvSpPr>
                <a:spLocks noChangeArrowheads="1"/>
              </p:cNvSpPr>
              <p:nvPr/>
            </p:nvSpPr>
            <p:spPr bwMode="auto">
              <a:xfrm>
                <a:off x="288" y="94"/>
                <a:ext cx="1296" cy="12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08" name="Line 11"/>
              <p:cNvSpPr>
                <a:spLocks noChangeShapeType="1"/>
              </p:cNvSpPr>
              <p:nvPr/>
            </p:nvSpPr>
            <p:spPr bwMode="auto">
              <a:xfrm>
                <a:off x="960" y="762"/>
                <a:ext cx="0" cy="576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09" name="Oval 12"/>
              <p:cNvSpPr>
                <a:spLocks noChangeArrowheads="1"/>
              </p:cNvSpPr>
              <p:nvPr/>
            </p:nvSpPr>
            <p:spPr bwMode="auto">
              <a:xfrm>
                <a:off x="891" y="1317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10" name="Object 13"/>
              <p:cNvGraphicFramePr>
                <a:graphicFrameLocks noChangeAspect="1"/>
              </p:cNvGraphicFramePr>
              <p:nvPr/>
            </p:nvGraphicFramePr>
            <p:xfrm>
              <a:off x="678" y="636"/>
              <a:ext cx="260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20" r:id="rId20" imgW="126720" imgH="139680" progId="Equation.3">
                      <p:embed/>
                    </p:oleObj>
                  </mc:Choice>
                  <mc:Fallback>
                    <p:oleObj r:id="rId20" imgW="126720" imgH="139680" progId="Equation.3">
                      <p:embed/>
                      <p:pic>
                        <p:nvPicPr>
                          <p:cNvPr id="28679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8" y="636"/>
                            <a:ext cx="260" cy="2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" name="Line 14"/>
              <p:cNvSpPr>
                <a:spLocks noChangeShapeType="1"/>
              </p:cNvSpPr>
              <p:nvPr/>
            </p:nvSpPr>
            <p:spPr bwMode="auto">
              <a:xfrm rot="17771953">
                <a:off x="1239" y="593"/>
                <a:ext cx="0" cy="629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12" name="Arc 15"/>
              <p:cNvSpPr>
                <a:spLocks/>
              </p:cNvSpPr>
              <p:nvPr/>
            </p:nvSpPr>
            <p:spPr bwMode="auto">
              <a:xfrm flipV="1">
                <a:off x="956" y="827"/>
                <a:ext cx="129" cy="103"/>
              </a:xfrm>
              <a:custGeom>
                <a:avLst/>
                <a:gdLst>
                  <a:gd name="T0" fmla="*/ 0 w 26692"/>
                  <a:gd name="T1" fmla="*/ 0 h 21600"/>
                  <a:gd name="T2" fmla="*/ 0 w 26692"/>
                  <a:gd name="T3" fmla="*/ 0 h 21600"/>
                  <a:gd name="T4" fmla="*/ 0 w 2669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6692"/>
                  <a:gd name="T10" fmla="*/ 0 h 21600"/>
                  <a:gd name="T11" fmla="*/ 26692 w 266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692" h="21600" fill="none" extrusionOk="0">
                    <a:moveTo>
                      <a:pt x="-1" y="608"/>
                    </a:moveTo>
                    <a:cubicBezTo>
                      <a:pt x="1667" y="204"/>
                      <a:pt x="3376" y="-1"/>
                      <a:pt x="5092" y="0"/>
                    </a:cubicBezTo>
                    <a:cubicBezTo>
                      <a:pt x="17021" y="0"/>
                      <a:pt x="26692" y="9670"/>
                      <a:pt x="26692" y="21600"/>
                    </a:cubicBezTo>
                  </a:path>
                  <a:path w="26692" h="21600" stroke="0" extrusionOk="0">
                    <a:moveTo>
                      <a:pt x="-1" y="608"/>
                    </a:moveTo>
                    <a:cubicBezTo>
                      <a:pt x="1667" y="204"/>
                      <a:pt x="3376" y="-1"/>
                      <a:pt x="5092" y="0"/>
                    </a:cubicBezTo>
                    <a:cubicBezTo>
                      <a:pt x="17021" y="0"/>
                      <a:pt x="26692" y="9670"/>
                      <a:pt x="26692" y="21600"/>
                    </a:cubicBezTo>
                    <a:lnTo>
                      <a:pt x="5092" y="21600"/>
                    </a:lnTo>
                    <a:close/>
                  </a:path>
                </a:pathLst>
              </a:cu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13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5215274"/>
                  </p:ext>
                </p:extLst>
              </p:nvPr>
            </p:nvGraphicFramePr>
            <p:xfrm>
              <a:off x="941" y="874"/>
              <a:ext cx="203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21" r:id="rId22" imgW="101829" imgH="139896" progId="Equation.3">
                      <p:embed/>
                    </p:oleObj>
                  </mc:Choice>
                  <mc:Fallback>
                    <p:oleObj r:id="rId22" imgW="101829" imgH="139896" progId="Equation.3">
                      <p:embed/>
                      <p:pic>
                        <p:nvPicPr>
                          <p:cNvPr id="2868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1" y="874"/>
                            <a:ext cx="203" cy="2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" name="Oval 17"/>
              <p:cNvSpPr>
                <a:spLocks noChangeArrowheads="1"/>
              </p:cNvSpPr>
              <p:nvPr/>
            </p:nvSpPr>
            <p:spPr bwMode="auto">
              <a:xfrm rot="-3828047">
                <a:off x="1440" y="966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A9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15" name="Line 18"/>
              <p:cNvSpPr>
                <a:spLocks noChangeShapeType="1"/>
              </p:cNvSpPr>
              <p:nvPr/>
            </p:nvSpPr>
            <p:spPr bwMode="auto">
              <a:xfrm>
                <a:off x="956" y="1399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16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9978130"/>
                  </p:ext>
                </p:extLst>
              </p:nvPr>
            </p:nvGraphicFramePr>
            <p:xfrm>
              <a:off x="956" y="1344"/>
              <a:ext cx="424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22" r:id="rId24" imgW="177809" imgH="228521" progId="Equation.3">
                      <p:embed/>
                    </p:oleObj>
                  </mc:Choice>
                  <mc:Fallback>
                    <p:oleObj r:id="rId24" imgW="177809" imgH="228521" progId="Equation.3">
                      <p:embed/>
                      <p:pic>
                        <p:nvPicPr>
                          <p:cNvPr id="28681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6" y="1344"/>
                            <a:ext cx="424" cy="4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7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4697877"/>
                  </p:ext>
                </p:extLst>
              </p:nvPr>
            </p:nvGraphicFramePr>
            <p:xfrm>
              <a:off x="1724" y="448"/>
              <a:ext cx="257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23" name="Equation" r:id="rId26" imgW="126720" imgH="139680" progId="Equation.DSMT4">
                      <p:embed/>
                    </p:oleObj>
                  </mc:Choice>
                  <mc:Fallback>
                    <p:oleObj name="Equation" r:id="rId26" imgW="126720" imgH="139680" progId="Equation.DSMT4">
                      <p:embed/>
                      <p:pic>
                        <p:nvPicPr>
                          <p:cNvPr id="28682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4" y="448"/>
                            <a:ext cx="257" cy="2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8" name="Freeform 21"/>
              <p:cNvSpPr>
                <a:spLocks/>
              </p:cNvSpPr>
              <p:nvPr/>
            </p:nvSpPr>
            <p:spPr bwMode="auto">
              <a:xfrm>
                <a:off x="1505" y="654"/>
                <a:ext cx="230" cy="402"/>
              </a:xfrm>
              <a:custGeom>
                <a:avLst/>
                <a:gdLst>
                  <a:gd name="T0" fmla="*/ 0 w 230"/>
                  <a:gd name="T1" fmla="*/ 402 h 402"/>
                  <a:gd name="T2" fmla="*/ 230 w 230"/>
                  <a:gd name="T3" fmla="*/ 0 h 402"/>
                  <a:gd name="T4" fmla="*/ 0 60000 65536"/>
                  <a:gd name="T5" fmla="*/ 0 60000 65536"/>
                  <a:gd name="T6" fmla="*/ 0 w 230"/>
                  <a:gd name="T7" fmla="*/ 0 h 402"/>
                  <a:gd name="T8" fmla="*/ 230 w 230"/>
                  <a:gd name="T9" fmla="*/ 402 h 40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0" h="402">
                    <a:moveTo>
                      <a:pt x="0" y="402"/>
                    </a:moveTo>
                    <a:lnTo>
                      <a:pt x="230" y="0"/>
                    </a:lnTo>
                  </a:path>
                </a:pathLst>
              </a:custGeom>
              <a:noFill/>
              <a:ln w="28575" cmpd="sng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7037388" y="1843088"/>
              <a:ext cx="609600" cy="777875"/>
              <a:chOff x="7037388" y="1843088"/>
              <a:chExt cx="609600" cy="777875"/>
            </a:xfrm>
          </p:grpSpPr>
          <p:sp>
            <p:nvSpPr>
              <p:cNvPr id="120" name="Line 22"/>
              <p:cNvSpPr>
                <a:spLocks noChangeShapeType="1"/>
              </p:cNvSpPr>
              <p:nvPr/>
            </p:nvSpPr>
            <p:spPr bwMode="auto">
              <a:xfrm flipH="1" flipV="1">
                <a:off x="7037388" y="2335213"/>
                <a:ext cx="609600" cy="285750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21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0454417"/>
                  </p:ext>
                </p:extLst>
              </p:nvPr>
            </p:nvGraphicFramePr>
            <p:xfrm>
              <a:off x="7065963" y="1843088"/>
              <a:ext cx="473075" cy="5699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24" name="Equation" r:id="rId28" imgW="190440" imgH="228600" progId="Equation.DSMT4">
                      <p:embed/>
                    </p:oleObj>
                  </mc:Choice>
                  <mc:Fallback>
                    <p:oleObj name="Equation" r:id="rId28" imgW="190440" imgH="228600" progId="Equation.DSMT4">
                      <p:embed/>
                      <p:pic>
                        <p:nvPicPr>
                          <p:cNvPr id="33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65963" y="1843088"/>
                            <a:ext cx="473075" cy="5699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2" name="组合 121"/>
            <p:cNvGrpSpPr/>
            <p:nvPr/>
          </p:nvGrpSpPr>
          <p:grpSpPr>
            <a:xfrm>
              <a:off x="7646988" y="2614613"/>
              <a:ext cx="596130" cy="893805"/>
              <a:chOff x="7646988" y="2614613"/>
              <a:chExt cx="596130" cy="893805"/>
            </a:xfrm>
          </p:grpSpPr>
          <p:sp>
            <p:nvSpPr>
              <p:cNvPr id="123" name="Line 25"/>
              <p:cNvSpPr>
                <a:spLocks noChangeShapeType="1"/>
              </p:cNvSpPr>
              <p:nvPr/>
            </p:nvSpPr>
            <p:spPr bwMode="auto">
              <a:xfrm>
                <a:off x="7646988" y="2614613"/>
                <a:ext cx="0" cy="838200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24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741409"/>
                  </p:ext>
                </p:extLst>
              </p:nvPr>
            </p:nvGraphicFramePr>
            <p:xfrm>
              <a:off x="7843067" y="3235367"/>
              <a:ext cx="400051" cy="2730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25" name="Equation" r:id="rId30" imgW="241200" imgH="164880" progId="Equation.DSMT4">
                      <p:embed/>
                    </p:oleObj>
                  </mc:Choice>
                  <mc:Fallback>
                    <p:oleObj name="Equation" r:id="rId30" imgW="241200" imgH="164880" progId="Equation.DSMT4">
                      <p:embed/>
                      <p:pic>
                        <p:nvPicPr>
                          <p:cNvPr id="36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43067" y="3235367"/>
                            <a:ext cx="400051" cy="2730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6" name="Line 14"/>
          <p:cNvSpPr>
            <a:spLocks noChangeShapeType="1"/>
          </p:cNvSpPr>
          <p:nvPr/>
        </p:nvSpPr>
        <p:spPr bwMode="auto">
          <a:xfrm rot="17771953">
            <a:off x="7493031" y="3609499"/>
            <a:ext cx="0" cy="612093"/>
          </a:xfrm>
          <a:prstGeom prst="line">
            <a:avLst/>
          </a:prstGeom>
          <a:noFill/>
          <a:ln w="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127" name="Arc 15"/>
          <p:cNvSpPr>
            <a:spLocks/>
          </p:cNvSpPr>
          <p:nvPr/>
        </p:nvSpPr>
        <p:spPr bwMode="auto">
          <a:xfrm flipV="1">
            <a:off x="7374118" y="3932603"/>
            <a:ext cx="153591" cy="122635"/>
          </a:xfrm>
          <a:custGeom>
            <a:avLst/>
            <a:gdLst>
              <a:gd name="T0" fmla="*/ 0 w 26692"/>
              <a:gd name="T1" fmla="*/ 0 h 21600"/>
              <a:gd name="T2" fmla="*/ 0 w 26692"/>
              <a:gd name="T3" fmla="*/ 0 h 21600"/>
              <a:gd name="T4" fmla="*/ 0 w 26692"/>
              <a:gd name="T5" fmla="*/ 0 h 21600"/>
              <a:gd name="T6" fmla="*/ 0 60000 65536"/>
              <a:gd name="T7" fmla="*/ 0 60000 65536"/>
              <a:gd name="T8" fmla="*/ 0 60000 65536"/>
              <a:gd name="T9" fmla="*/ 0 w 26692"/>
              <a:gd name="T10" fmla="*/ 0 h 21600"/>
              <a:gd name="T11" fmla="*/ 26692 w 2669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692" h="21600" fill="none" extrusionOk="0">
                <a:moveTo>
                  <a:pt x="-1" y="608"/>
                </a:moveTo>
                <a:cubicBezTo>
                  <a:pt x="1667" y="204"/>
                  <a:pt x="3376" y="-1"/>
                  <a:pt x="5092" y="0"/>
                </a:cubicBezTo>
                <a:cubicBezTo>
                  <a:pt x="17021" y="0"/>
                  <a:pt x="26692" y="9670"/>
                  <a:pt x="26692" y="21600"/>
                </a:cubicBezTo>
              </a:path>
              <a:path w="26692" h="21600" stroke="0" extrusionOk="0">
                <a:moveTo>
                  <a:pt x="-1" y="608"/>
                </a:moveTo>
                <a:cubicBezTo>
                  <a:pt x="1667" y="204"/>
                  <a:pt x="3376" y="-1"/>
                  <a:pt x="5092" y="0"/>
                </a:cubicBezTo>
                <a:cubicBezTo>
                  <a:pt x="17021" y="0"/>
                  <a:pt x="26692" y="9670"/>
                  <a:pt x="26692" y="21600"/>
                </a:cubicBezTo>
                <a:lnTo>
                  <a:pt x="5092" y="216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43583" y="205075"/>
            <a:ext cx="8402945" cy="1455688"/>
            <a:chOff x="143583" y="303316"/>
            <a:chExt cx="8402945" cy="145568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3692" y="1344902"/>
              <a:ext cx="3260229" cy="414102"/>
            </a:xfrm>
            <a:prstGeom prst="rect">
              <a:avLst/>
            </a:prstGeom>
          </p:spPr>
        </p:pic>
        <p:grpSp>
          <p:nvGrpSpPr>
            <p:cNvPr id="16" name="组合 15"/>
            <p:cNvGrpSpPr/>
            <p:nvPr/>
          </p:nvGrpSpPr>
          <p:grpSpPr>
            <a:xfrm>
              <a:off x="143583" y="303316"/>
              <a:ext cx="8402945" cy="954420"/>
              <a:chOff x="143583" y="303316"/>
              <a:chExt cx="8402945" cy="954420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 rotWithShape="1">
              <a:blip r:embed="rId5"/>
              <a:srcRect l="3999"/>
              <a:stretch/>
            </p:blipFill>
            <p:spPr>
              <a:xfrm>
                <a:off x="1042869" y="322548"/>
                <a:ext cx="6664218" cy="423202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9250" y="832916"/>
                <a:ext cx="5411552" cy="424820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21554" y="825232"/>
                <a:ext cx="2024974" cy="424820"/>
              </a:xfrm>
              <a:prstGeom prst="rect">
                <a:avLst/>
              </a:prstGeom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143583" y="303316"/>
                <a:ext cx="1107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 smtClean="0">
                    <a:solidFill>
                      <a:srgbClr val="CC0000"/>
                    </a:solidFill>
                  </a:rPr>
                  <a:t>练习：</a:t>
                </a:r>
                <a:endParaRPr lang="zh-CN" altLang="en-US" b="1" dirty="0">
                  <a:solidFill>
                    <a:srgbClr val="CC0000"/>
                  </a:solidFill>
                </a:endParaRPr>
              </a:p>
            </p:txBody>
          </p:sp>
          <p:cxnSp>
            <p:nvCxnSpPr>
              <p:cNvPr id="15" name="直接箭头连接符 14"/>
              <p:cNvCxnSpPr/>
              <p:nvPr/>
            </p:nvCxnSpPr>
            <p:spPr bwMode="auto">
              <a:xfrm>
                <a:off x="5100992" y="955990"/>
                <a:ext cx="272053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</p:spPr>
          </p:cxnSp>
        </p:grpSp>
      </p:grpSp>
      <p:grpSp>
        <p:nvGrpSpPr>
          <p:cNvPr id="24" name="组合 23"/>
          <p:cNvGrpSpPr/>
          <p:nvPr/>
        </p:nvGrpSpPr>
        <p:grpSpPr>
          <a:xfrm>
            <a:off x="151140" y="1813052"/>
            <a:ext cx="3407681" cy="461665"/>
            <a:chOff x="151140" y="1813052"/>
            <a:chExt cx="3407681" cy="461665"/>
          </a:xfrm>
        </p:grpSpPr>
        <p:sp>
          <p:nvSpPr>
            <p:cNvPr id="55" name="文本框 54"/>
            <p:cNvSpPr txBox="1"/>
            <p:nvPr/>
          </p:nvSpPr>
          <p:spPr>
            <a:xfrm>
              <a:off x="151140" y="1813052"/>
              <a:ext cx="8034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C0000"/>
                  </a:solidFill>
                </a:rPr>
                <a:t>解</a:t>
              </a:r>
              <a:r>
                <a:rPr lang="zh-CN" altLang="en-US" b="1" dirty="0" smtClean="0">
                  <a:solidFill>
                    <a:srgbClr val="CC0000"/>
                  </a:solidFill>
                </a:rPr>
                <a:t>：</a:t>
              </a:r>
              <a:endParaRPr lang="zh-CN" altLang="en-US" b="1" dirty="0">
                <a:solidFill>
                  <a:srgbClr val="CC0000"/>
                </a:solidFill>
              </a:endParaRPr>
            </a:p>
          </p:txBody>
        </p:sp>
        <p:graphicFrame>
          <p:nvGraphicFramePr>
            <p:cNvPr id="5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8242490"/>
                </p:ext>
              </p:extLst>
            </p:nvPr>
          </p:nvGraphicFramePr>
          <p:xfrm>
            <a:off x="798158" y="1825602"/>
            <a:ext cx="2760663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89" name="Equation" r:id="rId8" imgW="1587240" imgH="253800" progId="Equation.DSMT4">
                    <p:embed/>
                  </p:oleObj>
                </mc:Choice>
                <mc:Fallback>
                  <p:oleObj name="Equation" r:id="rId8" imgW="1587240" imgH="253800" progId="Equation.DSMT4">
                    <p:embed/>
                    <p:pic>
                      <p:nvPicPr>
                        <p:cNvPr id="2971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8158" y="1825602"/>
                          <a:ext cx="2760663" cy="43656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898909"/>
              </p:ext>
            </p:extLst>
          </p:nvPr>
        </p:nvGraphicFramePr>
        <p:xfrm>
          <a:off x="2266064" y="2442631"/>
          <a:ext cx="1260475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0" name="Equation" r:id="rId10" imgW="723600" imgH="393480" progId="Equation.DSMT4">
                  <p:embed/>
                </p:oleObj>
              </mc:Choice>
              <mc:Fallback>
                <p:oleObj name="Equation" r:id="rId10" imgW="723600" imgH="393480" progId="Equation.DSMT4">
                  <p:embed/>
                  <p:pic>
                    <p:nvPicPr>
                      <p:cNvPr id="5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064" y="2442631"/>
                        <a:ext cx="1260475" cy="6778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任意多边形 17"/>
          <p:cNvSpPr/>
          <p:nvPr/>
        </p:nvSpPr>
        <p:spPr bwMode="auto">
          <a:xfrm>
            <a:off x="2776265" y="2424104"/>
            <a:ext cx="733032" cy="702803"/>
          </a:xfrm>
          <a:custGeom>
            <a:avLst/>
            <a:gdLst>
              <a:gd name="connsiteX0" fmla="*/ 528992 w 733032"/>
              <a:gd name="connsiteY0" fmla="*/ 0 h 702803"/>
              <a:gd name="connsiteX1" fmla="*/ 415637 w 733032"/>
              <a:gd name="connsiteY1" fmla="*/ 22671 h 702803"/>
              <a:gd name="connsiteX2" fmla="*/ 392966 w 733032"/>
              <a:gd name="connsiteY2" fmla="*/ 45342 h 702803"/>
              <a:gd name="connsiteX3" fmla="*/ 377852 w 733032"/>
              <a:gd name="connsiteY3" fmla="*/ 98241 h 702803"/>
              <a:gd name="connsiteX4" fmla="*/ 370295 w 733032"/>
              <a:gd name="connsiteY4" fmla="*/ 272053 h 702803"/>
              <a:gd name="connsiteX5" fmla="*/ 324953 w 733032"/>
              <a:gd name="connsiteY5" fmla="*/ 324952 h 702803"/>
              <a:gd name="connsiteX6" fmla="*/ 279610 w 733032"/>
              <a:gd name="connsiteY6" fmla="*/ 355180 h 702803"/>
              <a:gd name="connsiteX7" fmla="*/ 256939 w 733032"/>
              <a:gd name="connsiteY7" fmla="*/ 370294 h 702803"/>
              <a:gd name="connsiteX8" fmla="*/ 234268 w 733032"/>
              <a:gd name="connsiteY8" fmla="*/ 377851 h 702803"/>
              <a:gd name="connsiteX9" fmla="*/ 211597 w 733032"/>
              <a:gd name="connsiteY9" fmla="*/ 392965 h 702803"/>
              <a:gd name="connsiteX10" fmla="*/ 181369 w 733032"/>
              <a:gd name="connsiteY10" fmla="*/ 400522 h 702803"/>
              <a:gd name="connsiteX11" fmla="*/ 113356 w 733032"/>
              <a:gd name="connsiteY11" fmla="*/ 423193 h 702803"/>
              <a:gd name="connsiteX12" fmla="*/ 90685 w 733032"/>
              <a:gd name="connsiteY12" fmla="*/ 430750 h 702803"/>
              <a:gd name="connsiteX13" fmla="*/ 60457 w 733032"/>
              <a:gd name="connsiteY13" fmla="*/ 438307 h 702803"/>
              <a:gd name="connsiteX14" fmla="*/ 37786 w 733032"/>
              <a:gd name="connsiteY14" fmla="*/ 453421 h 702803"/>
              <a:gd name="connsiteX15" fmla="*/ 15115 w 733032"/>
              <a:gd name="connsiteY15" fmla="*/ 460978 h 702803"/>
              <a:gd name="connsiteX16" fmla="*/ 0 w 733032"/>
              <a:gd name="connsiteY16" fmla="*/ 476092 h 702803"/>
              <a:gd name="connsiteX17" fmla="*/ 7558 w 733032"/>
              <a:gd name="connsiteY17" fmla="*/ 589448 h 702803"/>
              <a:gd name="connsiteX18" fmla="*/ 60457 w 733032"/>
              <a:gd name="connsiteY18" fmla="*/ 657461 h 702803"/>
              <a:gd name="connsiteX19" fmla="*/ 75571 w 733032"/>
              <a:gd name="connsiteY19" fmla="*/ 680132 h 702803"/>
              <a:gd name="connsiteX20" fmla="*/ 151141 w 733032"/>
              <a:gd name="connsiteY20" fmla="*/ 702803 h 702803"/>
              <a:gd name="connsiteX21" fmla="*/ 264496 w 733032"/>
              <a:gd name="connsiteY21" fmla="*/ 695246 h 702803"/>
              <a:gd name="connsiteX22" fmla="*/ 287167 w 733032"/>
              <a:gd name="connsiteY22" fmla="*/ 672575 h 702803"/>
              <a:gd name="connsiteX23" fmla="*/ 309839 w 733032"/>
              <a:gd name="connsiteY23" fmla="*/ 657461 h 702803"/>
              <a:gd name="connsiteX24" fmla="*/ 324953 w 733032"/>
              <a:gd name="connsiteY24" fmla="*/ 634790 h 702803"/>
              <a:gd name="connsiteX25" fmla="*/ 347624 w 733032"/>
              <a:gd name="connsiteY25" fmla="*/ 559220 h 702803"/>
              <a:gd name="connsiteX26" fmla="*/ 385409 w 733032"/>
              <a:gd name="connsiteY26" fmla="*/ 377851 h 702803"/>
              <a:gd name="connsiteX27" fmla="*/ 408080 w 733032"/>
              <a:gd name="connsiteY27" fmla="*/ 355180 h 702803"/>
              <a:gd name="connsiteX28" fmla="*/ 438308 w 733032"/>
              <a:gd name="connsiteY28" fmla="*/ 347623 h 702803"/>
              <a:gd name="connsiteX29" fmla="*/ 460979 w 733032"/>
              <a:gd name="connsiteY29" fmla="*/ 332509 h 702803"/>
              <a:gd name="connsiteX30" fmla="*/ 498764 w 733032"/>
              <a:gd name="connsiteY30" fmla="*/ 324952 h 702803"/>
              <a:gd name="connsiteX31" fmla="*/ 528992 w 733032"/>
              <a:gd name="connsiteY31" fmla="*/ 317395 h 702803"/>
              <a:gd name="connsiteX32" fmla="*/ 597005 w 733032"/>
              <a:gd name="connsiteY32" fmla="*/ 294724 h 702803"/>
              <a:gd name="connsiteX33" fmla="*/ 642348 w 733032"/>
              <a:gd name="connsiteY33" fmla="*/ 279610 h 702803"/>
              <a:gd name="connsiteX34" fmla="*/ 665019 w 733032"/>
              <a:gd name="connsiteY34" fmla="*/ 264496 h 702803"/>
              <a:gd name="connsiteX35" fmla="*/ 680133 w 733032"/>
              <a:gd name="connsiteY35" fmla="*/ 234268 h 702803"/>
              <a:gd name="connsiteX36" fmla="*/ 695247 w 733032"/>
              <a:gd name="connsiteY36" fmla="*/ 211597 h 702803"/>
              <a:gd name="connsiteX37" fmla="*/ 717918 w 733032"/>
              <a:gd name="connsiteY37" fmla="*/ 143583 h 702803"/>
              <a:gd name="connsiteX38" fmla="*/ 733032 w 733032"/>
              <a:gd name="connsiteY38" fmla="*/ 98241 h 702803"/>
              <a:gd name="connsiteX39" fmla="*/ 725475 w 733032"/>
              <a:gd name="connsiteY39" fmla="*/ 30228 h 702803"/>
              <a:gd name="connsiteX40" fmla="*/ 657462 w 733032"/>
              <a:gd name="connsiteY40" fmla="*/ 7557 h 702803"/>
              <a:gd name="connsiteX41" fmla="*/ 438308 w 733032"/>
              <a:gd name="connsiteY41" fmla="*/ 7557 h 70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33032" h="702803">
                <a:moveTo>
                  <a:pt x="528992" y="0"/>
                </a:moveTo>
                <a:cubicBezTo>
                  <a:pt x="464814" y="5348"/>
                  <a:pt x="452900" y="-8381"/>
                  <a:pt x="415637" y="22671"/>
                </a:cubicBezTo>
                <a:cubicBezTo>
                  <a:pt x="407427" y="29513"/>
                  <a:pt x="400523" y="37785"/>
                  <a:pt x="392966" y="45342"/>
                </a:cubicBezTo>
                <a:cubicBezTo>
                  <a:pt x="388709" y="58112"/>
                  <a:pt x="378756" y="86041"/>
                  <a:pt x="377852" y="98241"/>
                </a:cubicBezTo>
                <a:cubicBezTo>
                  <a:pt x="373568" y="156075"/>
                  <a:pt x="378794" y="214687"/>
                  <a:pt x="370295" y="272053"/>
                </a:cubicBezTo>
                <a:cubicBezTo>
                  <a:pt x="368974" y="280968"/>
                  <a:pt x="332973" y="318715"/>
                  <a:pt x="324953" y="324952"/>
                </a:cubicBezTo>
                <a:cubicBezTo>
                  <a:pt x="310614" y="336104"/>
                  <a:pt x="294724" y="345104"/>
                  <a:pt x="279610" y="355180"/>
                </a:cubicBezTo>
                <a:cubicBezTo>
                  <a:pt x="272053" y="360218"/>
                  <a:pt x="265555" y="367422"/>
                  <a:pt x="256939" y="370294"/>
                </a:cubicBezTo>
                <a:cubicBezTo>
                  <a:pt x="249382" y="372813"/>
                  <a:pt x="241393" y="374289"/>
                  <a:pt x="234268" y="377851"/>
                </a:cubicBezTo>
                <a:cubicBezTo>
                  <a:pt x="226144" y="381913"/>
                  <a:pt x="219945" y="389387"/>
                  <a:pt x="211597" y="392965"/>
                </a:cubicBezTo>
                <a:cubicBezTo>
                  <a:pt x="202051" y="397056"/>
                  <a:pt x="191317" y="397538"/>
                  <a:pt x="181369" y="400522"/>
                </a:cubicBezTo>
                <a:cubicBezTo>
                  <a:pt x="158480" y="407389"/>
                  <a:pt x="136027" y="415636"/>
                  <a:pt x="113356" y="423193"/>
                </a:cubicBezTo>
                <a:cubicBezTo>
                  <a:pt x="105799" y="425712"/>
                  <a:pt x="98413" y="428818"/>
                  <a:pt x="90685" y="430750"/>
                </a:cubicBezTo>
                <a:lnTo>
                  <a:pt x="60457" y="438307"/>
                </a:lnTo>
                <a:cubicBezTo>
                  <a:pt x="52900" y="443345"/>
                  <a:pt x="45910" y="449359"/>
                  <a:pt x="37786" y="453421"/>
                </a:cubicBezTo>
                <a:cubicBezTo>
                  <a:pt x="30661" y="456983"/>
                  <a:pt x="21946" y="456880"/>
                  <a:pt x="15115" y="460978"/>
                </a:cubicBezTo>
                <a:cubicBezTo>
                  <a:pt x="9005" y="464644"/>
                  <a:pt x="5038" y="471054"/>
                  <a:pt x="0" y="476092"/>
                </a:cubicBezTo>
                <a:cubicBezTo>
                  <a:pt x="2519" y="513877"/>
                  <a:pt x="3376" y="551810"/>
                  <a:pt x="7558" y="589448"/>
                </a:cubicBezTo>
                <a:cubicBezTo>
                  <a:pt x="11688" y="626616"/>
                  <a:pt x="36815" y="621998"/>
                  <a:pt x="60457" y="657461"/>
                </a:cubicBezTo>
                <a:cubicBezTo>
                  <a:pt x="65495" y="665018"/>
                  <a:pt x="67869" y="675318"/>
                  <a:pt x="75571" y="680132"/>
                </a:cubicBezTo>
                <a:cubicBezTo>
                  <a:pt x="87837" y="687798"/>
                  <a:pt x="133444" y="698379"/>
                  <a:pt x="151141" y="702803"/>
                </a:cubicBezTo>
                <a:cubicBezTo>
                  <a:pt x="188926" y="700284"/>
                  <a:pt x="227529" y="703461"/>
                  <a:pt x="264496" y="695246"/>
                </a:cubicBezTo>
                <a:cubicBezTo>
                  <a:pt x="274929" y="692928"/>
                  <a:pt x="278957" y="679417"/>
                  <a:pt x="287167" y="672575"/>
                </a:cubicBezTo>
                <a:cubicBezTo>
                  <a:pt x="294145" y="666760"/>
                  <a:pt x="302282" y="662499"/>
                  <a:pt x="309839" y="657461"/>
                </a:cubicBezTo>
                <a:cubicBezTo>
                  <a:pt x="314877" y="649904"/>
                  <a:pt x="321264" y="643090"/>
                  <a:pt x="324953" y="634790"/>
                </a:cubicBezTo>
                <a:cubicBezTo>
                  <a:pt x="335466" y="611135"/>
                  <a:pt x="341343" y="584342"/>
                  <a:pt x="347624" y="559220"/>
                </a:cubicBezTo>
                <a:cubicBezTo>
                  <a:pt x="351600" y="499575"/>
                  <a:pt x="343699" y="427903"/>
                  <a:pt x="385409" y="377851"/>
                </a:cubicBezTo>
                <a:cubicBezTo>
                  <a:pt x="392251" y="369641"/>
                  <a:pt x="398801" y="360482"/>
                  <a:pt x="408080" y="355180"/>
                </a:cubicBezTo>
                <a:cubicBezTo>
                  <a:pt x="417098" y="350027"/>
                  <a:pt x="428232" y="350142"/>
                  <a:pt x="438308" y="347623"/>
                </a:cubicBezTo>
                <a:cubicBezTo>
                  <a:pt x="445865" y="342585"/>
                  <a:pt x="452475" y="335698"/>
                  <a:pt x="460979" y="332509"/>
                </a:cubicBezTo>
                <a:cubicBezTo>
                  <a:pt x="473006" y="327999"/>
                  <a:pt x="486225" y="327738"/>
                  <a:pt x="498764" y="324952"/>
                </a:cubicBezTo>
                <a:cubicBezTo>
                  <a:pt x="508903" y="322699"/>
                  <a:pt x="519044" y="320379"/>
                  <a:pt x="528992" y="317395"/>
                </a:cubicBezTo>
                <a:cubicBezTo>
                  <a:pt x="528997" y="317393"/>
                  <a:pt x="585667" y="298503"/>
                  <a:pt x="597005" y="294724"/>
                </a:cubicBezTo>
                <a:cubicBezTo>
                  <a:pt x="597006" y="294724"/>
                  <a:pt x="642347" y="279611"/>
                  <a:pt x="642348" y="279610"/>
                </a:cubicBezTo>
                <a:lnTo>
                  <a:pt x="665019" y="264496"/>
                </a:lnTo>
                <a:cubicBezTo>
                  <a:pt x="670057" y="254420"/>
                  <a:pt x="674544" y="244049"/>
                  <a:pt x="680133" y="234268"/>
                </a:cubicBezTo>
                <a:cubicBezTo>
                  <a:pt x="684639" y="226382"/>
                  <a:pt x="691185" y="219721"/>
                  <a:pt x="695247" y="211597"/>
                </a:cubicBezTo>
                <a:cubicBezTo>
                  <a:pt x="714187" y="173716"/>
                  <a:pt x="707094" y="179661"/>
                  <a:pt x="717918" y="143583"/>
                </a:cubicBezTo>
                <a:cubicBezTo>
                  <a:pt x="722496" y="128323"/>
                  <a:pt x="733032" y="98241"/>
                  <a:pt x="733032" y="98241"/>
                </a:cubicBezTo>
                <a:cubicBezTo>
                  <a:pt x="730513" y="75570"/>
                  <a:pt x="733270" y="51665"/>
                  <a:pt x="725475" y="30228"/>
                </a:cubicBezTo>
                <a:cubicBezTo>
                  <a:pt x="718803" y="11881"/>
                  <a:pt x="663263" y="7723"/>
                  <a:pt x="657462" y="7557"/>
                </a:cubicBezTo>
                <a:cubicBezTo>
                  <a:pt x="584440" y="5471"/>
                  <a:pt x="511359" y="7557"/>
                  <a:pt x="438308" y="7557"/>
                </a:cubicBezTo>
              </a:path>
            </a:pathLst>
          </a:cu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323730"/>
              </p:ext>
            </p:extLst>
          </p:nvPr>
        </p:nvGraphicFramePr>
        <p:xfrm>
          <a:off x="761276" y="2432050"/>
          <a:ext cx="145732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1" name="Equation" r:id="rId12" imgW="838080" imgH="393480" progId="Equation.DSMT4">
                  <p:embed/>
                </p:oleObj>
              </mc:Choice>
              <mc:Fallback>
                <p:oleObj name="Equation" r:id="rId12" imgW="838080" imgH="393480" progId="Equation.DSMT4">
                  <p:embed/>
                  <p:pic>
                    <p:nvPicPr>
                      <p:cNvPr id="5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76" y="2432050"/>
                        <a:ext cx="1457325" cy="6778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126791"/>
              </p:ext>
            </p:extLst>
          </p:nvPr>
        </p:nvGraphicFramePr>
        <p:xfrm>
          <a:off x="1251579" y="3266852"/>
          <a:ext cx="11684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2" name="Equation" r:id="rId14" imgW="672840" imgH="393480" progId="Equation.DSMT4">
                  <p:embed/>
                </p:oleObj>
              </mc:Choice>
              <mc:Fallback>
                <p:oleObj name="Equation" r:id="rId14" imgW="672840" imgH="393480" progId="Equation.DSMT4">
                  <p:embed/>
                  <p:pic>
                    <p:nvPicPr>
                      <p:cNvPr id="5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579" y="3266852"/>
                        <a:ext cx="1168400" cy="6778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任意多边形 19"/>
          <p:cNvSpPr/>
          <p:nvPr/>
        </p:nvSpPr>
        <p:spPr bwMode="auto">
          <a:xfrm>
            <a:off x="3091959" y="2425024"/>
            <a:ext cx="424044" cy="673165"/>
          </a:xfrm>
          <a:custGeom>
            <a:avLst/>
            <a:gdLst>
              <a:gd name="connsiteX0" fmla="*/ 31079 w 424044"/>
              <a:gd name="connsiteY0" fmla="*/ 106388 h 673165"/>
              <a:gd name="connsiteX1" fmla="*/ 31079 w 424044"/>
              <a:gd name="connsiteY1" fmla="*/ 559810 h 673165"/>
              <a:gd name="connsiteX2" fmla="*/ 38636 w 424044"/>
              <a:gd name="connsiteY2" fmla="*/ 582481 h 673165"/>
              <a:gd name="connsiteX3" fmla="*/ 46193 w 424044"/>
              <a:gd name="connsiteY3" fmla="*/ 627823 h 673165"/>
              <a:gd name="connsiteX4" fmla="*/ 83978 w 424044"/>
              <a:gd name="connsiteY4" fmla="*/ 673165 h 673165"/>
              <a:gd name="connsiteX5" fmla="*/ 220005 w 424044"/>
              <a:gd name="connsiteY5" fmla="*/ 665608 h 673165"/>
              <a:gd name="connsiteX6" fmla="*/ 242676 w 424044"/>
              <a:gd name="connsiteY6" fmla="*/ 650494 h 673165"/>
              <a:gd name="connsiteX7" fmla="*/ 265347 w 424044"/>
              <a:gd name="connsiteY7" fmla="*/ 642937 h 673165"/>
              <a:gd name="connsiteX8" fmla="*/ 295575 w 424044"/>
              <a:gd name="connsiteY8" fmla="*/ 612709 h 673165"/>
              <a:gd name="connsiteX9" fmla="*/ 318246 w 424044"/>
              <a:gd name="connsiteY9" fmla="*/ 605152 h 673165"/>
              <a:gd name="connsiteX10" fmla="*/ 340917 w 424044"/>
              <a:gd name="connsiteY10" fmla="*/ 590038 h 673165"/>
              <a:gd name="connsiteX11" fmla="*/ 386259 w 424044"/>
              <a:gd name="connsiteY11" fmla="*/ 522025 h 673165"/>
              <a:gd name="connsiteX12" fmla="*/ 401373 w 424044"/>
              <a:gd name="connsiteY12" fmla="*/ 499354 h 673165"/>
              <a:gd name="connsiteX13" fmla="*/ 408930 w 424044"/>
              <a:gd name="connsiteY13" fmla="*/ 469126 h 673165"/>
              <a:gd name="connsiteX14" fmla="*/ 424044 w 424044"/>
              <a:gd name="connsiteY14" fmla="*/ 423783 h 673165"/>
              <a:gd name="connsiteX15" fmla="*/ 416487 w 424044"/>
              <a:gd name="connsiteY15" fmla="*/ 121502 h 673165"/>
              <a:gd name="connsiteX16" fmla="*/ 408930 w 424044"/>
              <a:gd name="connsiteY16" fmla="*/ 98831 h 673165"/>
              <a:gd name="connsiteX17" fmla="*/ 348474 w 424044"/>
              <a:gd name="connsiteY17" fmla="*/ 30818 h 673165"/>
              <a:gd name="connsiteX18" fmla="*/ 303132 w 424044"/>
              <a:gd name="connsiteY18" fmla="*/ 15704 h 673165"/>
              <a:gd name="connsiteX19" fmla="*/ 280461 w 424044"/>
              <a:gd name="connsiteY19" fmla="*/ 8147 h 673165"/>
              <a:gd name="connsiteX20" fmla="*/ 257790 w 424044"/>
              <a:gd name="connsiteY20" fmla="*/ 590 h 673165"/>
              <a:gd name="connsiteX21" fmla="*/ 53750 w 424044"/>
              <a:gd name="connsiteY21" fmla="*/ 8147 h 673165"/>
              <a:gd name="connsiteX22" fmla="*/ 8408 w 424044"/>
              <a:gd name="connsiteY22" fmla="*/ 53489 h 673165"/>
              <a:gd name="connsiteX23" fmla="*/ 851 w 424044"/>
              <a:gd name="connsiteY23" fmla="*/ 76160 h 673165"/>
              <a:gd name="connsiteX24" fmla="*/ 31079 w 424044"/>
              <a:gd name="connsiteY24" fmla="*/ 106388 h 67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24044" h="673165">
                <a:moveTo>
                  <a:pt x="31079" y="106388"/>
                </a:moveTo>
                <a:cubicBezTo>
                  <a:pt x="36117" y="186996"/>
                  <a:pt x="17548" y="180945"/>
                  <a:pt x="31079" y="559810"/>
                </a:cubicBezTo>
                <a:cubicBezTo>
                  <a:pt x="31363" y="567771"/>
                  <a:pt x="36908" y="574705"/>
                  <a:pt x="38636" y="582481"/>
                </a:cubicBezTo>
                <a:cubicBezTo>
                  <a:pt x="41960" y="597439"/>
                  <a:pt x="41348" y="613287"/>
                  <a:pt x="46193" y="627823"/>
                </a:cubicBezTo>
                <a:cubicBezTo>
                  <a:pt x="51454" y="643605"/>
                  <a:pt x="73455" y="662642"/>
                  <a:pt x="83978" y="673165"/>
                </a:cubicBezTo>
                <a:cubicBezTo>
                  <a:pt x="129320" y="670646"/>
                  <a:pt x="175049" y="672030"/>
                  <a:pt x="220005" y="665608"/>
                </a:cubicBezTo>
                <a:cubicBezTo>
                  <a:pt x="228996" y="664324"/>
                  <a:pt x="234552" y="654556"/>
                  <a:pt x="242676" y="650494"/>
                </a:cubicBezTo>
                <a:cubicBezTo>
                  <a:pt x="249801" y="646932"/>
                  <a:pt x="257790" y="645456"/>
                  <a:pt x="265347" y="642937"/>
                </a:cubicBezTo>
                <a:cubicBezTo>
                  <a:pt x="275423" y="632861"/>
                  <a:pt x="283980" y="620991"/>
                  <a:pt x="295575" y="612709"/>
                </a:cubicBezTo>
                <a:cubicBezTo>
                  <a:pt x="302057" y="608079"/>
                  <a:pt x="311121" y="608714"/>
                  <a:pt x="318246" y="605152"/>
                </a:cubicBezTo>
                <a:cubicBezTo>
                  <a:pt x="326370" y="601090"/>
                  <a:pt x="333360" y="595076"/>
                  <a:pt x="340917" y="590038"/>
                </a:cubicBezTo>
                <a:lnTo>
                  <a:pt x="386259" y="522025"/>
                </a:lnTo>
                <a:lnTo>
                  <a:pt x="401373" y="499354"/>
                </a:lnTo>
                <a:cubicBezTo>
                  <a:pt x="403892" y="489278"/>
                  <a:pt x="405946" y="479074"/>
                  <a:pt x="408930" y="469126"/>
                </a:cubicBezTo>
                <a:cubicBezTo>
                  <a:pt x="413508" y="453866"/>
                  <a:pt x="424044" y="423783"/>
                  <a:pt x="424044" y="423783"/>
                </a:cubicBezTo>
                <a:cubicBezTo>
                  <a:pt x="421525" y="323023"/>
                  <a:pt x="421170" y="222185"/>
                  <a:pt x="416487" y="121502"/>
                </a:cubicBezTo>
                <a:cubicBezTo>
                  <a:pt x="416117" y="113545"/>
                  <a:pt x="412492" y="105956"/>
                  <a:pt x="408930" y="98831"/>
                </a:cubicBezTo>
                <a:cubicBezTo>
                  <a:pt x="398849" y="78669"/>
                  <a:pt x="360491" y="34824"/>
                  <a:pt x="348474" y="30818"/>
                </a:cubicBezTo>
                <a:lnTo>
                  <a:pt x="303132" y="15704"/>
                </a:lnTo>
                <a:lnTo>
                  <a:pt x="280461" y="8147"/>
                </a:lnTo>
                <a:lnTo>
                  <a:pt x="257790" y="590"/>
                </a:lnTo>
                <a:cubicBezTo>
                  <a:pt x="189777" y="3109"/>
                  <a:pt x="120329" y="-5976"/>
                  <a:pt x="53750" y="8147"/>
                </a:cubicBezTo>
                <a:cubicBezTo>
                  <a:pt x="32841" y="12582"/>
                  <a:pt x="8408" y="53489"/>
                  <a:pt x="8408" y="53489"/>
                </a:cubicBezTo>
                <a:cubicBezTo>
                  <a:pt x="5889" y="61046"/>
                  <a:pt x="-2711" y="69035"/>
                  <a:pt x="851" y="76160"/>
                </a:cubicBezTo>
                <a:cubicBezTo>
                  <a:pt x="4413" y="83285"/>
                  <a:pt x="26041" y="25780"/>
                  <a:pt x="31079" y="106388"/>
                </a:cubicBezTo>
                <a:close/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376910"/>
              </p:ext>
            </p:extLst>
          </p:nvPr>
        </p:nvGraphicFramePr>
        <p:xfrm>
          <a:off x="2439722" y="3266852"/>
          <a:ext cx="26670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3" name="Equation" r:id="rId16" imgW="1536480" imgH="419040" progId="Equation.DSMT4">
                  <p:embed/>
                </p:oleObj>
              </mc:Choice>
              <mc:Fallback>
                <p:oleObj name="Equation" r:id="rId16" imgW="1536480" imgH="419040" progId="Equation.DSMT4">
                  <p:embed/>
                  <p:pic>
                    <p:nvPicPr>
                      <p:cNvPr id="6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722" y="3266852"/>
                        <a:ext cx="2667000" cy="7223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186876"/>
              </p:ext>
            </p:extLst>
          </p:nvPr>
        </p:nvGraphicFramePr>
        <p:xfrm>
          <a:off x="788264" y="4058983"/>
          <a:ext cx="1592199" cy="679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4" name="Equation" r:id="rId18" imgW="914400" imgH="393480" progId="Equation.DSMT4">
                  <p:embed/>
                </p:oleObj>
              </mc:Choice>
              <mc:Fallback>
                <p:oleObj name="Equation" r:id="rId18" imgW="914400" imgH="393480" progId="Equation.DSMT4">
                  <p:embed/>
                  <p:pic>
                    <p:nvPicPr>
                      <p:cNvPr id="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264" y="4058983"/>
                        <a:ext cx="1592199" cy="67986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5323684" y="1898542"/>
            <a:ext cx="3498015" cy="3243013"/>
            <a:chOff x="5237018" y="1900487"/>
            <a:chExt cx="3498015" cy="3243013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20"/>
            <a:srcRect t="17362"/>
            <a:stretch/>
          </p:blipFill>
          <p:spPr>
            <a:xfrm>
              <a:off x="5520801" y="2413900"/>
              <a:ext cx="3214232" cy="2039505"/>
            </a:xfrm>
            <a:prstGeom prst="rect">
              <a:avLst/>
            </a:prstGeom>
          </p:spPr>
        </p:pic>
        <p:cxnSp>
          <p:nvCxnSpPr>
            <p:cNvPr id="22" name="直接连接符 21"/>
            <p:cNvCxnSpPr/>
            <p:nvPr/>
          </p:nvCxnSpPr>
          <p:spPr bwMode="auto">
            <a:xfrm>
              <a:off x="5237018" y="1900487"/>
              <a:ext cx="0" cy="324301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9" name="文本框 68"/>
          <p:cNvSpPr txBox="1"/>
          <p:nvPr/>
        </p:nvSpPr>
        <p:spPr>
          <a:xfrm>
            <a:off x="5363210" y="1813050"/>
            <a:ext cx="3539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CC0000"/>
                </a:solidFill>
              </a:rPr>
              <a:t>只有一个方向，</a:t>
            </a:r>
            <a:r>
              <a:rPr lang="zh-CN" altLang="en-US" sz="2000" b="1" dirty="0">
                <a:solidFill>
                  <a:srgbClr val="CC0000"/>
                </a:solidFill>
              </a:rPr>
              <a:t>可</a:t>
            </a:r>
            <a:r>
              <a:rPr lang="zh-CN" altLang="en-US" sz="2000" b="1" dirty="0" smtClean="0">
                <a:solidFill>
                  <a:srgbClr val="CC0000"/>
                </a:solidFill>
              </a:rPr>
              <a:t>省略下标：</a:t>
            </a:r>
            <a:endParaRPr lang="zh-CN" altLang="en-US" sz="2000" b="1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49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0" grpId="0" animBg="1"/>
      <p:bldP spid="6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F618C4-5430-4A6F-9F96-9820267EA4AD}" type="slidenum">
              <a:rPr lang="zh-CN" altLang="en-US"/>
              <a:pPr>
                <a:defRPr/>
              </a:pPr>
              <a:t>30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311874" y="2291388"/>
            <a:ext cx="8096162" cy="535531"/>
            <a:chOff x="539750" y="5137150"/>
            <a:chExt cx="10794883" cy="714042"/>
          </a:xfrm>
        </p:grpSpPr>
        <p:sp>
          <p:nvSpPr>
            <p:cNvPr id="30733" name="Text Box 2"/>
            <p:cNvSpPr txBox="1">
              <a:spLocks noChangeArrowheads="1"/>
            </p:cNvSpPr>
            <p:nvPr/>
          </p:nvSpPr>
          <p:spPr bwMode="auto">
            <a:xfrm>
              <a:off x="539750" y="5137150"/>
              <a:ext cx="10794883" cy="7140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smtClean="0">
                  <a:solidFill>
                    <a:srgbClr val="FF0000"/>
                  </a:solidFill>
                </a:rPr>
                <a:t>问</a:t>
              </a:r>
              <a:r>
                <a:rPr lang="en-US" altLang="zh-CN" b="1" smtClean="0">
                  <a:solidFill>
                    <a:srgbClr val="FF0000"/>
                  </a:solidFill>
                </a:rPr>
                <a:t>:</a:t>
              </a:r>
              <a:r>
                <a:rPr lang="zh-CN" altLang="en-US" b="1" smtClean="0">
                  <a:solidFill>
                    <a:srgbClr val="1C1C1C"/>
                  </a:solidFill>
                </a:rPr>
                <a:t>绳</a:t>
              </a:r>
              <a:r>
                <a:rPr lang="zh-CN" altLang="en-US" b="1">
                  <a:solidFill>
                    <a:srgbClr val="1C1C1C"/>
                  </a:solidFill>
                </a:rPr>
                <a:t>和铅直方向所成的角度    为多少</a:t>
              </a:r>
              <a:r>
                <a:rPr lang="zh-CN" altLang="en-US" b="1" smtClean="0">
                  <a:solidFill>
                    <a:srgbClr val="1C1C1C"/>
                  </a:solidFill>
                </a:rPr>
                <a:t>？</a:t>
              </a:r>
              <a:endParaRPr lang="zh-CN" altLang="en-US"/>
            </a:p>
          </p:txBody>
        </p:sp>
        <p:graphicFrame>
          <p:nvGraphicFramePr>
            <p:cNvPr id="3072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8680773"/>
                </p:ext>
              </p:extLst>
            </p:nvPr>
          </p:nvGraphicFramePr>
          <p:xfrm>
            <a:off x="5707063" y="5247071"/>
            <a:ext cx="385761" cy="541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46" r:id="rId3" imgW="126720" imgH="177480" progId="Equation.3">
                    <p:embed/>
                  </p:oleObj>
                </mc:Choice>
                <mc:Fallback>
                  <p:oleObj r:id="rId3" imgW="126720" imgH="1774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7063" y="5247071"/>
                          <a:ext cx="385761" cy="541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311874" y="423326"/>
            <a:ext cx="8365400" cy="1865126"/>
            <a:chOff x="-1225667" y="735013"/>
            <a:chExt cx="11153865" cy="2486835"/>
          </a:xfrm>
        </p:grpSpPr>
        <p:sp>
          <p:nvSpPr>
            <p:cNvPr id="30734" name="Text Box 3"/>
            <p:cNvSpPr txBox="1">
              <a:spLocks noChangeArrowheads="1"/>
            </p:cNvSpPr>
            <p:nvPr/>
          </p:nvSpPr>
          <p:spPr bwMode="auto">
            <a:xfrm>
              <a:off x="-1225667" y="735013"/>
              <a:ext cx="11153865" cy="2486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smtClean="0">
                  <a:solidFill>
                    <a:srgbClr val="CC0000"/>
                  </a:solidFill>
                  <a:latin typeface="宋体" pitchFamily="2" charset="-122"/>
                </a:rPr>
                <a:t>例</a:t>
              </a:r>
              <a:r>
                <a:rPr lang="zh-CN" altLang="en-US" b="1">
                  <a:solidFill>
                    <a:srgbClr val="CC0000"/>
                  </a:solidFill>
                </a:rPr>
                <a:t>3</a:t>
              </a: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 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如图</a:t>
              </a:r>
              <a:r>
                <a:rPr lang="en-US" altLang="zh-CN" b="1">
                  <a:solidFill>
                    <a:srgbClr val="1C1C1C"/>
                  </a:solidFill>
                  <a:latin typeface="宋体" pitchFamily="2" charset="-122"/>
                </a:rPr>
                <a:t>,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摆长为 的</a:t>
              </a:r>
              <a:r>
                <a:rPr lang="zh-CN" altLang="en-US" b="1">
                  <a:solidFill>
                    <a:srgbClr val="1C1C1C"/>
                  </a:solidFill>
                </a:rPr>
                <a:t>圆锥摆，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细绳一端固定在天花板上，另一端悬挂质量为  的小球，小球经推动后，在水平面内绕通过圆心  的铅直轴作半径为</a:t>
              </a:r>
              <a:r>
                <a:rPr lang="en-US" altLang="zh-CN" b="1" i="1">
                  <a:solidFill>
                    <a:srgbClr val="1C1C1C"/>
                  </a:solidFill>
                  <a:cs typeface="Times New Roman" panose="02020603050405020304" pitchFamily="18" charset="0"/>
                </a:rPr>
                <a:t>r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角速度为  </a:t>
              </a:r>
              <a:r>
                <a:rPr lang="zh-CN" altLang="en-US" b="1">
                  <a:solidFill>
                    <a:srgbClr val="1C1C1C"/>
                  </a:solidFill>
                </a:rPr>
                <a:t>的匀速率圆周运动</a:t>
              </a:r>
              <a:r>
                <a:rPr lang="zh-CN" altLang="en-US" b="1" smtClean="0">
                  <a:solidFill>
                    <a:srgbClr val="1C1C1C"/>
                  </a:solidFill>
                </a:rPr>
                <a:t>．</a:t>
              </a:r>
              <a:r>
                <a:rPr lang="zh-CN" altLang="en-US" b="1">
                  <a:solidFill>
                    <a:srgbClr val="1C1C1C"/>
                  </a:solidFill>
                </a:rPr>
                <a:t>空气阻力不</a:t>
              </a:r>
              <a:r>
                <a:rPr lang="zh-CN" altLang="en-US" b="1" smtClean="0">
                  <a:solidFill>
                    <a:srgbClr val="1C1C1C"/>
                  </a:solidFill>
                </a:rPr>
                <a:t>计</a:t>
              </a:r>
              <a:r>
                <a:rPr lang="en-US" altLang="zh-CN" b="1" smtClean="0">
                  <a:solidFill>
                    <a:srgbClr val="1C1C1C"/>
                  </a:solidFill>
                </a:rPr>
                <a:t>.</a:t>
              </a:r>
              <a:endParaRPr lang="zh-CN" altLang="en-US" b="1">
                <a:solidFill>
                  <a:srgbClr val="1C1C1C"/>
                </a:solidFill>
                <a:latin typeface="宋体" pitchFamily="2" charset="-122"/>
              </a:endParaRPr>
            </a:p>
          </p:txBody>
        </p:sp>
        <p:graphicFrame>
          <p:nvGraphicFramePr>
            <p:cNvPr id="3072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849529"/>
                </p:ext>
              </p:extLst>
            </p:nvPr>
          </p:nvGraphicFramePr>
          <p:xfrm>
            <a:off x="1794699" y="1452969"/>
            <a:ext cx="576263" cy="487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47" r:id="rId5" imgW="164880" imgH="139680" progId="Equation.3">
                    <p:embed/>
                  </p:oleObj>
                </mc:Choice>
                <mc:Fallback>
                  <p:oleObj r:id="rId5" imgW="164880" imgH="13968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4699" y="1452969"/>
                          <a:ext cx="576263" cy="4873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1471144"/>
                </p:ext>
              </p:extLst>
            </p:nvPr>
          </p:nvGraphicFramePr>
          <p:xfrm>
            <a:off x="2104262" y="818278"/>
            <a:ext cx="273051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48" r:id="rId7" imgW="88560" imgH="177480" progId="Equation.3">
                    <p:embed/>
                  </p:oleObj>
                </mc:Choice>
                <mc:Fallback>
                  <p:oleObj r:id="rId7" imgW="88560" imgH="1774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4262" y="818278"/>
                          <a:ext cx="273051" cy="546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579139"/>
                </p:ext>
              </p:extLst>
            </p:nvPr>
          </p:nvGraphicFramePr>
          <p:xfrm>
            <a:off x="225425" y="2021604"/>
            <a:ext cx="458788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49" r:id="rId9" imgW="127042" imgH="139714" progId="Equation.3">
                    <p:embed/>
                  </p:oleObj>
                </mc:Choice>
                <mc:Fallback>
                  <p:oleObj r:id="rId9" imgW="127042" imgH="139714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425" y="2021604"/>
                          <a:ext cx="458788" cy="504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5476912"/>
                </p:ext>
              </p:extLst>
            </p:nvPr>
          </p:nvGraphicFramePr>
          <p:xfrm>
            <a:off x="6283416" y="2062880"/>
            <a:ext cx="4572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50" r:id="rId11" imgW="152280" imgH="139680" progId="Equation.3">
                    <p:embed/>
                  </p:oleObj>
                </mc:Choice>
                <mc:Fallback>
                  <p:oleObj r:id="rId11" imgW="152280" imgH="13968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3416" y="2062880"/>
                          <a:ext cx="4572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35" name="Group 9"/>
          <p:cNvGrpSpPr>
            <a:grpSpLocks/>
          </p:cNvGrpSpPr>
          <p:nvPr/>
        </p:nvGrpSpPr>
        <p:grpSpPr bwMode="auto">
          <a:xfrm>
            <a:off x="6070005" y="2288452"/>
            <a:ext cx="1953816" cy="2309813"/>
            <a:chOff x="327" y="192"/>
            <a:chExt cx="1641" cy="1940"/>
          </a:xfrm>
        </p:grpSpPr>
        <p:sp>
          <p:nvSpPr>
            <p:cNvPr id="30737" name="Oval 11"/>
            <p:cNvSpPr>
              <a:spLocks noChangeArrowheads="1"/>
            </p:cNvSpPr>
            <p:nvPr/>
          </p:nvSpPr>
          <p:spPr bwMode="auto">
            <a:xfrm>
              <a:off x="384" y="1200"/>
              <a:ext cx="1584" cy="432"/>
            </a:xfrm>
            <a:prstGeom prst="ellipse">
              <a:avLst/>
            </a:prstGeom>
            <a:noFill/>
            <a:ln w="12700">
              <a:solidFill>
                <a:srgbClr val="9966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0727" name="Object 12"/>
            <p:cNvGraphicFramePr>
              <a:graphicFrameLocks noChangeAspect="1"/>
            </p:cNvGraphicFramePr>
            <p:nvPr/>
          </p:nvGraphicFramePr>
          <p:xfrm>
            <a:off x="960" y="568"/>
            <a:ext cx="21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51" r:id="rId13" imgW="126720" imgH="177480" progId="Equation.3">
                    <p:embed/>
                  </p:oleObj>
                </mc:Choice>
                <mc:Fallback>
                  <p:oleObj r:id="rId13" imgW="126720" imgH="1774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568"/>
                          <a:ext cx="211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8" name="Object 13"/>
            <p:cNvGraphicFramePr>
              <a:graphicFrameLocks noChangeAspect="1"/>
            </p:cNvGraphicFramePr>
            <p:nvPr/>
          </p:nvGraphicFramePr>
          <p:xfrm>
            <a:off x="1200" y="1270"/>
            <a:ext cx="242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52" r:id="rId14" imgW="126720" imgH="139680" progId="Equation.3">
                    <p:embed/>
                  </p:oleObj>
                </mc:Choice>
                <mc:Fallback>
                  <p:oleObj r:id="rId14" imgW="126720" imgH="1396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70"/>
                          <a:ext cx="242" cy="2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9" name="Object 14"/>
            <p:cNvGraphicFramePr>
              <a:graphicFrameLocks noChangeAspect="1"/>
            </p:cNvGraphicFramePr>
            <p:nvPr/>
          </p:nvGraphicFramePr>
          <p:xfrm>
            <a:off x="788" y="336"/>
            <a:ext cx="17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53" r:id="rId16" imgW="88560" imgH="177480" progId="Equation.3">
                    <p:embed/>
                  </p:oleObj>
                </mc:Choice>
                <mc:Fallback>
                  <p:oleObj r:id="rId16" imgW="8856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336"/>
                          <a:ext cx="172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8" name="Line 15"/>
            <p:cNvSpPr>
              <a:spLocks noChangeShapeType="1"/>
            </p:cNvSpPr>
            <p:nvPr/>
          </p:nvSpPr>
          <p:spPr bwMode="auto">
            <a:xfrm>
              <a:off x="720" y="288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39" name="Line 16"/>
            <p:cNvSpPr>
              <a:spLocks noChangeShapeType="1"/>
            </p:cNvSpPr>
            <p:nvPr/>
          </p:nvSpPr>
          <p:spPr bwMode="auto">
            <a:xfrm>
              <a:off x="1200" y="288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0" name="Line 17"/>
            <p:cNvSpPr>
              <a:spLocks noChangeShapeType="1"/>
            </p:cNvSpPr>
            <p:nvPr/>
          </p:nvSpPr>
          <p:spPr bwMode="auto">
            <a:xfrm flipH="1">
              <a:off x="384" y="288"/>
              <a:ext cx="816" cy="110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1" name="Line 18"/>
            <p:cNvSpPr>
              <a:spLocks noChangeShapeType="1"/>
            </p:cNvSpPr>
            <p:nvPr/>
          </p:nvSpPr>
          <p:spPr bwMode="auto">
            <a:xfrm>
              <a:off x="384" y="141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2" name="Freeform 19"/>
            <p:cNvSpPr>
              <a:spLocks/>
            </p:cNvSpPr>
            <p:nvPr/>
          </p:nvSpPr>
          <p:spPr bwMode="auto">
            <a:xfrm>
              <a:off x="1056" y="480"/>
              <a:ext cx="144" cy="56"/>
            </a:xfrm>
            <a:custGeom>
              <a:avLst/>
              <a:gdLst>
                <a:gd name="T0" fmla="*/ 0 w 144"/>
                <a:gd name="T1" fmla="*/ 0 h 56"/>
                <a:gd name="T2" fmla="*/ 48 w 144"/>
                <a:gd name="T3" fmla="*/ 48 h 56"/>
                <a:gd name="T4" fmla="*/ 144 w 144"/>
                <a:gd name="T5" fmla="*/ 48 h 56"/>
                <a:gd name="T6" fmla="*/ 0 60000 65536"/>
                <a:gd name="T7" fmla="*/ 0 60000 65536"/>
                <a:gd name="T8" fmla="*/ 0 60000 65536"/>
                <a:gd name="T9" fmla="*/ 0 w 144"/>
                <a:gd name="T10" fmla="*/ 0 h 56"/>
                <a:gd name="T11" fmla="*/ 144 w 144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56">
                  <a:moveTo>
                    <a:pt x="0" y="0"/>
                  </a:moveTo>
                  <a:cubicBezTo>
                    <a:pt x="12" y="20"/>
                    <a:pt x="24" y="40"/>
                    <a:pt x="48" y="48"/>
                  </a:cubicBezTo>
                  <a:cubicBezTo>
                    <a:pt x="72" y="56"/>
                    <a:pt x="108" y="52"/>
                    <a:pt x="144" y="4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073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3852341"/>
                </p:ext>
              </p:extLst>
            </p:nvPr>
          </p:nvGraphicFramePr>
          <p:xfrm>
            <a:off x="864" y="1379"/>
            <a:ext cx="228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54" r:id="rId17" imgW="114369" imgH="127042" progId="Equation.3">
                    <p:embed/>
                  </p:oleObj>
                </mc:Choice>
                <mc:Fallback>
                  <p:oleObj r:id="rId17" imgW="114369" imgH="127042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379"/>
                          <a:ext cx="228" cy="25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3" name="Oval 21"/>
            <p:cNvSpPr>
              <a:spLocks noChangeArrowheads="1"/>
            </p:cNvSpPr>
            <p:nvPr/>
          </p:nvSpPr>
          <p:spPr bwMode="auto">
            <a:xfrm>
              <a:off x="327" y="1344"/>
              <a:ext cx="144" cy="1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800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0744" name="Line 22"/>
            <p:cNvSpPr>
              <a:spLocks noChangeShapeType="1"/>
            </p:cNvSpPr>
            <p:nvPr/>
          </p:nvSpPr>
          <p:spPr bwMode="auto">
            <a:xfrm flipV="1">
              <a:off x="768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5" name="Line 23"/>
            <p:cNvSpPr>
              <a:spLocks noChangeShapeType="1"/>
            </p:cNvSpPr>
            <p:nvPr/>
          </p:nvSpPr>
          <p:spPr bwMode="auto">
            <a:xfrm flipV="1">
              <a:off x="864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6" name="Line 24"/>
            <p:cNvSpPr>
              <a:spLocks noChangeShapeType="1"/>
            </p:cNvSpPr>
            <p:nvPr/>
          </p:nvSpPr>
          <p:spPr bwMode="auto">
            <a:xfrm flipV="1">
              <a:off x="960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7" name="Line 25"/>
            <p:cNvSpPr>
              <a:spLocks noChangeShapeType="1"/>
            </p:cNvSpPr>
            <p:nvPr/>
          </p:nvSpPr>
          <p:spPr bwMode="auto">
            <a:xfrm flipV="1">
              <a:off x="1056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8" name="Line 26"/>
            <p:cNvSpPr>
              <a:spLocks noChangeShapeType="1"/>
            </p:cNvSpPr>
            <p:nvPr/>
          </p:nvSpPr>
          <p:spPr bwMode="auto">
            <a:xfrm flipV="1">
              <a:off x="1152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9" name="Line 27"/>
            <p:cNvSpPr>
              <a:spLocks noChangeShapeType="1"/>
            </p:cNvSpPr>
            <p:nvPr/>
          </p:nvSpPr>
          <p:spPr bwMode="auto">
            <a:xfrm flipV="1">
              <a:off x="1248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50" name="Line 28"/>
            <p:cNvSpPr>
              <a:spLocks noChangeShapeType="1"/>
            </p:cNvSpPr>
            <p:nvPr/>
          </p:nvSpPr>
          <p:spPr bwMode="auto">
            <a:xfrm flipV="1">
              <a:off x="1344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51" name="Line 29"/>
            <p:cNvSpPr>
              <a:spLocks noChangeShapeType="1"/>
            </p:cNvSpPr>
            <p:nvPr/>
          </p:nvSpPr>
          <p:spPr bwMode="auto">
            <a:xfrm flipV="1">
              <a:off x="1440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52" name="Line 30"/>
            <p:cNvSpPr>
              <a:spLocks noChangeShapeType="1"/>
            </p:cNvSpPr>
            <p:nvPr/>
          </p:nvSpPr>
          <p:spPr bwMode="auto">
            <a:xfrm flipV="1">
              <a:off x="1536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0731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760383"/>
                </p:ext>
              </p:extLst>
            </p:nvPr>
          </p:nvGraphicFramePr>
          <p:xfrm>
            <a:off x="908" y="1801"/>
            <a:ext cx="303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55" name="Equation" r:id="rId19" imgW="126720" imgH="139680" progId="Equation.DSMT4">
                    <p:embed/>
                  </p:oleObj>
                </mc:Choice>
                <mc:Fallback>
                  <p:oleObj name="Equation" r:id="rId19" imgW="126720" imgH="13968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1801"/>
                          <a:ext cx="303" cy="3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Line 45"/>
          <p:cNvSpPr>
            <a:spLocks noChangeShapeType="1"/>
          </p:cNvSpPr>
          <p:nvPr/>
        </p:nvSpPr>
        <p:spPr bwMode="auto">
          <a:xfrm>
            <a:off x="6172995" y="3816024"/>
            <a:ext cx="620316" cy="584597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med" len="lg"/>
          </a:ln>
        </p:spPr>
        <p:txBody>
          <a:bodyPr wrap="none"/>
          <a:lstStyle/>
          <a:p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6" name="Text Box 2"/>
          <p:cNvSpPr txBox="1">
            <a:spLocks noChangeArrowheads="1"/>
          </p:cNvSpPr>
          <p:nvPr/>
        </p:nvSpPr>
        <p:spPr bwMode="auto">
          <a:xfrm>
            <a:off x="789954" y="325692"/>
            <a:ext cx="4473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</a:rPr>
              <a:t>解</a:t>
            </a:r>
            <a:r>
              <a:rPr lang="en-US" altLang="zh-CN" b="1" dirty="0">
                <a:solidFill>
                  <a:srgbClr val="CC0000"/>
                </a:solidFill>
              </a:rPr>
              <a:t>: </a:t>
            </a:r>
            <a:r>
              <a:rPr lang="zh-CN" altLang="en-US" b="1" dirty="0"/>
              <a:t>在法向和竖直方向列方程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97578" y="857965"/>
            <a:ext cx="3221986" cy="1066611"/>
            <a:chOff x="-21" y="-226"/>
            <a:chExt cx="2764" cy="915"/>
          </a:xfrm>
        </p:grpSpPr>
        <p:graphicFrame>
          <p:nvGraphicFramePr>
            <p:cNvPr id="3176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9887159"/>
                </p:ext>
              </p:extLst>
            </p:nvPr>
          </p:nvGraphicFramePr>
          <p:xfrm>
            <a:off x="181" y="-226"/>
            <a:ext cx="2562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04" r:id="rId3" imgW="1410017" imgH="228917" progId="Equation.3">
                    <p:embed/>
                  </p:oleObj>
                </mc:Choice>
                <mc:Fallback>
                  <p:oleObj r:id="rId3" imgW="1410017" imgH="22891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" y="-226"/>
                          <a:ext cx="2562" cy="41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3110645"/>
                </p:ext>
              </p:extLst>
            </p:nvPr>
          </p:nvGraphicFramePr>
          <p:xfrm>
            <a:off x="175" y="276"/>
            <a:ext cx="1813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05" name="Equation" r:id="rId5" imgW="1104840" imgH="228600" progId="Equation.DSMT4">
                    <p:embed/>
                  </p:oleObj>
                </mc:Choice>
                <mc:Fallback>
                  <p:oleObj name="Equation" r:id="rId5" imgW="110484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276"/>
                          <a:ext cx="1813" cy="4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1" name="AutoShape 7"/>
            <p:cNvSpPr>
              <a:spLocks/>
            </p:cNvSpPr>
            <p:nvPr/>
          </p:nvSpPr>
          <p:spPr bwMode="auto">
            <a:xfrm>
              <a:off x="-21" y="-90"/>
              <a:ext cx="182" cy="679"/>
            </a:xfrm>
            <a:prstGeom prst="leftBrace">
              <a:avLst>
                <a:gd name="adj1" fmla="val 5868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aphicFrame>
        <p:nvGraphicFramePr>
          <p:cNvPr id="74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215485"/>
              </p:ext>
            </p:extLst>
          </p:nvPr>
        </p:nvGraphicFramePr>
        <p:xfrm>
          <a:off x="1358580" y="3786778"/>
          <a:ext cx="2551937" cy="798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06" r:id="rId7" imgW="1257072" imgH="393846" progId="Equation.3">
                  <p:embed/>
                </p:oleObj>
              </mc:Choice>
              <mc:Fallback>
                <p:oleObj r:id="rId7" imgW="1257072" imgH="3938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580" y="3786778"/>
                        <a:ext cx="2551937" cy="79827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99" name="Group 11"/>
          <p:cNvGrpSpPr>
            <a:grpSpLocks/>
          </p:cNvGrpSpPr>
          <p:nvPr/>
        </p:nvGrpSpPr>
        <p:grpSpPr bwMode="auto">
          <a:xfrm>
            <a:off x="4342305" y="3962554"/>
            <a:ext cx="2686050" cy="422672"/>
            <a:chOff x="0" y="0"/>
            <a:chExt cx="2256" cy="355"/>
          </a:xfrm>
        </p:grpSpPr>
        <p:graphicFrame>
          <p:nvGraphicFramePr>
            <p:cNvPr id="31761" name="Object 12"/>
            <p:cNvGraphicFramePr>
              <a:graphicFrameLocks noChangeAspect="1"/>
            </p:cNvGraphicFramePr>
            <p:nvPr/>
          </p:nvGraphicFramePr>
          <p:xfrm>
            <a:off x="0" y="28"/>
            <a:ext cx="336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07" r:id="rId9" imgW="152280" imgH="139680" progId="Equation.3">
                    <p:embed/>
                  </p:oleObj>
                </mc:Choice>
                <mc:Fallback>
                  <p:oleObj r:id="rId9" imgW="152280" imgH="1396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8"/>
                          <a:ext cx="336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0" name="Text Box 13"/>
            <p:cNvSpPr txBox="1">
              <a:spLocks noChangeArrowheads="1"/>
            </p:cNvSpPr>
            <p:nvPr/>
          </p:nvSpPr>
          <p:spPr bwMode="auto">
            <a:xfrm>
              <a:off x="240" y="0"/>
              <a:ext cx="201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</a:rPr>
                <a:t>越大，   也越大</a:t>
              </a:r>
            </a:p>
          </p:txBody>
        </p:sp>
        <p:graphicFrame>
          <p:nvGraphicFramePr>
            <p:cNvPr id="3176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650729"/>
                </p:ext>
              </p:extLst>
            </p:nvPr>
          </p:nvGraphicFramePr>
          <p:xfrm>
            <a:off x="941" y="19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08" r:id="rId11" imgW="126720" imgH="177480" progId="Equation.3">
                    <p:embed/>
                  </p:oleObj>
                </mc:Choice>
                <mc:Fallback>
                  <p:oleObj r:id="rId11" imgW="12672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1" y="19"/>
                          <a:ext cx="240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427811" y="2019024"/>
            <a:ext cx="2013347" cy="461963"/>
            <a:chOff x="0" y="12"/>
            <a:chExt cx="1691" cy="388"/>
          </a:xfrm>
        </p:grpSpPr>
        <p:graphicFrame>
          <p:nvGraphicFramePr>
            <p:cNvPr id="31759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8852474"/>
                </p:ext>
              </p:extLst>
            </p:nvPr>
          </p:nvGraphicFramePr>
          <p:xfrm>
            <a:off x="539" y="12"/>
            <a:ext cx="1152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09" r:id="rId13" imgW="634766" imgH="203341" progId="Equation.3">
                    <p:embed/>
                  </p:oleObj>
                </mc:Choice>
                <mc:Fallback>
                  <p:oleObj r:id="rId13" imgW="634766" imgH="203341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" y="12"/>
                          <a:ext cx="1152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8" name="Text Box 17"/>
            <p:cNvSpPr txBox="1">
              <a:spLocks noChangeArrowheads="1"/>
            </p:cNvSpPr>
            <p:nvPr/>
          </p:nvSpPr>
          <p:spPr bwMode="auto">
            <a:xfrm>
              <a:off x="0" y="44"/>
              <a:ext cx="51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Arial" pitchFamily="34" charset="0"/>
                </a:rPr>
                <a:t>另有</a:t>
              </a: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1358580" y="2622829"/>
            <a:ext cx="1834753" cy="1013221"/>
            <a:chOff x="19" y="14"/>
            <a:chExt cx="1541" cy="851"/>
          </a:xfrm>
        </p:grpSpPr>
        <p:graphicFrame>
          <p:nvGraphicFramePr>
            <p:cNvPr id="3175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9379526"/>
                </p:ext>
              </p:extLst>
            </p:nvPr>
          </p:nvGraphicFramePr>
          <p:xfrm>
            <a:off x="88" y="470"/>
            <a:ext cx="1472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10" r:id="rId15" imgW="686117" imgH="228917" progId="Equation.3">
                    <p:embed/>
                  </p:oleObj>
                </mc:Choice>
                <mc:Fallback>
                  <p:oleObj r:id="rId15" imgW="686117" imgH="228917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" y="470"/>
                          <a:ext cx="1472" cy="39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4648907"/>
                </p:ext>
              </p:extLst>
            </p:nvPr>
          </p:nvGraphicFramePr>
          <p:xfrm>
            <a:off x="134" y="14"/>
            <a:ext cx="1408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11" name="Equation" r:id="rId17" imgW="901440" imgH="228600" progId="Equation.DSMT4">
                    <p:embed/>
                  </p:oleObj>
                </mc:Choice>
                <mc:Fallback>
                  <p:oleObj name="Equation" r:id="rId17" imgW="901440" imgH="2286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" y="14"/>
                          <a:ext cx="1408" cy="38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7" name="AutoShape 21"/>
            <p:cNvSpPr>
              <a:spLocks/>
            </p:cNvSpPr>
            <p:nvPr/>
          </p:nvSpPr>
          <p:spPr bwMode="auto">
            <a:xfrm>
              <a:off x="19" y="202"/>
              <a:ext cx="72" cy="472"/>
            </a:xfrm>
            <a:prstGeom prst="leftBrace">
              <a:avLst>
                <a:gd name="adj1" fmla="val 3323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31771" name="Group 22"/>
          <p:cNvGrpSpPr>
            <a:grpSpLocks/>
          </p:cNvGrpSpPr>
          <p:nvPr/>
        </p:nvGrpSpPr>
        <p:grpSpPr bwMode="auto">
          <a:xfrm>
            <a:off x="6390132" y="737711"/>
            <a:ext cx="1953816" cy="2114550"/>
            <a:chOff x="327" y="192"/>
            <a:chExt cx="1641" cy="1776"/>
          </a:xfrm>
        </p:grpSpPr>
        <p:sp>
          <p:nvSpPr>
            <p:cNvPr id="31779" name="Oval 24"/>
            <p:cNvSpPr>
              <a:spLocks noChangeArrowheads="1"/>
            </p:cNvSpPr>
            <p:nvPr/>
          </p:nvSpPr>
          <p:spPr bwMode="auto">
            <a:xfrm>
              <a:off x="384" y="1200"/>
              <a:ext cx="1584" cy="432"/>
            </a:xfrm>
            <a:prstGeom prst="ellipse">
              <a:avLst/>
            </a:prstGeom>
            <a:noFill/>
            <a:ln w="12700">
              <a:solidFill>
                <a:srgbClr val="9966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1752" name="Object 25"/>
            <p:cNvGraphicFramePr>
              <a:graphicFrameLocks noChangeAspect="1"/>
            </p:cNvGraphicFramePr>
            <p:nvPr/>
          </p:nvGraphicFramePr>
          <p:xfrm>
            <a:off x="960" y="568"/>
            <a:ext cx="21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12" r:id="rId19" imgW="126720" imgH="177480" progId="Equation.3">
                    <p:embed/>
                  </p:oleObj>
                </mc:Choice>
                <mc:Fallback>
                  <p:oleObj r:id="rId19" imgW="126720" imgH="1774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568"/>
                          <a:ext cx="211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3" name="Object 26"/>
            <p:cNvGraphicFramePr>
              <a:graphicFrameLocks noChangeAspect="1"/>
            </p:cNvGraphicFramePr>
            <p:nvPr/>
          </p:nvGraphicFramePr>
          <p:xfrm>
            <a:off x="1200" y="1270"/>
            <a:ext cx="242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13" r:id="rId20" imgW="126720" imgH="139680" progId="Equation.3">
                    <p:embed/>
                  </p:oleObj>
                </mc:Choice>
                <mc:Fallback>
                  <p:oleObj r:id="rId20" imgW="126720" imgH="13968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70"/>
                          <a:ext cx="242" cy="2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4" name="Object 27"/>
            <p:cNvGraphicFramePr>
              <a:graphicFrameLocks noChangeAspect="1"/>
            </p:cNvGraphicFramePr>
            <p:nvPr/>
          </p:nvGraphicFramePr>
          <p:xfrm>
            <a:off x="788" y="336"/>
            <a:ext cx="17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14" r:id="rId22" imgW="88560" imgH="177480" progId="Equation.3">
                    <p:embed/>
                  </p:oleObj>
                </mc:Choice>
                <mc:Fallback>
                  <p:oleObj r:id="rId22" imgW="88560" imgH="17748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336"/>
                          <a:ext cx="172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0" name="Line 28"/>
            <p:cNvSpPr>
              <a:spLocks noChangeShapeType="1"/>
            </p:cNvSpPr>
            <p:nvPr/>
          </p:nvSpPr>
          <p:spPr bwMode="auto">
            <a:xfrm>
              <a:off x="720" y="288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1" name="Line 29"/>
            <p:cNvSpPr>
              <a:spLocks noChangeShapeType="1"/>
            </p:cNvSpPr>
            <p:nvPr/>
          </p:nvSpPr>
          <p:spPr bwMode="auto">
            <a:xfrm>
              <a:off x="1200" y="288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2" name="Line 30"/>
            <p:cNvSpPr>
              <a:spLocks noChangeShapeType="1"/>
            </p:cNvSpPr>
            <p:nvPr/>
          </p:nvSpPr>
          <p:spPr bwMode="auto">
            <a:xfrm flipH="1">
              <a:off x="384" y="288"/>
              <a:ext cx="816" cy="110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3" name="Line 31"/>
            <p:cNvSpPr>
              <a:spLocks noChangeShapeType="1"/>
            </p:cNvSpPr>
            <p:nvPr/>
          </p:nvSpPr>
          <p:spPr bwMode="auto">
            <a:xfrm>
              <a:off x="384" y="141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4" name="Freeform 32"/>
            <p:cNvSpPr>
              <a:spLocks/>
            </p:cNvSpPr>
            <p:nvPr/>
          </p:nvSpPr>
          <p:spPr bwMode="auto">
            <a:xfrm>
              <a:off x="1056" y="480"/>
              <a:ext cx="144" cy="56"/>
            </a:xfrm>
            <a:custGeom>
              <a:avLst/>
              <a:gdLst>
                <a:gd name="T0" fmla="*/ 0 w 144"/>
                <a:gd name="T1" fmla="*/ 0 h 56"/>
                <a:gd name="T2" fmla="*/ 48 w 144"/>
                <a:gd name="T3" fmla="*/ 48 h 56"/>
                <a:gd name="T4" fmla="*/ 144 w 144"/>
                <a:gd name="T5" fmla="*/ 48 h 56"/>
                <a:gd name="T6" fmla="*/ 0 60000 65536"/>
                <a:gd name="T7" fmla="*/ 0 60000 65536"/>
                <a:gd name="T8" fmla="*/ 0 60000 65536"/>
                <a:gd name="T9" fmla="*/ 0 w 144"/>
                <a:gd name="T10" fmla="*/ 0 h 56"/>
                <a:gd name="T11" fmla="*/ 144 w 144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56">
                  <a:moveTo>
                    <a:pt x="0" y="0"/>
                  </a:moveTo>
                  <a:cubicBezTo>
                    <a:pt x="12" y="20"/>
                    <a:pt x="24" y="40"/>
                    <a:pt x="48" y="48"/>
                  </a:cubicBezTo>
                  <a:cubicBezTo>
                    <a:pt x="72" y="56"/>
                    <a:pt x="108" y="52"/>
                    <a:pt x="144" y="4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1755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616508"/>
                </p:ext>
              </p:extLst>
            </p:nvPr>
          </p:nvGraphicFramePr>
          <p:xfrm>
            <a:off x="864" y="1392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15" r:id="rId24" imgW="114369" imgH="127042" progId="Equation.3">
                    <p:embed/>
                  </p:oleObj>
                </mc:Choice>
                <mc:Fallback>
                  <p:oleObj r:id="rId24" imgW="114369" imgH="127042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392"/>
                          <a:ext cx="216" cy="24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5" name="Oval 34"/>
            <p:cNvSpPr>
              <a:spLocks noChangeArrowheads="1"/>
            </p:cNvSpPr>
            <p:nvPr/>
          </p:nvSpPr>
          <p:spPr bwMode="auto">
            <a:xfrm>
              <a:off x="327" y="1344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800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1786" name="Line 35"/>
            <p:cNvSpPr>
              <a:spLocks noChangeShapeType="1"/>
            </p:cNvSpPr>
            <p:nvPr/>
          </p:nvSpPr>
          <p:spPr bwMode="auto">
            <a:xfrm flipV="1">
              <a:off x="768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7" name="Line 36"/>
            <p:cNvSpPr>
              <a:spLocks noChangeShapeType="1"/>
            </p:cNvSpPr>
            <p:nvPr/>
          </p:nvSpPr>
          <p:spPr bwMode="auto">
            <a:xfrm flipV="1">
              <a:off x="864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8" name="Line 37"/>
            <p:cNvSpPr>
              <a:spLocks noChangeShapeType="1"/>
            </p:cNvSpPr>
            <p:nvPr/>
          </p:nvSpPr>
          <p:spPr bwMode="auto">
            <a:xfrm flipV="1">
              <a:off x="960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9" name="Line 38"/>
            <p:cNvSpPr>
              <a:spLocks noChangeShapeType="1"/>
            </p:cNvSpPr>
            <p:nvPr/>
          </p:nvSpPr>
          <p:spPr bwMode="auto">
            <a:xfrm flipV="1">
              <a:off x="1056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0" name="Line 39"/>
            <p:cNvSpPr>
              <a:spLocks noChangeShapeType="1"/>
            </p:cNvSpPr>
            <p:nvPr/>
          </p:nvSpPr>
          <p:spPr bwMode="auto">
            <a:xfrm flipV="1">
              <a:off x="1152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1" name="Line 40"/>
            <p:cNvSpPr>
              <a:spLocks noChangeShapeType="1"/>
            </p:cNvSpPr>
            <p:nvPr/>
          </p:nvSpPr>
          <p:spPr bwMode="auto">
            <a:xfrm flipV="1">
              <a:off x="1248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2" name="Line 41"/>
            <p:cNvSpPr>
              <a:spLocks noChangeShapeType="1"/>
            </p:cNvSpPr>
            <p:nvPr/>
          </p:nvSpPr>
          <p:spPr bwMode="auto">
            <a:xfrm flipV="1">
              <a:off x="1344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3" name="Line 42"/>
            <p:cNvSpPr>
              <a:spLocks noChangeShapeType="1"/>
            </p:cNvSpPr>
            <p:nvPr/>
          </p:nvSpPr>
          <p:spPr bwMode="auto">
            <a:xfrm flipV="1">
              <a:off x="1440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4" name="Line 43"/>
            <p:cNvSpPr>
              <a:spLocks noChangeShapeType="1"/>
            </p:cNvSpPr>
            <p:nvPr/>
          </p:nvSpPr>
          <p:spPr bwMode="auto">
            <a:xfrm flipV="1">
              <a:off x="1536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6" name="Line 45"/>
            <p:cNvSpPr>
              <a:spLocks noChangeShapeType="1"/>
            </p:cNvSpPr>
            <p:nvPr/>
          </p:nvSpPr>
          <p:spPr bwMode="auto">
            <a:xfrm>
              <a:off x="426" y="1477"/>
              <a:ext cx="521" cy="49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stealth" w="med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</p:grp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5909121" y="1341359"/>
            <a:ext cx="1063227" cy="1558528"/>
            <a:chOff x="-212" y="0"/>
            <a:chExt cx="893" cy="1309"/>
          </a:xfrm>
        </p:grpSpPr>
        <p:sp>
          <p:nvSpPr>
            <p:cNvPr id="31777" name="Line 49"/>
            <p:cNvSpPr>
              <a:spLocks noChangeShapeType="1"/>
            </p:cNvSpPr>
            <p:nvPr/>
          </p:nvSpPr>
          <p:spPr bwMode="auto">
            <a:xfrm>
              <a:off x="253" y="706"/>
              <a:ext cx="0" cy="6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1750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0873934"/>
                </p:ext>
              </p:extLst>
            </p:nvPr>
          </p:nvGraphicFramePr>
          <p:xfrm>
            <a:off x="219" y="0"/>
            <a:ext cx="310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16" name="Equation" r:id="rId26" imgW="190440" imgH="228600" progId="Equation.DSMT4">
                    <p:embed/>
                  </p:oleObj>
                </mc:Choice>
                <mc:Fallback>
                  <p:oleObj name="Equation" r:id="rId26" imgW="190440" imgH="2286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0"/>
                          <a:ext cx="310" cy="3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1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8970725"/>
                </p:ext>
              </p:extLst>
            </p:nvPr>
          </p:nvGraphicFramePr>
          <p:xfrm>
            <a:off x="-212" y="1018"/>
            <a:ext cx="42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17" name="Equation" r:id="rId28" imgW="241200" imgH="164880" progId="Equation.DSMT4">
                    <p:embed/>
                  </p:oleObj>
                </mc:Choice>
                <mc:Fallback>
                  <p:oleObj name="Equation" r:id="rId28" imgW="241200" imgH="16488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12" y="1018"/>
                          <a:ext cx="427" cy="2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6" name="Line 48"/>
            <p:cNvSpPr>
              <a:spLocks noChangeShapeType="1"/>
            </p:cNvSpPr>
            <p:nvPr/>
          </p:nvSpPr>
          <p:spPr bwMode="auto">
            <a:xfrm flipV="1">
              <a:off x="249" y="125"/>
              <a:ext cx="432" cy="59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w="med" len="lg"/>
              <a:tailEnd type="stealth" w="med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</p:grpSp>
      <p:graphicFrame>
        <p:nvGraphicFramePr>
          <p:cNvPr id="5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570204"/>
              </p:ext>
            </p:extLst>
          </p:nvPr>
        </p:nvGraphicFramePr>
        <p:xfrm>
          <a:off x="7124700" y="2654300"/>
          <a:ext cx="3587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18" name="Equation" r:id="rId30" imgW="126720" imgH="139680" progId="Equation.DSMT4">
                  <p:embed/>
                </p:oleObj>
              </mc:Choice>
              <mc:Fallback>
                <p:oleObj name="Equation" r:id="rId30" imgW="126720" imgH="139680" progId="Equation.DSMT4">
                  <p:embed/>
                  <p:pic>
                    <p:nvPicPr>
                      <p:cNvPr id="3073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0" y="2654300"/>
                        <a:ext cx="358775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71" name="Group 4"/>
          <p:cNvGrpSpPr>
            <a:grpSpLocks/>
          </p:cNvGrpSpPr>
          <p:nvPr/>
        </p:nvGrpSpPr>
        <p:grpSpPr bwMode="auto">
          <a:xfrm>
            <a:off x="7211698" y="2725340"/>
            <a:ext cx="981075" cy="802482"/>
            <a:chOff x="0" y="-49"/>
            <a:chExt cx="824" cy="674"/>
          </a:xfrm>
        </p:grpSpPr>
        <p:sp>
          <p:nvSpPr>
            <p:cNvPr id="39972" name="Line 5"/>
            <p:cNvSpPr>
              <a:spLocks noChangeShapeType="1"/>
            </p:cNvSpPr>
            <p:nvPr/>
          </p:nvSpPr>
          <p:spPr bwMode="auto">
            <a:xfrm>
              <a:off x="692" y="193"/>
              <a:ext cx="0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5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5181078"/>
                </p:ext>
              </p:extLst>
            </p:nvPr>
          </p:nvGraphicFramePr>
          <p:xfrm>
            <a:off x="560" y="-49"/>
            <a:ext cx="26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226" name="Equation" r:id="rId3" imgW="126720" imgH="139680" progId="Equation.DSMT4">
                    <p:embed/>
                  </p:oleObj>
                </mc:Choice>
                <mc:Fallback>
                  <p:oleObj name="Equation" r:id="rId3" imgW="126720" imgH="13968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" y="-49"/>
                          <a:ext cx="26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73" name="Oval 7"/>
            <p:cNvSpPr>
              <a:spLocks noChangeArrowheads="1"/>
            </p:cNvSpPr>
            <p:nvPr/>
          </p:nvSpPr>
          <p:spPr bwMode="auto">
            <a:xfrm>
              <a:off x="0" y="48"/>
              <a:ext cx="240" cy="240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39954" name="Group 8"/>
          <p:cNvGrpSpPr>
            <a:grpSpLocks/>
          </p:cNvGrpSpPr>
          <p:nvPr/>
        </p:nvGrpSpPr>
        <p:grpSpPr bwMode="auto">
          <a:xfrm>
            <a:off x="7441487" y="2125266"/>
            <a:ext cx="439341" cy="772715"/>
            <a:chOff x="0" y="1"/>
            <a:chExt cx="369" cy="649"/>
          </a:xfrm>
        </p:grpSpPr>
        <p:sp>
          <p:nvSpPr>
            <p:cNvPr id="39969" name="Line 9"/>
            <p:cNvSpPr>
              <a:spLocks noChangeShapeType="1"/>
            </p:cNvSpPr>
            <p:nvPr/>
          </p:nvSpPr>
          <p:spPr bwMode="auto">
            <a:xfrm flipV="1">
              <a:off x="0" y="122"/>
              <a:ext cx="0" cy="528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5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6187882"/>
                </p:ext>
              </p:extLst>
            </p:nvPr>
          </p:nvGraphicFramePr>
          <p:xfrm>
            <a:off x="28" y="1"/>
            <a:ext cx="341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227" name="Equation" r:id="rId5" imgW="164880" imgH="228600" progId="Equation.DSMT4">
                    <p:embed/>
                  </p:oleObj>
                </mc:Choice>
                <mc:Fallback>
                  <p:oleObj name="Equation" r:id="rId5" imgW="164880" imgH="228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" y="1"/>
                          <a:ext cx="341" cy="4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9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664470"/>
              </p:ext>
            </p:extLst>
          </p:nvPr>
        </p:nvGraphicFramePr>
        <p:xfrm>
          <a:off x="1571477" y="2525910"/>
          <a:ext cx="3401615" cy="488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8" r:id="rId7" imgW="1408184" imgH="215936" progId="Equation.3">
                  <p:embed/>
                </p:oleObj>
              </mc:Choice>
              <mc:Fallback>
                <p:oleObj r:id="rId7" imgW="1408184" imgH="21593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477" y="2525910"/>
                        <a:ext cx="3401615" cy="4881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56" name="Group 13"/>
          <p:cNvGrpSpPr>
            <a:grpSpLocks/>
          </p:cNvGrpSpPr>
          <p:nvPr/>
        </p:nvGrpSpPr>
        <p:grpSpPr bwMode="auto">
          <a:xfrm>
            <a:off x="7083110" y="3100387"/>
            <a:ext cx="544115" cy="1139428"/>
            <a:chOff x="-84" y="0"/>
            <a:chExt cx="457" cy="957"/>
          </a:xfrm>
        </p:grpSpPr>
        <p:sp>
          <p:nvSpPr>
            <p:cNvPr id="39968" name="Line 14"/>
            <p:cNvSpPr>
              <a:spLocks noChangeShapeType="1"/>
            </p:cNvSpPr>
            <p:nvPr/>
          </p:nvSpPr>
          <p:spPr bwMode="auto">
            <a:xfrm>
              <a:off x="145" y="0"/>
              <a:ext cx="0" cy="62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4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3025151"/>
                </p:ext>
              </p:extLst>
            </p:nvPr>
          </p:nvGraphicFramePr>
          <p:xfrm>
            <a:off x="-84" y="648"/>
            <a:ext cx="45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229" name="Equation" r:id="rId9" imgW="241200" imgH="164880" progId="Equation.DSMT4">
                    <p:embed/>
                  </p:oleObj>
                </mc:Choice>
                <mc:Fallback>
                  <p:oleObj name="Equation" r:id="rId9" imgW="241200" imgH="16488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4" y="648"/>
                          <a:ext cx="457" cy="3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8210634" y="1355726"/>
            <a:ext cx="319088" cy="3086100"/>
            <a:chOff x="0" y="0"/>
            <a:chExt cx="268" cy="2592"/>
          </a:xfrm>
        </p:grpSpPr>
        <p:sp>
          <p:nvSpPr>
            <p:cNvPr id="39967" name="Line 17"/>
            <p:cNvSpPr>
              <a:spLocks noChangeShapeType="1"/>
            </p:cNvSpPr>
            <p:nvPr/>
          </p:nvSpPr>
          <p:spPr bwMode="auto">
            <a:xfrm>
              <a:off x="144" y="0"/>
              <a:ext cx="0" cy="2208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 type="none" w="lg" len="lg"/>
              <a:tailEnd type="stealth" w="lg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48" name="Object 18"/>
            <p:cNvGraphicFramePr>
              <a:graphicFrameLocks noChangeAspect="1"/>
            </p:cNvGraphicFramePr>
            <p:nvPr/>
          </p:nvGraphicFramePr>
          <p:xfrm>
            <a:off x="0" y="2256"/>
            <a:ext cx="2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230" r:id="rId11" imgW="190734" imgH="241512" progId="Equation.3">
                    <p:embed/>
                  </p:oleObj>
                </mc:Choice>
                <mc:Fallback>
                  <p:oleObj r:id="rId11" imgW="190734" imgH="241512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56"/>
                          <a:ext cx="26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63" name="Group 20"/>
          <p:cNvGrpSpPr>
            <a:grpSpLocks/>
          </p:cNvGrpSpPr>
          <p:nvPr/>
        </p:nvGrpSpPr>
        <p:grpSpPr bwMode="auto">
          <a:xfrm>
            <a:off x="6811647" y="2249091"/>
            <a:ext cx="457201" cy="648891"/>
            <a:chOff x="0" y="0"/>
            <a:chExt cx="384" cy="545"/>
          </a:xfrm>
        </p:grpSpPr>
        <p:sp>
          <p:nvSpPr>
            <p:cNvPr id="39966" name="Line 21"/>
            <p:cNvSpPr>
              <a:spLocks noChangeShapeType="1"/>
            </p:cNvSpPr>
            <p:nvPr/>
          </p:nvSpPr>
          <p:spPr bwMode="auto">
            <a:xfrm flipV="1">
              <a:off x="384" y="113"/>
              <a:ext cx="0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47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6420849"/>
                </p:ext>
              </p:extLst>
            </p:nvPr>
          </p:nvGraphicFramePr>
          <p:xfrm>
            <a:off x="0" y="0"/>
            <a:ext cx="35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231" name="Equation" r:id="rId13" imgW="190440" imgH="228600" progId="Equation.DSMT4">
                    <p:embed/>
                  </p:oleObj>
                </mc:Choice>
                <mc:Fallback>
                  <p:oleObj name="Equation" r:id="rId13" imgW="190440" imgH="2286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52" cy="4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97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65072"/>
              </p:ext>
            </p:extLst>
          </p:nvPr>
        </p:nvGraphicFramePr>
        <p:xfrm>
          <a:off x="971550" y="3178175"/>
          <a:ext cx="40195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2" name="Equation" r:id="rId15" imgW="1752480" imgH="228600" progId="Equation.DSMT4">
                  <p:embed/>
                </p:oleObj>
              </mc:Choice>
              <mc:Fallback>
                <p:oleObj name="Equation" r:id="rId15" imgW="175248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178175"/>
                        <a:ext cx="4019550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Text Box 27"/>
          <p:cNvSpPr txBox="1">
            <a:spLocks noChangeArrowheads="1"/>
          </p:cNvSpPr>
          <p:nvPr/>
        </p:nvSpPr>
        <p:spPr bwMode="auto">
          <a:xfrm>
            <a:off x="1078145" y="3163858"/>
            <a:ext cx="638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Arial" pitchFamily="34" charset="0"/>
              </a:rPr>
              <a:t>令</a:t>
            </a:r>
          </a:p>
        </p:txBody>
      </p:sp>
      <p:graphicFrame>
        <p:nvGraphicFramePr>
          <p:cNvPr id="8297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488380"/>
              </p:ext>
            </p:extLst>
          </p:nvPr>
        </p:nvGraphicFramePr>
        <p:xfrm>
          <a:off x="1482446" y="3792735"/>
          <a:ext cx="2620565" cy="894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3" r:id="rId17" imgW="939709" imgH="393846" progId="Equation.3">
                  <p:embed/>
                </p:oleObj>
              </mc:Choice>
              <mc:Fallback>
                <p:oleObj r:id="rId17" imgW="939709" imgH="393846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446" y="3792735"/>
                        <a:ext cx="2620565" cy="8941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2" name="Text Box 30"/>
          <p:cNvSpPr txBox="1">
            <a:spLocks noChangeArrowheads="1"/>
          </p:cNvSpPr>
          <p:nvPr/>
        </p:nvSpPr>
        <p:spPr bwMode="auto">
          <a:xfrm>
            <a:off x="537028" y="298848"/>
            <a:ext cx="8490857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CC0000"/>
                </a:solidFill>
                <a:latin typeface="宋体" pitchFamily="2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</a:rPr>
              <a:t>4</a:t>
            </a:r>
            <a:r>
              <a:rPr lang="zh-CN" altLang="en-US" b="1" dirty="0">
                <a:solidFill>
                  <a:srgbClr val="CC0000"/>
                </a:solidFill>
                <a:latin typeface="宋体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一质量</a:t>
            </a:r>
            <a:r>
              <a:rPr lang="zh-CN" altLang="en-US" b="1" dirty="0">
                <a:latin typeface="宋体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，半径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的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球体在水中静止释放沉入水底</a:t>
            </a:r>
            <a:r>
              <a:rPr lang="zh-CN" altLang="en-US" b="1" dirty="0" smtClean="0">
                <a:solidFill>
                  <a:srgbClr val="000000"/>
                </a:solidFill>
              </a:rPr>
              <a:t>．</a:t>
            </a:r>
            <a:r>
              <a:rPr lang="en-US" altLang="zh-CN" b="1" dirty="0" smtClean="0">
                <a:solidFill>
                  <a:srgbClr val="000000"/>
                </a:solidFill>
              </a:rPr>
              <a:t/>
            </a:r>
            <a:br>
              <a:rPr lang="en-US" altLang="zh-CN" b="1" dirty="0" smtClean="0">
                <a:solidFill>
                  <a:srgbClr val="000000"/>
                </a:solidFill>
              </a:rPr>
            </a:b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已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知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阻力大小         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,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为粘滞系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数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.</a:t>
            </a:r>
            <a:b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</a:b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求</a:t>
            </a: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: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     ．</a:t>
            </a:r>
            <a:endParaRPr lang="zh-CN" altLang="en-US" b="1" dirty="0">
              <a:latin typeface="宋体" pitchFamily="2" charset="-122"/>
            </a:endParaRPr>
          </a:p>
        </p:txBody>
      </p:sp>
      <p:graphicFrame>
        <p:nvGraphicFramePr>
          <p:cNvPr id="3994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982945"/>
              </p:ext>
            </p:extLst>
          </p:nvPr>
        </p:nvGraphicFramePr>
        <p:xfrm>
          <a:off x="1159042" y="1198562"/>
          <a:ext cx="685800" cy="496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4" r:id="rId19" imgW="279475" imgH="203341" progId="Equation.3">
                  <p:embed/>
                </p:oleObj>
              </mc:Choice>
              <mc:Fallback>
                <p:oleObj r:id="rId19" imgW="279475" imgH="20334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042" y="1198562"/>
                        <a:ext cx="685800" cy="496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746023"/>
              </p:ext>
            </p:extLst>
          </p:nvPr>
        </p:nvGraphicFramePr>
        <p:xfrm>
          <a:off x="2540300" y="766650"/>
          <a:ext cx="1609725" cy="526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5" name="Equation" r:id="rId21" imgW="711000" imgH="228600" progId="Equation.DSMT4">
                  <p:embed/>
                </p:oleObj>
              </mc:Choice>
              <mc:Fallback>
                <p:oleObj name="Equation" r:id="rId21" imgW="71100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300" y="766650"/>
                        <a:ext cx="1609725" cy="526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737823"/>
              </p:ext>
            </p:extLst>
          </p:nvPr>
        </p:nvGraphicFramePr>
        <p:xfrm>
          <a:off x="2294335" y="425698"/>
          <a:ext cx="363141" cy="30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6" r:id="rId23" imgW="165489" imgH="140078" progId="Equation.DSMT4">
                  <p:embed/>
                </p:oleObj>
              </mc:Choice>
              <mc:Fallback>
                <p:oleObj r:id="rId23" imgW="165489" imgH="14007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4335" y="425698"/>
                        <a:ext cx="363141" cy="3071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776650"/>
              </p:ext>
            </p:extLst>
          </p:nvPr>
        </p:nvGraphicFramePr>
        <p:xfrm>
          <a:off x="3536157" y="428079"/>
          <a:ext cx="252413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7" r:id="rId25" imgW="114369" imgH="127042" progId="Equation.3">
                  <p:embed/>
                </p:oleObj>
              </mc:Choice>
              <mc:Fallback>
                <p:oleObj r:id="rId25" imgW="114369" imgH="12704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157" y="428079"/>
                        <a:ext cx="252413" cy="280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099210"/>
              </p:ext>
            </p:extLst>
          </p:nvPr>
        </p:nvGraphicFramePr>
        <p:xfrm>
          <a:off x="4530429" y="841287"/>
          <a:ext cx="28694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8" r:id="rId27" imgW="127042" imgH="165059" progId="Equation.DSMT4">
                  <p:embed/>
                </p:oleObj>
              </mc:Choice>
              <mc:Fallback>
                <p:oleObj r:id="rId27" imgW="127042" imgH="165059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429" y="841287"/>
                        <a:ext cx="286941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1078145" y="3984425"/>
            <a:ext cx="638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00000"/>
                </a:solidFill>
                <a:latin typeface="Arial" pitchFamily="34" charset="0"/>
              </a:rPr>
              <a:t>则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22515" y="1870543"/>
            <a:ext cx="5617028" cy="517428"/>
            <a:chOff x="537029" y="1935856"/>
            <a:chExt cx="5617028" cy="517428"/>
          </a:xfrm>
        </p:grpSpPr>
        <p:sp>
          <p:nvSpPr>
            <p:cNvPr id="39955" name="Text Box 11"/>
            <p:cNvSpPr txBox="1">
              <a:spLocks noChangeArrowheads="1"/>
            </p:cNvSpPr>
            <p:nvPr/>
          </p:nvSpPr>
          <p:spPr bwMode="auto">
            <a:xfrm>
              <a:off x="537029" y="1935856"/>
              <a:ext cx="561702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解：</a:t>
              </a:r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取坐标如</a:t>
              </a:r>
              <a:r>
                <a:rPr lang="zh-CN" altLang="en-US" b="1" smtClean="0">
                  <a:solidFill>
                    <a:srgbClr val="000000"/>
                  </a:solidFill>
                  <a:latin typeface="宋体" pitchFamily="2" charset="-122"/>
                </a:rPr>
                <a:t>图</a:t>
              </a:r>
              <a:r>
                <a:rPr lang="en-US" altLang="zh-CN" b="1" smtClean="0">
                  <a:solidFill>
                    <a:srgbClr val="000000"/>
                  </a:solidFill>
                  <a:latin typeface="宋体" pitchFamily="2" charset="-122"/>
                </a:rPr>
                <a:t>,</a:t>
              </a:r>
              <a:r>
                <a:rPr lang="zh-CN" altLang="en-US" b="1" smtClean="0">
                  <a:solidFill>
                    <a:srgbClr val="000000"/>
                  </a:solidFill>
                  <a:latin typeface="宋体" pitchFamily="2" charset="-122"/>
                </a:rPr>
                <a:t>设小球浮力为</a:t>
              </a:r>
              <a:endParaRPr lang="zh-CN" altLang="en-US" b="1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graphicFrame>
          <p:nvGraphicFramePr>
            <p:cNvPr id="38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945286"/>
                </p:ext>
              </p:extLst>
            </p:nvPr>
          </p:nvGraphicFramePr>
          <p:xfrm>
            <a:off x="4777606" y="1949649"/>
            <a:ext cx="419101" cy="503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239" name="Equation" r:id="rId29" imgW="190440" imgH="228600" progId="Equation.DSMT4">
                    <p:embed/>
                  </p:oleObj>
                </mc:Choice>
                <mc:Fallback>
                  <p:oleObj name="Equation" r:id="rId29" imgW="190440" imgH="228600" progId="Equation.DSMT4">
                    <p:embed/>
                    <p:pic>
                      <p:nvPicPr>
                        <p:cNvPr id="39947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7606" y="1949649"/>
                          <a:ext cx="419101" cy="5036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8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8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71" grpId="0" autoUpdateAnimBg="0"/>
      <p:bldP spid="3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C4C67-41F9-4C39-B155-90BB926E43B0}" type="slidenum">
              <a:rPr lang="zh-CN" altLang="en-US"/>
              <a:pPr>
                <a:defRPr/>
              </a:pPr>
              <a:t>33</a:t>
            </a:fld>
            <a:endParaRPr lang="en-US" altLang="zh-CN"/>
          </a:p>
        </p:txBody>
      </p:sp>
      <p:graphicFrame>
        <p:nvGraphicFramePr>
          <p:cNvPr id="839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62882"/>
              </p:ext>
            </p:extLst>
          </p:nvPr>
        </p:nvGraphicFramePr>
        <p:xfrm>
          <a:off x="1989536" y="1386742"/>
          <a:ext cx="2751136" cy="855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1" r:id="rId3" imgW="1130127" imgH="393846" progId="Equation.3">
                  <p:embed/>
                </p:oleObj>
              </mc:Choice>
              <mc:Fallback>
                <p:oleObj r:id="rId3" imgW="1130127" imgH="3938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536" y="1386742"/>
                        <a:ext cx="2751136" cy="8559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573351"/>
              </p:ext>
            </p:extLst>
          </p:nvPr>
        </p:nvGraphicFramePr>
        <p:xfrm>
          <a:off x="2044305" y="223783"/>
          <a:ext cx="2339032" cy="862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2" name="Equation" r:id="rId5" imgW="939600" imgH="393480" progId="Equation.DSMT4">
                  <p:embed/>
                </p:oleObj>
              </mc:Choice>
              <mc:Fallback>
                <p:oleObj name="Equation" r:id="rId5" imgW="9396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305" y="223783"/>
                        <a:ext cx="2339032" cy="86270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258065"/>
              </p:ext>
            </p:extLst>
          </p:nvPr>
        </p:nvGraphicFramePr>
        <p:xfrm>
          <a:off x="1656160" y="3788514"/>
          <a:ext cx="3438354" cy="1077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3" name="Equation" r:id="rId7" imgW="1168210" imgH="393846" progId="Equation.DSMT4">
                  <p:embed/>
                </p:oleObj>
              </mc:Choice>
              <mc:Fallback>
                <p:oleObj name="Equation" r:id="rId7" imgW="1168210" imgH="3938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160" y="3788514"/>
                        <a:ext cx="3438354" cy="107781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509955"/>
              </p:ext>
            </p:extLst>
          </p:nvPr>
        </p:nvGraphicFramePr>
        <p:xfrm>
          <a:off x="1547812" y="2542908"/>
          <a:ext cx="3890084" cy="945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4" r:id="rId9" imgW="1485572" imgH="431930" progId="Equation.3">
                  <p:embed/>
                </p:oleObj>
              </mc:Choice>
              <mc:Fallback>
                <p:oleObj r:id="rId9" imgW="1485572" imgH="4319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2" y="2542908"/>
                        <a:ext cx="3890084" cy="94534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4"/>
          <p:cNvGrpSpPr>
            <a:grpSpLocks/>
          </p:cNvGrpSpPr>
          <p:nvPr/>
        </p:nvGrpSpPr>
        <p:grpSpPr bwMode="auto">
          <a:xfrm>
            <a:off x="7211698" y="2725340"/>
            <a:ext cx="981075" cy="802482"/>
            <a:chOff x="0" y="-49"/>
            <a:chExt cx="824" cy="674"/>
          </a:xfrm>
        </p:grpSpPr>
        <p:sp>
          <p:nvSpPr>
            <p:cNvPr id="49" name="Line 5"/>
            <p:cNvSpPr>
              <a:spLocks noChangeShapeType="1"/>
            </p:cNvSpPr>
            <p:nvPr/>
          </p:nvSpPr>
          <p:spPr bwMode="auto">
            <a:xfrm>
              <a:off x="692" y="193"/>
              <a:ext cx="0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3658730"/>
                </p:ext>
              </p:extLst>
            </p:nvPr>
          </p:nvGraphicFramePr>
          <p:xfrm>
            <a:off x="560" y="-49"/>
            <a:ext cx="26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25" name="Equation" r:id="rId11" imgW="126720" imgH="139680" progId="Equation.DSMT4">
                    <p:embed/>
                  </p:oleObj>
                </mc:Choice>
                <mc:Fallback>
                  <p:oleObj name="Equation" r:id="rId11" imgW="126720" imgH="139680" progId="Equation.DSMT4">
                    <p:embed/>
                    <p:pic>
                      <p:nvPicPr>
                        <p:cNvPr id="3995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" y="-49"/>
                          <a:ext cx="26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Oval 7"/>
            <p:cNvSpPr>
              <a:spLocks noChangeArrowheads="1"/>
            </p:cNvSpPr>
            <p:nvPr/>
          </p:nvSpPr>
          <p:spPr bwMode="auto">
            <a:xfrm>
              <a:off x="0" y="48"/>
              <a:ext cx="240" cy="240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55" name="Group 8"/>
          <p:cNvGrpSpPr>
            <a:grpSpLocks/>
          </p:cNvGrpSpPr>
          <p:nvPr/>
        </p:nvGrpSpPr>
        <p:grpSpPr bwMode="auto">
          <a:xfrm>
            <a:off x="7441487" y="2125266"/>
            <a:ext cx="439341" cy="772715"/>
            <a:chOff x="0" y="1"/>
            <a:chExt cx="369" cy="649"/>
          </a:xfrm>
        </p:grpSpPr>
        <p:sp>
          <p:nvSpPr>
            <p:cNvPr id="56" name="Line 9"/>
            <p:cNvSpPr>
              <a:spLocks noChangeShapeType="1"/>
            </p:cNvSpPr>
            <p:nvPr/>
          </p:nvSpPr>
          <p:spPr bwMode="auto">
            <a:xfrm flipV="1">
              <a:off x="0" y="122"/>
              <a:ext cx="0" cy="528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6323076"/>
                </p:ext>
              </p:extLst>
            </p:nvPr>
          </p:nvGraphicFramePr>
          <p:xfrm>
            <a:off x="28" y="1"/>
            <a:ext cx="341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26" name="Equation" r:id="rId13" imgW="164880" imgH="228600" progId="Equation.DSMT4">
                    <p:embed/>
                  </p:oleObj>
                </mc:Choice>
                <mc:Fallback>
                  <p:oleObj name="Equation" r:id="rId13" imgW="164880" imgH="228600" progId="Equation.DSMT4">
                    <p:embed/>
                    <p:pic>
                      <p:nvPicPr>
                        <p:cNvPr id="3995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" y="1"/>
                          <a:ext cx="341" cy="4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Group 13"/>
          <p:cNvGrpSpPr>
            <a:grpSpLocks/>
          </p:cNvGrpSpPr>
          <p:nvPr/>
        </p:nvGrpSpPr>
        <p:grpSpPr bwMode="auto">
          <a:xfrm>
            <a:off x="7083110" y="3100387"/>
            <a:ext cx="544115" cy="1139428"/>
            <a:chOff x="-84" y="0"/>
            <a:chExt cx="457" cy="957"/>
          </a:xfrm>
        </p:grpSpPr>
        <p:sp>
          <p:nvSpPr>
            <p:cNvPr id="59" name="Line 14"/>
            <p:cNvSpPr>
              <a:spLocks noChangeShapeType="1"/>
            </p:cNvSpPr>
            <p:nvPr/>
          </p:nvSpPr>
          <p:spPr bwMode="auto">
            <a:xfrm>
              <a:off x="145" y="0"/>
              <a:ext cx="0" cy="62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60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9626697"/>
                </p:ext>
              </p:extLst>
            </p:nvPr>
          </p:nvGraphicFramePr>
          <p:xfrm>
            <a:off x="-84" y="648"/>
            <a:ext cx="45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27" name="Equation" r:id="rId15" imgW="241200" imgH="164880" progId="Equation.DSMT4">
                    <p:embed/>
                  </p:oleObj>
                </mc:Choice>
                <mc:Fallback>
                  <p:oleObj name="Equation" r:id="rId15" imgW="241200" imgH="164880" progId="Equation.DSMT4">
                    <p:embed/>
                    <p:pic>
                      <p:nvPicPr>
                        <p:cNvPr id="3994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4" y="648"/>
                          <a:ext cx="457" cy="3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" name="Group 16"/>
          <p:cNvGrpSpPr>
            <a:grpSpLocks/>
          </p:cNvGrpSpPr>
          <p:nvPr/>
        </p:nvGrpSpPr>
        <p:grpSpPr bwMode="auto">
          <a:xfrm>
            <a:off x="8210634" y="1355726"/>
            <a:ext cx="319088" cy="3086100"/>
            <a:chOff x="0" y="0"/>
            <a:chExt cx="268" cy="2592"/>
          </a:xfrm>
        </p:grpSpPr>
        <p:sp>
          <p:nvSpPr>
            <p:cNvPr id="62" name="Line 17"/>
            <p:cNvSpPr>
              <a:spLocks noChangeShapeType="1"/>
            </p:cNvSpPr>
            <p:nvPr/>
          </p:nvSpPr>
          <p:spPr bwMode="auto">
            <a:xfrm>
              <a:off x="144" y="0"/>
              <a:ext cx="0" cy="2208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 type="none" w="lg" len="lg"/>
              <a:tailEnd type="stealth" w="lg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63" name="Object 18"/>
            <p:cNvGraphicFramePr>
              <a:graphicFrameLocks noChangeAspect="1"/>
            </p:cNvGraphicFramePr>
            <p:nvPr/>
          </p:nvGraphicFramePr>
          <p:xfrm>
            <a:off x="0" y="2256"/>
            <a:ext cx="2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28" r:id="rId17" imgW="190734" imgH="241512" progId="Equation.3">
                    <p:embed/>
                  </p:oleObj>
                </mc:Choice>
                <mc:Fallback>
                  <p:oleObj r:id="rId17" imgW="190734" imgH="241512" progId="Equation.3">
                    <p:embed/>
                    <p:pic>
                      <p:nvPicPr>
                        <p:cNvPr id="3994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56"/>
                          <a:ext cx="26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Group 20"/>
          <p:cNvGrpSpPr>
            <a:grpSpLocks/>
          </p:cNvGrpSpPr>
          <p:nvPr/>
        </p:nvGrpSpPr>
        <p:grpSpPr bwMode="auto">
          <a:xfrm>
            <a:off x="6811647" y="2249091"/>
            <a:ext cx="457201" cy="648891"/>
            <a:chOff x="0" y="0"/>
            <a:chExt cx="384" cy="545"/>
          </a:xfrm>
        </p:grpSpPr>
        <p:sp>
          <p:nvSpPr>
            <p:cNvPr id="65" name="Line 21"/>
            <p:cNvSpPr>
              <a:spLocks noChangeShapeType="1"/>
            </p:cNvSpPr>
            <p:nvPr/>
          </p:nvSpPr>
          <p:spPr bwMode="auto">
            <a:xfrm flipV="1">
              <a:off x="384" y="113"/>
              <a:ext cx="0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66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7131968"/>
                </p:ext>
              </p:extLst>
            </p:nvPr>
          </p:nvGraphicFramePr>
          <p:xfrm>
            <a:off x="0" y="0"/>
            <a:ext cx="35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29" name="Equation" r:id="rId19" imgW="190440" imgH="228600" progId="Equation.DSMT4">
                    <p:embed/>
                  </p:oleObj>
                </mc:Choice>
                <mc:Fallback>
                  <p:oleObj name="Equation" r:id="rId19" imgW="190440" imgH="228600" progId="Equation.DSMT4">
                    <p:embed/>
                    <p:pic>
                      <p:nvPicPr>
                        <p:cNvPr id="39947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52" cy="4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56961" y="1662564"/>
            <a:ext cx="4079081" cy="484585"/>
            <a:chOff x="0" y="0"/>
            <a:chExt cx="3600" cy="407"/>
          </a:xfrm>
        </p:grpSpPr>
        <p:graphicFrame>
          <p:nvGraphicFramePr>
            <p:cNvPr id="4199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2266273"/>
                </p:ext>
              </p:extLst>
            </p:nvPr>
          </p:nvGraphicFramePr>
          <p:xfrm>
            <a:off x="0" y="0"/>
            <a:ext cx="1981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0" r:id="rId3" imgW="1295717" imgH="228917" progId="Equation.3">
                    <p:embed/>
                  </p:oleObj>
                </mc:Choice>
                <mc:Fallback>
                  <p:oleObj r:id="rId3" imgW="1295717" imgH="228917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981" cy="40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7" name="Text Box 4"/>
            <p:cNvSpPr txBox="1">
              <a:spLocks noChangeArrowheads="1"/>
            </p:cNvSpPr>
            <p:nvPr/>
          </p:nvSpPr>
          <p:spPr bwMode="auto">
            <a:xfrm>
              <a:off x="1824" y="0"/>
              <a:ext cx="177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Arial" pitchFamily="34" charset="0"/>
                </a:rPr>
                <a:t>（极限速度）</a:t>
              </a:r>
              <a:endParaRPr lang="zh-CN" alt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</p:grpSp>
      <p:graphicFrame>
        <p:nvGraphicFramePr>
          <p:cNvPr id="419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510650"/>
              </p:ext>
            </p:extLst>
          </p:nvPr>
        </p:nvGraphicFramePr>
        <p:xfrm>
          <a:off x="1239920" y="445749"/>
          <a:ext cx="329088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51" name="Equation" r:id="rId5" imgW="1155600" imgH="393480" progId="Equation.DSMT4">
                  <p:embed/>
                </p:oleObj>
              </mc:Choice>
              <mc:Fallback>
                <p:oleObj name="Equation" r:id="rId5" imgW="115560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920" y="445749"/>
                        <a:ext cx="3290888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28800"/>
              </p:ext>
            </p:extLst>
          </p:nvPr>
        </p:nvGraphicFramePr>
        <p:xfrm>
          <a:off x="1256961" y="3112830"/>
          <a:ext cx="350996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52" r:id="rId7" imgW="1535019" imgH="215936" progId="Equation.3">
                  <p:embed/>
                </p:oleObj>
              </mc:Choice>
              <mc:Fallback>
                <p:oleObj r:id="rId7" imgW="1535019" imgH="21593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6961" y="3112830"/>
                        <a:ext cx="3509963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207689" y="2403697"/>
            <a:ext cx="3164198" cy="498872"/>
            <a:chOff x="0" y="-7"/>
            <a:chExt cx="1815" cy="419"/>
          </a:xfrm>
        </p:grpSpPr>
        <p:sp>
          <p:nvSpPr>
            <p:cNvPr id="42026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181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宋体" pitchFamily="2" charset="-122"/>
                </a:rPr>
                <a:t>当         </a:t>
              </a:r>
              <a:r>
                <a:rPr lang="zh-CN" altLang="en-US" b="1" dirty="0">
                  <a:latin typeface="宋体" pitchFamily="2" charset="-122"/>
                </a:rPr>
                <a:t>时</a:t>
              </a:r>
            </a:p>
          </p:txBody>
        </p:sp>
        <p:graphicFrame>
          <p:nvGraphicFramePr>
            <p:cNvPr id="4199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1638731"/>
                </p:ext>
              </p:extLst>
            </p:nvPr>
          </p:nvGraphicFramePr>
          <p:xfrm>
            <a:off x="258" y="-7"/>
            <a:ext cx="750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3" r:id="rId9" imgW="583757" imgH="215936" progId="Equation.3">
                    <p:embed/>
                  </p:oleObj>
                </mc:Choice>
                <mc:Fallback>
                  <p:oleObj r:id="rId9" imgW="583757" imgH="215936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" y="-7"/>
                          <a:ext cx="750" cy="41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6334785" y="3041304"/>
            <a:ext cx="2135981" cy="1616869"/>
            <a:chOff x="0" y="0"/>
            <a:chExt cx="1794" cy="1358"/>
          </a:xfrm>
        </p:grpSpPr>
        <p:sp>
          <p:nvSpPr>
            <p:cNvPr id="42009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794" cy="13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2010" name="Line 30"/>
            <p:cNvSpPr>
              <a:spLocks noChangeShapeType="1"/>
            </p:cNvSpPr>
            <p:nvPr/>
          </p:nvSpPr>
          <p:spPr bwMode="auto">
            <a:xfrm flipV="1">
              <a:off x="372" y="96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2011" name="Line 31"/>
            <p:cNvSpPr>
              <a:spLocks noChangeShapeType="1"/>
            </p:cNvSpPr>
            <p:nvPr/>
          </p:nvSpPr>
          <p:spPr bwMode="auto">
            <a:xfrm>
              <a:off x="372" y="124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2012" name="Line 32"/>
            <p:cNvSpPr>
              <a:spLocks noChangeShapeType="1"/>
            </p:cNvSpPr>
            <p:nvPr/>
          </p:nvSpPr>
          <p:spPr bwMode="auto">
            <a:xfrm>
              <a:off x="372" y="480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1989" name="Object 33"/>
            <p:cNvGraphicFramePr>
              <a:graphicFrameLocks noChangeAspect="1"/>
            </p:cNvGraphicFramePr>
            <p:nvPr/>
          </p:nvGraphicFramePr>
          <p:xfrm>
            <a:off x="386" y="34"/>
            <a:ext cx="27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4" r:id="rId11" imgW="127042" imgH="139714" progId="Equation.3">
                    <p:embed/>
                  </p:oleObj>
                </mc:Choice>
                <mc:Fallback>
                  <p:oleObj r:id="rId11" imgW="127042" imgH="139714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" y="34"/>
                          <a:ext cx="274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0" name="Object 34"/>
            <p:cNvGraphicFramePr>
              <a:graphicFrameLocks noChangeAspect="1"/>
            </p:cNvGraphicFramePr>
            <p:nvPr/>
          </p:nvGraphicFramePr>
          <p:xfrm>
            <a:off x="18" y="192"/>
            <a:ext cx="319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5" r:id="rId13" imgW="304853" imgH="609388" progId="Equation.3">
                    <p:embed/>
                  </p:oleObj>
                </mc:Choice>
                <mc:Fallback>
                  <p:oleObj r:id="rId13" imgW="304853" imgH="609388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" y="192"/>
                          <a:ext cx="319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3" name="Freeform 35"/>
            <p:cNvSpPr>
              <a:spLocks/>
            </p:cNvSpPr>
            <p:nvPr/>
          </p:nvSpPr>
          <p:spPr bwMode="auto">
            <a:xfrm>
              <a:off x="379" y="517"/>
              <a:ext cx="1123" cy="731"/>
            </a:xfrm>
            <a:custGeom>
              <a:avLst/>
              <a:gdLst>
                <a:gd name="T0" fmla="*/ 0 w 1123"/>
                <a:gd name="T1" fmla="*/ 731 h 731"/>
                <a:gd name="T2" fmla="*/ 65 w 1123"/>
                <a:gd name="T3" fmla="*/ 539 h 731"/>
                <a:gd name="T4" fmla="*/ 163 w 1123"/>
                <a:gd name="T5" fmla="*/ 299 h 731"/>
                <a:gd name="T6" fmla="*/ 262 w 1123"/>
                <a:gd name="T7" fmla="*/ 155 h 731"/>
                <a:gd name="T8" fmla="*/ 425 w 1123"/>
                <a:gd name="T9" fmla="*/ 59 h 731"/>
                <a:gd name="T10" fmla="*/ 654 w 1123"/>
                <a:gd name="T11" fmla="*/ 11 h 731"/>
                <a:gd name="T12" fmla="*/ 1123 w 1123"/>
                <a:gd name="T13" fmla="*/ 0 h 7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23"/>
                <a:gd name="T22" fmla="*/ 0 h 731"/>
                <a:gd name="T23" fmla="*/ 1123 w 1123"/>
                <a:gd name="T24" fmla="*/ 731 h 73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23" h="731">
                  <a:moveTo>
                    <a:pt x="0" y="731"/>
                  </a:moveTo>
                  <a:cubicBezTo>
                    <a:pt x="19" y="671"/>
                    <a:pt x="38" y="611"/>
                    <a:pt x="65" y="539"/>
                  </a:cubicBezTo>
                  <a:cubicBezTo>
                    <a:pt x="93" y="467"/>
                    <a:pt x="131" y="363"/>
                    <a:pt x="163" y="299"/>
                  </a:cubicBezTo>
                  <a:cubicBezTo>
                    <a:pt x="196" y="235"/>
                    <a:pt x="218" y="195"/>
                    <a:pt x="262" y="155"/>
                  </a:cubicBezTo>
                  <a:cubicBezTo>
                    <a:pt x="305" y="115"/>
                    <a:pt x="360" y="83"/>
                    <a:pt x="425" y="59"/>
                  </a:cubicBezTo>
                  <a:cubicBezTo>
                    <a:pt x="490" y="35"/>
                    <a:pt x="538" y="21"/>
                    <a:pt x="654" y="11"/>
                  </a:cubicBezTo>
                  <a:cubicBezTo>
                    <a:pt x="770" y="1"/>
                    <a:pt x="1025" y="2"/>
                    <a:pt x="1123" y="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1991" name="Object 36"/>
            <p:cNvGraphicFramePr>
              <a:graphicFrameLocks noChangeAspect="1"/>
            </p:cNvGraphicFramePr>
            <p:nvPr/>
          </p:nvGraphicFramePr>
          <p:xfrm>
            <a:off x="1542" y="960"/>
            <a:ext cx="1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6" r:id="rId15" imgW="114419" imgH="215843" progId="Equation.3">
                    <p:embed/>
                  </p:oleObj>
                </mc:Choice>
                <mc:Fallback>
                  <p:oleObj r:id="rId15" imgW="114419" imgH="215843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960"/>
                          <a:ext cx="12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2" name="Object 37"/>
            <p:cNvGraphicFramePr>
              <a:graphicFrameLocks noChangeAspect="1"/>
            </p:cNvGraphicFramePr>
            <p:nvPr/>
          </p:nvGraphicFramePr>
          <p:xfrm>
            <a:off x="66" y="1008"/>
            <a:ext cx="30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7" r:id="rId17" imgW="127042" imgH="139714" progId="Equation.3">
                    <p:embed/>
                  </p:oleObj>
                </mc:Choice>
                <mc:Fallback>
                  <p:oleObj r:id="rId17" imgW="127042" imgH="139714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1008"/>
                          <a:ext cx="30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06" name="Group 39"/>
          <p:cNvGrpSpPr>
            <a:grpSpLocks/>
          </p:cNvGrpSpPr>
          <p:nvPr/>
        </p:nvGrpSpPr>
        <p:grpSpPr bwMode="auto">
          <a:xfrm>
            <a:off x="1197653" y="3933280"/>
            <a:ext cx="4064966" cy="514351"/>
            <a:chOff x="-444" y="0"/>
            <a:chExt cx="3565" cy="432"/>
          </a:xfrm>
        </p:grpSpPr>
        <p:graphicFrame>
          <p:nvGraphicFramePr>
            <p:cNvPr id="41988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3349959"/>
                </p:ext>
              </p:extLst>
            </p:nvPr>
          </p:nvGraphicFramePr>
          <p:xfrm>
            <a:off x="814" y="4"/>
            <a:ext cx="2307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8" name="Equation" r:id="rId19" imgW="1218960" imgH="228600" progId="Equation.DSMT4">
                    <p:embed/>
                  </p:oleObj>
                </mc:Choice>
                <mc:Fallback>
                  <p:oleObj name="Equation" r:id="rId19" imgW="1218960" imgH="2286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" y="4"/>
                          <a:ext cx="2307" cy="4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8" name="Text Box 41"/>
            <p:cNvSpPr txBox="1">
              <a:spLocks noChangeArrowheads="1"/>
            </p:cNvSpPr>
            <p:nvPr/>
          </p:nvSpPr>
          <p:spPr bwMode="auto">
            <a:xfrm>
              <a:off x="-444" y="0"/>
              <a:ext cx="188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</a:rPr>
                <a:t>一般认为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248890" y="127847"/>
            <a:ext cx="1718075" cy="2693591"/>
            <a:chOff x="6811647" y="1546224"/>
            <a:chExt cx="1718075" cy="2693591"/>
          </a:xfrm>
        </p:grpSpPr>
        <p:grpSp>
          <p:nvGrpSpPr>
            <p:cNvPr id="44" name="Group 4"/>
            <p:cNvGrpSpPr>
              <a:grpSpLocks/>
            </p:cNvGrpSpPr>
            <p:nvPr/>
          </p:nvGrpSpPr>
          <p:grpSpPr bwMode="auto">
            <a:xfrm>
              <a:off x="7211698" y="2725340"/>
              <a:ext cx="981075" cy="802482"/>
              <a:chOff x="0" y="-49"/>
              <a:chExt cx="824" cy="674"/>
            </a:xfrm>
          </p:grpSpPr>
          <p:sp>
            <p:nvSpPr>
              <p:cNvPr id="45" name="Line 5"/>
              <p:cNvSpPr>
                <a:spLocks noChangeShapeType="1"/>
              </p:cNvSpPr>
              <p:nvPr/>
            </p:nvSpPr>
            <p:spPr bwMode="auto">
              <a:xfrm>
                <a:off x="692" y="19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6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4302686"/>
                  </p:ext>
                </p:extLst>
              </p:nvPr>
            </p:nvGraphicFramePr>
            <p:xfrm>
              <a:off x="560" y="-49"/>
              <a:ext cx="264" cy="2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259" name="Equation" r:id="rId21" imgW="126720" imgH="139680" progId="Equation.DSMT4">
                      <p:embed/>
                    </p:oleObj>
                  </mc:Choice>
                  <mc:Fallback>
                    <p:oleObj name="Equation" r:id="rId21" imgW="126720" imgH="139680" progId="Equation.DSMT4">
                      <p:embed/>
                      <p:pic>
                        <p:nvPicPr>
                          <p:cNvPr id="5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0" y="-49"/>
                            <a:ext cx="264" cy="28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" name="Oval 7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240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grpSp>
          <p:nvGrpSpPr>
            <p:cNvPr id="48" name="Group 8"/>
            <p:cNvGrpSpPr>
              <a:grpSpLocks/>
            </p:cNvGrpSpPr>
            <p:nvPr/>
          </p:nvGrpSpPr>
          <p:grpSpPr bwMode="auto">
            <a:xfrm>
              <a:off x="7441487" y="2125266"/>
              <a:ext cx="439341" cy="772715"/>
              <a:chOff x="0" y="1"/>
              <a:chExt cx="369" cy="649"/>
            </a:xfrm>
          </p:grpSpPr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 flipV="1">
                <a:off x="0" y="122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CC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0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450332"/>
                  </p:ext>
                </p:extLst>
              </p:nvPr>
            </p:nvGraphicFramePr>
            <p:xfrm>
              <a:off x="28" y="1"/>
              <a:ext cx="341" cy="4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260" name="Equation" r:id="rId23" imgW="164880" imgH="228600" progId="Equation.DSMT4">
                      <p:embed/>
                    </p:oleObj>
                  </mc:Choice>
                  <mc:Fallback>
                    <p:oleObj name="Equation" r:id="rId23" imgW="164880" imgH="228600" progId="Equation.DSMT4">
                      <p:embed/>
                      <p:pic>
                        <p:nvPicPr>
                          <p:cNvPr id="57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" y="1"/>
                            <a:ext cx="341" cy="4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" name="Group 13"/>
            <p:cNvGrpSpPr>
              <a:grpSpLocks/>
            </p:cNvGrpSpPr>
            <p:nvPr/>
          </p:nvGrpSpPr>
          <p:grpSpPr bwMode="auto">
            <a:xfrm>
              <a:off x="7083110" y="3100387"/>
              <a:ext cx="544115" cy="1139428"/>
              <a:chOff x="-84" y="0"/>
              <a:chExt cx="457" cy="957"/>
            </a:xfrm>
          </p:grpSpPr>
          <p:sp>
            <p:nvSpPr>
              <p:cNvPr id="52" name="Line 14"/>
              <p:cNvSpPr>
                <a:spLocks noChangeShapeType="1"/>
              </p:cNvSpPr>
              <p:nvPr/>
            </p:nvSpPr>
            <p:spPr bwMode="auto">
              <a:xfrm>
                <a:off x="145" y="0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8374697"/>
                  </p:ext>
                </p:extLst>
              </p:nvPr>
            </p:nvGraphicFramePr>
            <p:xfrm>
              <a:off x="-84" y="648"/>
              <a:ext cx="457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261" name="Equation" r:id="rId25" imgW="241200" imgH="164880" progId="Equation.DSMT4">
                      <p:embed/>
                    </p:oleObj>
                  </mc:Choice>
                  <mc:Fallback>
                    <p:oleObj name="Equation" r:id="rId25" imgW="241200" imgH="164880" progId="Equation.DSMT4">
                      <p:embed/>
                      <p:pic>
                        <p:nvPicPr>
                          <p:cNvPr id="6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84" y="648"/>
                            <a:ext cx="457" cy="3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4" name="Group 16"/>
            <p:cNvGrpSpPr>
              <a:grpSpLocks/>
            </p:cNvGrpSpPr>
            <p:nvPr/>
          </p:nvGrpSpPr>
          <p:grpSpPr bwMode="auto">
            <a:xfrm>
              <a:off x="8210634" y="1546224"/>
              <a:ext cx="319088" cy="2602706"/>
              <a:chOff x="0" y="160"/>
              <a:chExt cx="268" cy="2186"/>
            </a:xfrm>
          </p:grpSpPr>
          <p:sp>
            <p:nvSpPr>
              <p:cNvPr id="55" name="Line 17"/>
              <p:cNvSpPr>
                <a:spLocks noChangeShapeType="1"/>
              </p:cNvSpPr>
              <p:nvPr/>
            </p:nvSpPr>
            <p:spPr bwMode="auto">
              <a:xfrm>
                <a:off x="144" y="160"/>
                <a:ext cx="0" cy="1802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 type="none" w="lg" len="lg"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6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27613194"/>
                  </p:ext>
                </p:extLst>
              </p:nvPr>
            </p:nvGraphicFramePr>
            <p:xfrm>
              <a:off x="0" y="2010"/>
              <a:ext cx="26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262" r:id="rId27" imgW="190734" imgH="241512" progId="Equation.3">
                      <p:embed/>
                    </p:oleObj>
                  </mc:Choice>
                  <mc:Fallback>
                    <p:oleObj r:id="rId27" imgW="190734" imgH="241512" progId="Equation.3">
                      <p:embed/>
                      <p:pic>
                        <p:nvPicPr>
                          <p:cNvPr id="63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010"/>
                            <a:ext cx="268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7" name="Group 20"/>
            <p:cNvGrpSpPr>
              <a:grpSpLocks/>
            </p:cNvGrpSpPr>
            <p:nvPr/>
          </p:nvGrpSpPr>
          <p:grpSpPr bwMode="auto">
            <a:xfrm>
              <a:off x="6811647" y="2249091"/>
              <a:ext cx="457201" cy="648891"/>
              <a:chOff x="0" y="0"/>
              <a:chExt cx="384" cy="545"/>
            </a:xfrm>
          </p:grpSpPr>
          <p:sp>
            <p:nvSpPr>
              <p:cNvPr id="58" name="Line 21"/>
              <p:cNvSpPr>
                <a:spLocks noChangeShapeType="1"/>
              </p:cNvSpPr>
              <p:nvPr/>
            </p:nvSpPr>
            <p:spPr bwMode="auto">
              <a:xfrm flipV="1">
                <a:off x="384" y="11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9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9890058"/>
                  </p:ext>
                </p:extLst>
              </p:nvPr>
            </p:nvGraphicFramePr>
            <p:xfrm>
              <a:off x="0" y="0"/>
              <a:ext cx="352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263" name="Equation" r:id="rId29" imgW="190440" imgH="228600" progId="Equation.DSMT4">
                      <p:embed/>
                    </p:oleObj>
                  </mc:Choice>
                  <mc:Fallback>
                    <p:oleObj name="Equation" r:id="rId29" imgW="190440" imgH="228600" progId="Equation.DSMT4">
                      <p:embed/>
                      <p:pic>
                        <p:nvPicPr>
                          <p:cNvPr id="66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352" cy="4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3159" y="371567"/>
            <a:ext cx="5222571" cy="1421928"/>
            <a:chOff x="457199" y="195262"/>
            <a:chExt cx="5222571" cy="1421928"/>
          </a:xfrm>
        </p:grpSpPr>
        <p:sp>
          <p:nvSpPr>
            <p:cNvPr id="43026" name="Text Box 2"/>
            <p:cNvSpPr txBox="1">
              <a:spLocks noChangeArrowheads="1"/>
            </p:cNvSpPr>
            <p:nvPr/>
          </p:nvSpPr>
          <p:spPr bwMode="auto">
            <a:xfrm>
              <a:off x="457199" y="195262"/>
              <a:ext cx="5222571" cy="1421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    若球体在水面上具有竖直向下的速率  ，且在水中  </a:t>
              </a:r>
              <a:r>
                <a:rPr lang="zh-CN" altLang="en-US" b="1" smtClean="0">
                  <a:solidFill>
                    <a:srgbClr val="1C1C1C"/>
                  </a:solidFill>
                  <a:latin typeface="宋体" pitchFamily="2" charset="-122"/>
                </a:rPr>
                <a:t>      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，则球在水中仅受阻力       </a:t>
              </a:r>
              <a:r>
                <a:rPr lang="zh-CN" altLang="en-US" b="1" smtClean="0">
                  <a:solidFill>
                    <a:srgbClr val="1C1C1C"/>
                  </a:solidFill>
                  <a:latin typeface="宋体" pitchFamily="2" charset="-122"/>
                </a:rPr>
                <a:t>  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的作用     </a:t>
              </a:r>
            </a:p>
          </p:txBody>
        </p:sp>
        <p:graphicFrame>
          <p:nvGraphicFramePr>
            <p:cNvPr id="4301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4269274"/>
                </p:ext>
              </p:extLst>
            </p:nvPr>
          </p:nvGraphicFramePr>
          <p:xfrm>
            <a:off x="1134072" y="613475"/>
            <a:ext cx="40005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17" r:id="rId3" imgW="177809" imgH="228521" progId="Equation.3">
                    <p:embed/>
                  </p:oleObj>
                </mc:Choice>
                <mc:Fallback>
                  <p:oleObj r:id="rId3" imgW="177809" imgH="228521" progId="Equation.3">
                    <p:embed/>
                    <p:pic>
                      <p:nvPicPr>
                        <p:cNvPr id="4301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4072" y="613475"/>
                          <a:ext cx="400050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113701"/>
                </p:ext>
              </p:extLst>
            </p:nvPr>
          </p:nvGraphicFramePr>
          <p:xfrm>
            <a:off x="2943225" y="644525"/>
            <a:ext cx="1284288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18" name="Equation" r:id="rId5" imgW="558720" imgH="228600" progId="Equation.DSMT4">
                    <p:embed/>
                  </p:oleObj>
                </mc:Choice>
                <mc:Fallback>
                  <p:oleObj name="Equation" r:id="rId5" imgW="558720" imgH="228600" progId="Equation.DSMT4">
                    <p:embed/>
                    <p:pic>
                      <p:nvPicPr>
                        <p:cNvPr id="4301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3225" y="644525"/>
                          <a:ext cx="1284288" cy="527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204920"/>
                </p:ext>
              </p:extLst>
            </p:nvPr>
          </p:nvGraphicFramePr>
          <p:xfrm>
            <a:off x="2506265" y="1084170"/>
            <a:ext cx="1093788" cy="528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19" name="Equation" r:id="rId7" imgW="482400" imgH="228600" progId="Equation.DSMT4">
                    <p:embed/>
                  </p:oleObj>
                </mc:Choice>
                <mc:Fallback>
                  <p:oleObj name="Equation" r:id="rId7" imgW="482400" imgH="228600" progId="Equation.DSMT4">
                    <p:embed/>
                    <p:pic>
                      <p:nvPicPr>
                        <p:cNvPr id="4301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6265" y="1084170"/>
                          <a:ext cx="1093788" cy="528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208472"/>
              </p:ext>
            </p:extLst>
          </p:nvPr>
        </p:nvGraphicFramePr>
        <p:xfrm>
          <a:off x="1129122" y="1985746"/>
          <a:ext cx="1817256" cy="839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0" r:id="rId9" imgW="749292" imgH="393846" progId="Equation.3">
                  <p:embed/>
                </p:oleObj>
              </mc:Choice>
              <mc:Fallback>
                <p:oleObj r:id="rId9" imgW="749292" imgH="393846" progId="Equation.3">
                  <p:embed/>
                  <p:pic>
                    <p:nvPicPr>
                      <p:cNvPr id="860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122" y="1985746"/>
                        <a:ext cx="1817256" cy="83915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808327"/>
              </p:ext>
            </p:extLst>
          </p:nvPr>
        </p:nvGraphicFramePr>
        <p:xfrm>
          <a:off x="1187153" y="3049114"/>
          <a:ext cx="2750143" cy="840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1" r:id="rId11" imgW="1079349" imgH="393846" progId="Equation.3">
                  <p:embed/>
                </p:oleObj>
              </mc:Choice>
              <mc:Fallback>
                <p:oleObj r:id="rId11" imgW="1079349" imgH="393846" progId="Equation.3">
                  <p:embed/>
                  <p:pic>
                    <p:nvPicPr>
                      <p:cNvPr id="860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53" y="3049114"/>
                        <a:ext cx="2750143" cy="8402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694273"/>
              </p:ext>
            </p:extLst>
          </p:nvPr>
        </p:nvGraphicFramePr>
        <p:xfrm>
          <a:off x="1187153" y="4098463"/>
          <a:ext cx="2668543" cy="65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2" r:id="rId13" imgW="812764" imgH="241512" progId="Equation.3">
                  <p:embed/>
                </p:oleObj>
              </mc:Choice>
              <mc:Fallback>
                <p:oleObj r:id="rId13" imgW="812764" imgH="241512" progId="Equation.3">
                  <p:embed/>
                  <p:pic>
                    <p:nvPicPr>
                      <p:cNvPr id="860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53" y="4098463"/>
                        <a:ext cx="2668543" cy="65059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6404862" y="3132189"/>
            <a:ext cx="2135981" cy="1616869"/>
            <a:chOff x="0" y="0"/>
            <a:chExt cx="1794" cy="1358"/>
          </a:xfrm>
        </p:grpSpPr>
        <p:sp>
          <p:nvSpPr>
            <p:cNvPr id="43029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1794" cy="13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3030" name="Line 29"/>
            <p:cNvSpPr>
              <a:spLocks noChangeShapeType="1"/>
            </p:cNvSpPr>
            <p:nvPr/>
          </p:nvSpPr>
          <p:spPr bwMode="auto">
            <a:xfrm flipV="1">
              <a:off x="372" y="96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3031" name="Line 30"/>
            <p:cNvSpPr>
              <a:spLocks noChangeShapeType="1"/>
            </p:cNvSpPr>
            <p:nvPr/>
          </p:nvSpPr>
          <p:spPr bwMode="auto">
            <a:xfrm>
              <a:off x="372" y="124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3016" name="Object 31"/>
            <p:cNvGraphicFramePr>
              <a:graphicFrameLocks noChangeAspect="1"/>
            </p:cNvGraphicFramePr>
            <p:nvPr/>
          </p:nvGraphicFramePr>
          <p:xfrm>
            <a:off x="386" y="34"/>
            <a:ext cx="27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23" r:id="rId15" imgW="127042" imgH="139714" progId="Equation.3">
                    <p:embed/>
                  </p:oleObj>
                </mc:Choice>
                <mc:Fallback>
                  <p:oleObj r:id="rId15" imgW="127042" imgH="139714" progId="Equation.3">
                    <p:embed/>
                    <p:pic>
                      <p:nvPicPr>
                        <p:cNvPr id="43016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" y="34"/>
                          <a:ext cx="274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2" name="Freeform 32"/>
            <p:cNvSpPr>
              <a:spLocks/>
            </p:cNvSpPr>
            <p:nvPr/>
          </p:nvSpPr>
          <p:spPr bwMode="auto">
            <a:xfrm>
              <a:off x="379" y="514"/>
              <a:ext cx="1135" cy="710"/>
            </a:xfrm>
            <a:custGeom>
              <a:avLst/>
              <a:gdLst>
                <a:gd name="T0" fmla="*/ 0 w 1135"/>
                <a:gd name="T1" fmla="*/ 0 h 710"/>
                <a:gd name="T2" fmla="*/ 102 w 1135"/>
                <a:gd name="T3" fmla="*/ 244 h 710"/>
                <a:gd name="T4" fmla="*/ 202 w 1135"/>
                <a:gd name="T5" fmla="*/ 408 h 710"/>
                <a:gd name="T6" fmla="*/ 312 w 1135"/>
                <a:gd name="T7" fmla="*/ 518 h 710"/>
                <a:gd name="T8" fmla="*/ 476 w 1135"/>
                <a:gd name="T9" fmla="*/ 609 h 710"/>
                <a:gd name="T10" fmla="*/ 742 w 1135"/>
                <a:gd name="T11" fmla="*/ 673 h 710"/>
                <a:gd name="T12" fmla="*/ 1135 w 1135"/>
                <a:gd name="T13" fmla="*/ 710 h 7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35"/>
                <a:gd name="T22" fmla="*/ 0 h 710"/>
                <a:gd name="T23" fmla="*/ 1135 w 1135"/>
                <a:gd name="T24" fmla="*/ 710 h 71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35" h="710">
                  <a:moveTo>
                    <a:pt x="0" y="0"/>
                  </a:moveTo>
                  <a:cubicBezTo>
                    <a:pt x="17" y="41"/>
                    <a:pt x="68" y="176"/>
                    <a:pt x="102" y="244"/>
                  </a:cubicBezTo>
                  <a:cubicBezTo>
                    <a:pt x="136" y="312"/>
                    <a:pt x="167" y="362"/>
                    <a:pt x="202" y="408"/>
                  </a:cubicBezTo>
                  <a:cubicBezTo>
                    <a:pt x="237" y="454"/>
                    <a:pt x="266" y="485"/>
                    <a:pt x="312" y="518"/>
                  </a:cubicBezTo>
                  <a:cubicBezTo>
                    <a:pt x="358" y="551"/>
                    <a:pt x="404" y="583"/>
                    <a:pt x="476" y="609"/>
                  </a:cubicBezTo>
                  <a:cubicBezTo>
                    <a:pt x="548" y="635"/>
                    <a:pt x="632" y="656"/>
                    <a:pt x="742" y="673"/>
                  </a:cubicBezTo>
                  <a:cubicBezTo>
                    <a:pt x="852" y="690"/>
                    <a:pt x="1053" y="702"/>
                    <a:pt x="1135" y="71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3017" name="Object 33"/>
            <p:cNvGraphicFramePr>
              <a:graphicFrameLocks noChangeAspect="1"/>
            </p:cNvGraphicFramePr>
            <p:nvPr/>
          </p:nvGraphicFramePr>
          <p:xfrm>
            <a:off x="1542" y="960"/>
            <a:ext cx="1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24" r:id="rId17" imgW="114419" imgH="215843" progId="Equation.3">
                    <p:embed/>
                  </p:oleObj>
                </mc:Choice>
                <mc:Fallback>
                  <p:oleObj r:id="rId17" imgW="114419" imgH="215843" progId="Equation.3">
                    <p:embed/>
                    <p:pic>
                      <p:nvPicPr>
                        <p:cNvPr id="43017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960"/>
                          <a:ext cx="12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8" name="Object 34"/>
            <p:cNvGraphicFramePr>
              <a:graphicFrameLocks noChangeAspect="1"/>
            </p:cNvGraphicFramePr>
            <p:nvPr/>
          </p:nvGraphicFramePr>
          <p:xfrm>
            <a:off x="66" y="1008"/>
            <a:ext cx="30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25" r:id="rId19" imgW="127042" imgH="139714" progId="Equation.3">
                    <p:embed/>
                  </p:oleObj>
                </mc:Choice>
                <mc:Fallback>
                  <p:oleObj r:id="rId19" imgW="127042" imgH="139714" progId="Equation.3">
                    <p:embed/>
                    <p:pic>
                      <p:nvPicPr>
                        <p:cNvPr id="43018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1008"/>
                          <a:ext cx="30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9" name="Object 35"/>
            <p:cNvGraphicFramePr>
              <a:graphicFrameLocks noChangeAspect="1"/>
            </p:cNvGraphicFramePr>
            <p:nvPr/>
          </p:nvGraphicFramePr>
          <p:xfrm>
            <a:off x="0" y="315"/>
            <a:ext cx="356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26" r:id="rId21" imgW="177809" imgH="228521" progId="Equation.3">
                    <p:embed/>
                  </p:oleObj>
                </mc:Choice>
                <mc:Fallback>
                  <p:oleObj r:id="rId21" imgW="177809" imgH="228521" progId="Equation.3">
                    <p:embed/>
                    <p:pic>
                      <p:nvPicPr>
                        <p:cNvPr id="43019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15"/>
                          <a:ext cx="356" cy="4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/>
          <p:cNvGrpSpPr/>
          <p:nvPr/>
        </p:nvGrpSpPr>
        <p:grpSpPr>
          <a:xfrm>
            <a:off x="6248890" y="127847"/>
            <a:ext cx="1718075" cy="2693591"/>
            <a:chOff x="6811647" y="1546224"/>
            <a:chExt cx="1718075" cy="2693591"/>
          </a:xfrm>
        </p:grpSpPr>
        <p:grpSp>
          <p:nvGrpSpPr>
            <p:cNvPr id="38" name="Group 4"/>
            <p:cNvGrpSpPr>
              <a:grpSpLocks/>
            </p:cNvGrpSpPr>
            <p:nvPr/>
          </p:nvGrpSpPr>
          <p:grpSpPr bwMode="auto">
            <a:xfrm>
              <a:off x="7211698" y="2725340"/>
              <a:ext cx="981075" cy="802482"/>
              <a:chOff x="0" y="-49"/>
              <a:chExt cx="824" cy="674"/>
            </a:xfrm>
          </p:grpSpPr>
          <p:sp>
            <p:nvSpPr>
              <p:cNvPr id="51" name="Line 5"/>
              <p:cNvSpPr>
                <a:spLocks noChangeShapeType="1"/>
              </p:cNvSpPr>
              <p:nvPr/>
            </p:nvSpPr>
            <p:spPr bwMode="auto">
              <a:xfrm>
                <a:off x="692" y="19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2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22974929"/>
                  </p:ext>
                </p:extLst>
              </p:nvPr>
            </p:nvGraphicFramePr>
            <p:xfrm>
              <a:off x="560" y="-49"/>
              <a:ext cx="264" cy="2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027" name="Equation" r:id="rId23" imgW="126720" imgH="139680" progId="Equation.DSMT4">
                      <p:embed/>
                    </p:oleObj>
                  </mc:Choice>
                  <mc:Fallback>
                    <p:oleObj name="Equation" r:id="rId23" imgW="126720" imgH="139680" progId="Equation.DSMT4">
                      <p:embed/>
                      <p:pic>
                        <p:nvPicPr>
                          <p:cNvPr id="46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0" y="-49"/>
                            <a:ext cx="264" cy="28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" name="Oval 7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240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grpSp>
          <p:nvGrpSpPr>
            <p:cNvPr id="39" name="Group 8"/>
            <p:cNvGrpSpPr>
              <a:grpSpLocks/>
            </p:cNvGrpSpPr>
            <p:nvPr/>
          </p:nvGrpSpPr>
          <p:grpSpPr bwMode="auto">
            <a:xfrm>
              <a:off x="7441487" y="2125266"/>
              <a:ext cx="439341" cy="772715"/>
              <a:chOff x="0" y="1"/>
              <a:chExt cx="369" cy="649"/>
            </a:xfrm>
          </p:grpSpPr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 flipV="1">
                <a:off x="0" y="122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CC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0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0844172"/>
                  </p:ext>
                </p:extLst>
              </p:nvPr>
            </p:nvGraphicFramePr>
            <p:xfrm>
              <a:off x="28" y="1"/>
              <a:ext cx="341" cy="4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028" name="Equation" r:id="rId25" imgW="164880" imgH="228600" progId="Equation.DSMT4">
                      <p:embed/>
                    </p:oleObj>
                  </mc:Choice>
                  <mc:Fallback>
                    <p:oleObj name="Equation" r:id="rId25" imgW="164880" imgH="228600" progId="Equation.DSMT4">
                      <p:embed/>
                      <p:pic>
                        <p:nvPicPr>
                          <p:cNvPr id="5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" y="1"/>
                            <a:ext cx="341" cy="4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" name="Group 13"/>
            <p:cNvGrpSpPr>
              <a:grpSpLocks/>
            </p:cNvGrpSpPr>
            <p:nvPr/>
          </p:nvGrpSpPr>
          <p:grpSpPr bwMode="auto">
            <a:xfrm>
              <a:off x="7083110" y="3100387"/>
              <a:ext cx="544115" cy="1139428"/>
              <a:chOff x="-84" y="0"/>
              <a:chExt cx="457" cy="957"/>
            </a:xfrm>
          </p:grpSpPr>
          <p:sp>
            <p:nvSpPr>
              <p:cNvPr id="47" name="Line 14"/>
              <p:cNvSpPr>
                <a:spLocks noChangeShapeType="1"/>
              </p:cNvSpPr>
              <p:nvPr/>
            </p:nvSpPr>
            <p:spPr bwMode="auto">
              <a:xfrm>
                <a:off x="145" y="0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8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9523376"/>
                  </p:ext>
                </p:extLst>
              </p:nvPr>
            </p:nvGraphicFramePr>
            <p:xfrm>
              <a:off x="-84" y="648"/>
              <a:ext cx="457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029" name="Equation" r:id="rId27" imgW="241200" imgH="164880" progId="Equation.DSMT4">
                      <p:embed/>
                    </p:oleObj>
                  </mc:Choice>
                  <mc:Fallback>
                    <p:oleObj name="Equation" r:id="rId27" imgW="241200" imgH="164880" progId="Equation.DSMT4">
                      <p:embed/>
                      <p:pic>
                        <p:nvPicPr>
                          <p:cNvPr id="53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84" y="648"/>
                            <a:ext cx="457" cy="3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Group 16"/>
            <p:cNvGrpSpPr>
              <a:grpSpLocks/>
            </p:cNvGrpSpPr>
            <p:nvPr/>
          </p:nvGrpSpPr>
          <p:grpSpPr bwMode="auto">
            <a:xfrm>
              <a:off x="8210634" y="1546224"/>
              <a:ext cx="319088" cy="2602706"/>
              <a:chOff x="0" y="160"/>
              <a:chExt cx="268" cy="2186"/>
            </a:xfrm>
          </p:grpSpPr>
          <p:sp>
            <p:nvSpPr>
              <p:cNvPr id="45" name="Line 17"/>
              <p:cNvSpPr>
                <a:spLocks noChangeShapeType="1"/>
              </p:cNvSpPr>
              <p:nvPr/>
            </p:nvSpPr>
            <p:spPr bwMode="auto">
              <a:xfrm>
                <a:off x="144" y="160"/>
                <a:ext cx="0" cy="1802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 type="none" w="lg" len="lg"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6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8976150"/>
                  </p:ext>
                </p:extLst>
              </p:nvPr>
            </p:nvGraphicFramePr>
            <p:xfrm>
              <a:off x="0" y="2010"/>
              <a:ext cx="26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030" r:id="rId29" imgW="190734" imgH="241512" progId="Equation.3">
                      <p:embed/>
                    </p:oleObj>
                  </mc:Choice>
                  <mc:Fallback>
                    <p:oleObj r:id="rId29" imgW="190734" imgH="241512" progId="Equation.3">
                      <p:embed/>
                      <p:pic>
                        <p:nvPicPr>
                          <p:cNvPr id="56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010"/>
                            <a:ext cx="268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" name="Group 20"/>
            <p:cNvGrpSpPr>
              <a:grpSpLocks/>
            </p:cNvGrpSpPr>
            <p:nvPr/>
          </p:nvGrpSpPr>
          <p:grpSpPr bwMode="auto">
            <a:xfrm>
              <a:off x="6811647" y="2249091"/>
              <a:ext cx="457201" cy="648891"/>
              <a:chOff x="0" y="0"/>
              <a:chExt cx="384" cy="545"/>
            </a:xfrm>
          </p:grpSpPr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 flipV="1">
                <a:off x="384" y="11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4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7022862"/>
                  </p:ext>
                </p:extLst>
              </p:nvPr>
            </p:nvGraphicFramePr>
            <p:xfrm>
              <a:off x="0" y="0"/>
              <a:ext cx="352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031" name="Equation" r:id="rId31" imgW="190440" imgH="228600" progId="Equation.DSMT4">
                      <p:embed/>
                    </p:oleObj>
                  </mc:Choice>
                  <mc:Fallback>
                    <p:oleObj name="Equation" r:id="rId31" imgW="190440" imgH="228600" progId="Equation.DSMT4">
                      <p:embed/>
                      <p:pic>
                        <p:nvPicPr>
                          <p:cNvPr id="59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352" cy="4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36307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1CD7AE-AE7A-449D-9C5A-661BEE510B23}" type="slidenum">
              <a:rPr lang="zh-CN" altLang="en-US"/>
              <a:pPr>
                <a:defRPr/>
              </a:pPr>
              <a:t>36</a:t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530452" y="415808"/>
            <a:ext cx="8302172" cy="1865126"/>
            <a:chOff x="522514" y="303610"/>
            <a:chExt cx="8302172" cy="1865126"/>
          </a:xfrm>
        </p:grpSpPr>
        <p:sp>
          <p:nvSpPr>
            <p:cNvPr id="14357" name="Text Box 3"/>
            <p:cNvSpPr txBox="1">
              <a:spLocks noChangeArrowheads="1"/>
            </p:cNvSpPr>
            <p:nvPr/>
          </p:nvSpPr>
          <p:spPr bwMode="auto">
            <a:xfrm>
              <a:off x="522514" y="303610"/>
              <a:ext cx="8302172" cy="1865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b="1" smtClean="0">
                  <a:solidFill>
                    <a:srgbClr val="FF0000"/>
                  </a:solidFill>
                  <a:cs typeface="Times New Roman" panose="02020603050405020304" pitchFamily="18" charset="0"/>
                </a:rPr>
                <a:t>*</a:t>
              </a:r>
              <a:r>
                <a:rPr lang="zh-CN" altLang="en-US" b="1" smtClean="0">
                  <a:solidFill>
                    <a:srgbClr val="CC0000"/>
                  </a:solidFill>
                  <a:cs typeface="Times New Roman" panose="02020603050405020304" pitchFamily="18" charset="0"/>
                </a:rPr>
                <a:t>例</a:t>
              </a:r>
              <a:r>
                <a:rPr lang="en-US" altLang="zh-CN" b="1">
                  <a:solidFill>
                    <a:srgbClr val="CC0000"/>
                  </a:solidFill>
                  <a:cs typeface="Times New Roman" panose="02020603050405020304" pitchFamily="18" charset="0"/>
                </a:rPr>
                <a:t>5</a:t>
              </a:r>
              <a:r>
                <a:rPr lang="zh-CN" altLang="en-US" b="1" dirty="0">
                  <a:solidFill>
                    <a:srgbClr val="CC0000"/>
                  </a:solidFill>
                  <a:cs typeface="Times New Roman" panose="02020603050405020304" pitchFamily="18" charset="0"/>
                </a:rPr>
                <a:t>　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</a:rPr>
                <a:t>质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</a:rPr>
                <a:t>量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为     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</a:rPr>
                <a:t>、长为  的柔软细绳，一端系着放在光滑桌面上质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</a:rPr>
                <a:t>量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为      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</a:rPr>
                <a:t>的物体，在绳的另一端加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</a:rPr>
                <a:t>力 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  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</a:rPr>
                <a:t>．设绳的长度不变，质量分布是均匀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</a:rPr>
                <a:t>的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．</a:t>
              </a:r>
              <a:r>
                <a:rPr lang="en-US" altLang="zh-CN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/>
              </a:r>
              <a:br>
                <a:rPr lang="en-US" altLang="zh-CN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</a:b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求：</a:t>
              </a:r>
              <a:r>
                <a:rPr lang="zh-CN" altLang="en-US" b="1" smtClean="0">
                  <a:solidFill>
                    <a:srgbClr val="CC0000"/>
                  </a:solidFill>
                  <a:cs typeface="Times New Roman" panose="02020603050405020304" pitchFamily="18" charset="0"/>
                  <a:sym typeface="Wingdings" pitchFamily="2" charset="2"/>
                </a:rPr>
                <a:t>(</a:t>
              </a:r>
              <a:r>
                <a:rPr lang="zh-CN" altLang="en-US" b="1" dirty="0">
                  <a:solidFill>
                    <a:srgbClr val="CC0000"/>
                  </a:solidFill>
                  <a:cs typeface="Times New Roman" panose="02020603050405020304" pitchFamily="18" charset="0"/>
                  <a:sym typeface="Wingdings" pitchFamily="2" charset="2"/>
                </a:rPr>
                <a:t>1)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  <a:sym typeface="Wingdings" pitchFamily="2" charset="2"/>
                </a:rPr>
                <a:t>绳作用在物体上的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  <a:sym typeface="Wingdings" pitchFamily="2" charset="2"/>
                </a:rPr>
                <a:t>力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  <a:sym typeface="Wingdings" pitchFamily="2" charset="2"/>
                </a:rPr>
                <a:t>；</a:t>
              </a:r>
              <a:r>
                <a:rPr lang="zh-CN" altLang="en-US" b="1" smtClean="0">
                  <a:solidFill>
                    <a:srgbClr val="CC0000"/>
                  </a:solidFill>
                  <a:cs typeface="Times New Roman" panose="02020603050405020304" pitchFamily="18" charset="0"/>
                  <a:sym typeface="Wingdings" pitchFamily="2" charset="2"/>
                </a:rPr>
                <a:t> (</a:t>
              </a:r>
              <a:r>
                <a:rPr lang="zh-CN" altLang="en-US" b="1" dirty="0">
                  <a:solidFill>
                    <a:srgbClr val="CC0000"/>
                  </a:solidFill>
                  <a:cs typeface="Times New Roman" panose="02020603050405020304" pitchFamily="18" charset="0"/>
                  <a:sym typeface="Wingdings" pitchFamily="2" charset="2"/>
                </a:rPr>
                <a:t>2)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  <a:sym typeface="Wingdings" pitchFamily="2" charset="2"/>
                </a:rPr>
                <a:t>绳上任意点的张力．</a:t>
              </a:r>
              <a:endParaRPr lang="zh-CN" altLang="en-US" b="1" dirty="0">
                <a:solidFill>
                  <a:srgbClr val="1C1C1C"/>
                </a:solidFill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34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1569371"/>
                </p:ext>
              </p:extLst>
            </p:nvPr>
          </p:nvGraphicFramePr>
          <p:xfrm>
            <a:off x="2384599" y="447676"/>
            <a:ext cx="564128" cy="341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0" r:id="rId3" imgW="164880" imgH="139680" progId="Equation.3">
                    <p:embed/>
                  </p:oleObj>
                </mc:Choice>
                <mc:Fallback>
                  <p:oleObj r:id="rId3" imgW="1648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4599" y="447676"/>
                          <a:ext cx="564128" cy="3417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6431794"/>
                </p:ext>
              </p:extLst>
            </p:nvPr>
          </p:nvGraphicFramePr>
          <p:xfrm>
            <a:off x="3696630" y="382191"/>
            <a:ext cx="289553" cy="413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1" r:id="rId5" imgW="88871" imgH="177425" progId="Equation.3">
                    <p:embed/>
                  </p:oleObj>
                </mc:Choice>
                <mc:Fallback>
                  <p:oleObj r:id="rId5" imgW="88871" imgH="1774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630" y="382191"/>
                          <a:ext cx="289553" cy="413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9374321"/>
                </p:ext>
              </p:extLst>
            </p:nvPr>
          </p:nvGraphicFramePr>
          <p:xfrm>
            <a:off x="2134470" y="796642"/>
            <a:ext cx="456330" cy="401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2" name="Equation" r:id="rId7" imgW="203040" imgH="177480" progId="Equation.DSMT4">
                    <p:embed/>
                  </p:oleObj>
                </mc:Choice>
                <mc:Fallback>
                  <p:oleObj name="Equation" r:id="rId7" imgW="2030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4470" y="796642"/>
                          <a:ext cx="456330" cy="401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080448"/>
                </p:ext>
              </p:extLst>
            </p:nvPr>
          </p:nvGraphicFramePr>
          <p:xfrm>
            <a:off x="6208565" y="794261"/>
            <a:ext cx="489245" cy="403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3" r:id="rId9" imgW="165202" imgH="190569" progId="Equation.3">
                    <p:embed/>
                  </p:oleObj>
                </mc:Choice>
                <mc:Fallback>
                  <p:oleObj r:id="rId9" imgW="165202" imgH="190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8565" y="794261"/>
                          <a:ext cx="489245" cy="4036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8" name="Group 8"/>
          <p:cNvGrpSpPr>
            <a:grpSpLocks/>
          </p:cNvGrpSpPr>
          <p:nvPr/>
        </p:nvGrpSpPr>
        <p:grpSpPr bwMode="auto">
          <a:xfrm>
            <a:off x="2908133" y="3158162"/>
            <a:ext cx="3307556" cy="1085850"/>
            <a:chOff x="288" y="144"/>
            <a:chExt cx="2778" cy="912"/>
          </a:xfrm>
        </p:grpSpPr>
        <p:sp>
          <p:nvSpPr>
            <p:cNvPr id="14350" name="Freeform 10" descr="深色竖线"/>
            <p:cNvSpPr>
              <a:spLocks/>
            </p:cNvSpPr>
            <p:nvPr/>
          </p:nvSpPr>
          <p:spPr bwMode="auto">
            <a:xfrm>
              <a:off x="627" y="624"/>
              <a:ext cx="1677" cy="48"/>
            </a:xfrm>
            <a:custGeom>
              <a:avLst/>
              <a:gdLst>
                <a:gd name="T0" fmla="*/ 0 w 1275"/>
                <a:gd name="T1" fmla="*/ 0 h 96"/>
                <a:gd name="T2" fmla="*/ 2838 w 1275"/>
                <a:gd name="T3" fmla="*/ 0 h 96"/>
                <a:gd name="T4" fmla="*/ 2894 w 1275"/>
                <a:gd name="T5" fmla="*/ 3 h 96"/>
                <a:gd name="T6" fmla="*/ 2902 w 1275"/>
                <a:gd name="T7" fmla="*/ 6 h 96"/>
                <a:gd name="T8" fmla="*/ 2887 w 1275"/>
                <a:gd name="T9" fmla="*/ 9 h 96"/>
                <a:gd name="T10" fmla="*/ 2838 w 1275"/>
                <a:gd name="T11" fmla="*/ 12 h 96"/>
                <a:gd name="T12" fmla="*/ 0 w 1275"/>
                <a:gd name="T13" fmla="*/ 12 h 96"/>
                <a:gd name="T14" fmla="*/ 0 w 1275"/>
                <a:gd name="T15" fmla="*/ 0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75"/>
                <a:gd name="T25" fmla="*/ 0 h 96"/>
                <a:gd name="T26" fmla="*/ 1275 w 1275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75" h="96">
                  <a:moveTo>
                    <a:pt x="0" y="0"/>
                  </a:moveTo>
                  <a:lnTo>
                    <a:pt x="1248" y="0"/>
                  </a:lnTo>
                  <a:lnTo>
                    <a:pt x="1272" y="24"/>
                  </a:lnTo>
                  <a:lnTo>
                    <a:pt x="1275" y="51"/>
                  </a:lnTo>
                  <a:lnTo>
                    <a:pt x="1269" y="71"/>
                  </a:lnTo>
                  <a:lnTo>
                    <a:pt x="1248" y="96"/>
                  </a:lnTo>
                  <a:lnTo>
                    <a:pt x="0" y="9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11"/>
              <a:srcRect/>
              <a:tile tx="0" ty="0" sx="100000" sy="100000" flip="none" algn="tl"/>
            </a:blipFill>
            <a:ln w="19050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1" name="Rectangle 11" descr="40%"/>
            <p:cNvSpPr>
              <a:spLocks noChangeArrowheads="1"/>
            </p:cNvSpPr>
            <p:nvPr/>
          </p:nvSpPr>
          <p:spPr bwMode="auto">
            <a:xfrm>
              <a:off x="288" y="480"/>
              <a:ext cx="336" cy="288"/>
            </a:xfrm>
            <a:prstGeom prst="rect">
              <a:avLst/>
            </a:prstGeom>
            <a:blipFill dpi="0" rotWithShape="0">
              <a:blip r:embed="rId12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aphicFrame>
          <p:nvGraphicFramePr>
            <p:cNvPr id="1433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5157097"/>
                </p:ext>
              </p:extLst>
            </p:nvPr>
          </p:nvGraphicFramePr>
          <p:xfrm>
            <a:off x="293" y="464"/>
            <a:ext cx="34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4" name="Equation" r:id="rId13" imgW="203040" imgH="177480" progId="Equation.DSMT4">
                    <p:embed/>
                  </p:oleObj>
                </mc:Choice>
                <mc:Fallback>
                  <p:oleObj name="Equation" r:id="rId13" imgW="2030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464"/>
                          <a:ext cx="34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9" name="Object 13"/>
            <p:cNvGraphicFramePr>
              <a:graphicFrameLocks noChangeAspect="1"/>
            </p:cNvGraphicFramePr>
            <p:nvPr/>
          </p:nvGraphicFramePr>
          <p:xfrm>
            <a:off x="1296" y="731"/>
            <a:ext cx="38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5" r:id="rId15" imgW="164880" imgH="139680" progId="Equation.3">
                    <p:embed/>
                  </p:oleObj>
                </mc:Choice>
                <mc:Fallback>
                  <p:oleObj r:id="rId15" imgW="1648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731"/>
                          <a:ext cx="38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2" name="Line 14"/>
            <p:cNvSpPr>
              <a:spLocks noChangeShapeType="1"/>
            </p:cNvSpPr>
            <p:nvPr/>
          </p:nvSpPr>
          <p:spPr bwMode="auto">
            <a:xfrm>
              <a:off x="2304" y="651"/>
              <a:ext cx="42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3" name="Line 15"/>
            <p:cNvSpPr>
              <a:spLocks noChangeShapeType="1"/>
            </p:cNvSpPr>
            <p:nvPr/>
          </p:nvSpPr>
          <p:spPr bwMode="auto">
            <a:xfrm>
              <a:off x="624" y="144"/>
              <a:ext cx="3" cy="3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4" name="Line 16"/>
            <p:cNvSpPr>
              <a:spLocks noChangeShapeType="1"/>
            </p:cNvSpPr>
            <p:nvPr/>
          </p:nvSpPr>
          <p:spPr bwMode="auto">
            <a:xfrm>
              <a:off x="2304" y="144"/>
              <a:ext cx="0" cy="4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5" name="Line 17"/>
            <p:cNvSpPr>
              <a:spLocks noChangeShapeType="1"/>
            </p:cNvSpPr>
            <p:nvPr/>
          </p:nvSpPr>
          <p:spPr bwMode="auto">
            <a:xfrm>
              <a:off x="1776" y="288"/>
              <a:ext cx="5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6" name="Line 18"/>
            <p:cNvSpPr>
              <a:spLocks noChangeShapeType="1"/>
            </p:cNvSpPr>
            <p:nvPr/>
          </p:nvSpPr>
          <p:spPr bwMode="auto">
            <a:xfrm flipH="1">
              <a:off x="627" y="288"/>
              <a:ext cx="6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4340" name="Object 19"/>
            <p:cNvGraphicFramePr>
              <a:graphicFrameLocks noChangeAspect="1"/>
            </p:cNvGraphicFramePr>
            <p:nvPr/>
          </p:nvGraphicFramePr>
          <p:xfrm>
            <a:off x="1440" y="144"/>
            <a:ext cx="1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6" r:id="rId16" imgW="88871" imgH="177425" progId="Equation.3">
                    <p:embed/>
                  </p:oleObj>
                </mc:Choice>
                <mc:Fallback>
                  <p:oleObj r:id="rId16" imgW="88871" imgH="1774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44"/>
                          <a:ext cx="16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301525"/>
                </p:ext>
              </p:extLst>
            </p:nvPr>
          </p:nvGraphicFramePr>
          <p:xfrm>
            <a:off x="2733" y="481"/>
            <a:ext cx="333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7" name="Equation" r:id="rId17" imgW="164880" imgH="164880" progId="Equation.DSMT4">
                    <p:embed/>
                  </p:oleObj>
                </mc:Choice>
                <mc:Fallback>
                  <p:oleObj name="Equation" r:id="rId1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3" y="481"/>
                          <a:ext cx="333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0474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8724B-60DD-4476-8830-3060E3708A33}" type="slidenum">
              <a:rPr lang="zh-CN" altLang="en-US"/>
              <a:pPr>
                <a:defRPr/>
              </a:pPr>
              <a:t>37</a:t>
            </a:fld>
            <a:endParaRPr lang="en-US" altLang="zh-CN"/>
          </a:p>
        </p:txBody>
      </p:sp>
      <p:grpSp>
        <p:nvGrpSpPr>
          <p:cNvPr id="15387" name="Group 20"/>
          <p:cNvGrpSpPr>
            <a:grpSpLocks/>
          </p:cNvGrpSpPr>
          <p:nvPr/>
        </p:nvGrpSpPr>
        <p:grpSpPr bwMode="auto">
          <a:xfrm>
            <a:off x="2491978" y="1574178"/>
            <a:ext cx="415528" cy="355997"/>
            <a:chOff x="0" y="-1"/>
            <a:chExt cx="349" cy="299"/>
          </a:xfrm>
        </p:grpSpPr>
        <p:sp>
          <p:nvSpPr>
            <p:cNvPr id="15404" name="Rectangle 21" descr="40%"/>
            <p:cNvSpPr>
              <a:spLocks noChangeArrowheads="1"/>
            </p:cNvSpPr>
            <p:nvPr/>
          </p:nvSpPr>
          <p:spPr bwMode="auto">
            <a:xfrm>
              <a:off x="0" y="0"/>
              <a:ext cx="336" cy="288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aphicFrame>
          <p:nvGraphicFramePr>
            <p:cNvPr id="1537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3777234"/>
                </p:ext>
              </p:extLst>
            </p:nvPr>
          </p:nvGraphicFramePr>
          <p:xfrm>
            <a:off x="7" y="-1"/>
            <a:ext cx="342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62" name="Equation" r:id="rId4" imgW="203040" imgH="177480" progId="Equation.DSMT4">
                    <p:embed/>
                  </p:oleObj>
                </mc:Choice>
                <mc:Fallback>
                  <p:oleObj name="Equation" r:id="rId4" imgW="2030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" y="-1"/>
                          <a:ext cx="342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623284"/>
              </p:ext>
            </p:extLst>
          </p:nvPr>
        </p:nvGraphicFramePr>
        <p:xfrm>
          <a:off x="5235179" y="1346768"/>
          <a:ext cx="457200" cy="386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63" r:id="rId6" imgW="164880" imgH="139680" progId="Equation.3">
                  <p:embed/>
                </p:oleObj>
              </mc:Choice>
              <mc:Fallback>
                <p:oleObj r:id="rId6" imgW="1648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179" y="1346768"/>
                        <a:ext cx="457200" cy="386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6356747" y="1589086"/>
            <a:ext cx="893124" cy="352081"/>
            <a:chOff x="0" y="25"/>
            <a:chExt cx="863" cy="333"/>
          </a:xfrm>
        </p:grpSpPr>
        <p:sp>
          <p:nvSpPr>
            <p:cNvPr id="15403" name="Line 25"/>
            <p:cNvSpPr>
              <a:spLocks noChangeShapeType="1"/>
            </p:cNvSpPr>
            <p:nvPr/>
          </p:nvSpPr>
          <p:spPr bwMode="auto">
            <a:xfrm>
              <a:off x="0" y="192"/>
              <a:ext cx="42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72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0414838"/>
                </p:ext>
              </p:extLst>
            </p:nvPr>
          </p:nvGraphicFramePr>
          <p:xfrm>
            <a:off x="530" y="25"/>
            <a:ext cx="33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64" name="Equation" r:id="rId8" imgW="164880" imgH="164880" progId="Equation.DSMT4">
                    <p:embed/>
                  </p:oleObj>
                </mc:Choice>
                <mc:Fallback>
                  <p:oleObj name="Equation" r:id="rId8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" y="25"/>
                          <a:ext cx="33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5219699" y="2000838"/>
            <a:ext cx="753383" cy="291287"/>
            <a:chOff x="240" y="48"/>
            <a:chExt cx="669" cy="284"/>
          </a:xfrm>
        </p:grpSpPr>
        <p:sp>
          <p:nvSpPr>
            <p:cNvPr id="15402" name="Line 28"/>
            <p:cNvSpPr>
              <a:spLocks noChangeShapeType="1"/>
            </p:cNvSpPr>
            <p:nvPr/>
          </p:nvSpPr>
          <p:spPr bwMode="auto">
            <a:xfrm>
              <a:off x="489" y="185"/>
              <a:ext cx="420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71" name="Object 29"/>
            <p:cNvGraphicFramePr>
              <a:graphicFrameLocks noChangeAspect="1"/>
            </p:cNvGraphicFramePr>
            <p:nvPr/>
          </p:nvGraphicFramePr>
          <p:xfrm>
            <a:off x="240" y="48"/>
            <a:ext cx="25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65" r:id="rId10" imgW="127042" imgH="139714" progId="Equation.3">
                    <p:embed/>
                  </p:oleObj>
                </mc:Choice>
                <mc:Fallback>
                  <p:oleObj r:id="rId10" imgW="127042" imgH="1397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48"/>
                          <a:ext cx="25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2549427" y="2046856"/>
            <a:ext cx="801873" cy="280988"/>
            <a:chOff x="48" y="0"/>
            <a:chExt cx="670" cy="284"/>
          </a:xfrm>
        </p:grpSpPr>
        <p:sp>
          <p:nvSpPr>
            <p:cNvPr id="15401" name="Line 31"/>
            <p:cNvSpPr>
              <a:spLocks noChangeShapeType="1"/>
            </p:cNvSpPr>
            <p:nvPr/>
          </p:nvSpPr>
          <p:spPr bwMode="auto">
            <a:xfrm>
              <a:off x="334" y="117"/>
              <a:ext cx="384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70" name="Object 32"/>
            <p:cNvGraphicFramePr>
              <a:graphicFrameLocks noChangeAspect="1"/>
            </p:cNvGraphicFramePr>
            <p:nvPr/>
          </p:nvGraphicFramePr>
          <p:xfrm>
            <a:off x="48" y="0"/>
            <a:ext cx="25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66" r:id="rId12" imgW="127042" imgH="139714" progId="Equation.3">
                    <p:embed/>
                  </p:oleObj>
                </mc:Choice>
                <mc:Fallback>
                  <p:oleObj r:id="rId12" imgW="127042" imgH="1397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0"/>
                          <a:ext cx="25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2892029" y="1268938"/>
            <a:ext cx="532006" cy="494553"/>
            <a:chOff x="0" y="-37"/>
            <a:chExt cx="560" cy="469"/>
          </a:xfrm>
        </p:grpSpPr>
        <p:sp>
          <p:nvSpPr>
            <p:cNvPr id="15400" name="Line 34"/>
            <p:cNvSpPr>
              <a:spLocks noChangeShapeType="1"/>
            </p:cNvSpPr>
            <p:nvPr/>
          </p:nvSpPr>
          <p:spPr bwMode="auto">
            <a:xfrm>
              <a:off x="0" y="432"/>
              <a:ext cx="42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69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301507"/>
                </p:ext>
              </p:extLst>
            </p:nvPr>
          </p:nvGraphicFramePr>
          <p:xfrm>
            <a:off x="104" y="-37"/>
            <a:ext cx="456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67" name="Equation" r:id="rId13" imgW="228600" imgH="228600" progId="Equation.DSMT4">
                    <p:embed/>
                  </p:oleObj>
                </mc:Choice>
                <mc:Fallback>
                  <p:oleObj name="Equation" r:id="rId13" imgW="228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" y="-37"/>
                          <a:ext cx="456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3856491" y="1263494"/>
            <a:ext cx="543093" cy="501756"/>
            <a:chOff x="-25" y="12"/>
            <a:chExt cx="457" cy="528"/>
          </a:xfrm>
        </p:grpSpPr>
        <p:sp>
          <p:nvSpPr>
            <p:cNvPr id="15399" name="Line 37"/>
            <p:cNvSpPr>
              <a:spLocks noChangeShapeType="1"/>
            </p:cNvSpPr>
            <p:nvPr/>
          </p:nvSpPr>
          <p:spPr bwMode="auto">
            <a:xfrm flipH="1">
              <a:off x="48" y="540"/>
              <a:ext cx="38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68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424276"/>
                </p:ext>
              </p:extLst>
            </p:nvPr>
          </p:nvGraphicFramePr>
          <p:xfrm>
            <a:off x="-25" y="12"/>
            <a:ext cx="44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68" name="Equation" r:id="rId15" imgW="291960" imgH="228600" progId="Equation.DSMT4">
                    <p:embed/>
                  </p:oleObj>
                </mc:Choice>
                <mc:Fallback>
                  <p:oleObj name="Equation" r:id="rId15" imgW="2919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5" y="12"/>
                          <a:ext cx="442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1802845" y="3111799"/>
            <a:ext cx="2497931" cy="1463279"/>
            <a:chOff x="0" y="0"/>
            <a:chExt cx="2098" cy="1229"/>
          </a:xfrm>
        </p:grpSpPr>
        <p:graphicFrame>
          <p:nvGraphicFramePr>
            <p:cNvPr id="15365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0820690"/>
                </p:ext>
              </p:extLst>
            </p:nvPr>
          </p:nvGraphicFramePr>
          <p:xfrm>
            <a:off x="507" y="0"/>
            <a:ext cx="1138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69" name="Equation" r:id="rId17" imgW="634680" imgH="228600" progId="Equation.DSMT4">
                    <p:embed/>
                  </p:oleObj>
                </mc:Choice>
                <mc:Fallback>
                  <p:oleObj name="Equation" r:id="rId17" imgW="634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" y="0"/>
                          <a:ext cx="1138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8912312"/>
                </p:ext>
              </p:extLst>
            </p:nvPr>
          </p:nvGraphicFramePr>
          <p:xfrm>
            <a:off x="494" y="409"/>
            <a:ext cx="1162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70" name="Equation" r:id="rId19" imgW="647640" imgH="228600" progId="Equation.DSMT4">
                    <p:embed/>
                  </p:oleObj>
                </mc:Choice>
                <mc:Fallback>
                  <p:oleObj name="Equation" r:id="rId19" imgW="647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" y="409"/>
                          <a:ext cx="1162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6687453"/>
                </p:ext>
              </p:extLst>
            </p:nvPr>
          </p:nvGraphicFramePr>
          <p:xfrm>
            <a:off x="505" y="815"/>
            <a:ext cx="1593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71" name="Equation" r:id="rId21" imgW="876240" imgH="228600" progId="Equation.DSMT4">
                    <p:embed/>
                  </p:oleObj>
                </mc:Choice>
                <mc:Fallback>
                  <p:oleObj name="Equation" r:id="rId21" imgW="876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" y="815"/>
                          <a:ext cx="1593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7" name="AutoShape 43"/>
            <p:cNvSpPr>
              <a:spLocks/>
            </p:cNvSpPr>
            <p:nvPr/>
          </p:nvSpPr>
          <p:spPr bwMode="auto">
            <a:xfrm>
              <a:off x="363" y="119"/>
              <a:ext cx="137" cy="889"/>
            </a:xfrm>
            <a:prstGeom prst="leftBrace">
              <a:avLst>
                <a:gd name="adj1" fmla="val 54075"/>
                <a:gd name="adj2" fmla="val 46005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100" b="1">
                <a:solidFill>
                  <a:srgbClr val="FF0000"/>
                </a:solidFill>
              </a:endParaRPr>
            </a:p>
          </p:txBody>
        </p:sp>
        <p:sp>
          <p:nvSpPr>
            <p:cNvPr id="15398" name="Text Box 44"/>
            <p:cNvSpPr txBox="1">
              <a:spLocks noChangeArrowheads="1"/>
            </p:cNvSpPr>
            <p:nvPr/>
          </p:nvSpPr>
          <p:spPr bwMode="auto">
            <a:xfrm>
              <a:off x="0" y="327"/>
              <a:ext cx="40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由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747261" y="2955232"/>
            <a:ext cx="2872978" cy="1602581"/>
            <a:chOff x="0" y="0"/>
            <a:chExt cx="2413" cy="1346"/>
          </a:xfrm>
        </p:grpSpPr>
        <p:graphicFrame>
          <p:nvGraphicFramePr>
            <p:cNvPr id="15363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9084919"/>
                </p:ext>
              </p:extLst>
            </p:nvPr>
          </p:nvGraphicFramePr>
          <p:xfrm>
            <a:off x="632" y="0"/>
            <a:ext cx="1186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72" name="Equation" r:id="rId23" imgW="685800" imgH="393480" progId="Equation.DSMT4">
                    <p:embed/>
                  </p:oleObj>
                </mc:Choice>
                <mc:Fallback>
                  <p:oleObj name="Equation" r:id="rId23" imgW="6858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" y="0"/>
                          <a:ext cx="1186" cy="6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4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9060978"/>
                </p:ext>
              </p:extLst>
            </p:nvPr>
          </p:nvGraphicFramePr>
          <p:xfrm>
            <a:off x="638" y="670"/>
            <a:ext cx="1775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73" name="Equation" r:id="rId25" imgW="939600" imgH="393480" progId="Equation.DSMT4">
                    <p:embed/>
                  </p:oleObj>
                </mc:Choice>
                <mc:Fallback>
                  <p:oleObj name="Equation" r:id="rId25" imgW="9396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" y="670"/>
                          <a:ext cx="1775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5" name="AutoShape 48"/>
            <p:cNvSpPr>
              <a:spLocks/>
            </p:cNvSpPr>
            <p:nvPr/>
          </p:nvSpPr>
          <p:spPr bwMode="auto">
            <a:xfrm>
              <a:off x="408" y="308"/>
              <a:ext cx="181" cy="681"/>
            </a:xfrm>
            <a:prstGeom prst="leftBrace">
              <a:avLst>
                <a:gd name="adj1" fmla="val 31354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5396" name="Text Box 49"/>
            <p:cNvSpPr txBox="1">
              <a:spLocks noChangeArrowheads="1"/>
            </p:cNvSpPr>
            <p:nvPr/>
          </p:nvSpPr>
          <p:spPr bwMode="auto">
            <a:xfrm>
              <a:off x="0" y="444"/>
              <a:ext cx="40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得</a:t>
              </a:r>
            </a:p>
          </p:txBody>
        </p:sp>
      </p:grp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855342" y="408324"/>
            <a:ext cx="600229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CC0000"/>
                </a:solidFill>
                <a:cs typeface="Times New Roman" panose="02020603050405020304" pitchFamily="18" charset="0"/>
              </a:rPr>
              <a:t>解</a:t>
            </a:r>
            <a:r>
              <a:rPr lang="zh-CN" altLang="en-US" b="1" smtClean="0">
                <a:solidFill>
                  <a:srgbClr val="CC0000"/>
                </a:solidFill>
                <a:cs typeface="Times New Roman" panose="02020603050405020304" pitchFamily="18" charset="0"/>
              </a:rPr>
              <a:t>：（</a:t>
            </a:r>
            <a:r>
              <a:rPr lang="en-US" altLang="zh-CN" b="1" smtClean="0">
                <a:solidFill>
                  <a:srgbClr val="CC0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b="1">
                <a:solidFill>
                  <a:srgbClr val="CC0000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b="1">
                <a:solidFill>
                  <a:srgbClr val="1C1C1C"/>
                </a:solidFill>
                <a:cs typeface="Times New Roman" panose="02020603050405020304" pitchFamily="18" charset="0"/>
              </a:rPr>
              <a:t>把绳子看做整体，受力分析如图</a:t>
            </a:r>
          </a:p>
        </p:txBody>
      </p:sp>
      <p:sp>
        <p:nvSpPr>
          <p:cNvPr id="15386" name="Freeform 19" descr="深色竖线"/>
          <p:cNvSpPr>
            <a:spLocks/>
          </p:cNvSpPr>
          <p:nvPr/>
        </p:nvSpPr>
        <p:spPr bwMode="auto">
          <a:xfrm>
            <a:off x="4381500" y="1739198"/>
            <a:ext cx="1996679" cy="57150"/>
          </a:xfrm>
          <a:custGeom>
            <a:avLst/>
            <a:gdLst>
              <a:gd name="T0" fmla="*/ 0 w 1275"/>
              <a:gd name="T1" fmla="*/ 0 h 96"/>
              <a:gd name="T2" fmla="*/ 2147483647 w 1275"/>
              <a:gd name="T3" fmla="*/ 0 h 96"/>
              <a:gd name="T4" fmla="*/ 2147483647 w 1275"/>
              <a:gd name="T5" fmla="*/ 2147483647 h 96"/>
              <a:gd name="T6" fmla="*/ 2147483647 w 1275"/>
              <a:gd name="T7" fmla="*/ 2147483647 h 96"/>
              <a:gd name="T8" fmla="*/ 2147483647 w 1275"/>
              <a:gd name="T9" fmla="*/ 2147483647 h 96"/>
              <a:gd name="T10" fmla="*/ 2147483647 w 1275"/>
              <a:gd name="T11" fmla="*/ 2147483647 h 96"/>
              <a:gd name="T12" fmla="*/ 0 w 1275"/>
              <a:gd name="T13" fmla="*/ 2147483647 h 96"/>
              <a:gd name="T14" fmla="*/ 0 w 1275"/>
              <a:gd name="T15" fmla="*/ 0 h 9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5"/>
              <a:gd name="T25" fmla="*/ 0 h 96"/>
              <a:gd name="T26" fmla="*/ 1275 w 1275"/>
              <a:gd name="T27" fmla="*/ 96 h 9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5" h="96">
                <a:moveTo>
                  <a:pt x="0" y="0"/>
                </a:moveTo>
                <a:lnTo>
                  <a:pt x="1248" y="0"/>
                </a:lnTo>
                <a:lnTo>
                  <a:pt x="1272" y="24"/>
                </a:lnTo>
                <a:lnTo>
                  <a:pt x="1275" y="51"/>
                </a:lnTo>
                <a:lnTo>
                  <a:pt x="1269" y="71"/>
                </a:lnTo>
                <a:lnTo>
                  <a:pt x="1248" y="96"/>
                </a:lnTo>
                <a:lnTo>
                  <a:pt x="0" y="9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7"/>
            <a:srcRect/>
            <a:tile tx="0" ty="0" sx="100000" sy="100000" flip="none" algn="tl"/>
          </a:blipFill>
          <a:ln w="19050" cmpd="sng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1560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423480" y="278281"/>
            <a:ext cx="6002298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解</a:t>
            </a:r>
            <a:r>
              <a:rPr lang="en-US" altLang="zh-CN" b="1">
                <a:solidFill>
                  <a:srgbClr val="CC0000"/>
                </a:solidFill>
                <a:latin typeface="Arial" pitchFamily="34" charset="0"/>
              </a:rPr>
              <a:t>:</a:t>
            </a: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（</a:t>
            </a:r>
            <a:r>
              <a:rPr lang="en-US" altLang="zh-CN" b="1">
                <a:solidFill>
                  <a:srgbClr val="CC0000"/>
                </a:solidFill>
                <a:latin typeface="Arial" pitchFamily="34" charset="0"/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）</a:t>
            </a:r>
            <a:r>
              <a:rPr lang="zh-CN" altLang="en-US" b="1">
                <a:solidFill>
                  <a:srgbClr val="1C1C1C"/>
                </a:solidFill>
              </a:rPr>
              <a:t>在</a:t>
            </a:r>
            <a:r>
              <a:rPr lang="zh-CN" altLang="en-US" b="1">
                <a:solidFill>
                  <a:srgbClr val="CC0000"/>
                </a:solidFill>
              </a:rPr>
              <a:t>某点</a:t>
            </a:r>
            <a:r>
              <a:rPr lang="zh-CN" altLang="en-US" b="1">
                <a:solidFill>
                  <a:srgbClr val="1C1C1C"/>
                </a:solidFill>
              </a:rPr>
              <a:t>将绳分为两段，则</a:t>
            </a:r>
            <a:r>
              <a:rPr lang="zh-CN" altLang="en-US" b="1">
                <a:solidFill>
                  <a:srgbClr val="1C1C1C"/>
                </a:solidFill>
                <a:latin typeface="Arial" pitchFamily="34" charset="0"/>
              </a:rPr>
              <a:t>其间张力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1C1C1C"/>
                </a:solidFill>
                <a:latin typeface="Arial" pitchFamily="34" charset="0"/>
              </a:rPr>
              <a:t>            和      大小相等</a:t>
            </a:r>
            <a:r>
              <a:rPr lang="en-US" altLang="zh-CN" b="1">
                <a:solidFill>
                  <a:srgbClr val="1C1C1C"/>
                </a:solidFill>
              </a:rPr>
              <a:t>, </a:t>
            </a:r>
            <a:r>
              <a:rPr lang="zh-CN" altLang="en-US" b="1">
                <a:solidFill>
                  <a:srgbClr val="1C1C1C"/>
                </a:solidFill>
                <a:latin typeface="Arial" pitchFamily="34" charset="0"/>
              </a:rPr>
              <a:t>方向相反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3C39D-1748-4D5B-8224-EC3787C622D9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  <p:grpSp>
        <p:nvGrpSpPr>
          <p:cNvPr id="22" name="组合 21"/>
          <p:cNvGrpSpPr/>
          <p:nvPr/>
        </p:nvGrpSpPr>
        <p:grpSpPr>
          <a:xfrm>
            <a:off x="2802550" y="1494438"/>
            <a:ext cx="4543438" cy="544116"/>
            <a:chOff x="2868295" y="4582162"/>
            <a:chExt cx="6057908" cy="725488"/>
          </a:xfrm>
        </p:grpSpPr>
        <p:grpSp>
          <p:nvGrpSpPr>
            <p:cNvPr id="4" name="Group 2"/>
            <p:cNvGrpSpPr>
              <a:grpSpLocks/>
            </p:cNvGrpSpPr>
            <p:nvPr/>
          </p:nvGrpSpPr>
          <p:grpSpPr bwMode="auto">
            <a:xfrm>
              <a:off x="2868295" y="4844098"/>
              <a:ext cx="6057908" cy="76200"/>
              <a:chOff x="340" y="231"/>
              <a:chExt cx="3816" cy="48"/>
            </a:xfrm>
          </p:grpSpPr>
          <p:sp>
            <p:nvSpPr>
              <p:cNvPr id="6" name="Freeform 4" descr="深色竖线"/>
              <p:cNvSpPr>
                <a:spLocks/>
              </p:cNvSpPr>
              <p:nvPr/>
            </p:nvSpPr>
            <p:spPr bwMode="auto">
              <a:xfrm rot="10800000" flipV="1">
                <a:off x="340" y="231"/>
                <a:ext cx="816" cy="48"/>
              </a:xfrm>
              <a:custGeom>
                <a:avLst/>
                <a:gdLst>
                  <a:gd name="T0" fmla="*/ 0 w 1275"/>
                  <a:gd name="T1" fmla="*/ 0 h 96"/>
                  <a:gd name="T2" fmla="*/ 327 w 1275"/>
                  <a:gd name="T3" fmla="*/ 0 h 96"/>
                  <a:gd name="T4" fmla="*/ 333 w 1275"/>
                  <a:gd name="T5" fmla="*/ 3 h 96"/>
                  <a:gd name="T6" fmla="*/ 334 w 1275"/>
                  <a:gd name="T7" fmla="*/ 6 h 96"/>
                  <a:gd name="T8" fmla="*/ 333 w 1275"/>
                  <a:gd name="T9" fmla="*/ 9 h 96"/>
                  <a:gd name="T10" fmla="*/ 327 w 1275"/>
                  <a:gd name="T11" fmla="*/ 12 h 96"/>
                  <a:gd name="T12" fmla="*/ 0 w 1275"/>
                  <a:gd name="T13" fmla="*/ 12 h 96"/>
                  <a:gd name="T14" fmla="*/ 0 w 1275"/>
                  <a:gd name="T15" fmla="*/ 0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75"/>
                  <a:gd name="T25" fmla="*/ 0 h 96"/>
                  <a:gd name="T26" fmla="*/ 1275 w 1275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75" h="96">
                    <a:moveTo>
                      <a:pt x="0" y="0"/>
                    </a:moveTo>
                    <a:lnTo>
                      <a:pt x="1248" y="0"/>
                    </a:lnTo>
                    <a:lnTo>
                      <a:pt x="1272" y="24"/>
                    </a:lnTo>
                    <a:lnTo>
                      <a:pt x="1275" y="51"/>
                    </a:lnTo>
                    <a:lnTo>
                      <a:pt x="1269" y="71"/>
                    </a:lnTo>
                    <a:lnTo>
                      <a:pt x="1248" y="96"/>
                    </a:lnTo>
                    <a:lnTo>
                      <a:pt x="0" y="96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/>
                <a:srcRect/>
                <a:tile tx="0" ty="0" sx="100000" sy="100000" flip="none" algn="tl"/>
              </a:blipFill>
              <a:ln w="19050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7" name="Freeform 5" descr="深色竖线"/>
              <p:cNvSpPr>
                <a:spLocks/>
              </p:cNvSpPr>
              <p:nvPr/>
            </p:nvSpPr>
            <p:spPr bwMode="auto">
              <a:xfrm flipV="1">
                <a:off x="3388" y="231"/>
                <a:ext cx="768" cy="48"/>
              </a:xfrm>
              <a:custGeom>
                <a:avLst/>
                <a:gdLst>
                  <a:gd name="T0" fmla="*/ 0 w 1275"/>
                  <a:gd name="T1" fmla="*/ 0 h 96"/>
                  <a:gd name="T2" fmla="*/ 273 w 1275"/>
                  <a:gd name="T3" fmla="*/ 0 h 96"/>
                  <a:gd name="T4" fmla="*/ 278 w 1275"/>
                  <a:gd name="T5" fmla="*/ 3 h 96"/>
                  <a:gd name="T6" fmla="*/ 279 w 1275"/>
                  <a:gd name="T7" fmla="*/ 6 h 96"/>
                  <a:gd name="T8" fmla="*/ 277 w 1275"/>
                  <a:gd name="T9" fmla="*/ 9 h 96"/>
                  <a:gd name="T10" fmla="*/ 273 w 1275"/>
                  <a:gd name="T11" fmla="*/ 12 h 96"/>
                  <a:gd name="T12" fmla="*/ 0 w 1275"/>
                  <a:gd name="T13" fmla="*/ 12 h 96"/>
                  <a:gd name="T14" fmla="*/ 0 w 1275"/>
                  <a:gd name="T15" fmla="*/ 0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75"/>
                  <a:gd name="T25" fmla="*/ 0 h 96"/>
                  <a:gd name="T26" fmla="*/ 1275 w 1275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75" h="96">
                    <a:moveTo>
                      <a:pt x="0" y="0"/>
                    </a:moveTo>
                    <a:lnTo>
                      <a:pt x="1248" y="0"/>
                    </a:lnTo>
                    <a:lnTo>
                      <a:pt x="1272" y="24"/>
                    </a:lnTo>
                    <a:lnTo>
                      <a:pt x="1275" y="51"/>
                    </a:lnTo>
                    <a:lnTo>
                      <a:pt x="1269" y="71"/>
                    </a:lnTo>
                    <a:lnTo>
                      <a:pt x="1248" y="96"/>
                    </a:lnTo>
                    <a:lnTo>
                      <a:pt x="0" y="96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/>
                <a:srcRect/>
                <a:tile tx="0" ty="0" sx="100000" sy="100000" flip="none" algn="tl"/>
              </a:blipFill>
              <a:ln w="19050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grpSp>
          <p:nvGrpSpPr>
            <p:cNvPr id="9" name="Group 7"/>
            <p:cNvGrpSpPr>
              <a:grpSpLocks/>
            </p:cNvGrpSpPr>
            <p:nvPr/>
          </p:nvGrpSpPr>
          <p:grpSpPr bwMode="auto">
            <a:xfrm>
              <a:off x="4182745" y="4582162"/>
              <a:ext cx="3519495" cy="725488"/>
              <a:chOff x="1056" y="23"/>
              <a:chExt cx="2217" cy="457"/>
            </a:xfrm>
          </p:grpSpPr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>
                <a:off x="1056" y="21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graphicFrame>
            <p:nvGraphicFramePr>
              <p:cNvPr id="11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0847894"/>
                  </p:ext>
                </p:extLst>
              </p:nvPr>
            </p:nvGraphicFramePr>
            <p:xfrm>
              <a:off x="1489" y="24"/>
              <a:ext cx="380" cy="4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886" name="Equation" r:id="rId4" imgW="190440" imgH="228600" progId="Equation.DSMT4">
                      <p:embed/>
                    </p:oleObj>
                  </mc:Choice>
                  <mc:Fallback>
                    <p:oleObj name="Equation" r:id="rId4" imgW="190440" imgH="228600" progId="Equation.DSMT4">
                      <p:embed/>
                      <p:pic>
                        <p:nvPicPr>
                          <p:cNvPr id="15377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9" y="24"/>
                            <a:ext cx="380" cy="4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6422590"/>
                  </p:ext>
                </p:extLst>
              </p:nvPr>
            </p:nvGraphicFramePr>
            <p:xfrm>
              <a:off x="2246" y="23"/>
              <a:ext cx="481" cy="4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887" name="Equation" r:id="rId6" imgW="241200" imgH="228600" progId="Equation.DSMT4">
                      <p:embed/>
                    </p:oleObj>
                  </mc:Choice>
                  <mc:Fallback>
                    <p:oleObj name="Equation" r:id="rId6" imgW="241200" imgH="228600" progId="Equation.DSMT4">
                      <p:embed/>
                      <p:pic>
                        <p:nvPicPr>
                          <p:cNvPr id="15378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46" y="23"/>
                            <a:ext cx="481" cy="4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H="1">
                <a:off x="2745" y="216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</p:grpSp>
      <p:graphicFrame>
        <p:nvGraphicFramePr>
          <p:cNvPr id="1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602455"/>
              </p:ext>
            </p:extLst>
          </p:nvPr>
        </p:nvGraphicFramePr>
        <p:xfrm>
          <a:off x="1177561" y="780324"/>
          <a:ext cx="363141" cy="434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8" r:id="rId8" imgW="190734" imgH="228818" progId="Equation.3">
                  <p:embed/>
                </p:oleObj>
              </mc:Choice>
              <mc:Fallback>
                <p:oleObj r:id="rId8" imgW="190734" imgH="228818" progId="Equation.3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561" y="780324"/>
                        <a:ext cx="363141" cy="434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451912"/>
              </p:ext>
            </p:extLst>
          </p:nvPr>
        </p:nvGraphicFramePr>
        <p:xfrm>
          <a:off x="1854908" y="780324"/>
          <a:ext cx="456010" cy="45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9" name="Equation" r:id="rId10" imgW="241200" imgH="241200" progId="Equation.DSMT4">
                  <p:embed/>
                </p:oleObj>
              </mc:Choice>
              <mc:Fallback>
                <p:oleObj name="Equation" r:id="rId10" imgW="241200" imgH="241200" progId="Equation.DSMT4">
                  <p:embed/>
                  <p:pic>
                    <p:nvPicPr>
                      <p:cNvPr id="153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908" y="780324"/>
                        <a:ext cx="456010" cy="45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350035" y="2216891"/>
            <a:ext cx="8360229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1C1C1C"/>
                </a:solidFill>
              </a:rPr>
              <a:t>        由题意可知，分割点位置不同，其间的张力大小也不同</a:t>
            </a:r>
            <a:r>
              <a:rPr lang="en-US" altLang="zh-CN" b="1">
                <a:solidFill>
                  <a:srgbClr val="1C1C1C"/>
                </a:solidFill>
              </a:rPr>
              <a:t>.</a:t>
            </a:r>
            <a:endParaRPr lang="zh-CN" altLang="en-US" b="1">
              <a:solidFill>
                <a:srgbClr val="1C1C1C"/>
              </a:solidFill>
              <a:latin typeface="Arial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788543" y="2930759"/>
            <a:ext cx="2028825" cy="759619"/>
            <a:chOff x="4371658" y="4097496"/>
            <a:chExt cx="2705100" cy="1012825"/>
          </a:xfrm>
        </p:grpSpPr>
        <p:sp>
          <p:nvSpPr>
            <p:cNvPr id="25" name="Freeform 13" descr="深色竖线"/>
            <p:cNvSpPr>
              <a:spLocks/>
            </p:cNvSpPr>
            <p:nvPr/>
          </p:nvSpPr>
          <p:spPr bwMode="auto">
            <a:xfrm>
              <a:off x="4371658" y="5034121"/>
              <a:ext cx="2705100" cy="76200"/>
            </a:xfrm>
            <a:custGeom>
              <a:avLst/>
              <a:gdLst>
                <a:gd name="T0" fmla="*/ 2147483647 w 1704"/>
                <a:gd name="T1" fmla="*/ 0 h 48"/>
                <a:gd name="T2" fmla="*/ 2147483647 w 1704"/>
                <a:gd name="T3" fmla="*/ 0 h 48"/>
                <a:gd name="T4" fmla="*/ 2147483647 w 1704"/>
                <a:gd name="T5" fmla="*/ 2147483647 h 48"/>
                <a:gd name="T6" fmla="*/ 2147483647 w 1704"/>
                <a:gd name="T7" fmla="*/ 2147483647 h 48"/>
                <a:gd name="T8" fmla="*/ 2147483647 w 1704"/>
                <a:gd name="T9" fmla="*/ 2147483647 h 48"/>
                <a:gd name="T10" fmla="*/ 2147483647 w 1704"/>
                <a:gd name="T11" fmla="*/ 2147483647 h 48"/>
                <a:gd name="T12" fmla="*/ 2147483647 w 1704"/>
                <a:gd name="T13" fmla="*/ 2147483647 h 48"/>
                <a:gd name="T14" fmla="*/ 2147483647 w 1704"/>
                <a:gd name="T15" fmla="*/ 2147483647 h 48"/>
                <a:gd name="T16" fmla="*/ 0 w 1704"/>
                <a:gd name="T17" fmla="*/ 2147483647 h 48"/>
                <a:gd name="T18" fmla="*/ 2147483647 w 1704"/>
                <a:gd name="T19" fmla="*/ 2147483647 h 48"/>
                <a:gd name="T20" fmla="*/ 2147483647 w 1704"/>
                <a:gd name="T21" fmla="*/ 0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04"/>
                <a:gd name="T34" fmla="*/ 0 h 48"/>
                <a:gd name="T35" fmla="*/ 1704 w 1704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04" h="48">
                  <a:moveTo>
                    <a:pt x="27" y="0"/>
                  </a:moveTo>
                  <a:lnTo>
                    <a:pt x="1668" y="0"/>
                  </a:lnTo>
                  <a:lnTo>
                    <a:pt x="1700" y="12"/>
                  </a:lnTo>
                  <a:lnTo>
                    <a:pt x="1704" y="26"/>
                  </a:lnTo>
                  <a:lnTo>
                    <a:pt x="1696" y="36"/>
                  </a:lnTo>
                  <a:lnTo>
                    <a:pt x="1668" y="48"/>
                  </a:lnTo>
                  <a:lnTo>
                    <a:pt x="27" y="48"/>
                  </a:lnTo>
                  <a:lnTo>
                    <a:pt x="9" y="36"/>
                  </a:lnTo>
                  <a:lnTo>
                    <a:pt x="0" y="24"/>
                  </a:lnTo>
                  <a:lnTo>
                    <a:pt x="6" y="9"/>
                  </a:lnTo>
                  <a:lnTo>
                    <a:pt x="27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9050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>
              <a:off x="4385946" y="4281646"/>
              <a:ext cx="1587" cy="762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>
              <a:off x="7052946" y="4281646"/>
              <a:ext cx="1587" cy="762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6214746" y="4384833"/>
              <a:ext cx="8382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 flipH="1">
              <a:off x="4390708" y="4384833"/>
              <a:ext cx="9906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3947643"/>
                </p:ext>
              </p:extLst>
            </p:nvPr>
          </p:nvGraphicFramePr>
          <p:xfrm>
            <a:off x="5681346" y="4097496"/>
            <a:ext cx="2667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890" r:id="rId12" imgW="88871" imgH="177425" progId="Equation.3">
                    <p:embed/>
                  </p:oleObj>
                </mc:Choice>
                <mc:Fallback>
                  <p:oleObj r:id="rId12" imgW="88871" imgH="177425" progId="Equation.3">
                    <p:embed/>
                    <p:pic>
                      <p:nvPicPr>
                        <p:cNvPr id="1638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1346" y="4097496"/>
                          <a:ext cx="266700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21"/>
          <p:cNvGrpSpPr>
            <a:grpSpLocks/>
          </p:cNvGrpSpPr>
          <p:nvPr/>
        </p:nvGrpSpPr>
        <p:grpSpPr bwMode="auto">
          <a:xfrm>
            <a:off x="4820815" y="3287947"/>
            <a:ext cx="485775" cy="400050"/>
            <a:chOff x="0" y="0"/>
            <a:chExt cx="408" cy="336"/>
          </a:xfrm>
        </p:grpSpPr>
        <p:sp>
          <p:nvSpPr>
            <p:cNvPr id="33" name="Rectangle 22"/>
            <p:cNvSpPr>
              <a:spLocks noChangeArrowheads="1"/>
            </p:cNvSpPr>
            <p:nvPr/>
          </p:nvSpPr>
          <p:spPr bwMode="auto">
            <a:xfrm>
              <a:off x="144" y="288"/>
              <a:ext cx="91" cy="4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aphicFrame>
          <p:nvGraphicFramePr>
            <p:cNvPr id="34" name="Object 23"/>
            <p:cNvGraphicFramePr>
              <a:graphicFrameLocks noChangeAspect="1"/>
            </p:cNvGraphicFramePr>
            <p:nvPr/>
          </p:nvGraphicFramePr>
          <p:xfrm>
            <a:off x="0" y="0"/>
            <a:ext cx="40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891" r:id="rId14" imgW="228521" imgH="177809" progId="Equation.3">
                    <p:embed/>
                  </p:oleObj>
                </mc:Choice>
                <mc:Fallback>
                  <p:oleObj r:id="rId14" imgW="228521" imgH="177809" progId="Equation.3">
                    <p:embed/>
                    <p:pic>
                      <p:nvPicPr>
                        <p:cNvPr id="1639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0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3617093" y="3701094"/>
            <a:ext cx="2808685" cy="831056"/>
            <a:chOff x="0" y="0"/>
            <a:chExt cx="2359" cy="698"/>
          </a:xfrm>
        </p:grpSpPr>
        <p:grpSp>
          <p:nvGrpSpPr>
            <p:cNvPr id="36" name="Group 34"/>
            <p:cNvGrpSpPr>
              <a:grpSpLocks/>
            </p:cNvGrpSpPr>
            <p:nvPr/>
          </p:nvGrpSpPr>
          <p:grpSpPr bwMode="auto">
            <a:xfrm>
              <a:off x="144" y="0"/>
              <a:ext cx="2160" cy="698"/>
              <a:chOff x="0" y="0"/>
              <a:chExt cx="2160" cy="698"/>
            </a:xfrm>
          </p:grpSpPr>
          <p:grpSp>
            <p:nvGrpSpPr>
              <p:cNvPr id="39" name="Group 35"/>
              <p:cNvGrpSpPr>
                <a:grpSpLocks/>
              </p:cNvGrpSpPr>
              <p:nvPr/>
            </p:nvGrpSpPr>
            <p:grpSpPr bwMode="auto">
              <a:xfrm>
                <a:off x="1008" y="0"/>
                <a:ext cx="104" cy="426"/>
                <a:chOff x="0" y="0"/>
                <a:chExt cx="104" cy="554"/>
              </a:xfrm>
            </p:grpSpPr>
            <p:sp>
              <p:nvSpPr>
                <p:cNvPr id="44" name="Line 36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0" cy="55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  <p:sp>
              <p:nvSpPr>
                <p:cNvPr id="45" name="Line 37"/>
                <p:cNvSpPr>
                  <a:spLocks noChangeShapeType="1"/>
                </p:cNvSpPr>
                <p:nvPr/>
              </p:nvSpPr>
              <p:spPr bwMode="auto">
                <a:xfrm>
                  <a:off x="104" y="0"/>
                  <a:ext cx="0" cy="55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</p:grpSp>
          <p:sp>
            <p:nvSpPr>
              <p:cNvPr id="40" name="Line 38"/>
              <p:cNvSpPr>
                <a:spLocks noChangeShapeType="1"/>
              </p:cNvSpPr>
              <p:nvPr/>
            </p:nvSpPr>
            <p:spPr bwMode="auto">
              <a:xfrm>
                <a:off x="0" y="288"/>
                <a:ext cx="216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41" name="Line 39"/>
              <p:cNvSpPr>
                <a:spLocks noChangeShapeType="1"/>
              </p:cNvSpPr>
              <p:nvPr/>
            </p:nvSpPr>
            <p:spPr bwMode="auto">
              <a:xfrm>
                <a:off x="672" y="384"/>
                <a:ext cx="336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42" name="Line 40"/>
              <p:cNvSpPr>
                <a:spLocks noChangeShapeType="1"/>
              </p:cNvSpPr>
              <p:nvPr/>
            </p:nvSpPr>
            <p:spPr bwMode="auto">
              <a:xfrm flipH="1">
                <a:off x="1120" y="384"/>
                <a:ext cx="336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graphicFrame>
            <p:nvGraphicFramePr>
              <p:cNvPr id="43" name="Object 41"/>
              <p:cNvGraphicFramePr>
                <a:graphicFrameLocks noChangeAspect="1"/>
              </p:cNvGraphicFramePr>
              <p:nvPr/>
            </p:nvGraphicFramePr>
            <p:xfrm>
              <a:off x="912" y="384"/>
              <a:ext cx="336" cy="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892" r:id="rId16" imgW="190487" imgH="177809" progId="Equation.3">
                      <p:embed/>
                    </p:oleObj>
                  </mc:Choice>
                  <mc:Fallback>
                    <p:oleObj r:id="rId16" imgW="190487" imgH="177809" progId="Equation.3">
                      <p:embed/>
                      <p:pic>
                        <p:nvPicPr>
                          <p:cNvPr id="16391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384"/>
                            <a:ext cx="336" cy="3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" name="Text Box 42"/>
            <p:cNvSpPr txBox="1">
              <a:spLocks noChangeArrowheads="1"/>
            </p:cNvSpPr>
            <p:nvPr/>
          </p:nvSpPr>
          <p:spPr bwMode="auto">
            <a:xfrm>
              <a:off x="0" y="268"/>
              <a:ext cx="3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/>
                <a:t>O</a:t>
              </a:r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2041" y="223"/>
              <a:ext cx="31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278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1A1571-8762-4DBE-947C-E19E19F31B49}" type="slidenum">
              <a:rPr lang="zh-CN" altLang="en-US"/>
              <a:pPr>
                <a:defRPr/>
              </a:pPr>
              <a:t>39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542528" y="3516021"/>
            <a:ext cx="1256110" cy="571500"/>
            <a:chOff x="527" y="816"/>
            <a:chExt cx="1055" cy="480"/>
          </a:xfrm>
        </p:grpSpPr>
        <p:sp>
          <p:nvSpPr>
            <p:cNvPr id="16423" name="Freeform 4" descr="深色竖线"/>
            <p:cNvSpPr>
              <a:spLocks/>
            </p:cNvSpPr>
            <p:nvPr/>
          </p:nvSpPr>
          <p:spPr bwMode="auto">
            <a:xfrm>
              <a:off x="863" y="816"/>
              <a:ext cx="383" cy="48"/>
            </a:xfrm>
            <a:custGeom>
              <a:avLst/>
              <a:gdLst>
                <a:gd name="T0" fmla="*/ 0 w 1704"/>
                <a:gd name="T1" fmla="*/ 0 h 48"/>
                <a:gd name="T2" fmla="*/ 19 w 1704"/>
                <a:gd name="T3" fmla="*/ 0 h 48"/>
                <a:gd name="T4" fmla="*/ 19 w 1704"/>
                <a:gd name="T5" fmla="*/ 12 h 48"/>
                <a:gd name="T6" fmla="*/ 19 w 1704"/>
                <a:gd name="T7" fmla="*/ 26 h 48"/>
                <a:gd name="T8" fmla="*/ 19 w 1704"/>
                <a:gd name="T9" fmla="*/ 36 h 48"/>
                <a:gd name="T10" fmla="*/ 19 w 1704"/>
                <a:gd name="T11" fmla="*/ 48 h 48"/>
                <a:gd name="T12" fmla="*/ 0 w 1704"/>
                <a:gd name="T13" fmla="*/ 48 h 48"/>
                <a:gd name="T14" fmla="*/ 0 w 1704"/>
                <a:gd name="T15" fmla="*/ 36 h 48"/>
                <a:gd name="T16" fmla="*/ 0 w 1704"/>
                <a:gd name="T17" fmla="*/ 24 h 48"/>
                <a:gd name="T18" fmla="*/ 0 w 1704"/>
                <a:gd name="T19" fmla="*/ 9 h 48"/>
                <a:gd name="T20" fmla="*/ 0 w 1704"/>
                <a:gd name="T21" fmla="*/ 0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04"/>
                <a:gd name="T34" fmla="*/ 0 h 48"/>
                <a:gd name="T35" fmla="*/ 1704 w 1704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04" h="48">
                  <a:moveTo>
                    <a:pt x="27" y="0"/>
                  </a:moveTo>
                  <a:lnTo>
                    <a:pt x="1668" y="0"/>
                  </a:lnTo>
                  <a:lnTo>
                    <a:pt x="1700" y="12"/>
                  </a:lnTo>
                  <a:lnTo>
                    <a:pt x="1704" y="26"/>
                  </a:lnTo>
                  <a:lnTo>
                    <a:pt x="1696" y="36"/>
                  </a:lnTo>
                  <a:lnTo>
                    <a:pt x="1668" y="48"/>
                  </a:lnTo>
                  <a:lnTo>
                    <a:pt x="27" y="48"/>
                  </a:lnTo>
                  <a:lnTo>
                    <a:pt x="9" y="36"/>
                  </a:lnTo>
                  <a:lnTo>
                    <a:pt x="0" y="24"/>
                  </a:lnTo>
                  <a:lnTo>
                    <a:pt x="6" y="9"/>
                  </a:lnTo>
                  <a:lnTo>
                    <a:pt x="27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9050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24" name="Line 5"/>
            <p:cNvSpPr>
              <a:spLocks noChangeShapeType="1"/>
            </p:cNvSpPr>
            <p:nvPr/>
          </p:nvSpPr>
          <p:spPr bwMode="auto">
            <a:xfrm>
              <a:off x="527" y="1174"/>
              <a:ext cx="3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25" name="Line 6"/>
            <p:cNvSpPr>
              <a:spLocks noChangeShapeType="1"/>
            </p:cNvSpPr>
            <p:nvPr/>
          </p:nvSpPr>
          <p:spPr bwMode="auto">
            <a:xfrm flipH="1">
              <a:off x="1246" y="1174"/>
              <a:ext cx="3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6395" name="Object 7"/>
            <p:cNvGraphicFramePr>
              <a:graphicFrameLocks noChangeAspect="1"/>
            </p:cNvGraphicFramePr>
            <p:nvPr/>
          </p:nvGraphicFramePr>
          <p:xfrm>
            <a:off x="863" y="982"/>
            <a:ext cx="335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38" r:id="rId4" imgW="190487" imgH="177809" progId="Equation.3">
                    <p:embed/>
                  </p:oleObj>
                </mc:Choice>
                <mc:Fallback>
                  <p:oleObj r:id="rId4" imgW="190487" imgH="1778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" y="982"/>
                          <a:ext cx="335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6" name="Line 9"/>
            <p:cNvSpPr>
              <a:spLocks noChangeShapeType="1"/>
            </p:cNvSpPr>
            <p:nvPr/>
          </p:nvSpPr>
          <p:spPr bwMode="auto">
            <a:xfrm>
              <a:off x="863" y="816"/>
              <a:ext cx="0" cy="4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27" name="Line 10"/>
            <p:cNvSpPr>
              <a:spLocks noChangeShapeType="1"/>
            </p:cNvSpPr>
            <p:nvPr/>
          </p:nvSpPr>
          <p:spPr bwMode="auto">
            <a:xfrm>
              <a:off x="1246" y="816"/>
              <a:ext cx="0" cy="4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</p:grpSp>
      <p:sp>
        <p:nvSpPr>
          <p:cNvPr id="16406" name="Text Box 20"/>
          <p:cNvSpPr txBox="1">
            <a:spLocks noChangeArrowheads="1"/>
          </p:cNvSpPr>
          <p:nvPr/>
        </p:nvSpPr>
        <p:spPr bwMode="auto">
          <a:xfrm>
            <a:off x="1364456" y="1299472"/>
            <a:ext cx="37876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</a:rPr>
              <a:t>根据牛顿第二定律得：</a:t>
            </a:r>
          </a:p>
        </p:txBody>
      </p:sp>
      <p:graphicFrame>
        <p:nvGraphicFramePr>
          <p:cNvPr id="5839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2217"/>
              </p:ext>
            </p:extLst>
          </p:nvPr>
        </p:nvGraphicFramePr>
        <p:xfrm>
          <a:off x="2004179" y="289918"/>
          <a:ext cx="1438275" cy="89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39" name="Equation" r:id="rId6" imgW="685800" imgH="393480" progId="Equation.DSMT4">
                  <p:embed/>
                </p:oleObj>
              </mc:Choice>
              <mc:Fallback>
                <p:oleObj name="Equation" r:id="rId6" imgW="685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179" y="289918"/>
                        <a:ext cx="1438275" cy="89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789195"/>
              </p:ext>
            </p:extLst>
          </p:nvPr>
        </p:nvGraphicFramePr>
        <p:xfrm>
          <a:off x="1650206" y="1813322"/>
          <a:ext cx="2268141" cy="494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40" r:id="rId8" imgW="989629" imgH="215936" progId="Equation.3">
                  <p:embed/>
                </p:oleObj>
              </mc:Choice>
              <mc:Fallback>
                <p:oleObj r:id="rId8" imgW="989629" imgH="215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206" y="1813322"/>
                        <a:ext cx="2268141" cy="494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801422"/>
              </p:ext>
            </p:extLst>
          </p:nvPr>
        </p:nvGraphicFramePr>
        <p:xfrm>
          <a:off x="1543050" y="2283619"/>
          <a:ext cx="2852738" cy="97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41" name="Equation" r:id="rId10" imgW="1257120" imgH="431640" progId="Equation.DSMT4">
                  <p:embed/>
                </p:oleObj>
              </mc:Choice>
              <mc:Fallback>
                <p:oleObj name="Equation" r:id="rId10" imgW="1257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2283619"/>
                        <a:ext cx="2852738" cy="979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08621"/>
              </p:ext>
            </p:extLst>
          </p:nvPr>
        </p:nvGraphicFramePr>
        <p:xfrm>
          <a:off x="1650207" y="3516021"/>
          <a:ext cx="2903935" cy="959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42" name="Equation" r:id="rId12" imgW="1269720" imgH="419040" progId="Equation.DSMT4">
                  <p:embed/>
                </p:oleObj>
              </mc:Choice>
              <mc:Fallback>
                <p:oleObj name="Equation" r:id="rId12" imgW="1269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207" y="3516021"/>
                        <a:ext cx="2903935" cy="959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309165" y="3113243"/>
            <a:ext cx="628650" cy="434579"/>
            <a:chOff x="0" y="3"/>
            <a:chExt cx="528" cy="365"/>
          </a:xfrm>
        </p:grpSpPr>
        <p:graphicFrame>
          <p:nvGraphicFramePr>
            <p:cNvPr id="16392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0928660"/>
                </p:ext>
              </p:extLst>
            </p:nvPr>
          </p:nvGraphicFramePr>
          <p:xfrm>
            <a:off x="0" y="3"/>
            <a:ext cx="305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43" name="Equation" r:id="rId14" imgW="190440" imgH="228600" progId="Equation.DSMT4">
                    <p:embed/>
                  </p:oleObj>
                </mc:Choice>
                <mc:Fallback>
                  <p:oleObj name="Equation" r:id="rId14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"/>
                          <a:ext cx="305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9" name="Line 30"/>
            <p:cNvSpPr>
              <a:spLocks noChangeShapeType="1"/>
            </p:cNvSpPr>
            <p:nvPr/>
          </p:nvSpPr>
          <p:spPr bwMode="auto">
            <a:xfrm flipH="1">
              <a:off x="0" y="368"/>
              <a:ext cx="5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24606" y="615554"/>
            <a:ext cx="2808685" cy="1601390"/>
            <a:chOff x="4572000" y="3776663"/>
            <a:chExt cx="3744913" cy="2135187"/>
          </a:xfrm>
        </p:grpSpPr>
        <p:sp>
          <p:nvSpPr>
            <p:cNvPr id="16400" name="Freeform 13" descr="深色竖线"/>
            <p:cNvSpPr>
              <a:spLocks/>
            </p:cNvSpPr>
            <p:nvPr/>
          </p:nvSpPr>
          <p:spPr bwMode="auto">
            <a:xfrm>
              <a:off x="4800600" y="4713288"/>
              <a:ext cx="2705100" cy="76200"/>
            </a:xfrm>
            <a:custGeom>
              <a:avLst/>
              <a:gdLst>
                <a:gd name="T0" fmla="*/ 2147483647 w 1704"/>
                <a:gd name="T1" fmla="*/ 0 h 48"/>
                <a:gd name="T2" fmla="*/ 2147483647 w 1704"/>
                <a:gd name="T3" fmla="*/ 0 h 48"/>
                <a:gd name="T4" fmla="*/ 2147483647 w 1704"/>
                <a:gd name="T5" fmla="*/ 2147483647 h 48"/>
                <a:gd name="T6" fmla="*/ 2147483647 w 1704"/>
                <a:gd name="T7" fmla="*/ 2147483647 h 48"/>
                <a:gd name="T8" fmla="*/ 2147483647 w 1704"/>
                <a:gd name="T9" fmla="*/ 2147483647 h 48"/>
                <a:gd name="T10" fmla="*/ 2147483647 w 1704"/>
                <a:gd name="T11" fmla="*/ 2147483647 h 48"/>
                <a:gd name="T12" fmla="*/ 2147483647 w 1704"/>
                <a:gd name="T13" fmla="*/ 2147483647 h 48"/>
                <a:gd name="T14" fmla="*/ 2147483647 w 1704"/>
                <a:gd name="T15" fmla="*/ 2147483647 h 48"/>
                <a:gd name="T16" fmla="*/ 0 w 1704"/>
                <a:gd name="T17" fmla="*/ 2147483647 h 48"/>
                <a:gd name="T18" fmla="*/ 2147483647 w 1704"/>
                <a:gd name="T19" fmla="*/ 2147483647 h 48"/>
                <a:gd name="T20" fmla="*/ 2147483647 w 1704"/>
                <a:gd name="T21" fmla="*/ 0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04"/>
                <a:gd name="T34" fmla="*/ 0 h 48"/>
                <a:gd name="T35" fmla="*/ 1704 w 1704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04" h="48">
                  <a:moveTo>
                    <a:pt x="27" y="0"/>
                  </a:moveTo>
                  <a:lnTo>
                    <a:pt x="1668" y="0"/>
                  </a:lnTo>
                  <a:lnTo>
                    <a:pt x="1700" y="12"/>
                  </a:lnTo>
                  <a:lnTo>
                    <a:pt x="1704" y="26"/>
                  </a:lnTo>
                  <a:lnTo>
                    <a:pt x="1696" y="36"/>
                  </a:lnTo>
                  <a:lnTo>
                    <a:pt x="1668" y="48"/>
                  </a:lnTo>
                  <a:lnTo>
                    <a:pt x="27" y="48"/>
                  </a:lnTo>
                  <a:lnTo>
                    <a:pt x="9" y="36"/>
                  </a:lnTo>
                  <a:lnTo>
                    <a:pt x="0" y="24"/>
                  </a:lnTo>
                  <a:lnTo>
                    <a:pt x="6" y="9"/>
                  </a:lnTo>
                  <a:lnTo>
                    <a:pt x="27" y="0"/>
                  </a:lnTo>
                  <a:close/>
                </a:path>
              </a:pathLst>
            </a:custGeom>
            <a:blipFill dpi="0" rotWithShape="0">
              <a:blip r:embed="rId16"/>
              <a:srcRect/>
              <a:tile tx="0" ty="0" sx="100000" sy="100000" flip="none" algn="tl"/>
            </a:blipFill>
            <a:ln w="19050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01" name="Line 14"/>
            <p:cNvSpPr>
              <a:spLocks noChangeShapeType="1"/>
            </p:cNvSpPr>
            <p:nvPr/>
          </p:nvSpPr>
          <p:spPr bwMode="auto">
            <a:xfrm>
              <a:off x="4814888" y="3960813"/>
              <a:ext cx="1587" cy="762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02" name="Line 15"/>
            <p:cNvSpPr>
              <a:spLocks noChangeShapeType="1"/>
            </p:cNvSpPr>
            <p:nvPr/>
          </p:nvSpPr>
          <p:spPr bwMode="auto">
            <a:xfrm>
              <a:off x="7481888" y="3960813"/>
              <a:ext cx="1587" cy="762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03" name="Line 16"/>
            <p:cNvSpPr>
              <a:spLocks noChangeShapeType="1"/>
            </p:cNvSpPr>
            <p:nvPr/>
          </p:nvSpPr>
          <p:spPr bwMode="auto">
            <a:xfrm>
              <a:off x="6643688" y="4064000"/>
              <a:ext cx="8382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04" name="Line 17"/>
            <p:cNvSpPr>
              <a:spLocks noChangeShapeType="1"/>
            </p:cNvSpPr>
            <p:nvPr/>
          </p:nvSpPr>
          <p:spPr bwMode="auto">
            <a:xfrm flipH="1">
              <a:off x="4819650" y="4064000"/>
              <a:ext cx="9906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638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351060"/>
                </p:ext>
              </p:extLst>
            </p:nvPr>
          </p:nvGraphicFramePr>
          <p:xfrm>
            <a:off x="6110288" y="3776663"/>
            <a:ext cx="2667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44" r:id="rId17" imgW="88871" imgH="177425" progId="Equation.3">
                    <p:embed/>
                  </p:oleObj>
                </mc:Choice>
                <mc:Fallback>
                  <p:oleObj r:id="rId17" imgW="88871" imgH="1774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0288" y="3776663"/>
                          <a:ext cx="266700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6176963" y="4252913"/>
              <a:ext cx="647700" cy="533400"/>
              <a:chOff x="0" y="0"/>
              <a:chExt cx="408" cy="336"/>
            </a:xfrm>
          </p:grpSpPr>
          <p:sp>
            <p:nvSpPr>
              <p:cNvPr id="16421" name="Rectangle 22"/>
              <p:cNvSpPr>
                <a:spLocks noChangeArrowheads="1"/>
              </p:cNvSpPr>
              <p:nvPr/>
            </p:nvSpPr>
            <p:spPr bwMode="auto">
              <a:xfrm>
                <a:off x="144" y="288"/>
                <a:ext cx="91" cy="4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1800"/>
              </a:p>
            </p:txBody>
          </p:sp>
          <p:graphicFrame>
            <p:nvGraphicFramePr>
              <p:cNvPr id="16394" name="Object 23"/>
              <p:cNvGraphicFramePr>
                <a:graphicFrameLocks noChangeAspect="1"/>
              </p:cNvGraphicFramePr>
              <p:nvPr/>
            </p:nvGraphicFramePr>
            <p:xfrm>
              <a:off x="0" y="0"/>
              <a:ext cx="408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845" r:id="rId19" imgW="228521" imgH="177809" progId="Equation.3">
                      <p:embed/>
                    </p:oleObj>
                  </mc:Choice>
                  <mc:Fallback>
                    <p:oleObj r:id="rId19" imgW="228521" imgH="17780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408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" name="Group 33"/>
            <p:cNvGrpSpPr>
              <a:grpSpLocks/>
            </p:cNvGrpSpPr>
            <p:nvPr/>
          </p:nvGrpSpPr>
          <p:grpSpPr bwMode="auto">
            <a:xfrm>
              <a:off x="4572000" y="4803775"/>
              <a:ext cx="3744913" cy="1108075"/>
              <a:chOff x="0" y="0"/>
              <a:chExt cx="2359" cy="698"/>
            </a:xfrm>
          </p:grpSpPr>
          <p:grpSp>
            <p:nvGrpSpPr>
              <p:cNvPr id="16410" name="Group 34"/>
              <p:cNvGrpSpPr>
                <a:grpSpLocks/>
              </p:cNvGrpSpPr>
              <p:nvPr/>
            </p:nvGrpSpPr>
            <p:grpSpPr bwMode="auto">
              <a:xfrm>
                <a:off x="144" y="0"/>
                <a:ext cx="2160" cy="698"/>
                <a:chOff x="0" y="0"/>
                <a:chExt cx="2160" cy="698"/>
              </a:xfrm>
            </p:grpSpPr>
            <p:grpSp>
              <p:nvGrpSpPr>
                <p:cNvPr id="16413" name="Group 35"/>
                <p:cNvGrpSpPr>
                  <a:grpSpLocks/>
                </p:cNvGrpSpPr>
                <p:nvPr/>
              </p:nvGrpSpPr>
              <p:grpSpPr bwMode="auto">
                <a:xfrm>
                  <a:off x="1008" y="0"/>
                  <a:ext cx="101" cy="422"/>
                  <a:chOff x="0" y="0"/>
                  <a:chExt cx="101" cy="548"/>
                </a:xfrm>
              </p:grpSpPr>
              <p:sp>
                <p:nvSpPr>
                  <p:cNvPr id="16417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0" cy="54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16418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101" y="0"/>
                    <a:ext cx="0" cy="54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800"/>
                  </a:p>
                </p:txBody>
              </p:sp>
            </p:grpSp>
            <p:sp>
              <p:nvSpPr>
                <p:cNvPr id="16414" name="Line 38"/>
                <p:cNvSpPr>
                  <a:spLocks noChangeShapeType="1"/>
                </p:cNvSpPr>
                <p:nvPr/>
              </p:nvSpPr>
              <p:spPr bwMode="auto">
                <a:xfrm>
                  <a:off x="0" y="288"/>
                  <a:ext cx="2160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  <p:sp>
              <p:nvSpPr>
                <p:cNvPr id="16415" name="Line 39"/>
                <p:cNvSpPr>
                  <a:spLocks noChangeShapeType="1"/>
                </p:cNvSpPr>
                <p:nvPr/>
              </p:nvSpPr>
              <p:spPr bwMode="auto">
                <a:xfrm>
                  <a:off x="672" y="384"/>
                  <a:ext cx="336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  <p:sp>
              <p:nvSpPr>
                <p:cNvPr id="16416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1125" y="384"/>
                  <a:ext cx="336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  <p:graphicFrame>
              <p:nvGraphicFramePr>
                <p:cNvPr id="16391" name="Object 41"/>
                <p:cNvGraphicFramePr>
                  <a:graphicFrameLocks noChangeAspect="1"/>
                </p:cNvGraphicFramePr>
                <p:nvPr/>
              </p:nvGraphicFramePr>
              <p:xfrm>
                <a:off x="912" y="384"/>
                <a:ext cx="336" cy="3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6846" r:id="rId21" imgW="190487" imgH="177809" progId="Equation.3">
                        <p:embed/>
                      </p:oleObj>
                    </mc:Choice>
                    <mc:Fallback>
                      <p:oleObj r:id="rId21" imgW="190487" imgH="17780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12" y="384"/>
                              <a:ext cx="336" cy="3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11" name="Text Box 42"/>
              <p:cNvSpPr txBox="1">
                <a:spLocks noChangeArrowheads="1"/>
              </p:cNvSpPr>
              <p:nvPr/>
            </p:nvSpPr>
            <p:spPr bwMode="auto">
              <a:xfrm>
                <a:off x="0" y="268"/>
                <a:ext cx="31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i="1"/>
                  <a:t>O</a:t>
                </a:r>
              </a:p>
            </p:txBody>
          </p:sp>
          <p:sp>
            <p:nvSpPr>
              <p:cNvPr id="16412" name="Text Box 43"/>
              <p:cNvSpPr txBox="1">
                <a:spLocks noChangeArrowheads="1"/>
              </p:cNvSpPr>
              <p:nvPr/>
            </p:nvSpPr>
            <p:spPr bwMode="auto">
              <a:xfrm>
                <a:off x="2041" y="223"/>
                <a:ext cx="31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/>
                  <a:t>x</a:t>
                </a:r>
              </a:p>
            </p:txBody>
          </p:sp>
        </p:grpSp>
      </p:grpSp>
      <p:sp>
        <p:nvSpPr>
          <p:cNvPr id="46" name="Oval 19"/>
          <p:cNvSpPr>
            <a:spLocks noChangeArrowheads="1"/>
          </p:cNvSpPr>
          <p:nvPr/>
        </p:nvSpPr>
        <p:spPr bwMode="auto">
          <a:xfrm>
            <a:off x="6114028" y="972741"/>
            <a:ext cx="742950" cy="742950"/>
          </a:xfrm>
          <a:prstGeom prst="ellipse">
            <a:avLst/>
          </a:prstGeom>
          <a:noFill/>
          <a:ln w="952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7" name="Oval 11"/>
          <p:cNvSpPr>
            <a:spLocks noChangeArrowheads="1"/>
          </p:cNvSpPr>
          <p:nvPr/>
        </p:nvSpPr>
        <p:spPr bwMode="auto">
          <a:xfrm>
            <a:off x="5123428" y="2401490"/>
            <a:ext cx="2509838" cy="2514749"/>
          </a:xfrm>
          <a:prstGeom prst="ellipse">
            <a:avLst/>
          </a:prstGeom>
          <a:noFill/>
          <a:ln w="952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pSp>
        <p:nvGrpSpPr>
          <p:cNvPr id="7" name="组合 6"/>
          <p:cNvGrpSpPr/>
          <p:nvPr/>
        </p:nvGrpSpPr>
        <p:grpSpPr>
          <a:xfrm>
            <a:off x="6395014" y="3109671"/>
            <a:ext cx="1128713" cy="438150"/>
            <a:chOff x="7002686" y="4146228"/>
            <a:chExt cx="1504950" cy="584200"/>
          </a:xfrm>
        </p:grpSpPr>
        <p:graphicFrame>
          <p:nvGraphicFramePr>
            <p:cNvPr id="48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1817223"/>
                </p:ext>
              </p:extLst>
            </p:nvPr>
          </p:nvGraphicFramePr>
          <p:xfrm>
            <a:off x="7078886" y="4146228"/>
            <a:ext cx="142875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47" name="Equation" r:id="rId22" imgW="558720" imgH="228600" progId="Equation.DSMT4">
                    <p:embed/>
                  </p:oleObj>
                </mc:Choice>
                <mc:Fallback>
                  <p:oleObj name="Equation" r:id="rId22" imgW="558720" imgH="228600" progId="Equation.DSMT4">
                    <p:embed/>
                    <p:pic>
                      <p:nvPicPr>
                        <p:cNvPr id="16393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8886" y="4146228"/>
                          <a:ext cx="1428750" cy="584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Line 32"/>
            <p:cNvSpPr>
              <a:spLocks noChangeShapeType="1"/>
            </p:cNvSpPr>
            <p:nvPr/>
          </p:nvSpPr>
          <p:spPr bwMode="auto">
            <a:xfrm>
              <a:off x="7002686" y="4719316"/>
              <a:ext cx="7620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84205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6" grpId="0"/>
      <p:bldP spid="46" grpId="0" animBg="1"/>
      <p:bldP spid="4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02885A-3E74-4EB2-962A-2C61972945A2}" type="slidenum">
              <a:rPr lang="zh-CN" altLang="en-US"/>
              <a:pPr>
                <a:defRPr/>
              </a:pPr>
              <a:t>40</a:t>
            </a:fld>
            <a:endParaRPr lang="en-US" altLang="zh-CN"/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357887"/>
              </p:ext>
            </p:extLst>
          </p:nvPr>
        </p:nvGraphicFramePr>
        <p:xfrm>
          <a:off x="1604962" y="2643426"/>
          <a:ext cx="3664744" cy="94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18" name="Equation" r:id="rId3" imgW="1498320" imgH="419040" progId="Equation.DSMT4">
                  <p:embed/>
                </p:oleObj>
              </mc:Choice>
              <mc:Fallback>
                <p:oleObj name="Equation" r:id="rId3" imgW="14983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2" y="2643426"/>
                        <a:ext cx="3664744" cy="948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119294"/>
              </p:ext>
            </p:extLst>
          </p:nvPr>
        </p:nvGraphicFramePr>
        <p:xfrm>
          <a:off x="1850230" y="3865245"/>
          <a:ext cx="3174206" cy="90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19" name="Equation" r:id="rId5" imgW="1384200" imgH="393480" progId="Equation.DSMT4">
                  <p:embed/>
                </p:oleObj>
              </mc:Choice>
              <mc:Fallback>
                <p:oleObj name="Equation" r:id="rId5" imgW="1384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230" y="3865245"/>
                        <a:ext cx="3174206" cy="906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188717355"/>
              </p:ext>
            </p:extLst>
          </p:nvPr>
        </p:nvGraphicFramePr>
        <p:xfrm>
          <a:off x="1684141" y="1092654"/>
          <a:ext cx="2612231" cy="937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20" name="Equation" r:id="rId7" imgW="1168200" imgH="419040" progId="Equation.DSMT4">
                  <p:embed/>
                </p:oleObj>
              </mc:Choice>
              <mc:Fallback>
                <p:oleObj name="Equation" r:id="rId7" imgW="1168200" imgH="419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141" y="1092654"/>
                        <a:ext cx="2612231" cy="937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173266" y="196231"/>
            <a:ext cx="2509838" cy="2514749"/>
            <a:chOff x="5307237" y="3201987"/>
            <a:chExt cx="3346450" cy="3352998"/>
          </a:xfrm>
        </p:grpSpPr>
        <p:grpSp>
          <p:nvGrpSpPr>
            <p:cNvPr id="21" name="Group 2"/>
            <p:cNvGrpSpPr>
              <a:grpSpLocks/>
            </p:cNvGrpSpPr>
            <p:nvPr/>
          </p:nvGrpSpPr>
          <p:grpSpPr bwMode="auto">
            <a:xfrm>
              <a:off x="5866037" y="4688028"/>
              <a:ext cx="1674813" cy="762000"/>
              <a:chOff x="527" y="816"/>
              <a:chExt cx="1055" cy="480"/>
            </a:xfrm>
          </p:grpSpPr>
          <p:sp>
            <p:nvSpPr>
              <p:cNvPr id="22" name="Freeform 4" descr="深色竖线"/>
              <p:cNvSpPr>
                <a:spLocks/>
              </p:cNvSpPr>
              <p:nvPr/>
            </p:nvSpPr>
            <p:spPr bwMode="auto">
              <a:xfrm>
                <a:off x="863" y="816"/>
                <a:ext cx="383" cy="48"/>
              </a:xfrm>
              <a:custGeom>
                <a:avLst/>
                <a:gdLst>
                  <a:gd name="T0" fmla="*/ 0 w 1704"/>
                  <a:gd name="T1" fmla="*/ 0 h 48"/>
                  <a:gd name="T2" fmla="*/ 19 w 1704"/>
                  <a:gd name="T3" fmla="*/ 0 h 48"/>
                  <a:gd name="T4" fmla="*/ 19 w 1704"/>
                  <a:gd name="T5" fmla="*/ 12 h 48"/>
                  <a:gd name="T6" fmla="*/ 19 w 1704"/>
                  <a:gd name="T7" fmla="*/ 26 h 48"/>
                  <a:gd name="T8" fmla="*/ 19 w 1704"/>
                  <a:gd name="T9" fmla="*/ 36 h 48"/>
                  <a:gd name="T10" fmla="*/ 19 w 1704"/>
                  <a:gd name="T11" fmla="*/ 48 h 48"/>
                  <a:gd name="T12" fmla="*/ 0 w 1704"/>
                  <a:gd name="T13" fmla="*/ 48 h 48"/>
                  <a:gd name="T14" fmla="*/ 0 w 1704"/>
                  <a:gd name="T15" fmla="*/ 36 h 48"/>
                  <a:gd name="T16" fmla="*/ 0 w 1704"/>
                  <a:gd name="T17" fmla="*/ 24 h 48"/>
                  <a:gd name="T18" fmla="*/ 0 w 1704"/>
                  <a:gd name="T19" fmla="*/ 9 h 48"/>
                  <a:gd name="T20" fmla="*/ 0 w 1704"/>
                  <a:gd name="T21" fmla="*/ 0 h 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04"/>
                  <a:gd name="T34" fmla="*/ 0 h 48"/>
                  <a:gd name="T35" fmla="*/ 1704 w 1704"/>
                  <a:gd name="T36" fmla="*/ 48 h 4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04" h="48">
                    <a:moveTo>
                      <a:pt x="27" y="0"/>
                    </a:moveTo>
                    <a:lnTo>
                      <a:pt x="1668" y="0"/>
                    </a:lnTo>
                    <a:lnTo>
                      <a:pt x="1700" y="12"/>
                    </a:lnTo>
                    <a:lnTo>
                      <a:pt x="1704" y="26"/>
                    </a:lnTo>
                    <a:lnTo>
                      <a:pt x="1696" y="36"/>
                    </a:lnTo>
                    <a:lnTo>
                      <a:pt x="1668" y="48"/>
                    </a:lnTo>
                    <a:lnTo>
                      <a:pt x="27" y="48"/>
                    </a:lnTo>
                    <a:lnTo>
                      <a:pt x="9" y="36"/>
                    </a:lnTo>
                    <a:lnTo>
                      <a:pt x="0" y="24"/>
                    </a:lnTo>
                    <a:lnTo>
                      <a:pt x="6" y="9"/>
                    </a:lnTo>
                    <a:lnTo>
                      <a:pt x="27" y="0"/>
                    </a:lnTo>
                    <a:close/>
                  </a:path>
                </a:pathLst>
              </a:custGeom>
              <a:blipFill dpi="0" rotWithShape="0">
                <a:blip r:embed="rId9"/>
                <a:srcRect/>
                <a:tile tx="0" ty="0" sx="100000" sy="100000" flip="none" algn="tl"/>
              </a:blipFill>
              <a:ln w="19050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23" name="Line 5"/>
              <p:cNvSpPr>
                <a:spLocks noChangeShapeType="1"/>
              </p:cNvSpPr>
              <p:nvPr/>
            </p:nvSpPr>
            <p:spPr bwMode="auto">
              <a:xfrm>
                <a:off x="527" y="1174"/>
                <a:ext cx="33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24" name="Line 6"/>
              <p:cNvSpPr>
                <a:spLocks noChangeShapeType="1"/>
              </p:cNvSpPr>
              <p:nvPr/>
            </p:nvSpPr>
            <p:spPr bwMode="auto">
              <a:xfrm flipH="1">
                <a:off x="1246" y="1174"/>
                <a:ext cx="33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graphicFrame>
            <p:nvGraphicFramePr>
              <p:cNvPr id="25" name="Object 7"/>
              <p:cNvGraphicFramePr>
                <a:graphicFrameLocks noChangeAspect="1"/>
              </p:cNvGraphicFramePr>
              <p:nvPr/>
            </p:nvGraphicFramePr>
            <p:xfrm>
              <a:off x="863" y="982"/>
              <a:ext cx="335" cy="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921" r:id="rId10" imgW="190487" imgH="177809" progId="Equation.3">
                      <p:embed/>
                    </p:oleObj>
                  </mc:Choice>
                  <mc:Fallback>
                    <p:oleObj r:id="rId10" imgW="190487" imgH="177809" progId="Equation.3">
                      <p:embed/>
                      <p:pic>
                        <p:nvPicPr>
                          <p:cNvPr id="16395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3" y="982"/>
                            <a:ext cx="335" cy="3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Line 9"/>
              <p:cNvSpPr>
                <a:spLocks noChangeShapeType="1"/>
              </p:cNvSpPr>
              <p:nvPr/>
            </p:nvSpPr>
            <p:spPr bwMode="auto">
              <a:xfrm>
                <a:off x="863" y="816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27" name="Line 10"/>
              <p:cNvSpPr>
                <a:spLocks noChangeShapeType="1"/>
              </p:cNvSpPr>
              <p:nvPr/>
            </p:nvSpPr>
            <p:spPr bwMode="auto">
              <a:xfrm>
                <a:off x="1246" y="816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grpSp>
          <p:nvGrpSpPr>
            <p:cNvPr id="28" name="Group 28"/>
            <p:cNvGrpSpPr>
              <a:grpSpLocks/>
            </p:cNvGrpSpPr>
            <p:nvPr/>
          </p:nvGrpSpPr>
          <p:grpSpPr bwMode="auto">
            <a:xfrm>
              <a:off x="5554886" y="4150991"/>
              <a:ext cx="838200" cy="579438"/>
              <a:chOff x="0" y="3"/>
              <a:chExt cx="528" cy="365"/>
            </a:xfrm>
          </p:grpSpPr>
          <p:graphicFrame>
            <p:nvGraphicFramePr>
              <p:cNvPr id="29" name="Object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8430924"/>
                  </p:ext>
                </p:extLst>
              </p:nvPr>
            </p:nvGraphicFramePr>
            <p:xfrm>
              <a:off x="0" y="3"/>
              <a:ext cx="305" cy="3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922" name="Equation" r:id="rId12" imgW="190440" imgH="228600" progId="Equation.DSMT4">
                      <p:embed/>
                    </p:oleObj>
                  </mc:Choice>
                  <mc:Fallback>
                    <p:oleObj name="Equation" r:id="rId12" imgW="190440" imgH="228600" progId="Equation.DSMT4">
                      <p:embed/>
                      <p:pic>
                        <p:nvPicPr>
                          <p:cNvPr id="16392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3"/>
                            <a:ext cx="305" cy="3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Line 30"/>
              <p:cNvSpPr>
                <a:spLocks noChangeShapeType="1"/>
              </p:cNvSpPr>
              <p:nvPr/>
            </p:nvSpPr>
            <p:spPr bwMode="auto">
              <a:xfrm flipH="1">
                <a:off x="0" y="368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sp>
          <p:nvSpPr>
            <p:cNvPr id="31" name="Oval 11"/>
            <p:cNvSpPr>
              <a:spLocks noChangeArrowheads="1"/>
            </p:cNvSpPr>
            <p:nvPr/>
          </p:nvSpPr>
          <p:spPr bwMode="auto">
            <a:xfrm>
              <a:off x="5307237" y="3201987"/>
              <a:ext cx="3346450" cy="3352998"/>
            </a:xfrm>
            <a:prstGeom prst="ellips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7002686" y="4146228"/>
              <a:ext cx="1504950" cy="584200"/>
              <a:chOff x="7002686" y="4146228"/>
              <a:chExt cx="1504950" cy="584200"/>
            </a:xfrm>
          </p:grpSpPr>
          <p:graphicFrame>
            <p:nvGraphicFramePr>
              <p:cNvPr id="33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0295543"/>
                  </p:ext>
                </p:extLst>
              </p:nvPr>
            </p:nvGraphicFramePr>
            <p:xfrm>
              <a:off x="7078886" y="4146228"/>
              <a:ext cx="1428750" cy="584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923" name="Equation" r:id="rId14" imgW="558720" imgH="228600" progId="Equation.DSMT4">
                      <p:embed/>
                    </p:oleObj>
                  </mc:Choice>
                  <mc:Fallback>
                    <p:oleObj name="Equation" r:id="rId14" imgW="558720" imgH="228600" progId="Equation.DSMT4">
                      <p:embed/>
                      <p:pic>
                        <p:nvPicPr>
                          <p:cNvPr id="48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78886" y="4146228"/>
                            <a:ext cx="1428750" cy="584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Line 32"/>
              <p:cNvSpPr>
                <a:spLocks noChangeShapeType="1"/>
              </p:cNvSpPr>
              <p:nvPr/>
            </p:nvSpPr>
            <p:spPr bwMode="auto">
              <a:xfrm>
                <a:off x="7002686" y="4719316"/>
                <a:ext cx="76200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421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第六版PPT主题模板NEW">
  <a:themeElements>
    <a:clrScheme name="1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大学物理模版-定稿3">
  <a:themeElements>
    <a:clrScheme name="1_大学物理模版-定稿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大学物理模版-定稿3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大学物理模版-定稿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第六版PPT主题模板NEW">
  <a:themeElements>
    <a:clrScheme name="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第六版PPT主题模板NEW">
  <a:themeElements>
    <a:clrScheme name="2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第六版PPT主题模板NEW">
  <a:themeElements>
    <a:clrScheme name="3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3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第六版PPT主题模板NEW">
  <a:themeElements>
    <a:clrScheme name="4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4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5_第六版PPT主题模板NEW">
  <a:themeElements>
    <a:clrScheme name="5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5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第六版PPT主题模板NEW">
  <a:themeElements>
    <a:clrScheme name="6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6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第六版PPT主题模板NEW">
  <a:themeElements>
    <a:clrScheme name="7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7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第六版PPT主题模板NEW">
  <a:themeElements>
    <a:clrScheme name="8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8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第六版PPT主题模板NEW">
  <a:themeElements>
    <a:clrScheme name="9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9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第六版PPT主题模板NEW">
  <a:themeElements>
    <a:clrScheme name="10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0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第六版PPT主题模板NEW">
  <a:themeElements>
    <a:clrScheme name="11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1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1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2_第六版PPT主题模板NEW">
  <a:themeElements>
    <a:clrScheme name="12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2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2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2_大学物理模版-定稿3">
  <a:themeElements>
    <a:clrScheme name="2_大学物理模版-定稿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大学物理模版-定稿3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大学物理模版-定稿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3_第六版PPT主题模板NEW">
  <a:themeElements>
    <a:clrScheme name="13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3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3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4_第六版PPT主题模板NEW">
  <a:themeElements>
    <a:clrScheme name="14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4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4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5_第六版PPT主题模板NEW">
  <a:themeElements>
    <a:clrScheme name="15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5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5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6_第六版PPT主题模板NEW">
  <a:themeElements>
    <a:clrScheme name="16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6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6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17_第六版PPT主题模板NEW">
  <a:themeElements>
    <a:clrScheme name="17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7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7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18_第六版PPT主题模板NEW">
  <a:themeElements>
    <a:clrScheme name="18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8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8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9_第六版PPT主题模板NEW">
  <a:themeElements>
    <a:clrScheme name="19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9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20_第六版PPT主题模板NEW">
  <a:themeElements>
    <a:clrScheme name="20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0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0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21_第六版PPT主题模板NEW">
  <a:themeElements>
    <a:clrScheme name="21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1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1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22_第六版PPT主题模板NEW">
  <a:themeElements>
    <a:clrScheme name="22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2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2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23_第六版PPT主题模板NEW">
  <a:themeElements>
    <a:clrScheme name="23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3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3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第六版母版">
  <a:themeElements>
    <a:clrScheme name="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_第六版母版">
  <a:themeElements>
    <a:clrScheme name="1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2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3_第六版母版">
  <a:themeElements>
    <a:clrScheme name="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</TotalTime>
  <Pages>0</Pages>
  <Words>1059</Words>
  <Characters>0</Characters>
  <Application>Microsoft Office PowerPoint</Application>
  <DocSecurity>0</DocSecurity>
  <PresentationFormat>全屏显示(16:9)</PresentationFormat>
  <Lines>0</Lines>
  <Paragraphs>194</Paragraphs>
  <Slides>40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40</vt:i4>
      </vt:variant>
    </vt:vector>
  </HeadingPairs>
  <TitlesOfParts>
    <vt:vector size="87" baseType="lpstr">
      <vt:lpstr>仿宋_GB2312</vt:lpstr>
      <vt:lpstr>黑体</vt:lpstr>
      <vt:lpstr>华文中宋</vt:lpstr>
      <vt:lpstr>楷体</vt:lpstr>
      <vt:lpstr>楷体_GB2312</vt:lpstr>
      <vt:lpstr>宋体</vt:lpstr>
      <vt:lpstr>宋体-18030</vt:lpstr>
      <vt:lpstr>Arial</vt:lpstr>
      <vt:lpstr>Calibri</vt:lpstr>
      <vt:lpstr>Symbol</vt:lpstr>
      <vt:lpstr>Times New Roman</vt:lpstr>
      <vt:lpstr>Wingdings</vt:lpstr>
      <vt:lpstr>1_默认设计模板</vt:lpstr>
      <vt:lpstr>1_第六版PPT主题模板NEW</vt:lpstr>
      <vt:lpstr>1_大学物理模版-定稿3</vt:lpstr>
      <vt:lpstr>第六版PPT主题模板NEW</vt:lpstr>
      <vt:lpstr>2_第六版PPT主题模板NEW</vt:lpstr>
      <vt:lpstr>3_第六版PPT主题模板NEW</vt:lpstr>
      <vt:lpstr>4_第六版PPT主题模板NEW</vt:lpstr>
      <vt:lpstr>5_第六版PPT主题模板NEW</vt:lpstr>
      <vt:lpstr>6_第六版PPT主题模板NEW</vt:lpstr>
      <vt:lpstr>7_第六版PPT主题模板NEW</vt:lpstr>
      <vt:lpstr>8_第六版PPT主题模板NEW</vt:lpstr>
      <vt:lpstr>9_第六版PPT主题模板NEW</vt:lpstr>
      <vt:lpstr>10_第六版PPT主题模板NEW</vt:lpstr>
      <vt:lpstr>11_第六版PPT主题模板NEW</vt:lpstr>
      <vt:lpstr>12_第六版PPT主题模板NEW</vt:lpstr>
      <vt:lpstr>2_大学物理模版-定稿3</vt:lpstr>
      <vt:lpstr>13_第六版PPT主题模板NEW</vt:lpstr>
      <vt:lpstr>14_第六版PPT主题模板NEW</vt:lpstr>
      <vt:lpstr>15_第六版PPT主题模板NEW</vt:lpstr>
      <vt:lpstr>16_第六版PPT主题模板NEW</vt:lpstr>
      <vt:lpstr>17_第六版PPT主题模板NEW</vt:lpstr>
      <vt:lpstr>18_第六版PPT主题模板NEW</vt:lpstr>
      <vt:lpstr>19_第六版PPT主题模板NEW</vt:lpstr>
      <vt:lpstr>20_第六版PPT主题模板NEW</vt:lpstr>
      <vt:lpstr>21_第六版PPT主题模板NEW</vt:lpstr>
      <vt:lpstr>22_第六版PPT主题模板NEW</vt:lpstr>
      <vt:lpstr>23_第六版PPT主题模板NEW</vt:lpstr>
      <vt:lpstr>第六版母版</vt:lpstr>
      <vt:lpstr>1_第六版母版</vt:lpstr>
      <vt:lpstr>2_第六版母版</vt:lpstr>
      <vt:lpstr>3_第六版母版</vt:lpstr>
      <vt:lpstr>Microsoft Equation 3.0</vt:lpstr>
      <vt:lpstr>Equation</vt:lpstr>
      <vt:lpstr>公式</vt:lpstr>
      <vt:lpstr>MathType 6.7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江南大学理学院物理系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2-1 牛顿定律</dc:title>
  <dc:creator>张薇</dc:creator>
  <cp:lastModifiedBy>Administrator</cp:lastModifiedBy>
  <cp:revision>297</cp:revision>
  <dcterms:created xsi:type="dcterms:W3CDTF">2014-10-30T06:11:08Z</dcterms:created>
  <dcterms:modified xsi:type="dcterms:W3CDTF">2024-03-08T01:03:26Z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2052-9.1.0.4862</vt:lpwstr>
  </property>
</Properties>
</file>