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62" r:id="rId5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"/>
    </p:embeddedFon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AF88B6"/>
    <a:srgbClr val="FFDD33"/>
    <a:srgbClr val="FFFFFF"/>
    <a:srgbClr val="3C153B"/>
    <a:srgbClr val="9D6BA5"/>
    <a:srgbClr val="B35DB1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2102" autoAdjust="0"/>
  </p:normalViewPr>
  <p:slideViewPr>
    <p:cSldViewPr showGuides="1">
      <p:cViewPr>
        <p:scale>
          <a:sx n="100" d="100"/>
          <a:sy n="100" d="100"/>
        </p:scale>
        <p:origin x="100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20" Type="http://schemas.openxmlformats.org/officeDocument/2006/relationships/font" Target="fonts/font11.fntdata"/><Relationship Id="rId2" Type="http://schemas.openxmlformats.org/officeDocument/2006/relationships/theme" Target="theme/theme1.xml"/><Relationship Id="rId19" Type="http://schemas.openxmlformats.org/officeDocument/2006/relationships/font" Target="fonts/font10.fntdata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>
                <a:ea typeface="等线" panose="02010600030101010101" pitchFamily="2" charset="-122"/>
              </a:rPr>
            </a:fld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等线" panose="02010600030101010101" pitchFamily="2" charset="-122"/>
              </a:defRPr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2995488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IV Expansion Activity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28086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V </a:t>
            </a:r>
            <a:r>
              <a:rPr lang="en-US" altLang="zh-CN" sz="2000" b="1" i="0" u="none" strike="noStrike" kern="1200" baseline="0" dirty="0">
                <a:solidFill>
                  <a:srgbClr val="515672"/>
                </a:solidFill>
                <a:latin typeface="+mj-lt"/>
                <a:ea typeface="+mn-ea"/>
                <a:cs typeface="+mn-cs"/>
              </a:rPr>
              <a:t>Test Your 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4_Script1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1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1.mp3"/><Relationship Id="rId10" Type="http://schemas.openxmlformats.org/officeDocument/2006/relationships/audio" Target="../media/media1.mp3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hyperlink" Target="U4_Script2.mp3" TargetMode="External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3" Type="http://schemas.openxmlformats.org/officeDocument/2006/relationships/hyperlink" Target="Script2.pptx" TargetMode="External"/><Relationship Id="rId2" Type="http://schemas.openxmlformats.org/officeDocument/2006/relationships/slide" Target="slide1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microsoft.com/office/2007/relationships/media" Target="../media/media2.mp3"/><Relationship Id="rId10" Type="http://schemas.openxmlformats.org/officeDocument/2006/relationships/audio" Target="../media/media2.mp3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49"/>
          <p:cNvSpPr txBox="1"/>
          <p:nvPr/>
        </p:nvSpPr>
        <p:spPr>
          <a:xfrm>
            <a:off x="323850" y="2398812"/>
            <a:ext cx="856932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000" b="1" dirty="0">
                <a:latin typeface="+mj-lt"/>
              </a:rPr>
              <a:t>Questions 1 to 4 are based on the conversation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1.  </a:t>
            </a: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2.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3.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600"/>
              </a:spcBef>
            </a:pPr>
            <a:endParaRPr lang="en-US" altLang="zh-CN" sz="2000" b="1" dirty="0"/>
          </a:p>
          <a:p>
            <a:pPr>
              <a:spcBef>
                <a:spcPts val="1200"/>
              </a:spcBef>
            </a:pPr>
            <a:r>
              <a:rPr lang="en-US" altLang="zh-CN" sz="2000" b="1" dirty="0"/>
              <a:t>4.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563935" y="2398812"/>
            <a:ext cx="6792244" cy="4016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Doubtful.                       </a:t>
            </a:r>
            <a:r>
              <a:rPr lang="en-US" altLang="zh-CN" dirty="0"/>
              <a:t>B. Neutral.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It helps us get new ideas.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It shows our freedom and personality.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Not all people can afford fashionable clothes.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B. Clothes cannot create an image for the person who wears them.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Fashion cannot show a person’s taste, values, personality and status.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It is a dishonest form of advertisement of artificial images.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A. The influences of fashion.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C. The classic and best style of clothes.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471417" y="2398812"/>
            <a:ext cx="442175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C. Positive.                       D. Objective.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It shows our sense of independence.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It connects us with the tradition.</a:t>
            </a:r>
            <a:endParaRPr lang="en-US" altLang="zh-CN" sz="2000" dirty="0"/>
          </a:p>
          <a:p>
            <a:pPr>
              <a:spcBef>
                <a:spcPts val="12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 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600"/>
              </a:spcBef>
            </a:pPr>
            <a:endParaRPr lang="en-US" altLang="zh-CN" sz="2000" dirty="0"/>
          </a:p>
          <a:p>
            <a:pPr>
              <a:spcBef>
                <a:spcPts val="1200"/>
              </a:spcBef>
            </a:pPr>
            <a:r>
              <a:rPr lang="en-US" altLang="zh-CN" sz="2000" dirty="0"/>
              <a:t>B. Young people’s attitude towards fashion.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D. Different attitudes toward fashion.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6366" y="1126172"/>
            <a:ext cx="8566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60" dirty="0">
                <a:latin typeface="+mj-lt"/>
              </a:rPr>
              <a:t>Directions: </a:t>
            </a:r>
            <a:r>
              <a:rPr lang="en-US" altLang="zh-CN" sz="2000" i="1" spc="-60" dirty="0">
                <a:latin typeface="+mj-lt"/>
              </a:rPr>
              <a:t>In this section, you will hear a long conversation. At the end of the conversation</a:t>
            </a:r>
            <a:r>
              <a:rPr lang="en-US" altLang="zh-CN" sz="2000" i="1" spc="-50" dirty="0">
                <a:latin typeface="+mj-lt"/>
              </a:rPr>
              <a:t>,</a:t>
            </a:r>
            <a:r>
              <a:rPr lang="en-US" altLang="zh-CN" sz="2000" i="1" dirty="0">
                <a:latin typeface="+mj-lt"/>
              </a:rPr>
              <a:t> </a:t>
            </a:r>
            <a:r>
              <a:rPr lang="en-US" altLang="zh-CN" sz="2000" i="1" spc="10" dirty="0">
                <a:latin typeface="+mj-lt"/>
              </a:rPr>
              <a:t>you will hear four questions. Both the conversation and the questions will be spoken</a:t>
            </a:r>
            <a:r>
              <a:rPr lang="en-US" altLang="zh-CN" sz="2000" i="1" dirty="0">
                <a:latin typeface="+mj-lt"/>
              </a:rPr>
              <a:t> only once. After you hear a question, choose the best answer.</a:t>
            </a:r>
            <a:endParaRPr lang="zh-CN" altLang="en-US" sz="2000" dirty="0">
              <a:latin typeface="+mj-lt"/>
            </a:endParaRPr>
          </a:p>
          <a:p>
            <a:pPr algn="just"/>
            <a:endParaRPr lang="zh-CN" altLang="en-US" sz="2000" dirty="0">
              <a:latin typeface="+mj-lt"/>
            </a:endParaRPr>
          </a:p>
        </p:txBody>
      </p:sp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A Long Conversation   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Section B Passage</a:t>
            </a:r>
            <a:endParaRPr lang="en-US" altLang="zh-CN" sz="1600" b="0" i="0" u="none" strike="noStrike" baseline="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4" name="btn-Part 1">
            <a:hlinkClick r:id="rId1" action="ppaction://hlinksldjump"/>
          </p:cNvPr>
          <p:cNvSpPr/>
          <p:nvPr/>
        </p:nvSpPr>
        <p:spPr>
          <a:xfrm>
            <a:off x="2843808" y="514772"/>
            <a:ext cx="254984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2" action="ppaction://hlinksldjump"/>
          </p:cNvPr>
          <p:cNvSpPr/>
          <p:nvPr/>
        </p:nvSpPr>
        <p:spPr>
          <a:xfrm>
            <a:off x="117028" y="528464"/>
            <a:ext cx="236673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18" name="同心圆 17"/>
          <p:cNvSpPr/>
          <p:nvPr/>
        </p:nvSpPr>
        <p:spPr>
          <a:xfrm>
            <a:off x="4387925" y="2636912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热区"/>
          <p:cNvSpPr/>
          <p:nvPr/>
        </p:nvSpPr>
        <p:spPr>
          <a:xfrm>
            <a:off x="199155" y="2760189"/>
            <a:ext cx="7541197" cy="310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同心圆 50"/>
          <p:cNvSpPr/>
          <p:nvPr/>
        </p:nvSpPr>
        <p:spPr>
          <a:xfrm>
            <a:off x="486594" y="348952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热区"/>
          <p:cNvSpPr/>
          <p:nvPr/>
        </p:nvSpPr>
        <p:spPr>
          <a:xfrm>
            <a:off x="199156" y="3245195"/>
            <a:ext cx="7902362" cy="6575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同心圆 52"/>
          <p:cNvSpPr/>
          <p:nvPr/>
        </p:nvSpPr>
        <p:spPr>
          <a:xfrm>
            <a:off x="486594" y="508322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热区"/>
          <p:cNvSpPr/>
          <p:nvPr/>
        </p:nvSpPr>
        <p:spPr>
          <a:xfrm>
            <a:off x="199156" y="4067571"/>
            <a:ext cx="7037140" cy="1453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同心圆 54"/>
          <p:cNvSpPr/>
          <p:nvPr/>
        </p:nvSpPr>
        <p:spPr>
          <a:xfrm>
            <a:off x="4387925" y="5918746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热区"/>
          <p:cNvSpPr/>
          <p:nvPr/>
        </p:nvSpPr>
        <p:spPr>
          <a:xfrm>
            <a:off x="414053" y="5683942"/>
            <a:ext cx="8336791" cy="6575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U4_Script1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794535" y="2027312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3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4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8" grpId="0" animBg="1"/>
      <p:bldP spid="51" grpId="0" animBg="1"/>
      <p:bldP spid="53" grpId="0" animBg="1"/>
      <p:bldP spid="5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49"/>
          <p:cNvSpPr txBox="1"/>
          <p:nvPr/>
        </p:nvSpPr>
        <p:spPr>
          <a:xfrm>
            <a:off x="563240" y="2398812"/>
            <a:ext cx="8329240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US" altLang="zh-CN" sz="2000" dirty="0"/>
          </a:p>
          <a:p>
            <a:r>
              <a:rPr lang="en-US" altLang="zh-CN" sz="2000" dirty="0"/>
              <a:t>A. Around 15% of pollution caused by global transportation.</a:t>
            </a:r>
            <a:endParaRPr lang="en-US" altLang="zh-CN" sz="2000" dirty="0"/>
          </a:p>
          <a:p>
            <a:r>
              <a:rPr lang="en-US" altLang="zh-CN" sz="2000" dirty="0"/>
              <a:t>B. Around 50% of pollution caused by global transportation.</a:t>
            </a:r>
            <a:endParaRPr lang="en-US" altLang="zh-CN" sz="2000" dirty="0"/>
          </a:p>
          <a:p>
            <a:r>
              <a:rPr lang="en-US" altLang="zh-CN" sz="2000" dirty="0"/>
              <a:t>C. Around 50% of global greenhouse gas emissions.</a:t>
            </a:r>
            <a:endParaRPr lang="en-US" altLang="zh-CN" sz="2000" dirty="0"/>
          </a:p>
          <a:p>
            <a:r>
              <a:rPr lang="en-US" altLang="zh-CN" sz="2000" dirty="0"/>
              <a:t>D. Around 15% of global greenhouse gas emissions.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They like the old clothes.</a:t>
            </a:r>
            <a:endParaRPr lang="en-US" altLang="zh-CN" sz="2000" dirty="0"/>
          </a:p>
          <a:p>
            <a:r>
              <a:rPr lang="en-US" altLang="zh-CN" sz="2000" dirty="0"/>
              <a:t>B. They want to save money.</a:t>
            </a:r>
            <a:endParaRPr lang="en-US" altLang="zh-CN" sz="2000" dirty="0"/>
          </a:p>
          <a:p>
            <a:r>
              <a:rPr lang="en-US" altLang="zh-CN" sz="2000" dirty="0"/>
              <a:t>C. They consider it fashionable to wear used clothes.</a:t>
            </a:r>
            <a:endParaRPr lang="en-US" altLang="zh-CN" sz="2000" dirty="0"/>
          </a:p>
          <a:p>
            <a:r>
              <a:rPr lang="en-US" altLang="zh-CN" sz="2000" dirty="0"/>
              <a:t>D. They want to make better use of natural resources.</a:t>
            </a:r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dirty="0"/>
              <a:t>A. Vintage clothing is threatening the fashion industry.</a:t>
            </a:r>
            <a:endParaRPr lang="en-US" altLang="zh-CN" sz="2000" dirty="0"/>
          </a:p>
          <a:p>
            <a:r>
              <a:rPr lang="en-US" altLang="zh-CN" sz="2000" dirty="0"/>
              <a:t>B. People tend to purchase used clothing to save money.</a:t>
            </a:r>
            <a:endParaRPr lang="en-US" altLang="zh-CN" sz="2000" dirty="0"/>
          </a:p>
          <a:p>
            <a:r>
              <a:rPr lang="en-US" altLang="zh-CN" sz="2000" dirty="0"/>
              <a:t>C. Vintage clothing is becoming more and more popular.</a:t>
            </a:r>
            <a:endParaRPr lang="en-US" altLang="zh-CN" sz="2000" dirty="0"/>
          </a:p>
          <a:p>
            <a:r>
              <a:rPr lang="en-US" altLang="zh-CN" sz="2000" dirty="0"/>
              <a:t>D. Fashion companies are beginning to join the used clothing movement.</a:t>
            </a:r>
            <a:endParaRPr lang="zh-CN" altLang="en-US" sz="2000" dirty="0"/>
          </a:p>
        </p:txBody>
      </p: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AF88B6"/>
                </a:solidFill>
                <a:latin typeface="+mj-lt"/>
              </a:rPr>
              <a:t>Section A Long Conversation</a:t>
            </a:r>
            <a:r>
              <a:rPr lang="en-US" altLang="zh-CN" sz="1600" b="1" dirty="0">
                <a:solidFill>
                  <a:schemeClr val="tx1"/>
                </a:solidFill>
                <a:latin typeface="+mj-lt"/>
              </a:rPr>
              <a:t>   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Section B Passage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35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btn-Part 1">
            <a:hlinkClick r:id="rId1" action="ppaction://hlinksldjump"/>
          </p:cNvPr>
          <p:cNvSpPr/>
          <p:nvPr/>
        </p:nvSpPr>
        <p:spPr>
          <a:xfrm>
            <a:off x="2767608" y="518939"/>
            <a:ext cx="151636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tn-Part 1">
            <a:hlinkClick r:id="rId2" action="ppaction://hlinksldjump"/>
          </p:cNvPr>
          <p:cNvSpPr/>
          <p:nvPr/>
        </p:nvSpPr>
        <p:spPr>
          <a:xfrm>
            <a:off x="121636" y="499889"/>
            <a:ext cx="22901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按钮-Script">
            <a:hlinkClick r:id="rId3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800" y="2107876"/>
            <a:ext cx="904875" cy="333375"/>
          </a:xfrm>
          <a:prstGeom prst="rect">
            <a:avLst/>
          </a:prstGeom>
        </p:spPr>
      </p:pic>
      <p:pic>
        <p:nvPicPr>
          <p:cNvPr id="32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24086" y="2107876"/>
            <a:ext cx="295275" cy="304800"/>
          </a:xfrm>
          <a:prstGeom prst="rect">
            <a:avLst/>
          </a:prstGeom>
        </p:spPr>
      </p:pic>
      <p:pic>
        <p:nvPicPr>
          <p:cNvPr id="33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84126" y="2107876"/>
            <a:ext cx="295275" cy="304800"/>
          </a:xfrm>
          <a:prstGeom prst="rect">
            <a:avLst/>
          </a:prstGeom>
        </p:spPr>
      </p:pic>
      <p:pic>
        <p:nvPicPr>
          <p:cNvPr id="39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4166" y="2107876"/>
            <a:ext cx="295275" cy="304800"/>
          </a:xfrm>
          <a:prstGeom prst="rect">
            <a:avLst/>
          </a:prstGeom>
        </p:spPr>
      </p:pic>
      <p:pic>
        <p:nvPicPr>
          <p:cNvPr id="40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10556" y="2107876"/>
            <a:ext cx="1521337" cy="308000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326366" y="1126172"/>
            <a:ext cx="85668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b="1" spc="-10" dirty="0">
                <a:latin typeface="+mj-lt"/>
              </a:rPr>
              <a:t>Directions: </a:t>
            </a:r>
            <a:r>
              <a:rPr lang="en-US" altLang="zh-CN" sz="2000" i="1" spc="-10" dirty="0">
                <a:latin typeface="+mj-lt"/>
              </a:rPr>
              <a:t>In this section, you will hear a passage. At the end of the passage, you will</a:t>
            </a:r>
            <a:r>
              <a:rPr lang="en-US" altLang="zh-CN" sz="2000" i="1" dirty="0">
                <a:latin typeface="+mj-lt"/>
              </a:rPr>
              <a:t> hear three or four questions. Both the passage and the questions will be spoken only once. After you hear a question, choose the best answer.</a:t>
            </a:r>
            <a:endParaRPr lang="zh-CN" altLang="en-US" sz="2000" dirty="0">
              <a:latin typeface="+mj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23850" y="2398812"/>
            <a:ext cx="667522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Questions 5 to 7 are based on the passage you have just heard.</a:t>
            </a:r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/>
              <a:t>5. </a:t>
            </a:r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6.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>
              <a:spcBef>
                <a:spcPts val="600"/>
              </a:spcBef>
            </a:pPr>
            <a:r>
              <a:rPr lang="en-US" altLang="zh-CN" sz="2000" b="1" dirty="0"/>
              <a:t>7. </a:t>
            </a:r>
            <a:endParaRPr lang="en-US" altLang="zh-CN" sz="2000" dirty="0"/>
          </a:p>
        </p:txBody>
      </p:sp>
      <p:sp>
        <p:nvSpPr>
          <p:cNvPr id="51" name="同心圆 50"/>
          <p:cNvSpPr/>
          <p:nvPr/>
        </p:nvSpPr>
        <p:spPr>
          <a:xfrm>
            <a:off x="486594" y="4866974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热区"/>
          <p:cNvSpPr/>
          <p:nvPr/>
        </p:nvSpPr>
        <p:spPr>
          <a:xfrm>
            <a:off x="199156" y="4161428"/>
            <a:ext cx="5380956" cy="11397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同心圆 52"/>
          <p:cNvSpPr/>
          <p:nvPr/>
        </p:nvSpPr>
        <p:spPr>
          <a:xfrm>
            <a:off x="486594" y="3570830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热区"/>
          <p:cNvSpPr/>
          <p:nvPr/>
        </p:nvSpPr>
        <p:spPr>
          <a:xfrm>
            <a:off x="323850" y="2847381"/>
            <a:ext cx="5904334" cy="11611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同心圆 54"/>
          <p:cNvSpPr/>
          <p:nvPr/>
        </p:nvSpPr>
        <p:spPr>
          <a:xfrm>
            <a:off x="486594" y="5832895"/>
            <a:ext cx="525065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热区"/>
          <p:cNvSpPr/>
          <p:nvPr/>
        </p:nvSpPr>
        <p:spPr>
          <a:xfrm>
            <a:off x="199156" y="5445224"/>
            <a:ext cx="7325172" cy="11521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U4_Script2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-993840" y="1831651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">
                                      <p:cBhvr>
                                        <p:cTn id="25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35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  <p:bldP spid="55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WPS 演示</Application>
  <PresentationFormat>全屏显示(4:3)</PresentationFormat>
  <Paragraphs>64</Paragraphs>
  <Slides>2</Slides>
  <Notes>2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等线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221</cp:revision>
  <dcterms:created xsi:type="dcterms:W3CDTF">2017-12-23T09:29:00Z</dcterms:created>
  <dcterms:modified xsi:type="dcterms:W3CDTF">2024-08-27T05:31:47Z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1D3649F0C70D4E26BCDAC17E77F59B88_13</vt:lpwstr>
  </property>
  <property fmtid="{D5CDD505-2E9C-101B-9397-08002B2CF9AE}" pid="3" name="KSOProductBuildVer">
    <vt:lpwstr>2052-12.1.0.17857</vt:lpwstr>
  </property>
</Properties>
</file>