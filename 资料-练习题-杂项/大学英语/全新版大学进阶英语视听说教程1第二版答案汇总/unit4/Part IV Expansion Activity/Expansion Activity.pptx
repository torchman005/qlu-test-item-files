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56" r:id="rId3"/>
    <p:sldId id="261" r:id="rId4"/>
    <p:sldId id="262" r:id="rId5"/>
  </p:sldIdLst>
  <p:sldSz cx="9144000" cy="6858000" type="screen4x3"/>
  <p:notesSz cx="6858000" cy="9144000"/>
  <p:embeddedFontLst>
    <p:embeddedFont>
      <p:font typeface="Neuton" panose="00000500000000000000" charset="0"/>
      <p:regular r:id="rId11"/>
      <p:bold r:id="rId12"/>
      <p:italic r:id="rId13"/>
    </p:embeddedFont>
    <p:embeddedFont>
      <p:font typeface="Roboto Condensed" panose="02000000000000000000" charset="0"/>
      <p:regular r:id="rId14"/>
      <p:bold r:id="rId15"/>
      <p:italic r:id="rId16"/>
    </p:embeddedFont>
    <p:embeddedFont>
      <p:font typeface="微软雅黑" panose="020B0503020204020204" charset="-122"/>
      <p:regular r:id="rId17"/>
    </p:embeddedFont>
    <p:embeddedFont>
      <p:font typeface="Calibri" panose="020F0502020204030204" charset="0"/>
      <p:regular r:id="rId18"/>
      <p:bold r:id="rId19"/>
      <p:italic r:id="rId20"/>
      <p:boldItalic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33"/>
    <a:srgbClr val="515672"/>
    <a:srgbClr val="FFFFFF"/>
    <a:srgbClr val="3C153B"/>
    <a:srgbClr val="AF88B6"/>
    <a:srgbClr val="9D6BA5"/>
    <a:srgbClr val="B35DB1"/>
    <a:srgbClr val="CB8B02"/>
    <a:srgbClr val="F3B700"/>
    <a:srgbClr val="F3FC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356" autoAdjust="0"/>
    <p:restoredTop sz="93686" autoAdjust="0"/>
  </p:normalViewPr>
  <p:slideViewPr>
    <p:cSldViewPr showGuides="1">
      <p:cViewPr>
        <p:scale>
          <a:sx n="100" d="100"/>
          <a:sy n="100" d="100"/>
        </p:scale>
        <p:origin x="225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5" d="100"/>
          <a:sy n="65" d="100"/>
        </p:scale>
        <p:origin x="-2844" y="-12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handoutMaster" Target="handoutMasters/handout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font" Target="fonts/font11.fntdata"/><Relationship Id="rId20" Type="http://schemas.openxmlformats.org/officeDocument/2006/relationships/font" Target="fonts/font10.fntdata"/><Relationship Id="rId2" Type="http://schemas.openxmlformats.org/officeDocument/2006/relationships/theme" Target="theme/theme1.xml"/><Relationship Id="rId19" Type="http://schemas.openxmlformats.org/officeDocument/2006/relationships/font" Target="fonts/font9.fntdata"/><Relationship Id="rId18" Type="http://schemas.openxmlformats.org/officeDocument/2006/relationships/font" Target="fonts/font8.fntdata"/><Relationship Id="rId17" Type="http://schemas.openxmlformats.org/officeDocument/2006/relationships/font" Target="fonts/font7.fntdata"/><Relationship Id="rId16" Type="http://schemas.openxmlformats.org/officeDocument/2006/relationships/font" Target="fonts/font6.fntdata"/><Relationship Id="rId15" Type="http://schemas.openxmlformats.org/officeDocument/2006/relationships/font" Target="fonts/font5.fntdata"/><Relationship Id="rId14" Type="http://schemas.openxmlformats.org/officeDocument/2006/relationships/font" Target="fonts/font4.fntdata"/><Relationship Id="rId13" Type="http://schemas.openxmlformats.org/officeDocument/2006/relationships/font" Target="fonts/font3.fntdata"/><Relationship Id="rId12" Type="http://schemas.openxmlformats.org/officeDocument/2006/relationships/font" Target="fonts/font2.fntdata"/><Relationship Id="rId11" Type="http://schemas.openxmlformats.org/officeDocument/2006/relationships/font" Target="fonts/font1.fntdata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1A6FA5-9299-4CE1-A327-CB3C60321A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B14E66-D570-4D12-8DDD-93D4BD4AE2F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831D2C-B22C-4903-8B3C-903F91599D3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063C93-9101-4F51-B1E6-A3BBF9E38CC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带翻页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0"/>
            <a:ext cx="179512" cy="47667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主体内容"/>
          <p:cNvSpPr>
            <a:spLocks noGrp="1"/>
          </p:cNvSpPr>
          <p:nvPr>
            <p:ph type="body" sz="quarter" idx="14"/>
          </p:nvPr>
        </p:nvSpPr>
        <p:spPr>
          <a:xfrm>
            <a:off x="323850" y="1340768"/>
            <a:ext cx="8569325" cy="482508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1" name="标题 1"/>
          <p:cNvSpPr txBox="1"/>
          <p:nvPr userDrawn="1"/>
        </p:nvSpPr>
        <p:spPr>
          <a:xfrm>
            <a:off x="179512" y="0"/>
            <a:ext cx="2995488" cy="476672"/>
          </a:xfrm>
          <a:prstGeom prst="rect">
            <a:avLst/>
          </a:prstGeom>
          <a:solidFill>
            <a:srgbClr val="FFDD33"/>
          </a:solidFill>
        </p:spPr>
        <p:txBody>
          <a:bodyPr vert="horz" lIns="144000" tIns="45720" rIns="91440" bIns="45720" rtlCol="0" anchor="ctr">
            <a:noAutofit/>
          </a:bodyPr>
          <a:lstStyle>
            <a:lvl1pPr algn="l"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rgbClr val="51567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Part IV Expansion Activity</a:t>
            </a: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51567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带direc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0"/>
            <a:ext cx="179512" cy="47667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Directions"/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1124744"/>
            <a:ext cx="8569325" cy="576262"/>
          </a:xfrm>
        </p:spPr>
        <p:txBody>
          <a:bodyPr>
            <a:normAutofit/>
          </a:bodyPr>
          <a:lstStyle>
            <a:lvl1pPr marL="0" indent="0">
              <a:buNone/>
              <a:defRPr sz="2000" baseline="0">
                <a:latin typeface="+mj-lt"/>
              </a:defRPr>
            </a:lvl1pPr>
          </a:lstStyle>
          <a:p>
            <a:pPr lvl="0"/>
            <a:r>
              <a:rPr lang="en-US" altLang="zh-CN" smtClean="0"/>
              <a:t>Directions here</a:t>
            </a:r>
            <a:endParaRPr lang="zh-CN" altLang="en-US"/>
          </a:p>
        </p:txBody>
      </p:sp>
      <p:sp>
        <p:nvSpPr>
          <p:cNvPr id="14" name="主体内容"/>
          <p:cNvSpPr>
            <a:spLocks noGrp="1"/>
          </p:cNvSpPr>
          <p:nvPr>
            <p:ph type="body" sz="quarter" idx="14"/>
          </p:nvPr>
        </p:nvSpPr>
        <p:spPr>
          <a:xfrm>
            <a:off x="323850" y="2204864"/>
            <a:ext cx="8569325" cy="3960986"/>
          </a:xfrm>
        </p:spPr>
        <p:txBody>
          <a:bodyPr/>
          <a:lstStyle>
            <a:lvl1pPr marL="217805" indent="-217805">
              <a:defRPr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标题 1"/>
          <p:cNvSpPr txBox="1"/>
          <p:nvPr userDrawn="1"/>
        </p:nvSpPr>
        <p:spPr>
          <a:xfrm>
            <a:off x="179512" y="0"/>
            <a:ext cx="2995488" cy="476672"/>
          </a:xfrm>
          <a:prstGeom prst="rect">
            <a:avLst/>
          </a:prstGeom>
          <a:solidFill>
            <a:srgbClr val="FFDD33"/>
          </a:solidFill>
        </p:spPr>
        <p:txBody>
          <a:bodyPr vert="horz" lIns="144000" tIns="45720" rIns="91440" bIns="45720" rtlCol="0" anchor="ctr">
            <a:noAutofit/>
          </a:bodyPr>
          <a:lstStyle>
            <a:lvl1pPr algn="l"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rgbClr val="51567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Part IV Expansion Activity</a:t>
            </a: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51567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C3FACB-9944-46C7-BB15-79BEA3D61AE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93EA13-C732-4F17-8516-92EE82C34A8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slide" Target="slide1.xml"/><Relationship Id="rId2" Type="http://schemas.openxmlformats.org/officeDocument/2006/relationships/image" Target="../media/image2.jpeg"/><Relationship Id="rId1" Type="http://schemas.openxmlformats.org/officeDocument/2006/relationships/slide" Target="slide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slide" Target="slide1.xml"/><Relationship Id="rId1" Type="http://schemas.openxmlformats.org/officeDocument/2006/relationships/slide" Target="slide3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slide" Target="slide3.xml"/><Relationship Id="rId2" Type="http://schemas.openxmlformats.org/officeDocument/2006/relationships/slide" Target="slide1.xml"/><Relationship Id="rId1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下一页"/>
          <p:cNvGrpSpPr/>
          <p:nvPr/>
        </p:nvGrpSpPr>
        <p:grpSpPr>
          <a:xfrm>
            <a:off x="8750845" y="6578304"/>
            <a:ext cx="264567" cy="210642"/>
            <a:chOff x="8750845" y="6578304"/>
            <a:chExt cx="264567" cy="210642"/>
          </a:xfrm>
        </p:grpSpPr>
        <p:sp>
          <p:nvSpPr>
            <p:cNvPr id="42" name="右箭头">
              <a:hlinkClick r:id="" action="ppaction://hlinkshowjump?jump=nextslide"/>
            </p:cNvPr>
            <p:cNvSpPr/>
            <p:nvPr/>
          </p:nvSpPr>
          <p:spPr bwMode="auto">
            <a:xfrm>
              <a:off x="8786568" y="6604402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3" name="热区">
              <a:hlinkClick r:id="" action="ppaction://hlinkshowjump?jump=nextslide"/>
            </p:cNvPr>
            <p:cNvSpPr/>
            <p:nvPr/>
          </p:nvSpPr>
          <p:spPr>
            <a:xfrm>
              <a:off x="8750845" y="6578304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4" name="上一页"/>
          <p:cNvGrpSpPr/>
          <p:nvPr/>
        </p:nvGrpSpPr>
        <p:grpSpPr>
          <a:xfrm>
            <a:off x="8335464" y="6580685"/>
            <a:ext cx="264567" cy="210642"/>
            <a:chOff x="8335464" y="6580685"/>
            <a:chExt cx="264567" cy="210642"/>
          </a:xfrm>
        </p:grpSpPr>
        <p:sp>
          <p:nvSpPr>
            <p:cNvPr id="45" name="左箭头"/>
            <p:cNvSpPr/>
            <p:nvPr/>
          </p:nvSpPr>
          <p:spPr bwMode="auto">
            <a:xfrm rot="10800000">
              <a:off x="8380612" y="6604401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>
                <a:alpha val="30196"/>
              </a:srgb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6" name="热区"/>
            <p:cNvSpPr/>
            <p:nvPr/>
          </p:nvSpPr>
          <p:spPr>
            <a:xfrm>
              <a:off x="8335464" y="6580685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7" name="返回按钮"/>
          <p:cNvGrpSpPr/>
          <p:nvPr/>
        </p:nvGrpSpPr>
        <p:grpSpPr>
          <a:xfrm>
            <a:off x="7875422" y="6585447"/>
            <a:ext cx="264567" cy="210642"/>
            <a:chOff x="7875422" y="6585447"/>
            <a:chExt cx="264567" cy="210642"/>
          </a:xfrm>
        </p:grpSpPr>
        <p:sp>
          <p:nvSpPr>
            <p:cNvPr id="48" name="返回箭头">
              <a:hlinkClick r:id="" action="ppaction://hlinkshowjump?jump=endshow"/>
            </p:cNvPr>
            <p:cNvSpPr/>
            <p:nvPr/>
          </p:nvSpPr>
          <p:spPr bwMode="auto">
            <a:xfrm>
              <a:off x="7919210" y="6598497"/>
              <a:ext cx="182307" cy="180975"/>
            </a:xfrm>
            <a:custGeom>
              <a:avLst/>
              <a:gdLst/>
              <a:ahLst/>
              <a:cxnLst>
                <a:cxn ang="0">
                  <a:pos x="1780" y="1910"/>
                </a:cxn>
                <a:cxn ang="0">
                  <a:pos x="856" y="1910"/>
                </a:cxn>
                <a:cxn ang="0">
                  <a:pos x="850" y="1911"/>
                </a:cxn>
                <a:cxn ang="0">
                  <a:pos x="710" y="1776"/>
                </a:cxn>
                <a:cxn ang="0">
                  <a:pos x="710" y="476"/>
                </a:cxn>
                <a:cxn ang="0">
                  <a:pos x="251" y="922"/>
                </a:cxn>
                <a:cxn ang="0">
                  <a:pos x="54" y="922"/>
                </a:cxn>
                <a:cxn ang="0">
                  <a:pos x="54" y="731"/>
                </a:cxn>
                <a:cxn ang="0">
                  <a:pos x="751" y="53"/>
                </a:cxn>
                <a:cxn ang="0">
                  <a:pos x="948" y="53"/>
                </a:cxn>
                <a:cxn ang="0">
                  <a:pos x="1645" y="731"/>
                </a:cxn>
                <a:cxn ang="0">
                  <a:pos x="1645" y="922"/>
                </a:cxn>
                <a:cxn ang="0">
                  <a:pos x="1546" y="962"/>
                </a:cxn>
                <a:cxn ang="0">
                  <a:pos x="1448" y="922"/>
                </a:cxn>
                <a:cxn ang="0">
                  <a:pos x="989" y="476"/>
                </a:cxn>
                <a:cxn ang="0">
                  <a:pos x="989" y="1608"/>
                </a:cxn>
                <a:cxn ang="0">
                  <a:pos x="1780" y="1608"/>
                </a:cxn>
                <a:cxn ang="0">
                  <a:pos x="1916" y="1759"/>
                </a:cxn>
                <a:cxn ang="0">
                  <a:pos x="1780" y="1910"/>
                </a:cxn>
              </a:cxnLst>
              <a:rect l="0" t="0" r="r" b="b"/>
              <a:pathLst>
                <a:path w="1916" h="1911">
                  <a:moveTo>
                    <a:pt x="1780" y="1910"/>
                  </a:moveTo>
                  <a:cubicBezTo>
                    <a:pt x="856" y="1910"/>
                    <a:pt x="856" y="1910"/>
                    <a:pt x="856" y="1910"/>
                  </a:cubicBezTo>
                  <a:cubicBezTo>
                    <a:pt x="854" y="1910"/>
                    <a:pt x="852" y="1911"/>
                    <a:pt x="850" y="1911"/>
                  </a:cubicBezTo>
                  <a:cubicBezTo>
                    <a:pt x="773" y="1911"/>
                    <a:pt x="710" y="1851"/>
                    <a:pt x="710" y="1776"/>
                  </a:cubicBezTo>
                  <a:cubicBezTo>
                    <a:pt x="710" y="476"/>
                    <a:pt x="710" y="476"/>
                    <a:pt x="710" y="476"/>
                  </a:cubicBezTo>
                  <a:cubicBezTo>
                    <a:pt x="251" y="922"/>
                    <a:pt x="251" y="922"/>
                    <a:pt x="251" y="922"/>
                  </a:cubicBezTo>
                  <a:cubicBezTo>
                    <a:pt x="197" y="975"/>
                    <a:pt x="109" y="975"/>
                    <a:pt x="54" y="922"/>
                  </a:cubicBezTo>
                  <a:cubicBezTo>
                    <a:pt x="0" y="869"/>
                    <a:pt x="0" y="784"/>
                    <a:pt x="54" y="731"/>
                  </a:cubicBezTo>
                  <a:cubicBezTo>
                    <a:pt x="751" y="53"/>
                    <a:pt x="751" y="53"/>
                    <a:pt x="751" y="53"/>
                  </a:cubicBezTo>
                  <a:cubicBezTo>
                    <a:pt x="806" y="0"/>
                    <a:pt x="894" y="0"/>
                    <a:pt x="948" y="53"/>
                  </a:cubicBezTo>
                  <a:cubicBezTo>
                    <a:pt x="1645" y="731"/>
                    <a:pt x="1645" y="731"/>
                    <a:pt x="1645" y="731"/>
                  </a:cubicBezTo>
                  <a:cubicBezTo>
                    <a:pt x="1699" y="784"/>
                    <a:pt x="1699" y="869"/>
                    <a:pt x="1645" y="922"/>
                  </a:cubicBezTo>
                  <a:cubicBezTo>
                    <a:pt x="1618" y="949"/>
                    <a:pt x="1582" y="962"/>
                    <a:pt x="1546" y="962"/>
                  </a:cubicBezTo>
                  <a:cubicBezTo>
                    <a:pt x="1511" y="962"/>
                    <a:pt x="1475" y="949"/>
                    <a:pt x="1448" y="922"/>
                  </a:cubicBezTo>
                  <a:cubicBezTo>
                    <a:pt x="989" y="476"/>
                    <a:pt x="989" y="476"/>
                    <a:pt x="989" y="476"/>
                  </a:cubicBezTo>
                  <a:cubicBezTo>
                    <a:pt x="989" y="1608"/>
                    <a:pt x="989" y="1608"/>
                    <a:pt x="989" y="1608"/>
                  </a:cubicBezTo>
                  <a:cubicBezTo>
                    <a:pt x="1780" y="1608"/>
                    <a:pt x="1780" y="1608"/>
                    <a:pt x="1780" y="1608"/>
                  </a:cubicBezTo>
                  <a:cubicBezTo>
                    <a:pt x="1855" y="1608"/>
                    <a:pt x="1916" y="1675"/>
                    <a:pt x="1916" y="1759"/>
                  </a:cubicBezTo>
                  <a:cubicBezTo>
                    <a:pt x="1916" y="1842"/>
                    <a:pt x="1855" y="1910"/>
                    <a:pt x="1780" y="191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9" name="热区">
              <a:hlinkClick r:id="" action="ppaction://hlinkshowjump?jump=endshow"/>
            </p:cNvPr>
            <p:cNvSpPr/>
            <p:nvPr/>
          </p:nvSpPr>
          <p:spPr>
            <a:xfrm>
              <a:off x="7875422" y="6585447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4" name="矩形 33"/>
          <p:cNvSpPr/>
          <p:nvPr/>
        </p:nvSpPr>
        <p:spPr>
          <a:xfrm>
            <a:off x="0" y="476672"/>
            <a:ext cx="9144000" cy="432048"/>
          </a:xfrm>
          <a:prstGeom prst="rect">
            <a:avLst/>
          </a:prstGeom>
          <a:solidFill>
            <a:srgbClr val="FFDD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r>
              <a:rPr lang="en-US" altLang="zh-CN" sz="1600" b="1" dirty="0" smtClean="0">
                <a:solidFill>
                  <a:srgbClr val="515672"/>
                </a:solidFill>
                <a:latin typeface="+mj-lt"/>
              </a:rPr>
              <a:t>A fashion show &amp; survey        </a:t>
            </a:r>
            <a:r>
              <a:rPr lang="en-US" altLang="zh-CN" sz="1600" b="1" dirty="0" smtClean="0">
                <a:solidFill>
                  <a:schemeClr val="accent4"/>
                </a:solidFill>
                <a:latin typeface="+mj-lt"/>
              </a:rPr>
              <a:t>Project</a:t>
            </a:r>
            <a:endParaRPr lang="zh-CN" altLang="en-US" sz="1600" b="1" dirty="0">
              <a:solidFill>
                <a:schemeClr val="accent4"/>
              </a:solidFill>
              <a:latin typeface="+mj-lt"/>
            </a:endParaRPr>
          </a:p>
        </p:txBody>
      </p:sp>
      <p:sp>
        <p:nvSpPr>
          <p:cNvPr id="32" name="文本占位符 31"/>
          <p:cNvSpPr>
            <a:spLocks noGrp="1"/>
          </p:cNvSpPr>
          <p:nvPr>
            <p:ph type="body" sz="quarter" idx="13"/>
          </p:nvPr>
        </p:nvSpPr>
        <p:spPr>
          <a:xfrm>
            <a:off x="323850" y="2543968"/>
            <a:ext cx="8569325" cy="742156"/>
          </a:xfrm>
        </p:spPr>
        <p:txBody>
          <a:bodyPr>
            <a:normAutofit/>
          </a:bodyPr>
          <a:lstStyle/>
          <a:p>
            <a:r>
              <a:rPr lang="en-US" altLang="zh-CN" b="1" dirty="0" smtClean="0"/>
              <a:t>A. Make notes. </a:t>
            </a:r>
            <a:r>
              <a:rPr lang="en-US" altLang="zh-CN" dirty="0" smtClean="0"/>
              <a:t>Work with a partner. What clothes, shoes, and accessories is your partner wearing? Make a list.</a:t>
            </a:r>
            <a:endParaRPr lang="zh-CN" altLang="en-US" dirty="0"/>
          </a:p>
        </p:txBody>
      </p:sp>
      <p:sp>
        <p:nvSpPr>
          <p:cNvPr id="21" name="btn-Part 1">
            <a:hlinkClick r:id="rId1" action="ppaction://hlinksldjump"/>
          </p:cNvPr>
          <p:cNvSpPr/>
          <p:nvPr/>
        </p:nvSpPr>
        <p:spPr>
          <a:xfrm>
            <a:off x="2446556" y="482615"/>
            <a:ext cx="696684" cy="3802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357158" y="3578370"/>
            <a:ext cx="864399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zh-CN" sz="2000" b="1" dirty="0" smtClean="0">
                <a:latin typeface="+mj-lt"/>
              </a:rPr>
              <a:t>B. Have a fashion show. </a:t>
            </a:r>
            <a:r>
              <a:rPr lang="en-US" altLang="zh-CN" sz="2000" dirty="0" smtClean="0">
                <a:latin typeface="+mj-lt"/>
              </a:rPr>
              <a:t>Join other pairs to make a group of six. Your group is going to have a fashion show. Each pair in the group does this:</a:t>
            </a:r>
            <a:endParaRPr lang="zh-CN" altLang="en-US" sz="2000" dirty="0" smtClean="0">
              <a:latin typeface="+mj-lt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357158" y="4359670"/>
            <a:ext cx="8715436" cy="1569660"/>
          </a:xfrm>
          <a:prstGeom prst="rect">
            <a:avLst/>
          </a:prstGeom>
        </p:spPr>
        <p:txBody>
          <a:bodyPr wrap="square" numCol="1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CN" sz="2400" dirty="0" smtClean="0"/>
              <a:t>  </a:t>
            </a:r>
            <a:r>
              <a:rPr lang="en-US" altLang="zh-CN" sz="2400" b="1" dirty="0" smtClean="0"/>
              <a:t>Person A</a:t>
            </a:r>
            <a:r>
              <a:rPr lang="en-US" altLang="zh-CN" sz="2400" dirty="0" smtClean="0"/>
              <a:t>: Stand and walk around.</a:t>
            </a:r>
            <a:endParaRPr lang="en-US" altLang="zh-CN" sz="24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2400" dirty="0" smtClean="0"/>
              <a:t>  </a:t>
            </a:r>
            <a:r>
              <a:rPr lang="en-US" altLang="zh-CN" sz="2400" b="1" dirty="0" smtClean="0"/>
              <a:t>Person B</a:t>
            </a:r>
            <a:r>
              <a:rPr lang="en-US" altLang="zh-CN" sz="2400" dirty="0" smtClean="0"/>
              <a:t>: What is your partner wearing? Tell the group.</a:t>
            </a:r>
            <a:endParaRPr lang="en-US" altLang="zh-CN" sz="2400" dirty="0" smtClean="0"/>
          </a:p>
          <a:p>
            <a:pPr marL="180975" indent="-180975">
              <a:buFont typeface="Arial" panose="020B0604020202020204" pitchFamily="34" charset="0"/>
              <a:buChar char="•"/>
            </a:pPr>
            <a:r>
              <a:rPr lang="en-US" altLang="zh-CN" sz="2400" b="1" dirty="0" smtClean="0"/>
              <a:t>Other students</a:t>
            </a:r>
            <a:r>
              <a:rPr lang="en-US" altLang="zh-CN" sz="2400" dirty="0" smtClean="0"/>
              <a:t>: Say something nice about the clothes the person is wearing. Change roles and repeat.</a:t>
            </a:r>
            <a:endParaRPr lang="en-US" altLang="zh-CN" sz="2400" dirty="0" smtClean="0"/>
          </a:p>
        </p:txBody>
      </p:sp>
      <p:pic>
        <p:nvPicPr>
          <p:cNvPr id="31" name="图片 30" descr="U4ex.jpg"/>
          <p:cNvPicPr>
            <a:picLocks noChangeAspect="1"/>
          </p:cNvPicPr>
          <p:nvPr/>
        </p:nvPicPr>
        <p:blipFill>
          <a:blip r:embed="rId2" cstate="print"/>
          <a:srcRect t="1852" b="17283"/>
          <a:stretch>
            <a:fillRect/>
          </a:stretch>
        </p:blipFill>
        <p:spPr>
          <a:xfrm>
            <a:off x="32" y="907404"/>
            <a:ext cx="9143968" cy="928694"/>
          </a:xfrm>
          <a:prstGeom prst="rect">
            <a:avLst/>
          </a:prstGeom>
        </p:spPr>
      </p:pic>
      <p:sp>
        <p:nvSpPr>
          <p:cNvPr id="36" name="矩形 35"/>
          <p:cNvSpPr/>
          <p:nvPr/>
        </p:nvSpPr>
        <p:spPr>
          <a:xfrm>
            <a:off x="474262" y="1857364"/>
            <a:ext cx="509787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 smtClean="0"/>
              <a:t>You are going to have a fashion show.</a:t>
            </a:r>
            <a:endParaRPr lang="zh-CN" altLang="en-US" sz="2800" dirty="0"/>
          </a:p>
        </p:txBody>
      </p:sp>
      <p:sp>
        <p:nvSpPr>
          <p:cNvPr id="19" name="btn-Part 1">
            <a:hlinkClick r:id="rId3" action="ppaction://hlinksldjump"/>
          </p:cNvPr>
          <p:cNvSpPr/>
          <p:nvPr/>
        </p:nvSpPr>
        <p:spPr>
          <a:xfrm>
            <a:off x="71406" y="450210"/>
            <a:ext cx="2143108" cy="43592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/>
        </p:nvSpPr>
        <p:spPr>
          <a:xfrm>
            <a:off x="0" y="476672"/>
            <a:ext cx="9144000" cy="432048"/>
          </a:xfrm>
          <a:prstGeom prst="rect">
            <a:avLst/>
          </a:prstGeom>
          <a:solidFill>
            <a:srgbClr val="FFDD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r>
              <a:rPr lang="en-US" altLang="zh-CN" sz="1600" b="1" dirty="0" smtClean="0">
                <a:solidFill>
                  <a:srgbClr val="515672"/>
                </a:solidFill>
                <a:latin typeface="+mj-lt"/>
              </a:rPr>
              <a:t>A fashion show &amp; survey        </a:t>
            </a:r>
            <a:r>
              <a:rPr lang="en-US" altLang="zh-CN" sz="1600" b="1" dirty="0" smtClean="0">
                <a:solidFill>
                  <a:schemeClr val="accent4"/>
                </a:solidFill>
                <a:latin typeface="+mj-lt"/>
              </a:rPr>
              <a:t>Project</a:t>
            </a:r>
            <a:endParaRPr lang="zh-CN" altLang="en-US" sz="1600" b="1" dirty="0">
              <a:solidFill>
                <a:schemeClr val="accent4"/>
              </a:solidFill>
              <a:latin typeface="+mj-lt"/>
            </a:endParaRPr>
          </a:p>
        </p:txBody>
      </p:sp>
      <p:sp>
        <p:nvSpPr>
          <p:cNvPr id="32" name="文本占位符 31"/>
          <p:cNvSpPr>
            <a:spLocks noGrp="1"/>
          </p:cNvSpPr>
          <p:nvPr>
            <p:ph type="body" sz="quarter" idx="13"/>
          </p:nvPr>
        </p:nvSpPr>
        <p:spPr>
          <a:xfrm>
            <a:off x="323850" y="2553504"/>
            <a:ext cx="8569325" cy="446868"/>
          </a:xfrm>
        </p:spPr>
        <p:txBody>
          <a:bodyPr>
            <a:normAutofit/>
          </a:bodyPr>
          <a:lstStyle/>
          <a:p>
            <a:r>
              <a:rPr lang="en-US" altLang="zh-CN" b="1" dirty="0" smtClean="0"/>
              <a:t>D. Discuss in groups. </a:t>
            </a:r>
            <a:r>
              <a:rPr lang="en-US" altLang="zh-CN" dirty="0" smtClean="0"/>
              <a:t>Answer these questions.</a:t>
            </a:r>
            <a:endParaRPr lang="en-US" altLang="zh-CN" dirty="0" smtClean="0"/>
          </a:p>
        </p:txBody>
      </p:sp>
      <p:grpSp>
        <p:nvGrpSpPr>
          <p:cNvPr id="21" name="下一页"/>
          <p:cNvGrpSpPr/>
          <p:nvPr/>
        </p:nvGrpSpPr>
        <p:grpSpPr>
          <a:xfrm>
            <a:off x="8750845" y="6578304"/>
            <a:ext cx="264567" cy="210642"/>
            <a:chOff x="8750845" y="6578304"/>
            <a:chExt cx="264567" cy="210642"/>
          </a:xfrm>
        </p:grpSpPr>
        <p:sp>
          <p:nvSpPr>
            <p:cNvPr id="22" name="右箭头">
              <a:hlinkClick r:id="" action="ppaction://hlinkshowjump?jump=nextslide"/>
            </p:cNvPr>
            <p:cNvSpPr/>
            <p:nvPr/>
          </p:nvSpPr>
          <p:spPr bwMode="auto">
            <a:xfrm>
              <a:off x="8786568" y="6604402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" name="热区">
              <a:hlinkClick r:id="" action="ppaction://hlinkshowjump?jump=nextslide"/>
            </p:cNvPr>
            <p:cNvSpPr/>
            <p:nvPr/>
          </p:nvSpPr>
          <p:spPr>
            <a:xfrm>
              <a:off x="8750845" y="6578304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4" name="上一页"/>
          <p:cNvGrpSpPr/>
          <p:nvPr/>
        </p:nvGrpSpPr>
        <p:grpSpPr>
          <a:xfrm>
            <a:off x="8335464" y="6580685"/>
            <a:ext cx="264567" cy="210642"/>
            <a:chOff x="8335464" y="6580685"/>
            <a:chExt cx="264567" cy="210642"/>
          </a:xfrm>
        </p:grpSpPr>
        <p:sp>
          <p:nvSpPr>
            <p:cNvPr id="25" name="左箭头"/>
            <p:cNvSpPr/>
            <p:nvPr/>
          </p:nvSpPr>
          <p:spPr bwMode="auto">
            <a:xfrm rot="10800000">
              <a:off x="8380612" y="6604401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" name="热区">
              <a:hlinkClick r:id="" action="ppaction://hlinkshowjump?jump=previousslide"/>
            </p:cNvPr>
            <p:cNvSpPr/>
            <p:nvPr/>
          </p:nvSpPr>
          <p:spPr>
            <a:xfrm>
              <a:off x="8335464" y="6580685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7" name="返回按钮"/>
          <p:cNvGrpSpPr/>
          <p:nvPr/>
        </p:nvGrpSpPr>
        <p:grpSpPr>
          <a:xfrm>
            <a:off x="7875422" y="6585447"/>
            <a:ext cx="264567" cy="210642"/>
            <a:chOff x="7875422" y="6585447"/>
            <a:chExt cx="264567" cy="210642"/>
          </a:xfrm>
        </p:grpSpPr>
        <p:sp>
          <p:nvSpPr>
            <p:cNvPr id="28" name="返回箭头">
              <a:hlinkClick r:id="" action="ppaction://hlinkshowjump?jump=endshow"/>
            </p:cNvPr>
            <p:cNvSpPr/>
            <p:nvPr/>
          </p:nvSpPr>
          <p:spPr bwMode="auto">
            <a:xfrm>
              <a:off x="7919210" y="6598497"/>
              <a:ext cx="182307" cy="180975"/>
            </a:xfrm>
            <a:custGeom>
              <a:avLst/>
              <a:gdLst/>
              <a:ahLst/>
              <a:cxnLst>
                <a:cxn ang="0">
                  <a:pos x="1780" y="1910"/>
                </a:cxn>
                <a:cxn ang="0">
                  <a:pos x="856" y="1910"/>
                </a:cxn>
                <a:cxn ang="0">
                  <a:pos x="850" y="1911"/>
                </a:cxn>
                <a:cxn ang="0">
                  <a:pos x="710" y="1776"/>
                </a:cxn>
                <a:cxn ang="0">
                  <a:pos x="710" y="476"/>
                </a:cxn>
                <a:cxn ang="0">
                  <a:pos x="251" y="922"/>
                </a:cxn>
                <a:cxn ang="0">
                  <a:pos x="54" y="922"/>
                </a:cxn>
                <a:cxn ang="0">
                  <a:pos x="54" y="731"/>
                </a:cxn>
                <a:cxn ang="0">
                  <a:pos x="751" y="53"/>
                </a:cxn>
                <a:cxn ang="0">
                  <a:pos x="948" y="53"/>
                </a:cxn>
                <a:cxn ang="0">
                  <a:pos x="1645" y="731"/>
                </a:cxn>
                <a:cxn ang="0">
                  <a:pos x="1645" y="922"/>
                </a:cxn>
                <a:cxn ang="0">
                  <a:pos x="1546" y="962"/>
                </a:cxn>
                <a:cxn ang="0">
                  <a:pos x="1448" y="922"/>
                </a:cxn>
                <a:cxn ang="0">
                  <a:pos x="989" y="476"/>
                </a:cxn>
                <a:cxn ang="0">
                  <a:pos x="989" y="1608"/>
                </a:cxn>
                <a:cxn ang="0">
                  <a:pos x="1780" y="1608"/>
                </a:cxn>
                <a:cxn ang="0">
                  <a:pos x="1916" y="1759"/>
                </a:cxn>
                <a:cxn ang="0">
                  <a:pos x="1780" y="1910"/>
                </a:cxn>
              </a:cxnLst>
              <a:rect l="0" t="0" r="r" b="b"/>
              <a:pathLst>
                <a:path w="1916" h="1911">
                  <a:moveTo>
                    <a:pt x="1780" y="1910"/>
                  </a:moveTo>
                  <a:cubicBezTo>
                    <a:pt x="856" y="1910"/>
                    <a:pt x="856" y="1910"/>
                    <a:pt x="856" y="1910"/>
                  </a:cubicBezTo>
                  <a:cubicBezTo>
                    <a:pt x="854" y="1910"/>
                    <a:pt x="852" y="1911"/>
                    <a:pt x="850" y="1911"/>
                  </a:cubicBezTo>
                  <a:cubicBezTo>
                    <a:pt x="773" y="1911"/>
                    <a:pt x="710" y="1851"/>
                    <a:pt x="710" y="1776"/>
                  </a:cubicBezTo>
                  <a:cubicBezTo>
                    <a:pt x="710" y="476"/>
                    <a:pt x="710" y="476"/>
                    <a:pt x="710" y="476"/>
                  </a:cubicBezTo>
                  <a:cubicBezTo>
                    <a:pt x="251" y="922"/>
                    <a:pt x="251" y="922"/>
                    <a:pt x="251" y="922"/>
                  </a:cubicBezTo>
                  <a:cubicBezTo>
                    <a:pt x="197" y="975"/>
                    <a:pt x="109" y="975"/>
                    <a:pt x="54" y="922"/>
                  </a:cubicBezTo>
                  <a:cubicBezTo>
                    <a:pt x="0" y="869"/>
                    <a:pt x="0" y="784"/>
                    <a:pt x="54" y="731"/>
                  </a:cubicBezTo>
                  <a:cubicBezTo>
                    <a:pt x="751" y="53"/>
                    <a:pt x="751" y="53"/>
                    <a:pt x="751" y="53"/>
                  </a:cubicBezTo>
                  <a:cubicBezTo>
                    <a:pt x="806" y="0"/>
                    <a:pt x="894" y="0"/>
                    <a:pt x="948" y="53"/>
                  </a:cubicBezTo>
                  <a:cubicBezTo>
                    <a:pt x="1645" y="731"/>
                    <a:pt x="1645" y="731"/>
                    <a:pt x="1645" y="731"/>
                  </a:cubicBezTo>
                  <a:cubicBezTo>
                    <a:pt x="1699" y="784"/>
                    <a:pt x="1699" y="869"/>
                    <a:pt x="1645" y="922"/>
                  </a:cubicBezTo>
                  <a:cubicBezTo>
                    <a:pt x="1618" y="949"/>
                    <a:pt x="1582" y="962"/>
                    <a:pt x="1546" y="962"/>
                  </a:cubicBezTo>
                  <a:cubicBezTo>
                    <a:pt x="1511" y="962"/>
                    <a:pt x="1475" y="949"/>
                    <a:pt x="1448" y="922"/>
                  </a:cubicBezTo>
                  <a:cubicBezTo>
                    <a:pt x="989" y="476"/>
                    <a:pt x="989" y="476"/>
                    <a:pt x="989" y="476"/>
                  </a:cubicBezTo>
                  <a:cubicBezTo>
                    <a:pt x="989" y="1608"/>
                    <a:pt x="989" y="1608"/>
                    <a:pt x="989" y="1608"/>
                  </a:cubicBezTo>
                  <a:cubicBezTo>
                    <a:pt x="1780" y="1608"/>
                    <a:pt x="1780" y="1608"/>
                    <a:pt x="1780" y="1608"/>
                  </a:cubicBezTo>
                  <a:cubicBezTo>
                    <a:pt x="1855" y="1608"/>
                    <a:pt x="1916" y="1675"/>
                    <a:pt x="1916" y="1759"/>
                  </a:cubicBezTo>
                  <a:cubicBezTo>
                    <a:pt x="1916" y="1842"/>
                    <a:pt x="1855" y="1910"/>
                    <a:pt x="1780" y="191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9" name="热区">
              <a:hlinkClick r:id="" action="ppaction://hlinkshowjump?jump=endshow"/>
            </p:cNvPr>
            <p:cNvSpPr/>
            <p:nvPr/>
          </p:nvSpPr>
          <p:spPr>
            <a:xfrm>
              <a:off x="7875422" y="6585447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7" name="btn-Part 1">
            <a:hlinkClick r:id="rId1" action="ppaction://hlinksldjump"/>
          </p:cNvPr>
          <p:cNvSpPr/>
          <p:nvPr/>
        </p:nvSpPr>
        <p:spPr>
          <a:xfrm>
            <a:off x="2446556" y="482615"/>
            <a:ext cx="696684" cy="3802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428596" y="3071810"/>
            <a:ext cx="8435967" cy="1723549"/>
          </a:xfrm>
          <a:prstGeom prst="rect">
            <a:avLst/>
          </a:prstGeom>
        </p:spPr>
        <p:txBody>
          <a:bodyPr wrap="square" numCol="1">
            <a:spAutoFit/>
          </a:bodyPr>
          <a:lstStyle/>
          <a:p>
            <a:pPr marL="457200" indent="-457200">
              <a:spcAft>
                <a:spcPts val="1200"/>
              </a:spcAft>
              <a:buFont typeface="+mj-lt"/>
              <a:buAutoNum type="arabicPeriod"/>
            </a:pPr>
            <a:r>
              <a:rPr lang="en-US" altLang="zh-CN" sz="2400" dirty="0" smtClean="0"/>
              <a:t>Read the answers on the board. In your class, what styles are most popular?</a:t>
            </a:r>
            <a:endParaRPr lang="en-US" altLang="zh-CN" sz="2400" dirty="0" smtClean="0"/>
          </a:p>
          <a:p>
            <a:pPr marL="457200" indent="-457200">
              <a:spcAft>
                <a:spcPts val="1200"/>
              </a:spcAft>
              <a:buFont typeface="+mj-lt"/>
              <a:buAutoNum type="arabicPeriod"/>
            </a:pPr>
            <a:r>
              <a:rPr lang="en-US" altLang="zh-CN" sz="2400" dirty="0" smtClean="0"/>
              <a:t>What do you think of these styles? Do you like them?  Why or why not?</a:t>
            </a:r>
            <a:endParaRPr lang="zh-CN" altLang="en-US" sz="2400" dirty="0"/>
          </a:p>
        </p:txBody>
      </p:sp>
      <p:sp>
        <p:nvSpPr>
          <p:cNvPr id="30" name="文本占位符 31"/>
          <p:cNvSpPr>
            <a:spLocks noGrp="1"/>
          </p:cNvSpPr>
          <p:nvPr>
            <p:ph type="body" sz="quarter" idx="13"/>
          </p:nvPr>
        </p:nvSpPr>
        <p:spPr>
          <a:xfrm>
            <a:off x="357158" y="1142984"/>
            <a:ext cx="8569325" cy="857256"/>
          </a:xfrm>
        </p:spPr>
        <p:txBody>
          <a:bodyPr>
            <a:normAutofit/>
          </a:bodyPr>
          <a:lstStyle/>
          <a:p>
            <a:r>
              <a:rPr lang="en-US" altLang="zh-CN" b="1" dirty="0" smtClean="0"/>
              <a:t>C. Make a list. </a:t>
            </a:r>
            <a:r>
              <a:rPr lang="en-US" altLang="zh-CN" dirty="0" smtClean="0"/>
              <a:t>What clothing, colors, and accessories are the most common in your group? Make a list and write your answers on the board.</a:t>
            </a:r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</p:txBody>
      </p:sp>
      <p:sp>
        <p:nvSpPr>
          <p:cNvPr id="31" name="btn-Part 1">
            <a:hlinkClick r:id="rId2" action="ppaction://hlinksldjump"/>
          </p:cNvPr>
          <p:cNvSpPr/>
          <p:nvPr/>
        </p:nvSpPr>
        <p:spPr>
          <a:xfrm>
            <a:off x="63500" y="482615"/>
            <a:ext cx="2222484" cy="37461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/>
          <p:nvPr/>
        </p:nvSpPr>
        <p:spPr>
          <a:xfrm>
            <a:off x="0" y="476672"/>
            <a:ext cx="9144000" cy="432048"/>
          </a:xfrm>
          <a:prstGeom prst="rect">
            <a:avLst/>
          </a:prstGeom>
          <a:solidFill>
            <a:srgbClr val="FFDD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r>
              <a:rPr lang="en-US" altLang="zh-CN" sz="1600" b="1" dirty="0" smtClean="0">
                <a:solidFill>
                  <a:schemeClr val="accent4"/>
                </a:solidFill>
                <a:latin typeface="+mj-lt"/>
              </a:rPr>
              <a:t>A fashion show &amp; survey        </a:t>
            </a:r>
            <a:r>
              <a:rPr lang="en-US" altLang="zh-CN" sz="1600" b="1" dirty="0" smtClean="0">
                <a:solidFill>
                  <a:srgbClr val="515672"/>
                </a:solidFill>
                <a:latin typeface="+mj-lt"/>
              </a:rPr>
              <a:t>Project</a:t>
            </a:r>
            <a:endParaRPr lang="zh-CN" altLang="en-US" sz="1600" b="1" dirty="0">
              <a:solidFill>
                <a:srgbClr val="515672"/>
              </a:solidFill>
              <a:latin typeface="+mj-lt"/>
            </a:endParaRPr>
          </a:p>
        </p:txBody>
      </p:sp>
      <p:sp>
        <p:nvSpPr>
          <p:cNvPr id="32" name="文本占位符 31"/>
          <p:cNvSpPr>
            <a:spLocks noGrp="1"/>
          </p:cNvSpPr>
          <p:nvPr>
            <p:ph type="body" sz="quarter" idx="13"/>
          </p:nvPr>
        </p:nvSpPr>
        <p:spPr>
          <a:xfrm>
            <a:off x="323850" y="1124743"/>
            <a:ext cx="8569325" cy="1490865"/>
          </a:xfrm>
        </p:spPr>
        <p:txBody>
          <a:bodyPr>
            <a:normAutofit/>
          </a:bodyPr>
          <a:lstStyle/>
          <a:p>
            <a:r>
              <a:rPr lang="en-US" altLang="zh-CN" b="1" dirty="0" smtClean="0"/>
              <a:t>Keep a research diary. </a:t>
            </a:r>
            <a:r>
              <a:rPr lang="en-US" altLang="zh-CN" dirty="0" smtClean="0"/>
              <a:t>Observe the people around you—people in coffee shops, people on the train, and people in shops. Look at what they are wearing. Keep a diary. What clothing and clothing accessories are the most common? Share your findings with the class.</a:t>
            </a:r>
            <a:endParaRPr lang="zh-CN" altLang="en-US" dirty="0"/>
          </a:p>
        </p:txBody>
      </p:sp>
      <p:grpSp>
        <p:nvGrpSpPr>
          <p:cNvPr id="35" name="下一页"/>
          <p:cNvGrpSpPr/>
          <p:nvPr/>
        </p:nvGrpSpPr>
        <p:grpSpPr>
          <a:xfrm>
            <a:off x="8750845" y="6578304"/>
            <a:ext cx="264567" cy="210642"/>
            <a:chOff x="8750845" y="6578304"/>
            <a:chExt cx="264567" cy="210642"/>
          </a:xfrm>
        </p:grpSpPr>
        <p:sp>
          <p:nvSpPr>
            <p:cNvPr id="36" name="右箭头">
              <a:hlinkClick r:id="" action="ppaction://hlinkshowjump?jump=nextslide"/>
            </p:cNvPr>
            <p:cNvSpPr/>
            <p:nvPr/>
          </p:nvSpPr>
          <p:spPr bwMode="auto">
            <a:xfrm>
              <a:off x="8786568" y="6604402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>
                <a:alpha val="30196"/>
              </a:srgb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7" name="热区"/>
            <p:cNvSpPr/>
            <p:nvPr/>
          </p:nvSpPr>
          <p:spPr>
            <a:xfrm>
              <a:off x="8750845" y="6578304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8" name="上一页"/>
          <p:cNvGrpSpPr/>
          <p:nvPr/>
        </p:nvGrpSpPr>
        <p:grpSpPr>
          <a:xfrm>
            <a:off x="8335464" y="6580685"/>
            <a:ext cx="264567" cy="210642"/>
            <a:chOff x="8335464" y="6580685"/>
            <a:chExt cx="264567" cy="210642"/>
          </a:xfrm>
        </p:grpSpPr>
        <p:sp>
          <p:nvSpPr>
            <p:cNvPr id="41" name="左箭头"/>
            <p:cNvSpPr/>
            <p:nvPr/>
          </p:nvSpPr>
          <p:spPr bwMode="auto">
            <a:xfrm rot="10800000">
              <a:off x="8380612" y="6604401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2" name="热区">
              <a:hlinkClick r:id="" action="ppaction://hlinkshowjump?jump=previousslide"/>
            </p:cNvPr>
            <p:cNvSpPr/>
            <p:nvPr/>
          </p:nvSpPr>
          <p:spPr>
            <a:xfrm>
              <a:off x="8335464" y="6580685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3" name="返回按钮"/>
          <p:cNvGrpSpPr/>
          <p:nvPr/>
        </p:nvGrpSpPr>
        <p:grpSpPr>
          <a:xfrm>
            <a:off x="7875422" y="6585447"/>
            <a:ext cx="264567" cy="210642"/>
            <a:chOff x="7875422" y="6585447"/>
            <a:chExt cx="264567" cy="210642"/>
          </a:xfrm>
        </p:grpSpPr>
        <p:sp>
          <p:nvSpPr>
            <p:cNvPr id="44" name="返回箭头">
              <a:hlinkClick r:id="" action="ppaction://hlinkshowjump?jump=endshow"/>
            </p:cNvPr>
            <p:cNvSpPr/>
            <p:nvPr/>
          </p:nvSpPr>
          <p:spPr bwMode="auto">
            <a:xfrm>
              <a:off x="7919210" y="6598497"/>
              <a:ext cx="182307" cy="180975"/>
            </a:xfrm>
            <a:custGeom>
              <a:avLst/>
              <a:gdLst/>
              <a:ahLst/>
              <a:cxnLst>
                <a:cxn ang="0">
                  <a:pos x="1780" y="1910"/>
                </a:cxn>
                <a:cxn ang="0">
                  <a:pos x="856" y="1910"/>
                </a:cxn>
                <a:cxn ang="0">
                  <a:pos x="850" y="1911"/>
                </a:cxn>
                <a:cxn ang="0">
                  <a:pos x="710" y="1776"/>
                </a:cxn>
                <a:cxn ang="0">
                  <a:pos x="710" y="476"/>
                </a:cxn>
                <a:cxn ang="0">
                  <a:pos x="251" y="922"/>
                </a:cxn>
                <a:cxn ang="0">
                  <a:pos x="54" y="922"/>
                </a:cxn>
                <a:cxn ang="0">
                  <a:pos x="54" y="731"/>
                </a:cxn>
                <a:cxn ang="0">
                  <a:pos x="751" y="53"/>
                </a:cxn>
                <a:cxn ang="0">
                  <a:pos x="948" y="53"/>
                </a:cxn>
                <a:cxn ang="0">
                  <a:pos x="1645" y="731"/>
                </a:cxn>
                <a:cxn ang="0">
                  <a:pos x="1645" y="922"/>
                </a:cxn>
                <a:cxn ang="0">
                  <a:pos x="1546" y="962"/>
                </a:cxn>
                <a:cxn ang="0">
                  <a:pos x="1448" y="922"/>
                </a:cxn>
                <a:cxn ang="0">
                  <a:pos x="989" y="476"/>
                </a:cxn>
                <a:cxn ang="0">
                  <a:pos x="989" y="1608"/>
                </a:cxn>
                <a:cxn ang="0">
                  <a:pos x="1780" y="1608"/>
                </a:cxn>
                <a:cxn ang="0">
                  <a:pos x="1916" y="1759"/>
                </a:cxn>
                <a:cxn ang="0">
                  <a:pos x="1780" y="1910"/>
                </a:cxn>
              </a:cxnLst>
              <a:rect l="0" t="0" r="r" b="b"/>
              <a:pathLst>
                <a:path w="1916" h="1911">
                  <a:moveTo>
                    <a:pt x="1780" y="1910"/>
                  </a:moveTo>
                  <a:cubicBezTo>
                    <a:pt x="856" y="1910"/>
                    <a:pt x="856" y="1910"/>
                    <a:pt x="856" y="1910"/>
                  </a:cubicBezTo>
                  <a:cubicBezTo>
                    <a:pt x="854" y="1910"/>
                    <a:pt x="852" y="1911"/>
                    <a:pt x="850" y="1911"/>
                  </a:cubicBezTo>
                  <a:cubicBezTo>
                    <a:pt x="773" y="1911"/>
                    <a:pt x="710" y="1851"/>
                    <a:pt x="710" y="1776"/>
                  </a:cubicBezTo>
                  <a:cubicBezTo>
                    <a:pt x="710" y="476"/>
                    <a:pt x="710" y="476"/>
                    <a:pt x="710" y="476"/>
                  </a:cubicBezTo>
                  <a:cubicBezTo>
                    <a:pt x="251" y="922"/>
                    <a:pt x="251" y="922"/>
                    <a:pt x="251" y="922"/>
                  </a:cubicBezTo>
                  <a:cubicBezTo>
                    <a:pt x="197" y="975"/>
                    <a:pt x="109" y="975"/>
                    <a:pt x="54" y="922"/>
                  </a:cubicBezTo>
                  <a:cubicBezTo>
                    <a:pt x="0" y="869"/>
                    <a:pt x="0" y="784"/>
                    <a:pt x="54" y="731"/>
                  </a:cubicBezTo>
                  <a:cubicBezTo>
                    <a:pt x="751" y="53"/>
                    <a:pt x="751" y="53"/>
                    <a:pt x="751" y="53"/>
                  </a:cubicBezTo>
                  <a:cubicBezTo>
                    <a:pt x="806" y="0"/>
                    <a:pt x="894" y="0"/>
                    <a:pt x="948" y="53"/>
                  </a:cubicBezTo>
                  <a:cubicBezTo>
                    <a:pt x="1645" y="731"/>
                    <a:pt x="1645" y="731"/>
                    <a:pt x="1645" y="731"/>
                  </a:cubicBezTo>
                  <a:cubicBezTo>
                    <a:pt x="1699" y="784"/>
                    <a:pt x="1699" y="869"/>
                    <a:pt x="1645" y="922"/>
                  </a:cubicBezTo>
                  <a:cubicBezTo>
                    <a:pt x="1618" y="949"/>
                    <a:pt x="1582" y="962"/>
                    <a:pt x="1546" y="962"/>
                  </a:cubicBezTo>
                  <a:cubicBezTo>
                    <a:pt x="1511" y="962"/>
                    <a:pt x="1475" y="949"/>
                    <a:pt x="1448" y="922"/>
                  </a:cubicBezTo>
                  <a:cubicBezTo>
                    <a:pt x="989" y="476"/>
                    <a:pt x="989" y="476"/>
                    <a:pt x="989" y="476"/>
                  </a:cubicBezTo>
                  <a:cubicBezTo>
                    <a:pt x="989" y="1608"/>
                    <a:pt x="989" y="1608"/>
                    <a:pt x="989" y="1608"/>
                  </a:cubicBezTo>
                  <a:cubicBezTo>
                    <a:pt x="1780" y="1608"/>
                    <a:pt x="1780" y="1608"/>
                    <a:pt x="1780" y="1608"/>
                  </a:cubicBezTo>
                  <a:cubicBezTo>
                    <a:pt x="1855" y="1608"/>
                    <a:pt x="1916" y="1675"/>
                    <a:pt x="1916" y="1759"/>
                  </a:cubicBezTo>
                  <a:cubicBezTo>
                    <a:pt x="1916" y="1842"/>
                    <a:pt x="1855" y="1910"/>
                    <a:pt x="1780" y="191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5" name="热区">
              <a:hlinkClick r:id="" action="ppaction://hlinkshowjump?jump=endshow"/>
            </p:cNvPr>
            <p:cNvSpPr/>
            <p:nvPr/>
          </p:nvSpPr>
          <p:spPr>
            <a:xfrm>
              <a:off x="7875422" y="6585447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46" name="图片 45" descr="P01-12_1309526.jp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2571736" y="2857496"/>
            <a:ext cx="5048392" cy="3286148"/>
          </a:xfrm>
          <a:prstGeom prst="rect">
            <a:avLst/>
          </a:prstGeom>
        </p:spPr>
      </p:pic>
      <p:sp>
        <p:nvSpPr>
          <p:cNvPr id="47" name="矩形 46"/>
          <p:cNvSpPr/>
          <p:nvPr/>
        </p:nvSpPr>
        <p:spPr>
          <a:xfrm>
            <a:off x="5818345" y="5543234"/>
            <a:ext cx="1816523" cy="584775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r>
              <a:rPr lang="en-US" altLang="zh-CN" sz="1600" dirty="0" smtClean="0">
                <a:solidFill>
                  <a:schemeClr val="bg1"/>
                </a:solidFill>
              </a:rPr>
              <a:t>Models at a fashion</a:t>
            </a:r>
            <a:endParaRPr lang="en-US" altLang="zh-CN" sz="1600" dirty="0" smtClean="0">
              <a:solidFill>
                <a:schemeClr val="bg1"/>
              </a:solidFill>
            </a:endParaRPr>
          </a:p>
          <a:p>
            <a:r>
              <a:rPr lang="en-US" altLang="zh-CN" sz="1600" dirty="0" smtClean="0">
                <a:solidFill>
                  <a:schemeClr val="bg1"/>
                </a:solidFill>
              </a:rPr>
              <a:t>show in London, U.K.</a:t>
            </a:r>
            <a:endParaRPr lang="zh-CN" altLang="en-US" sz="1600" dirty="0">
              <a:solidFill>
                <a:schemeClr val="bg1"/>
              </a:solidFill>
            </a:endParaRPr>
          </a:p>
        </p:txBody>
      </p:sp>
      <p:sp>
        <p:nvSpPr>
          <p:cNvPr id="16" name="btn-Part 1">
            <a:hlinkClick r:id="rId2" action="ppaction://hlinksldjump"/>
          </p:cNvPr>
          <p:cNvSpPr/>
          <p:nvPr/>
        </p:nvSpPr>
        <p:spPr>
          <a:xfrm>
            <a:off x="63500" y="482614"/>
            <a:ext cx="2151046" cy="44605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btn-Part 1">
            <a:hlinkClick r:id="rId3" action="ppaction://hlinksldjump"/>
          </p:cNvPr>
          <p:cNvSpPr/>
          <p:nvPr/>
        </p:nvSpPr>
        <p:spPr>
          <a:xfrm>
            <a:off x="2446556" y="482615"/>
            <a:ext cx="696684" cy="3802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进阶视听说">
      <a:dk1>
        <a:sysClr val="windowText" lastClr="000000"/>
      </a:dk1>
      <a:lt1>
        <a:sysClr val="window" lastClr="FFFFFF"/>
      </a:lt1>
      <a:dk2>
        <a:srgbClr val="582957"/>
      </a:dk2>
      <a:lt2>
        <a:srgbClr val="EEECE1"/>
      </a:lt2>
      <a:accent1>
        <a:srgbClr val="4F81BD"/>
      </a:accent1>
      <a:accent2>
        <a:srgbClr val="C0504D"/>
      </a:accent2>
      <a:accent3>
        <a:srgbClr val="88BB16"/>
      </a:accent3>
      <a:accent4>
        <a:srgbClr val="AF88B6"/>
      </a:accent4>
      <a:accent5>
        <a:srgbClr val="4BACC6"/>
      </a:accent5>
      <a:accent6>
        <a:srgbClr val="FEE200"/>
      </a:accent6>
      <a:hlink>
        <a:srgbClr val="0000FF"/>
      </a:hlink>
      <a:folHlink>
        <a:srgbClr val="800080"/>
      </a:folHlink>
    </a:clrScheme>
    <a:fontScheme name="进阶试听说">
      <a:majorFont>
        <a:latin typeface="Roboto Condensed"/>
        <a:ea typeface="微软雅黑"/>
        <a:cs typeface=""/>
      </a:majorFont>
      <a:minorFont>
        <a:latin typeface="Neuto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1219</Words>
  <Application>WPS 演示</Application>
  <PresentationFormat>全屏显示(4:3)</PresentationFormat>
  <Paragraphs>36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2" baseType="lpstr">
      <vt:lpstr>Arial</vt:lpstr>
      <vt:lpstr>宋体</vt:lpstr>
      <vt:lpstr>Wingdings</vt:lpstr>
      <vt:lpstr>Neuton</vt:lpstr>
      <vt:lpstr>Roboto Condensed</vt:lpstr>
      <vt:lpstr>微软雅黑</vt:lpstr>
      <vt:lpstr>Arial Unicode MS</vt:lpstr>
      <vt:lpstr>Calibri</vt:lpstr>
      <vt:lpstr>Office 主题</vt:lpstr>
      <vt:lpstr>PowerPoint 演示文稿</vt:lpstr>
      <vt:lpstr>PowerPoint 演示文稿</vt:lpstr>
      <vt:lpstr>PowerPoint 演示文稿</vt:lpstr>
    </vt:vector>
  </TitlesOfParts>
  <Company>cmet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old9</dc:creator>
  <cp:lastModifiedBy>别急躁</cp:lastModifiedBy>
  <cp:revision>213</cp:revision>
  <dcterms:created xsi:type="dcterms:W3CDTF">2017-12-23T09:29:00Z</dcterms:created>
  <dcterms:modified xsi:type="dcterms:W3CDTF">2024-08-27T05:30:32Z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8319E5CF994E4E88B21D30520EAE99CF_13</vt:lpwstr>
  </property>
  <property fmtid="{D5CDD505-2E9C-101B-9397-08002B2CF9AE}" pid="3" name="KSOProductBuildVer">
    <vt:lpwstr>2052-12.1.0.17857</vt:lpwstr>
  </property>
</Properties>
</file>