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9144000" cy="6858000" type="screen4x3"/>
  <p:notesSz cx="6858000" cy="9144000"/>
  <p:embeddedFontLst>
    <p:embeddedFont>
      <p:font typeface="Neuton" panose="00000500000000000000" charset="0"/>
      <p:regular r:id="rId10"/>
      <p:bold r:id="rId11"/>
      <p:italic r:id="rId12"/>
    </p:embeddedFont>
    <p:embeddedFont>
      <p:font typeface="Roboto Condensed" panose="02000000000000000000" charset="0"/>
      <p:regular r:id="rId13"/>
      <p:bold r:id="rId14"/>
      <p:italic r:id="rId15"/>
    </p:embeddedFont>
    <p:embeddedFont>
      <p:font typeface="微软雅黑" panose="020B0503020204020204" charset="-122"/>
      <p:regular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33"/>
    <a:srgbClr val="515672"/>
    <a:srgbClr val="FFFFFF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94273" autoAdjust="0"/>
  </p:normalViewPr>
  <p:slideViewPr>
    <p:cSldViewPr showGuides="1">
      <p:cViewPr varScale="1">
        <p:scale>
          <a:sx n="100" d="100"/>
          <a:sy n="100" d="100"/>
        </p:scale>
        <p:origin x="16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font" Target="fonts/font11.fntdata"/><Relationship Id="rId2" Type="http://schemas.openxmlformats.org/officeDocument/2006/relationships/theme" Target="theme/theme1.xml"/><Relationship Id="rId19" Type="http://schemas.openxmlformats.org/officeDocument/2006/relationships/font" Target="fonts/font10.fntdata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9512" y="0"/>
            <a:ext cx="1872208" cy="476672"/>
          </a:xfrm>
          <a:solidFill>
            <a:srgbClr val="FFDD33"/>
          </a:solidFill>
        </p:spPr>
        <p:txBody>
          <a:bodyPr lIns="144000">
            <a:noAutofit/>
          </a:bodyPr>
          <a:lstStyle>
            <a:lvl1pPr algn="l">
              <a:defRPr sz="2000" b="1">
                <a:solidFill>
                  <a:srgbClr val="515672"/>
                </a:solidFill>
                <a:latin typeface="+mj-lt"/>
              </a:defRPr>
            </a:lvl1pPr>
          </a:lstStyle>
          <a:p>
            <a:r>
              <a:rPr lang="en-US" altLang="zh-CN" smtClean="0"/>
              <a:t>Part I Warm Up</a:t>
            </a: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9512" y="0"/>
            <a:ext cx="1872208" cy="476672"/>
          </a:xfrm>
          <a:solidFill>
            <a:srgbClr val="FFDD33"/>
          </a:solidFill>
        </p:spPr>
        <p:txBody>
          <a:bodyPr lIns="144000">
            <a:noAutofit/>
          </a:bodyPr>
          <a:lstStyle>
            <a:lvl1pPr algn="l">
              <a:defRPr sz="2000" b="1">
                <a:solidFill>
                  <a:srgbClr val="515672"/>
                </a:solidFill>
                <a:latin typeface="+mj-lt"/>
              </a:defRPr>
            </a:lvl1pPr>
          </a:lstStyle>
          <a:p>
            <a:r>
              <a:rPr lang="en-US" altLang="zh-CN" smtClean="0"/>
              <a:t>Part I Warm Up</a:t>
            </a: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占位符 2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3" r="15902"/>
          <a:stretch>
            <a:fillRect/>
          </a:stretch>
        </p:blipFill>
        <p:spPr>
          <a:xfrm>
            <a:off x="4932040" y="1062261"/>
            <a:ext cx="4032448" cy="43272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Part I Warm Up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Answer these questions with a partner.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323850" y="1320817"/>
            <a:ext cx="4319587" cy="5251455"/>
          </a:xfrm>
        </p:spPr>
        <p:txBody>
          <a:bodyPr>
            <a:noAutofit/>
          </a:bodyPr>
          <a:lstStyle/>
          <a:p>
            <a:pPr marL="357505" indent="-357505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dirty="0" smtClean="0"/>
              <a:t>Are there any popular shopping areas in your city?</a:t>
            </a:r>
            <a:endParaRPr lang="en-US" altLang="zh-CN" dirty="0" smtClean="0"/>
          </a:p>
          <a:p>
            <a:pPr marL="357505" indent="-357505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dirty="0"/>
              <a:t>Would you rather shop in a store or online</a:t>
            </a:r>
            <a:r>
              <a:rPr lang="en-US" altLang="zh-CN" dirty="0" smtClean="0"/>
              <a:t>?</a:t>
            </a:r>
            <a:endParaRPr lang="en-US" altLang="zh-CN" dirty="0" smtClean="0"/>
          </a:p>
          <a:p>
            <a:pPr marL="357505" indent="-357505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dirty="0" smtClean="0"/>
              <a:t>What are your three favorite places to shop?</a:t>
            </a:r>
            <a:endParaRPr lang="zh-CN" altLang="en-US" u="sng" dirty="0">
              <a:solidFill>
                <a:schemeClr val="accent1"/>
              </a:solidFill>
            </a:endParaRPr>
          </a:p>
        </p:txBody>
      </p:sp>
      <p:sp>
        <p:nvSpPr>
          <p:cNvPr id="29" name="图片标题"/>
          <p:cNvSpPr txBox="1"/>
          <p:nvPr/>
        </p:nvSpPr>
        <p:spPr>
          <a:xfrm>
            <a:off x="4929190" y="1000109"/>
            <a:ext cx="4000528" cy="714380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  <a:latin typeface="+mj-lt"/>
              </a:rPr>
              <a:t>Buying &amp; Selling</a:t>
            </a:r>
            <a:endParaRPr lang="en-US" altLang="zh-CN" sz="4400" b="1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图片说明"/>
          <p:cNvSpPr txBox="1"/>
          <p:nvPr/>
        </p:nvSpPr>
        <p:spPr>
          <a:xfrm>
            <a:off x="4857752" y="5466409"/>
            <a:ext cx="4213670" cy="57850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/>
            <a:r>
              <a:rPr lang="en-US" altLang="zh-CN" sz="1600" spc="-40" dirty="0">
                <a:latin typeface="+mj-lt"/>
              </a:rPr>
              <a:t>A shopping street in </a:t>
            </a:r>
            <a:r>
              <a:rPr lang="en-US" altLang="zh-CN" sz="1600" spc="-40" dirty="0" smtClean="0">
                <a:latin typeface="+mj-lt"/>
              </a:rPr>
              <a:t>London. Oxford </a:t>
            </a:r>
            <a:r>
              <a:rPr lang="en-US" altLang="zh-CN" sz="1600" spc="-40" dirty="0">
                <a:latin typeface="+mj-lt"/>
              </a:rPr>
              <a:t>Street in </a:t>
            </a:r>
            <a:r>
              <a:rPr lang="en-US" altLang="zh-CN" sz="1600" spc="-40" dirty="0" smtClean="0">
                <a:latin typeface="+mj-lt"/>
              </a:rPr>
              <a:t>London</a:t>
            </a:r>
            <a:r>
              <a:rPr lang="en-US" altLang="zh-CN" sz="1600" dirty="0" smtClean="0">
                <a:latin typeface="+mj-lt"/>
              </a:rPr>
              <a:t> </a:t>
            </a:r>
            <a:r>
              <a:rPr lang="en-US" altLang="zh-CN" sz="1600" spc="-20" dirty="0" smtClean="0">
                <a:latin typeface="+mj-lt"/>
              </a:rPr>
              <a:t>is </a:t>
            </a:r>
            <a:r>
              <a:rPr lang="en-US" altLang="zh-CN" sz="1600" spc="-20" dirty="0">
                <a:latin typeface="+mj-lt"/>
              </a:rPr>
              <a:t>one of the world’s </a:t>
            </a:r>
            <a:r>
              <a:rPr lang="en-US" altLang="zh-CN" sz="1600" spc="-20" dirty="0" smtClean="0">
                <a:latin typeface="+mj-lt"/>
              </a:rPr>
              <a:t>most famous </a:t>
            </a:r>
            <a:r>
              <a:rPr lang="en-US" altLang="zh-CN" sz="1600" spc="-20" dirty="0">
                <a:latin typeface="+mj-lt"/>
              </a:rPr>
              <a:t>shopping streets.</a:t>
            </a:r>
            <a:endParaRPr lang="zh-CN" altLang="en-US" sz="1600" spc="-20" dirty="0">
              <a:latin typeface="+mj-lt"/>
            </a:endParaRPr>
          </a:p>
        </p:txBody>
      </p:sp>
      <p:pic>
        <p:nvPicPr>
          <p:cNvPr id="30" name="按钮-Content Note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006679" y="6085854"/>
            <a:ext cx="135086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4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54" name="Content Note"/>
          <p:cNvGrpSpPr/>
          <p:nvPr/>
        </p:nvGrpSpPr>
        <p:grpSpPr>
          <a:xfrm>
            <a:off x="1000100" y="1000108"/>
            <a:ext cx="7072362" cy="4962542"/>
            <a:chOff x="1475656" y="1268760"/>
            <a:chExt cx="7632848" cy="6147756"/>
          </a:xfrm>
        </p:grpSpPr>
        <p:sp>
          <p:nvSpPr>
            <p:cNvPr id="55" name="矩形 54"/>
            <p:cNvSpPr/>
            <p:nvPr/>
          </p:nvSpPr>
          <p:spPr>
            <a:xfrm>
              <a:off x="1475656" y="1268760"/>
              <a:ext cx="7632848" cy="61477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CB8B02"/>
              </a:solidFill>
            </a:ln>
            <a:effectLst>
              <a:outerShdw blurRad="279400" dist="63500" dir="7800000" sx="101000" sy="101000" algn="t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475656" y="1268760"/>
              <a:ext cx="7632848" cy="442499"/>
            </a:xfrm>
            <a:prstGeom prst="rect">
              <a:avLst/>
            </a:prstGeom>
            <a:solidFill>
              <a:srgbClr val="CB8B02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b="1" dirty="0" smtClean="0">
                  <a:solidFill>
                    <a:schemeClr val="bg1"/>
                  </a:solidFill>
                  <a:latin typeface="+mj-lt"/>
                </a:rPr>
                <a:t>Content Note</a:t>
              </a:r>
              <a:endParaRPr lang="zh-CN" altLang="en-US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648036" y="1768186"/>
              <a:ext cx="7257533" cy="5566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532130" algn="just">
                <a:spcAft>
                  <a:spcPts val="1200"/>
                </a:spcAft>
                <a:buClr>
                  <a:schemeClr val="accent3"/>
                </a:buClr>
                <a:buSzPct val="50000"/>
              </a:pPr>
              <a:r>
                <a:rPr lang="en-US" altLang="zh-CN" sz="2200" spc="30" dirty="0"/>
                <a:t>Shopping streets can be found in many cities around the</a:t>
              </a:r>
              <a:r>
                <a:rPr lang="en-US" altLang="zh-CN" sz="2200" dirty="0"/>
                <a:t> </a:t>
              </a:r>
              <a:r>
                <a:rPr lang="en-US" altLang="zh-CN" sz="2200" spc="10" dirty="0"/>
                <a:t>world and are often </a:t>
              </a:r>
              <a:r>
                <a:rPr lang="en-US" altLang="zh-CN" sz="2200" spc="10" dirty="0" smtClean="0"/>
                <a:t>popular destinations </a:t>
              </a:r>
              <a:r>
                <a:rPr lang="en-US" altLang="zh-CN" sz="2200" spc="10" dirty="0"/>
                <a:t>for locals and tourists</a:t>
              </a:r>
              <a:r>
                <a:rPr lang="en-US" altLang="zh-CN" sz="2200" dirty="0"/>
                <a:t> </a:t>
              </a:r>
              <a:r>
                <a:rPr lang="en-US" altLang="zh-CN" sz="2200" spc="-50" dirty="0"/>
                <a:t>alike. In Paris, the Champs-Élysées is a </a:t>
              </a:r>
              <a:r>
                <a:rPr lang="en-US" altLang="zh-CN" sz="2200" spc="-50" dirty="0" smtClean="0"/>
                <a:t>renowned outdoor </a:t>
              </a:r>
              <a:r>
                <a:rPr lang="en-US" altLang="zh-CN" sz="2200" spc="-50" dirty="0"/>
                <a:t>shopping</a:t>
              </a:r>
              <a:r>
                <a:rPr lang="en-US" altLang="zh-CN" sz="2200" dirty="0"/>
                <a:t> </a:t>
              </a:r>
              <a:r>
                <a:rPr lang="en-US" altLang="zh-CN" sz="2200" spc="10" dirty="0"/>
                <a:t>street that features luxury shops, cafés, and theaters. In Tokyo,</a:t>
              </a:r>
              <a:r>
                <a:rPr lang="en-US" altLang="zh-CN" sz="2200" dirty="0"/>
                <a:t> </a:t>
              </a:r>
              <a:r>
                <a:rPr lang="en-US" altLang="zh-CN" sz="2200" spc="70" dirty="0" smtClean="0"/>
                <a:t>the bustling </a:t>
              </a:r>
              <a:r>
                <a:rPr lang="en-US" altLang="zh-CN" sz="2200" spc="70" dirty="0"/>
                <a:t>shopping street of Takeshita-</a:t>
              </a:r>
              <a:r>
                <a:rPr lang="en-US" altLang="zh-CN" sz="2200" spc="70" dirty="0" err="1"/>
                <a:t>Dori</a:t>
              </a:r>
              <a:r>
                <a:rPr lang="en-US" altLang="zh-CN" sz="2200" spc="70" dirty="0"/>
                <a:t> is a popular </a:t>
              </a:r>
              <a:r>
                <a:rPr lang="en-US" altLang="zh-CN" sz="2200" spc="-30" dirty="0"/>
                <a:t>destination for </a:t>
              </a:r>
              <a:r>
                <a:rPr lang="en-US" altLang="zh-CN" sz="2200" spc="-30" dirty="0" smtClean="0"/>
                <a:t>fashion-conscious young </a:t>
              </a:r>
              <a:r>
                <a:rPr lang="en-US" altLang="zh-CN" sz="2200" spc="-30" dirty="0"/>
                <a:t>people, while in Istanbul</a:t>
              </a:r>
              <a:r>
                <a:rPr lang="en-US" altLang="zh-CN" sz="2200" dirty="0"/>
                <a:t>, </a:t>
              </a:r>
              <a:r>
                <a:rPr lang="en-US" altLang="zh-CN" sz="2200" spc="10" dirty="0"/>
                <a:t>the Grand Bazaar offers a traditional </a:t>
              </a:r>
              <a:r>
                <a:rPr lang="en-US" altLang="zh-CN" sz="2200" spc="10" dirty="0" smtClean="0"/>
                <a:t>shopping experience </a:t>
              </a:r>
              <a:r>
                <a:rPr lang="en-US" altLang="zh-CN" sz="2200" spc="10" dirty="0"/>
                <a:t>with</a:t>
              </a:r>
              <a:r>
                <a:rPr lang="en-US" altLang="zh-CN" sz="2200" dirty="0"/>
                <a:t> </a:t>
              </a:r>
              <a:r>
                <a:rPr lang="en-US" altLang="zh-CN" sz="2200" spc="-10" dirty="0"/>
                <a:t>vendors selling a variety of goods including textiles, jewelry, and</a:t>
              </a:r>
              <a:r>
                <a:rPr lang="en-US" altLang="zh-CN" sz="2200" dirty="0"/>
                <a:t> </a:t>
              </a:r>
              <a:r>
                <a:rPr lang="en-US" altLang="zh-CN" sz="2200" spc="10" dirty="0" smtClean="0"/>
                <a:t>spices. Other </a:t>
              </a:r>
              <a:r>
                <a:rPr lang="en-US" altLang="zh-CN" sz="2200" spc="10" dirty="0"/>
                <a:t>notable outdoor shopping streets include Oxford</a:t>
              </a:r>
              <a:r>
                <a:rPr lang="en-US" altLang="zh-CN" sz="2200" dirty="0"/>
                <a:t> Street in London, Nanjing </a:t>
              </a:r>
              <a:r>
                <a:rPr lang="en-US" altLang="zh-CN" sz="2200" dirty="0" smtClean="0"/>
                <a:t>Road in </a:t>
              </a:r>
              <a:r>
                <a:rPr lang="en-US" altLang="zh-CN" sz="2200" dirty="0"/>
                <a:t>Shanghai, Michigan Avenue </a:t>
              </a:r>
              <a:r>
                <a:rPr lang="en-US" altLang="zh-CN" sz="2200" spc="10" dirty="0"/>
                <a:t>in Chicago, and Orchard Road in Singapore. These </a:t>
              </a:r>
              <a:r>
                <a:rPr lang="en-US" altLang="zh-CN" sz="2200" spc="10" dirty="0" smtClean="0"/>
                <a:t>streets offer</a:t>
              </a:r>
              <a:r>
                <a:rPr lang="en-US" altLang="zh-CN" sz="2200" dirty="0" smtClean="0"/>
                <a:t> </a:t>
              </a:r>
              <a:r>
                <a:rPr lang="en-US" altLang="zh-CN" sz="2200" spc="20" dirty="0"/>
                <a:t>a unique shopping experience, with a blend of high-end stores,</a:t>
              </a:r>
              <a:r>
                <a:rPr lang="en-US" altLang="zh-CN" sz="2200" dirty="0"/>
                <a:t> local </a:t>
              </a:r>
              <a:r>
                <a:rPr lang="en-US" altLang="zh-CN" sz="2200" dirty="0" smtClean="0"/>
                <a:t>boutiques, and </a:t>
              </a:r>
              <a:r>
                <a:rPr lang="en-US" altLang="zh-CN" sz="2200" dirty="0"/>
                <a:t>street vendors selling a variety of goods.</a:t>
              </a:r>
              <a:endParaRPr lang="en-US" altLang="zh-CN" sz="2200" b="1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D496D3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1144</Words>
  <Application>WPS 演示</Application>
  <PresentationFormat>全屏显示(4:3)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Part I Warm Up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135</cp:revision>
  <dcterms:created xsi:type="dcterms:W3CDTF">2017-12-23T09:29:00Z</dcterms:created>
  <dcterms:modified xsi:type="dcterms:W3CDTF">2024-08-27T06:03:54Z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C3C6D3B1E1D740E59A06907AED93C65B_13</vt:lpwstr>
  </property>
  <property fmtid="{D5CDD505-2E9C-101B-9397-08002B2CF9AE}" pid="3" name="KSOProductBuildVer">
    <vt:lpwstr>2052-12.1.0.17857</vt:lpwstr>
  </property>
</Properties>
</file>