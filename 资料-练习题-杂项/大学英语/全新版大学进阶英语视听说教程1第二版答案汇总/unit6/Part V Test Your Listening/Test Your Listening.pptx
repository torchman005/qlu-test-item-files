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62" r:id="rId5"/>
  </p:sldIdLst>
  <p:sldSz cx="9144000" cy="6858000" type="screen4x3"/>
  <p:notesSz cx="6858000" cy="9144000"/>
  <p:embeddedFontLst>
    <p:embeddedFont>
      <p:font typeface="等线" panose="02010600030101010101" pitchFamily="2" charset="-122"/>
      <p:regular r:id="rId10"/>
    </p:embeddedFon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672"/>
    <a:srgbClr val="AF88B6"/>
    <a:srgbClr val="FFDD33"/>
    <a:srgbClr val="FFFFFF"/>
    <a:srgbClr val="3C153B"/>
    <a:srgbClr val="9D6BA5"/>
    <a:srgbClr val="B35DB1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 autoAdjust="0"/>
    <p:restoredTop sz="93686" autoAdjust="0"/>
  </p:normalViewPr>
  <p:slideViewPr>
    <p:cSldViewPr showGuides="1">
      <p:cViewPr varScale="1">
        <p:scale>
          <a:sx n="100" d="100"/>
          <a:sy n="100" d="100"/>
        </p:scale>
        <p:origin x="100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20" Type="http://schemas.openxmlformats.org/officeDocument/2006/relationships/font" Target="fonts/font11.fntdata"/><Relationship Id="rId2" Type="http://schemas.openxmlformats.org/officeDocument/2006/relationships/theme" Target="theme/theme1.xml"/><Relationship Id="rId19" Type="http://schemas.openxmlformats.org/officeDocument/2006/relationships/font" Target="fonts/font10.fntdata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328086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V </a:t>
            </a:r>
            <a:r>
              <a:rPr lang="en-US" altLang="zh-CN" sz="2000" b="1" i="0" u="none" strike="noStrike" kern="1200" baseline="0" dirty="0">
                <a:solidFill>
                  <a:srgbClr val="515672"/>
                </a:solidFill>
                <a:latin typeface="+mj-lt"/>
                <a:ea typeface="+mn-ea"/>
                <a:cs typeface="+mn-cs"/>
              </a:rPr>
              <a:t>Test Your Listening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emf"/><Relationship Id="rId8" Type="http://schemas.openxmlformats.org/officeDocument/2006/relationships/hyperlink" Target="U6_Script1.mp3" TargetMode="External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Relationship Id="rId3" Type="http://schemas.openxmlformats.org/officeDocument/2006/relationships/hyperlink" Target="Script1.pptx" TargetMode="External"/><Relationship Id="rId2" Type="http://schemas.openxmlformats.org/officeDocument/2006/relationships/slide" Target="slide1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8.png"/><Relationship Id="rId11" Type="http://schemas.microsoft.com/office/2007/relationships/media" Target="../media/media1.mp3"/><Relationship Id="rId10" Type="http://schemas.openxmlformats.org/officeDocument/2006/relationships/audio" Target="../media/media1.mp3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emf"/><Relationship Id="rId8" Type="http://schemas.openxmlformats.org/officeDocument/2006/relationships/hyperlink" Target="U6_Script2.mp3" TargetMode="External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Relationship Id="rId3" Type="http://schemas.openxmlformats.org/officeDocument/2006/relationships/hyperlink" Target="Script2.pptx" TargetMode="External"/><Relationship Id="rId2" Type="http://schemas.openxmlformats.org/officeDocument/2006/relationships/slide" Target="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8.png"/><Relationship Id="rId11" Type="http://schemas.microsoft.com/office/2007/relationships/media" Target="../media/media2.mp3"/><Relationship Id="rId10" Type="http://schemas.openxmlformats.org/officeDocument/2006/relationships/audio" Target="../media/media2.mp3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326366" y="1126172"/>
            <a:ext cx="85668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60" dirty="0">
                <a:latin typeface="+mj-lt"/>
              </a:rPr>
              <a:t>Directions: </a:t>
            </a:r>
            <a:r>
              <a:rPr lang="en-US" altLang="zh-CN" sz="2000" i="1" spc="-60" dirty="0">
                <a:latin typeface="+mj-lt"/>
              </a:rPr>
              <a:t>In this section, you will hear a long conversation. At the end of the conversation</a:t>
            </a:r>
            <a:r>
              <a:rPr lang="en-US" altLang="zh-CN" sz="2000" i="1" spc="-50" dirty="0">
                <a:latin typeface="+mj-lt"/>
              </a:rPr>
              <a:t>,</a:t>
            </a:r>
            <a:r>
              <a:rPr lang="en-US" altLang="zh-CN" sz="2000" i="1" dirty="0">
                <a:latin typeface="+mj-lt"/>
              </a:rPr>
              <a:t> </a:t>
            </a:r>
            <a:r>
              <a:rPr lang="en-US" altLang="zh-CN" sz="2000" i="1" spc="10" dirty="0">
                <a:latin typeface="+mj-lt"/>
              </a:rPr>
              <a:t>you will hear four questions. Both the conversation and the questions will be spoken</a:t>
            </a:r>
            <a:r>
              <a:rPr lang="en-US" altLang="zh-CN" sz="2000" i="1" dirty="0">
                <a:latin typeface="+mj-lt"/>
              </a:rPr>
              <a:t> only once. After you hear a question, choose the best answer.</a:t>
            </a:r>
            <a:endParaRPr lang="zh-CN" altLang="en-US" sz="2000" dirty="0">
              <a:latin typeface="+mj-lt"/>
            </a:endParaRPr>
          </a:p>
          <a:p>
            <a:pPr algn="just"/>
            <a:endParaRPr lang="zh-CN" altLang="en-US" sz="2000" dirty="0">
              <a:latin typeface="+mj-lt"/>
            </a:endParaRPr>
          </a:p>
        </p:txBody>
      </p:sp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A Long Conversation   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Section B Passage</a:t>
            </a:r>
            <a:endParaRPr lang="en-US" altLang="zh-CN" sz="1600" b="0" i="0" u="none" strike="noStrike" baseline="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4" name="btn-Part 1">
            <a:hlinkClick r:id="rId1" action="ppaction://hlinksldjump"/>
          </p:cNvPr>
          <p:cNvSpPr/>
          <p:nvPr/>
        </p:nvSpPr>
        <p:spPr>
          <a:xfrm>
            <a:off x="2843808" y="514772"/>
            <a:ext cx="254984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btn-Part 1">
            <a:hlinkClick r:id="rId2" action="ppaction://hlinksldjump"/>
          </p:cNvPr>
          <p:cNvSpPr/>
          <p:nvPr/>
        </p:nvSpPr>
        <p:spPr>
          <a:xfrm>
            <a:off x="117028" y="528464"/>
            <a:ext cx="2366739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7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8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3850" y="2398812"/>
            <a:ext cx="7154523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spcBef>
                <a:spcPts val="480"/>
              </a:spcBef>
            </a:pPr>
            <a:r>
              <a:rPr lang="en-US" altLang="zh-CN" sz="2000" b="1" dirty="0">
                <a:latin typeface="+mj-lt"/>
              </a:rPr>
              <a:t>Questions 1 to 4 are based on the conversation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1. </a:t>
            </a: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2.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3.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4. 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4471417" y="2398812"/>
            <a:ext cx="3727302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B. The logo.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The color.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60 dollars.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100 dollars.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Used clothes of famous brands.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End-of-season clothes on discount.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Shopping for fashion.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Shopping at specialty stores.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592510" y="2398812"/>
            <a:ext cx="3305713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A. The style.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The brand.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40 dollars.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94 dollars.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Only new clothes in season.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Clothes coming in bigger sizes.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Getting a discount.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Looking for good deals.</a:t>
            </a:r>
            <a:endParaRPr lang="zh-CN" altLang="en-US" sz="2000" dirty="0"/>
          </a:p>
        </p:txBody>
      </p:sp>
      <p:sp>
        <p:nvSpPr>
          <p:cNvPr id="18" name="同心圆 17"/>
          <p:cNvSpPr/>
          <p:nvPr/>
        </p:nvSpPr>
        <p:spPr>
          <a:xfrm>
            <a:off x="4410441" y="3043959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热区"/>
          <p:cNvSpPr/>
          <p:nvPr/>
        </p:nvSpPr>
        <p:spPr>
          <a:xfrm>
            <a:off x="374004" y="2822046"/>
            <a:ext cx="5422132" cy="5974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同心圆 30"/>
          <p:cNvSpPr/>
          <p:nvPr/>
        </p:nvSpPr>
        <p:spPr>
          <a:xfrm>
            <a:off x="518543" y="3501008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热区"/>
          <p:cNvSpPr/>
          <p:nvPr/>
        </p:nvSpPr>
        <p:spPr>
          <a:xfrm>
            <a:off x="374004" y="3654549"/>
            <a:ext cx="5566148" cy="5974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同心圆 32"/>
          <p:cNvSpPr/>
          <p:nvPr/>
        </p:nvSpPr>
        <p:spPr>
          <a:xfrm>
            <a:off x="4410441" y="4704135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热区"/>
          <p:cNvSpPr/>
          <p:nvPr/>
        </p:nvSpPr>
        <p:spPr>
          <a:xfrm>
            <a:off x="374003" y="4482222"/>
            <a:ext cx="7824715" cy="5974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同心圆 56"/>
          <p:cNvSpPr/>
          <p:nvPr/>
        </p:nvSpPr>
        <p:spPr>
          <a:xfrm>
            <a:off x="4410441" y="5539656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" name="热区"/>
          <p:cNvSpPr/>
          <p:nvPr/>
        </p:nvSpPr>
        <p:spPr>
          <a:xfrm>
            <a:off x="374003" y="5317743"/>
            <a:ext cx="7165345" cy="5974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U6_Script1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776911" y="1969763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3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8" grpId="0" animBg="1"/>
      <p:bldP spid="31" grpId="0" animBg="1"/>
      <p:bldP spid="33" grpId="0" animBg="1"/>
      <p:bldP spid="5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AF88B6"/>
                </a:solidFill>
                <a:latin typeface="+mj-lt"/>
              </a:rPr>
              <a:t>Section A Long Conversation</a:t>
            </a:r>
            <a:r>
              <a:rPr lang="en-US" altLang="zh-CN" sz="1600" b="1" dirty="0">
                <a:solidFill>
                  <a:schemeClr val="tx1"/>
                </a:solidFill>
                <a:latin typeface="+mj-lt"/>
              </a:rPr>
              <a:t>    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B Passage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grpSp>
        <p:nvGrpSpPr>
          <p:cNvPr id="3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btn-Part 1">
            <a:hlinkClick r:id="rId1" action="ppaction://hlinksldjump"/>
          </p:cNvPr>
          <p:cNvSpPr/>
          <p:nvPr/>
        </p:nvSpPr>
        <p:spPr>
          <a:xfrm>
            <a:off x="2767608" y="518939"/>
            <a:ext cx="151636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btn-Part 1">
            <a:hlinkClick r:id="rId2" action="ppaction://hlinksldjump"/>
          </p:cNvPr>
          <p:cNvSpPr/>
          <p:nvPr/>
        </p:nvSpPr>
        <p:spPr>
          <a:xfrm>
            <a:off x="121636" y="499889"/>
            <a:ext cx="2290123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2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3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326366" y="1126172"/>
            <a:ext cx="85668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10" dirty="0">
                <a:latin typeface="+mj-lt"/>
              </a:rPr>
              <a:t>Directions: </a:t>
            </a:r>
            <a:r>
              <a:rPr lang="en-US" altLang="zh-CN" sz="2000" i="1" spc="-10" dirty="0">
                <a:latin typeface="+mj-lt"/>
              </a:rPr>
              <a:t>In this section, you will hear a passage. At the end of the passage, you will</a:t>
            </a:r>
            <a:r>
              <a:rPr lang="en-US" altLang="zh-CN" sz="2000" i="1" dirty="0">
                <a:latin typeface="+mj-lt"/>
              </a:rPr>
              <a:t> hear three or four questions. Both the passage and the questions will be spoken only once. After you hear a question, choose the best answer.</a:t>
            </a:r>
            <a:endParaRPr lang="zh-CN" altLang="en-US" sz="2000" dirty="0">
              <a:latin typeface="+mj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23850" y="2398812"/>
            <a:ext cx="667522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b="1" dirty="0">
                <a:latin typeface="+mj-lt"/>
              </a:rPr>
              <a:t>Questions 5 to 7 are based on the passage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5. </a:t>
            </a: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6.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7. </a:t>
            </a:r>
            <a:endParaRPr lang="en-US" altLang="zh-CN" sz="2000" dirty="0"/>
          </a:p>
        </p:txBody>
      </p:sp>
      <p:sp>
        <p:nvSpPr>
          <p:cNvPr id="49" name="文本框 48"/>
          <p:cNvSpPr txBox="1"/>
          <p:nvPr/>
        </p:nvSpPr>
        <p:spPr>
          <a:xfrm>
            <a:off x="592510" y="2398812"/>
            <a:ext cx="6024406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r>
              <a:rPr lang="en-US" altLang="zh-CN" sz="2000" dirty="0"/>
              <a:t>A. More than 5 trillion yuan.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More than 30 trillion yuan.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Business innovation.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400,000 middle-class people.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Increased taxes on goods from abroad.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Increased taxes on local products.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Reduced transportation costs for cross-border e-commerce.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Set up favorable regulations for cross-border e-commerce.</a:t>
            </a:r>
            <a:endParaRPr lang="zh-CN" altLang="en-US" sz="2000" dirty="0"/>
          </a:p>
        </p:txBody>
      </p:sp>
      <p:sp>
        <p:nvSpPr>
          <p:cNvPr id="48" name="文本框 47"/>
          <p:cNvSpPr txBox="1"/>
          <p:nvPr/>
        </p:nvSpPr>
        <p:spPr>
          <a:xfrm>
            <a:off x="4471417" y="2398812"/>
            <a:ext cx="346601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r>
              <a:rPr lang="en-US" altLang="zh-CN" sz="2000" dirty="0"/>
              <a:t>B. More than 28 trillion yuan.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More than 34 trillion yuan.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A large consumer base.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Leading e-commerce platforms.</a:t>
            </a:r>
            <a:endParaRPr lang="zh-CN" altLang="en-US" sz="2000" dirty="0"/>
          </a:p>
        </p:txBody>
      </p:sp>
      <p:sp>
        <p:nvSpPr>
          <p:cNvPr id="29" name="同心圆 28"/>
          <p:cNvSpPr/>
          <p:nvPr/>
        </p:nvSpPr>
        <p:spPr>
          <a:xfrm>
            <a:off x="4410441" y="3034434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热区"/>
          <p:cNvSpPr/>
          <p:nvPr/>
        </p:nvSpPr>
        <p:spPr>
          <a:xfrm>
            <a:off x="374003" y="2812521"/>
            <a:ext cx="7123813" cy="5974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同心圆 57"/>
          <p:cNvSpPr/>
          <p:nvPr/>
        </p:nvSpPr>
        <p:spPr>
          <a:xfrm>
            <a:off x="4410441" y="3491483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9" name="热区"/>
          <p:cNvSpPr/>
          <p:nvPr/>
        </p:nvSpPr>
        <p:spPr>
          <a:xfrm>
            <a:off x="374003" y="3646701"/>
            <a:ext cx="7501419" cy="5974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同心圆 61"/>
          <p:cNvSpPr/>
          <p:nvPr/>
        </p:nvSpPr>
        <p:spPr>
          <a:xfrm>
            <a:off x="518543" y="5464274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3" name="热区"/>
          <p:cNvSpPr/>
          <p:nvPr/>
        </p:nvSpPr>
        <p:spPr>
          <a:xfrm>
            <a:off x="374003" y="4472697"/>
            <a:ext cx="6142213" cy="14045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U6_Script2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890096" y="1969763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0"/>
                </p:tgtEl>
              </p:cMediaNode>
            </p:audi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25" dur="1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35" dur="1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29" grpId="0" animBg="1"/>
      <p:bldP spid="58" grpId="0" animBg="1"/>
      <p:bldP spid="62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1504</Words>
  <Application>WPS 演示</Application>
  <PresentationFormat>全屏显示(4:3)</PresentationFormat>
  <Paragraphs>58</Paragraphs>
  <Slides>2</Slides>
  <Notes>1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等线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219</cp:revision>
  <dcterms:created xsi:type="dcterms:W3CDTF">2017-12-23T09:29:00Z</dcterms:created>
  <dcterms:modified xsi:type="dcterms:W3CDTF">2024-08-27T06:11:38Z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97AF735D53674171AF84B21D93322E52_13</vt:lpwstr>
  </property>
  <property fmtid="{D5CDD505-2E9C-101B-9397-08002B2CF9AE}" pid="3" name="KSOProductBuildVer">
    <vt:lpwstr>2052-12.1.0.17857</vt:lpwstr>
  </property>
</Properties>
</file>