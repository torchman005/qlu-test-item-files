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3"/>
    <p:sldId id="261" r:id="rId4"/>
    <p:sldId id="262" r:id="rId5"/>
  </p:sldIdLst>
  <p:sldSz cx="9144000" cy="6858000" type="screen4x3"/>
  <p:notesSz cx="6858000" cy="9144000"/>
  <p:embeddedFontLst>
    <p:embeddedFont>
      <p:font typeface="Neuton" panose="00000500000000000000" charset="0"/>
      <p:regular r:id="rId11"/>
      <p:bold r:id="rId12"/>
      <p:italic r:id="rId13"/>
    </p:embeddedFont>
    <p:embeddedFont>
      <p:font typeface="Roboto Condensed" panose="02000000000000000000" charset="0"/>
      <p:regular r:id="rId14"/>
      <p:bold r:id="rId15"/>
      <p:italic r:id="rId16"/>
    </p:embeddedFont>
    <p:embeddedFont>
      <p:font typeface="微软雅黑" panose="020B0503020204020204" charset="-122"/>
      <p:regular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</p:showPr>
  <p:clrMru>
    <a:srgbClr val="515672"/>
    <a:srgbClr val="FFDD33"/>
    <a:srgbClr val="FFFFFF"/>
    <a:srgbClr val="3C153B"/>
    <a:srgbClr val="AF88B6"/>
    <a:srgbClr val="9D6BA5"/>
    <a:srgbClr val="B35DB1"/>
    <a:srgbClr val="CB8B02"/>
    <a:srgbClr val="F3B700"/>
    <a:srgbClr val="F3F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6" autoAdjust="0"/>
    <p:restoredTop sz="93686" autoAdjust="0"/>
  </p:normalViewPr>
  <p:slideViewPr>
    <p:cSldViewPr showGuides="1">
      <p:cViewPr varScale="1">
        <p:scale>
          <a:sx n="100" d="100"/>
          <a:sy n="100" d="100"/>
        </p:scale>
        <p:origin x="22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844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font" Target="fonts/font11.fntdata"/><Relationship Id="rId20" Type="http://schemas.openxmlformats.org/officeDocument/2006/relationships/font" Target="fonts/font10.fntdata"/><Relationship Id="rId2" Type="http://schemas.openxmlformats.org/officeDocument/2006/relationships/theme" Target="theme/theme1.xml"/><Relationship Id="rId19" Type="http://schemas.openxmlformats.org/officeDocument/2006/relationships/font" Target="fonts/font9.fntdata"/><Relationship Id="rId18" Type="http://schemas.openxmlformats.org/officeDocument/2006/relationships/font" Target="fonts/font8.fntdata"/><Relationship Id="rId17" Type="http://schemas.openxmlformats.org/officeDocument/2006/relationships/font" Target="fonts/font7.fntdata"/><Relationship Id="rId16" Type="http://schemas.openxmlformats.org/officeDocument/2006/relationships/font" Target="fonts/font6.fntdata"/><Relationship Id="rId15" Type="http://schemas.openxmlformats.org/officeDocument/2006/relationships/font" Target="fonts/font5.fntdata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A6FA5-9299-4CE1-A327-CB3C60321A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14E66-D570-4D12-8DDD-93D4BD4AE2F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31D2C-B22C-4903-8B3C-903F91599D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翻页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340768"/>
            <a:ext cx="8569325" cy="482508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1" name="标题 1"/>
          <p:cNvSpPr txBox="1"/>
          <p:nvPr userDrawn="1"/>
        </p:nvSpPr>
        <p:spPr>
          <a:xfrm>
            <a:off x="179512" y="0"/>
            <a:ext cx="2995488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IV Expansion Activity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dir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2995488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IV Expansion Activity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.xml"/><Relationship Id="rId1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3.xml"/><Relationship Id="rId2" Type="http://schemas.openxmlformats.org/officeDocument/2006/relationships/image" Target="../media/image3.jpeg"/><Relationship Id="rId1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Sell a product        </a:t>
            </a:r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Project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323850" y="1785926"/>
            <a:ext cx="8569325" cy="1000132"/>
          </a:xfrm>
        </p:spPr>
        <p:txBody>
          <a:bodyPr>
            <a:normAutofit lnSpcReduction="10000"/>
          </a:bodyPr>
          <a:lstStyle/>
          <a:p>
            <a:r>
              <a:rPr lang="en-US" altLang="zh-CN" b="1" dirty="0" smtClean="0"/>
              <a:t>A. Choose something to sell. </a:t>
            </a:r>
            <a:r>
              <a:rPr lang="en-US" altLang="zh-CN" dirty="0" smtClean="0"/>
              <a:t>Work with a partner. You work in a large shopping mall. You want people to come into your store and buy things. Think of something to sell. Give it a price.</a:t>
            </a:r>
            <a:endParaRPr lang="zh-CN" altLang="en-US" dirty="0"/>
          </a:p>
        </p:txBody>
      </p:sp>
      <p:sp>
        <p:nvSpPr>
          <p:cNvPr id="21" name="btn-Part 1">
            <a:hlinkClick r:id="rId1" action="ppaction://hlinksldjump"/>
          </p:cNvPr>
          <p:cNvSpPr/>
          <p:nvPr/>
        </p:nvSpPr>
        <p:spPr>
          <a:xfrm>
            <a:off x="1571604" y="482615"/>
            <a:ext cx="696684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357158" y="4149874"/>
            <a:ext cx="864399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latin typeface="+mj-lt"/>
              </a:rPr>
              <a:t>B. Make a poster to sell your item. </a:t>
            </a:r>
            <a:r>
              <a:rPr lang="en-US" altLang="zh-CN" sz="2000" dirty="0" smtClean="0">
                <a:latin typeface="+mj-lt"/>
              </a:rPr>
              <a:t>In your poster, use techniques from </a:t>
            </a:r>
            <a:r>
              <a:rPr lang="en-US" altLang="zh-CN" sz="2000" b="1" dirty="0" smtClean="0">
                <a:latin typeface="+mj-lt"/>
              </a:rPr>
              <a:t>Lesson B. </a:t>
            </a:r>
            <a:r>
              <a:rPr lang="en-US" altLang="zh-CN" sz="2000" dirty="0" smtClean="0">
                <a:latin typeface="+mj-lt"/>
              </a:rPr>
              <a:t>You can also use photos, music, and coupons to sell your item.</a:t>
            </a:r>
            <a:endParaRPr lang="zh-CN" altLang="en-US" sz="2000" dirty="0" smtClean="0">
              <a:latin typeface="+mj-lt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28596" y="1000108"/>
            <a:ext cx="83582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smtClean="0"/>
              <a:t>You are going to sell something to your classmates.</a:t>
            </a:r>
            <a:endParaRPr lang="zh-CN" altLang="en-US" sz="2800" b="1" dirty="0"/>
          </a:p>
        </p:txBody>
      </p:sp>
      <p:sp>
        <p:nvSpPr>
          <p:cNvPr id="25" name="圆角矩形 24"/>
          <p:cNvSpPr/>
          <p:nvPr/>
        </p:nvSpPr>
        <p:spPr>
          <a:xfrm>
            <a:off x="428596" y="2857496"/>
            <a:ext cx="8001056" cy="500066"/>
          </a:xfrm>
          <a:prstGeom prst="roundRect">
            <a:avLst>
              <a:gd name="adj" fmla="val 2684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 smtClean="0">
                <a:solidFill>
                  <a:schemeClr val="tx1"/>
                </a:solidFill>
              </a:rPr>
              <a:t>Item _______________                                   Price _________________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56400" y="5292882"/>
            <a:ext cx="85733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latin typeface="+mj-lt"/>
              </a:rPr>
              <a:t>C. Prepare your store. </a:t>
            </a:r>
            <a:r>
              <a:rPr lang="en-US" altLang="zh-CN" sz="2000" dirty="0" smtClean="0">
                <a:latin typeface="+mj-lt"/>
              </a:rPr>
              <a:t>Put your poster on the wall. Put the product you are selling on a desk.</a:t>
            </a:r>
            <a:endParaRPr lang="zh-CN" altLang="en-US" sz="2000" dirty="0" smtClean="0">
              <a:latin typeface="+mj-lt"/>
            </a:endParaRPr>
          </a:p>
        </p:txBody>
      </p:sp>
      <p:sp>
        <p:nvSpPr>
          <p:cNvPr id="19" name="btn-Part 1">
            <a:hlinkClick r:id="rId2" action="ppaction://hlinksldjump"/>
          </p:cNvPr>
          <p:cNvSpPr/>
          <p:nvPr/>
        </p:nvSpPr>
        <p:spPr>
          <a:xfrm>
            <a:off x="0" y="500042"/>
            <a:ext cx="1285852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Sell a product        </a:t>
            </a:r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Project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357158" y="3839388"/>
            <a:ext cx="8569325" cy="446868"/>
          </a:xfrm>
        </p:spPr>
        <p:txBody>
          <a:bodyPr>
            <a:normAutofit/>
          </a:bodyPr>
          <a:lstStyle/>
          <a:p>
            <a:r>
              <a:rPr lang="en-US" altLang="zh-CN" b="1" dirty="0" smtClean="0"/>
              <a:t>E. Choose the most successful store. </a:t>
            </a:r>
            <a:r>
              <a:rPr lang="en-US" altLang="zh-CN" dirty="0" smtClean="0"/>
              <a:t>Which store sold the most items?</a:t>
            </a:r>
            <a:endParaRPr lang="en-US" altLang="zh-CN" dirty="0" smtClean="0"/>
          </a:p>
        </p:txBody>
      </p:sp>
      <p:grpSp>
        <p:nvGrpSpPr>
          <p:cNvPr id="21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2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2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2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btn-Part 1">
            <a:hlinkClick r:id="rId1" action="ppaction://hlinksldjump"/>
          </p:cNvPr>
          <p:cNvSpPr/>
          <p:nvPr/>
        </p:nvSpPr>
        <p:spPr>
          <a:xfrm>
            <a:off x="1589300" y="482615"/>
            <a:ext cx="696684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357158" y="1071546"/>
            <a:ext cx="8569325" cy="428628"/>
          </a:xfrm>
        </p:spPr>
        <p:txBody>
          <a:bodyPr>
            <a:normAutofit/>
          </a:bodyPr>
          <a:lstStyle/>
          <a:p>
            <a:r>
              <a:rPr lang="en-US" altLang="zh-CN" b="1" dirty="0" smtClean="0"/>
              <a:t>D. Divide the class into shoppers and store clerks.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20" name="矩形 19"/>
          <p:cNvSpPr/>
          <p:nvPr/>
        </p:nvSpPr>
        <p:spPr>
          <a:xfrm>
            <a:off x="642910" y="1573588"/>
            <a:ext cx="8143932" cy="1646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400" b="1" dirty="0" smtClean="0"/>
              <a:t>Shoppers: </a:t>
            </a:r>
            <a:r>
              <a:rPr lang="en-US" altLang="zh-CN" sz="2400" dirty="0" smtClean="0"/>
              <a:t>You have $200 to spend. Visit the different stores. Buy things with your money. </a:t>
            </a:r>
            <a:endParaRPr lang="en-US" altLang="zh-CN" sz="2400" dirty="0" smtClean="0"/>
          </a:p>
          <a:p>
            <a:pPr>
              <a:spcAft>
                <a:spcPts val="600"/>
              </a:spcAft>
            </a:pPr>
            <a:r>
              <a:rPr lang="en-US" altLang="zh-CN" sz="2400" b="1" dirty="0" smtClean="0"/>
              <a:t>Store clerks: </a:t>
            </a:r>
            <a:r>
              <a:rPr lang="en-US" altLang="zh-CN" sz="2400" dirty="0" smtClean="0"/>
              <a:t>You want to sell a lot. When you sell an item, write the item’s name and price on a small piece of paper. Give it to the shopper.</a:t>
            </a:r>
            <a:endParaRPr lang="en-US" altLang="zh-CN" sz="2400" dirty="0" smtClean="0"/>
          </a:p>
        </p:txBody>
      </p:sp>
      <p:sp>
        <p:nvSpPr>
          <p:cNvPr id="34" name="矩形 33"/>
          <p:cNvSpPr/>
          <p:nvPr/>
        </p:nvSpPr>
        <p:spPr>
          <a:xfrm>
            <a:off x="642910" y="4324657"/>
            <a:ext cx="72152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/>
              <a:t>Which store made the most money?</a:t>
            </a:r>
            <a:endParaRPr lang="en-US" altLang="zh-CN" sz="2400" dirty="0" smtClean="0"/>
          </a:p>
        </p:txBody>
      </p:sp>
      <p:sp>
        <p:nvSpPr>
          <p:cNvPr id="31" name="btn-Part 1">
            <a:hlinkClick r:id="rId2" action="ppaction://hlinksldjump"/>
          </p:cNvPr>
          <p:cNvSpPr/>
          <p:nvPr/>
        </p:nvSpPr>
        <p:spPr>
          <a:xfrm>
            <a:off x="63500" y="482615"/>
            <a:ext cx="1222352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Sell a product        </a:t>
            </a:r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Project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323850" y="1124743"/>
            <a:ext cx="8569325" cy="1447001"/>
          </a:xfrm>
        </p:spPr>
        <p:txBody>
          <a:bodyPr>
            <a:noAutofit/>
          </a:bodyPr>
          <a:lstStyle/>
          <a:p>
            <a:r>
              <a:rPr lang="en-US" altLang="zh-CN" b="1" dirty="0" smtClean="0"/>
              <a:t>Make a TV ad. </a:t>
            </a:r>
            <a:r>
              <a:rPr lang="en-US" altLang="zh-CN" dirty="0" smtClean="0"/>
              <a:t>Record a video to make an ad for the shop you prepared in </a:t>
            </a:r>
            <a:r>
              <a:rPr lang="en-US" altLang="zh-CN" b="1" dirty="0" smtClean="0"/>
              <a:t>Expansion Activity. </a:t>
            </a:r>
            <a:r>
              <a:rPr lang="en-US" altLang="zh-CN" dirty="0" smtClean="0"/>
              <a:t>Use photos and/or music in your ad. Show the video to a friend to get feedback. Then make any changes and put the ad on an online video</a:t>
            </a:r>
            <a:endParaRPr lang="en-US" altLang="zh-CN" dirty="0" smtClean="0"/>
          </a:p>
          <a:p>
            <a:r>
              <a:rPr lang="en-US" altLang="zh-CN" dirty="0" smtClean="0"/>
              <a:t>hosting site or show it to the class.</a:t>
            </a:r>
            <a:endParaRPr lang="zh-CN" altLang="en-US" dirty="0"/>
          </a:p>
        </p:txBody>
      </p:sp>
      <p:grpSp>
        <p:nvGrpSpPr>
          <p:cNvPr id="35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36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1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4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btn-Part 1">
            <a:hlinkClick r:id="rId1" action="ppaction://hlinksldjump"/>
          </p:cNvPr>
          <p:cNvSpPr/>
          <p:nvPr/>
        </p:nvSpPr>
        <p:spPr>
          <a:xfrm>
            <a:off x="63500" y="482615"/>
            <a:ext cx="1222352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 descr="Unit 6_Expansion Activity_P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57356" y="3000372"/>
            <a:ext cx="4716959" cy="2714644"/>
          </a:xfrm>
          <a:prstGeom prst="rect">
            <a:avLst/>
          </a:prstGeom>
        </p:spPr>
      </p:pic>
      <p:sp>
        <p:nvSpPr>
          <p:cNvPr id="17" name="btn-Part 1">
            <a:hlinkClick r:id="rId3" action="ppaction://hlinksldjump"/>
          </p:cNvPr>
          <p:cNvSpPr/>
          <p:nvPr/>
        </p:nvSpPr>
        <p:spPr>
          <a:xfrm>
            <a:off x="1589300" y="482615"/>
            <a:ext cx="696684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ZWNhNzhjZGJkMzMzZjhhNWJmN2E2YWM2ZDMyYWYwN2YifQ=="/>
</p:tagLst>
</file>

<file path=ppt/theme/theme1.xml><?xml version="1.0" encoding="utf-8"?>
<a:theme xmlns:a="http://schemas.openxmlformats.org/drawingml/2006/main" name="Office 主题">
  <a:themeElements>
    <a:clrScheme name="进阶视听说">
      <a:dk1>
        <a:sysClr val="windowText" lastClr="000000"/>
      </a:dk1>
      <a:lt1>
        <a:sysClr val="window" lastClr="FFFFFF"/>
      </a:lt1>
      <a:dk2>
        <a:srgbClr val="582957"/>
      </a:dk2>
      <a:lt2>
        <a:srgbClr val="EEECE1"/>
      </a:lt2>
      <a:accent1>
        <a:srgbClr val="4F81BD"/>
      </a:accent1>
      <a:accent2>
        <a:srgbClr val="C0504D"/>
      </a:accent2>
      <a:accent3>
        <a:srgbClr val="88BB16"/>
      </a:accent3>
      <a:accent4>
        <a:srgbClr val="AF88B6"/>
      </a:accent4>
      <a:accent5>
        <a:srgbClr val="4BACC6"/>
      </a:accent5>
      <a:accent6>
        <a:srgbClr val="FEE200"/>
      </a:accent6>
      <a:hlink>
        <a:srgbClr val="0000FF"/>
      </a:hlink>
      <a:folHlink>
        <a:srgbClr val="800080"/>
      </a:folHlink>
    </a:clrScheme>
    <a:fontScheme name="进阶试听说">
      <a:majorFont>
        <a:latin typeface="Roboto Condensed"/>
        <a:ea typeface="微软雅黑"/>
        <a:cs typeface=""/>
      </a:majorFont>
      <a:minorFont>
        <a:latin typeface="Neuto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1288</Words>
  <Application>WPS 演示</Application>
  <PresentationFormat>全屏显示(4:3)</PresentationFormat>
  <Paragraphs>33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Neuton</vt:lpstr>
      <vt:lpstr>Roboto Condensed</vt:lpstr>
      <vt:lpstr>微软雅黑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</vt:vector>
  </TitlesOfParts>
  <Company>cmet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old9</dc:creator>
  <cp:lastModifiedBy>别急躁</cp:lastModifiedBy>
  <cp:revision>213</cp:revision>
  <dcterms:created xsi:type="dcterms:W3CDTF">2017-12-23T09:29:00Z</dcterms:created>
  <dcterms:modified xsi:type="dcterms:W3CDTF">2024-08-27T06:10:52Z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9F5520F1BC534D17BBA9F203EA9A6009_13</vt:lpwstr>
  </property>
  <property fmtid="{D5CDD505-2E9C-101B-9397-08002B2CF9AE}" pid="3" name="KSOProductBuildVer">
    <vt:lpwstr>2052-12.1.0.17857</vt:lpwstr>
  </property>
</Properties>
</file>