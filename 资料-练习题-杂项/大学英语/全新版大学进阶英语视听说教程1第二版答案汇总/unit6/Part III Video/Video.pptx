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9" r:id="rId6"/>
    <p:sldId id="261" r:id="rId7"/>
    <p:sldId id="262" r:id="rId8"/>
    <p:sldId id="265" r:id="rId9"/>
    <p:sldId id="264" r:id="rId10"/>
    <p:sldId id="266" r:id="rId11"/>
  </p:sldIdLst>
  <p:sldSz cx="9144000" cy="6858000" type="screen4x3"/>
  <p:notesSz cx="6858000" cy="9144000"/>
  <p:embeddedFontLst>
    <p:embeddedFont>
      <p:font typeface="Neuton" panose="00000500000000000000" charset="0"/>
      <p:regular r:id="rId16"/>
      <p:bold r:id="rId17"/>
      <p:italic r:id="rId18"/>
    </p:embeddedFont>
    <p:embeddedFont>
      <p:font typeface="Roboto Condensed" panose="02000000000000000000" charset="0"/>
      <p:regular r:id="rId19"/>
      <p:bold r:id="rId20"/>
      <p:italic r:id="rId21"/>
    </p:embeddedFont>
    <p:embeddedFont>
      <p:font typeface="微软雅黑" panose="020B050302020402020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15672"/>
    <a:srgbClr val="FFDD33"/>
    <a:srgbClr val="F2F2F2"/>
    <a:srgbClr val="FFFFFF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4273" autoAdjust="0"/>
  </p:normalViewPr>
  <p:slideViewPr>
    <p:cSldViewPr showGuides="1">
      <p:cViewPr>
        <p:scale>
          <a:sx n="100" d="100"/>
          <a:sy n="100" d="100"/>
        </p:scale>
        <p:origin x="2334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II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fore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2160240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Before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le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197430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While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fter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194890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After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jpeg"/><Relationship Id="rId3" Type="http://schemas.openxmlformats.org/officeDocument/2006/relationships/slide" Target="slide7.xml"/><Relationship Id="rId2" Type="http://schemas.openxmlformats.org/officeDocument/2006/relationships/slide" Target="slide4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emf"/><Relationship Id="rId8" Type="http://schemas.openxmlformats.org/officeDocument/2006/relationships/slide" Target="slide3.xml"/><Relationship Id="rId7" Type="http://schemas.microsoft.com/office/2007/relationships/media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charge.mp3" TargetMode="External"/><Relationship Id="rId6" Type="http://schemas.openxmlformats.org/officeDocument/2006/relationships/audio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charge.mp3" TargetMode="External"/><Relationship Id="rId5" Type="http://schemas.microsoft.com/office/2007/relationships/media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Fez.mp3" TargetMode="External"/><Relationship Id="rId4" Type="http://schemas.openxmlformats.org/officeDocument/2006/relationships/audio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Fez.mp3" TargetMode="External"/><Relationship Id="rId3" Type="http://schemas.openxmlformats.org/officeDocument/2006/relationships/image" Target="../media/image3.emf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2.xml"/><Relationship Id="rId23" Type="http://schemas.openxmlformats.org/officeDocument/2006/relationships/slide" Target="slide2.xml"/><Relationship Id="rId22" Type="http://schemas.microsoft.com/office/2007/relationships/media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vendor.mp3" TargetMode="External"/><Relationship Id="rId21" Type="http://schemas.openxmlformats.org/officeDocument/2006/relationships/audio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vendor.mp3" TargetMode="External"/><Relationship Id="rId20" Type="http://schemas.microsoft.com/office/2007/relationships/media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sandal.mp3" TargetMode="External"/><Relationship Id="rId2" Type="http://schemas.microsoft.com/office/2007/relationships/media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carpet.mp3" TargetMode="External"/><Relationship Id="rId19" Type="http://schemas.openxmlformats.org/officeDocument/2006/relationships/audio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sandal.mp3" TargetMode="External"/><Relationship Id="rId18" Type="http://schemas.microsoft.com/office/2007/relationships/media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Moroccan.mp3" TargetMode="External"/><Relationship Id="rId17" Type="http://schemas.openxmlformats.org/officeDocument/2006/relationships/audio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Moroccan.mp3" TargetMode="External"/><Relationship Id="rId16" Type="http://schemas.microsoft.com/office/2007/relationships/media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Morocco.mp3" TargetMode="External"/><Relationship Id="rId15" Type="http://schemas.openxmlformats.org/officeDocument/2006/relationships/audio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Morocco.mp3" TargetMode="External"/><Relationship Id="rId14" Type="http://schemas.openxmlformats.org/officeDocument/2006/relationships/image" Target="../media/image7.png"/><Relationship Id="rId13" Type="http://schemas.microsoft.com/office/2007/relationships/media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words-1.mp3" TargetMode="External"/><Relationship Id="rId12" Type="http://schemas.openxmlformats.org/officeDocument/2006/relationships/audio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words-1.mp3" TargetMode="External"/><Relationship Id="rId11" Type="http://schemas.openxmlformats.org/officeDocument/2006/relationships/image" Target="../media/image6.emf"/><Relationship Id="rId10" Type="http://schemas.openxmlformats.org/officeDocument/2006/relationships/image" Target="../media/image5.emf"/><Relationship Id="rId1" Type="http://schemas.openxmlformats.org/officeDocument/2006/relationships/audio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carpet.mp3" TargetMode="Externa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" Target="slide4.xml"/><Relationship Id="rId8" Type="http://schemas.openxmlformats.org/officeDocument/2006/relationships/slide" Target="slide6.xml"/><Relationship Id="rId7" Type="http://schemas.openxmlformats.org/officeDocument/2006/relationships/hyperlink" Target="B1%20Unit6.wmv" TargetMode="External"/><Relationship Id="rId6" Type="http://schemas.openxmlformats.org/officeDocument/2006/relationships/slide" Target="slide5.xml"/><Relationship Id="rId5" Type="http://schemas.openxmlformats.org/officeDocument/2006/relationships/image" Target="../media/image9.emf"/><Relationship Id="rId4" Type="http://schemas.openxmlformats.org/officeDocument/2006/relationships/hyperlink" Target="B1%20Unit6-sub.mp4" TargetMode="External"/><Relationship Id="rId3" Type="http://schemas.openxmlformats.org/officeDocument/2006/relationships/image" Target="../media/image8.png"/><Relationship Id="rId2" Type="http://schemas.microsoft.com/office/2007/relationships/media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B1%20Unit6.wmv" TargetMode="Externa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3.xml"/><Relationship Id="rId1" Type="http://schemas.openxmlformats.org/officeDocument/2006/relationships/video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B1%20Unit6.wmv" TargetMode="Externa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emf"/><Relationship Id="rId8" Type="http://schemas.openxmlformats.org/officeDocument/2006/relationships/hyperlink" Target="Script1.pptx" TargetMode="External"/><Relationship Id="rId7" Type="http://schemas.openxmlformats.org/officeDocument/2006/relationships/image" Target="../media/image9.emf"/><Relationship Id="rId6" Type="http://schemas.openxmlformats.org/officeDocument/2006/relationships/hyperlink" Target="B1%20Unit6-sub.mp4" TargetMode="External"/><Relationship Id="rId5" Type="http://schemas.openxmlformats.org/officeDocument/2006/relationships/image" Target="../media/image8.png"/><Relationship Id="rId4" Type="http://schemas.microsoft.com/office/2007/relationships/media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B1%20Unit6.wmv" TargetMode="External"/><Relationship Id="rId3" Type="http://schemas.openxmlformats.org/officeDocument/2006/relationships/video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B1%20Unit6.wmv" TargetMode="External"/><Relationship Id="rId2" Type="http://schemas.openxmlformats.org/officeDocument/2006/relationships/slide" Target="slide6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3.xml"/><Relationship Id="rId10" Type="http://schemas.openxmlformats.org/officeDocument/2006/relationships/slide" Target="slide5.xml"/><Relationship Id="rId1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emf"/><Relationship Id="rId8" Type="http://schemas.openxmlformats.org/officeDocument/2006/relationships/hyperlink" Target="Script1.pptx" TargetMode="External"/><Relationship Id="rId7" Type="http://schemas.openxmlformats.org/officeDocument/2006/relationships/image" Target="../media/image9.emf"/><Relationship Id="rId6" Type="http://schemas.openxmlformats.org/officeDocument/2006/relationships/hyperlink" Target="B1%20Unit6-sub.mp4" TargetMode="External"/><Relationship Id="rId5" Type="http://schemas.openxmlformats.org/officeDocument/2006/relationships/image" Target="../media/image8.png"/><Relationship Id="rId4" Type="http://schemas.microsoft.com/office/2007/relationships/media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B1%20Unit6.wmv" TargetMode="External"/><Relationship Id="rId3" Type="http://schemas.openxmlformats.org/officeDocument/2006/relationships/video" Target="file:///H:\20150427\&#19978;&#28023;&#30005;&#23376;&#20070;\PPT&#38917;&#30446;\&#20840;&#26032;&#29256;&#22823;&#23398;&#36827;&#38454;&#33521;&#35821;&#35270;&#21548;&#35828;&#25945;&#31243;&#65288;&#31532;2&#29256;&#65289;--2016\&#31532;1&#20876;\&#20840;&#26032;&#29256;&#22823;&#23398;&#36827;&#38454;&#33521;&#35821;&#35270;&#21548;&#35828;&#25945;&#31243;1PPT\Unit%206\Unit%2006\Part%20III%20Video\B1%20Unit6.wmv" TargetMode="External"/><Relationship Id="rId2" Type="http://schemas.openxmlformats.org/officeDocument/2006/relationships/slide" Target="slide4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3.xml"/><Relationship Id="rId10" Type="http://schemas.openxmlformats.org/officeDocument/2006/relationships/slide" Target="slide6.xml"/><Relationship Id="rId1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文本占位符 25"/>
          <p:cNvSpPr>
            <a:spLocks noGrp="1"/>
          </p:cNvSpPr>
          <p:nvPr>
            <p:ph type="body" sz="quarter" idx="14"/>
          </p:nvPr>
        </p:nvSpPr>
        <p:spPr>
          <a:xfrm>
            <a:off x="90612" y="980729"/>
            <a:ext cx="8569325" cy="5328592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20000"/>
              </a:lnSpc>
              <a:buClr>
                <a:schemeClr val="accent3"/>
              </a:buClr>
            </a:pPr>
            <a:r>
              <a:rPr lang="en-US" altLang="zh-CN" b="1" dirty="0">
                <a:solidFill>
                  <a:schemeClr val="tx2"/>
                </a:solidFill>
                <a:latin typeface="+mj-lt"/>
              </a:rPr>
              <a:t>The Fez Souk</a:t>
            </a:r>
            <a:endParaRPr lang="en-US" altLang="zh-CN" b="1" dirty="0">
              <a:solidFill>
                <a:schemeClr val="tx2"/>
              </a:solidFill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>
                <a:latin typeface="+mj-lt"/>
              </a:rPr>
              <a:t>Before You Watch</a:t>
            </a:r>
            <a:endParaRPr lang="en-US" altLang="zh-CN" dirty="0"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>
                <a:latin typeface="+mj-lt"/>
              </a:rPr>
              <a:t>While You Watch</a:t>
            </a:r>
            <a:endParaRPr lang="en-US" altLang="zh-CN" dirty="0"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>
                <a:latin typeface="+mj-lt"/>
              </a:rPr>
              <a:t>After You Watch</a:t>
            </a:r>
            <a:endParaRPr lang="en-US" altLang="zh-CN" dirty="0">
              <a:latin typeface="+mj-lt"/>
            </a:endParaRPr>
          </a:p>
        </p:txBody>
      </p:sp>
      <p:sp>
        <p:nvSpPr>
          <p:cNvPr id="51" name="btn-Part 1">
            <a:hlinkClick r:id="rId1" action="ppaction://hlinksldjump"/>
          </p:cNvPr>
          <p:cNvSpPr/>
          <p:nvPr/>
        </p:nvSpPr>
        <p:spPr>
          <a:xfrm>
            <a:off x="586160" y="1730524"/>
            <a:ext cx="270227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btn-Part 1">
            <a:hlinkClick r:id="rId2" action="ppaction://hlinksldjump"/>
          </p:cNvPr>
          <p:cNvSpPr/>
          <p:nvPr/>
        </p:nvSpPr>
        <p:spPr>
          <a:xfrm>
            <a:off x="624136" y="2370088"/>
            <a:ext cx="2541677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btn-Part 1">
            <a:hlinkClick r:id="rId3" action="ppaction://hlinksldjump"/>
          </p:cNvPr>
          <p:cNvSpPr/>
          <p:nvPr/>
        </p:nvSpPr>
        <p:spPr>
          <a:xfrm>
            <a:off x="624136" y="2975744"/>
            <a:ext cx="2351051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E:\lab\全新版进阶视听说\PPT\working\P01-13_1327321.jp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3819233" y="1479537"/>
            <a:ext cx="4853021" cy="3235347"/>
          </a:xfrm>
          <a:prstGeom prst="rect">
            <a:avLst/>
          </a:prstGeom>
          <a:noFill/>
        </p:spPr>
      </p:pic>
      <p:sp>
        <p:nvSpPr>
          <p:cNvPr id="16" name="矩形 15"/>
          <p:cNvSpPr/>
          <p:nvPr/>
        </p:nvSpPr>
        <p:spPr>
          <a:xfrm>
            <a:off x="6417123" y="4127614"/>
            <a:ext cx="2274141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Customers shop for carpets at a souk in Morocco.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7" name="btn-Part 1">
            <a:hlinkClick r:id="rId1" action="ppaction://hlinksldjump"/>
          </p:cNvPr>
          <p:cNvSpPr/>
          <p:nvPr/>
        </p:nvSpPr>
        <p:spPr>
          <a:xfrm>
            <a:off x="357158" y="1047162"/>
            <a:ext cx="2702272" cy="5000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New words and expression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Prediction   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0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755576" y="1412776"/>
            <a:ext cx="8137599" cy="3516422"/>
          </a:xfrm>
        </p:spPr>
        <p:txBody>
          <a:bodyPr numCol="2" spcCol="90000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/>
              <a:t>carpet</a:t>
            </a:r>
            <a:r>
              <a:rPr lang="en-US" altLang="zh-CN" sz="2400" dirty="0"/>
              <a:t>   </a:t>
            </a:r>
            <a:r>
              <a:rPr lang="en-US" altLang="zh-CN" sz="2400" i="1" dirty="0"/>
              <a:t>n. </a:t>
            </a:r>
            <a:r>
              <a:rPr lang="zh-CN" altLang="en-US" sz="2400" dirty="0"/>
              <a:t>地毯</a:t>
            </a:r>
            <a:endParaRPr lang="zh-CN" alt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/>
              <a:t>charge </a:t>
            </a:r>
            <a:r>
              <a:rPr lang="en-US" altLang="zh-CN" sz="2400" dirty="0"/>
              <a:t> </a:t>
            </a:r>
            <a:r>
              <a:rPr lang="en-US" altLang="zh-CN" sz="2400" i="1" dirty="0"/>
              <a:t>v. </a:t>
            </a:r>
            <a:r>
              <a:rPr lang="en-US" altLang="zh-CN" sz="2400" dirty="0"/>
              <a:t>If you charge someone an amount of money, you are asking them to pay for something. </a:t>
            </a:r>
            <a:r>
              <a:rPr lang="zh-CN" altLang="en-US" sz="2400" dirty="0"/>
              <a:t>要（价）；要（人）支付（钱）</a:t>
            </a:r>
            <a:endParaRPr lang="zh-CN" alt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/>
              <a:t>Fez </a:t>
            </a:r>
            <a:r>
              <a:rPr lang="en-US" altLang="zh-CN" sz="2400" dirty="0"/>
              <a:t>  </a:t>
            </a:r>
            <a:r>
              <a:rPr lang="zh-CN" altLang="en-US" sz="2400" dirty="0"/>
              <a:t>非斯（摩洛哥北部城市）</a:t>
            </a:r>
            <a:endParaRPr lang="zh-CN" alt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/>
              <a:t>Morocco</a:t>
            </a:r>
            <a:r>
              <a:rPr lang="en-US" altLang="zh-CN" sz="2400" dirty="0"/>
              <a:t>   </a:t>
            </a:r>
            <a:r>
              <a:rPr lang="zh-CN" altLang="en-US" sz="2400" dirty="0"/>
              <a:t>摩洛哥</a:t>
            </a:r>
            <a:endParaRPr lang="zh-CN" alt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/>
              <a:t>Moroccan </a:t>
            </a:r>
            <a:r>
              <a:rPr lang="en-US" altLang="zh-CN" sz="2400" dirty="0"/>
              <a:t> </a:t>
            </a:r>
            <a:r>
              <a:rPr lang="en-US" altLang="zh-CN" sz="2400" i="1" dirty="0"/>
              <a:t>n. </a:t>
            </a:r>
            <a:r>
              <a:rPr lang="zh-CN" altLang="en-US" sz="2400" dirty="0"/>
              <a:t>摩洛哥人</a:t>
            </a:r>
            <a:endParaRPr lang="zh-CN" alt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/>
              <a:t>sandal</a:t>
            </a:r>
            <a:r>
              <a:rPr lang="en-US" altLang="zh-CN" sz="2400" dirty="0"/>
              <a:t>   </a:t>
            </a:r>
            <a:r>
              <a:rPr lang="en-US" altLang="zh-CN" sz="2400" i="1" dirty="0"/>
              <a:t>n. </a:t>
            </a:r>
            <a:r>
              <a:rPr lang="zh-CN" altLang="en-US" sz="2400" dirty="0"/>
              <a:t>凉鞋</a:t>
            </a:r>
            <a:endParaRPr lang="zh-CN" alt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/>
              <a:t>vendor  </a:t>
            </a:r>
            <a:r>
              <a:rPr lang="en-US" altLang="zh-CN" sz="2400" dirty="0"/>
              <a:t> </a:t>
            </a:r>
            <a:r>
              <a:rPr lang="en-US" altLang="zh-CN" sz="2400" i="1" dirty="0"/>
              <a:t>n. </a:t>
            </a:r>
            <a:r>
              <a:rPr lang="zh-CN" altLang="en-US" sz="2400" dirty="0"/>
              <a:t>小贩</a:t>
            </a:r>
            <a:endParaRPr lang="zh-CN" altLang="en-US" sz="2400" dirty="0"/>
          </a:p>
        </p:txBody>
      </p:sp>
      <p:pic>
        <p:nvPicPr>
          <p:cNvPr id="61" name="carpet.mp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83" y="1527076"/>
            <a:ext cx="312701" cy="309438"/>
          </a:xfrm>
          <a:prstGeom prst="rect">
            <a:avLst/>
          </a:prstGeom>
        </p:spPr>
      </p:pic>
      <p:pic>
        <p:nvPicPr>
          <p:cNvPr id="66" name="Fez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00" y="4000504"/>
            <a:ext cx="312701" cy="309438"/>
          </a:xfrm>
          <a:prstGeom prst="rect">
            <a:avLst/>
          </a:prstGeom>
        </p:spPr>
      </p:pic>
      <p:pic>
        <p:nvPicPr>
          <p:cNvPr id="68" name="charge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83" y="2047992"/>
            <a:ext cx="312701" cy="309438"/>
          </a:xfrm>
          <a:prstGeom prst="rect">
            <a:avLst/>
          </a:prstGeom>
        </p:spPr>
      </p:pic>
      <p:sp>
        <p:nvSpPr>
          <p:cNvPr id="22" name="btn-Part 1">
            <a:hlinkClick r:id="rId8" action="ppaction://hlinksldjump"/>
          </p:cNvPr>
          <p:cNvSpPr/>
          <p:nvPr/>
        </p:nvSpPr>
        <p:spPr>
          <a:xfrm>
            <a:off x="2489200" y="482615"/>
            <a:ext cx="93979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播放按钮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1161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" name="暂停按钮"/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37165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停止按钮"/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73169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" name="words-1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link="rId13"/>
              </p:ext>
            </p:extLst>
          </p:nvPr>
        </p:nvPicPr>
        <p:blipFill>
          <a:blip r:embed="rId14" cstate="print"/>
          <a:stretch>
            <a:fillRect/>
          </a:stretch>
        </p:blipFill>
        <p:spPr>
          <a:xfrm>
            <a:off x="9235752" y="1052736"/>
            <a:ext cx="304800" cy="304800"/>
          </a:xfrm>
          <a:prstGeom prst="rect">
            <a:avLst/>
          </a:prstGeom>
        </p:spPr>
      </p:pic>
      <p:grpSp>
        <p:nvGrpSpPr>
          <p:cNvPr id="3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1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4" name="Morocco.mp3">
            <a:hlinkClick r:id="" action="ppaction://media"/>
          </p:cNvPr>
          <p:cNvPicPr>
            <a:picLocks noChangeAspect="1"/>
          </p:cNvPicPr>
          <p:nvPr>
            <a:audioFile r:link="rId15"/>
            <p:extLst>
              <p:ext uri="{DAA4B4D4-6D71-4841-9C94-3DE7FCFB9230}">
                <p14:media xmlns:p14="http://schemas.microsoft.com/office/powerpoint/2010/main" r:link="rId16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1515940"/>
            <a:ext cx="312701" cy="309438"/>
          </a:xfrm>
          <a:prstGeom prst="rect">
            <a:avLst/>
          </a:prstGeom>
        </p:spPr>
      </p:pic>
      <p:pic>
        <p:nvPicPr>
          <p:cNvPr id="33" name="Moroccan.mp3">
            <a:hlinkClick r:id="" action="ppaction://media"/>
          </p:cNvPr>
          <p:cNvPicPr>
            <a:picLocks noChangeAspect="1"/>
          </p:cNvPicPr>
          <p:nvPr>
            <a:audioFile r:link="rId17"/>
            <p:extLst>
              <p:ext uri="{DAA4B4D4-6D71-4841-9C94-3DE7FCFB9230}">
                <p14:media xmlns:p14="http://schemas.microsoft.com/office/powerpoint/2010/main" r:link="rId18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2023926"/>
            <a:ext cx="312701" cy="309438"/>
          </a:xfrm>
          <a:prstGeom prst="rect">
            <a:avLst/>
          </a:prstGeom>
        </p:spPr>
      </p:pic>
      <p:pic>
        <p:nvPicPr>
          <p:cNvPr id="35" name="sandal.mp3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link="rId20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2555978"/>
            <a:ext cx="312701" cy="309438"/>
          </a:xfrm>
          <a:prstGeom prst="rect">
            <a:avLst/>
          </a:prstGeom>
        </p:spPr>
      </p:pic>
      <p:pic>
        <p:nvPicPr>
          <p:cNvPr id="36" name="vendor.mp3">
            <a:hlinkClick r:id="" action="ppaction://media"/>
          </p:cNvPr>
          <p:cNvPicPr>
            <a:picLocks noChangeAspect="1"/>
          </p:cNvPicPr>
          <p:nvPr>
            <a:audioFile r:link="rId21"/>
            <p:extLst>
              <p:ext uri="{DAA4B4D4-6D71-4841-9C94-3DE7FCFB9230}">
                <p14:media xmlns:p14="http://schemas.microsoft.com/office/powerpoint/2010/main" r:link="rId22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800" y="3071810"/>
            <a:ext cx="312701" cy="309438"/>
          </a:xfrm>
          <a:prstGeom prst="rect">
            <a:avLst/>
          </a:prstGeom>
        </p:spPr>
      </p:pic>
      <p:sp>
        <p:nvSpPr>
          <p:cNvPr id="37" name="btn-Part 1">
            <a:hlinkClick r:id="rId23" action="ppaction://hlinksldjump"/>
          </p:cNvPr>
          <p:cNvSpPr/>
          <p:nvPr/>
        </p:nvSpPr>
        <p:spPr>
          <a:xfrm>
            <a:off x="63500" y="482615"/>
            <a:ext cx="22987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6"/>
                </p:tgtEl>
              </p:cMediaNode>
            </p:audio>
            <p:audio>
              <p:cMediaNode>
                <p:cTn id="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8"/>
                </p:tgtEl>
              </p:cMediaNode>
            </p:audio>
            <p:audio>
              <p:cMediaNode showWhenStopped="0">
                <p:cTn id="5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  <p:audio>
              <p:cMediaNode>
                <p:cTn id="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  <p:audio>
              <p:cMediaNode>
                <p:cTn id="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>
                <p:cTn id="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New words and expression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Prediction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9325" cy="732620"/>
          </a:xfrm>
        </p:spPr>
        <p:txBody>
          <a:bodyPr>
            <a:normAutofit/>
          </a:bodyPr>
          <a:lstStyle/>
          <a:p>
            <a:r>
              <a:rPr lang="en-US" altLang="zh-CN" dirty="0"/>
              <a:t>Guess: Are the statements below about Fez’s souk true (T) or false (F)?</a:t>
            </a:r>
            <a:endParaRPr lang="zh-CN" altLang="en-US" dirty="0"/>
          </a:p>
        </p:txBody>
      </p:sp>
      <p:sp>
        <p:nvSpPr>
          <p:cNvPr id="27" name="圆角矩形 26"/>
          <p:cNvSpPr/>
          <p:nvPr/>
        </p:nvSpPr>
        <p:spPr>
          <a:xfrm>
            <a:off x="428596" y="1643050"/>
            <a:ext cx="8001056" cy="1285884"/>
          </a:xfrm>
          <a:prstGeom prst="roundRect">
            <a:avLst>
              <a:gd name="adj" fmla="val 558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About the video. </a:t>
            </a:r>
            <a:r>
              <a:rPr lang="en-US" altLang="zh-CN" sz="2400" dirty="0">
                <a:solidFill>
                  <a:schemeClr val="tx1"/>
                </a:solidFill>
              </a:rPr>
              <a:t>Fez is a city in Morocco. It has a famous souk. Vendors (sellers) here sell many different items. And every year, tourists from all over the world visit the souk.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21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2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btn-Part 1">
            <a:hlinkClick r:id="rId1" action="ppaction://hlinksldjump"/>
          </p:cNvPr>
          <p:cNvSpPr/>
          <p:nvPr/>
        </p:nvSpPr>
        <p:spPr>
          <a:xfrm>
            <a:off x="63500" y="482615"/>
            <a:ext cx="22987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9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785786" y="3286124"/>
            <a:ext cx="7849567" cy="2571768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altLang="zh-CN" sz="2800" dirty="0"/>
              <a:t>It’s a new shopping area in the city.</a:t>
            </a:r>
            <a:endParaRPr lang="en-US" altLang="zh-CN" sz="28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altLang="zh-CN" sz="2800" dirty="0"/>
              <a:t>You must bargain.</a:t>
            </a:r>
            <a:endParaRPr lang="en-US" altLang="zh-CN" sz="28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altLang="zh-CN" sz="2800" dirty="0"/>
              <a:t>Tourists often pay more for items than locals.</a:t>
            </a:r>
            <a:endParaRPr lang="en-US" altLang="zh-CN" sz="2800" dirty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altLang="zh-CN" sz="2800" dirty="0"/>
              <a:t>It’s easy to buy too much here.</a:t>
            </a:r>
            <a:endParaRPr lang="en-US" altLang="zh-CN" sz="2800" dirty="0"/>
          </a:p>
        </p:txBody>
      </p:sp>
      <p:grpSp>
        <p:nvGrpSpPr>
          <p:cNvPr id="17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18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btn-Part 1">
            <a:hlinkClick r:id="rId2" action="ppaction://hlinksldjump"/>
          </p:cNvPr>
          <p:cNvSpPr/>
          <p:nvPr/>
        </p:nvSpPr>
        <p:spPr>
          <a:xfrm>
            <a:off x="2500298" y="488167"/>
            <a:ext cx="916819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A. Watch the video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B. Watch the video again    C. What do you remember  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0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960202"/>
            <a:ext cx="8569325" cy="361948"/>
          </a:xfrm>
        </p:spPr>
        <p:txBody>
          <a:bodyPr>
            <a:noAutofit/>
          </a:bodyPr>
          <a:lstStyle/>
          <a:p>
            <a:r>
              <a:rPr lang="en-US" altLang="zh-CN" dirty="0"/>
              <a:t>Check your answers. Then correct the false sentences.</a:t>
            </a:r>
            <a:endParaRPr lang="zh-CN" altLang="en-US" dirty="0"/>
          </a:p>
        </p:txBody>
      </p:sp>
      <p:pic>
        <p:nvPicPr>
          <p:cNvPr id="25" name="B1 Unit6.wmv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467545" y="1400066"/>
            <a:ext cx="4114997" cy="2314686"/>
          </a:xfrm>
          <a:prstGeom prst="rect">
            <a:avLst/>
          </a:prstGeom>
        </p:spPr>
      </p:pic>
      <p:pic>
        <p:nvPicPr>
          <p:cNvPr id="26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714876" y="3394072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btn-Part 1">
            <a:hlinkClick r:id="rId6" action="ppaction://hlinksldjump"/>
          </p:cNvPr>
          <p:cNvSpPr/>
          <p:nvPr/>
        </p:nvSpPr>
        <p:spPr>
          <a:xfrm>
            <a:off x="1807952" y="500042"/>
            <a:ext cx="206102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203270" y="3394072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>
                <a:latin typeface="+mj-lt"/>
              </a:rPr>
              <a:t>(Subtitles On)</a:t>
            </a:r>
            <a:endParaRPr lang="zh-CN" altLang="en-US" sz="1200">
              <a:latin typeface="+mj-lt"/>
            </a:endParaRPr>
          </a:p>
        </p:txBody>
      </p:sp>
      <p:grpSp>
        <p:nvGrpSpPr>
          <p:cNvPr id="4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1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7" name="按钮-External Player">
            <a:hlinkClick r:id="rId7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714876" y="3000372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8" name="TextBox 47"/>
          <p:cNvSpPr txBox="1"/>
          <p:nvPr/>
        </p:nvSpPr>
        <p:spPr>
          <a:xfrm>
            <a:off x="6203270" y="3000372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>
                <a:latin typeface="+mj-lt"/>
              </a:rPr>
              <a:t>(Subtitles Off)</a:t>
            </a:r>
            <a:endParaRPr lang="zh-CN" altLang="en-US" sz="1200">
              <a:latin typeface="+mj-lt"/>
            </a:endParaRPr>
          </a:p>
        </p:txBody>
      </p:sp>
      <p:sp>
        <p:nvSpPr>
          <p:cNvPr id="72" name="btn-Part 1">
            <a:hlinkClick r:id="rId8" action="ppaction://hlinksldjump"/>
          </p:cNvPr>
          <p:cNvSpPr/>
          <p:nvPr/>
        </p:nvSpPr>
        <p:spPr>
          <a:xfrm>
            <a:off x="4011513" y="478008"/>
            <a:ext cx="2203561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898543" y="3778954"/>
            <a:ext cx="7849567" cy="2571768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sz="2400" dirty="0"/>
              <a:t>It’s a new shopping area in the city.</a:t>
            </a:r>
            <a:endParaRPr lang="en-US" altLang="zh-CN" sz="2400" dirty="0"/>
          </a:p>
          <a:p>
            <a:pPr marL="457200" indent="-6350"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accent1"/>
                </a:solidFill>
              </a:rPr>
              <a:t>The Fez Souk is Morocco’s oldest market.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 startAt="2"/>
            </a:pPr>
            <a:r>
              <a:rPr lang="en-US" altLang="zh-CN" sz="2400" dirty="0"/>
              <a:t>You must bargain.</a:t>
            </a:r>
            <a:endParaRPr lang="en-US" altLang="zh-CN" sz="2400" dirty="0"/>
          </a:p>
          <a:p>
            <a:pPr marL="457200" indent="-457200">
              <a:spcBef>
                <a:spcPts val="0"/>
              </a:spcBef>
              <a:buFont typeface="+mj-lt"/>
              <a:buAutoNum type="arabicPeriod" startAt="2"/>
            </a:pPr>
            <a:endParaRPr lang="en-US" altLang="zh-CN" sz="2400" dirty="0"/>
          </a:p>
          <a:p>
            <a:pPr marL="457200" indent="-457200">
              <a:spcBef>
                <a:spcPts val="0"/>
              </a:spcBef>
              <a:buFont typeface="+mj-lt"/>
              <a:buAutoNum type="arabicPeriod" startAt="2"/>
            </a:pPr>
            <a:r>
              <a:rPr lang="en-US" altLang="zh-CN" sz="2400" dirty="0"/>
              <a:t>Tourists often pay more for items than locals.</a:t>
            </a:r>
            <a:endParaRPr lang="en-US" altLang="zh-CN" sz="2400" dirty="0"/>
          </a:p>
          <a:p>
            <a:pPr marL="457200" indent="-457200">
              <a:spcBef>
                <a:spcPts val="0"/>
              </a:spcBef>
              <a:buFont typeface="+mj-lt"/>
              <a:buAutoNum type="arabicPeriod" startAt="2"/>
            </a:pPr>
            <a:endParaRPr lang="en-US" altLang="zh-CN" sz="2400" dirty="0"/>
          </a:p>
          <a:p>
            <a:pPr marL="457200" indent="-457200">
              <a:spcBef>
                <a:spcPts val="0"/>
              </a:spcBef>
              <a:buFont typeface="+mj-lt"/>
              <a:buAutoNum type="arabicPeriod" startAt="2"/>
            </a:pPr>
            <a:r>
              <a:rPr lang="en-US" altLang="zh-CN" sz="2400" dirty="0"/>
              <a:t>It’s easy to buy too much here.</a:t>
            </a:r>
            <a:endParaRPr lang="en-US" altLang="zh-CN" sz="2400" dirty="0"/>
          </a:p>
        </p:txBody>
      </p:sp>
      <p:sp>
        <p:nvSpPr>
          <p:cNvPr id="38" name="矩形 37"/>
          <p:cNvSpPr/>
          <p:nvPr/>
        </p:nvSpPr>
        <p:spPr>
          <a:xfrm>
            <a:off x="428596" y="4612272"/>
            <a:ext cx="364426" cy="364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000" b="1">
                <a:solidFill>
                  <a:schemeClr val="accent1"/>
                </a:solidFill>
                <a:latin typeface="+mj-lt"/>
              </a:rPr>
              <a:t>T</a:t>
            </a:r>
            <a:endParaRPr lang="zh-CN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28596" y="3888779"/>
            <a:ext cx="364426" cy="364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000" b="1">
                <a:solidFill>
                  <a:schemeClr val="accent1"/>
                </a:solidFill>
                <a:latin typeface="+mj-lt"/>
              </a:rPr>
              <a:t>F</a:t>
            </a:r>
            <a:endParaRPr lang="zh-CN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0" name="填空热区6-点击消失"/>
          <p:cNvSpPr>
            <a:spLocks noChangeArrowheads="1"/>
          </p:cNvSpPr>
          <p:nvPr/>
        </p:nvSpPr>
        <p:spPr bwMode="auto">
          <a:xfrm>
            <a:off x="465975" y="4640946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1" name="填空热区5-点击消失"/>
          <p:cNvSpPr>
            <a:spLocks noChangeArrowheads="1"/>
          </p:cNvSpPr>
          <p:nvPr/>
        </p:nvSpPr>
        <p:spPr bwMode="auto">
          <a:xfrm>
            <a:off x="465975" y="3926805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29830" y="5323495"/>
            <a:ext cx="364426" cy="364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000" b="1">
                <a:solidFill>
                  <a:schemeClr val="accent1"/>
                </a:solidFill>
                <a:latin typeface="+mj-lt"/>
              </a:rPr>
              <a:t>T</a:t>
            </a:r>
            <a:endParaRPr lang="zh-CN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3" name="填空热区6-点击消失"/>
          <p:cNvSpPr>
            <a:spLocks noChangeArrowheads="1"/>
          </p:cNvSpPr>
          <p:nvPr/>
        </p:nvSpPr>
        <p:spPr bwMode="auto">
          <a:xfrm>
            <a:off x="462881" y="5352169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29830" y="6056596"/>
            <a:ext cx="364426" cy="364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000" b="1">
                <a:solidFill>
                  <a:schemeClr val="accent1"/>
                </a:solidFill>
                <a:latin typeface="+mj-lt"/>
              </a:rPr>
              <a:t>T</a:t>
            </a:r>
            <a:endParaRPr lang="zh-CN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5" name="填空热区6-点击消失"/>
          <p:cNvSpPr>
            <a:spLocks noChangeArrowheads="1"/>
          </p:cNvSpPr>
          <p:nvPr/>
        </p:nvSpPr>
        <p:spPr bwMode="auto">
          <a:xfrm>
            <a:off x="462881" y="6085270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1428540" y="4214630"/>
            <a:ext cx="4800938" cy="400966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btn-Part 1">
            <a:hlinkClick r:id="rId9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video>
          </p:childTnLst>
        </p:cTn>
      </p:par>
    </p:tnLst>
    <p:bldLst>
      <p:bldP spid="50" grpId="0" animBg="1"/>
      <p:bldP spid="51" grpId="0" animBg="1"/>
      <p:bldP spid="53" grpId="0" animBg="1"/>
      <p:bldP spid="55" grpId="0" animBg="1"/>
      <p:bldP spid="7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A. Watch the video   </a:t>
            </a:r>
            <a:r>
              <a:rPr lang="en-US" altLang="zh-CN" sz="1600" b="1" dirty="0">
                <a:solidFill>
                  <a:schemeClr val="accent6"/>
                </a:solidFill>
                <a:latin typeface="+mj-lt"/>
              </a:rPr>
              <a:t>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B. Watch the video again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C. What do you remember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grpSp>
        <p:nvGrpSpPr>
          <p:cNvPr id="5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56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btn-Part 1">
            <a:hlinkClick r:id="rId1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3"/>
          </p:nvPr>
        </p:nvSpPr>
        <p:spPr>
          <a:xfrm>
            <a:off x="323850" y="1000108"/>
            <a:ext cx="8569325" cy="428628"/>
          </a:xfrm>
        </p:spPr>
        <p:txBody>
          <a:bodyPr>
            <a:normAutofit/>
          </a:bodyPr>
          <a:lstStyle/>
          <a:p>
            <a:r>
              <a:rPr lang="en-US" altLang="zh-CN" dirty="0"/>
              <a:t>What things can you buy in the souk? Check (✓) the things you see.</a:t>
            </a:r>
            <a:endParaRPr lang="zh-CN" altLang="en-US" dirty="0"/>
          </a:p>
        </p:txBody>
      </p:sp>
      <p:grpSp>
        <p:nvGrpSpPr>
          <p:cNvPr id="4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53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btn-Part 1">
            <a:hlinkClick r:id="rId2" action="ppaction://hlinksldjump"/>
          </p:cNvPr>
          <p:cNvSpPr/>
          <p:nvPr/>
        </p:nvSpPr>
        <p:spPr>
          <a:xfrm>
            <a:off x="3989479" y="489025"/>
            <a:ext cx="2203561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B1 Unit6.wm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442144" y="1500174"/>
            <a:ext cx="4730830" cy="2661093"/>
          </a:xfrm>
          <a:prstGeom prst="rect">
            <a:avLst/>
          </a:prstGeom>
        </p:spPr>
      </p:pic>
      <p:pic>
        <p:nvPicPr>
          <p:cNvPr id="44" name="按钮-External Player">
            <a:hlinkClick r:id="rId6" action="ppaction://hlinkfile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294026" y="3819251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" name="按钮-Script">
            <a:hlinkClick r:id="rId8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294026" y="3459211"/>
            <a:ext cx="904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874233" y="4429132"/>
          <a:ext cx="7929617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578"/>
                <a:gridCol w="2186683"/>
                <a:gridCol w="2242473"/>
                <a:gridCol w="1285883"/>
              </a:tblGrid>
              <a:tr h="42862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birds</a:t>
                      </a:r>
                      <a:endParaRPr lang="en-US" altLang="zh-CN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clothes</a:t>
                      </a:r>
                      <a:endParaRPr lang="en-US" altLang="zh-CN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hats</a:t>
                      </a:r>
                      <a:endParaRPr lang="en-US" altLang="zh-CN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sandals</a:t>
                      </a:r>
                      <a:endParaRPr lang="en-US" altLang="zh-CN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carpets</a:t>
                      </a:r>
                      <a:endParaRPr lang="en-US" altLang="zh-CN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computers</a:t>
                      </a:r>
                      <a:endParaRPr lang="en-US" altLang="zh-CN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jewelry</a:t>
                      </a:r>
                      <a:endParaRPr lang="en-US" altLang="zh-CN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spices</a:t>
                      </a:r>
                      <a:endParaRPr lang="en-US" altLang="zh-CN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cell phones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eggs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metal tables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watches</a:t>
                      </a:r>
                      <a:endParaRPr lang="zh-CN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1" name="矩形 60"/>
          <p:cNvSpPr/>
          <p:nvPr/>
        </p:nvSpPr>
        <p:spPr>
          <a:xfrm>
            <a:off x="507342" y="5593912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07342" y="4500570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✓</a:t>
            </a:r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07342" y="5069224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✓</a:t>
            </a:r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728886" y="5072074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190584" y="5000636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✓</a:t>
            </a:r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728886" y="4500570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✓</a:t>
            </a:r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728886" y="5572140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✓</a:t>
            </a:r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904568" y="4572008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✓</a:t>
            </a:r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904568" y="5072074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✓</a:t>
            </a:r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4568" y="5572140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✓</a:t>
            </a:r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7190584" y="4500570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✓</a:t>
            </a:r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2" name="填空热区-点击消失"/>
          <p:cNvSpPr>
            <a:spLocks noChangeArrowheads="1"/>
          </p:cNvSpPr>
          <p:nvPr/>
        </p:nvSpPr>
        <p:spPr bwMode="auto">
          <a:xfrm>
            <a:off x="538454" y="5110494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73" name="填空热区-点击消失"/>
          <p:cNvSpPr>
            <a:spLocks noChangeArrowheads="1"/>
          </p:cNvSpPr>
          <p:nvPr/>
        </p:nvSpPr>
        <p:spPr bwMode="auto">
          <a:xfrm>
            <a:off x="544359" y="4538990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74" name="填空热区-点击消失"/>
          <p:cNvSpPr>
            <a:spLocks noChangeArrowheads="1"/>
          </p:cNvSpPr>
          <p:nvPr/>
        </p:nvSpPr>
        <p:spPr bwMode="auto">
          <a:xfrm>
            <a:off x="548420" y="5628210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79" name="填空热区-点击消失"/>
          <p:cNvSpPr>
            <a:spLocks noChangeArrowheads="1"/>
          </p:cNvSpPr>
          <p:nvPr/>
        </p:nvSpPr>
        <p:spPr bwMode="auto">
          <a:xfrm>
            <a:off x="2762998" y="4531306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0" name="填空热区-点击消失"/>
          <p:cNvSpPr>
            <a:spLocks noChangeArrowheads="1"/>
          </p:cNvSpPr>
          <p:nvPr/>
        </p:nvSpPr>
        <p:spPr bwMode="auto">
          <a:xfrm>
            <a:off x="2762998" y="5107415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1" name="填空热区-点击消失"/>
          <p:cNvSpPr>
            <a:spLocks noChangeArrowheads="1"/>
          </p:cNvSpPr>
          <p:nvPr/>
        </p:nvSpPr>
        <p:spPr bwMode="auto">
          <a:xfrm>
            <a:off x="4936874" y="5607481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2" name="填空热区-点击消失"/>
          <p:cNvSpPr>
            <a:spLocks noChangeArrowheads="1"/>
          </p:cNvSpPr>
          <p:nvPr/>
        </p:nvSpPr>
        <p:spPr bwMode="auto">
          <a:xfrm>
            <a:off x="2770682" y="5607481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3" name="填空热区-点击消失"/>
          <p:cNvSpPr>
            <a:spLocks noChangeArrowheads="1"/>
          </p:cNvSpPr>
          <p:nvPr/>
        </p:nvSpPr>
        <p:spPr bwMode="auto">
          <a:xfrm>
            <a:off x="4936874" y="5110494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4" name="填空热区-点击消失"/>
          <p:cNvSpPr>
            <a:spLocks noChangeArrowheads="1"/>
          </p:cNvSpPr>
          <p:nvPr/>
        </p:nvSpPr>
        <p:spPr bwMode="auto">
          <a:xfrm>
            <a:off x="4936874" y="4602744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5" name="填空热区-点击消失"/>
          <p:cNvSpPr>
            <a:spLocks noChangeArrowheads="1"/>
          </p:cNvSpPr>
          <p:nvPr/>
        </p:nvSpPr>
        <p:spPr bwMode="auto">
          <a:xfrm>
            <a:off x="7226513" y="4531306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6" name="填空热区-点击消失"/>
          <p:cNvSpPr>
            <a:spLocks noChangeArrowheads="1"/>
          </p:cNvSpPr>
          <p:nvPr/>
        </p:nvSpPr>
        <p:spPr bwMode="auto">
          <a:xfrm>
            <a:off x="7230574" y="5035977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780794" y="3855918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dirty="0">
                <a:latin typeface="+mj-lt"/>
              </a:rPr>
              <a:t>(Subtitles On)</a:t>
            </a:r>
            <a:endParaRPr lang="zh-CN" altLang="en-US" sz="1200" dirty="0">
              <a:latin typeface="+mj-lt"/>
            </a:endParaRPr>
          </a:p>
        </p:txBody>
      </p:sp>
      <p:sp>
        <p:nvSpPr>
          <p:cNvPr id="50" name="btn-Part 1">
            <a:hlinkClick r:id="rId10" action="ppaction://hlinksldjump"/>
          </p:cNvPr>
          <p:cNvSpPr/>
          <p:nvPr/>
        </p:nvSpPr>
        <p:spPr>
          <a:xfrm>
            <a:off x="1857356" y="489025"/>
            <a:ext cx="206102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186523" y="5536799"/>
            <a:ext cx="360040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✓</a:t>
            </a:r>
            <a:endParaRPr lang="zh-CN" alt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填空热区-点击消失"/>
          <p:cNvSpPr>
            <a:spLocks noChangeArrowheads="1"/>
          </p:cNvSpPr>
          <p:nvPr/>
        </p:nvSpPr>
        <p:spPr bwMode="auto">
          <a:xfrm>
            <a:off x="7226513" y="5572140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video>
          </p:childTnLst>
        </p:cTn>
      </p:par>
    </p:tnLst>
    <p:bldLst>
      <p:bldP spid="72" grpId="0" animBg="1"/>
      <p:bldP spid="73" grpId="0" animBg="1"/>
      <p:bldP spid="74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A. Watch the video    B. Watch the video again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C. What do you remember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47" name="btn-Part 1">
            <a:hlinkClick r:id="rId1" action="ppaction://hlinksldjump"/>
          </p:cNvPr>
          <p:cNvSpPr/>
          <p:nvPr/>
        </p:nvSpPr>
        <p:spPr>
          <a:xfrm>
            <a:off x="1834978" y="499010"/>
            <a:ext cx="206102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btn-Part 1">
            <a:hlinkClick r:id="rId2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3"/>
          </p:nvPr>
        </p:nvSpPr>
        <p:spPr>
          <a:xfrm>
            <a:off x="323850" y="1000108"/>
            <a:ext cx="8569325" cy="428628"/>
          </a:xfrm>
        </p:spPr>
        <p:txBody>
          <a:bodyPr>
            <a:normAutofit/>
          </a:bodyPr>
          <a:lstStyle/>
          <a:p>
            <a:r>
              <a:rPr lang="en-US" altLang="zh-CN" dirty="0"/>
              <a:t>Fill in the blanks with the missing words.</a:t>
            </a:r>
            <a:endParaRPr lang="zh-CN" altLang="en-US" dirty="0"/>
          </a:p>
        </p:txBody>
      </p:sp>
      <p:pic>
        <p:nvPicPr>
          <p:cNvPr id="75" name="B1 Unit6.wm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442144" y="1482287"/>
            <a:ext cx="3841824" cy="2161027"/>
          </a:xfrm>
          <a:prstGeom prst="rect">
            <a:avLst/>
          </a:prstGeom>
        </p:spPr>
      </p:pic>
      <p:sp>
        <p:nvSpPr>
          <p:cNvPr id="76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428596" y="3786190"/>
            <a:ext cx="8501121" cy="2630834"/>
          </a:xfrm>
        </p:spPr>
        <p:txBody>
          <a:bodyPr>
            <a:noAutofit/>
          </a:bodyPr>
          <a:lstStyle/>
          <a:p>
            <a:pPr marL="0" indent="355600">
              <a:buNone/>
            </a:pPr>
            <a:r>
              <a:rPr lang="en-US" altLang="zh-CN" sz="2300" dirty="0"/>
              <a:t>The </a:t>
            </a:r>
            <a:r>
              <a:rPr lang="en-US" altLang="zh-CN" sz="2300" u="sng" dirty="0">
                <a:solidFill>
                  <a:schemeClr val="accent1"/>
                </a:solidFill>
              </a:rPr>
              <a:t>real</a:t>
            </a:r>
            <a:r>
              <a:rPr lang="en-US" altLang="zh-CN" sz="2300" dirty="0"/>
              <a:t> test for shoppers is the carpet shop. Here, the carpet </a:t>
            </a:r>
            <a:r>
              <a:rPr lang="en-US" altLang="zh-CN" sz="2300" u="sng" dirty="0">
                <a:solidFill>
                  <a:schemeClr val="accent1"/>
                </a:solidFill>
              </a:rPr>
              <a:t>sellers</a:t>
            </a:r>
            <a:r>
              <a:rPr lang="en-US" altLang="zh-CN" sz="2300" dirty="0"/>
              <a:t> really want you to buy something. At first, their </a:t>
            </a:r>
            <a:r>
              <a:rPr lang="en-US" altLang="zh-CN" sz="2300" u="sng" dirty="0">
                <a:solidFill>
                  <a:schemeClr val="accent1"/>
                </a:solidFill>
              </a:rPr>
              <a:t>prices</a:t>
            </a:r>
            <a:r>
              <a:rPr lang="en-US" altLang="zh-CN" sz="2300" dirty="0"/>
              <a:t> are high, but then they go </a:t>
            </a:r>
            <a:r>
              <a:rPr lang="en-US" altLang="zh-CN" sz="2300" u="sng" dirty="0">
                <a:solidFill>
                  <a:schemeClr val="accent1"/>
                </a:solidFill>
              </a:rPr>
              <a:t>lower</a:t>
            </a:r>
            <a:r>
              <a:rPr lang="en-US" altLang="zh-CN" sz="2300" dirty="0"/>
              <a:t>. </a:t>
            </a:r>
            <a:endParaRPr lang="en-US" altLang="zh-CN" sz="2300" dirty="0"/>
          </a:p>
          <a:p>
            <a:pPr marL="0" indent="355600">
              <a:buNone/>
            </a:pPr>
            <a:r>
              <a:rPr lang="en-US" altLang="zh-CN" sz="2300" dirty="0"/>
              <a:t>You can </a:t>
            </a:r>
            <a:r>
              <a:rPr lang="en-US" altLang="zh-CN" sz="2300" u="sng" dirty="0">
                <a:solidFill>
                  <a:schemeClr val="accent1"/>
                </a:solidFill>
              </a:rPr>
              <a:t>bargain</a:t>
            </a:r>
            <a:r>
              <a:rPr lang="en-US" altLang="zh-CN" sz="2300" dirty="0"/>
              <a:t> with them for a long time. But it’s all part of the game. And some shoppers like to play this game, too. </a:t>
            </a:r>
            <a:endParaRPr lang="en-US" altLang="zh-CN" sz="2300" dirty="0"/>
          </a:p>
          <a:p>
            <a:pPr marL="0" indent="355600">
              <a:buNone/>
            </a:pPr>
            <a:r>
              <a:rPr lang="en-US" altLang="zh-CN" sz="2300" dirty="0"/>
              <a:t>But it’s important for tourists to be </a:t>
            </a:r>
            <a:r>
              <a:rPr lang="en-US" altLang="zh-CN" sz="2300" u="sng" dirty="0">
                <a:solidFill>
                  <a:schemeClr val="accent1"/>
                </a:solidFill>
              </a:rPr>
              <a:t>careful</a:t>
            </a:r>
            <a:r>
              <a:rPr lang="en-US" altLang="zh-CN" sz="2300" dirty="0"/>
              <a:t>. There are so many beautiful things to buy in this souk. And at these great prices, it’s easy to buy too much!</a:t>
            </a:r>
            <a:endParaRPr lang="en-US" altLang="zh-CN" sz="2300" dirty="0">
              <a:solidFill>
                <a:schemeClr val="accent1"/>
              </a:solidFill>
            </a:endParaRPr>
          </a:p>
        </p:txBody>
      </p:sp>
      <p:pic>
        <p:nvPicPr>
          <p:cNvPr id="77" name="按钮-External Player">
            <a:hlinkClick r:id="rId6" action="ppaction://hlinkfile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3335314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8" name="按钮-Script">
            <a:hlinkClick r:id="rId8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2975274"/>
            <a:ext cx="904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填空热区-点击消失"/>
          <p:cNvSpPr>
            <a:spLocks noChangeArrowheads="1"/>
          </p:cNvSpPr>
          <p:nvPr/>
        </p:nvSpPr>
        <p:spPr bwMode="auto">
          <a:xfrm>
            <a:off x="1325095" y="3876945"/>
            <a:ext cx="413998" cy="30594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3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4" name="填空热区-点击消失"/>
          <p:cNvSpPr>
            <a:spLocks noChangeArrowheads="1"/>
          </p:cNvSpPr>
          <p:nvPr/>
        </p:nvSpPr>
        <p:spPr bwMode="auto">
          <a:xfrm>
            <a:off x="7331717" y="3876945"/>
            <a:ext cx="714380" cy="30594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3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5" name="填空热区-点击消失"/>
          <p:cNvSpPr>
            <a:spLocks noChangeArrowheads="1"/>
          </p:cNvSpPr>
          <p:nvPr/>
        </p:nvSpPr>
        <p:spPr bwMode="auto">
          <a:xfrm>
            <a:off x="5007067" y="4227427"/>
            <a:ext cx="642942" cy="30594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3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6" name="填空热区-点击消失"/>
          <p:cNvSpPr>
            <a:spLocks noChangeArrowheads="1"/>
          </p:cNvSpPr>
          <p:nvPr/>
        </p:nvSpPr>
        <p:spPr bwMode="auto">
          <a:xfrm>
            <a:off x="494204" y="4578447"/>
            <a:ext cx="648772" cy="30594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3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9" name="填空热区-点击消失"/>
          <p:cNvSpPr>
            <a:spLocks noChangeArrowheads="1"/>
          </p:cNvSpPr>
          <p:nvPr/>
        </p:nvSpPr>
        <p:spPr bwMode="auto">
          <a:xfrm>
            <a:off x="1779479" y="5006806"/>
            <a:ext cx="857256" cy="30594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3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0" name="填空热区-点击消失"/>
          <p:cNvSpPr>
            <a:spLocks noChangeArrowheads="1"/>
          </p:cNvSpPr>
          <p:nvPr/>
        </p:nvSpPr>
        <p:spPr bwMode="auto">
          <a:xfrm>
            <a:off x="4663364" y="5779137"/>
            <a:ext cx="785818" cy="30594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3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29322" y="3355852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dirty="0">
                <a:latin typeface="+mj-lt"/>
              </a:rPr>
              <a:t>(Subtitles On)</a:t>
            </a:r>
            <a:endParaRPr lang="zh-CN" altLang="en-US" sz="1200" dirty="0">
              <a:latin typeface="+mj-lt"/>
            </a:endParaRPr>
          </a:p>
        </p:txBody>
      </p:sp>
      <p:sp>
        <p:nvSpPr>
          <p:cNvPr id="28" name="btn-Part 1">
            <a:hlinkClick r:id="rId10" action="ppaction://hlinksldjump"/>
          </p:cNvPr>
          <p:cNvSpPr/>
          <p:nvPr/>
        </p:nvSpPr>
        <p:spPr>
          <a:xfrm>
            <a:off x="4000496" y="489025"/>
            <a:ext cx="2203561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video>
          </p:childTnLst>
        </p:cTn>
      </p:par>
    </p:tnLst>
    <p:bldLst>
      <p:bldP spid="29" grpId="0" animBg="1"/>
      <p:bldP spid="44" grpId="0" animBg="1"/>
      <p:bldP spid="45" grpId="0" animBg="1"/>
      <p:bldP spid="46" grpId="0" animBg="1"/>
      <p:bldP spid="49" grpId="0" animBg="1"/>
      <p:bldP spid="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764704"/>
            <a:ext cx="8569325" cy="1164098"/>
          </a:xfrm>
        </p:spPr>
        <p:txBody>
          <a:bodyPr>
            <a:normAutofit/>
          </a:bodyPr>
          <a:lstStyle/>
          <a:p>
            <a:r>
              <a:rPr lang="en-US" altLang="zh-CN" b="1" dirty="0"/>
              <a:t>A. Work with a partner. </a:t>
            </a:r>
            <a:r>
              <a:rPr lang="en-US" altLang="zh-CN" dirty="0"/>
              <a:t>A student from another country is visiting your city for two weeks. He or she wants to go shopping for the things in the chart below. Plan a one-day shopping tour. Write your ideas.</a:t>
            </a:r>
            <a:endParaRPr lang="zh-CN" altLang="en-US" dirty="0"/>
          </a:p>
        </p:txBody>
      </p:sp>
      <p:grpSp>
        <p:nvGrpSpPr>
          <p:cNvPr id="14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1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7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285720" y="2248643"/>
          <a:ext cx="8501121" cy="3609249"/>
        </p:xfrm>
        <a:graphic>
          <a:graphicData uri="http://schemas.openxmlformats.org/drawingml/2006/table">
            <a:tbl>
              <a:tblPr/>
              <a:tblGrid>
                <a:gridCol w="2250297"/>
                <a:gridCol w="1250165"/>
                <a:gridCol w="1571636"/>
                <a:gridCol w="3429023"/>
              </a:tblGrid>
              <a:tr h="86710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48095" marR="48095" marT="36000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baseline="0" dirty="0">
                          <a:latin typeface="+mn-lt"/>
                        </a:rPr>
                        <a:t>clothes</a:t>
                      </a:r>
                      <a:endParaRPr lang="zh-CN" altLang="zh-CN" sz="2400" b="1" kern="0" dirty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36000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baseline="0" dirty="0">
                          <a:latin typeface="+mn-lt"/>
                        </a:rPr>
                        <a:t>interesting souvenirs</a:t>
                      </a:r>
                      <a:endParaRPr lang="en-US" altLang="zh-CN" sz="2400" b="1" baseline="0" dirty="0">
                        <a:latin typeface="+mn-lt"/>
                      </a:endParaRPr>
                    </a:p>
                  </a:txBody>
                  <a:tcPr marL="48095" marR="48095" marT="36000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baseline="0" dirty="0">
                          <a:latin typeface="+mn-lt"/>
                        </a:rPr>
                        <a:t>a typical food or drink from your city or country</a:t>
                      </a:r>
                      <a:endParaRPr lang="zh-CN" altLang="zh-CN" sz="2400" b="1" kern="0" dirty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36000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87996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aseline="0" dirty="0">
                          <a:latin typeface="+mn-lt"/>
                        </a:rPr>
                        <a:t>Marketplace or store name</a:t>
                      </a:r>
                      <a:endParaRPr lang="en-US" altLang="zh-CN" sz="2400" baseline="0" dirty="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49111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aseline="0" dirty="0">
                          <a:latin typeface="+mn-lt"/>
                        </a:rPr>
                        <a:t>What can you buy?</a:t>
                      </a:r>
                      <a:endParaRPr lang="en-US" altLang="zh-CN" sz="2400" baseline="0" dirty="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87996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aseline="0" dirty="0">
                          <a:latin typeface="+mn-lt"/>
                        </a:rPr>
                        <a:t>Expensive or inexpensive?</a:t>
                      </a:r>
                      <a:endParaRPr lang="en-US" altLang="zh-CN" sz="2400" baseline="0" dirty="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latin typeface="+mn-lt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49111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aseline="0" dirty="0">
                          <a:latin typeface="+mn-lt"/>
                        </a:rPr>
                        <a:t>Do you bargain?</a:t>
                      </a:r>
                      <a:endParaRPr lang="zh-CN" altLang="en-US" sz="2400" b="0" kern="0" dirty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1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285720" y="617505"/>
            <a:ext cx="85011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+mj-lt"/>
              </a:rPr>
              <a:t>B. Work with another pair. </a:t>
            </a:r>
            <a:r>
              <a:rPr lang="en-US" altLang="zh-CN" sz="2000" dirty="0">
                <a:latin typeface="+mj-lt"/>
              </a:rPr>
              <a:t>Explain your plan. Then listen to theirs. Do you like the other pair’s ideas? Why or why not?</a:t>
            </a:r>
            <a:endParaRPr lang="zh-CN" altLang="en-US" sz="2000" dirty="0">
              <a:latin typeface="+mj-lt"/>
            </a:endParaRPr>
          </a:p>
        </p:txBody>
      </p:sp>
      <p:grpSp>
        <p:nvGrpSpPr>
          <p:cNvPr id="2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29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圆角矩形标注 17"/>
          <p:cNvSpPr/>
          <p:nvPr/>
        </p:nvSpPr>
        <p:spPr>
          <a:xfrm>
            <a:off x="1285852" y="1928802"/>
            <a:ext cx="6715172" cy="1000132"/>
          </a:xfrm>
          <a:prstGeom prst="wedgeRoundRectCallout">
            <a:avLst>
              <a:gd name="adj1" fmla="val -53083"/>
              <a:gd name="adj2" fmla="val 37341"/>
              <a:gd name="adj3" fmla="val 16667"/>
            </a:avLst>
          </a:prstGeom>
          <a:solidFill>
            <a:schemeClr val="accent3">
              <a:lumMod val="40000"/>
              <a:lumOff val="60000"/>
            </a:schemeClr>
          </a:solidFill>
          <a:ln w="190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schemeClr val="tx1"/>
                </a:solidFill>
              </a:rPr>
              <a:t>The first stop on our shopping tour is an outdoor market. This place sells . . .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Click="0"/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2480</Words>
  <Application>WPS 演示</Application>
  <PresentationFormat>全屏显示(4:3)</PresentationFormat>
  <Paragraphs>132</Paragraphs>
  <Slides>8</Slides>
  <Notes>8</Notes>
  <HiddenSlides>0</HiddenSlides>
  <MMClips>11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265</cp:revision>
  <dcterms:created xsi:type="dcterms:W3CDTF">2017-12-23T09:29:00Z</dcterms:created>
  <dcterms:modified xsi:type="dcterms:W3CDTF">2024-08-27T06:09:55Z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5526ED6A31BD44F68284C8A0AC40B939_13</vt:lpwstr>
  </property>
  <property fmtid="{D5CDD505-2E9C-101B-9397-08002B2CF9AE}" pid="3" name="KSOProductBuildVer">
    <vt:lpwstr>2052-12.1.0.17857</vt:lpwstr>
  </property>
</Properties>
</file>