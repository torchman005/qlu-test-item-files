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9" r:id="rId6"/>
    <p:sldId id="267" r:id="rId7"/>
    <p:sldId id="261" r:id="rId8"/>
    <p:sldId id="262" r:id="rId9"/>
    <p:sldId id="268" r:id="rId10"/>
    <p:sldId id="264" r:id="rId11"/>
  </p:sldIdLst>
  <p:sldSz cx="9144000" cy="6858000" type="screen4x3"/>
  <p:notesSz cx="6858000" cy="9144000"/>
  <p:embeddedFontLst>
    <p:embeddedFont>
      <p:font typeface="Neuton" panose="00000500000000000000" charset="0"/>
      <p:regular r:id="rId16"/>
      <p:bold r:id="rId17"/>
      <p:italic r:id="rId18"/>
    </p:embeddedFont>
    <p:embeddedFont>
      <p:font typeface="Roboto Condensed" panose="02000000000000000000" charset="0"/>
      <p:regular r:id="rId19"/>
      <p:bold r:id="rId20"/>
      <p:italic r:id="rId21"/>
    </p:embeddedFont>
    <p:embeddedFont>
      <p:font typeface="微软雅黑" panose="020B050302020402020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D33"/>
    <a:srgbClr val="515672"/>
    <a:srgbClr val="F2F2F2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>
        <p:scale>
          <a:sx n="100" d="100"/>
          <a:sy n="100" d="100"/>
        </p:scale>
        <p:origin x="2250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for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2160240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Before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l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743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While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fter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489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After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slide" Target="slide8.xml"/><Relationship Id="rId2" Type="http://schemas.openxmlformats.org/officeDocument/2006/relationships/slide" Target="slide5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emf"/><Relationship Id="rId8" Type="http://schemas.openxmlformats.org/officeDocument/2006/relationships/slide" Target="slide3.xml"/><Relationship Id="rId7" Type="http://schemas.microsoft.com/office/2007/relationships/media" Target="ppt/slides/awesome.mp3" TargetMode="External"/><Relationship Id="rId6" Type="http://schemas.openxmlformats.org/officeDocument/2006/relationships/audio" Target="ppt/slides/awesome.mp3" TargetMode="External"/><Relationship Id="rId5" Type="http://schemas.microsoft.com/office/2007/relationships/media" Target="ppt/slides/debris.mp3" TargetMode="External"/><Relationship Id="rId40" Type="http://schemas.openxmlformats.org/officeDocument/2006/relationships/notesSlide" Target="../notesSlides/notesSlide2.xml"/><Relationship Id="rId4" Type="http://schemas.openxmlformats.org/officeDocument/2006/relationships/audio" Target="ppt/slides/debris.mp3" TargetMode="External"/><Relationship Id="rId39" Type="http://schemas.openxmlformats.org/officeDocument/2006/relationships/slideLayout" Target="../slideLayouts/slideLayout2.xml"/><Relationship Id="rId38" Type="http://schemas.openxmlformats.org/officeDocument/2006/relationships/slide" Target="slide2.xml"/><Relationship Id="rId37" Type="http://schemas.microsoft.com/office/2007/relationships/media" Target="ppt/slides/crater.mp3" TargetMode="External"/><Relationship Id="rId36" Type="http://schemas.openxmlformats.org/officeDocument/2006/relationships/audio" Target="ppt/slides/crater.mp3" TargetMode="External"/><Relationship Id="rId35" Type="http://schemas.microsoft.com/office/2007/relationships/media" Target="ppt/slides/crash.mp3" TargetMode="External"/><Relationship Id="rId34" Type="http://schemas.openxmlformats.org/officeDocument/2006/relationships/audio" Target="ppt/slides/crash.mp3" TargetMode="External"/><Relationship Id="rId33" Type="http://schemas.microsoft.com/office/2007/relationships/media" Target="ppt/slides/Chicxulub.mp3" TargetMode="External"/><Relationship Id="rId32" Type="http://schemas.openxmlformats.org/officeDocument/2006/relationships/audio" Target="ppt/slides/Chicxulub.mp3" TargetMode="External"/><Relationship Id="rId31" Type="http://schemas.microsoft.com/office/2007/relationships/media" Target="ppt/slides/bomb.mp3" TargetMode="External"/><Relationship Id="rId30" Type="http://schemas.openxmlformats.org/officeDocument/2006/relationships/audio" Target="ppt/slides/bomb.mp3" TargetMode="External"/><Relationship Id="rId3" Type="http://schemas.openxmlformats.org/officeDocument/2006/relationships/image" Target="../media/image3.emf"/><Relationship Id="rId29" Type="http://schemas.microsoft.com/office/2007/relationships/media" Target="ppt/slides/shockwave.mp3" TargetMode="External"/><Relationship Id="rId28" Type="http://schemas.openxmlformats.org/officeDocument/2006/relationships/audio" Target="ppt/slides/shockwave.mp3" TargetMode="External"/><Relationship Id="rId27" Type="http://schemas.microsoft.com/office/2007/relationships/media" Target="ppt/slides/recreate.mp3" TargetMode="External"/><Relationship Id="rId26" Type="http://schemas.openxmlformats.org/officeDocument/2006/relationships/audio" Target="ppt/slides/recreate.mp3" TargetMode="External"/><Relationship Id="rId25" Type="http://schemas.microsoft.com/office/2007/relationships/media" Target="ppt/slides/outstanding.mp3" TargetMode="External"/><Relationship Id="rId24" Type="http://schemas.openxmlformats.org/officeDocument/2006/relationships/audio" Target="ppt/slides/outstanding.mp3" TargetMode="External"/><Relationship Id="rId23" Type="http://schemas.microsoft.com/office/2007/relationships/media" Target="ppt/slides/extinction.mp3" TargetMode="External"/><Relationship Id="rId22" Type="http://schemas.openxmlformats.org/officeDocument/2006/relationships/audio" Target="ppt/slides/extinction.mp3" TargetMode="External"/><Relationship Id="rId21" Type="http://schemas.microsoft.com/office/2007/relationships/media" Target="ppt/slides/explosion.mp3" TargetMode="External"/><Relationship Id="rId20" Type="http://schemas.openxmlformats.org/officeDocument/2006/relationships/audio" Target="ppt/slides/explosion.mp3" TargetMode="External"/><Relationship Id="rId2" Type="http://schemas.microsoft.com/office/2007/relationships/media" Target="ppt/slides/asteroid.mp3" TargetMode="External"/><Relationship Id="rId19" Type="http://schemas.microsoft.com/office/2007/relationships/media" Target="ppt/slides/ejecta.mp3" TargetMode="External"/><Relationship Id="rId18" Type="http://schemas.openxmlformats.org/officeDocument/2006/relationships/audio" Target="ppt/slides/ejecta.mp3" TargetMode="External"/><Relationship Id="rId17" Type="http://schemas.openxmlformats.org/officeDocument/2006/relationships/slide" Target="slide4.xml"/><Relationship Id="rId16" Type="http://schemas.microsoft.com/office/2007/relationships/media" Target="ppt/slides/dinosaur.mp3" TargetMode="External"/><Relationship Id="rId15" Type="http://schemas.openxmlformats.org/officeDocument/2006/relationships/audio" Target="ppt/slides/dinosaur.mp3" TargetMode="External"/><Relationship Id="rId14" Type="http://schemas.openxmlformats.org/officeDocument/2006/relationships/image" Target="../media/image7.png"/><Relationship Id="rId13" Type="http://schemas.microsoft.com/office/2007/relationships/media" Target="ppt/slides/words-1.mp3" TargetMode="External"/><Relationship Id="rId12" Type="http://schemas.openxmlformats.org/officeDocument/2006/relationships/audio" Target="ppt/slides/words-1.mp3" TargetMode="External"/><Relationship Id="rId11" Type="http://schemas.openxmlformats.org/officeDocument/2006/relationships/image" Target="../media/image6.emf"/><Relationship Id="rId10" Type="http://schemas.openxmlformats.org/officeDocument/2006/relationships/image" Target="../media/image5.emf"/><Relationship Id="rId1" Type="http://schemas.openxmlformats.org/officeDocument/2006/relationships/audio" Target="ppt/slides/asteroid.mp3" TargetMode="Externa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slide" Target="slide3.xml"/><Relationship Id="rId3" Type="http://schemas.openxmlformats.org/officeDocument/2006/relationships/image" Target="../media/image2.jpeg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image" Target="../media/image8.png"/><Relationship Id="rId4" Type="http://schemas.microsoft.com/office/2007/relationships/media" Target="ppt/slides/B1%20Unit8.wmv" TargetMode="External"/><Relationship Id="rId3" Type="http://schemas.openxmlformats.org/officeDocument/2006/relationships/video" Target="ppt/slides/B1%20Unit8.wmv" TargetMode="External"/><Relationship Id="rId2" Type="http://schemas.openxmlformats.org/officeDocument/2006/relationships/slide" Target="slide2.xml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5.xml"/><Relationship Id="rId8" Type="http://schemas.openxmlformats.org/officeDocument/2006/relationships/slide" Target="slide7.xml"/><Relationship Id="rId7" Type="http://schemas.openxmlformats.org/officeDocument/2006/relationships/hyperlink" Target="B1%20Unit8.wmv" TargetMode="External"/><Relationship Id="rId6" Type="http://schemas.openxmlformats.org/officeDocument/2006/relationships/slide" Target="slide6.xml"/><Relationship Id="rId5" Type="http://schemas.openxmlformats.org/officeDocument/2006/relationships/image" Target="../media/image9.emf"/><Relationship Id="rId4" Type="http://schemas.openxmlformats.org/officeDocument/2006/relationships/hyperlink" Target="B1%20Unit8-sub.mp4" TargetMode="External"/><Relationship Id="rId3" Type="http://schemas.openxmlformats.org/officeDocument/2006/relationships/image" Target="../media/image8.png"/><Relationship Id="rId2" Type="http://schemas.microsoft.com/office/2007/relationships/media" Target="ppt/slides/B1%20Unit8.wmv" TargetMode="Externa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3.xml"/><Relationship Id="rId1" Type="http://schemas.openxmlformats.org/officeDocument/2006/relationships/video" Target="ppt/slides/B1%20Unit8.wmv" TargetMode="Externa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7.xml"/><Relationship Id="rId8" Type="http://schemas.openxmlformats.org/officeDocument/2006/relationships/image" Target="../media/image10.emf"/><Relationship Id="rId7" Type="http://schemas.openxmlformats.org/officeDocument/2006/relationships/hyperlink" Target="Script1.pptx" TargetMode="External"/><Relationship Id="rId6" Type="http://schemas.openxmlformats.org/officeDocument/2006/relationships/image" Target="../media/image9.emf"/><Relationship Id="rId5" Type="http://schemas.openxmlformats.org/officeDocument/2006/relationships/hyperlink" Target="B1%20Unit8-sub.mp4" TargetMode="External"/><Relationship Id="rId4" Type="http://schemas.openxmlformats.org/officeDocument/2006/relationships/image" Target="../media/image8.png"/><Relationship Id="rId3" Type="http://schemas.microsoft.com/office/2007/relationships/media" Target="ppt/slides/B1%20Unit8.wmv" TargetMode="External"/><Relationship Id="rId2" Type="http://schemas.openxmlformats.org/officeDocument/2006/relationships/video" Target="ppt/slides/B1%20Unit8.wmv" TargetMode="Externa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3.xml"/><Relationship Id="rId10" Type="http://schemas.openxmlformats.org/officeDocument/2006/relationships/slide" Target="slide6.xml"/><Relationship Id="rId1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hyperlink" Target="Script1.pptx" TargetMode="External"/><Relationship Id="rId7" Type="http://schemas.openxmlformats.org/officeDocument/2006/relationships/image" Target="../media/image9.emf"/><Relationship Id="rId6" Type="http://schemas.openxmlformats.org/officeDocument/2006/relationships/hyperlink" Target="B1%20Unit8-sub.mp4" TargetMode="External"/><Relationship Id="rId5" Type="http://schemas.openxmlformats.org/officeDocument/2006/relationships/image" Target="../media/image8.png"/><Relationship Id="rId4" Type="http://schemas.microsoft.com/office/2007/relationships/media" Target="ppt/slides/B1%20Unit8.wmv" TargetMode="External"/><Relationship Id="rId3" Type="http://schemas.openxmlformats.org/officeDocument/2006/relationships/video" Target="ppt/slides/B1%20Unit8.wmv" TargetMode="External"/><Relationship Id="rId2" Type="http://schemas.openxmlformats.org/officeDocument/2006/relationships/slide" Target="slide5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3.xml"/><Relationship Id="rId10" Type="http://schemas.openxmlformats.org/officeDocument/2006/relationships/slide" Target="slide7.xml"/><Relationship Id="rId1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90612" y="980729"/>
            <a:ext cx="8569325" cy="5328592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Clr>
                <a:schemeClr val="accent3"/>
              </a:buClr>
            </a:pPr>
            <a:r>
              <a:rPr lang="en-US" altLang="zh-CN" b="1" dirty="0" smtClean="0">
                <a:solidFill>
                  <a:schemeClr val="tx2"/>
                </a:solidFill>
                <a:latin typeface="+mj-lt"/>
              </a:rPr>
              <a:t>What Killed the Dinosaurs?</a:t>
            </a:r>
            <a:endParaRPr lang="en-US" altLang="zh-CN" b="1" dirty="0" smtClean="0">
              <a:solidFill>
                <a:schemeClr val="tx2"/>
              </a:solidFill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Before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While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After You Watch</a:t>
            </a:r>
            <a:endParaRPr lang="en-US" altLang="zh-CN" dirty="0" smtClean="0">
              <a:latin typeface="+mj-lt"/>
            </a:endParaRPr>
          </a:p>
        </p:txBody>
      </p:sp>
      <p:sp>
        <p:nvSpPr>
          <p:cNvPr id="51" name="btn-Part 1">
            <a:hlinkClick r:id="rId1" action="ppaction://hlinksldjump"/>
          </p:cNvPr>
          <p:cNvSpPr/>
          <p:nvPr/>
        </p:nvSpPr>
        <p:spPr>
          <a:xfrm>
            <a:off x="586160" y="1730524"/>
            <a:ext cx="270227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tn-Part 1">
            <a:hlinkClick r:id="rId2" action="ppaction://hlinksldjump"/>
          </p:cNvPr>
          <p:cNvSpPr/>
          <p:nvPr/>
        </p:nvSpPr>
        <p:spPr>
          <a:xfrm>
            <a:off x="624136" y="2370088"/>
            <a:ext cx="25416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3" action="ppaction://hlinksldjump"/>
          </p:cNvPr>
          <p:cNvSpPr/>
          <p:nvPr/>
        </p:nvSpPr>
        <p:spPr>
          <a:xfrm>
            <a:off x="624136" y="2975744"/>
            <a:ext cx="2351051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E:\lab\全新版进阶视听说\PPT\working\P01-13_1327321.jpg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714744" y="1946978"/>
            <a:ext cx="5228307" cy="2806227"/>
          </a:xfrm>
          <a:prstGeom prst="rect">
            <a:avLst/>
          </a:prstGeom>
          <a:noFill/>
        </p:spPr>
      </p:pic>
      <p:sp>
        <p:nvSpPr>
          <p:cNvPr id="16" name="矩形 15"/>
          <p:cNvSpPr/>
          <p:nvPr/>
        </p:nvSpPr>
        <p:spPr>
          <a:xfrm>
            <a:off x="3714744" y="4714884"/>
            <a:ext cx="5225991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</a:rPr>
              <a:t>Over 65 million years ago, an asteroid (a very</a:t>
            </a:r>
            <a:r>
              <a:rPr lang="zh-CN" altLang="en-US" sz="1600" dirty="0" smtClean="0">
                <a:solidFill>
                  <a:schemeClr val="bg1"/>
                </a:solidFill>
              </a:rPr>
              <a:t> </a:t>
            </a:r>
            <a:r>
              <a:rPr lang="en-US" altLang="zh-CN" sz="1600" dirty="0" smtClean="0">
                <a:solidFill>
                  <a:schemeClr val="bg1"/>
                </a:solidFill>
              </a:rPr>
              <a:t>large rock from space) </a:t>
            </a:r>
            <a:r>
              <a:rPr lang="en-US" altLang="zh-CN" sz="1600" b="1" dirty="0" smtClean="0">
                <a:solidFill>
                  <a:schemeClr val="accent1"/>
                </a:solidFill>
              </a:rPr>
              <a:t>crashed</a:t>
            </a:r>
            <a:r>
              <a:rPr lang="en-US" altLang="zh-CN" sz="1600" dirty="0" smtClean="0">
                <a:solidFill>
                  <a:schemeClr val="bg1"/>
                </a:solidFill>
              </a:rPr>
              <a:t> into the Earth</a:t>
            </a:r>
            <a:r>
              <a:rPr lang="zh-CN" altLang="en-US" sz="1600" dirty="0" smtClean="0">
                <a:solidFill>
                  <a:schemeClr val="bg1"/>
                </a:solidFill>
              </a:rPr>
              <a:t> </a:t>
            </a:r>
            <a:r>
              <a:rPr lang="en-US" altLang="zh-CN" sz="1600" dirty="0" smtClean="0">
                <a:solidFill>
                  <a:schemeClr val="bg1"/>
                </a:solidFill>
              </a:rPr>
              <a:t>near </a:t>
            </a:r>
            <a:r>
              <a:rPr lang="en-US" altLang="zh-CN" sz="1600" dirty="0" err="1" smtClean="0">
                <a:solidFill>
                  <a:schemeClr val="bg1"/>
                </a:solidFill>
              </a:rPr>
              <a:t>Chicxulub</a:t>
            </a:r>
            <a:r>
              <a:rPr lang="en-US" altLang="zh-CN" sz="1600" dirty="0" smtClean="0">
                <a:solidFill>
                  <a:schemeClr val="bg1"/>
                </a:solidFill>
              </a:rPr>
              <a:t>, Mexico. It caused the extinction</a:t>
            </a:r>
            <a:r>
              <a:rPr lang="zh-CN" altLang="en-US" sz="1600" dirty="0" smtClean="0">
                <a:solidFill>
                  <a:schemeClr val="bg1"/>
                </a:solidFill>
              </a:rPr>
              <a:t> </a:t>
            </a:r>
            <a:r>
              <a:rPr lang="en-US" altLang="zh-CN" sz="1600" dirty="0" smtClean="0">
                <a:solidFill>
                  <a:schemeClr val="bg1"/>
                </a:solidFill>
              </a:rPr>
              <a:t>(death) of the dinosaurs, scientists think.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214282" y="1031354"/>
            <a:ext cx="4643470" cy="571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New words and expression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Understand vocabulary      B. Prediction   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412776"/>
            <a:ext cx="8137599" cy="4659430"/>
          </a:xfrm>
        </p:spPr>
        <p:txBody>
          <a:bodyPr numCol="2" spcCol="900000"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asteroid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en-US" sz="2400" dirty="0" smtClean="0"/>
              <a:t>（</a:t>
            </a:r>
            <a:r>
              <a:rPr lang="zh-CN" altLang="en-US" sz="2400" dirty="0" smtClean="0"/>
              <a:t>火星和木星间运行的）小行星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awesome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adj.</a:t>
            </a:r>
            <a:r>
              <a:rPr lang="zh-CN" altLang="en-US" sz="2400" i="1" dirty="0" smtClean="0"/>
              <a:t> </a:t>
            </a:r>
            <a:r>
              <a:rPr lang="zh-CN" altLang="en-US" sz="2400" dirty="0" smtClean="0"/>
              <a:t>令人惊叹的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bomb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zh-CN" altLang="en-US" sz="2400" i="1" dirty="0" smtClean="0"/>
              <a:t> </a:t>
            </a:r>
            <a:r>
              <a:rPr lang="zh-CN" altLang="en-US" sz="2400" dirty="0" smtClean="0"/>
              <a:t>炸弹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err="1" smtClean="0"/>
              <a:t>Chicxulub</a:t>
            </a:r>
            <a:r>
              <a:rPr lang="zh-CN" altLang="en-US" sz="2400" b="1" dirty="0" smtClean="0"/>
              <a:t>  </a:t>
            </a:r>
            <a:r>
              <a:rPr lang="zh-CN" altLang="en-US" sz="2400" dirty="0" smtClean="0"/>
              <a:t>希克苏鲁伯陨石坑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crash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v.</a:t>
            </a:r>
            <a:r>
              <a:rPr lang="zh-CN" altLang="en-US" sz="2400" i="1" dirty="0" smtClean="0"/>
              <a:t> </a:t>
            </a:r>
            <a:r>
              <a:rPr lang="en-US" sz="2400" dirty="0" smtClean="0"/>
              <a:t>hit something else violently, making a loud noise </a:t>
            </a:r>
            <a:r>
              <a:rPr lang="zh-CN" altLang="en-US" sz="2400" dirty="0" smtClean="0"/>
              <a:t>猛撞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crater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en-US" sz="2400" dirty="0" smtClean="0"/>
              <a:t>（</a:t>
            </a:r>
            <a:r>
              <a:rPr lang="zh-CN" altLang="en-US" sz="2400" dirty="0" smtClean="0"/>
              <a:t>撞击或爆炸形成的）大坑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debris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zh-CN" altLang="en-US" sz="2400" i="1" dirty="0" smtClean="0"/>
              <a:t>  </a:t>
            </a:r>
            <a:r>
              <a:rPr lang="zh-CN" altLang="en-US" sz="2400" dirty="0" smtClean="0"/>
              <a:t>碎片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dinosaur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zh-CN" altLang="en-US" sz="2400" i="1" dirty="0" smtClean="0"/>
              <a:t>  </a:t>
            </a:r>
            <a:r>
              <a:rPr lang="zh-CN" altLang="en-US" sz="2400" dirty="0" smtClean="0"/>
              <a:t>恐龙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err="1" smtClean="0"/>
              <a:t>ejecta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en-US" sz="2400" dirty="0" smtClean="0"/>
              <a:t>（</a:t>
            </a:r>
            <a:r>
              <a:rPr lang="zh-CN" altLang="en-US" sz="2400" dirty="0" smtClean="0"/>
              <a:t>火山喷发或流星陨落时的）喷出物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explosion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zh-CN" altLang="en-US" sz="2400" i="1" dirty="0" smtClean="0"/>
              <a:t> </a:t>
            </a:r>
            <a:r>
              <a:rPr lang="zh-CN" altLang="en-US" sz="2400" dirty="0" smtClean="0"/>
              <a:t>爆炸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extinction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</a:t>
            </a:r>
            <a:r>
              <a:rPr lang="en-US" sz="2400" dirty="0" smtClean="0"/>
              <a:t>（</a:t>
            </a:r>
            <a:r>
              <a:rPr lang="zh-CN" altLang="en-US" sz="2400" dirty="0" smtClean="0"/>
              <a:t>物种的）灭绝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outstanding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adj.</a:t>
            </a:r>
            <a:r>
              <a:rPr lang="zh-CN" altLang="en-US" sz="2400" i="1" dirty="0" smtClean="0"/>
              <a:t> </a:t>
            </a:r>
            <a:r>
              <a:rPr lang="en-US" sz="2400" dirty="0" smtClean="0"/>
              <a:t>remarkable and impressive </a:t>
            </a:r>
            <a:r>
              <a:rPr lang="zh-CN" altLang="en-US" sz="2400" dirty="0" smtClean="0"/>
              <a:t>出色的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recreate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v. </a:t>
            </a:r>
            <a:r>
              <a:rPr lang="zh-CN" altLang="en-US" sz="2400" dirty="0" smtClean="0"/>
              <a:t>再现，重建</a:t>
            </a:r>
            <a:endParaRPr lang="zh-CN" alt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shockwave</a:t>
            </a:r>
            <a:r>
              <a:rPr lang="zh-CN" altLang="en-US" sz="2400" b="1" dirty="0" smtClean="0"/>
              <a:t>  </a:t>
            </a:r>
            <a:r>
              <a:rPr lang="en-US" sz="2400" i="1" dirty="0" smtClean="0"/>
              <a:t>n. </a:t>
            </a:r>
            <a:r>
              <a:rPr lang="zh-CN" altLang="en-US" sz="2400" dirty="0" smtClean="0"/>
              <a:t>冲击波</a:t>
            </a:r>
            <a:endParaRPr lang="zh-CN" altLang="en-US" sz="2400" dirty="0"/>
          </a:p>
        </p:txBody>
      </p:sp>
      <p:pic>
        <p:nvPicPr>
          <p:cNvPr id="61" name="asteroid.mp3">
            <a:hlinkClick r:id="" action="ppaction://media"/>
          </p:cNvPr>
          <p:cNvPicPr>
            <a:picLocks noRot="1"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1527076"/>
            <a:ext cx="312701" cy="309438"/>
          </a:xfrm>
          <a:prstGeom prst="rect">
            <a:avLst/>
          </a:prstGeom>
        </p:spPr>
      </p:pic>
      <p:pic>
        <p:nvPicPr>
          <p:cNvPr id="67" name="debris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1547926"/>
            <a:ext cx="312701" cy="309438"/>
          </a:xfrm>
          <a:prstGeom prst="rect">
            <a:avLst/>
          </a:prstGeom>
        </p:spPr>
      </p:pic>
      <p:pic>
        <p:nvPicPr>
          <p:cNvPr id="68" name="awesome.mp3">
            <a:hlinkClick r:id="" action="ppaction://media"/>
          </p:cNvPr>
          <p:cNvPicPr>
            <a:picLocks noRot="1"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2333744"/>
            <a:ext cx="312701" cy="309438"/>
          </a:xfrm>
          <a:prstGeom prst="rect">
            <a:avLst/>
          </a:prstGeom>
        </p:spPr>
      </p:pic>
      <p:sp>
        <p:nvSpPr>
          <p:cNvPr id="22" name="btn-Part 1">
            <a:hlinkClick r:id="rId8" action="ppaction://hlinksldjump"/>
          </p:cNvPr>
          <p:cNvSpPr/>
          <p:nvPr/>
        </p:nvSpPr>
        <p:spPr>
          <a:xfrm>
            <a:off x="2500298" y="500042"/>
            <a:ext cx="2214578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播放按钮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暂停按钮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停止按钮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words-1.mp3">
            <a:hlinkClick r:id="" action="ppaction://media"/>
          </p:cNvPr>
          <p:cNvPicPr>
            <a:picLocks noRot="1"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link="rId13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9235752" y="1052736"/>
            <a:ext cx="304800" cy="304800"/>
          </a:xfrm>
          <a:prstGeom prst="rect">
            <a:avLst/>
          </a:prstGeom>
        </p:spPr>
      </p:pic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dinosaur.mp3">
            <a:hlinkClick r:id="" action="ppaction://media"/>
          </p:cNvPr>
          <p:cNvPicPr>
            <a:picLocks noRot="1"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link="rId16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1976554"/>
            <a:ext cx="312701" cy="309438"/>
          </a:xfrm>
          <a:prstGeom prst="rect">
            <a:avLst/>
          </a:prstGeom>
        </p:spPr>
      </p:pic>
      <p:sp>
        <p:nvSpPr>
          <p:cNvPr id="37" name="btn-Part 1">
            <a:hlinkClick r:id="rId17" action="ppaction://hlinksldjump"/>
          </p:cNvPr>
          <p:cNvSpPr/>
          <p:nvPr/>
        </p:nvSpPr>
        <p:spPr>
          <a:xfrm>
            <a:off x="4857752" y="488551"/>
            <a:ext cx="1214446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ejecta.mp3">
            <a:hlinkClick r:id="" action="ppaction://media"/>
          </p:cNvPr>
          <p:cNvPicPr>
            <a:picLocks noRot="1"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link="rId19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2428868"/>
            <a:ext cx="312701" cy="309438"/>
          </a:xfrm>
          <a:prstGeom prst="rect">
            <a:avLst/>
          </a:prstGeom>
        </p:spPr>
      </p:pic>
      <p:pic>
        <p:nvPicPr>
          <p:cNvPr id="35" name="explosion.mp3">
            <a:hlinkClick r:id="" action="ppaction://media"/>
          </p:cNvPr>
          <p:cNvPicPr>
            <a:picLocks noRot="1"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link="rId21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3191000"/>
            <a:ext cx="312701" cy="309438"/>
          </a:xfrm>
          <a:prstGeom prst="rect">
            <a:avLst/>
          </a:prstGeom>
        </p:spPr>
      </p:pic>
      <p:pic>
        <p:nvPicPr>
          <p:cNvPr id="36" name="extinction.mp3">
            <a:hlinkClick r:id="" action="ppaction://media"/>
          </p:cNvPr>
          <p:cNvPicPr>
            <a:picLocks noRot="1"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link="rId23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3643314"/>
            <a:ext cx="312701" cy="309438"/>
          </a:xfrm>
          <a:prstGeom prst="rect">
            <a:avLst/>
          </a:prstGeom>
        </p:spPr>
      </p:pic>
      <p:pic>
        <p:nvPicPr>
          <p:cNvPr id="38" name="outstanding.mp3">
            <a:hlinkClick r:id="" action="ppaction://media"/>
          </p:cNvPr>
          <p:cNvPicPr>
            <a:picLocks noRot="1" noChangeAspect="1"/>
          </p:cNvPicPr>
          <p:nvPr>
            <a:audioFile r:link="rId24"/>
            <p:extLst>
              <p:ext uri="{DAA4B4D4-6D71-4841-9C94-3DE7FCFB9230}">
                <p14:media xmlns:p14="http://schemas.microsoft.com/office/powerpoint/2010/main" r:link="rId2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4476884"/>
            <a:ext cx="312701" cy="309438"/>
          </a:xfrm>
          <a:prstGeom prst="rect">
            <a:avLst/>
          </a:prstGeom>
        </p:spPr>
      </p:pic>
      <p:pic>
        <p:nvPicPr>
          <p:cNvPr id="39" name="recreate.mp3">
            <a:hlinkClick r:id="" action="ppaction://media"/>
          </p:cNvPr>
          <p:cNvPicPr>
            <a:picLocks noRot="1" noChangeAspect="1"/>
          </p:cNvPicPr>
          <p:nvPr>
            <a:audioFile r:link="rId26"/>
            <p:extLst>
              <p:ext uri="{DAA4B4D4-6D71-4841-9C94-3DE7FCFB9230}">
                <p14:media xmlns:p14="http://schemas.microsoft.com/office/powerpoint/2010/main" r:link="rId2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5251685"/>
            <a:ext cx="312701" cy="309438"/>
          </a:xfrm>
          <a:prstGeom prst="rect">
            <a:avLst/>
          </a:prstGeom>
        </p:spPr>
      </p:pic>
      <p:pic>
        <p:nvPicPr>
          <p:cNvPr id="40" name="shockwave.mp3">
            <a:hlinkClick r:id="" action="ppaction://media"/>
          </p:cNvPr>
          <p:cNvPicPr>
            <a:picLocks noRot="1" noChangeAspect="1"/>
          </p:cNvPicPr>
          <p:nvPr>
            <a:audioFile r:link="rId28"/>
            <p:extLst>
              <p:ext uri="{DAA4B4D4-6D71-4841-9C94-3DE7FCFB9230}">
                <p14:media xmlns:p14="http://schemas.microsoft.com/office/powerpoint/2010/main" r:link="rId29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5680313"/>
            <a:ext cx="312701" cy="309438"/>
          </a:xfrm>
          <a:prstGeom prst="rect">
            <a:avLst/>
          </a:prstGeom>
        </p:spPr>
      </p:pic>
      <p:pic>
        <p:nvPicPr>
          <p:cNvPr id="41" name="bomb.mp3">
            <a:hlinkClick r:id="" action="ppaction://media"/>
          </p:cNvPr>
          <p:cNvPicPr>
            <a:picLocks noRot="1"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link="rId31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2762372"/>
            <a:ext cx="312701" cy="309438"/>
          </a:xfrm>
          <a:prstGeom prst="rect">
            <a:avLst/>
          </a:prstGeom>
        </p:spPr>
      </p:pic>
      <p:pic>
        <p:nvPicPr>
          <p:cNvPr id="44" name="Chicxulub.mp3">
            <a:hlinkClick r:id="" action="ppaction://media"/>
          </p:cNvPr>
          <p:cNvPicPr>
            <a:picLocks noRot="1" noChangeAspect="1"/>
          </p:cNvPicPr>
          <p:nvPr>
            <a:audioFile r:link="rId32"/>
            <p:extLst>
              <p:ext uri="{DAA4B4D4-6D71-4841-9C94-3DE7FCFB9230}">
                <p14:media xmlns:p14="http://schemas.microsoft.com/office/powerpoint/2010/main" r:link="rId33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3191000"/>
            <a:ext cx="312701" cy="309438"/>
          </a:xfrm>
          <a:prstGeom prst="rect">
            <a:avLst/>
          </a:prstGeom>
        </p:spPr>
      </p:pic>
      <p:pic>
        <p:nvPicPr>
          <p:cNvPr id="47" name="crash.mp3">
            <a:hlinkClick r:id="" action="ppaction://media"/>
          </p:cNvPr>
          <p:cNvPicPr>
            <a:picLocks noRot="1" noChangeAspect="1"/>
          </p:cNvPicPr>
          <p:nvPr>
            <a:audioFile r:link="rId34"/>
            <p:extLst>
              <p:ext uri="{DAA4B4D4-6D71-4841-9C94-3DE7FCFB9230}">
                <p14:media xmlns:p14="http://schemas.microsoft.com/office/powerpoint/2010/main" r:link="rId3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4026222"/>
            <a:ext cx="312701" cy="309438"/>
          </a:xfrm>
          <a:prstGeom prst="rect">
            <a:avLst/>
          </a:prstGeom>
        </p:spPr>
      </p:pic>
      <p:pic>
        <p:nvPicPr>
          <p:cNvPr id="48" name="crater.mp3">
            <a:hlinkClick r:id="" action="ppaction://media"/>
          </p:cNvPr>
          <p:cNvPicPr>
            <a:picLocks noRot="1" noChangeAspect="1"/>
          </p:cNvPicPr>
          <p:nvPr>
            <a:audioFile r:link="rId36"/>
            <p:extLst>
              <p:ext uri="{DAA4B4D4-6D71-4841-9C94-3DE7FCFB9230}">
                <p14:media xmlns:p14="http://schemas.microsoft.com/office/powerpoint/2010/main" r:link="rId3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5191264"/>
            <a:ext cx="312701" cy="309438"/>
          </a:xfrm>
          <a:prstGeom prst="rect">
            <a:avLst/>
          </a:prstGeom>
        </p:spPr>
      </p:pic>
      <p:sp>
        <p:nvSpPr>
          <p:cNvPr id="49" name="btn-Part 1">
            <a:hlinkClick r:id="rId38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7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showWhenStopped="0">
                <p:cTn id="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>
                <p:cTn id="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1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New words and expression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A. Understand vocabulary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B. Prediction   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28596" y="1914123"/>
            <a:ext cx="3672000" cy="2088000"/>
          </a:xfrm>
          <a:prstGeom prst="roundRect">
            <a:avLst>
              <a:gd name="adj" fmla="val 5585"/>
            </a:avLst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zh-CN" sz="2000" b="1" dirty="0" smtClean="0">
                <a:solidFill>
                  <a:schemeClr val="tx1"/>
                </a:solidFill>
              </a:rPr>
              <a:t>About the video. </a:t>
            </a:r>
            <a:r>
              <a:rPr lang="en-US" altLang="zh-CN" sz="2000" dirty="0" smtClean="0">
                <a:solidFill>
                  <a:schemeClr val="tx1"/>
                </a:solidFill>
              </a:rPr>
              <a:t>An asteroid crashed into Earth. But why did the dinosaurs die?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To answer this question, scientists use a small </a:t>
            </a:r>
            <a:r>
              <a:rPr lang="en-US" altLang="zh-CN" sz="2000" b="1" dirty="0" smtClean="0">
                <a:solidFill>
                  <a:schemeClr val="accent1"/>
                </a:solidFill>
              </a:rPr>
              <a:t>bomb </a:t>
            </a:r>
            <a:r>
              <a:rPr lang="en-US" altLang="zh-CN" sz="2000" dirty="0" smtClean="0">
                <a:solidFill>
                  <a:schemeClr val="tx1"/>
                </a:solidFill>
              </a:rPr>
              <a:t>to </a:t>
            </a:r>
            <a:r>
              <a:rPr lang="en-US" altLang="zh-CN" sz="2000" b="1" dirty="0" smtClean="0">
                <a:solidFill>
                  <a:schemeClr val="accent1"/>
                </a:solidFill>
              </a:rPr>
              <a:t>recreate</a:t>
            </a:r>
            <a:r>
              <a:rPr lang="en-US" altLang="zh-CN" sz="2000" dirty="0" smtClean="0">
                <a:solidFill>
                  <a:schemeClr val="tx1"/>
                </a:solidFill>
              </a:rPr>
              <a:t> the asteroid </a:t>
            </a:r>
            <a:r>
              <a:rPr lang="en-US" altLang="zh-CN" sz="2000" b="1" dirty="0" smtClean="0">
                <a:solidFill>
                  <a:schemeClr val="accent1"/>
                </a:solidFill>
              </a:rPr>
              <a:t>explosion</a:t>
            </a:r>
            <a:r>
              <a:rPr lang="en-US" altLang="zh-CN" sz="2000" dirty="0" smtClean="0">
                <a:solidFill>
                  <a:schemeClr val="tx1"/>
                </a:solidFill>
              </a:rPr>
              <a:t>.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grpSp>
        <p:nvGrpSpPr>
          <p:cNvPr id="2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1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btn-Part 1">
            <a:hlinkClick r:id="rId2" action="ppaction://hlinksldjump"/>
          </p:cNvPr>
          <p:cNvSpPr/>
          <p:nvPr/>
        </p:nvSpPr>
        <p:spPr>
          <a:xfrm>
            <a:off x="4680327" y="500042"/>
            <a:ext cx="1177557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7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占位符 25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32620"/>
          </a:xfrm>
        </p:spPr>
        <p:txBody>
          <a:bodyPr>
            <a:noAutofit/>
          </a:bodyPr>
          <a:lstStyle/>
          <a:p>
            <a:r>
              <a:rPr lang="en-US" altLang="zh-CN" b="1" dirty="0" smtClean="0"/>
              <a:t>A. Understand vocabulary. </a:t>
            </a:r>
            <a:r>
              <a:rPr lang="en-US" altLang="zh-CN" dirty="0" smtClean="0"/>
              <a:t>Look at the photo. Read the caption and </a:t>
            </a:r>
            <a:r>
              <a:rPr lang="en-US" altLang="zh-CN" b="1" dirty="0" smtClean="0"/>
              <a:t>About the video.</a:t>
            </a:r>
            <a:r>
              <a:rPr lang="zh-CN" altLang="en-US" b="1" dirty="0" smtClean="0"/>
              <a:t> </a:t>
            </a:r>
            <a:r>
              <a:rPr lang="en-US" altLang="zh-CN" dirty="0" smtClean="0"/>
              <a:t>Then complete the sentences below using the words in </a:t>
            </a:r>
            <a:r>
              <a:rPr lang="en-US" altLang="zh-CN" b="1" dirty="0" smtClean="0">
                <a:solidFill>
                  <a:schemeClr val="accent1"/>
                </a:solidFill>
              </a:rPr>
              <a:t>blue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500034" y="4254065"/>
            <a:ext cx="82868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When a large asteroid </a:t>
            </a:r>
            <a:r>
              <a:rPr lang="en-US" altLang="zh-CN" sz="2800" u="sng" dirty="0" smtClean="0">
                <a:solidFill>
                  <a:schemeClr val="accent1"/>
                </a:solidFill>
              </a:rPr>
              <a:t>crashed</a:t>
            </a:r>
            <a:r>
              <a:rPr lang="en-US" altLang="zh-CN" sz="2800" dirty="0" smtClean="0"/>
              <a:t> into Earth, it caused a huge </a:t>
            </a:r>
            <a:r>
              <a:rPr lang="en-US" altLang="zh-CN" sz="2800" u="sng" dirty="0" smtClean="0">
                <a:solidFill>
                  <a:schemeClr val="accent1"/>
                </a:solidFill>
              </a:rPr>
              <a:t>explosion</a:t>
            </a:r>
            <a:r>
              <a:rPr lang="en-US" altLang="zh-CN" sz="2800" dirty="0" smtClean="0"/>
              <a:t> —more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powerful than even the largest </a:t>
            </a:r>
            <a:r>
              <a:rPr lang="en-US" altLang="zh-CN" sz="2800" u="sng" dirty="0" smtClean="0">
                <a:solidFill>
                  <a:schemeClr val="accent1"/>
                </a:solidFill>
              </a:rPr>
              <a:t>bomb</a:t>
            </a:r>
            <a:r>
              <a:rPr lang="en-US" altLang="zh-CN" sz="2800" dirty="0" smtClean="0"/>
              <a:t> made by humans.</a:t>
            </a:r>
            <a:endParaRPr lang="en-US" altLang="zh-CN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If you </a:t>
            </a:r>
            <a:r>
              <a:rPr lang="en-US" altLang="zh-CN" sz="2800" u="sng" dirty="0" smtClean="0">
                <a:solidFill>
                  <a:schemeClr val="accent1"/>
                </a:solidFill>
              </a:rPr>
              <a:t>recreate</a:t>
            </a:r>
            <a:r>
              <a:rPr lang="en-US" altLang="zh-CN" sz="2800" dirty="0" smtClean="0"/>
              <a:t> something, you make it exist or happen again.</a:t>
            </a:r>
            <a:endParaRPr lang="zh-CN" altLang="en-US" sz="2800" dirty="0"/>
          </a:p>
        </p:txBody>
      </p:sp>
      <p:pic>
        <p:nvPicPr>
          <p:cNvPr id="19" name="图片 18" descr="U8-P3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857364"/>
            <a:ext cx="3413509" cy="1832157"/>
          </a:xfrm>
          <a:prstGeom prst="rect">
            <a:avLst/>
          </a:prstGeom>
        </p:spPr>
      </p:pic>
      <p:sp>
        <p:nvSpPr>
          <p:cNvPr id="20" name="填空热区-点击消失"/>
          <p:cNvSpPr>
            <a:spLocks noChangeArrowheads="1"/>
          </p:cNvSpPr>
          <p:nvPr/>
        </p:nvSpPr>
        <p:spPr bwMode="auto">
          <a:xfrm>
            <a:off x="3993181" y="4354801"/>
            <a:ext cx="1078885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4" name="填空热区-点击消失"/>
          <p:cNvSpPr>
            <a:spLocks noChangeArrowheads="1"/>
          </p:cNvSpPr>
          <p:nvPr/>
        </p:nvSpPr>
        <p:spPr bwMode="auto">
          <a:xfrm>
            <a:off x="1106401" y="4771854"/>
            <a:ext cx="1296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zh-CN" altLang="en-US" sz="28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6" name="填空热区-点击消失"/>
          <p:cNvSpPr>
            <a:spLocks noChangeArrowheads="1"/>
          </p:cNvSpPr>
          <p:nvPr/>
        </p:nvSpPr>
        <p:spPr bwMode="auto">
          <a:xfrm>
            <a:off x="7435123" y="4783429"/>
            <a:ext cx="785818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9" name="填空热区-点击消失"/>
          <p:cNvSpPr>
            <a:spLocks noChangeArrowheads="1"/>
          </p:cNvSpPr>
          <p:nvPr/>
        </p:nvSpPr>
        <p:spPr bwMode="auto">
          <a:xfrm>
            <a:off x="1921479" y="5621795"/>
            <a:ext cx="1116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43438" y="3670868"/>
            <a:ext cx="3429024" cy="5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</a:rPr>
              <a:t>Over 65 million years ago, an asteroid (a very</a:t>
            </a:r>
            <a:r>
              <a:rPr lang="zh-CN" altLang="en-US" sz="1000" dirty="0" smtClean="0">
                <a:solidFill>
                  <a:schemeClr val="bg1"/>
                </a:solidFill>
              </a:rPr>
              <a:t> </a:t>
            </a:r>
            <a:r>
              <a:rPr lang="en-US" altLang="zh-CN" sz="1000" dirty="0" smtClean="0">
                <a:solidFill>
                  <a:schemeClr val="bg1"/>
                </a:solidFill>
              </a:rPr>
              <a:t>large rock from space) </a:t>
            </a:r>
            <a:r>
              <a:rPr lang="en-US" altLang="zh-CN" sz="1000" b="1" dirty="0" smtClean="0">
                <a:solidFill>
                  <a:schemeClr val="accent1"/>
                </a:solidFill>
              </a:rPr>
              <a:t>crashed</a:t>
            </a:r>
            <a:r>
              <a:rPr lang="en-US" altLang="zh-CN" sz="1000" dirty="0" smtClean="0">
                <a:solidFill>
                  <a:schemeClr val="bg1"/>
                </a:solidFill>
              </a:rPr>
              <a:t> into the Earth</a:t>
            </a:r>
            <a:r>
              <a:rPr lang="zh-CN" altLang="en-US" sz="1000" dirty="0" smtClean="0">
                <a:solidFill>
                  <a:schemeClr val="bg1"/>
                </a:solidFill>
              </a:rPr>
              <a:t> </a:t>
            </a:r>
            <a:r>
              <a:rPr lang="en-US" altLang="zh-CN" sz="1000" dirty="0" smtClean="0">
                <a:solidFill>
                  <a:schemeClr val="bg1"/>
                </a:solidFill>
              </a:rPr>
              <a:t>near </a:t>
            </a:r>
            <a:r>
              <a:rPr lang="en-US" altLang="zh-CN" sz="1000" dirty="0" err="1" smtClean="0">
                <a:solidFill>
                  <a:schemeClr val="bg1"/>
                </a:solidFill>
              </a:rPr>
              <a:t>Chicxulub</a:t>
            </a:r>
            <a:r>
              <a:rPr lang="en-US" altLang="zh-CN" sz="1000" dirty="0" smtClean="0">
                <a:solidFill>
                  <a:schemeClr val="bg1"/>
                </a:solidFill>
              </a:rPr>
              <a:t>, Mexico. It caused the extinction</a:t>
            </a:r>
            <a:r>
              <a:rPr lang="zh-CN" altLang="en-US" sz="1000" dirty="0" smtClean="0">
                <a:solidFill>
                  <a:schemeClr val="bg1"/>
                </a:solidFill>
              </a:rPr>
              <a:t> </a:t>
            </a:r>
            <a:r>
              <a:rPr lang="en-US" altLang="zh-CN" sz="1000" dirty="0" smtClean="0">
                <a:solidFill>
                  <a:schemeClr val="bg1"/>
                </a:solidFill>
              </a:rPr>
              <a:t>(death) of the dinosaurs, scientists think.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btn-Part 1">
            <a:hlinkClick r:id="rId4" action="ppaction://hlinksldjump"/>
          </p:cNvPr>
          <p:cNvSpPr/>
          <p:nvPr/>
        </p:nvSpPr>
        <p:spPr>
          <a:xfrm>
            <a:off x="2428860" y="511617"/>
            <a:ext cx="214314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  <p:bldLst>
      <p:bldP spid="20" grpId="0" animBg="1"/>
      <p:bldP spid="24" grpId="0" animBg="1"/>
      <p:bldP spid="26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New words and expression     A. Understand vocabulary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B. Prediction   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446868"/>
          </a:xfrm>
        </p:spPr>
        <p:txBody>
          <a:bodyPr>
            <a:noAutofit/>
          </a:bodyPr>
          <a:lstStyle/>
          <a:p>
            <a:r>
              <a:rPr lang="en-US" altLang="zh-CN" b="1" dirty="0" smtClean="0"/>
              <a:t>B. Prediction. </a:t>
            </a:r>
            <a:r>
              <a:rPr lang="en-US" altLang="zh-CN" dirty="0" smtClean="0"/>
              <a:t>What do scientists want to learn from the small bomb?</a:t>
            </a:r>
            <a:endParaRPr lang="zh-CN" altLang="en-US" dirty="0"/>
          </a:p>
        </p:txBody>
      </p:sp>
      <p:grpSp>
        <p:nvGrpSpPr>
          <p:cNvPr id="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btn-Part 1">
            <a:hlinkClick r:id="rId1" action="ppaction://hlinksldjump"/>
          </p:cNvPr>
          <p:cNvSpPr/>
          <p:nvPr/>
        </p:nvSpPr>
        <p:spPr>
          <a:xfrm>
            <a:off x="2488723" y="500042"/>
            <a:ext cx="2154715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btn-Part 1">
            <a:hlinkClick r:id="rId2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357158" y="1571612"/>
            <a:ext cx="8286808" cy="1564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670"/>
              </a:spcBef>
              <a:buFont typeface="+mj-lt"/>
              <a:buAutoNum type="alphaLcPeriod"/>
            </a:pPr>
            <a:r>
              <a:rPr lang="en-US" altLang="zh-CN" sz="2800" dirty="0" smtClean="0"/>
              <a:t>Are there any dinosaur bones in that area?</a:t>
            </a:r>
            <a:endParaRPr lang="en-US" altLang="zh-CN" sz="2800" dirty="0" smtClean="0"/>
          </a:p>
          <a:p>
            <a:pPr marL="514350" indent="-514350">
              <a:spcBef>
                <a:spcPts val="670"/>
              </a:spcBef>
              <a:buFont typeface="+mj-lt"/>
              <a:buAutoNum type="alphaLcPeriod"/>
            </a:pPr>
            <a:r>
              <a:rPr lang="en-US" altLang="zh-CN" sz="2800" dirty="0" smtClean="0"/>
              <a:t>What happens during an explosion?</a:t>
            </a:r>
            <a:endParaRPr lang="en-US" altLang="zh-CN" sz="2800" dirty="0" smtClean="0"/>
          </a:p>
          <a:p>
            <a:pPr marL="514350" indent="-514350">
              <a:spcBef>
                <a:spcPts val="670"/>
              </a:spcBef>
              <a:buFont typeface="+mj-lt"/>
              <a:buAutoNum type="alphaLcPeriod"/>
            </a:pPr>
            <a:r>
              <a:rPr lang="en-US" altLang="zh-CN" sz="2800" dirty="0" smtClean="0"/>
              <a:t>Is the original asteroid still under the ground?</a:t>
            </a:r>
            <a:endParaRPr lang="zh-CN" altLang="en-US" sz="2800" dirty="0"/>
          </a:p>
        </p:txBody>
      </p:sp>
      <p:pic>
        <p:nvPicPr>
          <p:cNvPr id="46" name="B1 Unit8.wmv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928662" y="3286124"/>
            <a:ext cx="5929354" cy="3335262"/>
          </a:xfrm>
          <a:prstGeom prst="rect">
            <a:avLst/>
          </a:prstGeom>
        </p:spPr>
      </p:pic>
      <p:sp>
        <p:nvSpPr>
          <p:cNvPr id="47" name="同心圆 46"/>
          <p:cNvSpPr/>
          <p:nvPr/>
        </p:nvSpPr>
        <p:spPr>
          <a:xfrm>
            <a:off x="287570" y="2115336"/>
            <a:ext cx="5535590" cy="55099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热区"/>
          <p:cNvSpPr/>
          <p:nvPr/>
        </p:nvSpPr>
        <p:spPr>
          <a:xfrm>
            <a:off x="357158" y="1641062"/>
            <a:ext cx="6643734" cy="14634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tn-Part 1">
            <a:hlinkClick r:id="rId6" action="ppaction://hlinksldjump"/>
          </p:cNvPr>
          <p:cNvSpPr/>
          <p:nvPr/>
        </p:nvSpPr>
        <p:spPr>
          <a:xfrm>
            <a:off x="4846177" y="502114"/>
            <a:ext cx="115458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video>
          </p:childTnLst>
        </p:cTn>
      </p:par>
    </p:tnLst>
    <p:bldLst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A. Watch the video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B. Watch the video again      C. Fill in the blanks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923912"/>
            <a:ext cx="8569325" cy="361948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Put the events in order from</a:t>
            </a:r>
            <a:r>
              <a:rPr lang="en-US" altLang="zh-CN" i="1" dirty="0" smtClean="0"/>
              <a:t> 1 </a:t>
            </a:r>
            <a:r>
              <a:rPr lang="en-US" altLang="zh-CN" dirty="0" smtClean="0"/>
              <a:t>to </a:t>
            </a:r>
            <a:r>
              <a:rPr lang="en-US" altLang="zh-CN" i="1" dirty="0" smtClean="0"/>
              <a:t>4</a:t>
            </a:r>
            <a:r>
              <a:rPr lang="en-US" altLang="zh-CN" dirty="0" smtClean="0"/>
              <a:t>. </a:t>
            </a:r>
            <a:endParaRPr lang="zh-CN" altLang="en-US" dirty="0" smtClean="0"/>
          </a:p>
        </p:txBody>
      </p:sp>
      <p:pic>
        <p:nvPicPr>
          <p:cNvPr id="25" name="B1 Unit8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467545" y="1407381"/>
            <a:ext cx="4114997" cy="2314686"/>
          </a:xfrm>
          <a:prstGeom prst="rect">
            <a:avLst/>
          </a:prstGeom>
        </p:spPr>
      </p:pic>
      <p:pic>
        <p:nvPicPr>
          <p:cNvPr id="26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401387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btn-Part 1">
            <a:hlinkClick r:id="rId6" action="ppaction://hlinksldjump"/>
          </p:cNvPr>
          <p:cNvSpPr/>
          <p:nvPr/>
        </p:nvSpPr>
        <p:spPr>
          <a:xfrm>
            <a:off x="1795966" y="500042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203270" y="3401387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smtClean="0">
                <a:latin typeface="+mj-lt"/>
              </a:rPr>
              <a:t>(Subtitles On)</a:t>
            </a:r>
            <a:endParaRPr lang="zh-CN" altLang="en-US" sz="1200">
              <a:latin typeface="+mj-lt"/>
            </a:endParaRPr>
          </a:p>
        </p:txBody>
      </p: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7" name="按钮-External Player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007687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Box 47"/>
          <p:cNvSpPr txBox="1"/>
          <p:nvPr/>
        </p:nvSpPr>
        <p:spPr>
          <a:xfrm>
            <a:off x="6203270" y="3007687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smtClean="0">
                <a:latin typeface="+mj-lt"/>
              </a:rPr>
              <a:t>(Subtitles Off)</a:t>
            </a:r>
            <a:endParaRPr lang="zh-CN" altLang="en-US" sz="1200">
              <a:latin typeface="+mj-lt"/>
            </a:endParaRPr>
          </a:p>
        </p:txBody>
      </p:sp>
      <p:sp>
        <p:nvSpPr>
          <p:cNvPr id="28" name="文本占位符 46"/>
          <p:cNvSpPr txBox="1"/>
          <p:nvPr/>
        </p:nvSpPr>
        <p:spPr>
          <a:xfrm>
            <a:off x="1180784" y="4000504"/>
            <a:ext cx="7677496" cy="2286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spcAft>
                <a:spcPts val="1200"/>
              </a:spcAft>
            </a:pPr>
            <a:r>
              <a:rPr lang="en-US" altLang="zh-CN" sz="2400" dirty="0" smtClean="0"/>
              <a:t>Scientists see a large shockwave (a powerful wall of air).</a:t>
            </a:r>
            <a:endParaRPr lang="en-US" altLang="zh-CN" sz="2400" dirty="0" smtClean="0"/>
          </a:p>
          <a:p>
            <a:pPr lvl="0">
              <a:spcAft>
                <a:spcPts val="1200"/>
              </a:spcAft>
            </a:pPr>
            <a:r>
              <a:rPr lang="en-US" altLang="zh-CN" sz="2400" dirty="0" smtClean="0"/>
              <a:t>The bomb explodes.</a:t>
            </a:r>
            <a:endParaRPr lang="en-US" altLang="zh-CN" sz="2400" dirty="0" smtClean="0"/>
          </a:p>
          <a:p>
            <a:pPr lvl="0">
              <a:spcAft>
                <a:spcPts val="1200"/>
              </a:spcAft>
            </a:pPr>
            <a:r>
              <a:rPr lang="en-US" altLang="zh-CN" sz="2400" dirty="0" smtClean="0"/>
              <a:t>Scientists put a bomb in the ground.</a:t>
            </a:r>
            <a:endParaRPr lang="en-US" altLang="zh-CN" sz="2400" dirty="0" smtClean="0"/>
          </a:p>
          <a:p>
            <a:pPr lvl="0">
              <a:spcAft>
                <a:spcPts val="1200"/>
              </a:spcAft>
            </a:pPr>
            <a:r>
              <a:rPr lang="en-US" altLang="zh-CN" sz="2400" dirty="0" smtClean="0"/>
              <a:t>A lot of debris falls from the sky.</a:t>
            </a:r>
            <a:endParaRPr kumimoji="0" lang="en-US" altLang="zh-CN" sz="2400" b="0" i="0" u="sng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85424" y="3952216"/>
            <a:ext cx="657552" cy="207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200" u="sng" dirty="0" smtClean="0">
                <a:solidFill>
                  <a:schemeClr val="accent1"/>
                </a:solidFill>
              </a:rPr>
              <a:t>  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3 </a:t>
            </a:r>
            <a:r>
              <a:rPr lang="zh-CN" altLang="en-US" sz="2400" u="sng" dirty="0" smtClean="0">
                <a:solidFill>
                  <a:schemeClr val="accent1"/>
                </a:solidFill>
              </a:rPr>
              <a:t>  </a:t>
            </a:r>
            <a:endParaRPr lang="en-US" altLang="zh-CN" sz="2400" u="sng" dirty="0" smtClean="0">
              <a:solidFill>
                <a:schemeClr val="accent1"/>
              </a:solidFill>
            </a:endParaRPr>
          </a:p>
          <a:p>
            <a:pPr>
              <a:spcAft>
                <a:spcPts val="1200"/>
              </a:spcAft>
            </a:pPr>
            <a:r>
              <a:rPr lang="zh-CN" altLang="en-US" sz="2400" u="sng" dirty="0" smtClean="0">
                <a:solidFill>
                  <a:schemeClr val="accent1"/>
                </a:solidFill>
              </a:rPr>
              <a:t>   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2 </a:t>
            </a:r>
            <a:r>
              <a:rPr lang="zh-CN" altLang="en-US" sz="2400" u="sng" dirty="0" smtClean="0">
                <a:solidFill>
                  <a:schemeClr val="accent1"/>
                </a:solidFill>
              </a:rPr>
              <a:t>  </a:t>
            </a:r>
            <a:endParaRPr lang="en-US" altLang="zh-CN" sz="2400" u="sng" dirty="0" smtClean="0">
              <a:solidFill>
                <a:schemeClr val="accent1"/>
              </a:solidFill>
            </a:endParaRPr>
          </a:p>
          <a:p>
            <a:pPr>
              <a:spcAft>
                <a:spcPts val="1200"/>
              </a:spcAft>
            </a:pPr>
            <a:r>
              <a:rPr lang="zh-CN" altLang="en-US" sz="2400" u="sng" dirty="0" smtClean="0">
                <a:solidFill>
                  <a:schemeClr val="accent1"/>
                </a:solidFill>
              </a:rPr>
              <a:t>   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1 </a:t>
            </a:r>
            <a:r>
              <a:rPr lang="zh-CN" altLang="en-US" sz="2400" u="sng" dirty="0" smtClean="0">
                <a:solidFill>
                  <a:schemeClr val="accent1"/>
                </a:solidFill>
              </a:rPr>
              <a:t>  </a:t>
            </a:r>
            <a:endParaRPr lang="en-US" altLang="zh-CN" sz="2400" u="sng" dirty="0" smtClean="0">
              <a:solidFill>
                <a:schemeClr val="accent1"/>
              </a:solidFill>
            </a:endParaRPr>
          </a:p>
          <a:p>
            <a:pPr>
              <a:spcAft>
                <a:spcPts val="1200"/>
              </a:spcAft>
            </a:pPr>
            <a:r>
              <a:rPr lang="zh-CN" altLang="en-US" sz="2400" u="sng" dirty="0" smtClean="0">
                <a:solidFill>
                  <a:schemeClr val="accent1"/>
                </a:solidFill>
              </a:rPr>
              <a:t>  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4  </a:t>
            </a:r>
            <a:r>
              <a:rPr lang="zh-CN" altLang="en-US" sz="2400" u="sng" dirty="0" smtClean="0">
                <a:solidFill>
                  <a:schemeClr val="accent1"/>
                </a:solidFill>
              </a:rPr>
              <a:t>  </a:t>
            </a:r>
            <a:endParaRPr lang="zh-CN" altLang="en-US" sz="2400" u="sng" dirty="0">
              <a:solidFill>
                <a:schemeClr val="accent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86000" y="3952216"/>
            <a:ext cx="3098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altLang="zh-CN" sz="24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5" name="btn-Part 1">
            <a:hlinkClick r:id="rId8" action="ppaction://hlinksldjump"/>
          </p:cNvPr>
          <p:cNvSpPr/>
          <p:nvPr/>
        </p:nvSpPr>
        <p:spPr>
          <a:xfrm>
            <a:off x="4082607" y="489994"/>
            <a:ext cx="170383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86000" y="4518875"/>
            <a:ext cx="654346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altLang="zh-CN" sz="24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6000" y="4939246"/>
            <a:ext cx="3098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altLang="zh-CN" sz="24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6000" y="5467335"/>
            <a:ext cx="30988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altLang="zh-CN" sz="24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6" name="btn-Part 1">
            <a:hlinkClick r:id="rId9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33" grpId="0" animBg="1"/>
      <p:bldP spid="24" grpId="0" animBg="1"/>
      <p:bldP spid="27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B. Watch the video again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C. Fill in the blanks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8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925200"/>
            <a:ext cx="8569325" cy="432098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Complete each sentence with a number or word.</a:t>
            </a:r>
            <a:endParaRPr lang="zh-CN" altLang="en-US" dirty="0"/>
          </a:p>
        </p:txBody>
      </p:sp>
      <p:pic>
        <p:nvPicPr>
          <p:cNvPr id="75" name="B1 Unit8.wmv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42144" y="1357298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428596" y="3643314"/>
            <a:ext cx="8464579" cy="257176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 smtClean="0"/>
              <a:t>65 million years ago, an asteroid crashed into Earth.</a:t>
            </a:r>
            <a:endParaRPr lang="en-US" altLang="zh-CN" sz="2400" dirty="0" smtClean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400" dirty="0" smtClean="0"/>
              <a:t>It was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15</a:t>
            </a:r>
            <a:r>
              <a:rPr lang="en-US" altLang="zh-CN" sz="2400" dirty="0" smtClean="0"/>
              <a:t> kilometers wide.</a:t>
            </a:r>
            <a:endParaRPr lang="en-US" altLang="zh-CN" sz="2400" dirty="0" smtClean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400" dirty="0" smtClean="0"/>
              <a:t>It killed the dinosaurs and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70</a:t>
            </a:r>
            <a:r>
              <a:rPr lang="en-US" altLang="zh-CN" sz="2400" dirty="0" smtClean="0"/>
              <a:t> % of all other life.</a:t>
            </a:r>
            <a:endParaRPr lang="en-US" altLang="zh-CN" sz="2400" dirty="0" smtClean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400" dirty="0" smtClean="0"/>
              <a:t>It caused a shockwave that killed anything within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150</a:t>
            </a:r>
            <a:r>
              <a:rPr lang="en-US" altLang="zh-CN" sz="2400" dirty="0" smtClean="0"/>
              <a:t> kilometers in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10</a:t>
            </a:r>
            <a:r>
              <a:rPr lang="en-US" altLang="zh-CN" sz="2400" dirty="0" smtClean="0"/>
              <a:t> seconds.</a:t>
            </a:r>
            <a:endParaRPr lang="en-US" altLang="zh-CN" sz="2400" dirty="0" smtClean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400" dirty="0" smtClean="0"/>
              <a:t>It made a crater in Mexico that is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180</a:t>
            </a:r>
            <a:r>
              <a:rPr lang="en-US" altLang="zh-CN" sz="2400" dirty="0" smtClean="0"/>
              <a:t> kilometers wide.</a:t>
            </a:r>
            <a:endParaRPr lang="en-US" altLang="zh-CN" sz="2400" dirty="0" smtClean="0"/>
          </a:p>
        </p:txBody>
      </p:sp>
      <p:pic>
        <p:nvPicPr>
          <p:cNvPr id="77" name="按钮-External Player">
            <a:hlinkClick r:id="rId5" action="ppaction://hlinkfil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210325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" name="按钮-Script">
            <a:hlinkClick r:id="rId7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2850285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3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填空热区-点击消失"/>
          <p:cNvSpPr>
            <a:spLocks noChangeArrowheads="1"/>
          </p:cNvSpPr>
          <p:nvPr/>
        </p:nvSpPr>
        <p:spPr bwMode="auto">
          <a:xfrm>
            <a:off x="1657330" y="4116392"/>
            <a:ext cx="324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3935408" y="4558163"/>
            <a:ext cx="324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5" name="填空热区-点击消失"/>
          <p:cNvSpPr>
            <a:spLocks noChangeArrowheads="1"/>
          </p:cNvSpPr>
          <p:nvPr/>
        </p:nvSpPr>
        <p:spPr bwMode="auto">
          <a:xfrm>
            <a:off x="6534164" y="5006986"/>
            <a:ext cx="468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6" name="填空热区-点击消失"/>
          <p:cNvSpPr>
            <a:spLocks noChangeArrowheads="1"/>
          </p:cNvSpPr>
          <p:nvPr/>
        </p:nvSpPr>
        <p:spPr bwMode="auto">
          <a:xfrm>
            <a:off x="968350" y="5364176"/>
            <a:ext cx="324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9" name="填空热区-点击消失"/>
          <p:cNvSpPr>
            <a:spLocks noChangeArrowheads="1"/>
          </p:cNvSpPr>
          <p:nvPr/>
        </p:nvSpPr>
        <p:spPr bwMode="auto">
          <a:xfrm>
            <a:off x="4689476" y="5812297"/>
            <a:ext cx="468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50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1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btn-Part 1">
            <a:hlinkClick r:id="rId9" action="ppaction://hlinksldjump"/>
          </p:cNvPr>
          <p:cNvSpPr/>
          <p:nvPr/>
        </p:nvSpPr>
        <p:spPr>
          <a:xfrm>
            <a:off x="4082607" y="489994"/>
            <a:ext cx="170383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929322" y="3214686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27" name="btn-Part 1">
            <a:hlinkClick r:id="rId10" action="ppaction://hlinksldjump"/>
          </p:cNvPr>
          <p:cNvSpPr/>
          <p:nvPr/>
        </p:nvSpPr>
        <p:spPr>
          <a:xfrm>
            <a:off x="1857356" y="48902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40" grpId="0" animBg="1"/>
      <p:bldP spid="44" grpId="0" animBg="1"/>
      <p:bldP spid="45" grpId="0" animBg="1"/>
      <p:bldP spid="46" grpId="0" animBg="1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B. Watch the video again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C. Fill in the blanks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47" name="btn-Part 1">
            <a:hlinkClick r:id="rId1" action="ppaction://hlinksldjump"/>
          </p:cNvPr>
          <p:cNvSpPr/>
          <p:nvPr/>
        </p:nvSpPr>
        <p:spPr>
          <a:xfrm>
            <a:off x="1857356" y="48902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btn-Part 1">
            <a:hlinkClick r:id="rId2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925200"/>
            <a:ext cx="8569325" cy="432098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Complete the sentences with the words you hear.</a:t>
            </a:r>
            <a:endParaRPr lang="zh-CN" altLang="en-US" dirty="0"/>
          </a:p>
        </p:txBody>
      </p:sp>
      <p:pic>
        <p:nvPicPr>
          <p:cNvPr id="75" name="B1 Unit8.wmv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42144" y="1357298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428596" y="3643314"/>
            <a:ext cx="8464579" cy="257176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 smtClean="0"/>
              <a:t>To understand the power of the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asteroid</a:t>
            </a:r>
            <a:r>
              <a:rPr lang="en-US" altLang="zh-CN" sz="2400" dirty="0" smtClean="0"/>
              <a:t> , scientists want to recreate the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crash</a:t>
            </a:r>
            <a:r>
              <a:rPr lang="en-US" altLang="zh-CN" sz="2400" dirty="0" smtClean="0"/>
              <a:t> from 65 million years ago. What do the scientists see about the explosion? One of the first things is a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shockwave</a:t>
            </a:r>
            <a:r>
              <a:rPr lang="en-US" altLang="zh-CN" sz="2400" dirty="0" smtClean="0"/>
              <a:t>, and it is moving very fast. It’s a very powerful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wall of air</a:t>
            </a:r>
            <a:r>
              <a:rPr lang="en-US" altLang="zh-CN" sz="2400" dirty="0" smtClean="0"/>
              <a:t>. And it can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kill</a:t>
            </a:r>
            <a:r>
              <a:rPr lang="en-US" altLang="zh-CN" sz="2400" dirty="0" smtClean="0"/>
              <a:t> almost anything. In this experiment,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debris</a:t>
            </a:r>
            <a:r>
              <a:rPr lang="en-US" altLang="zh-CN" sz="2400" dirty="0" smtClean="0"/>
              <a:t> from the explosion rains down for more than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ten</a:t>
            </a:r>
            <a:r>
              <a:rPr lang="en-US" altLang="zh-CN" sz="2400" dirty="0" smtClean="0"/>
              <a:t> seconds.</a:t>
            </a:r>
            <a:endParaRPr lang="en-US" altLang="zh-CN" sz="2400" dirty="0" smtClean="0"/>
          </a:p>
        </p:txBody>
      </p:sp>
      <p:grpSp>
        <p:nvGrpSpPr>
          <p:cNvPr id="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3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填空热区-点击消失"/>
          <p:cNvSpPr>
            <a:spLocks noChangeArrowheads="1"/>
          </p:cNvSpPr>
          <p:nvPr/>
        </p:nvSpPr>
        <p:spPr bwMode="auto">
          <a:xfrm>
            <a:off x="4084634" y="3675507"/>
            <a:ext cx="936009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1" name="填空热区-点击消失"/>
          <p:cNvSpPr>
            <a:spLocks noChangeArrowheads="1"/>
          </p:cNvSpPr>
          <p:nvPr/>
        </p:nvSpPr>
        <p:spPr bwMode="auto">
          <a:xfrm>
            <a:off x="506384" y="4039047"/>
            <a:ext cx="612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2" name="填空热区-点击消失"/>
          <p:cNvSpPr>
            <a:spLocks noChangeArrowheads="1"/>
          </p:cNvSpPr>
          <p:nvPr/>
        </p:nvSpPr>
        <p:spPr bwMode="auto">
          <a:xfrm>
            <a:off x="3214678" y="4773600"/>
            <a:ext cx="1214446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3" name="填空热区-点击消失"/>
          <p:cNvSpPr>
            <a:spLocks noChangeArrowheads="1"/>
          </p:cNvSpPr>
          <p:nvPr/>
        </p:nvSpPr>
        <p:spPr bwMode="auto">
          <a:xfrm>
            <a:off x="4689476" y="4408937"/>
            <a:ext cx="1214446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4" name="填空热区-点击消失"/>
          <p:cNvSpPr>
            <a:spLocks noChangeArrowheads="1"/>
          </p:cNvSpPr>
          <p:nvPr/>
        </p:nvSpPr>
        <p:spPr bwMode="auto">
          <a:xfrm>
            <a:off x="5657858" y="4773622"/>
            <a:ext cx="419104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5" name="填空热区-点击消失"/>
          <p:cNvSpPr>
            <a:spLocks noChangeArrowheads="1"/>
          </p:cNvSpPr>
          <p:nvPr/>
        </p:nvSpPr>
        <p:spPr bwMode="auto">
          <a:xfrm>
            <a:off x="7813698" y="5137605"/>
            <a:ext cx="39600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6" name="填空热区-点击消失"/>
          <p:cNvSpPr>
            <a:spLocks noChangeArrowheads="1"/>
          </p:cNvSpPr>
          <p:nvPr/>
        </p:nvSpPr>
        <p:spPr bwMode="auto">
          <a:xfrm>
            <a:off x="1941494" y="5137162"/>
            <a:ext cx="714380" cy="3773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pic>
        <p:nvPicPr>
          <p:cNvPr id="28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210325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按钮-Script">
            <a:hlinkClick r:id="rId8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2850285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>
          <a:xfrm>
            <a:off x="5929322" y="3214686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30" name="btn-Part 1">
            <a:hlinkClick r:id="rId10" action="ppaction://hlinksldjump"/>
          </p:cNvPr>
          <p:cNvSpPr/>
          <p:nvPr/>
        </p:nvSpPr>
        <p:spPr>
          <a:xfrm>
            <a:off x="4082607" y="489994"/>
            <a:ext cx="170383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764704"/>
            <a:ext cx="8569325" cy="949784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A. Role play. </a:t>
            </a:r>
            <a:r>
              <a:rPr lang="en-US" altLang="zh-CN" dirty="0" smtClean="0"/>
              <a:t>Work in a group of four: two people are scientists and two are reporters.</a:t>
            </a:r>
            <a:endParaRPr lang="zh-CN" altLang="en-US" dirty="0" smtClean="0"/>
          </a:p>
        </p:txBody>
      </p:sp>
      <p:grpSp>
        <p:nvGrpSpPr>
          <p:cNvPr id="1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476250" y="5072074"/>
            <a:ext cx="8569325" cy="571504"/>
          </a:xfrm>
        </p:spPr>
        <p:txBody>
          <a:bodyPr>
            <a:noAutofit/>
          </a:bodyPr>
          <a:lstStyle/>
          <a:p>
            <a:r>
              <a:rPr lang="en-US" altLang="zh-CN" b="1" dirty="0" smtClean="0"/>
              <a:t>B. Work in a new group. </a:t>
            </a:r>
            <a:r>
              <a:rPr lang="en-US" altLang="zh-CN" dirty="0" smtClean="0"/>
              <a:t>This time, change roles.</a:t>
            </a:r>
            <a:endParaRPr lang="zh-CN" altLang="en-US" dirty="0" smtClean="0"/>
          </a:p>
        </p:txBody>
      </p:sp>
      <p:grpSp>
        <p:nvGrpSpPr>
          <p:cNvPr id="2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0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矩形 25"/>
          <p:cNvSpPr/>
          <p:nvPr/>
        </p:nvSpPr>
        <p:spPr>
          <a:xfrm>
            <a:off x="428596" y="1692180"/>
            <a:ext cx="8358246" cy="2398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70"/>
              </a:spcBef>
            </a:pPr>
            <a:r>
              <a:rPr lang="en-US" altLang="zh-CN" sz="2400" b="1" i="1" dirty="0" smtClean="0"/>
              <a:t>Scientists: </a:t>
            </a:r>
            <a:r>
              <a:rPr lang="en-US" altLang="zh-CN" sz="2400" dirty="0" smtClean="0"/>
              <a:t>Prepare to talk to reporters about your  experiment. Think about these questions: What did you do? What did you learn? What probably killed the dinosaurs? Use your answers above to explain.</a:t>
            </a:r>
            <a:endParaRPr lang="en-US" altLang="zh-CN" sz="2400" dirty="0" smtClean="0"/>
          </a:p>
          <a:p>
            <a:pPr>
              <a:spcBef>
                <a:spcPts val="670"/>
              </a:spcBef>
            </a:pPr>
            <a:r>
              <a:rPr lang="en-US" altLang="zh-CN" sz="2400" b="1" i="1" dirty="0" smtClean="0"/>
              <a:t>Reporters: </a:t>
            </a:r>
            <a:r>
              <a:rPr lang="en-US" altLang="zh-CN" sz="2400" dirty="0" smtClean="0"/>
              <a:t>Think of 5 or 6 questions to ask the scientists. You want to learn about their experiment. Then take turns interviewing the scientists. Do their answers match the ideas in the video?</a:t>
            </a:r>
            <a:endParaRPr lang="zh-CN" altLang="en-US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3437</Words>
  <Application>WPS 演示</Application>
  <PresentationFormat>全屏显示(4:3)</PresentationFormat>
  <Paragraphs>88</Paragraphs>
  <Slides>8</Slides>
  <Notes>8</Notes>
  <HiddenSlides>0</HiddenSlides>
  <MMClips>19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276</cp:revision>
  <dcterms:created xsi:type="dcterms:W3CDTF">2017-12-23T09:29:00Z</dcterms:created>
  <dcterms:modified xsi:type="dcterms:W3CDTF">2024-08-27T07:05:05Z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B13AEB48B0A441D5A2B3DC6B141B6A1A_13</vt:lpwstr>
  </property>
  <property fmtid="{D5CDD505-2E9C-101B-9397-08002B2CF9AE}" pid="3" name="KSOProductBuildVer">
    <vt:lpwstr>2052-12.1.0.17857</vt:lpwstr>
  </property>
</Properties>
</file>