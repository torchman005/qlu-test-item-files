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handoutMasterIdLst>
    <p:handoutMasterId r:id="rId8"/>
  </p:handoutMasterIdLst>
  <p:sldIdLst>
    <p:sldId id="256" r:id="rId3"/>
    <p:sldId id="263" r:id="rId4"/>
    <p:sldId id="261" r:id="rId5"/>
    <p:sldId id="262" r:id="rId6"/>
  </p:sldIdLst>
  <p:sldSz cx="9144000" cy="6858000" type="screen4x3"/>
  <p:notesSz cx="6858000" cy="9144000"/>
  <p:embeddedFontLst>
    <p:embeddedFont>
      <p:font typeface="Neuton" panose="00000500000000000000" charset="0"/>
      <p:regular r:id="rId12"/>
      <p:bold r:id="rId13"/>
      <p:italic r:id="rId14"/>
    </p:embeddedFont>
    <p:embeddedFont>
      <p:font typeface="Roboto Condensed" panose="02000000000000000000" charset="0"/>
      <p:regular r:id="rId15"/>
      <p:bold r:id="rId16"/>
      <p:italic r:id="rId17"/>
    </p:embeddedFont>
    <p:embeddedFont>
      <p:font typeface="微软雅黑" panose="020B0503020204020204" charset="-122"/>
      <p:regular r:id="rId18"/>
    </p:embeddedFont>
    <p:embeddedFont>
      <p:font typeface="Calibri" panose="020F0502020204030204" charset="0"/>
      <p:regular r:id="rId19"/>
      <p:bold r:id="rId20"/>
      <p:italic r:id="rId21"/>
      <p:boldItalic r:id="rId22"/>
    </p:embeddedFont>
  </p:embeddedFontLst>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p:present/>
    <p:sldAll/>
  </p:showPr>
  <p:clrMru>
    <a:srgbClr val="FFDD33"/>
    <a:srgbClr val="515672"/>
    <a:srgbClr val="FFFFFF"/>
    <a:srgbClr val="3C153B"/>
    <a:srgbClr val="AF88B6"/>
    <a:srgbClr val="9D6BA5"/>
    <a:srgbClr val="B35DB1"/>
    <a:srgbClr val="CB8B02"/>
    <a:srgbClr val="F3B700"/>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6" autoAdjust="0"/>
    <p:restoredTop sz="93686" autoAdjust="0"/>
  </p:normalViewPr>
  <p:slideViewPr>
    <p:cSldViewPr showGuides="1">
      <p:cViewPr varScale="1">
        <p:scale>
          <a:sx n="100" d="100"/>
          <a:sy n="100" d="100"/>
        </p:scale>
        <p:origin x="165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gs" Target="tags/tag1.xml"/><Relationship Id="rId22" Type="http://schemas.openxmlformats.org/officeDocument/2006/relationships/font" Target="fonts/font11.fntdata"/><Relationship Id="rId21" Type="http://schemas.openxmlformats.org/officeDocument/2006/relationships/font" Target="fonts/font10.fntdata"/><Relationship Id="rId20" Type="http://schemas.openxmlformats.org/officeDocument/2006/relationships/font" Target="fonts/font9.fntdata"/><Relationship Id="rId2" Type="http://schemas.openxmlformats.org/officeDocument/2006/relationships/theme" Target="theme/theme1.xml"/><Relationship Id="rId19" Type="http://schemas.openxmlformats.org/officeDocument/2006/relationships/font" Target="fonts/font8.fntdata"/><Relationship Id="rId18" Type="http://schemas.openxmlformats.org/officeDocument/2006/relationships/font" Target="fonts/font7.fntdata"/><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带翻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主体内容"/>
          <p:cNvSpPr>
            <a:spLocks noGrp="1"/>
          </p:cNvSpPr>
          <p:nvPr>
            <p:ph type="body" sz="quarter" idx="14"/>
          </p:nvPr>
        </p:nvSpPr>
        <p:spPr>
          <a:xfrm>
            <a:off x="323850" y="1340768"/>
            <a:ext cx="8569325" cy="4825082"/>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11"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带dir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1124744"/>
            <a:ext cx="8569325" cy="576262"/>
          </a:xfrm>
        </p:spPr>
        <p:txBody>
          <a:bodyPr>
            <a:normAutofit/>
          </a:bodyPr>
          <a:lstStyle>
            <a:lvl1pPr marL="0" indent="0">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2204864"/>
            <a:ext cx="8569325" cy="3960986"/>
          </a:xfrm>
        </p:spPr>
        <p:txBody>
          <a:bodyPr/>
          <a:lstStyle>
            <a:lvl1pPr marL="217805" indent="-217805">
              <a:defRPr/>
            </a:lvl1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标题 1"/>
          <p:cNvSpPr txBox="1"/>
          <p:nvPr userDrawn="1"/>
        </p:nvSpPr>
        <p:spPr>
          <a:xfrm>
            <a:off x="179512" y="0"/>
            <a:ext cx="2995488" cy="476672"/>
          </a:xfrm>
          <a:prstGeom prst="rect">
            <a:avLst/>
          </a:prstGeom>
          <a:solidFill>
            <a:srgbClr val="FFDD33"/>
          </a:solidFill>
        </p:spPr>
        <p:txBody>
          <a:bodyPr vert="horz" lIns="144000" tIns="45720" rIns="91440" bIns="45720" rtlCol="0" anchor="ctr">
            <a:noAutofit/>
          </a:bodyPr>
          <a:lstStyle>
            <a:lvl1pPr algn="l">
              <a:defRPr sz="2000" b="1">
                <a:solidFill>
                  <a:schemeClr val="bg1"/>
                </a:solidFill>
                <a:latin typeface="+mj-lt"/>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000" b="1" i="0" u="none" strike="noStrike" kern="1200" cap="none" spc="0" normalizeH="0" baseline="0" noProof="0" smtClean="0">
                <a:ln>
                  <a:noFill/>
                </a:ln>
                <a:solidFill>
                  <a:srgbClr val="515672"/>
                </a:solidFill>
                <a:effectLst/>
                <a:uLnTx/>
                <a:uFillTx/>
                <a:latin typeface="+mj-lt"/>
                <a:ea typeface="+mj-ea"/>
                <a:cs typeface="+mj-cs"/>
              </a:rPr>
              <a:t>Part IV Expansion Activity</a:t>
            </a:r>
            <a:endParaRPr kumimoji="0" lang="zh-CN" altLang="en-US" sz="2000" b="1" i="0" u="none" strike="noStrike" kern="1200" cap="none" spc="0" normalizeH="0" baseline="0" noProof="0">
              <a:ln>
                <a:noFill/>
              </a:ln>
              <a:solidFill>
                <a:srgbClr val="515672"/>
              </a:solidFill>
              <a:effectLst/>
              <a:uLnTx/>
              <a:uFillTx/>
              <a:latin typeface="+mj-lt"/>
              <a:ea typeface="+mj-ea"/>
              <a:cs typeface="+mj-cs"/>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FC3FACB-9944-46C7-BB15-79BEA3D61AE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93EA13-C732-4F17-8516-92EE82C34A8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slide" Target="slide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 Target="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1.xml"/><Relationship Id="rId1" Type="http://schemas.openxmlformats.org/officeDocument/2006/relationships/slide" Target="slide4.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slide" Target="slide4.xml"/><Relationship Id="rId2" Type="http://schemas.openxmlformats.org/officeDocument/2006/relationships/image" Target="../media/image4.jpeg"/><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下一页"/>
          <p:cNvGrpSpPr/>
          <p:nvPr/>
        </p:nvGrpSpPr>
        <p:grpSpPr>
          <a:xfrm>
            <a:off x="8750845" y="6578304"/>
            <a:ext cx="264567" cy="210642"/>
            <a:chOff x="8750845" y="6578304"/>
            <a:chExt cx="264567" cy="210642"/>
          </a:xfrm>
        </p:grpSpPr>
        <p:sp>
          <p:nvSpPr>
            <p:cNvPr id="4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上一页"/>
          <p:cNvGrpSpPr/>
          <p:nvPr/>
        </p:nvGrpSpPr>
        <p:grpSpPr>
          <a:xfrm>
            <a:off x="8335464" y="6580685"/>
            <a:ext cx="264567" cy="210642"/>
            <a:chOff x="8335464" y="6580685"/>
            <a:chExt cx="264567" cy="210642"/>
          </a:xfrm>
        </p:grpSpPr>
        <p:sp>
          <p:nvSpPr>
            <p:cNvPr id="4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4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What’s your theory        </a:t>
            </a:r>
            <a:r>
              <a:rPr lang="en-US" altLang="zh-CN" sz="1600" b="1" dirty="0" smtClean="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23850" y="2143116"/>
            <a:ext cx="8569325" cy="714380"/>
          </a:xfrm>
        </p:spPr>
        <p:txBody>
          <a:bodyPr>
            <a:noAutofit/>
          </a:bodyPr>
          <a:lstStyle/>
          <a:p>
            <a:r>
              <a:rPr lang="en-US" altLang="zh-CN" b="1" dirty="0" smtClean="0"/>
              <a:t>A. Choose a mystery. </a:t>
            </a:r>
            <a:r>
              <a:rPr lang="en-US" altLang="zh-CN" dirty="0" smtClean="0"/>
              <a:t>Work with a partner. Choose a mystery you are interested in. See the list below for ideas or use another mystery you know about.</a:t>
            </a:r>
            <a:endParaRPr lang="zh-CN" altLang="en-US" dirty="0"/>
          </a:p>
        </p:txBody>
      </p:sp>
      <p:sp>
        <p:nvSpPr>
          <p:cNvPr id="35" name="文本占位符 34"/>
          <p:cNvSpPr>
            <a:spLocks noGrp="1"/>
          </p:cNvSpPr>
          <p:nvPr>
            <p:ph type="body" sz="quarter" idx="14"/>
          </p:nvPr>
        </p:nvSpPr>
        <p:spPr>
          <a:xfrm>
            <a:off x="323528" y="2928934"/>
            <a:ext cx="8569325" cy="2786082"/>
          </a:xfrm>
        </p:spPr>
        <p:txBody>
          <a:bodyPr numCol="1">
            <a:noAutofit/>
          </a:bodyPr>
          <a:lstStyle/>
          <a:p>
            <a:pPr marL="457200" indent="-457200">
              <a:spcAft>
                <a:spcPts val="600"/>
              </a:spcAft>
              <a:buNone/>
            </a:pPr>
            <a:r>
              <a:rPr lang="en-US" altLang="zh-CN" sz="2800" dirty="0" smtClean="0"/>
              <a:t>Our mystery is ______________.</a:t>
            </a:r>
            <a:endParaRPr lang="en-US" altLang="zh-CN" sz="2800" dirty="0" smtClean="0"/>
          </a:p>
          <a:p>
            <a:pPr marL="457200" indent="-5080">
              <a:spcAft>
                <a:spcPts val="600"/>
              </a:spcAft>
              <a:buNone/>
            </a:pPr>
            <a:r>
              <a:rPr lang="en-US" altLang="zh-CN" sz="2800" b="1" dirty="0" smtClean="0"/>
              <a:t>A mysterious place: </a:t>
            </a:r>
            <a:r>
              <a:rPr lang="en-US" altLang="zh-CN" sz="2800" dirty="0" smtClean="0"/>
              <a:t>Stonehenge, the Bermuda Triangle</a:t>
            </a:r>
            <a:endParaRPr lang="en-US" altLang="zh-CN" sz="2800" dirty="0" smtClean="0"/>
          </a:p>
          <a:p>
            <a:pPr marL="457200" indent="-5080">
              <a:spcAft>
                <a:spcPts val="600"/>
              </a:spcAft>
              <a:buNone/>
            </a:pPr>
            <a:r>
              <a:rPr lang="en-US" altLang="zh-CN" sz="2800" b="1" dirty="0" smtClean="0"/>
              <a:t>A mysterious animal or person: </a:t>
            </a:r>
            <a:r>
              <a:rPr lang="en-US" altLang="zh-CN" sz="2800" dirty="0" smtClean="0"/>
              <a:t>the </a:t>
            </a:r>
            <a:r>
              <a:rPr lang="en-US" altLang="zh-CN" sz="2800" dirty="0" err="1" smtClean="0"/>
              <a:t>Chupacabra</a:t>
            </a:r>
            <a:r>
              <a:rPr lang="en-US" altLang="zh-CN" sz="2800" dirty="0" smtClean="0"/>
              <a:t>, the Loch Ness monster</a:t>
            </a:r>
            <a:endParaRPr lang="en-US" altLang="zh-CN" sz="2800" dirty="0" smtClean="0"/>
          </a:p>
          <a:p>
            <a:pPr marL="457200" indent="-5080">
              <a:spcAft>
                <a:spcPts val="600"/>
              </a:spcAft>
              <a:buNone/>
            </a:pPr>
            <a:r>
              <a:rPr lang="en-US" altLang="zh-CN" sz="2800" b="1" dirty="0" smtClean="0"/>
              <a:t>A mysterious event: </a:t>
            </a:r>
            <a:r>
              <a:rPr lang="en-US" altLang="zh-CN" sz="2800" dirty="0" smtClean="0"/>
              <a:t>crop circles, the Mary Celeste</a:t>
            </a:r>
            <a:endParaRPr lang="zh-CN" altLang="en-US" sz="2800" dirty="0"/>
          </a:p>
        </p:txBody>
      </p:sp>
      <p:sp>
        <p:nvSpPr>
          <p:cNvPr id="21" name="btn-Part 1">
            <a:hlinkClick r:id="rId1" action="ppaction://hlinksldjump"/>
          </p:cNvPr>
          <p:cNvSpPr/>
          <p:nvPr/>
        </p:nvSpPr>
        <p:spPr>
          <a:xfrm>
            <a:off x="1979684"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spect="1" noChangeArrowheads="1"/>
          </p:cNvPicPr>
          <p:nvPr/>
        </p:nvPicPr>
        <p:blipFill>
          <a:blip r:embed="rId2" cstate="print"/>
          <a:srcRect t="7835" r="64" b="6937"/>
          <a:stretch>
            <a:fillRect/>
          </a:stretch>
        </p:blipFill>
        <p:spPr bwMode="auto">
          <a:xfrm>
            <a:off x="792711" y="908122"/>
            <a:ext cx="7494065" cy="1152000"/>
          </a:xfrm>
          <a:prstGeom prst="rect">
            <a:avLst/>
          </a:prstGeom>
          <a:noFill/>
          <a:ln w="9525">
            <a:noFill/>
            <a:miter lim="800000"/>
            <a:headEnd/>
            <a:tailEnd/>
          </a:ln>
          <a:effectLst/>
        </p:spPr>
      </p:pic>
      <p:pic>
        <p:nvPicPr>
          <p:cNvPr id="31" name="按钮-Content Note"/>
          <p:cNvPicPr>
            <a:picLocks noChangeAspect="1" noChangeArrowheads="1"/>
          </p:cNvPicPr>
          <p:nvPr/>
        </p:nvPicPr>
        <p:blipFill>
          <a:blip r:embed="rId3" cstate="print"/>
          <a:stretch>
            <a:fillRect/>
          </a:stretch>
        </p:blipFill>
        <p:spPr bwMode="auto">
          <a:xfrm>
            <a:off x="428596" y="5929330"/>
            <a:ext cx="1350863" cy="288000"/>
          </a:xfrm>
          <a:prstGeom prst="rect">
            <a:avLst/>
          </a:prstGeom>
          <a:noFill/>
          <a:ln w="9525">
            <a:noFill/>
            <a:miter lim="800000"/>
            <a:headEnd/>
            <a:tailEnd/>
          </a:ln>
          <a:effectLst/>
        </p:spPr>
      </p:pic>
      <p:sp>
        <p:nvSpPr>
          <p:cNvPr id="23" name="btn-Part 1">
            <a:hlinkClick r:id="rId4" action="ppaction://hlinksldjump"/>
          </p:cNvPr>
          <p:cNvSpPr/>
          <p:nvPr/>
        </p:nvSpPr>
        <p:spPr>
          <a:xfrm>
            <a:off x="0" y="500042"/>
            <a:ext cx="171448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idx="14"/>
          </p:nvPr>
        </p:nvSpPr>
        <p:spPr/>
        <p:txBody>
          <a:bodyPr/>
          <a:p>
            <a:endParaRPr lang="zh-CN" altLang="en-US"/>
          </a:p>
        </p:txBody>
      </p:sp>
      <p:grpSp>
        <p:nvGrpSpPr>
          <p:cNvPr id="33" name="Content Note"/>
          <p:cNvGrpSpPr/>
          <p:nvPr/>
        </p:nvGrpSpPr>
        <p:grpSpPr>
          <a:xfrm>
            <a:off x="1142976" y="1209054"/>
            <a:ext cx="6602506" cy="5006028"/>
            <a:chOff x="1475656" y="1268760"/>
            <a:chExt cx="7632848" cy="5670630"/>
          </a:xfrm>
        </p:grpSpPr>
        <p:sp>
          <p:nvSpPr>
            <p:cNvPr id="36" name="矩形 35"/>
            <p:cNvSpPr/>
            <p:nvPr/>
          </p:nvSpPr>
          <p:spPr>
            <a:xfrm>
              <a:off x="1475656" y="1268760"/>
              <a:ext cx="7632848" cy="5670630"/>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1475656" y="1268760"/>
              <a:ext cx="7632848" cy="410691"/>
            </a:xfrm>
            <a:prstGeom prst="rect">
              <a:avLst/>
            </a:prstGeom>
            <a:solidFill>
              <a:srgbClr val="CB8B02"/>
            </a:solidFill>
          </p:spPr>
          <p:txBody>
            <a:bodyPr wrap="square" rtlCol="0">
              <a:noAutofit/>
            </a:bodyPr>
            <a:lstStyle/>
            <a:p>
              <a:r>
                <a:rPr lang="en-US" altLang="zh-CN" b="1" dirty="0" smtClean="0">
                  <a:solidFill>
                    <a:schemeClr val="bg1"/>
                  </a:solidFill>
                  <a:latin typeface="+mj-lt"/>
                </a:rPr>
                <a:t>Content Note</a:t>
              </a:r>
              <a:endParaRPr lang="zh-CN" altLang="en-US" b="1">
                <a:solidFill>
                  <a:schemeClr val="bg1"/>
                </a:solidFill>
                <a:latin typeface="+mj-lt"/>
              </a:endParaRPr>
            </a:p>
          </p:txBody>
        </p:sp>
        <p:sp>
          <p:nvSpPr>
            <p:cNvPr id="38" name="TextBox 37"/>
            <p:cNvSpPr txBox="1"/>
            <p:nvPr/>
          </p:nvSpPr>
          <p:spPr>
            <a:xfrm>
              <a:off x="1669463" y="1911649"/>
              <a:ext cx="7279063" cy="4567146"/>
            </a:xfrm>
            <a:prstGeom prst="rect">
              <a:avLst/>
            </a:prstGeom>
            <a:noFill/>
          </p:spPr>
          <p:txBody>
            <a:bodyPr wrap="square" rtlCol="0">
              <a:spAutoFit/>
            </a:bodyPr>
            <a:lstStyle/>
            <a:p>
              <a:pPr>
                <a:spcAft>
                  <a:spcPts val="600"/>
                </a:spcAft>
                <a:buClr>
                  <a:schemeClr val="accent3"/>
                </a:buClr>
                <a:buSzPct val="50000"/>
              </a:pPr>
              <a:r>
                <a:rPr lang="en-US" altLang="zh-CN" sz="2400" b="1" dirty="0" smtClean="0"/>
                <a:t>Some well-known mysteries include:</a:t>
              </a:r>
              <a:r>
                <a:rPr lang="en-US" altLang="zh-CN" sz="2400" dirty="0" smtClean="0"/>
                <a:t> </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Taos hum</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a:t>
              </a:r>
              <a:r>
                <a:rPr lang="en-US" altLang="zh-CN" sz="2400" dirty="0" err="1" smtClean="0"/>
                <a:t>Voynich</a:t>
              </a:r>
              <a:r>
                <a:rPr lang="en-US" altLang="zh-CN" sz="2400" dirty="0" smtClean="0"/>
                <a:t> manuscript </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Lost City of Atlantis</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a:t>
              </a:r>
              <a:r>
                <a:rPr lang="en-US" altLang="zh-CN" sz="2400" dirty="0" err="1" smtClean="0"/>
                <a:t>Rongorongo</a:t>
              </a:r>
              <a:r>
                <a:rPr lang="en-US" altLang="zh-CN" sz="2400" dirty="0" smtClean="0"/>
                <a:t> on Easter Island</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a:t>
              </a:r>
              <a:r>
                <a:rPr lang="en-US" altLang="zh-CN" sz="2400" dirty="0" err="1" smtClean="0"/>
                <a:t>Nazca</a:t>
              </a:r>
              <a:r>
                <a:rPr lang="en-US" altLang="zh-CN" sz="2400" dirty="0" smtClean="0"/>
                <a:t> </a:t>
              </a:r>
              <a:r>
                <a:rPr lang="en-US" altLang="zh-CN" sz="2400" dirty="0" err="1" smtClean="0"/>
                <a:t>Geoglyphs</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a:t>
              </a:r>
              <a:r>
                <a:rPr lang="en-US" altLang="zh-CN" sz="2400" dirty="0" err="1" smtClean="0"/>
                <a:t>Greyfriars</a:t>
              </a:r>
              <a:r>
                <a:rPr lang="en-US" altLang="zh-CN" sz="2400" dirty="0" smtClean="0"/>
                <a:t> </a:t>
              </a:r>
              <a:r>
                <a:rPr lang="en-US" altLang="zh-CN" sz="2400" dirty="0" err="1" smtClean="0"/>
                <a:t>Kirkyard</a:t>
              </a:r>
              <a:r>
                <a:rPr lang="en-US" altLang="zh-CN" sz="2400" dirty="0" smtClean="0"/>
                <a:t> in Edinburgh</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Beale Ciphers</a:t>
              </a:r>
              <a:endParaRPr lang="en-US" altLang="zh-CN" sz="2400" dirty="0" smtClean="0"/>
            </a:p>
            <a:p>
              <a:pPr marL="360680" indent="-360680">
                <a:spcAft>
                  <a:spcPts val="600"/>
                </a:spcAft>
                <a:buClr>
                  <a:schemeClr val="accent3"/>
                </a:buClr>
                <a:buSzPct val="50000"/>
                <a:buFont typeface="Wingdings" panose="05000000000000000000" pitchFamily="2" charset="2"/>
                <a:buChar char="l"/>
              </a:pPr>
              <a:r>
                <a:rPr lang="en-US" altLang="zh-CN" sz="2400" dirty="0" smtClean="0"/>
                <a:t> the </a:t>
              </a:r>
              <a:r>
                <a:rPr lang="en-US" altLang="zh-CN" sz="2400" dirty="0" err="1" smtClean="0"/>
                <a:t>Phaistocs</a:t>
              </a:r>
              <a:r>
                <a:rPr lang="en-US" altLang="zh-CN" sz="2400" dirty="0" smtClean="0"/>
                <a:t> Disc.</a:t>
              </a:r>
              <a:endParaRPr lang="en-US" altLang="zh-CN" sz="2400" dirty="0" smtClean="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rgbClr val="515672"/>
                </a:solidFill>
                <a:latin typeface="+mj-lt"/>
              </a:rPr>
              <a:t>What’s your theory        </a:t>
            </a:r>
            <a:r>
              <a:rPr lang="en-US" altLang="zh-CN" sz="1600" b="1" dirty="0" smtClean="0">
                <a:solidFill>
                  <a:schemeClr val="accent4"/>
                </a:solidFill>
                <a:latin typeface="+mj-lt"/>
              </a:rPr>
              <a:t>Project</a:t>
            </a:r>
            <a:endParaRPr lang="zh-CN" altLang="en-US" sz="1600" b="1" dirty="0">
              <a:solidFill>
                <a:schemeClr val="accent4"/>
              </a:solidFill>
              <a:latin typeface="+mj-lt"/>
            </a:endParaRPr>
          </a:p>
        </p:txBody>
      </p:sp>
      <p:sp>
        <p:nvSpPr>
          <p:cNvPr id="32" name="文本占位符 31"/>
          <p:cNvSpPr>
            <a:spLocks noGrp="1"/>
          </p:cNvSpPr>
          <p:nvPr>
            <p:ph type="body" sz="quarter" idx="13"/>
          </p:nvPr>
        </p:nvSpPr>
        <p:spPr>
          <a:xfrm>
            <a:off x="357158" y="3643314"/>
            <a:ext cx="8569325" cy="732620"/>
          </a:xfrm>
        </p:spPr>
        <p:txBody>
          <a:bodyPr>
            <a:noAutofit/>
          </a:bodyPr>
          <a:lstStyle/>
          <a:p>
            <a:r>
              <a:rPr lang="en-US" altLang="zh-CN" b="1" dirty="0" smtClean="0"/>
              <a:t>C. Prepare a short presentation. </a:t>
            </a:r>
            <a:r>
              <a:rPr lang="en-US" altLang="zh-CN" dirty="0" smtClean="0"/>
              <a:t>Make a poster or a slideshow to tell other people about your topic.</a:t>
            </a:r>
            <a:endParaRPr lang="en-US" altLang="zh-CN" dirty="0" smtClean="0"/>
          </a:p>
        </p:txBody>
      </p:sp>
      <p:grpSp>
        <p:nvGrpSpPr>
          <p:cNvPr id="21" name="下一页"/>
          <p:cNvGrpSpPr/>
          <p:nvPr/>
        </p:nvGrpSpPr>
        <p:grpSpPr>
          <a:xfrm>
            <a:off x="8750845" y="6578304"/>
            <a:ext cx="264567" cy="210642"/>
            <a:chOff x="8750845" y="6578304"/>
            <a:chExt cx="264567" cy="210642"/>
          </a:xfrm>
        </p:grpSpPr>
        <p:sp>
          <p:nvSpPr>
            <p:cNvPr id="22"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3" name="热区">
              <a:hlinkClick r:id="" action="ppaction://hlinkshowjump?jump=nextslide"/>
            </p:cNvPr>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上一页"/>
          <p:cNvGrpSpPr/>
          <p:nvPr/>
        </p:nvGrpSpPr>
        <p:grpSpPr>
          <a:xfrm>
            <a:off x="8335464" y="6580685"/>
            <a:ext cx="264567" cy="210642"/>
            <a:chOff x="8335464" y="6580685"/>
            <a:chExt cx="264567" cy="210642"/>
          </a:xfrm>
        </p:grpSpPr>
        <p:sp>
          <p:nvSpPr>
            <p:cNvPr id="2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6"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返回按钮"/>
          <p:cNvGrpSpPr/>
          <p:nvPr/>
        </p:nvGrpSpPr>
        <p:grpSpPr>
          <a:xfrm>
            <a:off x="7875422" y="6585447"/>
            <a:ext cx="264567" cy="210642"/>
            <a:chOff x="7875422" y="6585447"/>
            <a:chExt cx="264567" cy="210642"/>
          </a:xfrm>
        </p:grpSpPr>
        <p:sp>
          <p:nvSpPr>
            <p:cNvPr id="2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2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btn-Part 1">
            <a:hlinkClick r:id="rId1" action="ppaction://hlinksldjump"/>
          </p:cNvPr>
          <p:cNvSpPr/>
          <p:nvPr/>
        </p:nvSpPr>
        <p:spPr>
          <a:xfrm>
            <a:off x="1989958"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占位符 31"/>
          <p:cNvSpPr>
            <a:spLocks noGrp="1"/>
          </p:cNvSpPr>
          <p:nvPr>
            <p:ph type="body" sz="quarter" idx="13"/>
          </p:nvPr>
        </p:nvSpPr>
        <p:spPr>
          <a:xfrm>
            <a:off x="357158" y="1071546"/>
            <a:ext cx="8569325" cy="1000132"/>
          </a:xfrm>
        </p:spPr>
        <p:txBody>
          <a:bodyPr>
            <a:normAutofit lnSpcReduction="10000"/>
          </a:bodyPr>
          <a:lstStyle/>
          <a:p>
            <a:r>
              <a:rPr lang="en-US" altLang="zh-CN" sz="2200" b="1" dirty="0" smtClean="0"/>
              <a:t>B. Research your topic. </a:t>
            </a:r>
            <a:r>
              <a:rPr lang="en-US" altLang="zh-CN" sz="2200" dirty="0" smtClean="0"/>
              <a:t>Think of a list of questions (</a:t>
            </a:r>
            <a:r>
              <a:rPr lang="en-US" altLang="zh-CN" sz="2200" i="1" dirty="0" smtClean="0"/>
              <a:t>Who? What? When? Why? Where? How?</a:t>
            </a:r>
            <a:r>
              <a:rPr lang="en-US" altLang="zh-CN" sz="2200" dirty="0" smtClean="0"/>
              <a:t>). Then find answers for them. What’s your theory about the mystery?</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p:txBody>
      </p:sp>
      <p:sp>
        <p:nvSpPr>
          <p:cNvPr id="16" name="圆角矩形标注 15"/>
          <p:cNvSpPr/>
          <p:nvPr/>
        </p:nvSpPr>
        <p:spPr>
          <a:xfrm>
            <a:off x="785786" y="2211182"/>
            <a:ext cx="2571768" cy="432000"/>
          </a:xfrm>
          <a:prstGeom prst="wedgeRoundRectCallout">
            <a:avLst>
              <a:gd name="adj1" fmla="val -53083"/>
              <a:gd name="adj2" fmla="val 37341"/>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000" dirty="0" smtClean="0">
                <a:solidFill>
                  <a:schemeClr val="tx1"/>
                </a:solidFill>
              </a:rPr>
              <a:t>Where is Stonehenge?</a:t>
            </a:r>
            <a:endParaRPr lang="zh-CN" altLang="en-US" sz="2000" dirty="0">
              <a:solidFill>
                <a:schemeClr val="accent1"/>
              </a:solidFill>
            </a:endParaRPr>
          </a:p>
        </p:txBody>
      </p:sp>
      <p:sp>
        <p:nvSpPr>
          <p:cNvPr id="31" name="圆角矩形标注 30"/>
          <p:cNvSpPr/>
          <p:nvPr/>
        </p:nvSpPr>
        <p:spPr>
          <a:xfrm>
            <a:off x="3643306" y="2643182"/>
            <a:ext cx="2643206" cy="432000"/>
          </a:xfrm>
          <a:prstGeom prst="wedgeRoundRectCallout">
            <a:avLst>
              <a:gd name="adj1" fmla="val 54134"/>
              <a:gd name="adj2" fmla="val 38862"/>
              <a:gd name="adj3" fmla="val 16667"/>
            </a:avLst>
          </a:prstGeom>
          <a:solidFill>
            <a:schemeClr val="accent3">
              <a:lumMod val="40000"/>
              <a:lumOff val="60000"/>
            </a:schemeClr>
          </a:solidFill>
          <a:ln w="19050"/>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altLang="zh-CN" sz="2000" dirty="0" smtClean="0">
                <a:solidFill>
                  <a:schemeClr val="tx1"/>
                </a:solidFill>
              </a:rPr>
              <a:t>Why did people make it?</a:t>
            </a:r>
            <a:endParaRPr lang="zh-CN" altLang="en-US" sz="2000" dirty="0">
              <a:solidFill>
                <a:schemeClr val="accent1"/>
              </a:solidFill>
            </a:endParaRPr>
          </a:p>
        </p:txBody>
      </p:sp>
      <p:sp>
        <p:nvSpPr>
          <p:cNvPr id="33" name="文本占位符 31"/>
          <p:cNvSpPr>
            <a:spLocks noGrp="1"/>
          </p:cNvSpPr>
          <p:nvPr>
            <p:ph type="body" sz="quarter" idx="13"/>
          </p:nvPr>
        </p:nvSpPr>
        <p:spPr>
          <a:xfrm>
            <a:off x="367432" y="4696644"/>
            <a:ext cx="8569325" cy="1161248"/>
          </a:xfrm>
        </p:spPr>
        <p:txBody>
          <a:bodyPr>
            <a:noAutofit/>
          </a:bodyPr>
          <a:lstStyle/>
          <a:p>
            <a:r>
              <a:rPr lang="en-US" altLang="zh-CN" b="1" dirty="0" smtClean="0"/>
              <a:t>D. Present your mystery. </a:t>
            </a:r>
            <a:r>
              <a:rPr lang="en-US" altLang="zh-CN" dirty="0" smtClean="0"/>
              <a:t>Explain the mystery and your theory about it to a small group. </a:t>
            </a:r>
            <a:endParaRPr lang="en-US" altLang="zh-CN" dirty="0" smtClean="0"/>
          </a:p>
          <a:p>
            <a:r>
              <a:rPr lang="en-US" altLang="zh-CN" dirty="0" smtClean="0"/>
              <a:t>Listeners, say what you think about the theory.</a:t>
            </a:r>
            <a:endParaRPr lang="en-US" altLang="zh-CN" dirty="0" smtClean="0"/>
          </a:p>
        </p:txBody>
      </p:sp>
      <p:sp>
        <p:nvSpPr>
          <p:cNvPr id="20" name="btn-Part 1">
            <a:hlinkClick r:id="rId2" action="ppaction://hlinksldjump"/>
          </p:cNvPr>
          <p:cNvSpPr/>
          <p:nvPr/>
        </p:nvSpPr>
        <p:spPr>
          <a:xfrm>
            <a:off x="63500" y="482615"/>
            <a:ext cx="165098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33"/>
          <p:cNvSpPr/>
          <p:nvPr/>
        </p:nvSpPr>
        <p:spPr>
          <a:xfrm>
            <a:off x="0" y="476672"/>
            <a:ext cx="9144000" cy="432048"/>
          </a:xfrm>
          <a:prstGeom prst="rect">
            <a:avLst/>
          </a:prstGeom>
          <a:solidFill>
            <a:srgbClr val="FFDD3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tlCol="0" anchor="ctr"/>
          <a:lstStyle/>
          <a:p>
            <a:r>
              <a:rPr lang="en-US" altLang="zh-CN" sz="1600" b="1" dirty="0" smtClean="0">
                <a:solidFill>
                  <a:schemeClr val="accent4"/>
                </a:solidFill>
                <a:latin typeface="+mj-lt"/>
              </a:rPr>
              <a:t>What’s your theory        </a:t>
            </a:r>
            <a:r>
              <a:rPr lang="en-US" altLang="zh-CN" sz="1600" b="1" dirty="0" smtClean="0">
                <a:solidFill>
                  <a:srgbClr val="515672"/>
                </a:solidFill>
                <a:latin typeface="+mj-lt"/>
              </a:rPr>
              <a:t>Project</a:t>
            </a:r>
            <a:endParaRPr lang="zh-CN" altLang="en-US" sz="1600" b="1" dirty="0">
              <a:solidFill>
                <a:srgbClr val="515672"/>
              </a:solidFill>
              <a:latin typeface="+mj-lt"/>
            </a:endParaRPr>
          </a:p>
        </p:txBody>
      </p:sp>
      <p:sp>
        <p:nvSpPr>
          <p:cNvPr id="32" name="文本占位符 31"/>
          <p:cNvSpPr>
            <a:spLocks noGrp="1"/>
          </p:cNvSpPr>
          <p:nvPr>
            <p:ph type="body" sz="quarter" idx="13"/>
          </p:nvPr>
        </p:nvSpPr>
        <p:spPr>
          <a:xfrm>
            <a:off x="323850" y="1124743"/>
            <a:ext cx="8569325" cy="1447001"/>
          </a:xfrm>
        </p:spPr>
        <p:txBody>
          <a:bodyPr>
            <a:noAutofit/>
          </a:bodyPr>
          <a:lstStyle/>
          <a:p>
            <a:r>
              <a:rPr lang="en-US" altLang="zh-CN" b="1" dirty="0" smtClean="0"/>
              <a:t>Collect more theories. </a:t>
            </a:r>
            <a:r>
              <a:rPr lang="en-US" altLang="zh-CN" dirty="0" smtClean="0"/>
              <a:t>Interview different people about the mystery above. Find out their theories. Decide which are the most believable or unbelievable theories and share them with the class. Do other students find the theories believable?</a:t>
            </a:r>
            <a:endParaRPr lang="zh-CN" altLang="en-US" dirty="0"/>
          </a:p>
        </p:txBody>
      </p:sp>
      <p:grpSp>
        <p:nvGrpSpPr>
          <p:cNvPr id="35" name="下一页"/>
          <p:cNvGrpSpPr/>
          <p:nvPr/>
        </p:nvGrpSpPr>
        <p:grpSpPr>
          <a:xfrm>
            <a:off x="8750845" y="6578304"/>
            <a:ext cx="264567" cy="210642"/>
            <a:chOff x="8750845" y="6578304"/>
            <a:chExt cx="264567" cy="210642"/>
          </a:xfrm>
        </p:grpSpPr>
        <p:sp>
          <p:nvSpPr>
            <p:cNvPr id="36"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37"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上一页"/>
          <p:cNvGrpSpPr/>
          <p:nvPr/>
        </p:nvGrpSpPr>
        <p:grpSpPr>
          <a:xfrm>
            <a:off x="8335464" y="6580685"/>
            <a:ext cx="264567" cy="210642"/>
            <a:chOff x="8335464" y="6580685"/>
            <a:chExt cx="264567" cy="210642"/>
          </a:xfrm>
        </p:grpSpPr>
        <p:sp>
          <p:nvSpPr>
            <p:cNvPr id="41"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2" name="热区">
              <a:hlinkClick r:id="" action="ppaction://hlinkshowjump?jump=previousslide"/>
            </p:cNvPr>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返回按钮"/>
          <p:cNvGrpSpPr/>
          <p:nvPr/>
        </p:nvGrpSpPr>
        <p:grpSpPr>
          <a:xfrm>
            <a:off x="7875422" y="6585447"/>
            <a:ext cx="264567" cy="210642"/>
            <a:chOff x="7875422" y="6585447"/>
            <a:chExt cx="264567" cy="210642"/>
          </a:xfrm>
        </p:grpSpPr>
        <p:sp>
          <p:nvSpPr>
            <p:cNvPr id="44"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5"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btn-Part 1">
            <a:hlinkClick r:id="rId1" action="ppaction://hlinksldjump"/>
          </p:cNvPr>
          <p:cNvSpPr/>
          <p:nvPr/>
        </p:nvSpPr>
        <p:spPr>
          <a:xfrm>
            <a:off x="0" y="500042"/>
            <a:ext cx="1714480"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descr="P08-11_RTXLJ2I.jpg"/>
          <p:cNvPicPr>
            <a:picLocks noChangeAspect="1"/>
          </p:cNvPicPr>
          <p:nvPr/>
        </p:nvPicPr>
        <p:blipFill>
          <a:blip r:embed="rId2"/>
          <a:stretch>
            <a:fillRect/>
          </a:stretch>
        </p:blipFill>
        <p:spPr>
          <a:xfrm>
            <a:off x="1142975" y="2357430"/>
            <a:ext cx="6477045" cy="3643338"/>
          </a:xfrm>
          <a:prstGeom prst="rect">
            <a:avLst/>
          </a:prstGeom>
        </p:spPr>
      </p:pic>
      <p:sp>
        <p:nvSpPr>
          <p:cNvPr id="19" name="矩形 18"/>
          <p:cNvSpPr/>
          <p:nvPr/>
        </p:nvSpPr>
        <p:spPr>
          <a:xfrm>
            <a:off x="4470220" y="5418990"/>
            <a:ext cx="3143256" cy="584775"/>
          </a:xfrm>
          <a:prstGeom prst="rect">
            <a:avLst/>
          </a:prstGeom>
          <a:solidFill>
            <a:schemeClr val="tx1"/>
          </a:solidFill>
        </p:spPr>
        <p:txBody>
          <a:bodyPr wrap="square">
            <a:spAutoFit/>
          </a:bodyPr>
          <a:lstStyle/>
          <a:p>
            <a:r>
              <a:rPr lang="en-US" altLang="zh-CN" sz="1600" dirty="0" smtClean="0">
                <a:solidFill>
                  <a:schemeClr val="bg1"/>
                </a:solidFill>
              </a:rPr>
              <a:t>This crop circle appeared one night in a garden in England.</a:t>
            </a:r>
            <a:endParaRPr lang="zh-CN" altLang="en-US" sz="1600" dirty="0">
              <a:solidFill>
                <a:schemeClr val="bg1"/>
              </a:solidFill>
            </a:endParaRPr>
          </a:p>
        </p:txBody>
      </p:sp>
      <p:sp>
        <p:nvSpPr>
          <p:cNvPr id="18" name="btn-Part 1">
            <a:hlinkClick r:id="rId3" action="ppaction://hlinksldjump"/>
          </p:cNvPr>
          <p:cNvSpPr/>
          <p:nvPr/>
        </p:nvSpPr>
        <p:spPr>
          <a:xfrm>
            <a:off x="1967038" y="482615"/>
            <a:ext cx="696684" cy="380256"/>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advClick="0"/>
  <p:timing>
    <p:tnLst>
      <p:par>
        <p:cTn id="1" dur="indefinite" restart="never" nodeType="tmRoot"/>
      </p:par>
    </p:tnLst>
  </p:timing>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进阶视听说">
      <a:dk1>
        <a:sysClr val="windowText" lastClr="000000"/>
      </a:dk1>
      <a:lt1>
        <a:sysClr val="window" lastClr="FFFFFF"/>
      </a:lt1>
      <a:dk2>
        <a:srgbClr val="582957"/>
      </a:dk2>
      <a:lt2>
        <a:srgbClr val="EEECE1"/>
      </a:lt2>
      <a:accent1>
        <a:srgbClr val="4F81BD"/>
      </a:accent1>
      <a:accent2>
        <a:srgbClr val="C0504D"/>
      </a:accent2>
      <a:accent3>
        <a:srgbClr val="88BB16"/>
      </a:accent3>
      <a:accent4>
        <a:srgbClr val="AF88B6"/>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1409</Words>
  <Application>WPS 演示</Application>
  <PresentationFormat>全屏显示(4:3)</PresentationFormat>
  <Paragraphs>46</Paragraphs>
  <Slides>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vt:i4>
      </vt:variant>
    </vt:vector>
  </HeadingPairs>
  <TitlesOfParts>
    <vt:vector size="13" baseType="lpstr">
      <vt:lpstr>Arial</vt:lpstr>
      <vt:lpstr>宋体</vt:lpstr>
      <vt:lpstr>Wingdings</vt:lpstr>
      <vt:lpstr>Neuton</vt:lpstr>
      <vt:lpstr>Roboto Condensed</vt:lpstr>
      <vt:lpstr>微软雅黑</vt:lpstr>
      <vt:lpstr>Arial Unicode MS</vt:lpstr>
      <vt:lpstr>Calibri</vt:lpstr>
      <vt:lpstr>Office 主题</vt:lpstr>
      <vt:lpstr>PowerPoint 演示文稿</vt:lpstr>
      <vt:lpstr>PowerPoint 演示文稿</vt:lpstr>
      <vt:lpstr>PowerPoint 演示文稿</vt:lpstr>
      <vt:lpstr>PowerPoint 演示文稿</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217</cp:revision>
  <dcterms:created xsi:type="dcterms:W3CDTF">2017-12-23T09:29:00Z</dcterms:created>
  <dcterms:modified xsi:type="dcterms:W3CDTF">2024-08-27T07:06:56Z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A23D7F36F8DF4D87A73A50989353AEBD_13</vt:lpwstr>
  </property>
  <property fmtid="{D5CDD505-2E9C-101B-9397-08002B2CF9AE}" pid="3" name="KSOProductBuildVer">
    <vt:lpwstr>2052-12.1.0.17857</vt:lpwstr>
  </property>
</Properties>
</file>