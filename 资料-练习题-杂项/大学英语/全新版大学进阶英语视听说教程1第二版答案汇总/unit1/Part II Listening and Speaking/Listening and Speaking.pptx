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handoutMasterIdLst>
    <p:handoutMasterId r:id="rId27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6858000" type="screen4x3"/>
  <p:notesSz cx="6858000" cy="9144000"/>
  <p:embeddedFontLst>
    <p:embeddedFont>
      <p:font typeface="Neuton" panose="00000500000000000000" charset="0"/>
      <p:regular r:id="rId31"/>
      <p:bold r:id="rId32"/>
      <p:italic r:id="rId33"/>
    </p:embeddedFont>
    <p:embeddedFont>
      <p:font typeface="Roboto Condensed" panose="02000000000000000000" charset="0"/>
      <p:regular r:id="rId34"/>
      <p:bold r:id="rId35"/>
      <p:italic r:id="rId36"/>
      <p:boldItalic r:id="rId37"/>
    </p:embeddedFont>
    <p:embeddedFont>
      <p:font typeface="微软雅黑" panose="020B0503020204020204" charset="-122"/>
      <p:regular r:id="rId38"/>
    </p:embeddedFont>
    <p:embeddedFont>
      <p:font typeface="Calibri" panose="020F0502020204030204" charset="0"/>
      <p:regular r:id="rId39"/>
      <p:bold r:id="rId40"/>
      <p:italic r:id="rId41"/>
      <p:boldItalic r:id="rId42"/>
    </p:embeddedFont>
    <p:embeddedFont>
      <p:font typeface="Neuton" panose="00000500000000000000"/>
      <p:regular r:id="rId43"/>
      <p:bold r:id="rId44"/>
      <p:italic r:id="rId45"/>
    </p:embeddedFont>
  </p:embeddedFontLst>
  <p:custDataLst>
    <p:tags r:id="rId4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5" userDrawn="1">
          <p15:clr>
            <a:srgbClr val="A4A3A4"/>
          </p15:clr>
        </p15:guide>
        <p15:guide id="2" pos="33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15672"/>
    <a:srgbClr val="FFDD33"/>
    <a:srgbClr val="F2F2F2"/>
    <a:srgbClr val="F3B700"/>
    <a:srgbClr val="FFFFFF"/>
    <a:srgbClr val="CB8B02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8" autoAdjust="0"/>
    <p:restoredTop sz="86454" autoAdjust="0"/>
  </p:normalViewPr>
  <p:slideViewPr>
    <p:cSldViewPr showGuides="1">
      <p:cViewPr varScale="1">
        <p:scale>
          <a:sx n="110" d="100"/>
          <a:sy n="110" d="100"/>
        </p:scale>
        <p:origin x="1656" y="108"/>
      </p:cViewPr>
      <p:guideLst>
        <p:guide orient="horz" pos="2105"/>
        <p:guide pos="3334"/>
      </p:guideLst>
    </p:cSldViewPr>
  </p:slideViewPr>
  <p:outlineViewPr>
    <p:cViewPr>
      <p:scale>
        <a:sx n="33" d="100"/>
        <a:sy n="33" d="100"/>
      </p:scale>
      <p:origin x="366" y="31981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07"/>
        <p:guide pos="217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gs" Target="tags/tag18.xml"/><Relationship Id="rId45" Type="http://schemas.openxmlformats.org/officeDocument/2006/relationships/font" Target="fonts/font15.fntdata"/><Relationship Id="rId44" Type="http://schemas.openxmlformats.org/officeDocument/2006/relationships/font" Target="fonts/font14.fntdata"/><Relationship Id="rId43" Type="http://schemas.openxmlformats.org/officeDocument/2006/relationships/font" Target="fonts/font13.fntdata"/><Relationship Id="rId42" Type="http://schemas.openxmlformats.org/officeDocument/2006/relationships/font" Target="fonts/font12.fntdata"/><Relationship Id="rId41" Type="http://schemas.openxmlformats.org/officeDocument/2006/relationships/font" Target="fonts/font11.fntdata"/><Relationship Id="rId40" Type="http://schemas.openxmlformats.org/officeDocument/2006/relationships/font" Target="fonts/font10.fntdata"/><Relationship Id="rId4" Type="http://schemas.openxmlformats.org/officeDocument/2006/relationships/slide" Target="slides/slide2.xml"/><Relationship Id="rId39" Type="http://schemas.openxmlformats.org/officeDocument/2006/relationships/font" Target="fonts/font9.fntdata"/><Relationship Id="rId38" Type="http://schemas.openxmlformats.org/officeDocument/2006/relationships/font" Target="fonts/font8.fntdata"/><Relationship Id="rId37" Type="http://schemas.openxmlformats.org/officeDocument/2006/relationships/font" Target="fonts/font7.fntdata"/><Relationship Id="rId36" Type="http://schemas.openxmlformats.org/officeDocument/2006/relationships/font" Target="fonts/font6.fntdata"/><Relationship Id="rId35" Type="http://schemas.openxmlformats.org/officeDocument/2006/relationships/font" Target="fonts/font5.fntdata"/><Relationship Id="rId34" Type="http://schemas.openxmlformats.org/officeDocument/2006/relationships/font" Target="fonts/font4.fntdata"/><Relationship Id="rId33" Type="http://schemas.openxmlformats.org/officeDocument/2006/relationships/font" Target="fonts/font3.fntdata"/><Relationship Id="rId32" Type="http://schemas.openxmlformats.org/officeDocument/2006/relationships/font" Target="fonts/font2.fntdata"/><Relationship Id="rId31" Type="http://schemas.openxmlformats.org/officeDocument/2006/relationships/font" Target="fonts/font1.fntdata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36613"/>
            <a:ext cx="8569325" cy="576262"/>
          </a:xfrm>
        </p:spPr>
        <p:txBody>
          <a:bodyPr>
            <a:normAutofit/>
          </a:bodyPr>
          <a:lstStyle>
            <a:lvl1pPr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628775"/>
            <a:ext cx="8569325" cy="45370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" name="标题 1"/>
          <p:cNvSpPr txBox="1"/>
          <p:nvPr userDrawn="1"/>
        </p:nvSpPr>
        <p:spPr>
          <a:xfrm>
            <a:off x="179512" y="0"/>
            <a:ext cx="3384376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II Listening  and Speaking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 II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36613"/>
            <a:ext cx="8569325" cy="576262"/>
          </a:xfrm>
        </p:spPr>
        <p:txBody>
          <a:bodyPr>
            <a:normAutofit/>
          </a:bodyPr>
          <a:lstStyle>
            <a:lvl1pPr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628775"/>
            <a:ext cx="8569325" cy="45370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3384376" cy="476672"/>
          </a:xfrm>
          <a:prstGeom prst="rect">
            <a:avLst/>
          </a:prstGeom>
          <a:solidFill>
            <a:schemeClr val="tx2"/>
          </a:solidFill>
        </p:spPr>
        <p:txBody>
          <a:bodyPr vert="horz" lIns="14400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II Listening  and Speaking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ss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340768"/>
            <a:ext cx="8569325" cy="48250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79512" y="0"/>
            <a:ext cx="4680520" cy="47667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 II Listening  and Speaking / Lesson A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sson A dir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4680520" cy="47667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 II Listening  and Speaking / Lesson A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sson B dir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4680520" cy="47667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 II Listening  and Speaking / Lesson B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ss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340768"/>
            <a:ext cx="8569325" cy="48250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标题 1"/>
          <p:cNvSpPr txBox="1"/>
          <p:nvPr userDrawn="1"/>
        </p:nvSpPr>
        <p:spPr>
          <a:xfrm>
            <a:off x="179512" y="0"/>
            <a:ext cx="4680520" cy="47667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 II Listening  and Speaking / Lesson B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stening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340768"/>
            <a:ext cx="8569325" cy="48250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5179888" cy="47667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 II Listening  and Speaking 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8" name="标题 1"/>
          <p:cNvSpPr txBox="1"/>
          <p:nvPr userDrawn="1"/>
        </p:nvSpPr>
        <p:spPr>
          <a:xfrm>
            <a:off x="3539238" y="0"/>
            <a:ext cx="1820162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Listening Skills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stening Skills dir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5179888" cy="47667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 II Listening  and Speaking 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8" name="标题 1"/>
          <p:cNvSpPr txBox="1"/>
          <p:nvPr userDrawn="1"/>
        </p:nvSpPr>
        <p:spPr>
          <a:xfrm>
            <a:off x="3539238" y="0"/>
            <a:ext cx="1820162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Listening Skills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jpe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slide" Target="slide22.xml"/><Relationship Id="rId5" Type="http://schemas.openxmlformats.org/officeDocument/2006/relationships/slide" Target="slide18.xml"/><Relationship Id="rId4" Type="http://schemas.openxmlformats.org/officeDocument/2006/relationships/slide" Target="slide14.xml"/><Relationship Id="rId3" Type="http://schemas.openxmlformats.org/officeDocument/2006/relationships/slide" Target="slide7.xml"/><Relationship Id="rId2" Type="http://schemas.openxmlformats.org/officeDocument/2006/relationships/slide" Target="slide6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9" Type="http://schemas.microsoft.com/office/2007/relationships/media" Target="../media/media1.mp3"/><Relationship Id="rId8" Type="http://schemas.openxmlformats.org/officeDocument/2006/relationships/audio" Target="../media/media1.mp3"/><Relationship Id="rId7" Type="http://schemas.openxmlformats.org/officeDocument/2006/relationships/image" Target="../media/image5.emf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5" Type="http://schemas.openxmlformats.org/officeDocument/2006/relationships/slideLayout" Target="../slideLayouts/slideLayout3.xml"/><Relationship Id="rId44" Type="http://schemas.microsoft.com/office/2007/relationships/media" Target="../media/media18.mp3"/><Relationship Id="rId43" Type="http://schemas.openxmlformats.org/officeDocument/2006/relationships/audio" Target="../media/media18.mp3"/><Relationship Id="rId42" Type="http://schemas.microsoft.com/office/2007/relationships/media" Target="../media/media17.mp3"/><Relationship Id="rId41" Type="http://schemas.openxmlformats.org/officeDocument/2006/relationships/audio" Target="../media/media17.mp3"/><Relationship Id="rId40" Type="http://schemas.microsoft.com/office/2007/relationships/media" Target="../media/media16.mp3"/><Relationship Id="rId4" Type="http://schemas.openxmlformats.org/officeDocument/2006/relationships/image" Target="../media/image2.emf"/><Relationship Id="rId39" Type="http://schemas.openxmlformats.org/officeDocument/2006/relationships/audio" Target="../media/media16.mp3"/><Relationship Id="rId38" Type="http://schemas.microsoft.com/office/2007/relationships/media" Target="../media/media15.mp3"/><Relationship Id="rId37" Type="http://schemas.openxmlformats.org/officeDocument/2006/relationships/audio" Target="../media/media15.mp3"/><Relationship Id="rId36" Type="http://schemas.microsoft.com/office/2007/relationships/media" Target="../media/media14.mp3"/><Relationship Id="rId35" Type="http://schemas.openxmlformats.org/officeDocument/2006/relationships/audio" Target="../media/media14.mp3"/><Relationship Id="rId34" Type="http://schemas.microsoft.com/office/2007/relationships/media" Target="../media/media13.mp3"/><Relationship Id="rId33" Type="http://schemas.openxmlformats.org/officeDocument/2006/relationships/audio" Target="../media/media13.mp3"/><Relationship Id="rId32" Type="http://schemas.microsoft.com/office/2007/relationships/media" Target="../media/media12.mp3"/><Relationship Id="rId31" Type="http://schemas.openxmlformats.org/officeDocument/2006/relationships/audio" Target="../media/media12.mp3"/><Relationship Id="rId30" Type="http://schemas.microsoft.com/office/2007/relationships/media" Target="../media/media11.mp3"/><Relationship Id="rId3" Type="http://schemas.openxmlformats.org/officeDocument/2006/relationships/slide" Target="slide2.xml"/><Relationship Id="rId29" Type="http://schemas.openxmlformats.org/officeDocument/2006/relationships/audio" Target="../media/media11.mp3"/><Relationship Id="rId28" Type="http://schemas.microsoft.com/office/2007/relationships/media" Target="../media/media10.mp3"/><Relationship Id="rId27" Type="http://schemas.openxmlformats.org/officeDocument/2006/relationships/audio" Target="../media/media10.mp3"/><Relationship Id="rId26" Type="http://schemas.microsoft.com/office/2007/relationships/media" Target="../media/media9.mp3"/><Relationship Id="rId25" Type="http://schemas.openxmlformats.org/officeDocument/2006/relationships/audio" Target="../media/media9.mp3"/><Relationship Id="rId24" Type="http://schemas.microsoft.com/office/2007/relationships/media" Target="../media/media8.mp3"/><Relationship Id="rId23" Type="http://schemas.openxmlformats.org/officeDocument/2006/relationships/audio" Target="../media/media8.mp3"/><Relationship Id="rId22" Type="http://schemas.microsoft.com/office/2007/relationships/media" Target="../media/media7.mp3"/><Relationship Id="rId21" Type="http://schemas.openxmlformats.org/officeDocument/2006/relationships/audio" Target="../media/media7.mp3"/><Relationship Id="rId20" Type="http://schemas.microsoft.com/office/2007/relationships/media" Target="../media/media6.mp3"/><Relationship Id="rId2" Type="http://schemas.openxmlformats.org/officeDocument/2006/relationships/slide" Target="slide4.xml"/><Relationship Id="rId19" Type="http://schemas.openxmlformats.org/officeDocument/2006/relationships/audio" Target="../media/media6.mp3"/><Relationship Id="rId18" Type="http://schemas.microsoft.com/office/2007/relationships/media" Target="../media/media5.mp3"/><Relationship Id="rId17" Type="http://schemas.openxmlformats.org/officeDocument/2006/relationships/audio" Target="../media/media5.mp3"/><Relationship Id="rId16" Type="http://schemas.microsoft.com/office/2007/relationships/media" Target="../media/media4.mp3"/><Relationship Id="rId15" Type="http://schemas.openxmlformats.org/officeDocument/2006/relationships/audio" Target="../media/media4.mp3"/><Relationship Id="rId14" Type="http://schemas.microsoft.com/office/2007/relationships/media" Target="../media/media3.mp3"/><Relationship Id="rId13" Type="http://schemas.openxmlformats.org/officeDocument/2006/relationships/audio" Target="../media/media3.mp3"/><Relationship Id="rId12" Type="http://schemas.microsoft.com/office/2007/relationships/media" Target="../media/media2.mp3"/><Relationship Id="rId11" Type="http://schemas.openxmlformats.org/officeDocument/2006/relationships/audio" Target="../media/media2.mp3"/><Relationship Id="rId10" Type="http://schemas.openxmlformats.org/officeDocument/2006/relationships/image" Target="../media/image6.png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" Target="slide3.xml"/><Relationship Id="rId8" Type="http://schemas.openxmlformats.org/officeDocument/2006/relationships/image" Target="../media/image9.png"/><Relationship Id="rId7" Type="http://schemas.openxmlformats.org/officeDocument/2006/relationships/image" Target="../media/image8.emf"/><Relationship Id="rId6" Type="http://schemas.openxmlformats.org/officeDocument/2006/relationships/hyperlink" Target="Script1.pptx#-1,1,&#24187;&#28783;&#29255;%201" TargetMode="External"/><Relationship Id="rId5" Type="http://schemas.openxmlformats.org/officeDocument/2006/relationships/image" Target="../media/image7.emf"/><Relationship Id="rId4" Type="http://schemas.openxmlformats.org/officeDocument/2006/relationships/hyperlink" Target="Track%201-1.mp3" TargetMode="External"/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5" Type="http://schemas.openxmlformats.org/officeDocument/2006/relationships/slideLayout" Target="../slideLayouts/slideLayout4.xml"/><Relationship Id="rId14" Type="http://schemas.openxmlformats.org/officeDocument/2006/relationships/image" Target="../media/image6.png"/><Relationship Id="rId13" Type="http://schemas.microsoft.com/office/2007/relationships/media" Target="../media/media19.mp3"/><Relationship Id="rId12" Type="http://schemas.openxmlformats.org/officeDocument/2006/relationships/audio" Target="../media/media19.mp3"/><Relationship Id="rId11" Type="http://schemas.openxmlformats.org/officeDocument/2006/relationships/slide" Target="slide2.xml"/><Relationship Id="rId10" Type="http://schemas.openxmlformats.org/officeDocument/2006/relationships/slide" Target="slide4.xml"/><Relationship Id="rId1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2" Type="http://schemas.openxmlformats.org/officeDocument/2006/relationships/slideLayout" Target="../slideLayouts/slideLayout4.xml"/><Relationship Id="rId21" Type="http://schemas.openxmlformats.org/officeDocument/2006/relationships/slide" Target="slide2.xml"/><Relationship Id="rId20" Type="http://schemas.openxmlformats.org/officeDocument/2006/relationships/slide" Target="slide4.xml"/><Relationship Id="rId2" Type="http://schemas.openxmlformats.org/officeDocument/2006/relationships/image" Target="../media/image10.jpeg"/><Relationship Id="rId19" Type="http://schemas.openxmlformats.org/officeDocument/2006/relationships/slide" Target="slide3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jpeg"/><Relationship Id="rId8" Type="http://schemas.openxmlformats.org/officeDocument/2006/relationships/image" Target="../media/image11.jpeg"/><Relationship Id="rId7" Type="http://schemas.openxmlformats.org/officeDocument/2006/relationships/image" Target="../media/image8.emf"/><Relationship Id="rId6" Type="http://schemas.openxmlformats.org/officeDocument/2006/relationships/hyperlink" Target="Script1.pptx#-1,1,&#24187;&#28783;&#29255;%201" TargetMode="External"/><Relationship Id="rId5" Type="http://schemas.openxmlformats.org/officeDocument/2006/relationships/image" Target="../media/image7.emf"/><Relationship Id="rId4" Type="http://schemas.openxmlformats.org/officeDocument/2006/relationships/hyperlink" Target="Track%201-1.mp3" TargetMode="External"/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9" Type="http://schemas.openxmlformats.org/officeDocument/2006/relationships/slideLayout" Target="../slideLayouts/slideLayout4.xml"/><Relationship Id="rId18" Type="http://schemas.openxmlformats.org/officeDocument/2006/relationships/image" Target="../media/image6.png"/><Relationship Id="rId17" Type="http://schemas.microsoft.com/office/2007/relationships/media" Target="../media/media19.mp3"/><Relationship Id="rId16" Type="http://schemas.openxmlformats.org/officeDocument/2006/relationships/audio" Target="../media/media19.mp3"/><Relationship Id="rId15" Type="http://schemas.openxmlformats.org/officeDocument/2006/relationships/slide" Target="slide2.xml"/><Relationship Id="rId14" Type="http://schemas.openxmlformats.org/officeDocument/2006/relationships/slide" Target="slide4.xml"/><Relationship Id="rId13" Type="http://schemas.openxmlformats.org/officeDocument/2006/relationships/slide" Target="slide3.xml"/><Relationship Id="rId12" Type="http://schemas.openxmlformats.org/officeDocument/2006/relationships/image" Target="../media/image15.jpeg"/><Relationship Id="rId11" Type="http://schemas.openxmlformats.org/officeDocument/2006/relationships/image" Target="../media/image14.jpeg"/><Relationship Id="rId10" Type="http://schemas.openxmlformats.org/officeDocument/2006/relationships/image" Target="../media/image13.jpeg"/><Relationship Id="rId1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emf"/><Relationship Id="rId8" Type="http://schemas.openxmlformats.org/officeDocument/2006/relationships/image" Target="../media/image16.png"/><Relationship Id="rId7" Type="http://schemas.microsoft.com/office/2007/relationships/media" Target="file:///E:\CN\PPT\&#20840;&#26032;&#29256;&#22823;&#23398;&#36827;&#38454;&#33521;&#35821;%20&#35270;&#21548;&#35828;&#25945;&#31243;%201%20&#65288;&#31532;1&#29256;ppt%20&#21644;%20top&#35838;&#20214;&#65289;\&#20840;&#26032;&#29256;&#22823;&#23398;&#36827;&#38454;&#33521;&#35821;&#35270;&#21548;&#35828;&#25945;&#31243;1PPT\Unit%201\Part%20II%20Listening%20and%20Speaking\Track%201-2.mp3" TargetMode="External"/><Relationship Id="rId6" Type="http://schemas.openxmlformats.org/officeDocument/2006/relationships/audio" Target="file:///E:\CN\PPT\&#20840;&#26032;&#29256;&#22823;&#23398;&#36827;&#38454;&#33521;&#35821;%20&#35270;&#21548;&#35828;&#25945;&#31243;%201%20&#65288;&#31532;1&#29256;ppt%20&#21644;%20top&#35838;&#20214;&#65289;\&#20840;&#26032;&#29256;&#22823;&#23398;&#36827;&#38454;&#33521;&#35821;&#35270;&#21548;&#35828;&#25945;&#31243;1PPT\Unit%201\Part%20II%20Listening%20and%20Speaking\Track%201-2.mp3" TargetMode="External"/><Relationship Id="rId5" Type="http://schemas.openxmlformats.org/officeDocument/2006/relationships/image" Target="../media/image7.emf"/><Relationship Id="rId4" Type="http://schemas.openxmlformats.org/officeDocument/2006/relationships/hyperlink" Target="Track%201-2.mp3" TargetMode="External"/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0" Type="http://schemas.openxmlformats.org/officeDocument/2006/relationships/slideLayout" Target="../slideLayouts/slideLayout4.xml"/><Relationship Id="rId1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audio" Target="../media/media20.mp3"/><Relationship Id="rId8" Type="http://schemas.openxmlformats.org/officeDocument/2006/relationships/image" Target="../media/image5.emf"/><Relationship Id="rId7" Type="http://schemas.openxmlformats.org/officeDocument/2006/relationships/image" Target="../media/image4.emf"/><Relationship Id="rId6" Type="http://schemas.openxmlformats.org/officeDocument/2006/relationships/image" Target="../media/image3.emf"/><Relationship Id="rId5" Type="http://schemas.openxmlformats.org/officeDocument/2006/relationships/image" Target="../media/image2.emf"/><Relationship Id="rId4" Type="http://schemas.openxmlformats.org/officeDocument/2006/relationships/slide" Target="slide13.xml"/><Relationship Id="rId33" Type="http://schemas.openxmlformats.org/officeDocument/2006/relationships/notesSlide" Target="../notesSlides/notesSlide1.xml"/><Relationship Id="rId32" Type="http://schemas.openxmlformats.org/officeDocument/2006/relationships/slideLayout" Target="../slideLayouts/slideLayout5.xml"/><Relationship Id="rId31" Type="http://schemas.microsoft.com/office/2007/relationships/media" Target="../media/media30.mp3"/><Relationship Id="rId30" Type="http://schemas.openxmlformats.org/officeDocument/2006/relationships/audio" Target="../media/media30.mp3"/><Relationship Id="rId3" Type="http://schemas.openxmlformats.org/officeDocument/2006/relationships/slide" Target="slide7.xml"/><Relationship Id="rId29" Type="http://schemas.microsoft.com/office/2007/relationships/media" Target="../media/media29.mp3"/><Relationship Id="rId28" Type="http://schemas.openxmlformats.org/officeDocument/2006/relationships/audio" Target="../media/media29.mp3"/><Relationship Id="rId27" Type="http://schemas.microsoft.com/office/2007/relationships/media" Target="../media/media28.mp3"/><Relationship Id="rId26" Type="http://schemas.openxmlformats.org/officeDocument/2006/relationships/audio" Target="../media/media28.mp3"/><Relationship Id="rId25" Type="http://schemas.microsoft.com/office/2007/relationships/media" Target="../media/media27.mp3"/><Relationship Id="rId24" Type="http://schemas.openxmlformats.org/officeDocument/2006/relationships/audio" Target="../media/media27.mp3"/><Relationship Id="rId23" Type="http://schemas.microsoft.com/office/2007/relationships/media" Target="../media/media26.mp3"/><Relationship Id="rId22" Type="http://schemas.openxmlformats.org/officeDocument/2006/relationships/audio" Target="../media/media26.mp3"/><Relationship Id="rId21" Type="http://schemas.microsoft.com/office/2007/relationships/media" Target="../media/media25.mp3"/><Relationship Id="rId20" Type="http://schemas.openxmlformats.org/officeDocument/2006/relationships/audio" Target="../media/media25.mp3"/><Relationship Id="rId2" Type="http://schemas.openxmlformats.org/officeDocument/2006/relationships/slide" Target="slide10.xml"/><Relationship Id="rId19" Type="http://schemas.microsoft.com/office/2007/relationships/media" Target="../media/media24.mp3"/><Relationship Id="rId18" Type="http://schemas.openxmlformats.org/officeDocument/2006/relationships/audio" Target="../media/media24.mp3"/><Relationship Id="rId17" Type="http://schemas.microsoft.com/office/2007/relationships/media" Target="../media/media23.mp3"/><Relationship Id="rId16" Type="http://schemas.openxmlformats.org/officeDocument/2006/relationships/audio" Target="../media/media23.mp3"/><Relationship Id="rId15" Type="http://schemas.microsoft.com/office/2007/relationships/media" Target="../media/media22.mp3"/><Relationship Id="rId14" Type="http://schemas.openxmlformats.org/officeDocument/2006/relationships/audio" Target="../media/media22.mp3"/><Relationship Id="rId13" Type="http://schemas.microsoft.com/office/2007/relationships/media" Target="../media/media21.mp3"/><Relationship Id="rId12" Type="http://schemas.openxmlformats.org/officeDocument/2006/relationships/audio" Target="../media/media21.mp3"/><Relationship Id="rId11" Type="http://schemas.openxmlformats.org/officeDocument/2006/relationships/image" Target="../media/image6.png"/><Relationship Id="rId10" Type="http://schemas.microsoft.com/office/2007/relationships/media" Target="../media/media20.mp3"/><Relationship Id="rId1" Type="http://schemas.openxmlformats.org/officeDocument/2006/relationships/slide" Target="slide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audio" Target="../media/media21.mp3"/><Relationship Id="rId8" Type="http://schemas.openxmlformats.org/officeDocument/2006/relationships/image" Target="../media/image6.png"/><Relationship Id="rId7" Type="http://schemas.microsoft.com/office/2007/relationships/media" Target="../media/media20.mp3"/><Relationship Id="rId6" Type="http://schemas.openxmlformats.org/officeDocument/2006/relationships/audio" Target="../media/media20.mp3"/><Relationship Id="rId5" Type="http://schemas.openxmlformats.org/officeDocument/2006/relationships/image" Target="../media/image5.emf"/><Relationship Id="rId4" Type="http://schemas.openxmlformats.org/officeDocument/2006/relationships/slide" Target="slide13.xml"/><Relationship Id="rId3" Type="http://schemas.openxmlformats.org/officeDocument/2006/relationships/slide" Target="slide7.xml"/><Relationship Id="rId28" Type="http://schemas.openxmlformats.org/officeDocument/2006/relationships/notesSlide" Target="../notesSlides/notesSlide2.xml"/><Relationship Id="rId27" Type="http://schemas.openxmlformats.org/officeDocument/2006/relationships/slideLayout" Target="../slideLayouts/slideLayout5.xml"/><Relationship Id="rId26" Type="http://schemas.microsoft.com/office/2007/relationships/media" Target="../media/media29.mp3"/><Relationship Id="rId25" Type="http://schemas.openxmlformats.org/officeDocument/2006/relationships/audio" Target="../media/media29.mp3"/><Relationship Id="rId24" Type="http://schemas.microsoft.com/office/2007/relationships/media" Target="../media/media28.mp3"/><Relationship Id="rId23" Type="http://schemas.openxmlformats.org/officeDocument/2006/relationships/audio" Target="../media/media28.mp3"/><Relationship Id="rId22" Type="http://schemas.microsoft.com/office/2007/relationships/media" Target="../media/media27.mp3"/><Relationship Id="rId21" Type="http://schemas.openxmlformats.org/officeDocument/2006/relationships/audio" Target="../media/media27.mp3"/><Relationship Id="rId20" Type="http://schemas.microsoft.com/office/2007/relationships/media" Target="../media/media26.mp3"/><Relationship Id="rId2" Type="http://schemas.openxmlformats.org/officeDocument/2006/relationships/slide" Target="slide10.xml"/><Relationship Id="rId19" Type="http://schemas.openxmlformats.org/officeDocument/2006/relationships/audio" Target="../media/media26.mp3"/><Relationship Id="rId18" Type="http://schemas.microsoft.com/office/2007/relationships/media" Target="../media/media25.mp3"/><Relationship Id="rId17" Type="http://schemas.openxmlformats.org/officeDocument/2006/relationships/audio" Target="../media/media25.mp3"/><Relationship Id="rId16" Type="http://schemas.microsoft.com/office/2007/relationships/media" Target="../media/media24.mp3"/><Relationship Id="rId15" Type="http://schemas.openxmlformats.org/officeDocument/2006/relationships/audio" Target="../media/media24.mp3"/><Relationship Id="rId14" Type="http://schemas.microsoft.com/office/2007/relationships/media" Target="../media/media23.mp3"/><Relationship Id="rId13" Type="http://schemas.openxmlformats.org/officeDocument/2006/relationships/audio" Target="../media/media23.mp3"/><Relationship Id="rId12" Type="http://schemas.microsoft.com/office/2007/relationships/media" Target="../media/media22.mp3"/><Relationship Id="rId11" Type="http://schemas.openxmlformats.org/officeDocument/2006/relationships/audio" Target="../media/media22.mp3"/><Relationship Id="rId10" Type="http://schemas.microsoft.com/office/2007/relationships/media" Target="../media/media21.mp3"/><Relationship Id="rId1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slide" Target="slide9.xml"/><Relationship Id="rId3" Type="http://schemas.openxmlformats.org/officeDocument/2006/relationships/slide" Target="slide13.xml"/><Relationship Id="rId2" Type="http://schemas.openxmlformats.org/officeDocument/2006/relationships/slide" Target="slide7.xml"/><Relationship Id="rId1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jpeg"/><Relationship Id="rId8" Type="http://schemas.openxmlformats.org/officeDocument/2006/relationships/image" Target="../media/image20.jpeg"/><Relationship Id="rId7" Type="http://schemas.openxmlformats.org/officeDocument/2006/relationships/image" Target="../media/image19.jpeg"/><Relationship Id="rId6" Type="http://schemas.openxmlformats.org/officeDocument/2006/relationships/image" Target="../media/image18.jpeg"/><Relationship Id="rId5" Type="http://schemas.openxmlformats.org/officeDocument/2006/relationships/image" Target="../media/image7.emf"/><Relationship Id="rId4" Type="http://schemas.openxmlformats.org/officeDocument/2006/relationships/hyperlink" Target="Track%201-3.mp3" TargetMode="External"/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9" Type="http://schemas.openxmlformats.org/officeDocument/2006/relationships/slideLayout" Target="../slideLayouts/slideLayout5.xml"/><Relationship Id="rId18" Type="http://schemas.openxmlformats.org/officeDocument/2006/relationships/image" Target="../media/image6.png"/><Relationship Id="rId17" Type="http://schemas.microsoft.com/office/2007/relationships/media" Target="../media/media31.mp3"/><Relationship Id="rId16" Type="http://schemas.openxmlformats.org/officeDocument/2006/relationships/audio" Target="../media/media31.mp3"/><Relationship Id="rId15" Type="http://schemas.openxmlformats.org/officeDocument/2006/relationships/slide" Target="slide10.xml"/><Relationship Id="rId14" Type="http://schemas.openxmlformats.org/officeDocument/2006/relationships/slide" Target="slide13.xml"/><Relationship Id="rId13" Type="http://schemas.openxmlformats.org/officeDocument/2006/relationships/slide" Target="slide7.xml"/><Relationship Id="rId12" Type="http://schemas.openxmlformats.org/officeDocument/2006/relationships/slide" Target="slide9.xml"/><Relationship Id="rId11" Type="http://schemas.openxmlformats.org/officeDocument/2006/relationships/image" Target="../media/image8.emf"/><Relationship Id="rId10" Type="http://schemas.openxmlformats.org/officeDocument/2006/relationships/hyperlink" Target="Script2.pptx" TargetMode="External"/><Relationship Id="rId1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" Target="slide7.xml"/><Relationship Id="rId8" Type="http://schemas.openxmlformats.org/officeDocument/2006/relationships/slide" Target="slide9.xml"/><Relationship Id="rId7" Type="http://schemas.openxmlformats.org/officeDocument/2006/relationships/image" Target="../media/image8.emf"/><Relationship Id="rId6" Type="http://schemas.openxmlformats.org/officeDocument/2006/relationships/hyperlink" Target="Script2.pptx" TargetMode="External"/><Relationship Id="rId5" Type="http://schemas.openxmlformats.org/officeDocument/2006/relationships/image" Target="../media/image7.emf"/><Relationship Id="rId4" Type="http://schemas.openxmlformats.org/officeDocument/2006/relationships/hyperlink" Target="Track%201-3.mp3" TargetMode="External"/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5" Type="http://schemas.openxmlformats.org/officeDocument/2006/relationships/slideLayout" Target="../slideLayouts/slideLayout5.xml"/><Relationship Id="rId14" Type="http://schemas.openxmlformats.org/officeDocument/2006/relationships/image" Target="../media/image6.png"/><Relationship Id="rId13" Type="http://schemas.microsoft.com/office/2007/relationships/media" Target="../media/media31.mp3"/><Relationship Id="rId12" Type="http://schemas.openxmlformats.org/officeDocument/2006/relationships/audio" Target="../media/media31.mp3"/><Relationship Id="rId11" Type="http://schemas.openxmlformats.org/officeDocument/2006/relationships/slide" Target="slide10.xml"/><Relationship Id="rId10" Type="http://schemas.openxmlformats.org/officeDocument/2006/relationships/slide" Target="slide13.xml"/><Relationship Id="rId1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" Target="slide7.xml"/><Relationship Id="rId8" Type="http://schemas.openxmlformats.org/officeDocument/2006/relationships/slide" Target="slide9.xml"/><Relationship Id="rId7" Type="http://schemas.openxmlformats.org/officeDocument/2006/relationships/image" Target="../media/image8.emf"/><Relationship Id="rId6" Type="http://schemas.openxmlformats.org/officeDocument/2006/relationships/hyperlink" Target="Script2.pptx" TargetMode="External"/><Relationship Id="rId5" Type="http://schemas.openxmlformats.org/officeDocument/2006/relationships/image" Target="../media/image7.emf"/><Relationship Id="rId4" Type="http://schemas.openxmlformats.org/officeDocument/2006/relationships/hyperlink" Target="Track%201-3.mp3" TargetMode="External"/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5" Type="http://schemas.openxmlformats.org/officeDocument/2006/relationships/slideLayout" Target="../slideLayouts/slideLayout5.xml"/><Relationship Id="rId14" Type="http://schemas.openxmlformats.org/officeDocument/2006/relationships/image" Target="../media/image6.png"/><Relationship Id="rId13" Type="http://schemas.microsoft.com/office/2007/relationships/media" Target="../media/media31.mp3"/><Relationship Id="rId12" Type="http://schemas.openxmlformats.org/officeDocument/2006/relationships/audio" Target="../media/media31.mp3"/><Relationship Id="rId11" Type="http://schemas.openxmlformats.org/officeDocument/2006/relationships/slide" Target="slide10.xml"/><Relationship Id="rId10" Type="http://schemas.openxmlformats.org/officeDocument/2006/relationships/slide" Target="slide13.xml"/><Relationship Id="rId1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slide" Target="slide13.xml"/><Relationship Id="rId4" Type="http://schemas.openxmlformats.org/officeDocument/2006/relationships/slide" Target="slide7.xml"/><Relationship Id="rId3" Type="http://schemas.openxmlformats.org/officeDocument/2006/relationships/slide" Target="slide10.xml"/><Relationship Id="rId2" Type="http://schemas.openxmlformats.org/officeDocument/2006/relationships/slide" Target="slide9.xml"/><Relationship Id="rId1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9" Type="http://schemas.microsoft.com/office/2007/relationships/media" Target="file:///E:\2024%20&#36827;&#38454;&#35270;&#21548;&#35828;&#65288;&#31532;&#20108;&#29256;&#65289;%20%201%20%20PPT%20%20--%20&#36131;&#32534;\&#20840;&#26032;&#29256;&#22823;&#23398;&#36827;&#38454;&#33521;&#35821;&#35270;&#21548;&#35828;&#25945;&#31243;1PPT%20(0514%20&#20108;&#26657;&#26679;&#19978;&#20256;&#65289;\Unit%201\Part%20II%20Listening%20and%20Speaking\Lisa.mp3" TargetMode="External"/><Relationship Id="rId8" Type="http://schemas.openxmlformats.org/officeDocument/2006/relationships/audio" Target="file:///E:\2024%20&#36827;&#38454;&#35270;&#21548;&#35828;&#65288;&#31532;&#20108;&#29256;&#65289;%20%201%20%20PPT%20%20--%20&#36131;&#32534;\&#20840;&#26032;&#29256;&#22823;&#23398;&#36827;&#38454;&#33521;&#35821;&#35270;&#21548;&#35828;&#25945;&#31243;1PPT%20(0514%20&#20108;&#26657;&#26679;&#19978;&#20256;&#65289;\Unit%201\Part%20II%20Listening%20and%20Speaking\Lisa.mp3" TargetMode="External"/><Relationship Id="rId7" Type="http://schemas.microsoft.com/office/2007/relationships/media" Target="file:///E:\2024%20&#36827;&#38454;&#35270;&#21548;&#35828;&#65288;&#31532;&#20108;&#29256;&#65289;%20%201%20%20PPT%20%20--%20&#36131;&#32534;\&#20840;&#26032;&#29256;&#22823;&#23398;&#36827;&#38454;&#33521;&#35821;&#35270;&#21548;&#35828;&#25945;&#31243;1PPT%20(0514%20&#20108;&#26657;&#26679;&#19978;&#20256;&#65289;\Unit%201\Part%20II%20Listening%20and%20Speaking\Korea.mp3" TargetMode="External"/><Relationship Id="rId6" Type="http://schemas.openxmlformats.org/officeDocument/2006/relationships/audio" Target="file:///E:\2024%20&#36827;&#38454;&#35270;&#21548;&#35828;&#65288;&#31532;&#20108;&#29256;&#65289;%20%201%20%20PPT%20%20--%20&#36131;&#32534;\&#20840;&#26032;&#29256;&#22823;&#23398;&#36827;&#38454;&#33521;&#35821;&#35270;&#21548;&#35828;&#25945;&#31243;1PPT%20(0514%20&#20108;&#26657;&#26679;&#19978;&#20256;&#65289;\Unit%201\Part%20II%20Listening%20and%20Speaking\Korea.mp3" TargetMode="External"/><Relationship Id="rId5" Type="http://schemas.microsoft.com/office/2007/relationships/media" Target="file:///E:\2024%20&#36827;&#38454;&#35270;&#21548;&#35828;&#65288;&#31532;&#20108;&#29256;&#65289;%20%201%20%20PPT%20%20--%20&#36131;&#32534;\&#20840;&#26032;&#29256;&#22823;&#23398;&#36827;&#38454;&#33521;&#35821;&#35270;&#21548;&#35828;&#25945;&#31243;1PPT%20(0514%20&#20108;&#26657;&#26679;&#19978;&#20256;&#65289;\Unit%201\Part%20II%20Listening%20and%20Speaking\Kim.mp3" TargetMode="External"/><Relationship Id="rId4" Type="http://schemas.openxmlformats.org/officeDocument/2006/relationships/audio" Target="file:///E:\2024%20&#36827;&#38454;&#35270;&#21548;&#35828;&#65288;&#31532;&#20108;&#29256;&#65289;%20%201%20%20PPT%20%20--%20&#36131;&#32534;\&#20840;&#26032;&#29256;&#22823;&#23398;&#36827;&#38454;&#33521;&#35821;&#35270;&#21548;&#35828;&#25945;&#31243;1PPT%20(0514%20&#20108;&#26657;&#26679;&#19978;&#20256;&#65289;\Unit%201\Part%20II%20Listening%20and%20Speaking\Kim.mp3" TargetMode="External"/><Relationship Id="rId3" Type="http://schemas.openxmlformats.org/officeDocument/2006/relationships/image" Target="../media/image22.emf"/><Relationship Id="rId24" Type="http://schemas.openxmlformats.org/officeDocument/2006/relationships/notesSlide" Target="../notesSlides/notesSlide3.xml"/><Relationship Id="rId23" Type="http://schemas.openxmlformats.org/officeDocument/2006/relationships/slideLayout" Target="../slideLayouts/slideLayout5.xml"/><Relationship Id="rId22" Type="http://schemas.openxmlformats.org/officeDocument/2006/relationships/image" Target="../media/image16.png"/><Relationship Id="rId21" Type="http://schemas.microsoft.com/office/2007/relationships/media" Target="file:///E:\2024%20&#36827;&#38454;&#35270;&#21548;&#35828;&#65288;&#31532;&#20108;&#29256;&#65289;%20%201%20%20PPT%20%20--%20&#36131;&#32534;\&#20840;&#26032;&#29256;&#22823;&#23398;&#36827;&#38454;&#33521;&#35821;&#35270;&#21548;&#35828;&#25945;&#31243;1PPT%20(0514%20&#20108;&#26657;&#26679;&#19978;&#20256;&#65289;\Unit%201\Part%20II%20Listening%20and%20Speaking\words-3.mp3" TargetMode="External"/><Relationship Id="rId20" Type="http://schemas.openxmlformats.org/officeDocument/2006/relationships/audio" Target="file:///E:\2024%20&#36827;&#38454;&#35270;&#21548;&#35828;&#65288;&#31532;&#20108;&#29256;&#65289;%20%201%20%20PPT%20%20--%20&#36131;&#32534;\&#20840;&#26032;&#29256;&#22823;&#23398;&#36827;&#38454;&#33521;&#35821;&#35270;&#21548;&#35828;&#25945;&#31243;1PPT%20(0514%20&#20108;&#26657;&#26679;&#19978;&#20256;&#65289;\Unit%201\Part%20II%20Listening%20and%20Speaking\words-3.mp3" TargetMode="External"/><Relationship Id="rId2" Type="http://schemas.microsoft.com/office/2007/relationships/media" Target="file:///E:\2024%20&#36827;&#38454;&#35270;&#21548;&#35828;&#65288;&#31532;&#20108;&#29256;&#65289;%20%201%20%20PPT%20%20--%20&#36131;&#32534;\&#20840;&#26032;&#29256;&#22823;&#23398;&#36827;&#38454;&#33521;&#35821;&#35270;&#21548;&#35828;&#25945;&#31243;1PPT%20(0514%20&#20108;&#26657;&#26679;&#19978;&#20256;&#65289;\Unit%201\Part%20II%20Listening%20and%20Speaking\census.mp3" TargetMode="External"/><Relationship Id="rId19" Type="http://schemas.openxmlformats.org/officeDocument/2006/relationships/image" Target="../media/image4.emf"/><Relationship Id="rId18" Type="http://schemas.openxmlformats.org/officeDocument/2006/relationships/image" Target="../media/image3.emf"/><Relationship Id="rId17" Type="http://schemas.openxmlformats.org/officeDocument/2006/relationships/image" Target="../media/image2.emf"/><Relationship Id="rId16" Type="http://schemas.openxmlformats.org/officeDocument/2006/relationships/slide" Target="slide14.xml"/><Relationship Id="rId15" Type="http://schemas.openxmlformats.org/officeDocument/2006/relationships/slide" Target="slide16.xml"/><Relationship Id="rId14" Type="http://schemas.openxmlformats.org/officeDocument/2006/relationships/slide" Target="slide15.xml"/><Relationship Id="rId13" Type="http://schemas.microsoft.com/office/2007/relationships/media" Target="file:///E:\2024%20&#36827;&#38454;&#35270;&#21548;&#35828;&#65288;&#31532;&#20108;&#29256;&#65289;%20%201%20%20PPT%20%20--%20&#36131;&#32534;\&#20840;&#26032;&#29256;&#22823;&#23398;&#36827;&#38454;&#33521;&#35821;&#35270;&#21548;&#35828;&#25945;&#31243;1PPT%20(0514%20&#20108;&#26657;&#26679;&#19978;&#20256;&#65289;\Unit%201\Part%20II%20Listening%20and%20Speaking\married.mp3" TargetMode="External"/><Relationship Id="rId12" Type="http://schemas.openxmlformats.org/officeDocument/2006/relationships/audio" Target="file:///E:\2024%20&#36827;&#38454;&#35270;&#21548;&#35828;&#65288;&#31532;&#20108;&#29256;&#65289;%20%201%20%20PPT%20%20--%20&#36131;&#32534;\&#20840;&#26032;&#29256;&#22823;&#23398;&#36827;&#38454;&#33521;&#35821;&#35270;&#21548;&#35828;&#25945;&#31243;1PPT%20(0514%20&#20108;&#26657;&#26679;&#19978;&#20256;&#65289;\Unit%201\Part%20II%20Listening%20and%20Speaking\married.mp3" TargetMode="External"/><Relationship Id="rId11" Type="http://schemas.microsoft.com/office/2007/relationships/media" Target="file:///E:\2024%20&#36827;&#38454;&#35270;&#21548;&#35828;&#65288;&#31532;&#20108;&#29256;&#65289;%20%201%20%20PPT%20%20--%20&#36131;&#32534;\&#20840;&#26032;&#29256;&#22823;&#23398;&#36827;&#38454;&#33521;&#35821;&#35270;&#21548;&#35828;&#25945;&#31243;1PPT%20(0514%20&#20108;&#26657;&#26679;&#19978;&#20256;&#65289;\Unit%201\Part%20II%20Listening%20and%20Speaking\single.mp3" TargetMode="External"/><Relationship Id="rId10" Type="http://schemas.openxmlformats.org/officeDocument/2006/relationships/audio" Target="file:///E:\2024%20&#36827;&#38454;&#35270;&#21548;&#35828;&#65288;&#31532;&#20108;&#29256;&#65289;%20%201%20%20PPT%20%20--%20&#36131;&#32534;\&#20840;&#26032;&#29256;&#22823;&#23398;&#36827;&#38454;&#33521;&#35821;&#35270;&#21548;&#35828;&#25945;&#31243;1PPT%20(0514%20&#20108;&#26657;&#26679;&#19978;&#20256;&#65289;\Unit%201\Part%20II%20Listening%20and%20Speaking\single.mp3" TargetMode="External"/><Relationship Id="rId1" Type="http://schemas.openxmlformats.org/officeDocument/2006/relationships/audio" Target="file:///E:\2024%20&#36827;&#38454;&#35270;&#21548;&#35828;&#65288;&#31532;&#20108;&#29256;&#65289;%20%201%20%20PPT%20%20--%20&#36131;&#32534;\&#20840;&#26032;&#29256;&#22823;&#23398;&#36827;&#38454;&#33521;&#35821;&#35270;&#21548;&#35828;&#25945;&#31243;1PPT%20(0514%20&#20108;&#26657;&#26679;&#19978;&#20256;&#65289;\Unit%201\Part%20II%20Listening%20and%20Speaking\census.mp3" TargetMode="Externa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" Target="slide16.xml"/><Relationship Id="rId8" Type="http://schemas.openxmlformats.org/officeDocument/2006/relationships/slide" Target="slide15.xml"/><Relationship Id="rId7" Type="http://schemas.openxmlformats.org/officeDocument/2006/relationships/image" Target="../media/image8.emf"/><Relationship Id="rId6" Type="http://schemas.openxmlformats.org/officeDocument/2006/relationships/hyperlink" Target="Script3.pptx" TargetMode="External"/><Relationship Id="rId5" Type="http://schemas.openxmlformats.org/officeDocument/2006/relationships/image" Target="../media/image7.emf"/><Relationship Id="rId4" Type="http://schemas.openxmlformats.org/officeDocument/2006/relationships/hyperlink" Target="Track%201-4.mp3" TargetMode="External"/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5.xml"/><Relationship Id="rId13" Type="http://schemas.openxmlformats.org/officeDocument/2006/relationships/image" Target="../media/image6.png"/><Relationship Id="rId12" Type="http://schemas.microsoft.com/office/2007/relationships/media" Target="../media/media32.mp3"/><Relationship Id="rId11" Type="http://schemas.openxmlformats.org/officeDocument/2006/relationships/audio" Target="../media/media32.mp3"/><Relationship Id="rId10" Type="http://schemas.openxmlformats.org/officeDocument/2006/relationships/slide" Target="slide14.xml"/><Relationship Id="rId1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jpeg"/><Relationship Id="rId7" Type="http://schemas.openxmlformats.org/officeDocument/2006/relationships/image" Target="../media/image8.emf"/><Relationship Id="rId6" Type="http://schemas.openxmlformats.org/officeDocument/2006/relationships/hyperlink" Target="Script3.pptx" TargetMode="External"/><Relationship Id="rId5" Type="http://schemas.openxmlformats.org/officeDocument/2006/relationships/image" Target="../media/image7.emf"/><Relationship Id="rId4" Type="http://schemas.openxmlformats.org/officeDocument/2006/relationships/hyperlink" Target="Track%201-4.mp3" TargetMode="External"/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7" Type="http://schemas.openxmlformats.org/officeDocument/2006/relationships/notesSlide" Target="../notesSlides/notesSlide5.xml"/><Relationship Id="rId16" Type="http://schemas.openxmlformats.org/officeDocument/2006/relationships/slideLayout" Target="../slideLayouts/slideLayout5.xml"/><Relationship Id="rId15" Type="http://schemas.openxmlformats.org/officeDocument/2006/relationships/image" Target="../media/image6.png"/><Relationship Id="rId14" Type="http://schemas.microsoft.com/office/2007/relationships/media" Target="../media/media32.mp3"/><Relationship Id="rId13" Type="http://schemas.openxmlformats.org/officeDocument/2006/relationships/audio" Target="../media/media32.mp3"/><Relationship Id="rId12" Type="http://schemas.openxmlformats.org/officeDocument/2006/relationships/slide" Target="slide14.xml"/><Relationship Id="rId11" Type="http://schemas.openxmlformats.org/officeDocument/2006/relationships/slide" Target="slide16.xml"/><Relationship Id="rId10" Type="http://schemas.openxmlformats.org/officeDocument/2006/relationships/slide" Target="slide15.xml"/><Relationship Id="rId1" Type="http://schemas.openxmlformats.org/officeDocument/2006/relationships/image" Target="../media/image2.emf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" Target="slide16.xml"/><Relationship Id="rId8" Type="http://schemas.openxmlformats.org/officeDocument/2006/relationships/slide" Target="slide15.xml"/><Relationship Id="rId7" Type="http://schemas.openxmlformats.org/officeDocument/2006/relationships/image" Target="../media/image8.emf"/><Relationship Id="rId6" Type="http://schemas.openxmlformats.org/officeDocument/2006/relationships/hyperlink" Target="Script3.pptx#-1,1,&#24187;&#28783;&#29255;%201" TargetMode="External"/><Relationship Id="rId5" Type="http://schemas.openxmlformats.org/officeDocument/2006/relationships/image" Target="../media/image7.emf"/><Relationship Id="rId4" Type="http://schemas.openxmlformats.org/officeDocument/2006/relationships/hyperlink" Target="Track%201-4.mp3" TargetMode="External"/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5.xml"/><Relationship Id="rId13" Type="http://schemas.openxmlformats.org/officeDocument/2006/relationships/image" Target="../media/image6.png"/><Relationship Id="rId12" Type="http://schemas.microsoft.com/office/2007/relationships/media" Target="../media/media32.mp3"/><Relationship Id="rId11" Type="http://schemas.openxmlformats.org/officeDocument/2006/relationships/audio" Target="../media/media32.mp3"/><Relationship Id="rId10" Type="http://schemas.openxmlformats.org/officeDocument/2006/relationships/slide" Target="slide14.xml"/><Relationship Id="rId1" Type="http://schemas.openxmlformats.org/officeDocument/2006/relationships/image" Target="../media/image2.emf"/></Relationships>
</file>

<file path=ppt/slides/_rels/slide18.xml.rels><?xml version="1.0" encoding="UTF-8" standalone="yes"?>
<Relationships xmlns="http://schemas.openxmlformats.org/package/2006/relationships"><Relationship Id="rId9" Type="http://schemas.microsoft.com/office/2007/relationships/media" Target="../media/media33.mp3"/><Relationship Id="rId8" Type="http://schemas.openxmlformats.org/officeDocument/2006/relationships/audio" Target="../media/media33.mp3"/><Relationship Id="rId7" Type="http://schemas.openxmlformats.org/officeDocument/2006/relationships/slide" Target="slide18.xml"/><Relationship Id="rId6" Type="http://schemas.openxmlformats.org/officeDocument/2006/relationships/slide" Target="slide21.xml"/><Relationship Id="rId5" Type="http://schemas.openxmlformats.org/officeDocument/2006/relationships/image" Target="../media/image7.emf"/><Relationship Id="rId4" Type="http://schemas.openxmlformats.org/officeDocument/2006/relationships/hyperlink" Target="U1-LB-OP-A1.mp3" TargetMode="External"/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5.xml"/><Relationship Id="rId10" Type="http://schemas.openxmlformats.org/officeDocument/2006/relationships/image" Target="../media/image6.png"/><Relationship Id="rId1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9" Type="http://schemas.microsoft.com/office/2007/relationships/media" Target="../media/media34.mp3"/><Relationship Id="rId8" Type="http://schemas.openxmlformats.org/officeDocument/2006/relationships/audio" Target="../media/media34.mp3"/><Relationship Id="rId7" Type="http://schemas.openxmlformats.org/officeDocument/2006/relationships/slide" Target="slide18.xml"/><Relationship Id="rId6" Type="http://schemas.openxmlformats.org/officeDocument/2006/relationships/slide" Target="slide21.xml"/><Relationship Id="rId5" Type="http://schemas.openxmlformats.org/officeDocument/2006/relationships/image" Target="../media/image7.emf"/><Relationship Id="rId4" Type="http://schemas.openxmlformats.org/officeDocument/2006/relationships/hyperlink" Target="U1-LB-OP-A2.mp3" TargetMode="External"/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5.xml"/><Relationship Id="rId10" Type="http://schemas.openxmlformats.org/officeDocument/2006/relationships/image" Target="../media/image6.png"/><Relationship Id="rId1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9" Type="http://schemas.microsoft.com/office/2007/relationships/media" Target="../media/media35.mp3"/><Relationship Id="rId8" Type="http://schemas.openxmlformats.org/officeDocument/2006/relationships/audio" Target="../media/media35.mp3"/><Relationship Id="rId7" Type="http://schemas.openxmlformats.org/officeDocument/2006/relationships/slide" Target="slide18.xml"/><Relationship Id="rId6" Type="http://schemas.openxmlformats.org/officeDocument/2006/relationships/slide" Target="slide21.xml"/><Relationship Id="rId5" Type="http://schemas.openxmlformats.org/officeDocument/2006/relationships/image" Target="../media/image7.emf"/><Relationship Id="rId4" Type="http://schemas.openxmlformats.org/officeDocument/2006/relationships/hyperlink" Target="U1-LB-OP-A3.mp3" TargetMode="External"/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6.png"/><Relationship Id="rId1" Type="http://schemas.openxmlformats.org/officeDocument/2006/relationships/image" Target="../media/image2.emf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5.xml"/><Relationship Id="rId3" Type="http://schemas.openxmlformats.org/officeDocument/2006/relationships/slide" Target="slide18.xml"/><Relationship Id="rId2" Type="http://schemas.openxmlformats.org/officeDocument/2006/relationships/slide" Target="slide21.xml"/><Relationship Id="rId1" Type="http://schemas.openxmlformats.org/officeDocument/2006/relationships/image" Target="../media/image25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image" Target="../media/image16.png"/><Relationship Id="rId7" Type="http://schemas.microsoft.com/office/2007/relationships/media" Target="file:///E:\CN\PPT\&#20840;&#26032;&#29256;&#22823;&#23398;&#36827;&#38454;&#33521;&#35821;%20&#35270;&#21548;&#35828;&#25945;&#31243;%201%20&#65288;&#31532;1&#29256;ppt%20&#21644;%20top&#35838;&#20214;&#65289;\&#20840;&#26032;&#29256;&#22823;&#23398;&#36827;&#38454;&#33521;&#35821;&#35270;&#21548;&#35828;&#25945;&#31243;1PPT\Unit%201\Part%20II%20Listening%20and%20Speaking\Track%201-5.mp3" TargetMode="External"/><Relationship Id="rId6" Type="http://schemas.openxmlformats.org/officeDocument/2006/relationships/audio" Target="file:///E:\CN\PPT\&#20840;&#26032;&#29256;&#22823;&#23398;&#36827;&#38454;&#33521;&#35821;%20&#35270;&#21548;&#35828;&#25945;&#31243;%201%20&#65288;&#31532;1&#29256;ppt%20&#21644;%20top&#35838;&#20214;&#65289;\&#20840;&#26032;&#29256;&#22823;&#23398;&#36827;&#38454;&#33521;&#35821;&#35270;&#21548;&#35828;&#25945;&#31243;1PPT\Unit%201\Part%20II%20Listening%20and%20Speaking\Track%201-5.mp3" TargetMode="External"/><Relationship Id="rId5" Type="http://schemas.openxmlformats.org/officeDocument/2006/relationships/image" Target="../media/image7.emf"/><Relationship Id="rId4" Type="http://schemas.openxmlformats.org/officeDocument/2006/relationships/hyperlink" Target="Track%201-5.mp3" TargetMode="External"/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0" name="文本占位符 25"/>
          <p:cNvSpPr>
            <a:spLocks noGrp="1"/>
          </p:cNvSpPr>
          <p:nvPr>
            <p:ph type="body" sz="quarter" idx="14"/>
          </p:nvPr>
        </p:nvSpPr>
        <p:spPr>
          <a:xfrm>
            <a:off x="323528" y="1124744"/>
            <a:ext cx="8569325" cy="4537075"/>
          </a:xfrm>
        </p:spPr>
        <p:txBody>
          <a:bodyPr>
            <a:normAutofit/>
          </a:bodyPr>
          <a:lstStyle/>
          <a:p>
            <a:pPr>
              <a:buClr>
                <a:schemeClr val="accent3"/>
              </a:buClr>
            </a:pPr>
            <a:r>
              <a:rPr lang="en-US" altLang="zh-CN" b="1">
                <a:solidFill>
                  <a:schemeClr val="tx2"/>
                </a:solidFill>
                <a:latin typeface="+mj-lt"/>
              </a:rPr>
              <a:t>Lesson A Faces of the World</a:t>
            </a:r>
            <a:endParaRPr lang="en-US" altLang="zh-CN" b="1">
              <a:solidFill>
                <a:schemeClr val="tx2"/>
              </a:solidFill>
              <a:latin typeface="+mj-lt"/>
            </a:endParaRPr>
          </a:p>
          <a:p>
            <a:pPr lvl="1">
              <a:buClr>
                <a:schemeClr val="accent3"/>
              </a:buClr>
            </a:pPr>
            <a:r>
              <a:rPr lang="en-US" altLang="zh-CN">
                <a:latin typeface="+mj-lt"/>
              </a:rPr>
              <a:t>Listening </a:t>
            </a:r>
            <a:endParaRPr lang="en-US" altLang="zh-CN">
              <a:latin typeface="+mj-lt"/>
            </a:endParaRPr>
          </a:p>
          <a:p>
            <a:pPr lvl="1">
              <a:buClr>
                <a:schemeClr val="accent3"/>
              </a:buClr>
            </a:pPr>
            <a:r>
              <a:rPr lang="en-US" altLang="zh-CN">
                <a:latin typeface="+mj-lt"/>
              </a:rPr>
              <a:t>Conversation</a:t>
            </a:r>
            <a:endParaRPr lang="en-US" altLang="zh-CN">
              <a:latin typeface="+mj-lt"/>
            </a:endParaRPr>
          </a:p>
          <a:p>
            <a:pPr>
              <a:buClr>
                <a:schemeClr val="accent3"/>
              </a:buClr>
            </a:pPr>
            <a:r>
              <a:rPr lang="en-US" altLang="zh-CN" b="1">
                <a:solidFill>
                  <a:schemeClr val="tx2"/>
                </a:solidFill>
                <a:latin typeface="+mj-lt"/>
              </a:rPr>
              <a:t>Lesson B Are You Typical?</a:t>
            </a:r>
            <a:endParaRPr lang="en-US" altLang="zh-CN" b="1">
              <a:solidFill>
                <a:schemeClr val="tx2"/>
              </a:solidFill>
              <a:latin typeface="+mj-lt"/>
            </a:endParaRPr>
          </a:p>
          <a:p>
            <a:pPr lvl="1">
              <a:buClr>
                <a:schemeClr val="accent3"/>
              </a:buClr>
            </a:pPr>
            <a:r>
              <a:rPr lang="en-US" altLang="zh-CN">
                <a:latin typeface="+mj-lt"/>
              </a:rPr>
              <a:t>Listening 1</a:t>
            </a:r>
            <a:endParaRPr lang="en-US" altLang="zh-CN">
              <a:latin typeface="+mj-lt"/>
            </a:endParaRPr>
          </a:p>
          <a:p>
            <a:pPr lvl="1">
              <a:buClr>
                <a:schemeClr val="accent3"/>
              </a:buClr>
            </a:pPr>
            <a:r>
              <a:rPr lang="en-US" altLang="zh-CN">
                <a:latin typeface="+mj-lt"/>
              </a:rPr>
              <a:t>Listening 2</a:t>
            </a:r>
            <a:endParaRPr lang="en-US" altLang="zh-CN">
              <a:latin typeface="+mj-lt"/>
            </a:endParaRPr>
          </a:p>
          <a:p>
            <a:pPr lvl="1">
              <a:buClr>
                <a:schemeClr val="accent3"/>
              </a:buClr>
            </a:pPr>
            <a:r>
              <a:rPr lang="en-US" altLang="zh-CN">
                <a:latin typeface="+mj-lt"/>
              </a:rPr>
              <a:t>Oral Practice</a:t>
            </a:r>
            <a:endParaRPr lang="en-US" altLang="zh-CN">
              <a:latin typeface="+mj-lt"/>
            </a:endParaRPr>
          </a:p>
          <a:p>
            <a:pPr>
              <a:buClr>
                <a:schemeClr val="accent3"/>
              </a:buClr>
            </a:pPr>
            <a:r>
              <a:rPr lang="en-US" altLang="zh-CN" b="1">
                <a:solidFill>
                  <a:schemeClr val="tx2"/>
                </a:solidFill>
                <a:latin typeface="+mj-lt"/>
              </a:rPr>
              <a:t>Listening Skills</a:t>
            </a:r>
            <a:endParaRPr lang="en-US" altLang="zh-CN" b="1">
              <a:solidFill>
                <a:schemeClr val="tx2"/>
              </a:solidFill>
              <a:latin typeface="+mj-lt"/>
            </a:endParaRPr>
          </a:p>
        </p:txBody>
      </p:sp>
      <p:sp>
        <p:nvSpPr>
          <p:cNvPr id="51" name="btn-Part 1">
            <a:hlinkClick r:id="rId1" action="ppaction://hlinksldjump"/>
          </p:cNvPr>
          <p:cNvSpPr/>
          <p:nvPr/>
        </p:nvSpPr>
        <p:spPr>
          <a:xfrm>
            <a:off x="717600" y="1196752"/>
            <a:ext cx="483230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btn-Part 1">
            <a:hlinkClick r:id="rId1" action="ppaction://hlinksldjump"/>
          </p:cNvPr>
          <p:cNvSpPr/>
          <p:nvPr/>
        </p:nvSpPr>
        <p:spPr>
          <a:xfrm>
            <a:off x="1129060" y="1785516"/>
            <a:ext cx="1498724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btn-Part 1">
            <a:hlinkClick r:id="rId2" action="ppaction://hlinksldjump"/>
          </p:cNvPr>
          <p:cNvSpPr/>
          <p:nvPr/>
        </p:nvSpPr>
        <p:spPr>
          <a:xfrm>
            <a:off x="1115616" y="2276872"/>
            <a:ext cx="1945084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btn-Part 1">
            <a:hlinkClick r:id="rId3" action="ppaction://hlinksldjump"/>
          </p:cNvPr>
          <p:cNvSpPr/>
          <p:nvPr/>
        </p:nvSpPr>
        <p:spPr>
          <a:xfrm>
            <a:off x="717600" y="2831728"/>
            <a:ext cx="4358456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btn-Part 1">
            <a:hlinkClick r:id="rId4" action="ppaction://hlinksldjump"/>
          </p:cNvPr>
          <p:cNvSpPr/>
          <p:nvPr/>
        </p:nvSpPr>
        <p:spPr>
          <a:xfrm>
            <a:off x="1115616" y="3890392"/>
            <a:ext cx="1728192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btn-Part 1">
            <a:hlinkClick r:id="rId5" action="ppaction://hlinksldjump"/>
          </p:cNvPr>
          <p:cNvSpPr/>
          <p:nvPr/>
        </p:nvSpPr>
        <p:spPr>
          <a:xfrm>
            <a:off x="1115616" y="4377804"/>
            <a:ext cx="2008584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btn-Part 1">
            <a:hlinkClick r:id="rId6" action="ppaction://hlinksldjump"/>
          </p:cNvPr>
          <p:cNvSpPr/>
          <p:nvPr/>
        </p:nvSpPr>
        <p:spPr>
          <a:xfrm>
            <a:off x="717600" y="4941168"/>
            <a:ext cx="268600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btn-Part 1">
            <a:hlinkClick r:id="rId3" action="ppaction://hlinksldjump"/>
          </p:cNvPr>
          <p:cNvSpPr/>
          <p:nvPr/>
        </p:nvSpPr>
        <p:spPr>
          <a:xfrm>
            <a:off x="1155700" y="3373884"/>
            <a:ext cx="160020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755576" y="1412776"/>
            <a:ext cx="8137599" cy="5184576"/>
          </a:xfrm>
        </p:spPr>
        <p:txBody>
          <a:bodyPr numCol="2" spcCol="900000"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1" dirty="0"/>
              <a:t>Argentina</a:t>
            </a:r>
            <a:r>
              <a:rPr lang="en-US" altLang="zh-CN" sz="2400" dirty="0"/>
              <a:t> </a:t>
            </a:r>
            <a:r>
              <a:rPr lang="zh-CN" altLang="zh-CN" sz="2400" dirty="0"/>
              <a:t>阿根廷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1" dirty="0"/>
              <a:t>Ashley</a:t>
            </a:r>
            <a:r>
              <a:rPr lang="en-US" altLang="zh-CN" sz="2400" dirty="0"/>
              <a:t> </a:t>
            </a:r>
            <a:r>
              <a:rPr lang="zh-CN" altLang="zh-CN" sz="2400" dirty="0"/>
              <a:t>阿西里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1" dirty="0"/>
              <a:t>Brazil</a:t>
            </a:r>
            <a:r>
              <a:rPr lang="en-US" altLang="zh-CN" sz="2400" dirty="0"/>
              <a:t> </a:t>
            </a:r>
            <a:r>
              <a:rPr lang="zh-CN" altLang="zh-CN" sz="2400" dirty="0"/>
              <a:t>巴西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1" dirty="0"/>
              <a:t>cool</a:t>
            </a:r>
            <a:r>
              <a:rPr lang="en-US" altLang="zh-CN" sz="2400" dirty="0"/>
              <a:t> </a:t>
            </a:r>
            <a:r>
              <a:rPr lang="en-US" altLang="zh-CN" sz="2400" i="1" dirty="0"/>
              <a:t>adj.</a:t>
            </a:r>
            <a:r>
              <a:rPr lang="en-US" altLang="zh-CN" sz="2400" dirty="0"/>
              <a:t> If you say someone is cool, you mean that they are fashionable and attractive. </a:t>
            </a:r>
            <a:r>
              <a:rPr lang="zh-CN" altLang="zh-CN" sz="2400" dirty="0"/>
              <a:t>时髦的，引人注意的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1" dirty="0"/>
              <a:t>Eva</a:t>
            </a:r>
            <a:r>
              <a:rPr lang="en-US" altLang="zh-CN" sz="2400" dirty="0"/>
              <a:t> </a:t>
            </a:r>
            <a:r>
              <a:rPr lang="zh-CN" altLang="zh-CN" sz="2400" dirty="0"/>
              <a:t>伊娃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1" dirty="0"/>
              <a:t>guy</a:t>
            </a:r>
            <a:r>
              <a:rPr lang="en-US" altLang="zh-CN" sz="2400" dirty="0"/>
              <a:t> </a:t>
            </a:r>
            <a:r>
              <a:rPr lang="en-US" altLang="zh-CN" sz="2400" i="1" dirty="0"/>
              <a:t>n.</a:t>
            </a:r>
            <a:r>
              <a:rPr lang="en-US" altLang="zh-CN" sz="2400" dirty="0"/>
              <a:t> </a:t>
            </a:r>
            <a:r>
              <a:rPr lang="zh-CN" altLang="zh-CN" sz="2400" dirty="0"/>
              <a:t>男人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1" dirty="0"/>
              <a:t>Hiroshi</a:t>
            </a:r>
            <a:r>
              <a:rPr lang="en-US" altLang="zh-CN" sz="2400" dirty="0"/>
              <a:t> </a:t>
            </a:r>
            <a:r>
              <a:rPr lang="zh-CN" altLang="zh-CN" sz="2400" dirty="0"/>
              <a:t>藤原浩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1" dirty="0"/>
              <a:t>identity</a:t>
            </a:r>
            <a:r>
              <a:rPr lang="en-US" altLang="zh-CN" sz="2400" dirty="0"/>
              <a:t> </a:t>
            </a:r>
            <a:r>
              <a:rPr lang="en-US" altLang="zh-CN" sz="2400" i="1" dirty="0"/>
              <a:t>n.</a:t>
            </a:r>
            <a:r>
              <a:rPr lang="en-US" altLang="zh-CN" sz="2400" dirty="0"/>
              <a:t> Your identity is who you are. </a:t>
            </a:r>
            <a:r>
              <a:rPr lang="zh-CN" altLang="zh-CN" sz="2400" dirty="0"/>
              <a:t>身份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1" dirty="0"/>
              <a:t>Iran</a:t>
            </a:r>
            <a:r>
              <a:rPr lang="en-US" altLang="zh-CN" sz="2400" dirty="0"/>
              <a:t> </a:t>
            </a:r>
            <a:r>
              <a:rPr lang="zh-CN" altLang="zh-CN" sz="2400" dirty="0"/>
              <a:t>伊朗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1" dirty="0"/>
              <a:t>Japan</a:t>
            </a:r>
            <a:r>
              <a:rPr lang="en-US" altLang="zh-CN" sz="2400" dirty="0"/>
              <a:t> </a:t>
            </a:r>
            <a:r>
              <a:rPr lang="zh-CN" altLang="zh-CN" sz="2400" dirty="0"/>
              <a:t>日本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1" dirty="0"/>
              <a:t>London</a:t>
            </a:r>
            <a:r>
              <a:rPr lang="en-US" altLang="zh-CN" sz="2400" dirty="0"/>
              <a:t> </a:t>
            </a:r>
            <a:r>
              <a:rPr lang="zh-CN" altLang="zh-CN" sz="2400" dirty="0"/>
              <a:t>伦敦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1" dirty="0" err="1"/>
              <a:t>Maheen</a:t>
            </a:r>
            <a:r>
              <a:rPr lang="en-US" altLang="zh-CN" sz="2400" dirty="0"/>
              <a:t> </a:t>
            </a:r>
            <a:r>
              <a:rPr lang="zh-CN" altLang="zh-CN" sz="2400" dirty="0"/>
              <a:t>马亨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1" dirty="0"/>
              <a:t>Malaysia</a:t>
            </a:r>
            <a:r>
              <a:rPr lang="en-US" altLang="zh-CN" sz="2400" dirty="0"/>
              <a:t> </a:t>
            </a:r>
            <a:r>
              <a:rPr lang="zh-CN" altLang="zh-CN" sz="2400" dirty="0"/>
              <a:t>马来西亚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1" dirty="0"/>
              <a:t>Michael</a:t>
            </a:r>
            <a:r>
              <a:rPr lang="en-US" altLang="zh-CN" sz="2400" dirty="0"/>
              <a:t> </a:t>
            </a:r>
            <a:r>
              <a:rPr lang="zh-CN" altLang="zh-CN" sz="2400" dirty="0"/>
              <a:t>迈克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1" dirty="0"/>
              <a:t>Sofia</a:t>
            </a:r>
            <a:r>
              <a:rPr lang="en-US" altLang="zh-CN" sz="2400" dirty="0"/>
              <a:t> </a:t>
            </a:r>
            <a:r>
              <a:rPr lang="zh-CN" altLang="zh-CN" sz="2400" dirty="0"/>
              <a:t>索菲亚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1" dirty="0"/>
              <a:t>yeah</a:t>
            </a:r>
            <a:r>
              <a:rPr lang="en-US" altLang="zh-CN" sz="2400" dirty="0"/>
              <a:t> </a:t>
            </a:r>
            <a:r>
              <a:rPr lang="en-US" altLang="zh-CN" sz="2400" i="1" dirty="0"/>
              <a:t>adv.</a:t>
            </a:r>
            <a:r>
              <a:rPr lang="en-US" altLang="zh-CN" sz="2400" dirty="0"/>
              <a:t> </a:t>
            </a:r>
            <a:r>
              <a:rPr lang="zh-CN" altLang="zh-CN" sz="2400" dirty="0"/>
              <a:t>是，是的，好的</a:t>
            </a:r>
            <a:endParaRPr lang="zh-CN" altLang="zh-CN" sz="24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1" dirty="0"/>
              <a:t>yep</a:t>
            </a:r>
            <a:r>
              <a:rPr lang="en-US" altLang="zh-CN" sz="2400" dirty="0"/>
              <a:t> </a:t>
            </a:r>
            <a:r>
              <a:rPr lang="en-US" altLang="zh-CN" sz="2400" i="1" dirty="0"/>
              <a:t>adv.</a:t>
            </a:r>
            <a:r>
              <a:rPr lang="en-US" altLang="zh-CN" sz="2400" dirty="0"/>
              <a:t> </a:t>
            </a:r>
            <a:r>
              <a:rPr lang="zh-CN" altLang="zh-CN" sz="2400" dirty="0"/>
              <a:t>是（美国俚语）</a:t>
            </a:r>
            <a:r>
              <a:rPr lang="en-US" altLang="zh-CN" sz="2400" dirty="0"/>
              <a:t> </a:t>
            </a:r>
            <a:endParaRPr lang="zh-CN" altLang="zh-CN" sz="2400" dirty="0"/>
          </a:p>
        </p:txBody>
      </p:sp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标题 1"/>
          <p:cNvSpPr txBox="1"/>
          <p:nvPr/>
        </p:nvSpPr>
        <p:spPr>
          <a:xfrm>
            <a:off x="4716016" y="0"/>
            <a:ext cx="1368152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90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Listening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New words and expressions 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A. Listening for gist     B. Listening for details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1" name="btn-Part 1">
            <a:hlinkClick r:id="rId1" action="ppaction://hlinksldjump"/>
          </p:cNvPr>
          <p:cNvSpPr/>
          <p:nvPr/>
        </p:nvSpPr>
        <p:spPr>
          <a:xfrm>
            <a:off x="2569220" y="483518"/>
            <a:ext cx="174878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btn-Part 1">
            <a:hlinkClick r:id="rId2" action="ppaction://hlinksldjump"/>
          </p:cNvPr>
          <p:cNvSpPr/>
          <p:nvPr/>
        </p:nvSpPr>
        <p:spPr>
          <a:xfrm>
            <a:off x="4445000" y="483518"/>
            <a:ext cx="196850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btn-Part 1">
            <a:hlinkClick r:id="rId3" action="ppaction://hlinksldjump"/>
          </p:cNvPr>
          <p:cNvSpPr/>
          <p:nvPr/>
        </p:nvSpPr>
        <p:spPr>
          <a:xfrm>
            <a:off x="61307" y="512884"/>
            <a:ext cx="237490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播放按钮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11616" y="1052736"/>
            <a:ext cx="295275" cy="304800"/>
          </a:xfrm>
          <a:prstGeom prst="rect">
            <a:avLst/>
          </a:prstGeom>
        </p:spPr>
      </p:pic>
      <p:pic>
        <p:nvPicPr>
          <p:cNvPr id="37" name="暂停按钮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371656" y="1052736"/>
            <a:ext cx="295275" cy="304800"/>
          </a:xfrm>
          <a:prstGeom prst="rect">
            <a:avLst/>
          </a:prstGeom>
        </p:spPr>
      </p:pic>
      <p:pic>
        <p:nvPicPr>
          <p:cNvPr id="38" name="停止按钮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731696" y="1052736"/>
            <a:ext cx="295275" cy="304800"/>
          </a:xfrm>
          <a:prstGeom prst="rect">
            <a:avLst/>
          </a:prstGeom>
        </p:spPr>
      </p:pic>
      <p:grpSp>
        <p:nvGrpSpPr>
          <p:cNvPr id="41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4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" name="1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482627" y="1511456"/>
            <a:ext cx="326112" cy="298769"/>
          </a:xfrm>
          <a:prstGeom prst="rect">
            <a:avLst/>
          </a:prstGeom>
        </p:spPr>
      </p:pic>
      <p:pic>
        <p:nvPicPr>
          <p:cNvPr id="78" name="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482627" y="2027251"/>
            <a:ext cx="326112" cy="298769"/>
          </a:xfrm>
          <a:prstGeom prst="rect">
            <a:avLst/>
          </a:prstGeom>
        </p:spPr>
      </p:pic>
      <p:pic>
        <p:nvPicPr>
          <p:cNvPr id="79" name="3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482627" y="2546547"/>
            <a:ext cx="326112" cy="298769"/>
          </a:xfrm>
          <a:prstGeom prst="rect">
            <a:avLst/>
          </a:prstGeom>
        </p:spPr>
      </p:pic>
      <p:pic>
        <p:nvPicPr>
          <p:cNvPr id="80" name="4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482627" y="3105172"/>
            <a:ext cx="326112" cy="298769"/>
          </a:xfrm>
          <a:prstGeom prst="rect">
            <a:avLst/>
          </a:prstGeom>
        </p:spPr>
      </p:pic>
      <p:pic>
        <p:nvPicPr>
          <p:cNvPr id="81" name="5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482627" y="4662661"/>
            <a:ext cx="326112" cy="298769"/>
          </a:xfrm>
          <a:prstGeom prst="rect">
            <a:avLst/>
          </a:prstGeom>
        </p:spPr>
      </p:pic>
      <p:pic>
        <p:nvPicPr>
          <p:cNvPr id="82" name="6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482627" y="5178456"/>
            <a:ext cx="326112" cy="298769"/>
          </a:xfrm>
          <a:prstGeom prst="rect">
            <a:avLst/>
          </a:prstGeom>
        </p:spPr>
      </p:pic>
      <p:pic>
        <p:nvPicPr>
          <p:cNvPr id="83" name="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482627" y="5697752"/>
            <a:ext cx="326112" cy="298769"/>
          </a:xfrm>
          <a:prstGeom prst="rect">
            <a:avLst/>
          </a:prstGeom>
        </p:spPr>
      </p:pic>
      <p:pic>
        <p:nvPicPr>
          <p:cNvPr id="84" name="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482627" y="6256377"/>
            <a:ext cx="326112" cy="298769"/>
          </a:xfrm>
          <a:prstGeom prst="rect">
            <a:avLst/>
          </a:prstGeom>
        </p:spPr>
      </p:pic>
      <p:pic>
        <p:nvPicPr>
          <p:cNvPr id="86" name="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4888607" y="2036776"/>
            <a:ext cx="326112" cy="298769"/>
          </a:xfrm>
          <a:prstGeom prst="rect">
            <a:avLst/>
          </a:prstGeom>
        </p:spPr>
      </p:pic>
      <p:pic>
        <p:nvPicPr>
          <p:cNvPr id="87" name="10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4888607" y="2556072"/>
            <a:ext cx="326112" cy="298769"/>
          </a:xfrm>
          <a:prstGeom prst="rect">
            <a:avLst/>
          </a:prstGeom>
        </p:spPr>
      </p:pic>
      <p:pic>
        <p:nvPicPr>
          <p:cNvPr id="88" name="11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4888607" y="3073463"/>
            <a:ext cx="326112" cy="298769"/>
          </a:xfrm>
          <a:prstGeom prst="rect">
            <a:avLst/>
          </a:prstGeom>
        </p:spPr>
      </p:pic>
      <p:pic>
        <p:nvPicPr>
          <p:cNvPr id="89" name="14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4888607" y="4617619"/>
            <a:ext cx="326112" cy="298769"/>
          </a:xfrm>
          <a:prstGeom prst="rect">
            <a:avLst/>
          </a:prstGeom>
        </p:spPr>
      </p:pic>
      <p:pic>
        <p:nvPicPr>
          <p:cNvPr id="90" name="15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4888607" y="5133414"/>
            <a:ext cx="326112" cy="298769"/>
          </a:xfrm>
          <a:prstGeom prst="rect">
            <a:avLst/>
          </a:prstGeom>
        </p:spPr>
      </p:pic>
      <p:pic>
        <p:nvPicPr>
          <p:cNvPr id="91" name="16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4888607" y="5652710"/>
            <a:ext cx="326112" cy="298769"/>
          </a:xfrm>
          <a:prstGeom prst="rect">
            <a:avLst/>
          </a:prstGeom>
        </p:spPr>
      </p:pic>
      <p:pic>
        <p:nvPicPr>
          <p:cNvPr id="92" name="1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4888607" y="6211335"/>
            <a:ext cx="326112" cy="298769"/>
          </a:xfrm>
          <a:prstGeom prst="rect">
            <a:avLst/>
          </a:prstGeom>
        </p:spPr>
      </p:pic>
      <p:pic>
        <p:nvPicPr>
          <p:cNvPr id="93" name="1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4888607" y="3580636"/>
            <a:ext cx="326112" cy="298769"/>
          </a:xfrm>
          <a:prstGeom prst="rect">
            <a:avLst/>
          </a:prstGeom>
        </p:spPr>
      </p:pic>
      <p:pic>
        <p:nvPicPr>
          <p:cNvPr id="94" name="13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4888607" y="4096431"/>
            <a:ext cx="326112" cy="298769"/>
          </a:xfrm>
          <a:prstGeom prst="rect">
            <a:avLst/>
          </a:prstGeom>
        </p:spPr>
      </p:pic>
      <p:pic>
        <p:nvPicPr>
          <p:cNvPr id="6" name="Argentina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837406" y="1319436"/>
            <a:ext cx="609600" cy="609600"/>
          </a:xfrm>
          <a:prstGeom prst="rect">
            <a:avLst/>
          </a:prstGeom>
        </p:spPr>
      </p:pic>
      <p:pic>
        <p:nvPicPr>
          <p:cNvPr id="7" name="Ashley">
            <a:hlinkClick r:id="" action="ppaction://media"/>
          </p:cNvPr>
          <p:cNvPicPr>
            <a:picLocks noChangeAspect="1"/>
          </p:cNvPicPr>
          <p:nvPr>
            <a:audi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898525" y="1881360"/>
            <a:ext cx="609600" cy="609600"/>
          </a:xfrm>
          <a:prstGeom prst="rect">
            <a:avLst/>
          </a:prstGeom>
        </p:spPr>
      </p:pic>
      <p:pic>
        <p:nvPicPr>
          <p:cNvPr id="8" name="Brazil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893799" y="2400656"/>
            <a:ext cx="609600" cy="609600"/>
          </a:xfrm>
          <a:prstGeom prst="rect">
            <a:avLst/>
          </a:prstGeom>
        </p:spPr>
      </p:pic>
      <p:pic>
        <p:nvPicPr>
          <p:cNvPr id="10" name="cool">
            <a:hlinkClick r:id="" action="ppaction://media"/>
          </p:cNvPr>
          <p:cNvPicPr>
            <a:picLocks noChangeAspect="1"/>
          </p:cNvPicPr>
          <p:nvPr>
            <a:audioFile r:link="rId15"/>
            <p:extLst>
              <p:ext uri="{DAA4B4D4-6D71-4841-9C94-3DE7FCFB9230}">
                <p14:media xmlns:p14="http://schemas.microsoft.com/office/powerpoint/2010/main" r:embed="rId16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801623" y="2949756"/>
            <a:ext cx="609600" cy="609600"/>
          </a:xfrm>
          <a:prstGeom prst="rect">
            <a:avLst/>
          </a:prstGeom>
        </p:spPr>
      </p:pic>
      <p:pic>
        <p:nvPicPr>
          <p:cNvPr id="11" name="Eva">
            <a:hlinkClick r:id="" action="ppaction://media"/>
          </p:cNvPr>
          <p:cNvPicPr>
            <a:picLocks noChangeAspect="1"/>
          </p:cNvPicPr>
          <p:nvPr>
            <a:audioFile r:link="rId17"/>
            <p:extLst>
              <p:ext uri="{DAA4B4D4-6D71-4841-9C94-3DE7FCFB9230}">
                <p14:media xmlns:p14="http://schemas.microsoft.com/office/powerpoint/2010/main" r:embed="rId1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681074" y="4523814"/>
            <a:ext cx="609600" cy="609600"/>
          </a:xfrm>
          <a:prstGeom prst="rect">
            <a:avLst/>
          </a:prstGeom>
        </p:spPr>
      </p:pic>
      <p:pic>
        <p:nvPicPr>
          <p:cNvPr id="12" name="Hiroshi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863521" y="5578121"/>
            <a:ext cx="609600" cy="609600"/>
          </a:xfrm>
          <a:prstGeom prst="rect">
            <a:avLst/>
          </a:prstGeom>
        </p:spPr>
      </p:pic>
      <p:pic>
        <p:nvPicPr>
          <p:cNvPr id="13" name="identity">
            <a:hlinkClick r:id="" action="ppaction://media"/>
          </p:cNvPr>
          <p:cNvPicPr>
            <a:picLocks noChangeAspect="1"/>
          </p:cNvPicPr>
          <p:nvPr>
            <a:audioFile r:link="rId21"/>
            <p:extLst>
              <p:ext uri="{DAA4B4D4-6D71-4841-9C94-3DE7FCFB9230}">
                <p14:media xmlns:p14="http://schemas.microsoft.com/office/powerpoint/2010/main" r:embed="rId22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802402" y="6144405"/>
            <a:ext cx="609600" cy="609600"/>
          </a:xfrm>
          <a:prstGeom prst="rect">
            <a:avLst/>
          </a:prstGeom>
        </p:spPr>
      </p:pic>
      <p:pic>
        <p:nvPicPr>
          <p:cNvPr id="14" name="guy">
            <a:hlinkClick r:id="" action="ppaction://media"/>
          </p:cNvPr>
          <p:cNvPicPr>
            <a:picLocks noChangeAspect="1"/>
          </p:cNvPicPr>
          <p:nvPr>
            <a:audioFile r:link="rId23"/>
            <p:extLst>
              <p:ext uri="{DAA4B4D4-6D71-4841-9C94-3DE7FCFB9230}">
                <p14:media xmlns:p14="http://schemas.microsoft.com/office/powerpoint/2010/main" r:embed="rId24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837406" y="5090098"/>
            <a:ext cx="609600" cy="609600"/>
          </a:xfrm>
          <a:prstGeom prst="rect">
            <a:avLst/>
          </a:prstGeom>
        </p:spPr>
      </p:pic>
      <p:pic>
        <p:nvPicPr>
          <p:cNvPr id="15" name="Maheen">
            <a:hlinkClick r:id="" action="ppaction://media"/>
          </p:cNvPr>
          <p:cNvPicPr>
            <a:picLocks noChangeAspect="1"/>
          </p:cNvPicPr>
          <p:nvPr>
            <a:audioFile r:link="rId25"/>
            <p:extLst>
              <p:ext uri="{DAA4B4D4-6D71-4841-9C94-3DE7FCFB9230}">
                <p14:media xmlns:p14="http://schemas.microsoft.com/office/powerpoint/2010/main" r:embed="rId26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962337" y="3269805"/>
            <a:ext cx="609600" cy="609600"/>
          </a:xfrm>
          <a:prstGeom prst="rect">
            <a:avLst/>
          </a:prstGeom>
        </p:spPr>
      </p:pic>
      <p:pic>
        <p:nvPicPr>
          <p:cNvPr id="16" name="Malaysia">
            <a:hlinkClick r:id="" action="ppaction://media"/>
          </p:cNvPr>
          <p:cNvPicPr>
            <a:picLocks noChangeAspect="1"/>
          </p:cNvPicPr>
          <p:nvPr>
            <a:audioFile r:link="rId27"/>
            <p:extLst>
              <p:ext uri="{DAA4B4D4-6D71-4841-9C94-3DE7FCFB9230}">
                <p14:media xmlns:p14="http://schemas.microsoft.com/office/powerpoint/2010/main" r:embed="rId2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902672" y="3791631"/>
            <a:ext cx="609600" cy="609600"/>
          </a:xfrm>
          <a:prstGeom prst="rect">
            <a:avLst/>
          </a:prstGeom>
        </p:spPr>
      </p:pic>
      <p:pic>
        <p:nvPicPr>
          <p:cNvPr id="17" name="Iran">
            <a:hlinkClick r:id="" action="ppaction://media"/>
          </p:cNvPr>
          <p:cNvPicPr>
            <a:picLocks noChangeAspect="1"/>
          </p:cNvPicPr>
          <p:nvPr>
            <a:audioFile r:link="rId29"/>
            <p:extLst>
              <p:ext uri="{DAA4B4D4-6D71-4841-9C94-3DE7FCFB9230}">
                <p14:media xmlns:p14="http://schemas.microsoft.com/office/powerpoint/2010/main" r:embed="rId30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0093325" y="1833904"/>
            <a:ext cx="609600" cy="609600"/>
          </a:xfrm>
          <a:prstGeom prst="rect">
            <a:avLst/>
          </a:prstGeom>
        </p:spPr>
      </p:pic>
      <p:pic>
        <p:nvPicPr>
          <p:cNvPr id="18" name="Japan">
            <a:hlinkClick r:id="" action="ppaction://media"/>
          </p:cNvPr>
          <p:cNvPicPr>
            <a:picLocks noChangeAspect="1"/>
          </p:cNvPicPr>
          <p:nvPr>
            <a:audioFile r:link="rId31"/>
            <p:extLst>
              <p:ext uri="{DAA4B4D4-6D71-4841-9C94-3DE7FCFB9230}">
                <p14:media xmlns:p14="http://schemas.microsoft.com/office/powerpoint/2010/main" r:embed="rId32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967063" y="2384766"/>
            <a:ext cx="609600" cy="609600"/>
          </a:xfrm>
          <a:prstGeom prst="rect">
            <a:avLst/>
          </a:prstGeom>
        </p:spPr>
      </p:pic>
      <p:pic>
        <p:nvPicPr>
          <p:cNvPr id="19" name="London">
            <a:hlinkClick r:id="" action="ppaction://media"/>
          </p:cNvPr>
          <p:cNvPicPr>
            <a:picLocks noChangeAspect="1"/>
          </p:cNvPicPr>
          <p:nvPr>
            <a:audioFile r:link="rId33"/>
            <p:extLst>
              <p:ext uri="{DAA4B4D4-6D71-4841-9C94-3DE7FCFB9230}">
                <p14:media xmlns:p14="http://schemas.microsoft.com/office/powerpoint/2010/main" r:embed="rId34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964700" y="2794341"/>
            <a:ext cx="609600" cy="609600"/>
          </a:xfrm>
          <a:prstGeom prst="rect">
            <a:avLst/>
          </a:prstGeom>
        </p:spPr>
      </p:pic>
      <p:pic>
        <p:nvPicPr>
          <p:cNvPr id="20" name="yeah">
            <a:hlinkClick r:id="" action="ppaction://media"/>
          </p:cNvPr>
          <p:cNvPicPr>
            <a:picLocks noChangeAspect="1"/>
          </p:cNvPicPr>
          <p:nvPr>
            <a:audioFile r:link="rId35"/>
            <p:extLst>
              <p:ext uri="{DAA4B4D4-6D71-4841-9C94-3DE7FCFB9230}">
                <p14:media xmlns:p14="http://schemas.microsoft.com/office/powerpoint/2010/main" r:embed="rId36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962337" y="5658192"/>
            <a:ext cx="609600" cy="609600"/>
          </a:xfrm>
          <a:prstGeom prst="rect">
            <a:avLst/>
          </a:prstGeom>
        </p:spPr>
      </p:pic>
      <p:pic>
        <p:nvPicPr>
          <p:cNvPr id="21" name="yep">
            <a:hlinkClick r:id="" action="ppaction://media"/>
          </p:cNvPr>
          <p:cNvPicPr>
            <a:picLocks noChangeAspect="1"/>
          </p:cNvPicPr>
          <p:nvPr>
            <a:audioFile r:link="rId37"/>
            <p:extLst>
              <p:ext uri="{DAA4B4D4-6D71-4841-9C94-3DE7FCFB9230}">
                <p14:media xmlns:p14="http://schemas.microsoft.com/office/powerpoint/2010/main" r:embed="rId3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0052050" y="6245671"/>
            <a:ext cx="609600" cy="609600"/>
          </a:xfrm>
          <a:prstGeom prst="rect">
            <a:avLst/>
          </a:prstGeom>
        </p:spPr>
      </p:pic>
      <p:pic>
        <p:nvPicPr>
          <p:cNvPr id="22" name="Michael">
            <a:hlinkClick r:id="" action="ppaction://media"/>
          </p:cNvPr>
          <p:cNvPicPr>
            <a:picLocks noChangeAspect="1"/>
          </p:cNvPicPr>
          <p:nvPr>
            <a:audioFile r:link="rId39"/>
            <p:extLst>
              <p:ext uri="{DAA4B4D4-6D71-4841-9C94-3DE7FCFB9230}">
                <p14:media xmlns:p14="http://schemas.microsoft.com/office/powerpoint/2010/main" r:embed="rId40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788525" y="4415030"/>
            <a:ext cx="609600" cy="609600"/>
          </a:xfrm>
          <a:prstGeom prst="rect">
            <a:avLst/>
          </a:prstGeom>
        </p:spPr>
      </p:pic>
      <p:pic>
        <p:nvPicPr>
          <p:cNvPr id="23" name="Sofia">
            <a:hlinkClick r:id="" action="ppaction://media"/>
          </p:cNvPr>
          <p:cNvPicPr>
            <a:picLocks noChangeAspect="1"/>
          </p:cNvPicPr>
          <p:nvPr>
            <a:audioFile r:link="rId41"/>
            <p:extLst>
              <p:ext uri="{DAA4B4D4-6D71-4841-9C94-3DE7FCFB9230}">
                <p14:media xmlns:p14="http://schemas.microsoft.com/office/powerpoint/2010/main" r:embed="rId42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943287" y="5062538"/>
            <a:ext cx="609600" cy="609600"/>
          </a:xfrm>
          <a:prstGeom prst="rect">
            <a:avLst/>
          </a:prstGeom>
        </p:spPr>
      </p:pic>
      <p:pic>
        <p:nvPicPr>
          <p:cNvPr id="4" name="words-1">
            <a:hlinkClick r:id="" action="ppaction://media"/>
          </p:cNvPr>
          <p:cNvPicPr>
            <a:picLocks noChangeAspect="1"/>
          </p:cNvPicPr>
          <p:nvPr>
            <a:audioFile r:link="rId43"/>
            <p:extLst>
              <p:ext uri="{DAA4B4D4-6D71-4841-9C94-3DE7FCFB9230}">
                <p14:media xmlns:p14="http://schemas.microsoft.com/office/powerpoint/2010/main" r:embed="rId44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669660" y="914862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>
                <p:cTn id="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323850" y="1124744"/>
            <a:ext cx="6768429" cy="576262"/>
          </a:xfrm>
        </p:spPr>
        <p:txBody>
          <a:bodyPr>
            <a:normAutofit/>
          </a:bodyPr>
          <a:lstStyle/>
          <a:p>
            <a:r>
              <a:rPr lang="en-US" altLang="zh-CN" dirty="0"/>
              <a:t>Listen to the recording once and answer the following questions.</a:t>
            </a:r>
            <a:endParaRPr lang="zh-CN" altLang="zh-CN" dirty="0"/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4"/>
          </p:nvPr>
        </p:nvSpPr>
        <p:spPr>
          <a:xfrm>
            <a:off x="323851" y="2204864"/>
            <a:ext cx="4896221" cy="3960986"/>
          </a:xfrm>
        </p:spPr>
        <p:txBody>
          <a:bodyPr>
            <a:normAutofit/>
          </a:bodyPr>
          <a:lstStyle/>
          <a:p>
            <a:pPr marL="273050" indent="-273050">
              <a:buFont typeface="+mj-lt"/>
              <a:buAutoNum type="arabicPeriod"/>
            </a:pPr>
            <a:r>
              <a:rPr lang="en-US" altLang="zh-CN" sz="2400"/>
              <a:t>What are the man and the woman talking about?</a:t>
            </a:r>
            <a:br>
              <a:rPr lang="en-US" altLang="zh-CN" sz="2400"/>
            </a:br>
            <a:r>
              <a:rPr lang="en-US" altLang="zh-CN" sz="2400" u="sng">
                <a:solidFill>
                  <a:schemeClr val="accent1"/>
                </a:solidFill>
              </a:rPr>
              <a:t>They are talking about the identity </a:t>
            </a:r>
            <a:br>
              <a:rPr lang="en-US" altLang="zh-CN" sz="2400" u="sng">
                <a:solidFill>
                  <a:schemeClr val="accent1"/>
                </a:solidFill>
              </a:rPr>
            </a:br>
            <a:r>
              <a:rPr lang="en-US" altLang="zh-CN" sz="2400" u="sng">
                <a:solidFill>
                  <a:schemeClr val="accent1"/>
                </a:solidFill>
              </a:rPr>
              <a:t>of each person in the photos.</a:t>
            </a:r>
            <a:endParaRPr lang="en-US" altLang="zh-CN" sz="2400" u="sng">
              <a:solidFill>
                <a:schemeClr val="accent1"/>
              </a:solidFill>
            </a:endParaRPr>
          </a:p>
          <a:p>
            <a:pPr marL="273050" indent="-273050">
              <a:buFont typeface="+mj-lt"/>
              <a:buAutoNum type="arabicPeriod"/>
            </a:pPr>
            <a:r>
              <a:rPr lang="en-US" altLang="zh-CN" sz="2400"/>
              <a:t>What might be their relationship?</a:t>
            </a:r>
            <a:br>
              <a:rPr lang="en-US" altLang="zh-CN" sz="2400"/>
            </a:br>
            <a:r>
              <a:rPr lang="en-US" altLang="zh-CN" sz="2400" u="sng">
                <a:solidFill>
                  <a:schemeClr val="accent1"/>
                </a:solidFill>
              </a:rPr>
              <a:t>They might be friends or classmates.</a:t>
            </a:r>
            <a:endParaRPr lang="zh-CN" altLang="en-US" sz="2400" u="sng">
              <a:solidFill>
                <a:schemeClr val="accent1"/>
              </a:solidFill>
            </a:endParaRPr>
          </a:p>
        </p:txBody>
      </p:sp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子菜单背景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New words and expressions 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   A. Listening for gist 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B. Listening for details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pic>
        <p:nvPicPr>
          <p:cNvPr id="50" name="播放按钮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95536" y="1556792"/>
            <a:ext cx="295275" cy="304800"/>
          </a:xfrm>
          <a:prstGeom prst="rect">
            <a:avLst/>
          </a:prstGeom>
        </p:spPr>
      </p:pic>
      <p:pic>
        <p:nvPicPr>
          <p:cNvPr id="54" name="暂停按钮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556792"/>
            <a:ext cx="295275" cy="304800"/>
          </a:xfrm>
          <a:prstGeom prst="rect">
            <a:avLst/>
          </a:prstGeom>
        </p:spPr>
      </p:pic>
      <p:pic>
        <p:nvPicPr>
          <p:cNvPr id="64" name="停止按钮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15616" y="1556792"/>
            <a:ext cx="295275" cy="304800"/>
          </a:xfrm>
          <a:prstGeom prst="rect">
            <a:avLst/>
          </a:prstGeom>
        </p:spPr>
      </p:pic>
      <p:pic>
        <p:nvPicPr>
          <p:cNvPr id="75" name="按钮-External Player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482006" y="1556792"/>
            <a:ext cx="1521337" cy="308000"/>
          </a:xfrm>
          <a:prstGeom prst="rect">
            <a:avLst/>
          </a:prstGeom>
        </p:spPr>
      </p:pic>
      <p:pic>
        <p:nvPicPr>
          <p:cNvPr id="76" name="按钮-Script">
            <a:hlinkClick r:id="rId6" action="ppaction://hlinkpres?slideindex=1&amp;slidetitle=幻灯片 1"/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47132" y="1556792"/>
            <a:ext cx="904875" cy="333375"/>
          </a:xfrm>
          <a:prstGeom prst="rect">
            <a:avLst/>
          </a:prstGeom>
        </p:spPr>
      </p:pic>
      <p:sp>
        <p:nvSpPr>
          <p:cNvPr id="78" name="填空热区-点击消失"/>
          <p:cNvSpPr>
            <a:spLocks noChangeArrowheads="1"/>
          </p:cNvSpPr>
          <p:nvPr/>
        </p:nvSpPr>
        <p:spPr bwMode="auto">
          <a:xfrm>
            <a:off x="632973" y="3023577"/>
            <a:ext cx="3960440" cy="687723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400" u="sng" dirty="0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s                .</a:t>
            </a: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79" name="填空热区-点击消失"/>
          <p:cNvSpPr>
            <a:spLocks noChangeArrowheads="1"/>
          </p:cNvSpPr>
          <p:nvPr/>
        </p:nvSpPr>
        <p:spPr bwMode="auto">
          <a:xfrm>
            <a:off x="696473" y="4184942"/>
            <a:ext cx="4176464" cy="327683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400" u="sng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They might be friends or classmates.</a:t>
            </a: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pic>
        <p:nvPicPr>
          <p:cNvPr id="80" name="图片 79" descr="P01-02c_175537125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361837" y="1486454"/>
            <a:ext cx="3653211" cy="4891674"/>
          </a:xfrm>
          <a:prstGeom prst="rect">
            <a:avLst/>
          </a:prstGeom>
        </p:spPr>
      </p:pic>
      <p:sp>
        <p:nvSpPr>
          <p:cNvPr id="27" name="标题 1"/>
          <p:cNvSpPr txBox="1"/>
          <p:nvPr/>
        </p:nvSpPr>
        <p:spPr>
          <a:xfrm>
            <a:off x="4716016" y="0"/>
            <a:ext cx="1368152" cy="4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txBody>
          <a:bodyPr vert="horz" lIns="90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Listening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28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29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btn-Part 1">
            <a:hlinkClick r:id="rId9" action="ppaction://hlinksldjump"/>
          </p:cNvPr>
          <p:cNvSpPr/>
          <p:nvPr/>
        </p:nvSpPr>
        <p:spPr>
          <a:xfrm>
            <a:off x="2567310" y="503831"/>
            <a:ext cx="1748780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btn-Part 1">
            <a:hlinkClick r:id="rId10" action="ppaction://hlinksldjump"/>
          </p:cNvPr>
          <p:cNvSpPr/>
          <p:nvPr/>
        </p:nvSpPr>
        <p:spPr>
          <a:xfrm>
            <a:off x="4445000" y="483518"/>
            <a:ext cx="1968500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btn-Part 1">
            <a:hlinkClick r:id="rId11" action="ppaction://hlinksldjump"/>
          </p:cNvPr>
          <p:cNvSpPr/>
          <p:nvPr/>
        </p:nvSpPr>
        <p:spPr>
          <a:xfrm>
            <a:off x="63500" y="483518"/>
            <a:ext cx="2374900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" name="Track 1-1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-1212204" y="1532369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  <p:bldLst>
      <p:bldP spid="78" grpId="0" animBg="1"/>
      <p:bldP spid="7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占位符 3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1. Locate the countries in the box (</a:t>
            </a:r>
            <a:r>
              <a:rPr lang="en-US" altLang="zh-CN" i="1" dirty="0"/>
              <a:t>a </a:t>
            </a:r>
            <a:r>
              <a:rPr lang="en-US" altLang="zh-CN" dirty="0"/>
              <a:t>to </a:t>
            </a:r>
            <a:r>
              <a:rPr lang="en-US" altLang="zh-CN" i="1" dirty="0"/>
              <a:t>h</a:t>
            </a:r>
            <a:r>
              <a:rPr lang="en-US" altLang="zh-CN" dirty="0"/>
              <a:t>) on the map.</a:t>
            </a:r>
            <a:endParaRPr lang="zh-CN" altLang="en-US" dirty="0"/>
          </a:p>
        </p:txBody>
      </p:sp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子菜单背景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New words and expressions     A. Listening for gist    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B. Listening for details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395536" y="1556792"/>
            <a:ext cx="8424936" cy="504056"/>
          </a:xfrm>
          <a:prstGeom prst="roundRect">
            <a:avLst>
              <a:gd name="adj" fmla="val 9581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a. Argentina      b. Brazil      c. China      d. Iran      e. Japan      f. Malaysia      g. the U.K.      h. the U.S.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44"/>
          <a:stretch>
            <a:fillRect/>
          </a:stretch>
        </p:blipFill>
        <p:spPr>
          <a:xfrm>
            <a:off x="323528" y="2099698"/>
            <a:ext cx="8640960" cy="4353638"/>
          </a:xfrm>
          <a:prstGeom prst="rect">
            <a:avLst/>
          </a:prstGeom>
        </p:spPr>
      </p:pic>
      <p:sp>
        <p:nvSpPr>
          <p:cNvPr id="40" name="TextBox 39"/>
          <p:cNvSpPr txBox="1"/>
          <p:nvPr>
            <p:custDataLst>
              <p:tags r:id="rId3"/>
            </p:custDataLst>
          </p:nvPr>
        </p:nvSpPr>
        <p:spPr>
          <a:xfrm>
            <a:off x="7071052" y="244639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1</a:t>
            </a:r>
            <a:r>
              <a:rPr lang="en-US" altLang="zh-CN"/>
              <a:t>   </a:t>
            </a:r>
            <a:r>
              <a:rPr lang="en-US" altLang="zh-CN">
                <a:solidFill>
                  <a:schemeClr val="accent1"/>
                </a:solidFill>
              </a:rPr>
              <a:t>h. the U.S.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41" name="TextBox 40"/>
          <p:cNvSpPr txBox="1"/>
          <p:nvPr>
            <p:custDataLst>
              <p:tags r:id="rId4"/>
            </p:custDataLst>
          </p:nvPr>
        </p:nvSpPr>
        <p:spPr>
          <a:xfrm>
            <a:off x="6655982" y="5455186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</a:t>
            </a:r>
            <a:r>
              <a:rPr lang="en-US" altLang="zh-CN" dirty="0"/>
              <a:t>  </a:t>
            </a:r>
            <a:r>
              <a:rPr lang="en-US" altLang="zh-CN" dirty="0">
                <a:solidFill>
                  <a:schemeClr val="accent1"/>
                </a:solidFill>
              </a:rPr>
              <a:t> a. Argentina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4" name="TextBox 43"/>
          <p:cNvSpPr txBox="1"/>
          <p:nvPr>
            <p:custDataLst>
              <p:tags r:id="rId5"/>
            </p:custDataLst>
          </p:nvPr>
        </p:nvSpPr>
        <p:spPr>
          <a:xfrm>
            <a:off x="7398208" y="3491948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3</a:t>
            </a:r>
            <a:r>
              <a:rPr lang="en-US" altLang="zh-CN"/>
              <a:t>   </a:t>
            </a:r>
            <a:r>
              <a:rPr lang="en-US" altLang="zh-CN">
                <a:solidFill>
                  <a:schemeClr val="accent1"/>
                </a:solidFill>
              </a:rPr>
              <a:t>b. Brazil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58" name="TextBox 57"/>
          <p:cNvSpPr txBox="1"/>
          <p:nvPr>
            <p:custDataLst>
              <p:tags r:id="rId6"/>
            </p:custDataLst>
          </p:nvPr>
        </p:nvSpPr>
        <p:spPr>
          <a:xfrm>
            <a:off x="888896" y="223755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4</a:t>
            </a:r>
            <a:r>
              <a:rPr lang="en-US" altLang="zh-CN" dirty="0"/>
              <a:t>   </a:t>
            </a:r>
            <a:r>
              <a:rPr lang="en-US" altLang="zh-CN" dirty="0">
                <a:solidFill>
                  <a:schemeClr val="accent1"/>
                </a:solidFill>
              </a:rPr>
              <a:t>g. the U.K.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59" name="TextBox 58"/>
          <p:cNvSpPr txBox="1"/>
          <p:nvPr>
            <p:custDataLst>
              <p:tags r:id="rId7"/>
            </p:custDataLst>
          </p:nvPr>
        </p:nvSpPr>
        <p:spPr>
          <a:xfrm>
            <a:off x="1691680" y="4021015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5 </a:t>
            </a:r>
            <a:r>
              <a:rPr lang="en-US" altLang="zh-CN" dirty="0"/>
              <a:t>  </a:t>
            </a:r>
            <a:r>
              <a:rPr lang="en-US" altLang="zh-CN" dirty="0">
                <a:solidFill>
                  <a:schemeClr val="accent1"/>
                </a:solidFill>
              </a:rPr>
              <a:t>d. Iran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0" name="TextBox 59"/>
          <p:cNvSpPr txBox="1"/>
          <p:nvPr>
            <p:custDataLst>
              <p:tags r:id="rId8"/>
            </p:custDataLst>
          </p:nvPr>
        </p:nvSpPr>
        <p:spPr>
          <a:xfrm>
            <a:off x="2744031" y="483513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6</a:t>
            </a:r>
            <a:r>
              <a:rPr lang="en-US" altLang="zh-CN" dirty="0"/>
              <a:t>  </a:t>
            </a:r>
            <a:r>
              <a:rPr lang="en-US" altLang="zh-CN" dirty="0">
                <a:solidFill>
                  <a:schemeClr val="accent1"/>
                </a:solidFill>
              </a:rPr>
              <a:t>f. Malaysia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1" name="TextBox 60"/>
          <p:cNvSpPr txBox="1"/>
          <p:nvPr>
            <p:custDataLst>
              <p:tags r:id="rId9"/>
            </p:custDataLst>
          </p:nvPr>
        </p:nvSpPr>
        <p:spPr>
          <a:xfrm>
            <a:off x="4591209" y="3547128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8</a:t>
            </a:r>
            <a:r>
              <a:rPr lang="en-US" altLang="zh-CN"/>
              <a:t>   </a:t>
            </a:r>
            <a:r>
              <a:rPr lang="en-US" altLang="zh-CN">
                <a:solidFill>
                  <a:schemeClr val="accent1"/>
                </a:solidFill>
              </a:rPr>
              <a:t>e. Japan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63" name="TextBox 62"/>
          <p:cNvSpPr txBox="1"/>
          <p:nvPr>
            <p:custDataLst>
              <p:tags r:id="rId10"/>
            </p:custDataLst>
          </p:nvPr>
        </p:nvSpPr>
        <p:spPr>
          <a:xfrm>
            <a:off x="3205460" y="237014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7</a:t>
            </a:r>
            <a:r>
              <a:rPr lang="en-US" altLang="zh-CN" dirty="0"/>
              <a:t>   </a:t>
            </a:r>
            <a:r>
              <a:rPr lang="en-US" altLang="zh-CN" dirty="0">
                <a:solidFill>
                  <a:schemeClr val="accent1"/>
                </a:solidFill>
              </a:rPr>
              <a:t>c. China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5" name="填空热区-点击消失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947568" y="5480854"/>
            <a:ext cx="1057260" cy="327683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2F2F2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66" name="填空热区-点击消失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294696" y="2470924"/>
            <a:ext cx="1057260" cy="327683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2F2F2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67" name="填空热区-点击消失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7619600" y="3514952"/>
            <a:ext cx="1057260" cy="327683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2F2F2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68" name="填空热区-点击消失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138476" y="2263822"/>
            <a:ext cx="1057260" cy="327683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2F2F2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69" name="填空热区-点击消失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922240" y="4049575"/>
            <a:ext cx="1057260" cy="327683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2F2F2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70" name="填空热区-点击消失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990987" y="4850000"/>
            <a:ext cx="1057260" cy="327683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2F2F2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71" name="填空热区-点击消失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445188" y="2387036"/>
            <a:ext cx="1057260" cy="327683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2F2F2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72" name="填空热区-点击消失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831701" y="3570896"/>
            <a:ext cx="1057260" cy="327683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2F2F2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7" name="标题 1"/>
          <p:cNvSpPr txBox="1"/>
          <p:nvPr/>
        </p:nvSpPr>
        <p:spPr>
          <a:xfrm>
            <a:off x="4716016" y="0"/>
            <a:ext cx="1368152" cy="4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txBody>
          <a:bodyPr vert="horz" lIns="90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Listening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50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51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btn-Part 1">
            <a:hlinkClick r:id="rId19" action="ppaction://hlinksldjump"/>
          </p:cNvPr>
          <p:cNvSpPr/>
          <p:nvPr/>
        </p:nvSpPr>
        <p:spPr>
          <a:xfrm>
            <a:off x="2569220" y="483518"/>
            <a:ext cx="1748780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btn-Part 1">
            <a:hlinkClick r:id="rId20" action="ppaction://hlinksldjump"/>
          </p:cNvPr>
          <p:cNvSpPr/>
          <p:nvPr/>
        </p:nvSpPr>
        <p:spPr>
          <a:xfrm>
            <a:off x="4415842" y="528464"/>
            <a:ext cx="1968500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btn-Part 1">
            <a:hlinkClick r:id="rId21" action="ppaction://hlinksldjump"/>
          </p:cNvPr>
          <p:cNvSpPr/>
          <p:nvPr/>
        </p:nvSpPr>
        <p:spPr>
          <a:xfrm>
            <a:off x="63500" y="483518"/>
            <a:ext cx="2374900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  <p:bldLst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323850" y="1124744"/>
            <a:ext cx="3816102" cy="1584176"/>
          </a:xfrm>
        </p:spPr>
        <p:txBody>
          <a:bodyPr>
            <a:normAutofit/>
          </a:bodyPr>
          <a:lstStyle/>
          <a:p>
            <a:r>
              <a:rPr lang="en-US" altLang="zh-CN" dirty="0"/>
              <a:t>2. Listen to the recording again. Where is each person from? Write the country and the person’s name on each photo.</a:t>
            </a:r>
            <a:endParaRPr lang="zh-CN" altLang="zh-CN" dirty="0"/>
          </a:p>
        </p:txBody>
      </p:sp>
      <p:pic>
        <p:nvPicPr>
          <p:cNvPr id="50" name="播放按钮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95536" y="2519561"/>
            <a:ext cx="295275" cy="304800"/>
          </a:xfrm>
          <a:prstGeom prst="rect">
            <a:avLst/>
          </a:prstGeom>
        </p:spPr>
      </p:pic>
      <p:pic>
        <p:nvPicPr>
          <p:cNvPr id="54" name="暂停按钮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2519561"/>
            <a:ext cx="295275" cy="304800"/>
          </a:xfrm>
          <a:prstGeom prst="rect">
            <a:avLst/>
          </a:prstGeom>
        </p:spPr>
      </p:pic>
      <p:pic>
        <p:nvPicPr>
          <p:cNvPr id="64" name="停止按钮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15616" y="2519561"/>
            <a:ext cx="295275" cy="304800"/>
          </a:xfrm>
          <a:prstGeom prst="rect">
            <a:avLst/>
          </a:prstGeom>
        </p:spPr>
      </p:pic>
      <p:pic>
        <p:nvPicPr>
          <p:cNvPr id="75" name="按钮-External Player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482006" y="2519561"/>
            <a:ext cx="1521337" cy="308000"/>
          </a:xfrm>
          <a:prstGeom prst="rect">
            <a:avLst/>
          </a:prstGeom>
        </p:spPr>
      </p:pic>
      <p:pic>
        <p:nvPicPr>
          <p:cNvPr id="76" name="按钮-Script">
            <a:hlinkClick r:id="rId6" action="ppaction://hlinkpres?slideindex=1&amp;slidetitle=幻灯片 1"/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47132" y="2519561"/>
            <a:ext cx="904875" cy="333375"/>
          </a:xfrm>
          <a:prstGeom prst="rect">
            <a:avLst/>
          </a:prstGeom>
        </p:spPr>
      </p:pic>
      <p:pic>
        <p:nvPicPr>
          <p:cNvPr id="14338" name="Picture 2" descr="E:\lab\全新版进阶视听说\PPT\working\U1-P2-1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95536" y="3284984"/>
            <a:ext cx="3312369" cy="2008124"/>
          </a:xfrm>
          <a:prstGeom prst="rect">
            <a:avLst/>
          </a:prstGeom>
          <a:noFill/>
        </p:spPr>
      </p:pic>
      <p:pic>
        <p:nvPicPr>
          <p:cNvPr id="14339" name="Picture 3" descr="E:\lab\全新版进阶视听说\PPT\working\U1-P2-2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463480" y="1268758"/>
            <a:ext cx="2124744" cy="1517675"/>
          </a:xfrm>
          <a:prstGeom prst="rect">
            <a:avLst/>
          </a:prstGeom>
          <a:noFill/>
        </p:spPr>
      </p:pic>
      <p:pic>
        <p:nvPicPr>
          <p:cNvPr id="14340" name="Picture 4" descr="E:\lab\全新版进阶视听说\PPT\working\U1-P2-3.jp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782138" y="1268760"/>
            <a:ext cx="2117035" cy="1512168"/>
          </a:xfrm>
          <a:prstGeom prst="rect">
            <a:avLst/>
          </a:prstGeom>
          <a:noFill/>
        </p:spPr>
      </p:pic>
      <p:pic>
        <p:nvPicPr>
          <p:cNvPr id="14341" name="Picture 5" descr="E:\lab\全新版进阶视听说\PPT\working\U1-P2-4.jp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499992" y="3717032"/>
            <a:ext cx="2123083" cy="1512168"/>
          </a:xfrm>
          <a:prstGeom prst="rect">
            <a:avLst/>
          </a:prstGeom>
          <a:noFill/>
        </p:spPr>
      </p:pic>
      <p:pic>
        <p:nvPicPr>
          <p:cNvPr id="14342" name="Picture 6" descr="E:\lab\全新版进阶视听说\PPT\working\U1-P2-5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775444" y="3717032"/>
            <a:ext cx="2117036" cy="1512168"/>
          </a:xfrm>
          <a:prstGeom prst="rect">
            <a:avLst/>
          </a:prstGeom>
          <a:noFill/>
        </p:spPr>
      </p:pic>
      <p:sp>
        <p:nvSpPr>
          <p:cNvPr id="38" name="TextBox 37"/>
          <p:cNvSpPr txBox="1"/>
          <p:nvPr/>
        </p:nvSpPr>
        <p:spPr>
          <a:xfrm>
            <a:off x="395536" y="5373216"/>
            <a:ext cx="3312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4625" indent="-174625"/>
            <a:r>
              <a:rPr lang="en-US" altLang="zh-CN" sz="2000"/>
              <a:t>1. Country: </a:t>
            </a:r>
            <a:r>
              <a:rPr lang="en-US" altLang="zh-CN" sz="2000" u="sng">
                <a:solidFill>
                  <a:schemeClr val="accent5"/>
                </a:solidFill>
              </a:rPr>
              <a:t>the U.S.</a:t>
            </a:r>
            <a:r>
              <a:rPr lang="en-US" altLang="zh-CN" sz="2000"/>
              <a:t> </a:t>
            </a:r>
            <a:br>
              <a:rPr lang="en-US" altLang="zh-CN" sz="2000"/>
            </a:br>
            <a:r>
              <a:rPr lang="en-US" altLang="zh-CN" sz="2000"/>
              <a:t>First name (A): </a:t>
            </a:r>
            <a:r>
              <a:rPr lang="en-US" altLang="zh-CN" sz="2000" u="sng">
                <a:solidFill>
                  <a:schemeClr val="accent5"/>
                </a:solidFill>
              </a:rPr>
              <a:t>Eva</a:t>
            </a:r>
            <a:br>
              <a:rPr lang="en-US" altLang="zh-CN" sz="2000"/>
            </a:br>
            <a:r>
              <a:rPr lang="en-US" altLang="zh-CN" sz="2000"/>
              <a:t>First name (B): </a:t>
            </a:r>
            <a:r>
              <a:rPr lang="en-US" altLang="zh-CN" sz="2000" u="sng">
                <a:solidFill>
                  <a:schemeClr val="accent5"/>
                </a:solidFill>
              </a:rPr>
              <a:t>Ashley</a:t>
            </a:r>
            <a:endParaRPr lang="zh-CN" altLang="en-US" sz="2000" u="sng">
              <a:solidFill>
                <a:schemeClr val="accent5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463480" y="2780927"/>
            <a:ext cx="2124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2. Country: </a:t>
            </a:r>
            <a:r>
              <a:rPr lang="en-US" altLang="zh-CN" sz="2000" u="sng">
                <a:solidFill>
                  <a:schemeClr val="accent5"/>
                </a:solidFill>
              </a:rPr>
              <a:t>Iran</a:t>
            </a:r>
            <a:endParaRPr lang="en-US" altLang="zh-CN" sz="2000" u="sng">
              <a:solidFill>
                <a:schemeClr val="accent5"/>
              </a:solidFill>
            </a:endParaRPr>
          </a:p>
          <a:p>
            <a:pPr marL="174625" indent="-174625"/>
            <a:r>
              <a:rPr lang="en-US" altLang="zh-CN" sz="2000"/>
              <a:t>First name: </a:t>
            </a:r>
            <a:r>
              <a:rPr lang="en-US" altLang="zh-CN" sz="2000" u="sng">
                <a:solidFill>
                  <a:schemeClr val="accent5"/>
                </a:solidFill>
              </a:rPr>
              <a:t>Maheen</a:t>
            </a:r>
            <a:endParaRPr lang="en-US" altLang="zh-CN" sz="2000" u="sng">
              <a:solidFill>
                <a:schemeClr val="accent5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04248" y="2780927"/>
            <a:ext cx="21957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3. Country:</a:t>
            </a:r>
            <a:r>
              <a:rPr lang="en-US" altLang="zh-CN" sz="2000">
                <a:solidFill>
                  <a:schemeClr val="accent5"/>
                </a:solidFill>
              </a:rPr>
              <a:t> </a:t>
            </a:r>
            <a:r>
              <a:rPr lang="en-US" altLang="zh-CN" sz="2000" u="sng">
                <a:solidFill>
                  <a:schemeClr val="accent5"/>
                </a:solidFill>
              </a:rPr>
              <a:t>the U.K.</a:t>
            </a:r>
            <a:endParaRPr lang="en-US" altLang="zh-CN" sz="2000" u="sng">
              <a:solidFill>
                <a:schemeClr val="accent5"/>
              </a:solidFill>
            </a:endParaRPr>
          </a:p>
          <a:p>
            <a:r>
              <a:rPr lang="en-US" altLang="zh-CN" sz="2000"/>
              <a:t>First name: </a:t>
            </a:r>
            <a:r>
              <a:rPr lang="en-US" altLang="zh-CN" sz="2000" u="sng">
                <a:solidFill>
                  <a:schemeClr val="accent5"/>
                </a:solidFill>
              </a:rPr>
              <a:t>Michael</a:t>
            </a:r>
            <a:endParaRPr lang="en-US" altLang="zh-CN" sz="2000" u="sng">
              <a:solidFill>
                <a:schemeClr val="accent5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463480" y="5301208"/>
            <a:ext cx="2196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4. Country: </a:t>
            </a:r>
            <a:r>
              <a:rPr lang="en-US" altLang="zh-CN" sz="2000" u="sng">
                <a:solidFill>
                  <a:schemeClr val="accent5"/>
                </a:solidFill>
              </a:rPr>
              <a:t>Brazil</a:t>
            </a:r>
            <a:endParaRPr lang="en-US" altLang="zh-CN" sz="2000" u="sng">
              <a:solidFill>
                <a:schemeClr val="accent5"/>
              </a:solidFill>
            </a:endParaRPr>
          </a:p>
          <a:p>
            <a:r>
              <a:rPr lang="en-US" altLang="zh-CN" sz="2000"/>
              <a:t>First name: </a:t>
            </a:r>
            <a:r>
              <a:rPr lang="en-US" altLang="zh-CN" sz="2000" u="sng">
                <a:solidFill>
                  <a:schemeClr val="accent5"/>
                </a:solidFill>
              </a:rPr>
              <a:t>Sofia</a:t>
            </a:r>
            <a:endParaRPr lang="en-US" altLang="zh-CN" sz="2000" u="sng">
              <a:solidFill>
                <a:schemeClr val="accent5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804248" y="5301208"/>
            <a:ext cx="21957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5. Country: </a:t>
            </a:r>
            <a:r>
              <a:rPr lang="en-US" altLang="zh-CN" sz="2000" u="sng">
                <a:solidFill>
                  <a:schemeClr val="accent5"/>
                </a:solidFill>
              </a:rPr>
              <a:t>Japan</a:t>
            </a:r>
            <a:endParaRPr lang="en-US" altLang="zh-CN" sz="2000" u="sng">
              <a:solidFill>
                <a:schemeClr val="accent5"/>
              </a:solidFill>
            </a:endParaRPr>
          </a:p>
          <a:p>
            <a:r>
              <a:rPr lang="en-US" altLang="zh-CN" sz="2000"/>
              <a:t>First name: </a:t>
            </a:r>
            <a:r>
              <a:rPr lang="en-US" altLang="zh-CN" sz="2000" u="sng">
                <a:solidFill>
                  <a:schemeClr val="accent5"/>
                </a:solidFill>
              </a:rPr>
              <a:t>Hiroshi</a:t>
            </a:r>
            <a:endParaRPr lang="en-US" altLang="zh-CN" sz="2000" u="sng">
              <a:solidFill>
                <a:schemeClr val="accent5"/>
              </a:solidFill>
            </a:endParaRPr>
          </a:p>
        </p:txBody>
      </p:sp>
      <p:sp>
        <p:nvSpPr>
          <p:cNvPr id="58" name="填空热区-点击消失"/>
          <p:cNvSpPr>
            <a:spLocks noChangeArrowheads="1"/>
          </p:cNvSpPr>
          <p:nvPr/>
        </p:nvSpPr>
        <p:spPr bwMode="auto">
          <a:xfrm>
            <a:off x="1578770" y="5495925"/>
            <a:ext cx="726280" cy="22777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000" u="sng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.</a:t>
            </a:r>
            <a:endParaRPr lang="en-US" altLang="zh-CN" sz="20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9" name="填空热区-点击消失"/>
          <p:cNvSpPr>
            <a:spLocks noChangeArrowheads="1"/>
          </p:cNvSpPr>
          <p:nvPr/>
        </p:nvSpPr>
        <p:spPr bwMode="auto">
          <a:xfrm>
            <a:off x="2078831" y="5800502"/>
            <a:ext cx="361950" cy="22777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0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60" name="填空热区-点击消失"/>
          <p:cNvSpPr>
            <a:spLocks noChangeArrowheads="1"/>
          </p:cNvSpPr>
          <p:nvPr/>
        </p:nvSpPr>
        <p:spPr bwMode="auto">
          <a:xfrm>
            <a:off x="2062163" y="6107582"/>
            <a:ext cx="657225" cy="22777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0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61" name="填空热区-点击消失"/>
          <p:cNvSpPr>
            <a:spLocks noChangeArrowheads="1"/>
          </p:cNvSpPr>
          <p:nvPr/>
        </p:nvSpPr>
        <p:spPr bwMode="auto">
          <a:xfrm>
            <a:off x="5647936" y="2903515"/>
            <a:ext cx="432048" cy="22777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0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62" name="填空热区-点击消失"/>
          <p:cNvSpPr>
            <a:spLocks noChangeArrowheads="1"/>
          </p:cNvSpPr>
          <p:nvPr/>
        </p:nvSpPr>
        <p:spPr bwMode="auto">
          <a:xfrm>
            <a:off x="5664603" y="3208214"/>
            <a:ext cx="792088" cy="22777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0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63" name="填空热区-点击消失"/>
          <p:cNvSpPr>
            <a:spLocks noChangeArrowheads="1"/>
          </p:cNvSpPr>
          <p:nvPr/>
        </p:nvSpPr>
        <p:spPr bwMode="auto">
          <a:xfrm>
            <a:off x="7987329" y="2902937"/>
            <a:ext cx="801034" cy="22777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000" u="sng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.</a:t>
            </a:r>
            <a:endParaRPr lang="en-US" altLang="zh-CN" sz="20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65" name="填空热区-点击消失"/>
          <p:cNvSpPr>
            <a:spLocks noChangeArrowheads="1"/>
          </p:cNvSpPr>
          <p:nvPr/>
        </p:nvSpPr>
        <p:spPr bwMode="auto">
          <a:xfrm>
            <a:off x="8005152" y="3208214"/>
            <a:ext cx="801034" cy="22777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0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66" name="填空热区-点击消失"/>
          <p:cNvSpPr>
            <a:spLocks noChangeArrowheads="1"/>
          </p:cNvSpPr>
          <p:nvPr/>
        </p:nvSpPr>
        <p:spPr bwMode="auto">
          <a:xfrm>
            <a:off x="5647936" y="5423954"/>
            <a:ext cx="576064" cy="22777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0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67" name="填空热区-点击消失"/>
          <p:cNvSpPr>
            <a:spLocks noChangeArrowheads="1"/>
          </p:cNvSpPr>
          <p:nvPr/>
        </p:nvSpPr>
        <p:spPr bwMode="auto">
          <a:xfrm>
            <a:off x="5662222" y="5728494"/>
            <a:ext cx="504056" cy="22777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000" u="sng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68" name="填空热区-点击消失"/>
          <p:cNvSpPr>
            <a:spLocks noChangeArrowheads="1"/>
          </p:cNvSpPr>
          <p:nvPr/>
        </p:nvSpPr>
        <p:spPr bwMode="auto">
          <a:xfrm>
            <a:off x="7987907" y="5423217"/>
            <a:ext cx="576064" cy="22777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0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69" name="填空热区-点击消失"/>
          <p:cNvSpPr>
            <a:spLocks noChangeArrowheads="1"/>
          </p:cNvSpPr>
          <p:nvPr/>
        </p:nvSpPr>
        <p:spPr bwMode="auto">
          <a:xfrm>
            <a:off x="8004574" y="5728494"/>
            <a:ext cx="792088" cy="22777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000" u="sng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3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7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1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57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9" name="子菜单背景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New words and expressions     A. Listening for gist    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B. Listening for details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sp>
        <p:nvSpPr>
          <p:cNvPr id="55" name="标题 1"/>
          <p:cNvSpPr txBox="1"/>
          <p:nvPr/>
        </p:nvSpPr>
        <p:spPr>
          <a:xfrm>
            <a:off x="4716016" y="0"/>
            <a:ext cx="1368152" cy="4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txBody>
          <a:bodyPr vert="horz" lIns="90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Listening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6" name="btn-Part 1">
            <a:hlinkClick r:id="rId13" action="ppaction://hlinksldjump"/>
          </p:cNvPr>
          <p:cNvSpPr/>
          <p:nvPr/>
        </p:nvSpPr>
        <p:spPr>
          <a:xfrm>
            <a:off x="2569220" y="483518"/>
            <a:ext cx="1748780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btn-Part 1">
            <a:hlinkClick r:id="rId14" action="ppaction://hlinksldjump"/>
          </p:cNvPr>
          <p:cNvSpPr/>
          <p:nvPr/>
        </p:nvSpPr>
        <p:spPr>
          <a:xfrm>
            <a:off x="4415842" y="528464"/>
            <a:ext cx="1968500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btn-Part 1">
            <a:hlinkClick r:id="rId15" action="ppaction://hlinksldjump"/>
          </p:cNvPr>
          <p:cNvSpPr/>
          <p:nvPr/>
        </p:nvSpPr>
        <p:spPr>
          <a:xfrm>
            <a:off x="63500" y="483518"/>
            <a:ext cx="2374900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6" name="Track 1-1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-1156964" y="2367161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6"/>
                </p:tgtEl>
              </p:cMediaNode>
            </p:audio>
          </p:childTnLst>
        </p:cTn>
      </p:par>
    </p:tnLst>
    <p:bldLst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5" grpId="0" animBg="1"/>
      <p:bldP spid="66" grpId="0" animBg="1"/>
      <p:bldP spid="67" grpId="0" animBg="1"/>
      <p:bldP spid="68" grpId="0" animBg="1"/>
      <p:bldP spid="6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占位符 43"/>
          <p:cNvSpPr>
            <a:spLocks noGrp="1"/>
          </p:cNvSpPr>
          <p:nvPr>
            <p:ph type="body" sz="quarter" idx="13"/>
          </p:nvPr>
        </p:nvSpPr>
        <p:spPr>
          <a:xfrm>
            <a:off x="323850" y="764704"/>
            <a:ext cx="8569325" cy="936302"/>
          </a:xfrm>
        </p:spPr>
        <p:txBody>
          <a:bodyPr>
            <a:normAutofit/>
          </a:bodyPr>
          <a:lstStyle/>
          <a:p>
            <a:r>
              <a:rPr lang="en-US" altLang="zh-CN"/>
              <a:t>Listen to the conversation and practice with a partner by using your own name and country. Then change partners and practice again.</a:t>
            </a:r>
            <a:endParaRPr lang="zh-CN" altLang="en-US"/>
          </a:p>
        </p:txBody>
      </p:sp>
      <p:sp>
        <p:nvSpPr>
          <p:cNvPr id="77" name="文本-填空"/>
          <p:cNvSpPr txBox="1"/>
          <p:nvPr/>
        </p:nvSpPr>
        <p:spPr>
          <a:xfrm>
            <a:off x="336550" y="2132856"/>
            <a:ext cx="8569325" cy="410445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marL="449580" marR="0" lvl="0" indent="-4495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A:	 Hi, my name is </a:t>
            </a:r>
            <a:r>
              <a:rPr kumimoji="0" lang="en-US" altLang="zh-CN" sz="3200" b="1" i="0" u="sng" strike="noStrike" kern="120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>
                  <a:solidFill>
                    <a:schemeClr val="tx1"/>
                  </a:solidFill>
                </a:uFill>
                <a:latin typeface="+mn-lt"/>
                <a:ea typeface="+mn-ea"/>
                <a:cs typeface="+mn-cs"/>
              </a:rPr>
              <a:t>Michael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9580" marR="0" lvl="0" indent="-4495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B: 	Hi, </a:t>
            </a:r>
            <a:r>
              <a:rPr kumimoji="0" lang="en-US" altLang="zh-CN" sz="3200" b="1" i="0" u="sng" strike="noStrike" kern="120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>
                  <a:solidFill>
                    <a:schemeClr val="tx1"/>
                  </a:solidFill>
                </a:uFill>
                <a:latin typeface="+mn-lt"/>
                <a:ea typeface="+mn-ea"/>
                <a:cs typeface="+mn-cs"/>
              </a:rPr>
              <a:t>Michael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I’m </a:t>
            </a:r>
            <a:r>
              <a:rPr kumimoji="0" lang="en-US" altLang="zh-CN" sz="3200" b="1" i="0" u="sng" strike="noStrike" kern="120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>
                  <a:solidFill>
                    <a:schemeClr val="tx1"/>
                  </a:solidFill>
                </a:uFill>
                <a:latin typeface="+mn-lt"/>
                <a:ea typeface="+mn-ea"/>
                <a:cs typeface="+mn-cs"/>
              </a:rPr>
              <a:t>Sofia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9580" marR="0" lvl="0" indent="-4495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A: 	Great to meet you, </a:t>
            </a:r>
            <a:r>
              <a:rPr kumimoji="0" lang="en-US" altLang="zh-CN" sz="3200" b="1" i="0" u="sng" strike="noStrike" kern="120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>
                  <a:solidFill>
                    <a:schemeClr val="tx1"/>
                  </a:solidFill>
                </a:uFill>
                <a:latin typeface="+mn-lt"/>
                <a:ea typeface="+mn-ea"/>
                <a:cs typeface="+mn-cs"/>
              </a:rPr>
              <a:t>Sofia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9580" marR="0" lvl="0" indent="-4495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B: 	It’s nice to meet you, too. Where are you from?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9580" marR="0" lvl="0" indent="-4495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A:	 I’m from </a:t>
            </a:r>
            <a:r>
              <a:rPr kumimoji="0" lang="en-US" altLang="zh-CN" sz="3200" b="1" i="0" u="sng" strike="noStrike" kern="120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>
                  <a:solidFill>
                    <a:schemeClr val="tx1"/>
                  </a:solidFill>
                </a:uFill>
                <a:latin typeface="+mn-lt"/>
                <a:ea typeface="+mn-ea"/>
                <a:cs typeface="+mn-cs"/>
              </a:rPr>
              <a:t>the U.K.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you?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9580" marR="0" lvl="0" indent="-4495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B: 	</a:t>
            </a:r>
            <a:r>
              <a:rPr kumimoji="0" lang="en-US" altLang="zh-CN" sz="3200" b="1" i="0" u="sng" strike="noStrike" kern="120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>
                  <a:solidFill>
                    <a:schemeClr val="tx1"/>
                  </a:solidFill>
                </a:uFill>
                <a:latin typeface="+mn-lt"/>
                <a:ea typeface="+mn-ea"/>
                <a:cs typeface="+mn-cs"/>
              </a:rPr>
              <a:t>Brazil. / Me too.t</a:t>
            </a:r>
            <a:endParaRPr kumimoji="0" lang="zh-CN" altLang="en-US" sz="3200" b="1" i="0" u="sng" strike="noStrike" kern="1200" cap="none" spc="0" normalizeH="0" noProof="0">
              <a:ln>
                <a:noFill/>
              </a:ln>
              <a:solidFill>
                <a:schemeClr val="bg1"/>
              </a:solidFill>
              <a:effectLst/>
              <a:uLnTx/>
              <a:uFill>
                <a:solidFill>
                  <a:schemeClr val="tx1"/>
                </a:solidFill>
              </a:uFill>
              <a:latin typeface="+mn-lt"/>
              <a:ea typeface="+mn-ea"/>
              <a:cs typeface="+mn-cs"/>
            </a:endParaRPr>
          </a:p>
        </p:txBody>
      </p:sp>
      <p:sp>
        <p:nvSpPr>
          <p:cNvPr id="47" name="文本-原始"/>
          <p:cNvSpPr>
            <a:spLocks noGrp="1"/>
          </p:cNvSpPr>
          <p:nvPr>
            <p:ph type="body" sz="quarter" idx="14"/>
          </p:nvPr>
        </p:nvSpPr>
        <p:spPr>
          <a:xfrm>
            <a:off x="336550" y="2132856"/>
            <a:ext cx="8569325" cy="4104456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49580" indent="-449580">
              <a:buNone/>
            </a:pPr>
            <a:r>
              <a:rPr lang="en-US" altLang="zh-CN" dirty="0"/>
              <a:t>A:	 Hi, my name is </a:t>
            </a:r>
            <a:r>
              <a:rPr lang="en-US" altLang="zh-CN" b="1" dirty="0">
                <a:solidFill>
                  <a:schemeClr val="accent1"/>
                </a:solidFill>
              </a:rPr>
              <a:t>Michael</a:t>
            </a:r>
            <a:r>
              <a:rPr lang="en-US" altLang="zh-CN" dirty="0"/>
              <a:t>.</a:t>
            </a:r>
            <a:endParaRPr lang="en-US" altLang="zh-CN" dirty="0"/>
          </a:p>
          <a:p>
            <a:pPr marL="449580" indent="-449580">
              <a:buNone/>
            </a:pPr>
            <a:r>
              <a:rPr lang="en-US" altLang="zh-CN" dirty="0"/>
              <a:t>B: 	Hi, </a:t>
            </a:r>
            <a:r>
              <a:rPr lang="en-US" altLang="zh-CN" b="1" dirty="0">
                <a:solidFill>
                  <a:schemeClr val="accent1"/>
                </a:solidFill>
              </a:rPr>
              <a:t>Michael</a:t>
            </a:r>
            <a:r>
              <a:rPr lang="en-US" altLang="zh-CN" dirty="0"/>
              <a:t>. I’m </a:t>
            </a:r>
            <a:r>
              <a:rPr lang="en-US" altLang="zh-CN" b="1" dirty="0">
                <a:solidFill>
                  <a:schemeClr val="accent1"/>
                </a:solidFill>
              </a:rPr>
              <a:t>Sofia</a:t>
            </a:r>
            <a:r>
              <a:rPr lang="en-US" altLang="zh-CN" dirty="0"/>
              <a:t>.</a:t>
            </a:r>
            <a:endParaRPr lang="en-US" altLang="zh-CN" dirty="0"/>
          </a:p>
          <a:p>
            <a:pPr marL="449580" indent="-449580">
              <a:buNone/>
            </a:pPr>
            <a:r>
              <a:rPr lang="en-US" altLang="zh-CN" dirty="0"/>
              <a:t>A: 	Great to meet you, </a:t>
            </a:r>
            <a:r>
              <a:rPr lang="en-US" altLang="zh-CN" b="1" dirty="0">
                <a:solidFill>
                  <a:schemeClr val="accent1"/>
                </a:solidFill>
              </a:rPr>
              <a:t>Sofia</a:t>
            </a:r>
            <a:r>
              <a:rPr lang="en-US" altLang="zh-CN" dirty="0"/>
              <a:t>.</a:t>
            </a:r>
            <a:endParaRPr lang="en-US" altLang="zh-CN" dirty="0"/>
          </a:p>
          <a:p>
            <a:pPr marL="449580" indent="-449580">
              <a:buNone/>
            </a:pPr>
            <a:r>
              <a:rPr lang="en-US" altLang="zh-CN" dirty="0"/>
              <a:t>B: 	It’s nice to meet you, too. Where are you from?</a:t>
            </a:r>
            <a:endParaRPr lang="en-US" altLang="zh-CN" dirty="0"/>
          </a:p>
          <a:p>
            <a:pPr marL="449580" indent="-449580">
              <a:buNone/>
            </a:pPr>
            <a:r>
              <a:rPr lang="en-US" altLang="zh-CN" dirty="0"/>
              <a:t>A:	 I’m from </a:t>
            </a:r>
            <a:r>
              <a:rPr lang="en-US" altLang="zh-CN" b="1" dirty="0">
                <a:solidFill>
                  <a:schemeClr val="accent1"/>
                </a:solidFill>
              </a:rPr>
              <a:t>the U.K.</a:t>
            </a:r>
            <a:r>
              <a:rPr lang="en-US" altLang="zh-CN" dirty="0"/>
              <a:t> And you?</a:t>
            </a:r>
            <a:endParaRPr lang="en-US" altLang="zh-CN" dirty="0"/>
          </a:p>
          <a:p>
            <a:pPr marL="449580" indent="-449580">
              <a:buNone/>
            </a:pPr>
            <a:r>
              <a:rPr lang="en-US" altLang="zh-CN" dirty="0"/>
              <a:t>B: 	</a:t>
            </a:r>
            <a:r>
              <a:rPr lang="en-US" altLang="zh-CN" b="1" dirty="0">
                <a:solidFill>
                  <a:schemeClr val="accent1"/>
                </a:solidFill>
              </a:rPr>
              <a:t>Brazil. / Me too.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pic>
        <p:nvPicPr>
          <p:cNvPr id="50" name="播放按钮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95536" y="1556792"/>
            <a:ext cx="295275" cy="304800"/>
          </a:xfrm>
          <a:prstGeom prst="rect">
            <a:avLst/>
          </a:prstGeom>
        </p:spPr>
      </p:pic>
      <p:pic>
        <p:nvPicPr>
          <p:cNvPr id="54" name="暂停按钮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556792"/>
            <a:ext cx="295275" cy="304800"/>
          </a:xfrm>
          <a:prstGeom prst="rect">
            <a:avLst/>
          </a:prstGeom>
        </p:spPr>
      </p:pic>
      <p:pic>
        <p:nvPicPr>
          <p:cNvPr id="64" name="停止按钮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15616" y="1556792"/>
            <a:ext cx="295275" cy="304800"/>
          </a:xfrm>
          <a:prstGeom prst="rect">
            <a:avLst/>
          </a:prstGeom>
        </p:spPr>
      </p:pic>
      <p:pic>
        <p:nvPicPr>
          <p:cNvPr id="74" name="按钮-External Player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482006" y="1556792"/>
            <a:ext cx="1521337" cy="308000"/>
          </a:xfrm>
          <a:prstGeom prst="rect">
            <a:avLst/>
          </a:prstGeom>
        </p:spPr>
      </p:pic>
      <p:pic>
        <p:nvPicPr>
          <p:cNvPr id="76" name="Track 1-2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link="rId7"/>
              </p:ext>
            </p:extLst>
          </p:nvPr>
        </p:nvPicPr>
        <p:blipFill>
          <a:blip r:embed="rId8" cstate="print"/>
          <a:stretch>
            <a:fillRect/>
          </a:stretch>
        </p:blipFill>
        <p:spPr>
          <a:xfrm>
            <a:off x="3131840" y="1556792"/>
            <a:ext cx="304800" cy="304800"/>
          </a:xfrm>
          <a:prstGeom prst="rect">
            <a:avLst/>
          </a:prstGeom>
        </p:spPr>
      </p:pic>
      <p:pic>
        <p:nvPicPr>
          <p:cNvPr id="78" name="按钮-keywords1"/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23528" y="6237312"/>
            <a:ext cx="1190625" cy="304800"/>
          </a:xfrm>
          <a:prstGeom prst="rect">
            <a:avLst/>
          </a:prstGeom>
        </p:spPr>
      </p:pic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2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2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标题 1"/>
          <p:cNvSpPr txBox="1"/>
          <p:nvPr/>
        </p:nvSpPr>
        <p:spPr>
          <a:xfrm>
            <a:off x="4716016" y="0"/>
            <a:ext cx="1728192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90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Conversation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24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27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 showWhenStopped="0"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6"/>
                </p:tgtEl>
              </p:cMediaNode>
            </p:audio>
          </p:childTnLst>
        </p:cTn>
      </p:par>
    </p:tnLst>
    <p:bldLst>
      <p:bldP spid="4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标题 1"/>
          <p:cNvSpPr txBox="1"/>
          <p:nvPr/>
        </p:nvSpPr>
        <p:spPr>
          <a:xfrm>
            <a:off x="4716016" y="0"/>
            <a:ext cx="1368152" cy="4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txBody>
          <a:bodyPr vert="horz" lIns="90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Listening 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A. New words and expressions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B. Pre-Listening questions    C. Listening exercises    D. Think about it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graphicFrame>
        <p:nvGraphicFramePr>
          <p:cNvPr id="64" name="表格 63"/>
          <p:cNvGraphicFramePr>
            <a:graphicFrameLocks noGrp="1"/>
          </p:cNvGraphicFramePr>
          <p:nvPr/>
        </p:nvGraphicFramePr>
        <p:xfrm>
          <a:off x="285720" y="1871360"/>
          <a:ext cx="8280920" cy="7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6184"/>
                <a:gridCol w="1656184"/>
                <a:gridCol w="1656184"/>
                <a:gridCol w="1656184"/>
                <a:gridCol w="1656184"/>
              </a:tblGrid>
              <a:tr h="370840">
                <a:tc>
                  <a:txBody>
                    <a:bodyPr/>
                    <a:lstStyle/>
                    <a:p>
                      <a:pPr marL="0" indent="355600"/>
                      <a:r>
                        <a:rPr lang="en-US" altLang="zh-CN" sz="2000" dirty="0"/>
                        <a:t>billion 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355600"/>
                      <a:r>
                        <a:rPr lang="en-US" altLang="zh-CN" sz="2000" dirty="0"/>
                        <a:t>cell phone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355600"/>
                      <a:r>
                        <a:rPr lang="en-US" altLang="zh-CN" sz="2000" dirty="0"/>
                        <a:t>centimeter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355600"/>
                      <a:r>
                        <a:rPr lang="en-US" altLang="zh-CN" sz="2000" dirty="0"/>
                        <a:t>different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355600"/>
                      <a:r>
                        <a:rPr lang="en-US" altLang="zh-CN" sz="2000" dirty="0"/>
                        <a:t>foot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355600"/>
                      <a:r>
                        <a:rPr lang="en-US" altLang="zh-CN" sz="2000" dirty="0"/>
                        <a:t>inch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355600"/>
                      <a:r>
                        <a:rPr lang="en-US" altLang="zh-CN" sz="2000" dirty="0"/>
                        <a:t>male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355600"/>
                      <a:r>
                        <a:rPr lang="en-US" altLang="zh-CN" sz="2000" dirty="0"/>
                        <a:t>Mandarin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355600"/>
                      <a:r>
                        <a:rPr lang="en-US" altLang="zh-CN" sz="2000" dirty="0"/>
                        <a:t>similar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355600"/>
                      <a:r>
                        <a:rPr lang="en-US" altLang="zh-CN" sz="2000" dirty="0"/>
                        <a:t>typical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5" name="文本占位符 74"/>
          <p:cNvSpPr>
            <a:spLocks noGrp="1"/>
          </p:cNvSpPr>
          <p:nvPr>
            <p:ph type="body" sz="quarter" idx="13"/>
          </p:nvPr>
        </p:nvSpPr>
        <p:spPr>
          <a:xfrm>
            <a:off x="179512" y="1052538"/>
            <a:ext cx="7056784" cy="720278"/>
          </a:xfrm>
        </p:spPr>
        <p:txBody>
          <a:bodyPr>
            <a:normAutofit/>
          </a:bodyPr>
          <a:lstStyle/>
          <a:p>
            <a:r>
              <a:rPr lang="en-US" altLang="zh-CN" dirty="0"/>
              <a:t>Study the words in the box and choose the right word for each blank.</a:t>
            </a:r>
            <a:endParaRPr lang="zh-CN" altLang="en-US" dirty="0"/>
          </a:p>
        </p:txBody>
      </p:sp>
      <p:sp>
        <p:nvSpPr>
          <p:cNvPr id="76" name="文本占位符 75"/>
          <p:cNvSpPr>
            <a:spLocks noGrp="1"/>
          </p:cNvSpPr>
          <p:nvPr>
            <p:ph type="body" sz="quarter" idx="14"/>
          </p:nvPr>
        </p:nvSpPr>
        <p:spPr>
          <a:xfrm>
            <a:off x="323850" y="2828450"/>
            <a:ext cx="8569325" cy="3600946"/>
          </a:xfrm>
        </p:spPr>
        <p:txBody>
          <a:bodyPr>
            <a:normAutofit/>
          </a:bodyPr>
          <a:lstStyle/>
          <a:p>
            <a:pPr marL="393700" indent="-393700">
              <a:buClr>
                <a:schemeClr val="tx1"/>
              </a:buClr>
              <a:buFont typeface="+mj-lt"/>
              <a:buAutoNum type="arabicPeriod"/>
            </a:pPr>
            <a:r>
              <a:rPr lang="en-US" altLang="zh-CN" u="sng" dirty="0">
                <a:solidFill>
                  <a:schemeClr val="accent1"/>
                </a:solidFill>
              </a:rPr>
              <a:t>Mandarin</a:t>
            </a:r>
            <a:r>
              <a:rPr lang="en-US" altLang="zh-CN" dirty="0"/>
              <a:t> is the official language of Chinese.</a:t>
            </a:r>
            <a:endParaRPr lang="en-US" altLang="zh-CN" dirty="0"/>
          </a:p>
          <a:p>
            <a:pPr marL="393700" indent="-393700">
              <a:buFont typeface="+mj-lt"/>
              <a:buAutoNum type="arabicPeriod"/>
            </a:pPr>
            <a:r>
              <a:rPr lang="en-US" altLang="zh-CN" dirty="0"/>
              <a:t>A(n) </a:t>
            </a:r>
            <a:r>
              <a:rPr lang="en-US" altLang="zh-CN" u="sng" dirty="0">
                <a:solidFill>
                  <a:schemeClr val="accent1"/>
                </a:solidFill>
              </a:rPr>
              <a:t>centimeter</a:t>
            </a:r>
            <a:r>
              <a:rPr lang="en-US" altLang="zh-CN" dirty="0"/>
              <a:t> is a unit of length equal to one-hundredth of a meter.</a:t>
            </a:r>
            <a:endParaRPr lang="en-US" altLang="zh-CN" dirty="0"/>
          </a:p>
          <a:p>
            <a:pPr marL="393700" indent="-393700">
              <a:buFont typeface="+mj-lt"/>
              <a:buAutoNum type="arabicPeriod"/>
            </a:pPr>
            <a:r>
              <a:rPr lang="en-US" altLang="zh-CN" dirty="0"/>
              <a:t>A(n) </a:t>
            </a:r>
            <a:r>
              <a:rPr lang="en-US" altLang="zh-CN" u="sng" dirty="0">
                <a:solidFill>
                  <a:schemeClr val="accent1"/>
                </a:solidFill>
              </a:rPr>
              <a:t>inch</a:t>
            </a:r>
            <a:r>
              <a:rPr lang="en-US" altLang="zh-CN" dirty="0"/>
              <a:t> is 2.54 centimeters.</a:t>
            </a:r>
            <a:endParaRPr lang="en-US" altLang="zh-CN" dirty="0"/>
          </a:p>
          <a:p>
            <a:pPr marL="393700" indent="-393700">
              <a:buFont typeface="+mj-lt"/>
              <a:buAutoNum type="arabicPeriod"/>
            </a:pPr>
            <a:r>
              <a:rPr lang="en-US" altLang="zh-CN" dirty="0"/>
              <a:t>One </a:t>
            </a:r>
            <a:r>
              <a:rPr lang="en-US" altLang="zh-CN" u="sng" dirty="0">
                <a:solidFill>
                  <a:schemeClr val="accent1"/>
                </a:solidFill>
              </a:rPr>
              <a:t>foot</a:t>
            </a:r>
            <a:r>
              <a:rPr lang="en-US" altLang="zh-CN" dirty="0"/>
              <a:t> is 12 inches (about 30 centimeters).</a:t>
            </a:r>
            <a:endParaRPr lang="en-US" altLang="zh-CN" dirty="0"/>
          </a:p>
          <a:p>
            <a:pPr marL="393700" indent="-393700">
              <a:buFont typeface="+mj-lt"/>
              <a:buAutoNum type="arabicPeriod"/>
            </a:pPr>
            <a:r>
              <a:rPr lang="en-US" altLang="zh-CN" dirty="0"/>
              <a:t>A(n) </a:t>
            </a:r>
            <a:r>
              <a:rPr lang="en-US" altLang="zh-CN" u="sng" dirty="0">
                <a:solidFill>
                  <a:schemeClr val="accent1"/>
                </a:solidFill>
              </a:rPr>
              <a:t>billion</a:t>
            </a:r>
            <a:r>
              <a:rPr lang="en-US" altLang="zh-CN" dirty="0"/>
              <a:t> is a thousand million.</a:t>
            </a:r>
            <a:endParaRPr lang="zh-CN" altLang="en-US" dirty="0"/>
          </a:p>
        </p:txBody>
      </p:sp>
      <p:sp>
        <p:nvSpPr>
          <p:cNvPr id="86" name="填空热区-点击消失"/>
          <p:cNvSpPr>
            <a:spLocks noChangeArrowheads="1"/>
          </p:cNvSpPr>
          <p:nvPr/>
        </p:nvSpPr>
        <p:spPr bwMode="auto">
          <a:xfrm>
            <a:off x="795834" y="2906728"/>
            <a:ext cx="1615926" cy="454683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32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87" name="填空热区-点击消失"/>
          <p:cNvSpPr>
            <a:spLocks noChangeArrowheads="1"/>
          </p:cNvSpPr>
          <p:nvPr/>
        </p:nvSpPr>
        <p:spPr bwMode="auto">
          <a:xfrm>
            <a:off x="1518072" y="3429914"/>
            <a:ext cx="1685776" cy="520261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32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88" name="填空热区-点击消失"/>
          <p:cNvSpPr>
            <a:spLocks noChangeArrowheads="1"/>
          </p:cNvSpPr>
          <p:nvPr/>
        </p:nvSpPr>
        <p:spPr bwMode="auto">
          <a:xfrm>
            <a:off x="1505372" y="4503684"/>
            <a:ext cx="691728" cy="520261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32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89" name="填空热区-点击消失"/>
          <p:cNvSpPr>
            <a:spLocks noChangeArrowheads="1"/>
          </p:cNvSpPr>
          <p:nvPr/>
        </p:nvSpPr>
        <p:spPr bwMode="auto">
          <a:xfrm>
            <a:off x="1486704" y="5087750"/>
            <a:ext cx="691728" cy="520261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32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90" name="填空热区-点击消失"/>
          <p:cNvSpPr>
            <a:spLocks noChangeArrowheads="1"/>
          </p:cNvSpPr>
          <p:nvPr/>
        </p:nvSpPr>
        <p:spPr bwMode="auto">
          <a:xfrm>
            <a:off x="1517184" y="5670670"/>
            <a:ext cx="1027896" cy="520261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32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31" name="btn-Part 1">
            <a:hlinkClick r:id="rId1" action="ppaction://hlinksldjump"/>
          </p:cNvPr>
          <p:cNvSpPr/>
          <p:nvPr/>
        </p:nvSpPr>
        <p:spPr>
          <a:xfrm>
            <a:off x="2771800" y="482615"/>
            <a:ext cx="2280846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btn-Part 1">
            <a:hlinkClick r:id="rId2" action="ppaction://hlinksldjump"/>
          </p:cNvPr>
          <p:cNvSpPr/>
          <p:nvPr/>
        </p:nvSpPr>
        <p:spPr>
          <a:xfrm>
            <a:off x="5148064" y="482615"/>
            <a:ext cx="1852828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btn-Part 1">
            <a:hlinkClick r:id="rId3" action="ppaction://hlinksldjump"/>
          </p:cNvPr>
          <p:cNvSpPr/>
          <p:nvPr/>
        </p:nvSpPr>
        <p:spPr>
          <a:xfrm>
            <a:off x="58236" y="528464"/>
            <a:ext cx="2597638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btn-Part 1">
            <a:hlinkClick r:id="rId4" action="ppaction://hlinksldjump"/>
          </p:cNvPr>
          <p:cNvSpPr/>
          <p:nvPr/>
        </p:nvSpPr>
        <p:spPr>
          <a:xfrm>
            <a:off x="7092968" y="476976"/>
            <a:ext cx="1500198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7" name="播放按钮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11616" y="1052736"/>
            <a:ext cx="295275" cy="304800"/>
          </a:xfrm>
          <a:prstGeom prst="rect">
            <a:avLst/>
          </a:prstGeom>
        </p:spPr>
      </p:pic>
      <p:pic>
        <p:nvPicPr>
          <p:cNvPr id="38" name="暂停按钮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371656" y="1052736"/>
            <a:ext cx="295275" cy="304800"/>
          </a:xfrm>
          <a:prstGeom prst="rect">
            <a:avLst/>
          </a:prstGeom>
        </p:spPr>
      </p:pic>
      <p:pic>
        <p:nvPicPr>
          <p:cNvPr id="40" name="停止按钮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731696" y="1052736"/>
            <a:ext cx="295275" cy="304800"/>
          </a:xfrm>
          <a:prstGeom prst="rect">
            <a:avLst/>
          </a:prstGeom>
        </p:spPr>
      </p:pic>
      <p:grpSp>
        <p:nvGrpSpPr>
          <p:cNvPr id="41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4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8" name="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379661" y="1946197"/>
            <a:ext cx="326112" cy="298769"/>
          </a:xfrm>
          <a:prstGeom prst="rect">
            <a:avLst/>
          </a:prstGeom>
        </p:spPr>
      </p:pic>
      <p:pic>
        <p:nvPicPr>
          <p:cNvPr id="49" name="2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2039020" y="1946197"/>
            <a:ext cx="326112" cy="298769"/>
          </a:xfrm>
          <a:prstGeom prst="rect">
            <a:avLst/>
          </a:prstGeom>
        </p:spPr>
      </p:pic>
      <p:pic>
        <p:nvPicPr>
          <p:cNvPr id="52" name="3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3695204" y="1946197"/>
            <a:ext cx="326112" cy="298769"/>
          </a:xfrm>
          <a:prstGeom prst="rect">
            <a:avLst/>
          </a:prstGeom>
        </p:spPr>
      </p:pic>
      <p:pic>
        <p:nvPicPr>
          <p:cNvPr id="53" name="4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5366266" y="1946197"/>
            <a:ext cx="326112" cy="298769"/>
          </a:xfrm>
          <a:prstGeom prst="rect">
            <a:avLst/>
          </a:prstGeom>
        </p:spPr>
      </p:pic>
      <p:pic>
        <p:nvPicPr>
          <p:cNvPr id="54" name="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7013922" y="1946197"/>
            <a:ext cx="326112" cy="298769"/>
          </a:xfrm>
          <a:prstGeom prst="rect">
            <a:avLst/>
          </a:prstGeom>
        </p:spPr>
      </p:pic>
      <p:pic>
        <p:nvPicPr>
          <p:cNvPr id="55" name="6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379661" y="2361003"/>
            <a:ext cx="326112" cy="298769"/>
          </a:xfrm>
          <a:prstGeom prst="rect">
            <a:avLst/>
          </a:prstGeom>
        </p:spPr>
      </p:pic>
      <p:pic>
        <p:nvPicPr>
          <p:cNvPr id="56" name="7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2039020" y="2361003"/>
            <a:ext cx="326112" cy="298769"/>
          </a:xfrm>
          <a:prstGeom prst="rect">
            <a:avLst/>
          </a:prstGeom>
        </p:spPr>
      </p:pic>
      <p:pic>
        <p:nvPicPr>
          <p:cNvPr id="57" name="8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3695204" y="2361003"/>
            <a:ext cx="326112" cy="298769"/>
          </a:xfrm>
          <a:prstGeom prst="rect">
            <a:avLst/>
          </a:prstGeom>
        </p:spPr>
      </p:pic>
      <p:pic>
        <p:nvPicPr>
          <p:cNvPr id="58" name="9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5366266" y="2361003"/>
            <a:ext cx="326112" cy="298769"/>
          </a:xfrm>
          <a:prstGeom prst="rect">
            <a:avLst/>
          </a:prstGeom>
        </p:spPr>
      </p:pic>
      <p:pic>
        <p:nvPicPr>
          <p:cNvPr id="59" name="10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7013922" y="2361003"/>
            <a:ext cx="326112" cy="298769"/>
          </a:xfrm>
          <a:prstGeom prst="rect">
            <a:avLst/>
          </a:prstGeom>
        </p:spPr>
      </p:pic>
      <p:pic>
        <p:nvPicPr>
          <p:cNvPr id="4" name="typical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-1893074" y="1758702"/>
            <a:ext cx="609600" cy="609600"/>
          </a:xfrm>
          <a:prstGeom prst="rect">
            <a:avLst/>
          </a:prstGeom>
        </p:spPr>
      </p:pic>
      <p:pic>
        <p:nvPicPr>
          <p:cNvPr id="5" name="billion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-1800999" y="1850777"/>
            <a:ext cx="609600" cy="609600"/>
          </a:xfrm>
          <a:prstGeom prst="rect">
            <a:avLst/>
          </a:prstGeom>
        </p:spPr>
      </p:pic>
      <p:pic>
        <p:nvPicPr>
          <p:cNvPr id="6" name="cellphone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-1708924" y="1942852"/>
            <a:ext cx="609600" cy="609600"/>
          </a:xfrm>
          <a:prstGeom prst="rect">
            <a:avLst/>
          </a:prstGeom>
        </p:spPr>
      </p:pic>
      <p:pic>
        <p:nvPicPr>
          <p:cNvPr id="7" name="centimeter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-1616849" y="2034927"/>
            <a:ext cx="609600" cy="609600"/>
          </a:xfrm>
          <a:prstGeom prst="rect">
            <a:avLst/>
          </a:prstGeom>
        </p:spPr>
      </p:pic>
      <p:pic>
        <p:nvPicPr>
          <p:cNvPr id="8" name="different">
            <a:hlinkClick r:id="" action="ppaction://media"/>
          </p:cNvPr>
          <p:cNvPicPr>
            <a:picLocks noChangeAspect="1"/>
          </p:cNvPicPr>
          <p:nvPr>
            <a:audioFile r:link="rId18"/>
            <p:extLst>
              <p:ext uri="{DAA4B4D4-6D71-4841-9C94-3DE7FCFB9230}">
                <p14:media xmlns:p14="http://schemas.microsoft.com/office/powerpoint/2010/main" r:embed="rId19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-1524774" y="2127002"/>
            <a:ext cx="609600" cy="609600"/>
          </a:xfrm>
          <a:prstGeom prst="rect">
            <a:avLst/>
          </a:prstGeom>
        </p:spPr>
      </p:pic>
      <p:pic>
        <p:nvPicPr>
          <p:cNvPr id="9" name="foot">
            <a:hlinkClick r:id="" action="ppaction://media"/>
          </p:cNvPr>
          <p:cNvPicPr>
            <a:picLocks noChangeAspect="1"/>
          </p:cNvPicPr>
          <p:nvPr>
            <a:audioFile r:link="rId20"/>
            <p:extLst>
              <p:ext uri="{DAA4B4D4-6D71-4841-9C94-3DE7FCFB9230}">
                <p14:media xmlns:p14="http://schemas.microsoft.com/office/powerpoint/2010/main" r:embed="rId2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-1432699" y="2219077"/>
            <a:ext cx="609600" cy="609600"/>
          </a:xfrm>
          <a:prstGeom prst="rect">
            <a:avLst/>
          </a:prstGeom>
        </p:spPr>
      </p:pic>
      <p:pic>
        <p:nvPicPr>
          <p:cNvPr id="10" name="inch">
            <a:hlinkClick r:id="" action="ppaction://media"/>
          </p:cNvPr>
          <p:cNvPicPr>
            <a:picLocks noChangeAspect="1"/>
          </p:cNvPicPr>
          <p:nvPr>
            <a:audioFile r:link="rId22"/>
            <p:extLst>
              <p:ext uri="{DAA4B4D4-6D71-4841-9C94-3DE7FCFB9230}">
                <p14:media xmlns:p14="http://schemas.microsoft.com/office/powerpoint/2010/main" r:embed="rId2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-1340624" y="2311152"/>
            <a:ext cx="609600" cy="609600"/>
          </a:xfrm>
          <a:prstGeom prst="rect">
            <a:avLst/>
          </a:prstGeom>
        </p:spPr>
      </p:pic>
      <p:pic>
        <p:nvPicPr>
          <p:cNvPr id="11" name="male">
            <a:hlinkClick r:id="" action="ppaction://media"/>
          </p:cNvPr>
          <p:cNvPicPr>
            <a:picLocks noChangeAspect="1"/>
          </p:cNvPicPr>
          <p:nvPr>
            <a:audioFile r:link="rId24"/>
            <p:extLst>
              <p:ext uri="{DAA4B4D4-6D71-4841-9C94-3DE7FCFB9230}">
                <p14:media xmlns:p14="http://schemas.microsoft.com/office/powerpoint/2010/main" r:embed="rId2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-1248549" y="2403227"/>
            <a:ext cx="609600" cy="609600"/>
          </a:xfrm>
          <a:prstGeom prst="rect">
            <a:avLst/>
          </a:prstGeom>
        </p:spPr>
      </p:pic>
      <p:pic>
        <p:nvPicPr>
          <p:cNvPr id="12" name="Mandarin">
            <a:hlinkClick r:id="" action="ppaction://media"/>
          </p:cNvPr>
          <p:cNvPicPr>
            <a:picLocks noChangeAspect="1"/>
          </p:cNvPicPr>
          <p:nvPr>
            <a:audioFile r:link="rId26"/>
            <p:extLst>
              <p:ext uri="{DAA4B4D4-6D71-4841-9C94-3DE7FCFB9230}">
                <p14:media xmlns:p14="http://schemas.microsoft.com/office/powerpoint/2010/main" r:embed="rId27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-1156474" y="2495302"/>
            <a:ext cx="609600" cy="609600"/>
          </a:xfrm>
          <a:prstGeom prst="rect">
            <a:avLst/>
          </a:prstGeom>
        </p:spPr>
      </p:pic>
      <p:pic>
        <p:nvPicPr>
          <p:cNvPr id="13" name="similar">
            <a:hlinkClick r:id="" action="ppaction://media"/>
          </p:cNvPr>
          <p:cNvPicPr>
            <a:picLocks noChangeAspect="1"/>
          </p:cNvPicPr>
          <p:nvPr>
            <a:audioFile r:link="rId28"/>
            <p:extLst>
              <p:ext uri="{DAA4B4D4-6D71-4841-9C94-3DE7FCFB9230}">
                <p14:media xmlns:p14="http://schemas.microsoft.com/office/powerpoint/2010/main" r:embed="rId29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-1064399" y="2587377"/>
            <a:ext cx="609600" cy="609600"/>
          </a:xfrm>
          <a:prstGeom prst="rect">
            <a:avLst/>
          </a:prstGeom>
        </p:spPr>
      </p:pic>
      <p:pic>
        <p:nvPicPr>
          <p:cNvPr id="14" name="words-2">
            <a:hlinkClick r:id="" action="ppaction://media"/>
          </p:cNvPr>
          <p:cNvPicPr>
            <a:picLocks noChangeAspect="1"/>
          </p:cNvPicPr>
          <p:nvPr>
            <a:audioFile r:link="rId30"/>
            <p:extLst>
              <p:ext uri="{DAA4B4D4-6D71-4841-9C94-3DE7FCFB9230}">
                <p14:media xmlns:p14="http://schemas.microsoft.com/office/powerpoint/2010/main" r:embed="rId3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-1286183" y="798265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 vol="8000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86" grpId="0" animBg="1"/>
      <p:bldP spid="87" grpId="0" animBg="1"/>
      <p:bldP spid="88" grpId="0" animBg="1"/>
      <p:bldP spid="89" grpId="0" animBg="1"/>
      <p:bldP spid="9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文本占位符 7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/>
              <a:t>Study the words in the box and choose the right word for each blank.</a:t>
            </a:r>
            <a:endParaRPr lang="zh-CN" altLang="en-US"/>
          </a:p>
        </p:txBody>
      </p:sp>
      <p:sp>
        <p:nvSpPr>
          <p:cNvPr id="76" name="文本占位符 75"/>
          <p:cNvSpPr>
            <a:spLocks noGrp="1"/>
          </p:cNvSpPr>
          <p:nvPr>
            <p:ph type="body" sz="quarter" idx="14"/>
          </p:nvPr>
        </p:nvSpPr>
        <p:spPr>
          <a:xfrm>
            <a:off x="323850" y="2564904"/>
            <a:ext cx="8569325" cy="3600946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altLang="zh-CN" dirty="0"/>
              <a:t>A phone that you can carry with you everywhere is a(n) </a:t>
            </a:r>
            <a:r>
              <a:rPr lang="en-US" altLang="zh-CN" u="sng" dirty="0">
                <a:solidFill>
                  <a:schemeClr val="accent1"/>
                </a:solidFill>
              </a:rPr>
              <a:t>cell phone</a:t>
            </a:r>
            <a:r>
              <a:rPr lang="en-US" altLang="zh-CN" dirty="0"/>
              <a:t>.</a:t>
            </a:r>
            <a:endParaRPr lang="en-US" altLang="zh-CN" dirty="0"/>
          </a:p>
          <a:p>
            <a:pPr marL="514350" indent="-514350">
              <a:buFont typeface="+mj-lt"/>
              <a:buAutoNum type="arabicPeriod" startAt="6"/>
            </a:pPr>
            <a:r>
              <a:rPr lang="en-US" altLang="zh-CN" dirty="0"/>
              <a:t>If someone is a(n) </a:t>
            </a:r>
            <a:r>
              <a:rPr lang="en-US" altLang="zh-CN" u="sng" dirty="0">
                <a:solidFill>
                  <a:schemeClr val="accent1"/>
                </a:solidFill>
              </a:rPr>
              <a:t>typical</a:t>
            </a:r>
            <a:r>
              <a:rPr lang="en-US" altLang="zh-CN" dirty="0"/>
              <a:t> person of a group, he or she is similar to many members in that group.</a:t>
            </a:r>
            <a:endParaRPr lang="en-US" altLang="zh-CN" dirty="0"/>
          </a:p>
          <a:p>
            <a:pPr marL="514350" indent="-514350">
              <a:buFont typeface="+mj-lt"/>
              <a:buAutoNum type="arabicPeriod" startAt="6"/>
            </a:pPr>
            <a:r>
              <a:rPr lang="en-US" altLang="zh-CN" dirty="0"/>
              <a:t>If something is </a:t>
            </a:r>
            <a:r>
              <a:rPr lang="en-US" altLang="zh-CN" u="sng" dirty="0">
                <a:solidFill>
                  <a:schemeClr val="accent1"/>
                </a:solidFill>
              </a:rPr>
              <a:t>similar</a:t>
            </a:r>
            <a:r>
              <a:rPr lang="en-US" altLang="zh-CN" dirty="0"/>
              <a:t> to another, they are nearly the same.</a:t>
            </a:r>
            <a:endParaRPr lang="en-US" altLang="zh-CN" dirty="0"/>
          </a:p>
          <a:p>
            <a:pPr marL="514350" indent="-514350">
              <a:buFont typeface="+mj-lt"/>
              <a:buAutoNum type="arabicPeriod" startAt="6"/>
            </a:pPr>
            <a:r>
              <a:rPr lang="en-US" altLang="zh-CN" dirty="0"/>
              <a:t>Mandarin and English are </a:t>
            </a:r>
            <a:r>
              <a:rPr lang="en-US" altLang="zh-CN" u="sng" dirty="0">
                <a:solidFill>
                  <a:schemeClr val="accent1"/>
                </a:solidFill>
              </a:rPr>
              <a:t>different</a:t>
            </a:r>
            <a:r>
              <a:rPr lang="en-US" altLang="zh-CN" dirty="0"/>
              <a:t> languages.</a:t>
            </a:r>
            <a:endParaRPr lang="en-US" altLang="zh-CN" dirty="0"/>
          </a:p>
          <a:p>
            <a:pPr marL="514350" indent="-514350">
              <a:buFont typeface="+mj-lt"/>
              <a:buAutoNum type="arabicPeriod" startAt="6"/>
            </a:pPr>
            <a:r>
              <a:rPr lang="en-US" altLang="zh-CN" dirty="0"/>
              <a:t>A boy is </a:t>
            </a:r>
            <a:r>
              <a:rPr lang="en-US" altLang="zh-CN" u="sng" dirty="0">
                <a:solidFill>
                  <a:schemeClr val="accent1"/>
                </a:solidFill>
              </a:rPr>
              <a:t>male</a:t>
            </a:r>
            <a:r>
              <a:rPr lang="en-US" altLang="zh-CN" dirty="0"/>
              <a:t> while a girl is female.</a:t>
            </a:r>
            <a:endParaRPr lang="zh-CN" altLang="en-US" dirty="0"/>
          </a:p>
        </p:txBody>
      </p:sp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36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0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8" name="填空热区-点击消失"/>
          <p:cNvSpPr>
            <a:spLocks noChangeArrowheads="1"/>
          </p:cNvSpPr>
          <p:nvPr/>
        </p:nvSpPr>
        <p:spPr bwMode="auto">
          <a:xfrm>
            <a:off x="922070" y="3006090"/>
            <a:ext cx="1435352" cy="34043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30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9" name="填空热区-点击消失"/>
          <p:cNvSpPr>
            <a:spLocks noChangeArrowheads="1"/>
          </p:cNvSpPr>
          <p:nvPr/>
        </p:nvSpPr>
        <p:spPr bwMode="auto">
          <a:xfrm>
            <a:off x="3419872" y="3462908"/>
            <a:ext cx="1030208" cy="34043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30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60" name="填空热区-点击消失"/>
          <p:cNvSpPr>
            <a:spLocks noChangeArrowheads="1"/>
          </p:cNvSpPr>
          <p:nvPr/>
        </p:nvSpPr>
        <p:spPr bwMode="auto">
          <a:xfrm>
            <a:off x="3081928" y="4285476"/>
            <a:ext cx="1086212" cy="34043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30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61" name="填空热区-点击消失"/>
          <p:cNvSpPr>
            <a:spLocks noChangeArrowheads="1"/>
          </p:cNvSpPr>
          <p:nvPr/>
        </p:nvSpPr>
        <p:spPr bwMode="auto">
          <a:xfrm>
            <a:off x="4628768" y="5108044"/>
            <a:ext cx="1352932" cy="34043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30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62" name="填空热区-点击消失"/>
          <p:cNvSpPr>
            <a:spLocks noChangeArrowheads="1"/>
          </p:cNvSpPr>
          <p:nvPr/>
        </p:nvSpPr>
        <p:spPr bwMode="auto">
          <a:xfrm>
            <a:off x="2085628" y="5566380"/>
            <a:ext cx="703292" cy="34043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30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grpSp>
        <p:nvGrpSpPr>
          <p:cNvPr id="38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3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42" name="表格 41"/>
          <p:cNvGraphicFramePr>
            <a:graphicFrameLocks noGrp="1"/>
          </p:cNvGraphicFramePr>
          <p:nvPr/>
        </p:nvGraphicFramePr>
        <p:xfrm>
          <a:off x="285720" y="1618946"/>
          <a:ext cx="8280920" cy="7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6184"/>
                <a:gridCol w="1656184"/>
                <a:gridCol w="1656184"/>
                <a:gridCol w="1656184"/>
                <a:gridCol w="1656184"/>
              </a:tblGrid>
              <a:tr h="370840">
                <a:tc>
                  <a:txBody>
                    <a:bodyPr/>
                    <a:lstStyle/>
                    <a:p>
                      <a:pPr marL="0" indent="355600"/>
                      <a:r>
                        <a:rPr lang="en-US" altLang="zh-CN" sz="2000" dirty="0"/>
                        <a:t>billion 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355600"/>
                      <a:r>
                        <a:rPr lang="en-US" altLang="zh-CN" sz="2000" dirty="0"/>
                        <a:t>cell phone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355600"/>
                      <a:r>
                        <a:rPr lang="en-US" altLang="zh-CN" sz="2000" dirty="0"/>
                        <a:t>centimeter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355600"/>
                      <a:r>
                        <a:rPr lang="en-US" altLang="zh-CN" sz="2000" dirty="0"/>
                        <a:t>different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355600"/>
                      <a:r>
                        <a:rPr lang="en-US" altLang="zh-CN" sz="2000" dirty="0"/>
                        <a:t>foot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355600"/>
                      <a:r>
                        <a:rPr lang="en-US" altLang="zh-CN" sz="2000" dirty="0"/>
                        <a:t>inch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355600"/>
                      <a:r>
                        <a:rPr lang="en-US" altLang="zh-CN" sz="2000" dirty="0"/>
                        <a:t>male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355600"/>
                      <a:r>
                        <a:rPr lang="en-US" altLang="zh-CN" sz="2000" dirty="0"/>
                        <a:t>Mandarin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355600"/>
                      <a:r>
                        <a:rPr lang="en-US" altLang="zh-CN" sz="2000" dirty="0"/>
                        <a:t>similar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355600"/>
                      <a:r>
                        <a:rPr lang="en-US" altLang="zh-CN" sz="2000" dirty="0"/>
                        <a:t>typical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9" name="标题 1"/>
          <p:cNvSpPr txBox="1"/>
          <p:nvPr/>
        </p:nvSpPr>
        <p:spPr>
          <a:xfrm>
            <a:off x="4716016" y="0"/>
            <a:ext cx="1368152" cy="4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txBody>
          <a:bodyPr vert="horz" lIns="90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Listening 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A. New words and expressions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B. Pre-Listening questions    C. Listening exercises    D. Think about it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66" name="btn-Part 1">
            <a:hlinkClick r:id="rId1" action="ppaction://hlinksldjump"/>
          </p:cNvPr>
          <p:cNvSpPr/>
          <p:nvPr/>
        </p:nvSpPr>
        <p:spPr>
          <a:xfrm>
            <a:off x="2771800" y="482615"/>
            <a:ext cx="2280846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btn-Part 1">
            <a:hlinkClick r:id="rId2" action="ppaction://hlinksldjump"/>
          </p:cNvPr>
          <p:cNvSpPr/>
          <p:nvPr/>
        </p:nvSpPr>
        <p:spPr>
          <a:xfrm>
            <a:off x="5148064" y="482615"/>
            <a:ext cx="1852828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btn-Part 1">
            <a:hlinkClick r:id="rId3" action="ppaction://hlinksldjump"/>
          </p:cNvPr>
          <p:cNvSpPr/>
          <p:nvPr/>
        </p:nvSpPr>
        <p:spPr>
          <a:xfrm>
            <a:off x="58236" y="528464"/>
            <a:ext cx="2597638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btn-Part 1">
            <a:hlinkClick r:id="rId4" action="ppaction://hlinksldjump"/>
          </p:cNvPr>
          <p:cNvSpPr/>
          <p:nvPr/>
        </p:nvSpPr>
        <p:spPr>
          <a:xfrm>
            <a:off x="7092968" y="476976"/>
            <a:ext cx="1500198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379661" y="1683217"/>
            <a:ext cx="326112" cy="298769"/>
          </a:xfrm>
          <a:prstGeom prst="rect">
            <a:avLst/>
          </a:prstGeom>
        </p:spPr>
      </p:pic>
      <p:pic>
        <p:nvPicPr>
          <p:cNvPr id="46" name="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2039020" y="1683217"/>
            <a:ext cx="326112" cy="298769"/>
          </a:xfrm>
          <a:prstGeom prst="rect">
            <a:avLst/>
          </a:prstGeom>
        </p:spPr>
      </p:pic>
      <p:pic>
        <p:nvPicPr>
          <p:cNvPr id="47" name="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3695204" y="1683217"/>
            <a:ext cx="326112" cy="298769"/>
          </a:xfrm>
          <a:prstGeom prst="rect">
            <a:avLst/>
          </a:prstGeom>
        </p:spPr>
      </p:pic>
      <p:pic>
        <p:nvPicPr>
          <p:cNvPr id="48" name="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5366266" y="1683217"/>
            <a:ext cx="326112" cy="298769"/>
          </a:xfrm>
          <a:prstGeom prst="rect">
            <a:avLst/>
          </a:prstGeom>
        </p:spPr>
      </p:pic>
      <p:pic>
        <p:nvPicPr>
          <p:cNvPr id="54" name="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7013922" y="1683217"/>
            <a:ext cx="326112" cy="298769"/>
          </a:xfrm>
          <a:prstGeom prst="rect">
            <a:avLst/>
          </a:prstGeom>
        </p:spPr>
      </p:pic>
      <p:pic>
        <p:nvPicPr>
          <p:cNvPr id="70" name="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379661" y="2098023"/>
            <a:ext cx="326112" cy="298769"/>
          </a:xfrm>
          <a:prstGeom prst="rect">
            <a:avLst/>
          </a:prstGeom>
        </p:spPr>
      </p:pic>
      <p:pic>
        <p:nvPicPr>
          <p:cNvPr id="71" name="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2039020" y="2098023"/>
            <a:ext cx="326112" cy="298769"/>
          </a:xfrm>
          <a:prstGeom prst="rect">
            <a:avLst/>
          </a:prstGeom>
        </p:spPr>
      </p:pic>
      <p:pic>
        <p:nvPicPr>
          <p:cNvPr id="72" name="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3695204" y="2098023"/>
            <a:ext cx="326112" cy="298769"/>
          </a:xfrm>
          <a:prstGeom prst="rect">
            <a:avLst/>
          </a:prstGeom>
        </p:spPr>
      </p:pic>
      <p:pic>
        <p:nvPicPr>
          <p:cNvPr id="73" name="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5366266" y="2098023"/>
            <a:ext cx="326112" cy="298769"/>
          </a:xfrm>
          <a:prstGeom prst="rect">
            <a:avLst/>
          </a:prstGeom>
        </p:spPr>
      </p:pic>
      <p:pic>
        <p:nvPicPr>
          <p:cNvPr id="74" name="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523"/>
          <a:stretch>
            <a:fillRect/>
          </a:stretch>
        </p:blipFill>
        <p:spPr>
          <a:xfrm>
            <a:off x="7013922" y="2098023"/>
            <a:ext cx="326112" cy="298769"/>
          </a:xfrm>
          <a:prstGeom prst="rect">
            <a:avLst/>
          </a:prstGeom>
        </p:spPr>
      </p:pic>
      <p:pic>
        <p:nvPicPr>
          <p:cNvPr id="77" name="typical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1893074" y="1495722"/>
            <a:ext cx="609600" cy="609600"/>
          </a:xfrm>
          <a:prstGeom prst="rect">
            <a:avLst/>
          </a:prstGeom>
        </p:spPr>
      </p:pic>
      <p:pic>
        <p:nvPicPr>
          <p:cNvPr id="78" name="billion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1800999" y="1587797"/>
            <a:ext cx="609600" cy="609600"/>
          </a:xfrm>
          <a:prstGeom prst="rect">
            <a:avLst/>
          </a:prstGeom>
        </p:spPr>
      </p:pic>
      <p:pic>
        <p:nvPicPr>
          <p:cNvPr id="79" name="cellphone">
            <a:hlinkClick r:id="" action="ppaction://media"/>
          </p:cNvPr>
          <p:cNvPicPr>
            <a:picLocks noChangeAspect="1"/>
          </p:cNvPicPr>
          <p:nvPr>
            <a:audi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1708924" y="1679872"/>
            <a:ext cx="609600" cy="609600"/>
          </a:xfrm>
          <a:prstGeom prst="rect">
            <a:avLst/>
          </a:prstGeom>
        </p:spPr>
      </p:pic>
      <p:pic>
        <p:nvPicPr>
          <p:cNvPr id="80" name="centimeter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1616849" y="1771947"/>
            <a:ext cx="609600" cy="609600"/>
          </a:xfrm>
          <a:prstGeom prst="rect">
            <a:avLst/>
          </a:prstGeom>
        </p:spPr>
      </p:pic>
      <p:pic>
        <p:nvPicPr>
          <p:cNvPr id="81" name="different">
            <a:hlinkClick r:id="" action="ppaction://media"/>
          </p:cNvPr>
          <p:cNvPicPr>
            <a:picLocks noChangeAspect="1"/>
          </p:cNvPicPr>
          <p:nvPr>
            <a:audioFile r:link="rId15"/>
            <p:extLst>
              <p:ext uri="{DAA4B4D4-6D71-4841-9C94-3DE7FCFB9230}">
                <p14:media xmlns:p14="http://schemas.microsoft.com/office/powerpoint/2010/main" r:embed="rId1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1524774" y="1864022"/>
            <a:ext cx="609600" cy="609600"/>
          </a:xfrm>
          <a:prstGeom prst="rect">
            <a:avLst/>
          </a:prstGeom>
        </p:spPr>
      </p:pic>
      <p:pic>
        <p:nvPicPr>
          <p:cNvPr id="82" name="foot">
            <a:hlinkClick r:id="" action="ppaction://media"/>
          </p:cNvPr>
          <p:cNvPicPr>
            <a:picLocks noChangeAspect="1"/>
          </p:cNvPicPr>
          <p:nvPr>
            <a:audioFile r:link="rId17"/>
            <p:extLst>
              <p:ext uri="{DAA4B4D4-6D71-4841-9C94-3DE7FCFB9230}">
                <p14:media xmlns:p14="http://schemas.microsoft.com/office/powerpoint/2010/main" r:embed="rId18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1432699" y="1956097"/>
            <a:ext cx="609600" cy="609600"/>
          </a:xfrm>
          <a:prstGeom prst="rect">
            <a:avLst/>
          </a:prstGeom>
        </p:spPr>
      </p:pic>
      <p:pic>
        <p:nvPicPr>
          <p:cNvPr id="83" name="inch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1340624" y="2048172"/>
            <a:ext cx="609600" cy="609600"/>
          </a:xfrm>
          <a:prstGeom prst="rect">
            <a:avLst/>
          </a:prstGeom>
        </p:spPr>
      </p:pic>
      <p:pic>
        <p:nvPicPr>
          <p:cNvPr id="84" name="male">
            <a:hlinkClick r:id="" action="ppaction://media"/>
          </p:cNvPr>
          <p:cNvPicPr>
            <a:picLocks noChangeAspect="1"/>
          </p:cNvPicPr>
          <p:nvPr>
            <a:audioFile r:link="rId21"/>
            <p:extLst>
              <p:ext uri="{DAA4B4D4-6D71-4841-9C94-3DE7FCFB9230}">
                <p14:media xmlns:p14="http://schemas.microsoft.com/office/powerpoint/2010/main" r:embed="rId2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1248549" y="2140247"/>
            <a:ext cx="609600" cy="609600"/>
          </a:xfrm>
          <a:prstGeom prst="rect">
            <a:avLst/>
          </a:prstGeom>
        </p:spPr>
      </p:pic>
      <p:pic>
        <p:nvPicPr>
          <p:cNvPr id="85" name="Mandarin">
            <a:hlinkClick r:id="" action="ppaction://media"/>
          </p:cNvPr>
          <p:cNvPicPr>
            <a:picLocks noChangeAspect="1"/>
          </p:cNvPicPr>
          <p:nvPr>
            <a:audioFile r:link="rId23"/>
            <p:extLst>
              <p:ext uri="{DAA4B4D4-6D71-4841-9C94-3DE7FCFB9230}">
                <p14:media xmlns:p14="http://schemas.microsoft.com/office/powerpoint/2010/main" r:embed="rId24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1156474" y="2232322"/>
            <a:ext cx="609600" cy="609600"/>
          </a:xfrm>
          <a:prstGeom prst="rect">
            <a:avLst/>
          </a:prstGeom>
        </p:spPr>
      </p:pic>
      <p:pic>
        <p:nvPicPr>
          <p:cNvPr id="86" name="similar">
            <a:hlinkClick r:id="" action="ppaction://media"/>
          </p:cNvPr>
          <p:cNvPicPr>
            <a:picLocks noChangeAspect="1"/>
          </p:cNvPicPr>
          <p:nvPr>
            <a:audioFile r:link="rId25"/>
            <p:extLst>
              <p:ext uri="{DAA4B4D4-6D71-4841-9C94-3DE7FCFB9230}">
                <p14:media xmlns:p14="http://schemas.microsoft.com/office/powerpoint/2010/main" r:embed="rId2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1064399" y="2324397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7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8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9"/>
                </p:tgtEl>
              </p:cMediaNode>
            </p:audio>
            <p:audio>
              <p:cMediaNode vol="80000">
                <p:cTn id="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0"/>
                </p:tgtEl>
              </p:cMediaNode>
            </p:audio>
            <p:audio>
              <p:cMediaNode vol="8000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1"/>
                </p:tgtEl>
              </p:cMediaNode>
            </p:audio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2"/>
                </p:tgtEl>
              </p:cMediaNode>
            </p:audio>
            <p:audio>
              <p:cMediaNode vol="8000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3"/>
                </p:tgtEl>
              </p:cMediaNode>
            </p:audio>
            <p:audio>
              <p:cMediaNode vol="8000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4"/>
                </p:tgtEl>
              </p:cMediaNode>
            </p:audio>
            <p:audio>
              <p:cMediaNode vol="8000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5"/>
                </p:tgtEl>
              </p:cMediaNode>
            </p:audio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6"/>
                </p:tgtEl>
              </p:cMediaNode>
            </p:audio>
          </p:childTnLst>
        </p:cTn>
      </p:par>
    </p:tnLst>
    <p:bldLst>
      <p:bldP spid="58" grpId="0" animBg="1"/>
      <p:bldP spid="59" grpId="0" animBg="1"/>
      <p:bldP spid="60" grpId="0" animBg="1"/>
      <p:bldP spid="61" grpId="0" animBg="1"/>
      <p:bldP spid="6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323850" y="1124744"/>
            <a:ext cx="6768429" cy="576262"/>
          </a:xfrm>
        </p:spPr>
        <p:txBody>
          <a:bodyPr>
            <a:normAutofit/>
          </a:bodyPr>
          <a:lstStyle/>
          <a:p>
            <a:r>
              <a:rPr lang="en-US" altLang="zh-CN"/>
              <a:t>Discuss the following questions with a partner.</a:t>
            </a:r>
            <a:endParaRPr lang="zh-CN" altLang="zh-CN"/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4"/>
          </p:nvPr>
        </p:nvSpPr>
        <p:spPr>
          <a:xfrm>
            <a:off x="323528" y="1772816"/>
            <a:ext cx="4896221" cy="39609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/>
              <a:t>Where are you from? What is the typical person in your hometown like?</a:t>
            </a:r>
            <a:endParaRPr lang="zh-CN" altLang="en-US" u="sng">
              <a:solidFill>
                <a:schemeClr val="accent1"/>
              </a:solidFill>
            </a:endParaRPr>
          </a:p>
        </p:txBody>
      </p:sp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矩形 31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A. New words and expressions   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B. Pre-Listening questions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  C. Listening exercises    D. Think about it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grpSp>
        <p:nvGrpSpPr>
          <p:cNvPr id="5" name="组合 57"/>
          <p:cNvGrpSpPr/>
          <p:nvPr/>
        </p:nvGrpSpPr>
        <p:grpSpPr>
          <a:xfrm>
            <a:off x="5940152" y="2276872"/>
            <a:ext cx="2736304" cy="3282723"/>
            <a:chOff x="5292725" y="1912938"/>
            <a:chExt cx="4133851" cy="4959350"/>
          </a:xfrm>
          <a:solidFill>
            <a:srgbClr val="CFB0D4"/>
          </a:solidFill>
        </p:grpSpPr>
        <p:sp>
          <p:nvSpPr>
            <p:cNvPr id="1029" name="Oval 5"/>
            <p:cNvSpPr>
              <a:spLocks noChangeArrowheads="1"/>
            </p:cNvSpPr>
            <p:nvPr/>
          </p:nvSpPr>
          <p:spPr bwMode="auto">
            <a:xfrm>
              <a:off x="8137525" y="3127375"/>
              <a:ext cx="703263" cy="701675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0" name="Freeform 6"/>
            <p:cNvSpPr/>
            <p:nvPr/>
          </p:nvSpPr>
          <p:spPr bwMode="auto">
            <a:xfrm>
              <a:off x="8020050" y="4062413"/>
              <a:ext cx="938213" cy="2809875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25" y="0"/>
                </a:cxn>
                <a:cxn ang="0">
                  <a:pos x="0" y="26"/>
                </a:cxn>
                <a:cxn ang="0">
                  <a:pos x="0" y="80"/>
                </a:cxn>
                <a:cxn ang="0">
                  <a:pos x="0" y="96"/>
                </a:cxn>
                <a:cxn ang="0">
                  <a:pos x="0" y="192"/>
                </a:cxn>
                <a:cxn ang="0">
                  <a:pos x="24" y="192"/>
                </a:cxn>
                <a:cxn ang="0">
                  <a:pos x="24" y="96"/>
                </a:cxn>
                <a:cxn ang="0">
                  <a:pos x="40" y="96"/>
                </a:cxn>
                <a:cxn ang="0">
                  <a:pos x="40" y="192"/>
                </a:cxn>
                <a:cxn ang="0">
                  <a:pos x="64" y="192"/>
                </a:cxn>
                <a:cxn ang="0">
                  <a:pos x="64" y="26"/>
                </a:cxn>
                <a:cxn ang="0">
                  <a:pos x="38" y="0"/>
                </a:cxn>
              </a:cxnLst>
              <a:rect l="0" t="0" r="r" b="b"/>
              <a:pathLst>
                <a:path w="64" h="192">
                  <a:moveTo>
                    <a:pt x="38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2"/>
                    <a:pt x="0" y="26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4" y="96"/>
                    <a:pt x="24" y="96"/>
                    <a:pt x="24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0" y="192"/>
                    <a:pt x="40" y="192"/>
                    <a:pt x="40" y="192"/>
                  </a:cubicBezTo>
                  <a:cubicBezTo>
                    <a:pt x="64" y="192"/>
                    <a:pt x="64" y="192"/>
                    <a:pt x="64" y="192"/>
                  </a:cubicBezTo>
                  <a:cubicBezTo>
                    <a:pt x="64" y="26"/>
                    <a:pt x="64" y="26"/>
                    <a:pt x="64" y="26"/>
                  </a:cubicBezTo>
                  <a:cubicBezTo>
                    <a:pt x="64" y="12"/>
                    <a:pt x="52" y="0"/>
                    <a:pt x="38" y="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1" name="Oval 7"/>
            <p:cNvSpPr>
              <a:spLocks noChangeArrowheads="1"/>
            </p:cNvSpPr>
            <p:nvPr/>
          </p:nvSpPr>
          <p:spPr bwMode="auto">
            <a:xfrm>
              <a:off x="7007225" y="3127375"/>
              <a:ext cx="704850" cy="701675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2" name="Freeform 8"/>
            <p:cNvSpPr/>
            <p:nvPr/>
          </p:nvSpPr>
          <p:spPr bwMode="auto">
            <a:xfrm>
              <a:off x="6889750" y="4062413"/>
              <a:ext cx="939800" cy="2809875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26" y="0"/>
                </a:cxn>
                <a:cxn ang="0">
                  <a:pos x="0" y="26"/>
                </a:cxn>
                <a:cxn ang="0">
                  <a:pos x="0" y="80"/>
                </a:cxn>
                <a:cxn ang="0">
                  <a:pos x="0" y="96"/>
                </a:cxn>
                <a:cxn ang="0">
                  <a:pos x="0" y="192"/>
                </a:cxn>
                <a:cxn ang="0">
                  <a:pos x="24" y="192"/>
                </a:cxn>
                <a:cxn ang="0">
                  <a:pos x="24" y="96"/>
                </a:cxn>
                <a:cxn ang="0">
                  <a:pos x="40" y="96"/>
                </a:cxn>
                <a:cxn ang="0">
                  <a:pos x="40" y="192"/>
                </a:cxn>
                <a:cxn ang="0">
                  <a:pos x="64" y="192"/>
                </a:cxn>
                <a:cxn ang="0">
                  <a:pos x="64" y="96"/>
                </a:cxn>
                <a:cxn ang="0">
                  <a:pos x="64" y="80"/>
                </a:cxn>
                <a:cxn ang="0">
                  <a:pos x="64" y="26"/>
                </a:cxn>
                <a:cxn ang="0">
                  <a:pos x="38" y="0"/>
                </a:cxn>
              </a:cxnLst>
              <a:rect l="0" t="0" r="r" b="b"/>
              <a:pathLst>
                <a:path w="64" h="192">
                  <a:moveTo>
                    <a:pt x="38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4" y="96"/>
                    <a:pt x="24" y="96"/>
                    <a:pt x="24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0" y="192"/>
                    <a:pt x="40" y="192"/>
                    <a:pt x="40" y="192"/>
                  </a:cubicBezTo>
                  <a:cubicBezTo>
                    <a:pt x="64" y="192"/>
                    <a:pt x="64" y="192"/>
                    <a:pt x="64" y="192"/>
                  </a:cubicBezTo>
                  <a:cubicBezTo>
                    <a:pt x="64" y="96"/>
                    <a:pt x="64" y="96"/>
                    <a:pt x="64" y="96"/>
                  </a:cubicBezTo>
                  <a:cubicBezTo>
                    <a:pt x="64" y="80"/>
                    <a:pt x="64" y="80"/>
                    <a:pt x="64" y="80"/>
                  </a:cubicBezTo>
                  <a:cubicBezTo>
                    <a:pt x="64" y="26"/>
                    <a:pt x="64" y="26"/>
                    <a:pt x="64" y="26"/>
                  </a:cubicBezTo>
                  <a:cubicBezTo>
                    <a:pt x="64" y="12"/>
                    <a:pt x="53" y="0"/>
                    <a:pt x="38" y="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878513" y="3127375"/>
              <a:ext cx="704850" cy="701675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4" name="Freeform 10"/>
            <p:cNvSpPr/>
            <p:nvPr/>
          </p:nvSpPr>
          <p:spPr bwMode="auto">
            <a:xfrm>
              <a:off x="5761038" y="4062413"/>
              <a:ext cx="938213" cy="2809875"/>
            </a:xfrm>
            <a:custGeom>
              <a:avLst/>
              <a:gdLst/>
              <a:ahLst/>
              <a:cxnLst>
                <a:cxn ang="0">
                  <a:pos x="39" y="0"/>
                </a:cxn>
                <a:cxn ang="0">
                  <a:pos x="26" y="0"/>
                </a:cxn>
                <a:cxn ang="0">
                  <a:pos x="0" y="26"/>
                </a:cxn>
                <a:cxn ang="0">
                  <a:pos x="0" y="80"/>
                </a:cxn>
                <a:cxn ang="0">
                  <a:pos x="0" y="96"/>
                </a:cxn>
                <a:cxn ang="0">
                  <a:pos x="0" y="192"/>
                </a:cxn>
                <a:cxn ang="0">
                  <a:pos x="24" y="192"/>
                </a:cxn>
                <a:cxn ang="0">
                  <a:pos x="24" y="96"/>
                </a:cxn>
                <a:cxn ang="0">
                  <a:pos x="40" y="96"/>
                </a:cxn>
                <a:cxn ang="0">
                  <a:pos x="40" y="192"/>
                </a:cxn>
                <a:cxn ang="0">
                  <a:pos x="64" y="192"/>
                </a:cxn>
                <a:cxn ang="0">
                  <a:pos x="64" y="96"/>
                </a:cxn>
                <a:cxn ang="0">
                  <a:pos x="64" y="80"/>
                </a:cxn>
                <a:cxn ang="0">
                  <a:pos x="64" y="26"/>
                </a:cxn>
                <a:cxn ang="0">
                  <a:pos x="39" y="0"/>
                </a:cxn>
              </a:cxnLst>
              <a:rect l="0" t="0" r="r" b="b"/>
              <a:pathLst>
                <a:path w="64" h="192">
                  <a:moveTo>
                    <a:pt x="3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24" y="96"/>
                    <a:pt x="24" y="96"/>
                    <a:pt x="24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0" y="192"/>
                    <a:pt x="40" y="192"/>
                    <a:pt x="40" y="192"/>
                  </a:cubicBezTo>
                  <a:cubicBezTo>
                    <a:pt x="64" y="192"/>
                    <a:pt x="64" y="192"/>
                    <a:pt x="64" y="192"/>
                  </a:cubicBezTo>
                  <a:cubicBezTo>
                    <a:pt x="64" y="96"/>
                    <a:pt x="64" y="96"/>
                    <a:pt x="64" y="96"/>
                  </a:cubicBezTo>
                  <a:cubicBezTo>
                    <a:pt x="64" y="80"/>
                    <a:pt x="64" y="80"/>
                    <a:pt x="64" y="80"/>
                  </a:cubicBezTo>
                  <a:cubicBezTo>
                    <a:pt x="64" y="26"/>
                    <a:pt x="64" y="26"/>
                    <a:pt x="64" y="26"/>
                  </a:cubicBezTo>
                  <a:cubicBezTo>
                    <a:pt x="64" y="12"/>
                    <a:pt x="53" y="0"/>
                    <a:pt x="39" y="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5" name="Freeform 11"/>
            <p:cNvSpPr/>
            <p:nvPr/>
          </p:nvSpPr>
          <p:spPr bwMode="auto">
            <a:xfrm>
              <a:off x="8386763" y="1912938"/>
              <a:ext cx="1039813" cy="936625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13" y="0"/>
                </a:cxn>
                <a:cxn ang="0">
                  <a:pos x="0" y="13"/>
                </a:cxn>
                <a:cxn ang="0">
                  <a:pos x="0" y="32"/>
                </a:cxn>
                <a:cxn ang="0">
                  <a:pos x="13" y="45"/>
                </a:cxn>
                <a:cxn ang="0">
                  <a:pos x="20" y="45"/>
                </a:cxn>
                <a:cxn ang="0">
                  <a:pos x="20" y="64"/>
                </a:cxn>
                <a:cxn ang="0">
                  <a:pos x="39" y="45"/>
                </a:cxn>
                <a:cxn ang="0">
                  <a:pos x="58" y="45"/>
                </a:cxn>
                <a:cxn ang="0">
                  <a:pos x="71" y="32"/>
                </a:cxn>
                <a:cxn ang="0">
                  <a:pos x="71" y="13"/>
                </a:cxn>
                <a:cxn ang="0">
                  <a:pos x="58" y="0"/>
                </a:cxn>
              </a:cxnLst>
              <a:rect l="0" t="0" r="r" b="b"/>
              <a:pathLst>
                <a:path w="71" h="64">
                  <a:moveTo>
                    <a:pt x="58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9"/>
                    <a:pt x="6" y="45"/>
                    <a:pt x="13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58" y="45"/>
                    <a:pt x="58" y="45"/>
                    <a:pt x="58" y="45"/>
                  </a:cubicBezTo>
                  <a:cubicBezTo>
                    <a:pt x="65" y="45"/>
                    <a:pt x="71" y="39"/>
                    <a:pt x="71" y="32"/>
                  </a:cubicBezTo>
                  <a:cubicBezTo>
                    <a:pt x="71" y="13"/>
                    <a:pt x="71" y="13"/>
                    <a:pt x="71" y="13"/>
                  </a:cubicBezTo>
                  <a:cubicBezTo>
                    <a:pt x="71" y="6"/>
                    <a:pt x="65" y="0"/>
                    <a:pt x="58" y="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6" name="Freeform 12"/>
            <p:cNvSpPr/>
            <p:nvPr/>
          </p:nvSpPr>
          <p:spPr bwMode="auto">
            <a:xfrm>
              <a:off x="6846888" y="1912938"/>
              <a:ext cx="1025525" cy="936625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13" y="0"/>
                </a:cxn>
                <a:cxn ang="0">
                  <a:pos x="0" y="13"/>
                </a:cxn>
                <a:cxn ang="0">
                  <a:pos x="0" y="32"/>
                </a:cxn>
                <a:cxn ang="0">
                  <a:pos x="13" y="45"/>
                </a:cxn>
                <a:cxn ang="0">
                  <a:pos x="25" y="45"/>
                </a:cxn>
                <a:cxn ang="0">
                  <a:pos x="35" y="64"/>
                </a:cxn>
                <a:cxn ang="0">
                  <a:pos x="45" y="45"/>
                </a:cxn>
                <a:cxn ang="0">
                  <a:pos x="57" y="45"/>
                </a:cxn>
                <a:cxn ang="0">
                  <a:pos x="70" y="32"/>
                </a:cxn>
                <a:cxn ang="0">
                  <a:pos x="70" y="13"/>
                </a:cxn>
                <a:cxn ang="0">
                  <a:pos x="57" y="0"/>
                </a:cxn>
              </a:cxnLst>
              <a:rect l="0" t="0" r="r" b="b"/>
              <a:pathLst>
                <a:path w="70" h="64">
                  <a:moveTo>
                    <a:pt x="57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9"/>
                    <a:pt x="6" y="45"/>
                    <a:pt x="13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64" y="45"/>
                    <a:pt x="70" y="39"/>
                    <a:pt x="70" y="32"/>
                  </a:cubicBezTo>
                  <a:cubicBezTo>
                    <a:pt x="70" y="13"/>
                    <a:pt x="70" y="13"/>
                    <a:pt x="70" y="13"/>
                  </a:cubicBezTo>
                  <a:cubicBezTo>
                    <a:pt x="70" y="6"/>
                    <a:pt x="64" y="0"/>
                    <a:pt x="57" y="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7" name="Freeform 13"/>
            <p:cNvSpPr/>
            <p:nvPr/>
          </p:nvSpPr>
          <p:spPr bwMode="auto">
            <a:xfrm>
              <a:off x="5292725" y="1912938"/>
              <a:ext cx="1041400" cy="936625"/>
            </a:xfrm>
            <a:custGeom>
              <a:avLst/>
              <a:gdLst/>
              <a:ahLst/>
              <a:cxnLst>
                <a:cxn ang="0">
                  <a:pos x="51" y="64"/>
                </a:cxn>
                <a:cxn ang="0">
                  <a:pos x="51" y="45"/>
                </a:cxn>
                <a:cxn ang="0">
                  <a:pos x="58" y="45"/>
                </a:cxn>
                <a:cxn ang="0">
                  <a:pos x="71" y="32"/>
                </a:cxn>
                <a:cxn ang="0">
                  <a:pos x="71" y="13"/>
                </a:cxn>
                <a:cxn ang="0">
                  <a:pos x="58" y="0"/>
                </a:cxn>
                <a:cxn ang="0">
                  <a:pos x="13" y="0"/>
                </a:cxn>
                <a:cxn ang="0">
                  <a:pos x="0" y="13"/>
                </a:cxn>
                <a:cxn ang="0">
                  <a:pos x="0" y="32"/>
                </a:cxn>
                <a:cxn ang="0">
                  <a:pos x="13" y="45"/>
                </a:cxn>
                <a:cxn ang="0">
                  <a:pos x="32" y="45"/>
                </a:cxn>
                <a:cxn ang="0">
                  <a:pos x="51" y="64"/>
                </a:cxn>
              </a:cxnLst>
              <a:rect l="0" t="0" r="r" b="b"/>
              <a:pathLst>
                <a:path w="71" h="64">
                  <a:moveTo>
                    <a:pt x="51" y="64"/>
                  </a:moveTo>
                  <a:cubicBezTo>
                    <a:pt x="51" y="45"/>
                    <a:pt x="51" y="45"/>
                    <a:pt x="51" y="45"/>
                  </a:cubicBezTo>
                  <a:cubicBezTo>
                    <a:pt x="58" y="45"/>
                    <a:pt x="58" y="45"/>
                    <a:pt x="58" y="45"/>
                  </a:cubicBezTo>
                  <a:cubicBezTo>
                    <a:pt x="65" y="45"/>
                    <a:pt x="71" y="39"/>
                    <a:pt x="71" y="32"/>
                  </a:cubicBezTo>
                  <a:cubicBezTo>
                    <a:pt x="71" y="13"/>
                    <a:pt x="71" y="13"/>
                    <a:pt x="71" y="13"/>
                  </a:cubicBezTo>
                  <a:cubicBezTo>
                    <a:pt x="71" y="6"/>
                    <a:pt x="65" y="0"/>
                    <a:pt x="58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9"/>
                    <a:pt x="6" y="45"/>
                    <a:pt x="13" y="45"/>
                  </a:cubicBezTo>
                  <a:cubicBezTo>
                    <a:pt x="32" y="45"/>
                    <a:pt x="32" y="45"/>
                    <a:pt x="32" y="45"/>
                  </a:cubicBezTo>
                  <a:lnTo>
                    <a:pt x="51" y="6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4716016" y="0"/>
            <a:ext cx="1368152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90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Listening 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30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31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" name="btn-Part 1">
            <a:hlinkClick r:id="rId1" action="ppaction://hlinksldjump"/>
          </p:cNvPr>
          <p:cNvSpPr/>
          <p:nvPr/>
        </p:nvSpPr>
        <p:spPr>
          <a:xfrm>
            <a:off x="5148064" y="482615"/>
            <a:ext cx="196850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btn-Part 1">
            <a:hlinkClick r:id="rId2" action="ppaction://hlinksldjump"/>
          </p:cNvPr>
          <p:cNvSpPr/>
          <p:nvPr/>
        </p:nvSpPr>
        <p:spPr>
          <a:xfrm>
            <a:off x="63500" y="482615"/>
            <a:ext cx="2597638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btn-Part 1">
            <a:hlinkClick r:id="rId3" action="ppaction://hlinksldjump"/>
          </p:cNvPr>
          <p:cNvSpPr/>
          <p:nvPr/>
        </p:nvSpPr>
        <p:spPr>
          <a:xfrm>
            <a:off x="7164288" y="482615"/>
            <a:ext cx="1680468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btn-Part 1">
            <a:hlinkClick r:id="rId4" action="ppaction://hlinksldjump"/>
          </p:cNvPr>
          <p:cNvSpPr/>
          <p:nvPr/>
        </p:nvSpPr>
        <p:spPr>
          <a:xfrm>
            <a:off x="2771800" y="528464"/>
            <a:ext cx="2280846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323850" y="1124744"/>
            <a:ext cx="8568630" cy="864096"/>
          </a:xfrm>
        </p:spPr>
        <p:txBody>
          <a:bodyPr>
            <a:normAutofit/>
          </a:bodyPr>
          <a:lstStyle/>
          <a:p>
            <a:r>
              <a:rPr lang="en-US" altLang="zh-CN" b="1"/>
              <a:t>Exercise 1: Listening for gist.</a:t>
            </a:r>
            <a:r>
              <a:rPr lang="en-US" altLang="zh-CN"/>
              <a:t> Listen to the recording once and answer the following questions.</a:t>
            </a:r>
            <a:endParaRPr lang="zh-CN" altLang="zh-CN"/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4"/>
          </p:nvPr>
        </p:nvSpPr>
        <p:spPr>
          <a:xfrm>
            <a:off x="323528" y="2348880"/>
            <a:ext cx="8424936" cy="24482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2800" dirty="0"/>
              <a:t>What is the man talking about?</a:t>
            </a:r>
            <a:br>
              <a:rPr lang="en-US" altLang="zh-CN" sz="2800" dirty="0"/>
            </a:br>
            <a:r>
              <a:rPr lang="en-US" altLang="zh-CN" sz="2800" u="sng" dirty="0">
                <a:solidFill>
                  <a:schemeClr val="accent1"/>
                </a:solidFill>
              </a:rPr>
              <a:t>He is talking about the typical person on Earth.</a:t>
            </a:r>
            <a:endParaRPr lang="en-US" altLang="zh-CN" sz="2800" u="sng" dirty="0">
              <a:solidFill>
                <a:schemeClr val="accent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/>
              <a:t>Who is the world’s most typical person? Circle the photo (a to d).</a:t>
            </a:r>
            <a:endParaRPr lang="zh-CN" altLang="en-US" sz="2800" u="sng" dirty="0">
              <a:solidFill>
                <a:schemeClr val="accent1"/>
              </a:solidFill>
            </a:endParaRPr>
          </a:p>
        </p:txBody>
      </p:sp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矩形 31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A. New words and expressions    B. Pre-Listening questions   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C. Listening exercises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D. Think about it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pic>
        <p:nvPicPr>
          <p:cNvPr id="33" name="播放按钮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95536" y="1943497"/>
            <a:ext cx="295275" cy="304800"/>
          </a:xfrm>
          <a:prstGeom prst="rect">
            <a:avLst/>
          </a:prstGeom>
        </p:spPr>
      </p:pic>
      <p:pic>
        <p:nvPicPr>
          <p:cNvPr id="34" name="暂停按钮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43497"/>
            <a:ext cx="295275" cy="304800"/>
          </a:xfrm>
          <a:prstGeom prst="rect">
            <a:avLst/>
          </a:prstGeom>
        </p:spPr>
      </p:pic>
      <p:pic>
        <p:nvPicPr>
          <p:cNvPr id="36" name="停止按钮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15616" y="1943497"/>
            <a:ext cx="295275" cy="304800"/>
          </a:xfrm>
          <a:prstGeom prst="rect">
            <a:avLst/>
          </a:prstGeom>
        </p:spPr>
      </p:pic>
      <p:pic>
        <p:nvPicPr>
          <p:cNvPr id="37" name="按钮-External Player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482006" y="1943497"/>
            <a:ext cx="1521337" cy="308000"/>
          </a:xfrm>
          <a:prstGeom prst="rect">
            <a:avLst/>
          </a:prstGeom>
        </p:spPr>
      </p:pic>
      <p:sp>
        <p:nvSpPr>
          <p:cNvPr id="40" name="填空热区-点击消失"/>
          <p:cNvSpPr>
            <a:spLocks noChangeArrowheads="1"/>
          </p:cNvSpPr>
          <p:nvPr/>
        </p:nvSpPr>
        <p:spPr bwMode="auto">
          <a:xfrm>
            <a:off x="922958" y="2891036"/>
            <a:ext cx="6182692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grpSp>
        <p:nvGrpSpPr>
          <p:cNvPr id="5" name="组合 60"/>
          <p:cNvGrpSpPr/>
          <p:nvPr/>
        </p:nvGrpSpPr>
        <p:grpSpPr>
          <a:xfrm>
            <a:off x="467544" y="4293096"/>
            <a:ext cx="8064627" cy="2016224"/>
            <a:chOff x="467544" y="4293096"/>
            <a:chExt cx="8064627" cy="2016224"/>
          </a:xfrm>
        </p:grpSpPr>
        <p:pic>
          <p:nvPicPr>
            <p:cNvPr id="2050" name="Picture 2" descr="E:\lab\全新版进阶视听说\PPT\working\U1-P3-1-1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67544" y="4293096"/>
              <a:ext cx="2016224" cy="2016224"/>
            </a:xfrm>
            <a:prstGeom prst="rect">
              <a:avLst/>
            </a:prstGeom>
            <a:noFill/>
          </p:spPr>
        </p:pic>
        <p:pic>
          <p:nvPicPr>
            <p:cNvPr id="2051" name="Picture 3" descr="E:\lab\全新版进阶视听说\PPT\working\U1-P3-1-3.jp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501543" y="4293096"/>
              <a:ext cx="2016224" cy="2016224"/>
            </a:xfrm>
            <a:prstGeom prst="rect">
              <a:avLst/>
            </a:prstGeom>
            <a:noFill/>
          </p:spPr>
        </p:pic>
        <p:pic>
          <p:nvPicPr>
            <p:cNvPr id="2052" name="Picture 4" descr="E:\lab\全新版进阶视听说\PPT\working\U1-P3-1-4.jpg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6515947" y="4293096"/>
              <a:ext cx="2016224" cy="2016224"/>
            </a:xfrm>
            <a:prstGeom prst="rect">
              <a:avLst/>
            </a:prstGeom>
            <a:noFill/>
          </p:spPr>
        </p:pic>
        <p:pic>
          <p:nvPicPr>
            <p:cNvPr id="2053" name="Picture 5" descr="E:\lab\全新版进阶视听说\PPT\working\U1-P3-1-2.jpg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2476837" y="4293096"/>
              <a:ext cx="2016224" cy="2016224"/>
            </a:xfrm>
            <a:prstGeom prst="rect">
              <a:avLst/>
            </a:prstGeom>
            <a:noFill/>
          </p:spPr>
        </p:pic>
        <p:sp>
          <p:nvSpPr>
            <p:cNvPr id="54" name="矩形 53"/>
            <p:cNvSpPr/>
            <p:nvPr/>
          </p:nvSpPr>
          <p:spPr>
            <a:xfrm>
              <a:off x="467544" y="5949280"/>
              <a:ext cx="360040" cy="3600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 fontScale="85000" lnSpcReduction="20000"/>
            </a:bodyPr>
            <a:lstStyle/>
            <a:p>
              <a:pPr algn="ctr"/>
              <a:r>
                <a:rPr lang="en-US" altLang="zh-CN" sz="3200" b="1">
                  <a:solidFill>
                    <a:schemeClr val="tx1"/>
                  </a:solidFill>
                </a:rPr>
                <a:t>a</a:t>
              </a:r>
              <a:endParaRPr lang="zh-CN" altLang="en-US" sz="3200" b="1">
                <a:solidFill>
                  <a:schemeClr val="tx1"/>
                </a:solidFill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2476148" y="5949280"/>
              <a:ext cx="360040" cy="3600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 fontScale="85000" lnSpcReduction="20000"/>
            </a:bodyPr>
            <a:lstStyle/>
            <a:p>
              <a:pPr algn="ctr"/>
              <a:r>
                <a:rPr lang="en-US" altLang="zh-CN" sz="3200" b="1">
                  <a:solidFill>
                    <a:schemeClr val="tx1"/>
                  </a:solidFill>
                </a:rPr>
                <a:t>b</a:t>
              </a:r>
              <a:endParaRPr lang="zh-CN" altLang="en-US" sz="3200" b="1">
                <a:solidFill>
                  <a:schemeClr val="tx1"/>
                </a:solidFill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4499992" y="5949280"/>
              <a:ext cx="360040" cy="3600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 fontScale="85000" lnSpcReduction="20000"/>
            </a:bodyPr>
            <a:lstStyle/>
            <a:p>
              <a:pPr algn="ctr"/>
              <a:r>
                <a:rPr lang="en-US" altLang="zh-CN" sz="3200" b="1">
                  <a:solidFill>
                    <a:schemeClr val="tx1"/>
                  </a:solidFill>
                </a:rPr>
                <a:t>c</a:t>
              </a:r>
              <a:endParaRPr lang="zh-CN" altLang="en-US" sz="3200" b="1">
                <a:solidFill>
                  <a:schemeClr val="tx1"/>
                </a:solidFill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6516216" y="5949280"/>
              <a:ext cx="360040" cy="3600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rmAutofit fontScale="85000" lnSpcReduction="20000"/>
            </a:bodyPr>
            <a:lstStyle/>
            <a:p>
              <a:pPr algn="ctr"/>
              <a:r>
                <a:rPr lang="en-US" altLang="zh-CN" sz="3200" b="1">
                  <a:solidFill>
                    <a:schemeClr val="tx1"/>
                  </a:solidFill>
                </a:rPr>
                <a:t>d</a:t>
              </a:r>
              <a:endParaRPr lang="zh-CN" altLang="en-US" sz="3200" b="1">
                <a:solidFill>
                  <a:schemeClr val="tx1"/>
                </a:solidFill>
              </a:endParaRPr>
            </a:p>
          </p:txBody>
        </p:sp>
      </p:grpSp>
      <p:sp>
        <p:nvSpPr>
          <p:cNvPr id="62" name="同心圆 61"/>
          <p:cNvSpPr/>
          <p:nvPr/>
        </p:nvSpPr>
        <p:spPr>
          <a:xfrm>
            <a:off x="6343172" y="5776236"/>
            <a:ext cx="710258" cy="710258"/>
          </a:xfrm>
          <a:prstGeom prst="donut">
            <a:avLst>
              <a:gd name="adj" fmla="val 11413"/>
            </a:avLst>
          </a:prstGeom>
          <a:noFill/>
          <a:ln w="127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1" name="按钮-Script">
            <a:hlinkClick r:id="rId10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11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59832" y="1938509"/>
            <a:ext cx="904875" cy="333375"/>
          </a:xfrm>
          <a:prstGeom prst="rect">
            <a:avLst/>
          </a:prstGeom>
        </p:spPr>
      </p:pic>
      <p:sp>
        <p:nvSpPr>
          <p:cNvPr id="52" name="标题 1"/>
          <p:cNvSpPr txBox="1"/>
          <p:nvPr/>
        </p:nvSpPr>
        <p:spPr>
          <a:xfrm>
            <a:off x="4716016" y="0"/>
            <a:ext cx="1368152" cy="4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txBody>
          <a:bodyPr vert="horz" lIns="90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Listening 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53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55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btn-Part 1">
            <a:hlinkClick r:id="rId12" action="ppaction://hlinksldjump"/>
          </p:cNvPr>
          <p:cNvSpPr/>
          <p:nvPr/>
        </p:nvSpPr>
        <p:spPr>
          <a:xfrm>
            <a:off x="2771800" y="482615"/>
            <a:ext cx="2280846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btn-Part 1">
            <a:hlinkClick r:id="rId13" action="ppaction://hlinksldjump"/>
          </p:cNvPr>
          <p:cNvSpPr/>
          <p:nvPr/>
        </p:nvSpPr>
        <p:spPr>
          <a:xfrm>
            <a:off x="63500" y="482615"/>
            <a:ext cx="2597638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btn-Part 1">
            <a:hlinkClick r:id="rId14" action="ppaction://hlinksldjump"/>
          </p:cNvPr>
          <p:cNvSpPr/>
          <p:nvPr/>
        </p:nvSpPr>
        <p:spPr>
          <a:xfrm>
            <a:off x="7164288" y="482615"/>
            <a:ext cx="1479678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btn-Part 1">
            <a:hlinkClick r:id="rId15" action="ppaction://hlinksldjump"/>
          </p:cNvPr>
          <p:cNvSpPr/>
          <p:nvPr/>
        </p:nvSpPr>
        <p:spPr>
          <a:xfrm>
            <a:off x="5148064" y="476672"/>
            <a:ext cx="1852828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Track 1-3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-1017313" y="1739280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40" grpId="0" animBg="1"/>
      <p:bldP spid="6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323850" y="1124744"/>
            <a:ext cx="8568630" cy="864096"/>
          </a:xfrm>
        </p:spPr>
        <p:txBody>
          <a:bodyPr>
            <a:normAutofit/>
          </a:bodyPr>
          <a:lstStyle/>
          <a:p>
            <a:r>
              <a:rPr lang="en-US" altLang="zh-CN" b="1"/>
              <a:t>Exercise 2. Listening for details.</a:t>
            </a:r>
            <a:r>
              <a:rPr lang="en-US" altLang="zh-CN"/>
              <a:t> </a:t>
            </a:r>
            <a:br>
              <a:rPr lang="en-US" altLang="zh-CN"/>
            </a:br>
            <a:r>
              <a:rPr lang="en-US" altLang="zh-CN"/>
              <a:t>1. Listen to the passage again and answer the questions. Write the correct numbers.</a:t>
            </a:r>
            <a:endParaRPr lang="en-US" altLang="zh-CN"/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4"/>
          </p:nvPr>
        </p:nvSpPr>
        <p:spPr>
          <a:xfrm>
            <a:off x="323528" y="2348880"/>
            <a:ext cx="8424936" cy="403244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2800" dirty="0"/>
              <a:t>How many people are there on Earth? </a:t>
            </a:r>
            <a:r>
              <a:rPr lang="en-US" sz="2800" dirty="0"/>
              <a:t>Over </a:t>
            </a:r>
            <a:r>
              <a:rPr lang="en-US" altLang="zh-CN" sz="2800" u="sng" dirty="0">
                <a:solidFill>
                  <a:schemeClr val="accent1"/>
                </a:solidFill>
              </a:rPr>
              <a:t>7,000,000,000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/>
              <a:t>How many countries are there on Earth? </a:t>
            </a:r>
            <a:r>
              <a:rPr lang="en-US" altLang="zh-CN" sz="2800" u="sng" dirty="0">
                <a:solidFill>
                  <a:schemeClr val="accent1"/>
                </a:solidFill>
              </a:rPr>
              <a:t>195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/>
              <a:t>How many languages are there in the world?</a:t>
            </a:r>
            <a:r>
              <a:rPr lang="en-US" sz="2800" dirty="0"/>
              <a:t> Over</a:t>
            </a:r>
            <a:r>
              <a:rPr lang="en-US" altLang="zh-CN" sz="2800" dirty="0"/>
              <a:t> </a:t>
            </a:r>
            <a:r>
              <a:rPr lang="en-US" altLang="zh-CN" sz="2800" u="sng" dirty="0">
                <a:solidFill>
                  <a:schemeClr val="accent1"/>
                </a:solidFill>
              </a:rPr>
              <a:t>7,000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/>
              <a:t>How many typical people are there on Earth?                       </a:t>
            </a:r>
            <a:r>
              <a:rPr lang="en-US" sz="2800" dirty="0"/>
              <a:t> Over</a:t>
            </a:r>
            <a:r>
              <a:rPr lang="en-US" altLang="zh-CN" sz="2800" dirty="0"/>
              <a:t> </a:t>
            </a:r>
            <a:r>
              <a:rPr lang="en-US" altLang="zh-CN" sz="2800" u="sng" dirty="0">
                <a:solidFill>
                  <a:schemeClr val="accent1"/>
                </a:solidFill>
              </a:rPr>
              <a:t>9,000,000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sz="2800" dirty="0"/>
              <a:t>How many Chinese speakers are there on Earth?                        </a:t>
            </a:r>
            <a:r>
              <a:rPr lang="en-US" sz="2800" dirty="0"/>
              <a:t>More than </a:t>
            </a:r>
            <a:r>
              <a:rPr lang="en-US" altLang="zh-CN" sz="2800" u="sng" dirty="0">
                <a:solidFill>
                  <a:schemeClr val="accent1"/>
                </a:solidFill>
              </a:rPr>
              <a:t>900,000,000</a:t>
            </a:r>
            <a:r>
              <a:rPr lang="en-US" altLang="zh-CN" sz="2800" dirty="0"/>
              <a:t>.</a:t>
            </a:r>
            <a:endParaRPr lang="zh-CN" altLang="en-US" sz="2800" u="sng" dirty="0">
              <a:solidFill>
                <a:schemeClr val="accent1"/>
              </a:solidFill>
            </a:endParaRPr>
          </a:p>
        </p:txBody>
      </p:sp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3" name="播放按钮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95536" y="1876477"/>
            <a:ext cx="295275" cy="304800"/>
          </a:xfrm>
          <a:prstGeom prst="rect">
            <a:avLst/>
          </a:prstGeom>
        </p:spPr>
      </p:pic>
      <p:pic>
        <p:nvPicPr>
          <p:cNvPr id="34" name="暂停按钮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876477"/>
            <a:ext cx="295275" cy="304800"/>
          </a:xfrm>
          <a:prstGeom prst="rect">
            <a:avLst/>
          </a:prstGeom>
        </p:spPr>
      </p:pic>
      <p:pic>
        <p:nvPicPr>
          <p:cNvPr id="36" name="停止按钮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15616" y="1876477"/>
            <a:ext cx="295275" cy="304800"/>
          </a:xfrm>
          <a:prstGeom prst="rect">
            <a:avLst/>
          </a:prstGeom>
        </p:spPr>
      </p:pic>
      <p:pic>
        <p:nvPicPr>
          <p:cNvPr id="37" name="按钮-External Player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482006" y="1876477"/>
            <a:ext cx="1521337" cy="308000"/>
          </a:xfrm>
          <a:prstGeom prst="rect">
            <a:avLst/>
          </a:prstGeom>
        </p:spPr>
      </p:pic>
      <p:sp>
        <p:nvSpPr>
          <p:cNvPr id="40" name="填空热区-点击消失"/>
          <p:cNvSpPr>
            <a:spLocks noChangeArrowheads="1"/>
          </p:cNvSpPr>
          <p:nvPr/>
        </p:nvSpPr>
        <p:spPr bwMode="auto">
          <a:xfrm>
            <a:off x="6554470" y="2464435"/>
            <a:ext cx="139700" cy="35623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pic>
        <p:nvPicPr>
          <p:cNvPr id="41" name="按钮-Script">
            <a:hlinkClick r:id="rId6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59832" y="1871489"/>
            <a:ext cx="904875" cy="333375"/>
          </a:xfrm>
          <a:prstGeom prst="rect">
            <a:avLst/>
          </a:prstGeom>
        </p:spPr>
      </p:pic>
      <p:sp>
        <p:nvSpPr>
          <p:cNvPr id="44" name="填空热区-点击消失"/>
          <p:cNvSpPr>
            <a:spLocks noChangeArrowheads="1"/>
          </p:cNvSpPr>
          <p:nvPr/>
        </p:nvSpPr>
        <p:spPr bwMode="auto">
          <a:xfrm>
            <a:off x="6246852" y="2974092"/>
            <a:ext cx="508288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0" name="填空热区-点击消失"/>
          <p:cNvSpPr>
            <a:spLocks noChangeArrowheads="1"/>
          </p:cNvSpPr>
          <p:nvPr/>
        </p:nvSpPr>
        <p:spPr bwMode="auto">
          <a:xfrm>
            <a:off x="7447168" y="3492999"/>
            <a:ext cx="777652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61" name="填空热区-点击消失"/>
          <p:cNvSpPr>
            <a:spLocks noChangeArrowheads="1"/>
          </p:cNvSpPr>
          <p:nvPr/>
        </p:nvSpPr>
        <p:spPr bwMode="auto">
          <a:xfrm>
            <a:off x="1616710" y="4430395"/>
            <a:ext cx="108585" cy="356235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63" name="填空热区-点击消失"/>
          <p:cNvSpPr>
            <a:spLocks noChangeArrowheads="1"/>
          </p:cNvSpPr>
          <p:nvPr/>
        </p:nvSpPr>
        <p:spPr bwMode="auto">
          <a:xfrm>
            <a:off x="2357422" y="5375756"/>
            <a:ext cx="1687780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grpSp>
        <p:nvGrpSpPr>
          <p:cNvPr id="31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35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9" name="矩形 48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A. New words and expressions    B. Pre-Listening questions   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C. Listening exercises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D. Think about it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54" name="标题 1"/>
          <p:cNvSpPr txBox="1"/>
          <p:nvPr/>
        </p:nvSpPr>
        <p:spPr>
          <a:xfrm>
            <a:off x="4716016" y="0"/>
            <a:ext cx="1368152" cy="4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txBody>
          <a:bodyPr vert="horz" lIns="90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Listening 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5" name="btn-Part 1">
            <a:hlinkClick r:id="rId8" action="ppaction://hlinksldjump"/>
          </p:cNvPr>
          <p:cNvSpPr/>
          <p:nvPr/>
        </p:nvSpPr>
        <p:spPr>
          <a:xfrm>
            <a:off x="2771800" y="482615"/>
            <a:ext cx="2280846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btn-Part 1">
            <a:hlinkClick r:id="rId9" action="ppaction://hlinksldjump"/>
          </p:cNvPr>
          <p:cNvSpPr/>
          <p:nvPr/>
        </p:nvSpPr>
        <p:spPr>
          <a:xfrm>
            <a:off x="63500" y="482615"/>
            <a:ext cx="2597638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btn-Part 1">
            <a:hlinkClick r:id="rId10" action="ppaction://hlinksldjump"/>
          </p:cNvPr>
          <p:cNvSpPr/>
          <p:nvPr/>
        </p:nvSpPr>
        <p:spPr>
          <a:xfrm>
            <a:off x="7164288" y="482615"/>
            <a:ext cx="1479678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btn-Part 1">
            <a:hlinkClick r:id="rId11" action="ppaction://hlinksldjump"/>
          </p:cNvPr>
          <p:cNvSpPr/>
          <p:nvPr/>
        </p:nvSpPr>
        <p:spPr>
          <a:xfrm>
            <a:off x="5148064" y="476672"/>
            <a:ext cx="1852828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Track 1-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-1017313" y="1739280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  <p:bldLst>
      <p:bldP spid="40" grpId="0" animBg="1"/>
      <p:bldP spid="44" grpId="0" animBg="1"/>
      <p:bldP spid="50" grpId="0" animBg="1"/>
      <p:bldP spid="61" grpId="0" animBg="1"/>
      <p:bldP spid="6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323850" y="1124744"/>
            <a:ext cx="8820150" cy="1224136"/>
          </a:xfrm>
        </p:spPr>
        <p:txBody>
          <a:bodyPr>
            <a:normAutofit/>
          </a:bodyPr>
          <a:lstStyle/>
          <a:p>
            <a:r>
              <a:rPr lang="en-US" altLang="zh-CN" b="1"/>
              <a:t>Exercise 2. Listening for details.</a:t>
            </a:r>
            <a:r>
              <a:rPr lang="en-US" altLang="zh-CN"/>
              <a:t> </a:t>
            </a:r>
            <a:br>
              <a:rPr lang="en-US" altLang="zh-CN"/>
            </a:br>
            <a:r>
              <a:rPr lang="en-US" altLang="zh-CN"/>
              <a:t>2. Fill in the blanks with the information you get from the recording about the typical person.</a:t>
            </a:r>
            <a:endParaRPr lang="en-US" altLang="zh-CN"/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4"/>
          </p:nvPr>
        </p:nvSpPr>
        <p:spPr>
          <a:xfrm>
            <a:off x="323528" y="2852936"/>
            <a:ext cx="8424936" cy="3528392"/>
          </a:xfrm>
        </p:spPr>
        <p:txBody>
          <a:bodyPr>
            <a:normAutofit/>
          </a:bodyPr>
          <a:lstStyle/>
          <a:p>
            <a:pPr marL="361950" indent="-361950"/>
            <a:r>
              <a:rPr lang="en-US" altLang="zh-CN" sz="2800" dirty="0"/>
              <a:t>The typical person on Earth is male. He is </a:t>
            </a:r>
            <a:r>
              <a:rPr lang="en-US" altLang="zh-CN" sz="2800" u="sng" dirty="0">
                <a:solidFill>
                  <a:schemeClr val="accent1"/>
                </a:solidFill>
              </a:rPr>
              <a:t>28</a:t>
            </a:r>
            <a:r>
              <a:rPr lang="en-US" altLang="zh-CN" sz="2800" dirty="0"/>
              <a:t> years old and is </a:t>
            </a:r>
            <a:r>
              <a:rPr lang="en-US" altLang="zh-CN" sz="2800" u="sng" dirty="0">
                <a:solidFill>
                  <a:schemeClr val="accent1"/>
                </a:solidFill>
              </a:rPr>
              <a:t>174</a:t>
            </a:r>
            <a:r>
              <a:rPr lang="en-US" altLang="zh-CN" sz="2800" dirty="0"/>
              <a:t> centimeters (about </a:t>
            </a:r>
            <a:r>
              <a:rPr lang="en-US" altLang="zh-CN" sz="2800" u="sng" dirty="0">
                <a:solidFill>
                  <a:schemeClr val="accent1"/>
                </a:solidFill>
              </a:rPr>
              <a:t>5</a:t>
            </a:r>
            <a:r>
              <a:rPr lang="en-US" altLang="zh-CN" sz="2800" dirty="0"/>
              <a:t> feet </a:t>
            </a:r>
            <a:r>
              <a:rPr lang="en-US" altLang="zh-CN" sz="2800" u="sng" dirty="0">
                <a:solidFill>
                  <a:schemeClr val="accent1"/>
                </a:solidFill>
              </a:rPr>
              <a:t>8</a:t>
            </a:r>
            <a:r>
              <a:rPr lang="en-US" altLang="zh-CN" sz="2800" dirty="0"/>
              <a:t> inches) tall.</a:t>
            </a:r>
            <a:endParaRPr lang="en-US" altLang="zh-CN" sz="2800" dirty="0"/>
          </a:p>
          <a:p>
            <a:pPr marL="361950" indent="-361950"/>
            <a:r>
              <a:rPr lang="en-US" altLang="zh-CN" sz="2800" dirty="0"/>
              <a:t>The most typical person lives in a </a:t>
            </a:r>
            <a:r>
              <a:rPr lang="en-US" altLang="zh-CN" sz="2800" u="sng" dirty="0">
                <a:solidFill>
                  <a:schemeClr val="accent1"/>
                </a:solidFill>
              </a:rPr>
              <a:t>city</a:t>
            </a:r>
            <a:r>
              <a:rPr lang="en-US" altLang="zh-CN" sz="2800" dirty="0"/>
              <a:t> and has a </a:t>
            </a:r>
            <a:r>
              <a:rPr lang="en-US" altLang="zh-CN" sz="2800" u="sng" dirty="0">
                <a:solidFill>
                  <a:schemeClr val="accent1"/>
                </a:solidFill>
              </a:rPr>
              <a:t>cell phone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pPr marL="361950" indent="-361950"/>
            <a:r>
              <a:rPr lang="en-US" altLang="zh-CN" sz="2800" dirty="0"/>
              <a:t>He also speaks </a:t>
            </a:r>
            <a:r>
              <a:rPr lang="en-US" altLang="zh-CN" sz="2800" u="sng" dirty="0">
                <a:solidFill>
                  <a:schemeClr val="accent1"/>
                </a:solidFill>
              </a:rPr>
              <a:t>Mandarin</a:t>
            </a:r>
            <a:r>
              <a:rPr lang="en-US" altLang="zh-CN" sz="2800" dirty="0"/>
              <a:t> Chinese.</a:t>
            </a:r>
            <a:endParaRPr lang="zh-CN" altLang="en-US" sz="2800" u="sng" dirty="0">
              <a:solidFill>
                <a:schemeClr val="accent1"/>
              </a:solidFill>
            </a:endParaRPr>
          </a:p>
        </p:txBody>
      </p:sp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3" name="播放按钮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95536" y="2209852"/>
            <a:ext cx="295275" cy="304800"/>
          </a:xfrm>
          <a:prstGeom prst="rect">
            <a:avLst/>
          </a:prstGeom>
        </p:spPr>
      </p:pic>
      <p:pic>
        <p:nvPicPr>
          <p:cNvPr id="34" name="暂停按钮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2209852"/>
            <a:ext cx="295275" cy="304800"/>
          </a:xfrm>
          <a:prstGeom prst="rect">
            <a:avLst/>
          </a:prstGeom>
        </p:spPr>
      </p:pic>
      <p:pic>
        <p:nvPicPr>
          <p:cNvPr id="36" name="停止按钮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15616" y="2209852"/>
            <a:ext cx="295275" cy="304800"/>
          </a:xfrm>
          <a:prstGeom prst="rect">
            <a:avLst/>
          </a:prstGeom>
        </p:spPr>
      </p:pic>
      <p:pic>
        <p:nvPicPr>
          <p:cNvPr id="37" name="按钮-External Player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482006" y="2209852"/>
            <a:ext cx="1521337" cy="308000"/>
          </a:xfrm>
          <a:prstGeom prst="rect">
            <a:avLst/>
          </a:prstGeom>
        </p:spPr>
      </p:pic>
      <p:pic>
        <p:nvPicPr>
          <p:cNvPr id="41" name="按钮-Script">
            <a:hlinkClick r:id="rId6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59832" y="2204864"/>
            <a:ext cx="904875" cy="333375"/>
          </a:xfrm>
          <a:prstGeom prst="rect">
            <a:avLst/>
          </a:prstGeom>
        </p:spPr>
      </p:pic>
      <p:sp>
        <p:nvSpPr>
          <p:cNvPr id="63" name="填空热区-点击消失"/>
          <p:cNvSpPr>
            <a:spLocks noChangeArrowheads="1"/>
          </p:cNvSpPr>
          <p:nvPr/>
        </p:nvSpPr>
        <p:spPr bwMode="auto">
          <a:xfrm>
            <a:off x="6193259" y="2968377"/>
            <a:ext cx="347117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38" name="填空热区-点击消失"/>
          <p:cNvSpPr>
            <a:spLocks noChangeArrowheads="1"/>
          </p:cNvSpPr>
          <p:nvPr/>
        </p:nvSpPr>
        <p:spPr bwMode="auto">
          <a:xfrm>
            <a:off x="776784" y="3397250"/>
            <a:ext cx="518616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4" name="填空热区-点击消失"/>
          <p:cNvSpPr>
            <a:spLocks noChangeArrowheads="1"/>
          </p:cNvSpPr>
          <p:nvPr/>
        </p:nvSpPr>
        <p:spPr bwMode="auto">
          <a:xfrm>
            <a:off x="3861444" y="3395088"/>
            <a:ext cx="194940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8" name="填空热区-点击消失"/>
          <p:cNvSpPr>
            <a:spLocks noChangeArrowheads="1"/>
          </p:cNvSpPr>
          <p:nvPr/>
        </p:nvSpPr>
        <p:spPr bwMode="auto">
          <a:xfrm>
            <a:off x="4647256" y="3395088"/>
            <a:ext cx="194940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9" name="填空热区-点击消失"/>
          <p:cNvSpPr>
            <a:spLocks noChangeArrowheads="1"/>
          </p:cNvSpPr>
          <p:nvPr/>
        </p:nvSpPr>
        <p:spPr bwMode="auto">
          <a:xfrm>
            <a:off x="5152825" y="3906197"/>
            <a:ext cx="514549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60" name="填空热区-点击消失"/>
          <p:cNvSpPr>
            <a:spLocks noChangeArrowheads="1"/>
          </p:cNvSpPr>
          <p:nvPr/>
        </p:nvSpPr>
        <p:spPr bwMode="auto">
          <a:xfrm>
            <a:off x="6947102" y="3903415"/>
            <a:ext cx="1339674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62" name="填空热区-点击消失"/>
          <p:cNvSpPr>
            <a:spLocks noChangeArrowheads="1"/>
          </p:cNvSpPr>
          <p:nvPr/>
        </p:nvSpPr>
        <p:spPr bwMode="auto">
          <a:xfrm>
            <a:off x="2695030" y="4418064"/>
            <a:ext cx="1336426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grpSp>
        <p:nvGrpSpPr>
          <p:cNvPr id="35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4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9" name="矩形 48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A. New words and expressions    B. Pre-Listening questions   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C. Listening exercises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D. Think about it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51" name="标题 1"/>
          <p:cNvSpPr txBox="1"/>
          <p:nvPr/>
        </p:nvSpPr>
        <p:spPr>
          <a:xfrm>
            <a:off x="4716016" y="0"/>
            <a:ext cx="1368152" cy="4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txBody>
          <a:bodyPr vert="horz" lIns="90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Listening 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2" name="btn-Part 1">
            <a:hlinkClick r:id="rId8" action="ppaction://hlinksldjump"/>
          </p:cNvPr>
          <p:cNvSpPr/>
          <p:nvPr/>
        </p:nvSpPr>
        <p:spPr>
          <a:xfrm>
            <a:off x="2771800" y="482615"/>
            <a:ext cx="2280846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btn-Part 1">
            <a:hlinkClick r:id="rId9" action="ppaction://hlinksldjump"/>
          </p:cNvPr>
          <p:cNvSpPr/>
          <p:nvPr/>
        </p:nvSpPr>
        <p:spPr>
          <a:xfrm>
            <a:off x="63500" y="482615"/>
            <a:ext cx="2597638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btn-Part 1">
            <a:hlinkClick r:id="rId10" action="ppaction://hlinksldjump"/>
          </p:cNvPr>
          <p:cNvSpPr/>
          <p:nvPr/>
        </p:nvSpPr>
        <p:spPr>
          <a:xfrm>
            <a:off x="7164288" y="482615"/>
            <a:ext cx="1479678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btn-Part 1">
            <a:hlinkClick r:id="rId11" action="ppaction://hlinksldjump"/>
          </p:cNvPr>
          <p:cNvSpPr/>
          <p:nvPr/>
        </p:nvSpPr>
        <p:spPr>
          <a:xfrm>
            <a:off x="5148064" y="476672"/>
            <a:ext cx="1852828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Track 1-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-1017313" y="1739280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  <p:bldLst>
      <p:bldP spid="63" grpId="0" animBg="1"/>
      <p:bldP spid="38" grpId="0" animBg="1"/>
      <p:bldP spid="54" grpId="0" animBg="1"/>
      <p:bldP spid="58" grpId="0" animBg="1"/>
      <p:bldP spid="59" grpId="0" animBg="1"/>
      <p:bldP spid="60" grpId="0" animBg="1"/>
      <p:bldP spid="6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323850" y="1124744"/>
            <a:ext cx="8568630" cy="720080"/>
          </a:xfrm>
        </p:spPr>
        <p:txBody>
          <a:bodyPr>
            <a:normAutofit/>
          </a:bodyPr>
          <a:lstStyle/>
          <a:p>
            <a:r>
              <a:rPr lang="en-US" altLang="zh-CN"/>
              <a:t>Work with a partner. Are you similar to or different from the person in the photo circled? Explain with sentences </a:t>
            </a:r>
            <a:r>
              <a:rPr lang="en-US" altLang="zh-CN" i="1"/>
              <a:t>1</a:t>
            </a:r>
            <a:r>
              <a:rPr lang="en-US" altLang="zh-CN"/>
              <a:t> to </a:t>
            </a:r>
            <a:r>
              <a:rPr lang="en-US" altLang="zh-CN" i="1"/>
              <a:t>6</a:t>
            </a:r>
            <a:r>
              <a:rPr lang="en-US" altLang="zh-CN"/>
              <a:t> below.</a:t>
            </a:r>
            <a:endParaRPr lang="en-US" altLang="zh-CN"/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4"/>
          </p:nvPr>
        </p:nvSpPr>
        <p:spPr>
          <a:xfrm>
            <a:off x="323850" y="1988840"/>
            <a:ext cx="8569325" cy="4177010"/>
          </a:xfrm>
        </p:spPr>
        <p:txBody>
          <a:bodyPr>
            <a:normAutofit/>
          </a:bodyPr>
          <a:lstStyle/>
          <a:p>
            <a:pPr marL="363855" indent="-363855">
              <a:buFont typeface="+mj-lt"/>
              <a:buAutoNum type="arabicPeriod"/>
            </a:pPr>
            <a:r>
              <a:rPr lang="en-US" altLang="zh-CN" sz="2800" dirty="0"/>
              <a:t>I’m a (</a:t>
            </a:r>
            <a:r>
              <a:rPr lang="en-US" altLang="zh-CN" sz="2800" b="1" dirty="0">
                <a:solidFill>
                  <a:schemeClr val="accent1"/>
                </a:solidFill>
              </a:rPr>
              <a:t>man</a:t>
            </a:r>
            <a:r>
              <a:rPr lang="en-US" altLang="zh-CN" sz="2800" dirty="0"/>
              <a:t> / </a:t>
            </a:r>
            <a:r>
              <a:rPr lang="en-US" altLang="zh-CN" sz="2800" b="1" dirty="0">
                <a:solidFill>
                  <a:schemeClr val="accent1"/>
                </a:solidFill>
              </a:rPr>
              <a:t>woman</a:t>
            </a:r>
            <a:r>
              <a:rPr lang="en-US" altLang="zh-CN" sz="2800" dirty="0"/>
              <a:t>).</a:t>
            </a:r>
            <a:endParaRPr lang="en-US" altLang="zh-CN" sz="2800" dirty="0"/>
          </a:p>
          <a:p>
            <a:pPr marL="363855" indent="-363855">
              <a:buFont typeface="+mj-lt"/>
              <a:buAutoNum type="arabicPeriod"/>
            </a:pPr>
            <a:r>
              <a:rPr lang="en-US" altLang="zh-CN" sz="2800" dirty="0"/>
              <a:t>I’m ________ years old.</a:t>
            </a:r>
            <a:endParaRPr lang="en-US" altLang="zh-CN" sz="2800" dirty="0"/>
          </a:p>
          <a:p>
            <a:pPr marL="363855" indent="-363855">
              <a:buFont typeface="+mj-lt"/>
              <a:buAutoNum type="arabicPeriod"/>
            </a:pPr>
            <a:r>
              <a:rPr lang="en-US" altLang="zh-CN" sz="2800" dirty="0"/>
              <a:t>I’m ________ centimeters tall.</a:t>
            </a:r>
            <a:endParaRPr lang="en-US" altLang="zh-CN" sz="2800" dirty="0"/>
          </a:p>
          <a:p>
            <a:pPr marL="363855" indent="-363855">
              <a:buFont typeface="+mj-lt"/>
              <a:buAutoNum type="arabicPeriod"/>
            </a:pPr>
            <a:r>
              <a:rPr lang="en-US" altLang="zh-CN" sz="2800" dirty="0"/>
              <a:t>I (</a:t>
            </a:r>
            <a:r>
              <a:rPr lang="en-US" altLang="zh-CN" sz="2800" b="1" dirty="0">
                <a:solidFill>
                  <a:schemeClr val="accent1"/>
                </a:solidFill>
              </a:rPr>
              <a:t>live</a:t>
            </a:r>
            <a:r>
              <a:rPr lang="en-US" altLang="zh-CN" sz="2800" dirty="0"/>
              <a:t> / </a:t>
            </a:r>
            <a:r>
              <a:rPr lang="en-US" altLang="zh-CN" sz="2800" b="1" dirty="0">
                <a:solidFill>
                  <a:schemeClr val="accent1"/>
                </a:solidFill>
              </a:rPr>
              <a:t>don’t live</a:t>
            </a:r>
            <a:r>
              <a:rPr lang="en-US" altLang="zh-CN" sz="2800" dirty="0"/>
              <a:t>) in a city.</a:t>
            </a:r>
            <a:endParaRPr lang="en-US" altLang="zh-CN" sz="2800" dirty="0"/>
          </a:p>
          <a:p>
            <a:pPr marL="363855" indent="-363855">
              <a:buFont typeface="+mj-lt"/>
              <a:buAutoNum type="arabicPeriod"/>
            </a:pPr>
            <a:r>
              <a:rPr lang="en-US" altLang="zh-CN" sz="2800" dirty="0"/>
              <a:t>I (</a:t>
            </a:r>
            <a:r>
              <a:rPr lang="en-US" altLang="zh-CN" sz="2800" b="1" dirty="0">
                <a:solidFill>
                  <a:schemeClr val="accent1"/>
                </a:solidFill>
              </a:rPr>
              <a:t>speak</a:t>
            </a:r>
            <a:r>
              <a:rPr lang="en-US" altLang="zh-CN" sz="2800" dirty="0"/>
              <a:t> / </a:t>
            </a:r>
            <a:r>
              <a:rPr lang="en-US" altLang="zh-CN" sz="2800" b="1" dirty="0">
                <a:solidFill>
                  <a:schemeClr val="accent1"/>
                </a:solidFill>
              </a:rPr>
              <a:t>don’t speak</a:t>
            </a:r>
            <a:r>
              <a:rPr lang="en-US" altLang="zh-CN" sz="2800" dirty="0"/>
              <a:t> ) Chinese.</a:t>
            </a:r>
            <a:endParaRPr lang="en-US" altLang="zh-CN" sz="2800" dirty="0"/>
          </a:p>
          <a:p>
            <a:pPr marL="363855" indent="-363855">
              <a:buFont typeface="+mj-lt"/>
              <a:buAutoNum type="arabicPeriod"/>
            </a:pPr>
            <a:r>
              <a:rPr lang="en-US" altLang="zh-CN" sz="2800" dirty="0"/>
              <a:t>I (</a:t>
            </a:r>
            <a:r>
              <a:rPr lang="en-US" altLang="zh-CN" sz="2800" b="1" dirty="0">
                <a:solidFill>
                  <a:schemeClr val="accent1"/>
                </a:solidFill>
              </a:rPr>
              <a:t>have</a:t>
            </a:r>
            <a:r>
              <a:rPr lang="en-US" altLang="zh-CN" sz="2800" dirty="0"/>
              <a:t> / </a:t>
            </a:r>
            <a:r>
              <a:rPr lang="en-US" altLang="zh-CN" sz="2800" b="1" dirty="0">
                <a:solidFill>
                  <a:schemeClr val="accent1"/>
                </a:solidFill>
              </a:rPr>
              <a:t>don’t have</a:t>
            </a:r>
            <a:r>
              <a:rPr lang="en-US" altLang="zh-CN" sz="2800" dirty="0"/>
              <a:t> ) a cell phone.</a:t>
            </a:r>
            <a:endParaRPr lang="zh-CN" altLang="en-US" sz="2800" dirty="0"/>
          </a:p>
        </p:txBody>
      </p:sp>
      <p:sp>
        <p:nvSpPr>
          <p:cNvPr id="32" name="矩形 31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A. New words and expressions    B. Pre-Listening questions    C. Listening exercises   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D. Think about it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pic>
        <p:nvPicPr>
          <p:cNvPr id="40" name="Picture 4" descr="E:\lab\全新版进阶视听说\PPT\working\U1-P3-1-4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796136" y="1916832"/>
            <a:ext cx="3024336" cy="3024336"/>
          </a:xfrm>
          <a:prstGeom prst="rect">
            <a:avLst/>
          </a:prstGeom>
          <a:noFill/>
        </p:spPr>
      </p:pic>
      <p:sp>
        <p:nvSpPr>
          <p:cNvPr id="61" name="圆角矩形 60"/>
          <p:cNvSpPr/>
          <p:nvPr/>
        </p:nvSpPr>
        <p:spPr>
          <a:xfrm>
            <a:off x="467544" y="5517232"/>
            <a:ext cx="5533216" cy="504056"/>
          </a:xfrm>
          <a:prstGeom prst="roundRect">
            <a:avLst>
              <a:gd name="adj" fmla="val 9581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>
                <a:solidFill>
                  <a:schemeClr val="tx1"/>
                </a:solidFill>
              </a:rPr>
              <a:t>I’m different. I’m a woman. Also, I’m nineteen.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18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21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标题 1"/>
          <p:cNvSpPr txBox="1"/>
          <p:nvPr/>
        </p:nvSpPr>
        <p:spPr>
          <a:xfrm>
            <a:off x="4716016" y="0"/>
            <a:ext cx="1368152" cy="4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txBody>
          <a:bodyPr vert="horz" lIns="90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Listening 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30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31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btn-Part 1">
            <a:hlinkClick r:id="rId2" action="ppaction://hlinksldjump"/>
          </p:cNvPr>
          <p:cNvSpPr/>
          <p:nvPr/>
        </p:nvSpPr>
        <p:spPr>
          <a:xfrm>
            <a:off x="2771800" y="482615"/>
            <a:ext cx="2280846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btn-Part 1">
            <a:hlinkClick r:id="rId3" action="ppaction://hlinksldjump"/>
          </p:cNvPr>
          <p:cNvSpPr/>
          <p:nvPr/>
        </p:nvSpPr>
        <p:spPr>
          <a:xfrm>
            <a:off x="5148064" y="482615"/>
            <a:ext cx="1968500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btn-Part 1">
            <a:hlinkClick r:id="rId4" action="ppaction://hlinksldjump"/>
          </p:cNvPr>
          <p:cNvSpPr/>
          <p:nvPr/>
        </p:nvSpPr>
        <p:spPr>
          <a:xfrm>
            <a:off x="63500" y="482615"/>
            <a:ext cx="2597638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btn-Part 1">
            <a:hlinkClick r:id="rId5" action="ppaction://hlinksldjump"/>
          </p:cNvPr>
          <p:cNvSpPr/>
          <p:nvPr/>
        </p:nvSpPr>
        <p:spPr>
          <a:xfrm>
            <a:off x="7164288" y="510358"/>
            <a:ext cx="1680468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New words and expressions 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A. Listening for gist     B. Listening for details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44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755576" y="1556792"/>
            <a:ext cx="8137599" cy="3096344"/>
          </a:xfrm>
        </p:spPr>
        <p:txBody>
          <a:bodyPr numCol="2" spcCol="900000"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altLang="zh-CN" sz="2400" b="1" dirty="0"/>
              <a:t>census</a:t>
            </a:r>
            <a:r>
              <a:rPr lang="en-US" altLang="zh-CN" sz="2400" dirty="0"/>
              <a:t> </a:t>
            </a:r>
            <a:r>
              <a:rPr lang="en-US" altLang="zh-CN" sz="2400" i="1" dirty="0"/>
              <a:t>n.</a:t>
            </a:r>
            <a:r>
              <a:rPr lang="en-US" altLang="zh-CN" sz="2400" dirty="0"/>
              <a:t> A census is an official count of the population of a country. </a:t>
            </a:r>
            <a:r>
              <a:rPr lang="zh-CN" altLang="zh-CN" sz="2400" dirty="0"/>
              <a:t>人口普查</a:t>
            </a:r>
            <a:endParaRPr lang="zh-CN" altLang="zh-CN" sz="2400" dirty="0"/>
          </a:p>
          <a:p>
            <a:pPr marL="0" indent="0">
              <a:spcAft>
                <a:spcPts val="1200"/>
              </a:spcAft>
              <a:buNone/>
            </a:pPr>
            <a:r>
              <a:rPr lang="en-US" altLang="zh-CN" sz="2400" b="1" dirty="0"/>
              <a:t>Kim</a:t>
            </a:r>
            <a:r>
              <a:rPr lang="en-US" altLang="zh-CN" sz="2400" dirty="0"/>
              <a:t> </a:t>
            </a:r>
            <a:r>
              <a:rPr lang="zh-CN" altLang="zh-CN" sz="2400" dirty="0"/>
              <a:t>金姆</a:t>
            </a:r>
            <a:endParaRPr lang="zh-CN" altLang="zh-CN" sz="2400" dirty="0"/>
          </a:p>
          <a:p>
            <a:pPr marL="0" indent="0">
              <a:spcAft>
                <a:spcPts val="1200"/>
              </a:spcAft>
              <a:buNone/>
            </a:pPr>
            <a:r>
              <a:rPr lang="en-US" altLang="zh-CN" sz="2400" b="1" dirty="0"/>
              <a:t>Korea</a:t>
            </a:r>
            <a:r>
              <a:rPr lang="en-US" altLang="zh-CN" sz="2400" dirty="0"/>
              <a:t> </a:t>
            </a:r>
            <a:r>
              <a:rPr lang="zh-CN" altLang="en-US" sz="2400"/>
              <a:t>韩国</a:t>
            </a:r>
            <a:endParaRPr lang="zh-CN" altLang="zh-CN" sz="2400" dirty="0"/>
          </a:p>
          <a:p>
            <a:pPr marL="0" indent="0">
              <a:spcAft>
                <a:spcPts val="1200"/>
              </a:spcAft>
              <a:buNone/>
            </a:pPr>
            <a:r>
              <a:rPr lang="en-US" altLang="zh-CN" sz="2400" b="1" dirty="0"/>
              <a:t>Lisa</a:t>
            </a:r>
            <a:r>
              <a:rPr lang="en-US" altLang="zh-CN" sz="2400" dirty="0"/>
              <a:t> </a:t>
            </a:r>
            <a:r>
              <a:rPr lang="zh-CN" altLang="zh-CN" sz="2400" dirty="0"/>
              <a:t>丽莎</a:t>
            </a:r>
            <a:endParaRPr lang="en-US" altLang="zh-CN" sz="2400" dirty="0"/>
          </a:p>
          <a:p>
            <a:pPr marL="0" indent="0">
              <a:spcAft>
                <a:spcPts val="1200"/>
              </a:spcAft>
              <a:buNone/>
            </a:pPr>
            <a:r>
              <a:rPr lang="en-US" altLang="zh-CN" sz="2400" b="1" dirty="0"/>
              <a:t>married</a:t>
            </a:r>
            <a:r>
              <a:rPr lang="en-US" altLang="zh-CN" sz="2400" dirty="0"/>
              <a:t> </a:t>
            </a:r>
            <a:r>
              <a:rPr lang="en-US" altLang="zh-CN" sz="2400" i="1" dirty="0"/>
              <a:t>adj.</a:t>
            </a:r>
            <a:r>
              <a:rPr lang="en-US" altLang="zh-CN" sz="2400" dirty="0"/>
              <a:t> If you are married, you have a husband or wife. </a:t>
            </a:r>
            <a:r>
              <a:rPr lang="zh-CN" altLang="zh-CN" sz="2400" dirty="0"/>
              <a:t>已婚的</a:t>
            </a:r>
            <a:endParaRPr lang="zh-CN" altLang="zh-CN" sz="2400" dirty="0"/>
          </a:p>
          <a:p>
            <a:pPr marL="0" indent="0">
              <a:spcAft>
                <a:spcPts val="1200"/>
              </a:spcAft>
              <a:buNone/>
            </a:pPr>
            <a:r>
              <a:rPr lang="en-US" altLang="zh-CN" sz="2400" b="1" dirty="0"/>
              <a:t>single</a:t>
            </a:r>
            <a:r>
              <a:rPr lang="en-US" altLang="zh-CN" sz="2400" dirty="0"/>
              <a:t> </a:t>
            </a:r>
            <a:r>
              <a:rPr lang="en-US" altLang="zh-CN" sz="2400" i="1" dirty="0"/>
              <a:t>adj.</a:t>
            </a:r>
            <a:r>
              <a:rPr lang="en-US" altLang="zh-CN" sz="2400" dirty="0"/>
              <a:t> Someone who is single is not married. </a:t>
            </a:r>
            <a:r>
              <a:rPr lang="zh-CN" altLang="zh-CN" sz="2400" dirty="0"/>
              <a:t>单身的</a:t>
            </a:r>
            <a:endParaRPr lang="zh-CN" altLang="zh-CN" sz="2400" dirty="0"/>
          </a:p>
          <a:p>
            <a:pPr marL="0" indent="0">
              <a:spcAft>
                <a:spcPts val="1200"/>
              </a:spcAft>
              <a:buNone/>
            </a:pPr>
            <a:r>
              <a:rPr lang="en-US" altLang="zh-CN" sz="2400" dirty="0"/>
              <a:t> </a:t>
            </a:r>
            <a:endParaRPr lang="zh-CN" altLang="zh-CN" sz="2400" dirty="0"/>
          </a:p>
        </p:txBody>
      </p:sp>
      <p:pic>
        <p:nvPicPr>
          <p:cNvPr id="50" name="census.mp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4883" y="1683792"/>
            <a:ext cx="312701" cy="309438"/>
          </a:xfrm>
          <a:prstGeom prst="rect">
            <a:avLst/>
          </a:prstGeom>
        </p:spPr>
      </p:pic>
      <p:pic>
        <p:nvPicPr>
          <p:cNvPr id="58" name="Kim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4883" y="2988246"/>
            <a:ext cx="312701" cy="309438"/>
          </a:xfrm>
          <a:prstGeom prst="rect">
            <a:avLst/>
          </a:prstGeom>
        </p:spPr>
      </p:pic>
      <p:pic>
        <p:nvPicPr>
          <p:cNvPr id="59" name="Korea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link="rId7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4883" y="3573016"/>
            <a:ext cx="312701" cy="309438"/>
          </a:xfrm>
          <a:prstGeom prst="rect">
            <a:avLst/>
          </a:prstGeom>
        </p:spPr>
      </p:pic>
      <p:pic>
        <p:nvPicPr>
          <p:cNvPr id="60" name="Lisa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link="rId9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4883" y="4164513"/>
            <a:ext cx="312701" cy="309438"/>
          </a:xfrm>
          <a:prstGeom prst="rect">
            <a:avLst/>
          </a:prstGeom>
        </p:spPr>
      </p:pic>
      <p:pic>
        <p:nvPicPr>
          <p:cNvPr id="61" name="single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link="rId11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32040" y="2993612"/>
            <a:ext cx="312701" cy="309438"/>
          </a:xfrm>
          <a:prstGeom prst="rect">
            <a:avLst/>
          </a:prstGeom>
        </p:spPr>
      </p:pic>
      <p:pic>
        <p:nvPicPr>
          <p:cNvPr id="62" name="married.mp3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link="rId13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7371" y="1678310"/>
            <a:ext cx="312701" cy="309438"/>
          </a:xfrm>
          <a:prstGeom prst="rect">
            <a:avLst/>
          </a:prstGeom>
        </p:spPr>
      </p:pic>
      <p:sp>
        <p:nvSpPr>
          <p:cNvPr id="20" name="btn-Part 1">
            <a:hlinkClick r:id="rId14" action="ppaction://hlinksldjump"/>
          </p:cNvPr>
          <p:cNvSpPr/>
          <p:nvPr/>
        </p:nvSpPr>
        <p:spPr>
          <a:xfrm>
            <a:off x="2627784" y="482615"/>
            <a:ext cx="176837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btn-Part 1">
            <a:hlinkClick r:id="rId15" action="ppaction://hlinksldjump"/>
          </p:cNvPr>
          <p:cNvSpPr/>
          <p:nvPr/>
        </p:nvSpPr>
        <p:spPr>
          <a:xfrm>
            <a:off x="4427984" y="482615"/>
            <a:ext cx="196850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btn-Part 1">
            <a:hlinkClick r:id="rId16" action="ppaction://hlinksldjump"/>
          </p:cNvPr>
          <p:cNvSpPr/>
          <p:nvPr/>
        </p:nvSpPr>
        <p:spPr>
          <a:xfrm>
            <a:off x="29200" y="528464"/>
            <a:ext cx="2386623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播放按钮"/>
          <p:cNvPicPr>
            <a:picLocks noChangeAspect="1" noChangeArrowheads="1"/>
          </p:cNvPicPr>
          <p:nvPr/>
        </p:nvPicPr>
        <p:blipFill>
          <a:blip r:embed="rId1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11616" y="1052736"/>
            <a:ext cx="295275" cy="304800"/>
          </a:xfrm>
          <a:prstGeom prst="rect">
            <a:avLst/>
          </a:prstGeom>
        </p:spPr>
      </p:pic>
      <p:pic>
        <p:nvPicPr>
          <p:cNvPr id="24" name="暂停按钮"/>
          <p:cNvPicPr>
            <a:picLocks noChangeAspect="1" noChangeArrowheads="1"/>
          </p:cNvPicPr>
          <p:nvPr/>
        </p:nvPicPr>
        <p:blipFill>
          <a:blip r:embed="rId18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371656" y="1052736"/>
            <a:ext cx="295275" cy="304800"/>
          </a:xfrm>
          <a:prstGeom prst="rect">
            <a:avLst/>
          </a:prstGeom>
        </p:spPr>
      </p:pic>
      <p:pic>
        <p:nvPicPr>
          <p:cNvPr id="25" name="停止按钮"/>
          <p:cNvPicPr>
            <a:picLocks noChangeAspect="1" noChangeArrowheads="1"/>
          </p:cNvPicPr>
          <p:nvPr/>
        </p:nvPicPr>
        <p:blipFill>
          <a:blip r:embed="rId19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731696" y="1052736"/>
            <a:ext cx="295275" cy="304800"/>
          </a:xfrm>
          <a:prstGeom prst="rect">
            <a:avLst/>
          </a:prstGeom>
        </p:spPr>
      </p:pic>
      <p:pic>
        <p:nvPicPr>
          <p:cNvPr id="26" name="words-3.mp3">
            <a:hlinkClick r:id="" action="ppaction://media"/>
          </p:cNvPr>
          <p:cNvPicPr>
            <a:picLocks noChangeAspect="1"/>
          </p:cNvPicPr>
          <p:nvPr>
            <a:audioFile r:link="rId20"/>
            <p:extLst>
              <p:ext uri="{DAA4B4D4-6D71-4841-9C94-3DE7FCFB9230}">
                <p14:media xmlns:p14="http://schemas.microsoft.com/office/powerpoint/2010/main" r:link="rId21"/>
              </p:ext>
            </p:extLst>
          </p:nvPr>
        </p:nvPicPr>
        <p:blipFill>
          <a:blip r:embed="rId22" cstate="print"/>
          <a:stretch>
            <a:fillRect/>
          </a:stretch>
        </p:blipFill>
        <p:spPr>
          <a:xfrm>
            <a:off x="9235752" y="1052736"/>
            <a:ext cx="304800" cy="304800"/>
          </a:xfrm>
          <a:prstGeom prst="rect">
            <a:avLst/>
          </a:prstGeom>
        </p:spPr>
      </p:pic>
      <p:sp>
        <p:nvSpPr>
          <p:cNvPr id="28" name="标题 1"/>
          <p:cNvSpPr txBox="1"/>
          <p:nvPr/>
        </p:nvSpPr>
        <p:spPr>
          <a:xfrm>
            <a:off x="4716016" y="0"/>
            <a:ext cx="1368152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90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Listening 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29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30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0"/>
                </p:tgtEl>
              </p:cMediaNode>
            </p:audio>
            <p:audio>
              <p:cMediaNode>
                <p:cTn id="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8"/>
                </p:tgtEl>
              </p:cMediaNode>
            </p:audio>
            <p:audio>
              <p:cMediaNode>
                <p:cTn id="4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9"/>
                </p:tgtEl>
              </p:cMediaNode>
            </p:audio>
            <p:audio>
              <p:cMediaNode>
                <p:cTn id="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0"/>
                </p:tgtEl>
              </p:cMediaNode>
            </p:audio>
            <p:audio>
              <p:cMediaNode>
                <p:cTn id="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1"/>
                </p:tgtEl>
              </p:cMediaNode>
            </p:audio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2"/>
                </p:tgtEl>
              </p:cMediaNode>
            </p:audio>
            <p:audio>
              <p:cMediaNode showWhenStopped="0">
                <p:cTn id="8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New words and expressions  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  A. Listening for gist 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B. Listening for details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29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32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" name="文本占位符 3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/>
              <a:t>Listen to the recording and give answers to the following questions.</a:t>
            </a:r>
            <a:endParaRPr lang="zh-CN" altLang="en-US"/>
          </a:p>
        </p:txBody>
      </p:sp>
      <p:sp>
        <p:nvSpPr>
          <p:cNvPr id="41" name="文本占位符 40"/>
          <p:cNvSpPr>
            <a:spLocks noGrp="1"/>
          </p:cNvSpPr>
          <p:nvPr>
            <p:ph type="body" sz="quarter" idx="14"/>
          </p:nvPr>
        </p:nvSpPr>
        <p:spPr>
          <a:xfrm>
            <a:off x="323850" y="2132856"/>
            <a:ext cx="8569325" cy="4032994"/>
          </a:xfrm>
        </p:spPr>
        <p:txBody>
          <a:bodyPr>
            <a:normAutofit/>
          </a:bodyPr>
          <a:lstStyle/>
          <a:p>
            <a:pPr marL="444500" indent="-444500">
              <a:buFont typeface="+mj-lt"/>
              <a:buAutoNum type="arabicPeriod"/>
            </a:pPr>
            <a:r>
              <a:rPr lang="en-US" altLang="zh-CN" sz="2800"/>
              <a:t>What is the man doing?</a:t>
            </a:r>
            <a:br>
              <a:rPr lang="en-US" altLang="zh-CN" sz="2800"/>
            </a:br>
            <a:r>
              <a:rPr lang="en-US" altLang="zh-CN" sz="2800" u="sng">
                <a:solidFill>
                  <a:schemeClr val="accent1"/>
                </a:solidFill>
              </a:rPr>
              <a:t>He is asking a woman some questions.</a:t>
            </a:r>
            <a:endParaRPr lang="en-US" altLang="zh-CN" sz="2800" u="sng">
              <a:solidFill>
                <a:schemeClr val="accent1"/>
              </a:solidFill>
            </a:endParaRPr>
          </a:p>
          <a:p>
            <a:pPr marL="444500" indent="-444500">
              <a:buFont typeface="+mj-lt"/>
              <a:buAutoNum type="arabicPeriod"/>
            </a:pPr>
            <a:r>
              <a:rPr lang="en-US" altLang="zh-CN" sz="2800"/>
              <a:t>Who is the woman?</a:t>
            </a:r>
            <a:br>
              <a:rPr lang="en-US" altLang="zh-CN" sz="2800"/>
            </a:br>
            <a:r>
              <a:rPr lang="en-US" altLang="zh-CN" sz="2800" u="sng">
                <a:solidFill>
                  <a:schemeClr val="accent1"/>
                </a:solidFill>
              </a:rPr>
              <a:t>She is a student from Korea.</a:t>
            </a:r>
            <a:endParaRPr lang="zh-CN" altLang="en-US" sz="2800" u="sng">
              <a:solidFill>
                <a:schemeClr val="accent1"/>
              </a:solidFill>
            </a:endParaRPr>
          </a:p>
        </p:txBody>
      </p:sp>
      <p:pic>
        <p:nvPicPr>
          <p:cNvPr id="47" name="播放按钮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95536" y="1588445"/>
            <a:ext cx="295275" cy="304800"/>
          </a:xfrm>
          <a:prstGeom prst="rect">
            <a:avLst/>
          </a:prstGeom>
        </p:spPr>
      </p:pic>
      <p:pic>
        <p:nvPicPr>
          <p:cNvPr id="54" name="暂停按钮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588445"/>
            <a:ext cx="295275" cy="304800"/>
          </a:xfrm>
          <a:prstGeom prst="rect">
            <a:avLst/>
          </a:prstGeom>
        </p:spPr>
      </p:pic>
      <p:pic>
        <p:nvPicPr>
          <p:cNvPr id="63" name="停止按钮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15616" y="1588445"/>
            <a:ext cx="295275" cy="304800"/>
          </a:xfrm>
          <a:prstGeom prst="rect">
            <a:avLst/>
          </a:prstGeom>
        </p:spPr>
      </p:pic>
      <p:pic>
        <p:nvPicPr>
          <p:cNvPr id="64" name="按钮-External Player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482006" y="1588445"/>
            <a:ext cx="1521337" cy="308000"/>
          </a:xfrm>
          <a:prstGeom prst="rect">
            <a:avLst/>
          </a:prstGeom>
        </p:spPr>
      </p:pic>
      <p:pic>
        <p:nvPicPr>
          <p:cNvPr id="66" name="按钮-Script">
            <a:hlinkClick r:id="rId6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59832" y="1583457"/>
            <a:ext cx="904875" cy="333375"/>
          </a:xfrm>
          <a:prstGeom prst="rect">
            <a:avLst/>
          </a:prstGeom>
        </p:spPr>
      </p:pic>
      <p:sp>
        <p:nvSpPr>
          <p:cNvPr id="67" name="填空热区-点击消失"/>
          <p:cNvSpPr>
            <a:spLocks noChangeArrowheads="1"/>
          </p:cNvSpPr>
          <p:nvPr/>
        </p:nvSpPr>
        <p:spPr bwMode="auto">
          <a:xfrm>
            <a:off x="850950" y="2677170"/>
            <a:ext cx="5116760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800" u="sng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.</a:t>
            </a: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68" name="填空热区-点击消失"/>
          <p:cNvSpPr>
            <a:spLocks noChangeArrowheads="1"/>
          </p:cNvSpPr>
          <p:nvPr/>
        </p:nvSpPr>
        <p:spPr bwMode="auto">
          <a:xfrm>
            <a:off x="861492" y="3623718"/>
            <a:ext cx="5067830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800" u="sng" dirty="0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                       .</a:t>
            </a:r>
            <a:endParaRPr lang="en-US" altLang="zh-CN" sz="28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26" name="标题 1"/>
          <p:cNvSpPr txBox="1"/>
          <p:nvPr/>
        </p:nvSpPr>
        <p:spPr>
          <a:xfrm>
            <a:off x="4716016" y="0"/>
            <a:ext cx="1368152" cy="4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txBody>
          <a:bodyPr vert="horz" lIns="90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Listening 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2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2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btn-Part 1">
            <a:hlinkClick r:id="rId8" action="ppaction://hlinksldjump"/>
          </p:cNvPr>
          <p:cNvSpPr/>
          <p:nvPr/>
        </p:nvSpPr>
        <p:spPr>
          <a:xfrm>
            <a:off x="2627784" y="528464"/>
            <a:ext cx="1768370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btn-Part 1">
            <a:hlinkClick r:id="rId9" action="ppaction://hlinksldjump"/>
          </p:cNvPr>
          <p:cNvSpPr/>
          <p:nvPr/>
        </p:nvSpPr>
        <p:spPr>
          <a:xfrm>
            <a:off x="4427984" y="482615"/>
            <a:ext cx="1968500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btn-Part 1">
            <a:hlinkClick r:id="rId10" action="ppaction://hlinksldjump"/>
          </p:cNvPr>
          <p:cNvSpPr/>
          <p:nvPr/>
        </p:nvSpPr>
        <p:spPr>
          <a:xfrm>
            <a:off x="63500" y="482615"/>
            <a:ext cx="2386623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Track 1-4">
            <a:hlinkClick r:id="" action="ppaction://media"/>
          </p:cNvPr>
          <p:cNvPicPr>
            <a:picLocks noChangeAspect="1"/>
          </p:cNvPicPr>
          <p:nvPr>
            <a:audi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750427" y="1396206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67" grpId="0" animBg="1"/>
      <p:bldP spid="6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New words and expressions     A. Listening for gist    </a:t>
            </a:r>
            <a:r>
              <a:rPr lang="en-US" altLang="zh-CN" sz="1600" b="1" dirty="0">
                <a:solidFill>
                  <a:schemeClr val="accent6"/>
                </a:solidFill>
                <a:latin typeface="+mj-lt"/>
              </a:rPr>
              <a:t>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B. Listening for details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29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32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" name="文本占位符 39"/>
          <p:cNvSpPr>
            <a:spLocks noGrp="1"/>
          </p:cNvSpPr>
          <p:nvPr>
            <p:ph type="body" sz="quarter" idx="13"/>
          </p:nvPr>
        </p:nvSpPr>
        <p:spPr>
          <a:xfrm>
            <a:off x="323850" y="1124744"/>
            <a:ext cx="8569325" cy="792088"/>
          </a:xfrm>
        </p:spPr>
        <p:txBody>
          <a:bodyPr>
            <a:normAutofit/>
          </a:bodyPr>
          <a:lstStyle/>
          <a:p>
            <a:r>
              <a:rPr lang="en-US" altLang="zh-CN" dirty="0"/>
              <a:t>1. Listen to the recording again and number the questions </a:t>
            </a:r>
            <a:r>
              <a:rPr lang="en-US" altLang="zh-CN" i="1" dirty="0"/>
              <a:t>1</a:t>
            </a:r>
            <a:r>
              <a:rPr lang="en-US" altLang="zh-CN" dirty="0"/>
              <a:t> to </a:t>
            </a:r>
            <a:r>
              <a:rPr lang="en-US" altLang="zh-CN" i="1" dirty="0"/>
              <a:t>5</a:t>
            </a:r>
            <a:r>
              <a:rPr lang="en-US" altLang="zh-CN" dirty="0"/>
              <a:t> in the order the man asks them.</a:t>
            </a:r>
            <a:endParaRPr lang="zh-CN" altLang="en-US" dirty="0"/>
          </a:p>
        </p:txBody>
      </p:sp>
      <p:sp>
        <p:nvSpPr>
          <p:cNvPr id="41" name="文本占位符 40"/>
          <p:cNvSpPr>
            <a:spLocks noGrp="1"/>
          </p:cNvSpPr>
          <p:nvPr>
            <p:ph type="body" sz="quarter" idx="14"/>
          </p:nvPr>
        </p:nvSpPr>
        <p:spPr>
          <a:xfrm>
            <a:off x="323851" y="2420888"/>
            <a:ext cx="4680198" cy="374496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b="1"/>
              <a:t>Census Form</a:t>
            </a:r>
            <a:endParaRPr lang="en-US" altLang="zh-CN" sz="2800" b="1"/>
          </a:p>
          <a:p>
            <a:pPr>
              <a:buNone/>
            </a:pPr>
            <a:r>
              <a:rPr lang="en-US" altLang="zh-CN" sz="2800" u="sng">
                <a:solidFill>
                  <a:schemeClr val="accent1"/>
                </a:solidFill>
              </a:rPr>
              <a:t>  1  </a:t>
            </a:r>
            <a:r>
              <a:rPr lang="en-US" altLang="zh-CN" sz="2800"/>
              <a:t> What’s your name?</a:t>
            </a:r>
            <a:endParaRPr lang="en-US" altLang="zh-CN" sz="2800"/>
          </a:p>
          <a:p>
            <a:pPr>
              <a:buNone/>
            </a:pPr>
            <a:r>
              <a:rPr lang="en-US" altLang="zh-CN" sz="2800" u="sng">
                <a:solidFill>
                  <a:schemeClr val="accent1"/>
                </a:solidFill>
              </a:rPr>
              <a:t>  5  </a:t>
            </a:r>
            <a:r>
              <a:rPr lang="en-US" altLang="zh-CN" sz="2800"/>
              <a:t> How old are you?</a:t>
            </a:r>
            <a:endParaRPr lang="en-US" altLang="zh-CN" sz="2800"/>
          </a:p>
          <a:p>
            <a:pPr>
              <a:buNone/>
            </a:pPr>
            <a:r>
              <a:rPr lang="en-US" altLang="zh-CN" sz="2800" u="sng">
                <a:solidFill>
                  <a:schemeClr val="accent1"/>
                </a:solidFill>
              </a:rPr>
              <a:t>  4  </a:t>
            </a:r>
            <a:r>
              <a:rPr lang="en-US" altLang="zh-CN" sz="2800"/>
              <a:t> Are you married or single?</a:t>
            </a:r>
            <a:endParaRPr lang="en-US" altLang="zh-CN" sz="2800"/>
          </a:p>
          <a:p>
            <a:pPr>
              <a:buNone/>
            </a:pPr>
            <a:r>
              <a:rPr lang="en-US" altLang="zh-CN" sz="2800" u="sng">
                <a:solidFill>
                  <a:schemeClr val="accent1"/>
                </a:solidFill>
              </a:rPr>
              <a:t>  2  </a:t>
            </a:r>
            <a:r>
              <a:rPr lang="en-US" altLang="zh-CN" sz="2800"/>
              <a:t> Where are you from?</a:t>
            </a:r>
            <a:endParaRPr lang="en-US" altLang="zh-CN" sz="2800"/>
          </a:p>
          <a:p>
            <a:pPr>
              <a:buNone/>
            </a:pPr>
            <a:r>
              <a:rPr lang="en-US" altLang="zh-CN" sz="2800" u="sng">
                <a:solidFill>
                  <a:schemeClr val="accent1"/>
                </a:solidFill>
              </a:rPr>
              <a:t>  3  </a:t>
            </a:r>
            <a:r>
              <a:rPr lang="en-US" altLang="zh-CN" sz="2800"/>
              <a:t> What do you do?</a:t>
            </a:r>
            <a:endParaRPr lang="zh-CN" altLang="en-US" sz="2800"/>
          </a:p>
        </p:txBody>
      </p:sp>
      <p:pic>
        <p:nvPicPr>
          <p:cNvPr id="47" name="播放按钮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95536" y="1921820"/>
            <a:ext cx="295275" cy="304800"/>
          </a:xfrm>
          <a:prstGeom prst="rect">
            <a:avLst/>
          </a:prstGeom>
        </p:spPr>
      </p:pic>
      <p:pic>
        <p:nvPicPr>
          <p:cNvPr id="54" name="暂停按钮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921820"/>
            <a:ext cx="295275" cy="304800"/>
          </a:xfrm>
          <a:prstGeom prst="rect">
            <a:avLst/>
          </a:prstGeom>
        </p:spPr>
      </p:pic>
      <p:pic>
        <p:nvPicPr>
          <p:cNvPr id="63" name="停止按钮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15616" y="1921820"/>
            <a:ext cx="295275" cy="304800"/>
          </a:xfrm>
          <a:prstGeom prst="rect">
            <a:avLst/>
          </a:prstGeom>
        </p:spPr>
      </p:pic>
      <p:pic>
        <p:nvPicPr>
          <p:cNvPr id="64" name="按钮-External Player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482006" y="1921820"/>
            <a:ext cx="1521337" cy="308000"/>
          </a:xfrm>
          <a:prstGeom prst="rect">
            <a:avLst/>
          </a:prstGeom>
        </p:spPr>
      </p:pic>
      <p:pic>
        <p:nvPicPr>
          <p:cNvPr id="66" name="按钮-Script">
            <a:hlinkClick r:id="rId6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59832" y="1916832"/>
            <a:ext cx="904875" cy="333375"/>
          </a:xfrm>
          <a:prstGeom prst="rect">
            <a:avLst/>
          </a:prstGeom>
        </p:spPr>
      </p:pic>
      <p:pic>
        <p:nvPicPr>
          <p:cNvPr id="1027" name="Picture 3" descr="E:\lab\全新版进阶视听说\PPT\working\P01-11_49282312.jpg"/>
          <p:cNvPicPr>
            <a:picLocks noChangeAspect="1" noChangeArrowheads="1"/>
          </p:cNvPicPr>
          <p:nvPr/>
        </p:nvPicPr>
        <p:blipFill>
          <a:blip r:embed="rId8" cstate="print"/>
          <a:srcRect l="20160"/>
          <a:stretch>
            <a:fillRect/>
          </a:stretch>
        </p:blipFill>
        <p:spPr bwMode="auto">
          <a:xfrm>
            <a:off x="4581128" y="2060849"/>
            <a:ext cx="4409114" cy="3672408"/>
          </a:xfrm>
          <a:prstGeom prst="rect">
            <a:avLst/>
          </a:prstGeom>
          <a:noFill/>
        </p:spPr>
      </p:pic>
      <p:sp>
        <p:nvSpPr>
          <p:cNvPr id="39" name="矩形 38"/>
          <p:cNvSpPr/>
          <p:nvPr/>
        </p:nvSpPr>
        <p:spPr>
          <a:xfrm>
            <a:off x="4572000" y="4725144"/>
            <a:ext cx="2664296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latin typeface="+mj-lt"/>
              </a:rPr>
              <a:t>A </a:t>
            </a:r>
            <a:r>
              <a:rPr lang="en-US" altLang="zh-CN" sz="1400" b="1">
                <a:latin typeface="+mj-lt"/>
              </a:rPr>
              <a:t>census</a:t>
            </a:r>
            <a:r>
              <a:rPr lang="en-US" altLang="zh-CN" sz="1400">
                <a:latin typeface="+mj-lt"/>
              </a:rPr>
              <a:t> counts the number of people in a country. It also asks questions about age, job, and other information.</a:t>
            </a:r>
            <a:endParaRPr lang="zh-CN" altLang="en-US" sz="1400">
              <a:latin typeface="+mj-lt"/>
            </a:endParaRPr>
          </a:p>
        </p:txBody>
      </p:sp>
      <p:sp>
        <p:nvSpPr>
          <p:cNvPr id="42" name="填空热区-点击消失"/>
          <p:cNvSpPr>
            <a:spLocks noChangeArrowheads="1"/>
          </p:cNvSpPr>
          <p:nvPr/>
        </p:nvSpPr>
        <p:spPr bwMode="auto">
          <a:xfrm>
            <a:off x="410951" y="3049345"/>
            <a:ext cx="398674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800" u="sng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    </a:t>
            </a:r>
            <a:endParaRPr lang="en-US" altLang="zh-CN" sz="2800" u="sng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3" name="填空热区-点击消失"/>
          <p:cNvSpPr>
            <a:spLocks noChangeArrowheads="1"/>
          </p:cNvSpPr>
          <p:nvPr/>
        </p:nvSpPr>
        <p:spPr bwMode="auto">
          <a:xfrm>
            <a:off x="409858" y="3563695"/>
            <a:ext cx="398674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800" u="sng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    </a:t>
            </a:r>
            <a:endParaRPr lang="en-US" altLang="zh-CN" sz="2800" u="sng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4" name="填空热区-点击消失"/>
          <p:cNvSpPr>
            <a:spLocks noChangeArrowheads="1"/>
          </p:cNvSpPr>
          <p:nvPr/>
        </p:nvSpPr>
        <p:spPr bwMode="auto">
          <a:xfrm>
            <a:off x="409858" y="4073285"/>
            <a:ext cx="398674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800" u="sng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    </a:t>
            </a:r>
            <a:endParaRPr lang="en-US" altLang="zh-CN" sz="2800" u="sng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5" name="填空热区-点击消失"/>
          <p:cNvSpPr>
            <a:spLocks noChangeArrowheads="1"/>
          </p:cNvSpPr>
          <p:nvPr/>
        </p:nvSpPr>
        <p:spPr bwMode="auto">
          <a:xfrm>
            <a:off x="409858" y="4587632"/>
            <a:ext cx="398674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800" u="sng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    </a:t>
            </a:r>
            <a:endParaRPr lang="en-US" altLang="zh-CN" sz="2800" u="sng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6" name="填空热区-点击消失"/>
          <p:cNvSpPr>
            <a:spLocks noChangeArrowheads="1"/>
          </p:cNvSpPr>
          <p:nvPr/>
        </p:nvSpPr>
        <p:spPr bwMode="auto">
          <a:xfrm>
            <a:off x="409858" y="5097221"/>
            <a:ext cx="398674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800" u="sng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    </a:t>
            </a:r>
            <a:endParaRPr lang="en-US" altLang="zh-CN" sz="2800" u="sng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pic>
        <p:nvPicPr>
          <p:cNvPr id="48" name="按钮-Content Note"/>
          <p:cNvPicPr>
            <a:picLocks noChangeAspect="1" noChangeArrowheads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5565619" y="5446315"/>
            <a:ext cx="1350858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" name="Content Note"/>
          <p:cNvGrpSpPr/>
          <p:nvPr/>
        </p:nvGrpSpPr>
        <p:grpSpPr>
          <a:xfrm>
            <a:off x="899592" y="1277761"/>
            <a:ext cx="7344816" cy="4302478"/>
            <a:chOff x="1619672" y="1268760"/>
            <a:chExt cx="7344816" cy="4302478"/>
          </a:xfrm>
        </p:grpSpPr>
        <p:sp>
          <p:nvSpPr>
            <p:cNvPr id="55" name="矩形 54"/>
            <p:cNvSpPr/>
            <p:nvPr/>
          </p:nvSpPr>
          <p:spPr>
            <a:xfrm>
              <a:off x="1619672" y="1268760"/>
              <a:ext cx="7344816" cy="430247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CB8B02"/>
              </a:solidFill>
            </a:ln>
            <a:effectLst>
              <a:outerShdw blurRad="279400" dist="63500" dir="7800000" sx="101000" sy="101000" algn="t" rotWithShape="0">
                <a:prstClr val="black">
                  <a:alpha val="6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619672" y="1268760"/>
              <a:ext cx="7344816" cy="369332"/>
            </a:xfrm>
            <a:prstGeom prst="rect">
              <a:avLst/>
            </a:prstGeom>
            <a:solidFill>
              <a:srgbClr val="CB8B02"/>
            </a:solidFill>
          </p:spPr>
          <p:txBody>
            <a:bodyPr wrap="square" rtlCol="0">
              <a:noAutofit/>
            </a:bodyPr>
            <a:lstStyle/>
            <a:p>
              <a:r>
                <a:rPr lang="en-US" altLang="zh-CN" b="1">
                  <a:solidFill>
                    <a:schemeClr val="bg1"/>
                  </a:solidFill>
                  <a:latin typeface="+mj-lt"/>
                </a:rPr>
                <a:t>Content Note</a:t>
              </a:r>
              <a:endParaRPr lang="zh-CN" altLang="en-US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835696" y="1854691"/>
              <a:ext cx="6840760" cy="3354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7175" indent="-257175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/>
                <a:t>A </a:t>
              </a:r>
              <a:r>
                <a:rPr lang="en-US" altLang="zh-CN" sz="2400" b="1" i="1"/>
                <a:t>census</a:t>
              </a:r>
              <a:r>
                <a:rPr lang="en-US" altLang="zh-CN" sz="2400"/>
                <a:t> is a survey given to a population to collect basic information usually about common topics such as housing, family members, employment, schooling, etc. </a:t>
              </a:r>
              <a:endParaRPr lang="en-US" altLang="zh-CN" sz="2400"/>
            </a:p>
            <a:p>
              <a:pPr marL="257175" indent="-257175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/>
                <a:t>The information collected can be used in a number of ways, from research to business marketing. There is debate about whether a census survey is really accurate in finding out what is typical among a population. </a:t>
              </a:r>
              <a:endParaRPr lang="en-US" altLang="zh-CN" sz="2400"/>
            </a:p>
            <a:p>
              <a:pPr marL="257175" indent="-257175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/>
                <a:t>Many governments take census surveys every ten years.</a:t>
              </a:r>
              <a:endParaRPr lang="en-US" altLang="zh-CN" sz="2400"/>
            </a:p>
          </p:txBody>
        </p:sp>
      </p:grpSp>
      <p:sp>
        <p:nvSpPr>
          <p:cNvPr id="51" name="标题 1"/>
          <p:cNvSpPr txBox="1"/>
          <p:nvPr/>
        </p:nvSpPr>
        <p:spPr>
          <a:xfrm>
            <a:off x="4716016" y="0"/>
            <a:ext cx="1368152" cy="4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txBody>
          <a:bodyPr vert="horz" lIns="90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Listening 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52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53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" name="btn-Part 1">
            <a:hlinkClick r:id="rId10" action="ppaction://hlinksldjump"/>
          </p:cNvPr>
          <p:cNvSpPr/>
          <p:nvPr/>
        </p:nvSpPr>
        <p:spPr>
          <a:xfrm>
            <a:off x="2627784" y="482615"/>
            <a:ext cx="1768370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btn-Part 1">
            <a:hlinkClick r:id="rId11" action="ppaction://hlinksldjump"/>
          </p:cNvPr>
          <p:cNvSpPr/>
          <p:nvPr/>
        </p:nvSpPr>
        <p:spPr>
          <a:xfrm>
            <a:off x="4427984" y="476672"/>
            <a:ext cx="1968500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btn-Part 1">
            <a:hlinkClick r:id="rId12" action="ppaction://hlinksldjump"/>
          </p:cNvPr>
          <p:cNvSpPr/>
          <p:nvPr/>
        </p:nvSpPr>
        <p:spPr>
          <a:xfrm>
            <a:off x="63500" y="482615"/>
            <a:ext cx="2386623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Track 1-4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-750427" y="1396206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New words and expressions     A. Listening for gist    </a:t>
            </a:r>
            <a:r>
              <a:rPr lang="en-US" altLang="zh-CN" sz="1600" b="1" dirty="0">
                <a:solidFill>
                  <a:schemeClr val="accent6"/>
                </a:solidFill>
                <a:latin typeface="+mj-lt"/>
              </a:rPr>
              <a:t>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B. Listening for details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sp>
        <p:nvSpPr>
          <p:cNvPr id="40" name="文本占位符 3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/>
              <a:t>2. Give detailed information about the woman.</a:t>
            </a:r>
            <a:endParaRPr lang="zh-CN" altLang="en-US"/>
          </a:p>
        </p:txBody>
      </p:sp>
      <p:sp>
        <p:nvSpPr>
          <p:cNvPr id="41" name="文本占位符 40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2016224"/>
          </a:xfrm>
        </p:spPr>
        <p:txBody>
          <a:bodyPr numCol="2">
            <a:normAutofit/>
          </a:bodyPr>
          <a:lstStyle/>
          <a:p>
            <a:r>
              <a:rPr lang="en-US" altLang="zh-CN" sz="2800"/>
              <a:t>Name: </a:t>
            </a:r>
            <a:r>
              <a:rPr lang="en-US" altLang="zh-CN" sz="2800" u="sng">
                <a:solidFill>
                  <a:schemeClr val="accent1"/>
                </a:solidFill>
              </a:rPr>
              <a:t>Lisa Kim</a:t>
            </a:r>
            <a:endParaRPr lang="en-US" altLang="zh-CN" sz="2800" u="sng">
              <a:solidFill>
                <a:schemeClr val="accent1"/>
              </a:solidFill>
            </a:endParaRPr>
          </a:p>
          <a:p>
            <a:r>
              <a:rPr lang="en-US" altLang="zh-CN" sz="2800"/>
              <a:t>Sex: </a:t>
            </a:r>
            <a:r>
              <a:rPr lang="en-US" altLang="zh-CN" sz="2800" u="sng">
                <a:solidFill>
                  <a:schemeClr val="accent1"/>
                </a:solidFill>
              </a:rPr>
              <a:t>female</a:t>
            </a:r>
            <a:endParaRPr lang="en-US" altLang="zh-CN" sz="2800" u="sng">
              <a:solidFill>
                <a:schemeClr val="accent1"/>
              </a:solidFill>
            </a:endParaRPr>
          </a:p>
          <a:p>
            <a:r>
              <a:rPr lang="en-US" altLang="zh-CN" sz="2800"/>
              <a:t>Age: </a:t>
            </a:r>
            <a:r>
              <a:rPr lang="en-US" altLang="zh-CN" sz="2800" u="sng">
                <a:solidFill>
                  <a:schemeClr val="accent1"/>
                </a:solidFill>
              </a:rPr>
              <a:t>23</a:t>
            </a:r>
            <a:endParaRPr lang="en-US" altLang="zh-CN" sz="2800" u="sng">
              <a:solidFill>
                <a:schemeClr val="accent1"/>
              </a:solidFill>
            </a:endParaRPr>
          </a:p>
          <a:p>
            <a:r>
              <a:rPr lang="en-US" altLang="zh-CN" sz="2800"/>
              <a:t>Marital status: </a:t>
            </a:r>
            <a:r>
              <a:rPr lang="en-US" altLang="zh-CN" sz="2800" u="sng">
                <a:solidFill>
                  <a:schemeClr val="accent1"/>
                </a:solidFill>
              </a:rPr>
              <a:t>single</a:t>
            </a:r>
            <a:endParaRPr lang="en-US" altLang="zh-CN" sz="2800" u="sng">
              <a:solidFill>
                <a:schemeClr val="accent1"/>
              </a:solidFill>
            </a:endParaRPr>
          </a:p>
          <a:p>
            <a:r>
              <a:rPr lang="en-US" altLang="zh-CN" sz="2800"/>
              <a:t>Job: </a:t>
            </a:r>
            <a:r>
              <a:rPr lang="en-US" altLang="zh-CN" sz="2800" u="sng">
                <a:solidFill>
                  <a:schemeClr val="accent1"/>
                </a:solidFill>
              </a:rPr>
              <a:t>student</a:t>
            </a:r>
            <a:endParaRPr lang="en-US" altLang="zh-CN" sz="2800" u="sng">
              <a:solidFill>
                <a:schemeClr val="accent1"/>
              </a:solidFill>
            </a:endParaRPr>
          </a:p>
          <a:p>
            <a:r>
              <a:rPr lang="en-US" altLang="zh-CN" sz="2800"/>
              <a:t>Nationality: </a:t>
            </a:r>
            <a:r>
              <a:rPr lang="en-US" altLang="zh-CN" sz="2800" u="sng">
                <a:solidFill>
                  <a:schemeClr val="accent1"/>
                </a:solidFill>
              </a:rPr>
              <a:t>Korea</a:t>
            </a:r>
            <a:endParaRPr lang="zh-CN" altLang="en-US" sz="2800" u="sng">
              <a:solidFill>
                <a:schemeClr val="accent1"/>
              </a:solidFill>
            </a:endParaRPr>
          </a:p>
        </p:txBody>
      </p:sp>
      <p:pic>
        <p:nvPicPr>
          <p:cNvPr id="47" name="播放按钮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95536" y="1633788"/>
            <a:ext cx="295275" cy="304800"/>
          </a:xfrm>
          <a:prstGeom prst="rect">
            <a:avLst/>
          </a:prstGeom>
        </p:spPr>
      </p:pic>
      <p:pic>
        <p:nvPicPr>
          <p:cNvPr id="54" name="暂停按钮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633788"/>
            <a:ext cx="295275" cy="304800"/>
          </a:xfrm>
          <a:prstGeom prst="rect">
            <a:avLst/>
          </a:prstGeom>
        </p:spPr>
      </p:pic>
      <p:pic>
        <p:nvPicPr>
          <p:cNvPr id="63" name="停止按钮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15616" y="1633788"/>
            <a:ext cx="295275" cy="304800"/>
          </a:xfrm>
          <a:prstGeom prst="rect">
            <a:avLst/>
          </a:prstGeom>
        </p:spPr>
      </p:pic>
      <p:pic>
        <p:nvPicPr>
          <p:cNvPr id="64" name="按钮-External Player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482006" y="1633788"/>
            <a:ext cx="1521337" cy="308000"/>
          </a:xfrm>
          <a:prstGeom prst="rect">
            <a:avLst/>
          </a:prstGeom>
        </p:spPr>
      </p:pic>
      <p:pic>
        <p:nvPicPr>
          <p:cNvPr id="66" name="按钮-Script">
            <a:hlinkClick r:id="rId6" action="ppaction://hlinkpres?slideindex=1&amp;slidetitle=幻灯片 1"/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59832" y="1628800"/>
            <a:ext cx="904875" cy="333375"/>
          </a:xfrm>
          <a:prstGeom prst="rect">
            <a:avLst/>
          </a:prstGeom>
        </p:spPr>
      </p:pic>
      <p:sp>
        <p:nvSpPr>
          <p:cNvPr id="42" name="填空热区-点击消失"/>
          <p:cNvSpPr>
            <a:spLocks noChangeArrowheads="1"/>
          </p:cNvSpPr>
          <p:nvPr/>
        </p:nvSpPr>
        <p:spPr bwMode="auto">
          <a:xfrm>
            <a:off x="1537122" y="2321224"/>
            <a:ext cx="1193378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0" name="填空热区-点击消失"/>
          <p:cNvSpPr>
            <a:spLocks noChangeArrowheads="1"/>
          </p:cNvSpPr>
          <p:nvPr/>
        </p:nvSpPr>
        <p:spPr bwMode="auto">
          <a:xfrm>
            <a:off x="1208832" y="2827536"/>
            <a:ext cx="924768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1" name="填空热区-点击消失"/>
          <p:cNvSpPr>
            <a:spLocks noChangeArrowheads="1"/>
          </p:cNvSpPr>
          <p:nvPr/>
        </p:nvSpPr>
        <p:spPr bwMode="auto">
          <a:xfrm>
            <a:off x="1257474" y="3344292"/>
            <a:ext cx="342726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800" u="sng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2" name="填空热区-点击消失"/>
          <p:cNvSpPr>
            <a:spLocks noChangeArrowheads="1"/>
          </p:cNvSpPr>
          <p:nvPr/>
        </p:nvSpPr>
        <p:spPr bwMode="auto">
          <a:xfrm>
            <a:off x="6783620" y="2321224"/>
            <a:ext cx="808524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800" u="sng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single</a:t>
            </a:r>
            <a:endParaRPr lang="en-US" altLang="zh-CN" sz="2800" u="sng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3" name="填空热区-点击消失"/>
          <p:cNvSpPr>
            <a:spLocks noChangeArrowheads="1"/>
          </p:cNvSpPr>
          <p:nvPr/>
        </p:nvSpPr>
        <p:spPr bwMode="auto">
          <a:xfrm>
            <a:off x="5377760" y="2830076"/>
            <a:ext cx="1085116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800" u="sng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student</a:t>
            </a:r>
            <a:endParaRPr lang="en-US" altLang="zh-CN" sz="2800" u="sng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8" name="填空热区-点击消失"/>
          <p:cNvSpPr>
            <a:spLocks noChangeArrowheads="1"/>
          </p:cNvSpPr>
          <p:nvPr/>
        </p:nvSpPr>
        <p:spPr bwMode="auto">
          <a:xfrm>
            <a:off x="6470496" y="3341752"/>
            <a:ext cx="801276" cy="355946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800" u="sng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Korea</a:t>
            </a:r>
            <a:endParaRPr lang="en-US" altLang="zh-CN" sz="2800" u="sng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28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31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标题 1"/>
          <p:cNvSpPr txBox="1"/>
          <p:nvPr/>
        </p:nvSpPr>
        <p:spPr>
          <a:xfrm>
            <a:off x="4716016" y="0"/>
            <a:ext cx="1368152" cy="4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txBody>
          <a:bodyPr vert="horz" lIns="90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Listening 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33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35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btn-Part 1">
            <a:hlinkClick r:id="rId8" action="ppaction://hlinksldjump"/>
          </p:cNvPr>
          <p:cNvSpPr/>
          <p:nvPr/>
        </p:nvSpPr>
        <p:spPr>
          <a:xfrm>
            <a:off x="2627784" y="482615"/>
            <a:ext cx="1768370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btn-Part 1">
            <a:hlinkClick r:id="rId9" action="ppaction://hlinksldjump"/>
          </p:cNvPr>
          <p:cNvSpPr/>
          <p:nvPr/>
        </p:nvSpPr>
        <p:spPr>
          <a:xfrm>
            <a:off x="4427984" y="512884"/>
            <a:ext cx="1968500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btn-Part 1">
            <a:hlinkClick r:id="rId10" action="ppaction://hlinksldjump"/>
          </p:cNvPr>
          <p:cNvSpPr/>
          <p:nvPr/>
        </p:nvSpPr>
        <p:spPr>
          <a:xfrm>
            <a:off x="63500" y="482615"/>
            <a:ext cx="2386623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8" name="Track 1-4">
            <a:hlinkClick r:id="" action="ppaction://media"/>
          </p:cNvPr>
          <p:cNvPicPr>
            <a:picLocks noChangeAspect="1"/>
          </p:cNvPicPr>
          <p:nvPr>
            <a:audi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750427" y="1396206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  <p:bldLst>
      <p:bldP spid="42" grpId="0" animBg="1"/>
      <p:bldP spid="50" grpId="0" animBg="1"/>
      <p:bldP spid="51" grpId="0" animBg="1"/>
      <p:bldP spid="52" grpId="0" animBg="1"/>
      <p:bldP spid="53" grpId="0" animBg="1"/>
      <p:bldP spid="5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标题 1"/>
          <p:cNvSpPr txBox="1"/>
          <p:nvPr/>
        </p:nvSpPr>
        <p:spPr>
          <a:xfrm>
            <a:off x="4716016" y="0"/>
            <a:ext cx="1728192" cy="4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txBody>
          <a:bodyPr vert="horz" lIns="90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spcBef>
                <a:spcPct val="0"/>
              </a:spcBef>
              <a:defRPr/>
            </a:pPr>
            <a:r>
              <a:rPr lang="en-US" altLang="zh-CN">
                <a:solidFill>
                  <a:srgbClr val="515672"/>
                </a:solidFill>
              </a:rPr>
              <a:t>Oral Practice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A. Important language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B. Discussion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251520" y="1700808"/>
          <a:ext cx="8712966" cy="4584732"/>
        </p:xfrm>
        <a:graphic>
          <a:graphicData uri="http://schemas.openxmlformats.org/drawingml/2006/table">
            <a:tbl>
              <a:tblPr/>
              <a:tblGrid>
                <a:gridCol w="1080120"/>
                <a:gridCol w="1872208"/>
                <a:gridCol w="1008112"/>
                <a:gridCol w="936104"/>
                <a:gridCol w="1440160"/>
                <a:gridCol w="2376262"/>
              </a:tblGrid>
              <a:tr h="22682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My</a:t>
                      </a:r>
                      <a:b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</a:b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Your</a:t>
                      </a:r>
                      <a:b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</a:b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His</a:t>
                      </a:r>
                      <a:b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</a:b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Her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name is Alex.</a:t>
                      </a:r>
                      <a:b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</a:br>
                      <a: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name is Sofia.</a:t>
                      </a:r>
                      <a:b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</a:br>
                      <a: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name is Mr. Razak.</a:t>
                      </a:r>
                      <a:b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</a:br>
                      <a: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name is Ms. Tanka.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</a:t>
                      </a:r>
                      <a:b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</a:b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You</a:t>
                      </a:r>
                      <a:b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</a:b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He</a:t>
                      </a:r>
                      <a:b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</a:b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She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am</a:t>
                      </a:r>
                      <a:b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</a:b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are</a:t>
                      </a:r>
                      <a:b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</a:b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is</a:t>
                      </a:r>
                      <a:b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</a:b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is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 student.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 am = </a:t>
                      </a: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I’m</a:t>
                      </a:r>
                      <a:b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</a:br>
                      <a: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You are = </a:t>
                      </a: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You’re</a:t>
                      </a:r>
                      <a:b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</a:br>
                      <a: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He is = </a:t>
                      </a: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He’s</a:t>
                      </a:r>
                      <a:b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</a:br>
                      <a: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She is = </a:t>
                      </a: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She’s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682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Our</a:t>
                      </a:r>
                      <a:b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</a:b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Your</a:t>
                      </a:r>
                      <a:b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</a:b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Their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names are Alena and Liya.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We</a:t>
                      </a:r>
                      <a:b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</a:b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You</a:t>
                      </a:r>
                      <a:b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</a:b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They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are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students.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We are = </a:t>
                      </a: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We’re</a:t>
                      </a:r>
                      <a:b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</a:br>
                      <a: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You are = </a:t>
                      </a: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You’re</a:t>
                      </a:r>
                      <a:b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</a:br>
                      <a:r>
                        <a:rPr lang="en-US" sz="24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They are = </a:t>
                      </a:r>
                      <a:r>
                        <a:rPr lang="en-US" sz="24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They’re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0" name="播放按钮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6760" y="1156397"/>
            <a:ext cx="295275" cy="304800"/>
          </a:xfrm>
          <a:prstGeom prst="rect">
            <a:avLst/>
          </a:prstGeom>
        </p:spPr>
      </p:pic>
      <p:pic>
        <p:nvPicPr>
          <p:cNvPr id="31" name="暂停按钮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66800" y="1156397"/>
            <a:ext cx="295275" cy="304800"/>
          </a:xfrm>
          <a:prstGeom prst="rect">
            <a:avLst/>
          </a:prstGeom>
        </p:spPr>
      </p:pic>
      <p:pic>
        <p:nvPicPr>
          <p:cNvPr id="32" name="停止按钮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026840" y="1156397"/>
            <a:ext cx="295275" cy="304800"/>
          </a:xfrm>
          <a:prstGeom prst="rect">
            <a:avLst/>
          </a:prstGeom>
        </p:spPr>
      </p:pic>
      <p:pic>
        <p:nvPicPr>
          <p:cNvPr id="35" name="按钮-External Player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393230" y="1156397"/>
            <a:ext cx="1521337" cy="308000"/>
          </a:xfrm>
          <a:prstGeom prst="rect">
            <a:avLst/>
          </a:prstGeom>
        </p:spPr>
      </p:pic>
      <p:sp>
        <p:nvSpPr>
          <p:cNvPr id="19" name="btn-Part 1">
            <a:hlinkClick r:id="rId6" action="ppaction://hlinksldjump"/>
          </p:cNvPr>
          <p:cNvSpPr/>
          <p:nvPr/>
        </p:nvSpPr>
        <p:spPr>
          <a:xfrm>
            <a:off x="2016370" y="482615"/>
            <a:ext cx="1277815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btn-Part 1">
            <a:hlinkClick r:id="rId7" action="ppaction://hlinksldjump"/>
          </p:cNvPr>
          <p:cNvSpPr/>
          <p:nvPr/>
        </p:nvSpPr>
        <p:spPr>
          <a:xfrm>
            <a:off x="63500" y="512884"/>
            <a:ext cx="1905977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23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U1-LB-OP-A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779900" y="1003997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播放按钮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6760" y="1156397"/>
            <a:ext cx="295275" cy="304800"/>
          </a:xfrm>
          <a:prstGeom prst="rect">
            <a:avLst/>
          </a:prstGeom>
        </p:spPr>
      </p:pic>
      <p:pic>
        <p:nvPicPr>
          <p:cNvPr id="31" name="暂停按钮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66800" y="1156397"/>
            <a:ext cx="295275" cy="304800"/>
          </a:xfrm>
          <a:prstGeom prst="rect">
            <a:avLst/>
          </a:prstGeom>
        </p:spPr>
      </p:pic>
      <p:pic>
        <p:nvPicPr>
          <p:cNvPr id="32" name="停止按钮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026840" y="1156397"/>
            <a:ext cx="295275" cy="304800"/>
          </a:xfrm>
          <a:prstGeom prst="rect">
            <a:avLst/>
          </a:prstGeom>
        </p:spPr>
      </p:pic>
      <p:pic>
        <p:nvPicPr>
          <p:cNvPr id="35" name="按钮-External Player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393230" y="1156397"/>
            <a:ext cx="1521337" cy="308000"/>
          </a:xfrm>
          <a:prstGeom prst="rect">
            <a:avLst/>
          </a:prstGeom>
        </p:spPr>
      </p:pic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28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39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50" name="表格 49"/>
          <p:cNvGraphicFramePr>
            <a:graphicFrameLocks noGrp="1"/>
          </p:cNvGraphicFramePr>
          <p:nvPr/>
        </p:nvGraphicFramePr>
        <p:xfrm>
          <a:off x="251520" y="1556795"/>
          <a:ext cx="8712968" cy="4896540"/>
        </p:xfrm>
        <a:graphic>
          <a:graphicData uri="http://schemas.openxmlformats.org/drawingml/2006/table">
            <a:tbl>
              <a:tblPr/>
              <a:tblGrid>
                <a:gridCol w="504056"/>
                <a:gridCol w="1008112"/>
                <a:gridCol w="864096"/>
                <a:gridCol w="1080120"/>
                <a:gridCol w="864096"/>
                <a:gridCol w="1584176"/>
                <a:gridCol w="1368152"/>
                <a:gridCol w="1440160"/>
              </a:tblGrid>
              <a:tr h="348567">
                <a:tc gridSpan="8"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Numbers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61048"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zero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ten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twenty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30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thirty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767"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one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eleven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21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twenty-one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forty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767"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two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twelve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twenty-two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fifty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767"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three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thirteen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23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twenty-three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sixty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767"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four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14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fourteen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24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twenty-four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70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seventy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767"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five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fifteen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twenty-five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80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eighty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789"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six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sixteen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26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twenty-six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90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ninety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767"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seven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17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seventeen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27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twenty-seven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one hundred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767"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eight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18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eighteen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28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twenty-eight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1,000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one thousand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767"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nine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nineteen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29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twenty-nine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1,000,000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kern="0">
                          <a:solidFill>
                            <a:srgbClr val="333333"/>
                          </a:solidFill>
                          <a:latin typeface="Neuton" panose="0000050000000000000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one million</a:t>
                      </a:r>
                      <a:endParaRPr lang="zh-CN" sz="1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8095" marR="48095" marT="48095" marB="48095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2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23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标题 1"/>
          <p:cNvSpPr txBox="1"/>
          <p:nvPr/>
        </p:nvSpPr>
        <p:spPr>
          <a:xfrm>
            <a:off x="4716016" y="0"/>
            <a:ext cx="1728192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90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spcBef>
                <a:spcPct val="0"/>
              </a:spcBef>
              <a:defRPr/>
            </a:pPr>
            <a:r>
              <a:rPr lang="en-US" altLang="zh-CN">
                <a:solidFill>
                  <a:srgbClr val="515672"/>
                </a:solidFill>
              </a:rPr>
              <a:t>Oral Practice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A. Important language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B. Discussion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3" name="btn-Part 1">
            <a:hlinkClick r:id="rId6" action="ppaction://hlinksldjump"/>
          </p:cNvPr>
          <p:cNvSpPr/>
          <p:nvPr/>
        </p:nvSpPr>
        <p:spPr>
          <a:xfrm>
            <a:off x="2016370" y="482615"/>
            <a:ext cx="1277815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btn-Part 1">
            <a:hlinkClick r:id="rId7" action="ppaction://hlinksldjump"/>
          </p:cNvPr>
          <p:cNvSpPr/>
          <p:nvPr/>
        </p:nvSpPr>
        <p:spPr>
          <a:xfrm>
            <a:off x="63500" y="512884"/>
            <a:ext cx="1905977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U1-LB-OP-A2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878457" y="953694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播放按钮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6760" y="1156397"/>
            <a:ext cx="295275" cy="304800"/>
          </a:xfrm>
          <a:prstGeom prst="rect">
            <a:avLst/>
          </a:prstGeom>
        </p:spPr>
      </p:pic>
      <p:pic>
        <p:nvPicPr>
          <p:cNvPr id="31" name="暂停按钮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66800" y="1156397"/>
            <a:ext cx="295275" cy="304800"/>
          </a:xfrm>
          <a:prstGeom prst="rect">
            <a:avLst/>
          </a:prstGeom>
        </p:spPr>
      </p:pic>
      <p:pic>
        <p:nvPicPr>
          <p:cNvPr id="32" name="停止按钮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026840" y="1156397"/>
            <a:ext cx="295275" cy="304800"/>
          </a:xfrm>
          <a:prstGeom prst="rect">
            <a:avLst/>
          </a:prstGeom>
        </p:spPr>
      </p:pic>
      <p:pic>
        <p:nvPicPr>
          <p:cNvPr id="35" name="按钮-External Player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393230" y="1156397"/>
            <a:ext cx="1521337" cy="308000"/>
          </a:xfrm>
          <a:prstGeom prst="rect">
            <a:avLst/>
          </a:prstGeom>
        </p:spPr>
      </p:pic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28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39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8" name="文本占位符 37"/>
          <p:cNvSpPr>
            <a:spLocks noGrp="1"/>
          </p:cNvSpPr>
          <p:nvPr>
            <p:ph type="body" sz="quarter" idx="14"/>
          </p:nvPr>
        </p:nvSpPr>
        <p:spPr>
          <a:xfrm>
            <a:off x="323850" y="1844824"/>
            <a:ext cx="8569325" cy="396044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CN" sz="2800" b="1"/>
              <a:t>Census questions</a:t>
            </a:r>
            <a:endParaRPr lang="en-US" altLang="zh-CN" sz="2800" b="1"/>
          </a:p>
          <a:p>
            <a:r>
              <a:rPr lang="en-US" altLang="zh-CN" sz="2800"/>
              <a:t>What’s your name?</a:t>
            </a:r>
            <a:endParaRPr lang="en-US" altLang="zh-CN" sz="2800"/>
          </a:p>
          <a:p>
            <a:r>
              <a:rPr lang="en-US" altLang="zh-CN" sz="2800"/>
              <a:t>How do you spell that?</a:t>
            </a:r>
            <a:endParaRPr lang="en-US" altLang="zh-CN" sz="2800"/>
          </a:p>
          <a:p>
            <a:r>
              <a:rPr lang="en-US" altLang="zh-CN" sz="2800"/>
              <a:t>Where are you from?</a:t>
            </a:r>
            <a:endParaRPr lang="en-US" altLang="zh-CN" sz="2800"/>
          </a:p>
          <a:p>
            <a:r>
              <a:rPr lang="en-US" altLang="zh-CN" sz="2800"/>
              <a:t>How old are you?</a:t>
            </a:r>
            <a:endParaRPr lang="en-US" altLang="zh-CN" sz="2800"/>
          </a:p>
          <a:p>
            <a:r>
              <a:rPr lang="en-US" altLang="zh-CN" sz="2800"/>
              <a:t>Are you married or single?</a:t>
            </a:r>
            <a:endParaRPr lang="en-US" altLang="zh-CN" sz="2800"/>
          </a:p>
          <a:p>
            <a:r>
              <a:rPr lang="en-US" altLang="zh-CN" sz="2800"/>
              <a:t>What do you do?</a:t>
            </a:r>
            <a:endParaRPr lang="en-US" altLang="zh-CN" sz="2800"/>
          </a:p>
          <a:p>
            <a:r>
              <a:rPr lang="en-US" altLang="zh-CN" sz="2800"/>
              <a:t>How many people are there in your family?</a:t>
            </a:r>
            <a:endParaRPr lang="en-US" altLang="zh-CN" sz="2800"/>
          </a:p>
          <a:p>
            <a:endParaRPr lang="zh-CN" altLang="en-US" sz="2800"/>
          </a:p>
        </p:txBody>
      </p:sp>
      <p:grpSp>
        <p:nvGrpSpPr>
          <p:cNvPr id="22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23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标题 1"/>
          <p:cNvSpPr txBox="1"/>
          <p:nvPr/>
        </p:nvSpPr>
        <p:spPr>
          <a:xfrm>
            <a:off x="4716016" y="0"/>
            <a:ext cx="1728192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90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spcBef>
                <a:spcPct val="0"/>
              </a:spcBef>
              <a:defRPr/>
            </a:pPr>
            <a:r>
              <a:rPr lang="en-US" altLang="zh-CN">
                <a:solidFill>
                  <a:srgbClr val="515672"/>
                </a:solidFill>
              </a:rPr>
              <a:t>Oral Practice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A. Important language    </a:t>
            </a:r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B. Discussion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3" name="btn-Part 1">
            <a:hlinkClick r:id="rId6" action="ppaction://hlinksldjump"/>
          </p:cNvPr>
          <p:cNvSpPr/>
          <p:nvPr/>
        </p:nvSpPr>
        <p:spPr>
          <a:xfrm>
            <a:off x="2016370" y="482615"/>
            <a:ext cx="1277815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btn-Part 1">
            <a:hlinkClick r:id="rId7" action="ppaction://hlinksldjump"/>
          </p:cNvPr>
          <p:cNvSpPr/>
          <p:nvPr/>
        </p:nvSpPr>
        <p:spPr>
          <a:xfrm>
            <a:off x="63500" y="512884"/>
            <a:ext cx="1905977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U1-LB-OP-A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799528" y="1003997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>
                <a:solidFill>
                  <a:schemeClr val="accent4"/>
                </a:solidFill>
                <a:latin typeface="+mj-lt"/>
              </a:rPr>
              <a:t>A. Important language    </a:t>
            </a:r>
            <a:r>
              <a:rPr lang="en-US" altLang="zh-CN" sz="1600" b="1" dirty="0">
                <a:solidFill>
                  <a:srgbClr val="515672"/>
                </a:solidFill>
                <a:latin typeface="+mj-lt"/>
              </a:rPr>
              <a:t>B. Discussion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sp>
        <p:nvSpPr>
          <p:cNvPr id="38" name="文本占位符 37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sz="2800"/>
              <a:t>Asking for personal information.</a:t>
            </a:r>
            <a:endParaRPr lang="zh-CN" altLang="en-US" sz="280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14"/>
          </p:nvPr>
        </p:nvSpPr>
        <p:spPr>
          <a:xfrm>
            <a:off x="323850" y="1916832"/>
            <a:ext cx="8569325" cy="4249018"/>
          </a:xfrm>
        </p:spPr>
        <p:txBody>
          <a:bodyPr/>
          <a:lstStyle/>
          <a:p>
            <a:pPr marL="0" indent="0">
              <a:buNone/>
            </a:pPr>
            <a:r>
              <a:rPr lang="en-US" altLang="zh-CN"/>
              <a:t>Work with a partner. Ask and answer the census questions on the previous page. Think of two extra questions and ask your partner.</a:t>
            </a:r>
            <a:endParaRPr lang="zh-CN" altLang="en-US"/>
          </a:p>
        </p:txBody>
      </p:sp>
      <p:sp>
        <p:nvSpPr>
          <p:cNvPr id="29" name="圆角矩形标注 28"/>
          <p:cNvSpPr/>
          <p:nvPr/>
        </p:nvSpPr>
        <p:spPr>
          <a:xfrm>
            <a:off x="611560" y="3638184"/>
            <a:ext cx="5328592" cy="648072"/>
          </a:xfrm>
          <a:prstGeom prst="wedgeRoundRectCallout">
            <a:avLst>
              <a:gd name="adj1" fmla="val -53883"/>
              <a:gd name="adj2" fmla="val 47303"/>
              <a:gd name="adj3" fmla="val 16667"/>
            </a:avLst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>
                <a:solidFill>
                  <a:schemeClr val="tx1"/>
                </a:solidFill>
              </a:rPr>
              <a:t>How many people are there in your family?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41" name="圆角矩形标注 40"/>
          <p:cNvSpPr/>
          <p:nvPr/>
        </p:nvSpPr>
        <p:spPr>
          <a:xfrm>
            <a:off x="827584" y="4637746"/>
            <a:ext cx="7560840" cy="720080"/>
          </a:xfrm>
          <a:prstGeom prst="wedgeRoundRectCallout">
            <a:avLst>
              <a:gd name="adj1" fmla="val 51381"/>
              <a:gd name="adj2" fmla="val 44594"/>
              <a:gd name="adj3" fmla="val 16667"/>
            </a:avLst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>
                <a:solidFill>
                  <a:schemeClr val="tx1"/>
                </a:solidFill>
              </a:rPr>
              <a:t>There are five: my mother, my father, my two brothers, and me.</a:t>
            </a:r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42" name="按钮-Language Note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1629" y="5855612"/>
            <a:ext cx="1467165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Language Note"/>
          <p:cNvGrpSpPr/>
          <p:nvPr/>
        </p:nvGrpSpPr>
        <p:grpSpPr>
          <a:xfrm>
            <a:off x="1403648" y="1295763"/>
            <a:ext cx="6336704" cy="4149462"/>
            <a:chOff x="2375756" y="1268760"/>
            <a:chExt cx="6336704" cy="4149462"/>
          </a:xfrm>
        </p:grpSpPr>
        <p:sp>
          <p:nvSpPr>
            <p:cNvPr id="51" name="矩形 50"/>
            <p:cNvSpPr/>
            <p:nvPr/>
          </p:nvSpPr>
          <p:spPr>
            <a:xfrm>
              <a:off x="2375756" y="1268760"/>
              <a:ext cx="6336704" cy="41494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  <a:effectLst>
              <a:outerShdw blurRad="279400" dist="63500" dir="7800000" sx="101000" sy="101000" algn="t" rotWithShape="0">
                <a:prstClr val="black">
                  <a:alpha val="6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tIns="504000" rIns="216000" bIns="216000" rtlCol="0" anchor="t"/>
            <a:lstStyle/>
            <a:p>
              <a:pPr>
                <a:spcAft>
                  <a:spcPts val="1200"/>
                </a:spcAft>
                <a:buClr>
                  <a:schemeClr val="accent3"/>
                </a:buClr>
                <a:buSzPct val="50000"/>
              </a:pPr>
              <a:r>
                <a:rPr lang="en-US" altLang="zh-CN" sz="2400">
                  <a:solidFill>
                    <a:schemeClr val="tx1"/>
                  </a:solidFill>
                </a:rPr>
                <a:t>Some ideas of census questions include:</a:t>
              </a:r>
              <a:endParaRPr lang="en-US" altLang="zh-CN" sz="2400">
                <a:solidFill>
                  <a:schemeClr val="tx1"/>
                </a:solidFill>
              </a:endParaRPr>
            </a:p>
            <a:p>
              <a:pPr marL="262255" indent="-262255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>
                  <a:solidFill>
                    <a:schemeClr val="tx1"/>
                  </a:solidFill>
                </a:rPr>
                <a:t>How many people are living in your household?</a:t>
              </a:r>
              <a:endParaRPr lang="en-US" altLang="zh-CN" sz="2400">
                <a:solidFill>
                  <a:schemeClr val="tx1"/>
                </a:solidFill>
              </a:endParaRPr>
            </a:p>
            <a:p>
              <a:pPr marL="262255" indent="-262255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>
                  <a:solidFill>
                    <a:schemeClr val="tx1"/>
                  </a:solidFill>
                </a:rPr>
                <a:t>What language is spoken in your household?</a:t>
              </a:r>
              <a:endParaRPr lang="en-US" altLang="zh-CN" sz="2400">
                <a:solidFill>
                  <a:schemeClr val="tx1"/>
                </a:solidFill>
              </a:endParaRPr>
            </a:p>
            <a:p>
              <a:pPr marL="262255" indent="-262255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>
                  <a:solidFill>
                    <a:schemeClr val="tx1"/>
                  </a:solidFill>
                </a:rPr>
                <a:t>What is your ethnic origin?</a:t>
              </a:r>
              <a:endParaRPr lang="en-US" altLang="zh-CN" sz="2400">
                <a:solidFill>
                  <a:schemeClr val="tx1"/>
                </a:solidFill>
              </a:endParaRPr>
            </a:p>
            <a:p>
              <a:pPr marL="262255" indent="-262255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>
                  <a:solidFill>
                    <a:schemeClr val="tx1"/>
                  </a:solidFill>
                </a:rPr>
                <a:t>What schools have you attended?</a:t>
              </a:r>
              <a:endParaRPr lang="en-US" altLang="zh-CN" sz="2400">
                <a:solidFill>
                  <a:schemeClr val="tx1"/>
                </a:solidFill>
              </a:endParaRPr>
            </a:p>
            <a:p>
              <a:pPr marL="262255" indent="-262255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>
                  <a:solidFill>
                    <a:schemeClr val="tx1"/>
                  </a:solidFill>
                </a:rPr>
                <a:t>Do you currently have health insurance?</a:t>
              </a:r>
              <a:endParaRPr lang="en-US" altLang="zh-CN" sz="2400">
                <a:solidFill>
                  <a:schemeClr val="tx1"/>
                </a:solidFill>
              </a:endParaRPr>
            </a:p>
            <a:p>
              <a:pPr marL="262255" indent="-262255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>
                  <a:solidFill>
                    <a:schemeClr val="tx1"/>
                  </a:solidFill>
                </a:rPr>
                <a:t>Have you ever been in the military?</a:t>
              </a:r>
              <a:endParaRPr lang="en-US" altLang="zh-CN" sz="2400">
                <a:solidFill>
                  <a:schemeClr val="tx1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375756" y="1268760"/>
              <a:ext cx="6336704" cy="369332"/>
            </a:xfrm>
            <a:prstGeom prst="rect">
              <a:avLst/>
            </a:prstGeom>
            <a:solidFill>
              <a:schemeClr val="accent3"/>
            </a:solidFill>
          </p:spPr>
          <p:txBody>
            <a:bodyPr wrap="square" rtlCol="0">
              <a:noAutofit/>
            </a:bodyPr>
            <a:lstStyle/>
            <a:p>
              <a:r>
                <a:rPr lang="en-US" altLang="zh-CN" b="1">
                  <a:solidFill>
                    <a:schemeClr val="bg1"/>
                  </a:solidFill>
                  <a:latin typeface="+mj-lt"/>
                </a:rPr>
                <a:t>Language Note</a:t>
              </a:r>
              <a:endParaRPr lang="zh-CN" altLang="en-US" b="1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3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6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6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标题 1"/>
          <p:cNvSpPr txBox="1"/>
          <p:nvPr/>
        </p:nvSpPr>
        <p:spPr>
          <a:xfrm>
            <a:off x="4716016" y="0"/>
            <a:ext cx="1728192" cy="4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txBody>
          <a:bodyPr vert="horz" lIns="90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spcBef>
                <a:spcPct val="0"/>
              </a:spcBef>
              <a:defRPr/>
            </a:pPr>
            <a:r>
              <a:rPr lang="en-US" altLang="zh-CN" dirty="0">
                <a:solidFill>
                  <a:srgbClr val="515672"/>
                </a:solidFill>
              </a:rPr>
              <a:t>Oral Practice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15672"/>
              </a:solidFill>
              <a:effectLst/>
              <a:uLnTx/>
              <a:uFillTx/>
            </a:endParaRPr>
          </a:p>
        </p:txBody>
      </p:sp>
      <p:grpSp>
        <p:nvGrpSpPr>
          <p:cNvPr id="24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25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btn-Part 1">
            <a:hlinkClick r:id="rId2" action="ppaction://hlinksldjump"/>
          </p:cNvPr>
          <p:cNvSpPr/>
          <p:nvPr/>
        </p:nvSpPr>
        <p:spPr>
          <a:xfrm>
            <a:off x="2016370" y="528464"/>
            <a:ext cx="1277815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btn-Part 1">
            <a:hlinkClick r:id="rId3" action="ppaction://hlinksldjump"/>
          </p:cNvPr>
          <p:cNvSpPr/>
          <p:nvPr/>
        </p:nvSpPr>
        <p:spPr>
          <a:xfrm>
            <a:off x="63500" y="482615"/>
            <a:ext cx="1905977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6" name="文本占位符 75"/>
          <p:cNvSpPr>
            <a:spLocks noGrp="1"/>
          </p:cNvSpPr>
          <p:nvPr>
            <p:ph type="body" sz="quarter" idx="14"/>
          </p:nvPr>
        </p:nvSpPr>
        <p:spPr>
          <a:xfrm>
            <a:off x="323850" y="620688"/>
            <a:ext cx="8569325" cy="446449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zh-CN" sz="2400" b="1"/>
              <a:t>Listening for Specific Information: Numbers </a:t>
            </a:r>
            <a:r>
              <a:rPr lang="en-US" altLang="zh-CN" sz="2400"/>
              <a:t> </a:t>
            </a:r>
            <a:endParaRPr lang="zh-CN" altLang="zh-CN" sz="2400"/>
          </a:p>
          <a:p>
            <a:pPr marL="0" indent="363855">
              <a:buNone/>
            </a:pPr>
            <a:r>
              <a:rPr lang="en-US" altLang="zh-CN" sz="2400"/>
              <a:t>It is necessary for us to listen for specific words that contain the information we need. This exercise focuses on one kind of required information — numbers.</a:t>
            </a:r>
            <a:endParaRPr lang="zh-CN" altLang="zh-CN" sz="2400"/>
          </a:p>
          <a:p>
            <a:pPr marL="0" indent="363855">
              <a:buNone/>
            </a:pPr>
            <a:r>
              <a:rPr lang="en-US" altLang="zh-CN" sz="2400"/>
              <a:t>You can identify a </a:t>
            </a:r>
            <a:r>
              <a:rPr lang="en-US" altLang="zh-CN" sz="2400" b="1"/>
              <a:t>zip code</a:t>
            </a:r>
            <a:r>
              <a:rPr lang="en-US" altLang="zh-CN" sz="2400"/>
              <a:t> by listening out for a number that comes either right before or right after the name of a city or country. The numbers are usually read </a:t>
            </a:r>
            <a:r>
              <a:rPr lang="en-US" altLang="zh-CN" sz="2400" b="1"/>
              <a:t>individually</a:t>
            </a:r>
            <a:r>
              <a:rPr lang="en-US" altLang="zh-CN" sz="2400"/>
              <a:t>. For example, the American zip code 33671 would be read as</a:t>
            </a:r>
            <a:r>
              <a:rPr lang="en-US" altLang="zh-CN" sz="2400" b="1"/>
              <a:t> </a:t>
            </a:r>
            <a:r>
              <a:rPr lang="en-US" altLang="zh-CN" sz="2400" i="1"/>
              <a:t>three-three-six-seven-one</a:t>
            </a:r>
            <a:r>
              <a:rPr lang="en-US" altLang="zh-CN" sz="2400"/>
              <a:t>.</a:t>
            </a:r>
            <a:endParaRPr lang="zh-CN" altLang="zh-CN" sz="2400"/>
          </a:p>
          <a:p>
            <a:pPr marL="0" indent="363855">
              <a:buNone/>
            </a:pPr>
            <a:r>
              <a:rPr lang="en-US" altLang="zh-CN" sz="2400"/>
              <a:t>When discussing </a:t>
            </a:r>
            <a:r>
              <a:rPr lang="en-US" altLang="zh-CN" sz="2400" b="1"/>
              <a:t>money</a:t>
            </a:r>
            <a:r>
              <a:rPr lang="en-US" altLang="zh-CN" sz="2400"/>
              <a:t>, numbers will usually be read </a:t>
            </a:r>
            <a:r>
              <a:rPr lang="en-US" altLang="zh-CN" sz="2400" b="1"/>
              <a:t>in blocks of three digits</a:t>
            </a:r>
            <a:r>
              <a:rPr lang="en-US" altLang="zh-CN" sz="2400"/>
              <a:t>. If cents are involved, the word “and” is added before their value. For example: </a:t>
            </a:r>
            <a:endParaRPr lang="zh-CN" altLang="zh-CN" sz="2400"/>
          </a:p>
        </p:txBody>
      </p:sp>
      <p:sp>
        <p:nvSpPr>
          <p:cNvPr id="32" name="圆角矩形 31"/>
          <p:cNvSpPr/>
          <p:nvPr/>
        </p:nvSpPr>
        <p:spPr>
          <a:xfrm>
            <a:off x="323528" y="5053305"/>
            <a:ext cx="8424936" cy="132802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/>
              <a:t>$168.91 will be read as </a:t>
            </a:r>
            <a:r>
              <a:rPr lang="en-US" altLang="zh-CN" sz="2400" i="1" dirty="0"/>
              <a:t>one hundred sixty-eight dollars, and ninety-one cents.</a:t>
            </a:r>
            <a:endParaRPr lang="zh-CN" altLang="zh-CN" sz="2400" dirty="0"/>
          </a:p>
          <a:p>
            <a:r>
              <a:rPr lang="en-US" altLang="zh-CN" sz="2400" dirty="0"/>
              <a:t>$1,168,910 will be read as </a:t>
            </a:r>
            <a:r>
              <a:rPr lang="en-US" altLang="zh-CN" sz="2400" i="1" dirty="0"/>
              <a:t>one </a:t>
            </a:r>
            <a:r>
              <a:rPr lang="en-US" altLang="zh-CN" sz="2400" b="1" i="1" dirty="0"/>
              <a:t>million</a:t>
            </a:r>
            <a:r>
              <a:rPr lang="en-US" altLang="zh-CN" sz="2400" i="1" dirty="0"/>
              <a:t> one hundred sixty-eight </a:t>
            </a:r>
            <a:r>
              <a:rPr lang="en-US" altLang="zh-CN" sz="2400" b="1" i="1" dirty="0"/>
              <a:t>thousand</a:t>
            </a:r>
            <a:r>
              <a:rPr lang="en-US" altLang="zh-CN" sz="2400" i="1" dirty="0"/>
              <a:t> nine hundred ten dollars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grpSp>
        <p:nvGrpSpPr>
          <p:cNvPr id="13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14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  <p:bldLst>
      <p:bldP spid="76" grpId="0" uiExpand="1" build="p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文本占位符 74"/>
          <p:cNvSpPr>
            <a:spLocks noGrp="1"/>
          </p:cNvSpPr>
          <p:nvPr>
            <p:ph type="body" sz="quarter" idx="13"/>
          </p:nvPr>
        </p:nvSpPr>
        <p:spPr>
          <a:xfrm>
            <a:off x="323850" y="692696"/>
            <a:ext cx="8569325" cy="576262"/>
          </a:xfrm>
        </p:spPr>
        <p:txBody>
          <a:bodyPr/>
          <a:lstStyle/>
          <a:p>
            <a:r>
              <a:rPr lang="en-US" altLang="zh-CN" dirty="0"/>
              <a:t>Listen to the recording and fill in the blanks with numbers you hear.</a:t>
            </a:r>
            <a:endParaRPr lang="zh-CN" altLang="en-US" dirty="0"/>
          </a:p>
        </p:txBody>
      </p:sp>
      <p:sp>
        <p:nvSpPr>
          <p:cNvPr id="76" name="文本占位符 75"/>
          <p:cNvSpPr>
            <a:spLocks noGrp="1"/>
          </p:cNvSpPr>
          <p:nvPr>
            <p:ph type="body" sz="quarter" idx="14"/>
          </p:nvPr>
        </p:nvSpPr>
        <p:spPr>
          <a:xfrm>
            <a:off x="323850" y="1556792"/>
            <a:ext cx="8569325" cy="4968552"/>
          </a:xfrm>
        </p:spPr>
        <p:txBody>
          <a:bodyPr>
            <a:noAutofit/>
          </a:bodyPr>
          <a:lstStyle/>
          <a:p>
            <a:pPr marL="363855" indent="-363855">
              <a:buFont typeface="+mj-lt"/>
              <a:buAutoNum type="arabicPeriod"/>
            </a:pPr>
            <a:r>
              <a:rPr lang="en-US" altLang="zh-CN" sz="2400" dirty="0"/>
              <a:t>Remember to put down the zip code when you address the envelope. Mine is </a:t>
            </a:r>
            <a:r>
              <a:rPr lang="en-US" altLang="zh-CN" sz="2400" u="sng" dirty="0">
                <a:solidFill>
                  <a:schemeClr val="accent1"/>
                </a:solidFill>
              </a:rPr>
              <a:t>92381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marL="363855" indent="-363855">
              <a:buFont typeface="+mj-lt"/>
              <a:buAutoNum type="arabicPeriod"/>
            </a:pPr>
            <a:r>
              <a:rPr lang="en-US" altLang="zh-CN" sz="2400" dirty="0"/>
              <a:t>Sally’s aunt has just come back from France. Now she’s staying at the Pearl Hotel, Room </a:t>
            </a:r>
            <a:r>
              <a:rPr lang="en-US" altLang="zh-CN" sz="2400" u="sng" dirty="0">
                <a:solidFill>
                  <a:schemeClr val="accent1"/>
                </a:solidFill>
              </a:rPr>
              <a:t>2608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marL="363855" indent="-363855">
              <a:buFont typeface="+mj-lt"/>
              <a:buAutoNum type="arabicPeriod"/>
            </a:pPr>
            <a:r>
              <a:rPr lang="en-US" altLang="zh-CN" sz="2400" dirty="0"/>
              <a:t>Mr. Davis lives at </a:t>
            </a:r>
            <a:r>
              <a:rPr lang="en-US" altLang="zh-CN" sz="2400" u="sng" dirty="0">
                <a:solidFill>
                  <a:schemeClr val="accent1"/>
                </a:solidFill>
              </a:rPr>
              <a:t>1540</a:t>
            </a:r>
            <a:r>
              <a:rPr lang="en-US" altLang="zh-CN" sz="2400" dirty="0"/>
              <a:t> Water Street.</a:t>
            </a:r>
            <a:endParaRPr lang="en-US" altLang="zh-CN" sz="2400" dirty="0"/>
          </a:p>
          <a:p>
            <a:pPr marL="363855" indent="-363855">
              <a:buFont typeface="+mj-lt"/>
              <a:buAutoNum type="arabicPeriod"/>
            </a:pPr>
            <a:r>
              <a:rPr lang="en-US" altLang="zh-CN" sz="2400" dirty="0"/>
              <a:t>It usually takes about </a:t>
            </a:r>
            <a:r>
              <a:rPr lang="en-US" altLang="zh-CN" sz="2400" u="sng" dirty="0">
                <a:solidFill>
                  <a:schemeClr val="accent1"/>
                </a:solidFill>
              </a:rPr>
              <a:t>75</a:t>
            </a:r>
            <a:r>
              <a:rPr lang="en-US" altLang="zh-CN" sz="2400" dirty="0"/>
              <a:t> minutes to get to the airport from here.</a:t>
            </a:r>
            <a:endParaRPr lang="en-US" altLang="zh-CN" sz="2400" dirty="0"/>
          </a:p>
          <a:p>
            <a:pPr marL="363855" indent="-363855">
              <a:buFont typeface="+mj-lt"/>
              <a:buAutoNum type="arabicPeriod"/>
            </a:pPr>
            <a:r>
              <a:rPr lang="en-US" altLang="zh-CN" sz="2400" dirty="0"/>
              <a:t>The new coat cost me </a:t>
            </a:r>
            <a:r>
              <a:rPr lang="en-US" altLang="zh-CN" sz="2400" u="sng" dirty="0">
                <a:solidFill>
                  <a:schemeClr val="accent1"/>
                </a:solidFill>
              </a:rPr>
              <a:t>156</a:t>
            </a:r>
            <a:r>
              <a:rPr lang="en-US" altLang="zh-CN" sz="2400" dirty="0"/>
              <a:t> </a:t>
            </a:r>
            <a:r>
              <a:rPr lang="en-US" altLang="zh-CN" sz="2400" dirty="0" err="1"/>
              <a:t>yuan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marL="363855" indent="-363855">
              <a:buFont typeface="+mj-lt"/>
              <a:buAutoNum type="arabicPeriod"/>
            </a:pPr>
            <a:r>
              <a:rPr lang="en-US" altLang="zh-CN" sz="2400" dirty="0"/>
              <a:t>The Tower of London is more than </a:t>
            </a:r>
            <a:r>
              <a:rPr lang="en-US" altLang="zh-CN" sz="2400" u="sng" dirty="0">
                <a:solidFill>
                  <a:schemeClr val="accent1"/>
                </a:solidFill>
              </a:rPr>
              <a:t>900</a:t>
            </a:r>
            <a:r>
              <a:rPr lang="en-US" altLang="zh-CN" sz="2400" dirty="0"/>
              <a:t> years old.</a:t>
            </a:r>
            <a:endParaRPr lang="en-US" altLang="zh-CN" sz="2400" dirty="0"/>
          </a:p>
          <a:p>
            <a:pPr marL="363855" indent="-363855">
              <a:buFont typeface="+mj-lt"/>
              <a:buAutoNum type="arabicPeriod"/>
            </a:pPr>
            <a:r>
              <a:rPr lang="en-US" altLang="zh-CN" sz="2400" dirty="0"/>
              <a:t>Mr. Baker has been working in the City Bank of New York for two years. He now has an annual income of $</a:t>
            </a:r>
            <a:r>
              <a:rPr lang="en-US" altLang="zh-CN" sz="2400" u="sng" dirty="0">
                <a:solidFill>
                  <a:schemeClr val="accent1"/>
                </a:solidFill>
              </a:rPr>
              <a:t>84,200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marL="363855" indent="-363855">
              <a:buFont typeface="+mj-lt"/>
              <a:buAutoNum type="arabicPeriod"/>
            </a:pPr>
            <a:r>
              <a:rPr lang="en-US" altLang="zh-CN" sz="2400" dirty="0"/>
              <a:t>New York is </a:t>
            </a:r>
            <a:r>
              <a:rPr lang="en-US" altLang="zh-CN" sz="2400" u="sng" dirty="0">
                <a:solidFill>
                  <a:schemeClr val="accent1"/>
                </a:solidFill>
              </a:rPr>
              <a:t>1735</a:t>
            </a:r>
            <a:r>
              <a:rPr lang="en-US" altLang="zh-CN" sz="2400" dirty="0"/>
              <a:t> miles away from here.</a:t>
            </a:r>
            <a:endParaRPr lang="zh-CN" altLang="en-US" sz="2400" dirty="0"/>
          </a:p>
        </p:txBody>
      </p:sp>
      <p:sp>
        <p:nvSpPr>
          <p:cNvPr id="58" name="填空热区-点击消失"/>
          <p:cNvSpPr>
            <a:spLocks noChangeArrowheads="1"/>
          </p:cNvSpPr>
          <p:nvPr/>
        </p:nvSpPr>
        <p:spPr bwMode="auto">
          <a:xfrm>
            <a:off x="1653576" y="1993603"/>
            <a:ext cx="720080" cy="34043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pic>
        <p:nvPicPr>
          <p:cNvPr id="31" name="播放按钮"/>
          <p:cNvPicPr>
            <a:picLocks noChangeAspect="1" noChangeArrowheads="1"/>
          </p:cNvPicPr>
          <p:nvPr/>
        </p:nvPicPr>
        <p:blipFill>
          <a:blip r:embed="rId1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95536" y="1201740"/>
            <a:ext cx="295275" cy="304800"/>
          </a:xfrm>
          <a:prstGeom prst="rect">
            <a:avLst/>
          </a:prstGeom>
        </p:spPr>
      </p:pic>
      <p:pic>
        <p:nvPicPr>
          <p:cNvPr id="32" name="暂停按钮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55576" y="1201740"/>
            <a:ext cx="295275" cy="304800"/>
          </a:xfrm>
          <a:prstGeom prst="rect">
            <a:avLst/>
          </a:prstGeom>
        </p:spPr>
      </p:pic>
      <p:pic>
        <p:nvPicPr>
          <p:cNvPr id="34" name="停止按钮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15616" y="1201740"/>
            <a:ext cx="295275" cy="304800"/>
          </a:xfrm>
          <a:prstGeom prst="rect">
            <a:avLst/>
          </a:prstGeom>
        </p:spPr>
      </p:pic>
      <p:pic>
        <p:nvPicPr>
          <p:cNvPr id="42" name="按钮-External Player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482006" y="1201740"/>
            <a:ext cx="1521337" cy="308000"/>
          </a:xfrm>
          <a:prstGeom prst="rect">
            <a:avLst/>
          </a:prstGeom>
        </p:spPr>
      </p:pic>
      <p:pic>
        <p:nvPicPr>
          <p:cNvPr id="43" name="Track 1-5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link="rId7"/>
              </p:ext>
            </p:extLst>
          </p:nvPr>
        </p:nvPicPr>
        <p:blipFill>
          <a:blip r:embed="rId8" cstate="print"/>
          <a:stretch>
            <a:fillRect/>
          </a:stretch>
        </p:blipFill>
        <p:spPr>
          <a:xfrm>
            <a:off x="3714744" y="1201740"/>
            <a:ext cx="304800" cy="304800"/>
          </a:xfrm>
          <a:prstGeom prst="rect">
            <a:avLst/>
          </a:prstGeom>
        </p:spPr>
      </p:pic>
      <p:sp>
        <p:nvSpPr>
          <p:cNvPr id="46" name="填空热区-点击消失"/>
          <p:cNvSpPr>
            <a:spLocks noChangeArrowheads="1"/>
          </p:cNvSpPr>
          <p:nvPr/>
        </p:nvSpPr>
        <p:spPr bwMode="auto">
          <a:xfrm>
            <a:off x="2903270" y="2804400"/>
            <a:ext cx="586800" cy="34043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8" name="填空热区-点击消失"/>
          <p:cNvSpPr>
            <a:spLocks noChangeArrowheads="1"/>
          </p:cNvSpPr>
          <p:nvPr/>
        </p:nvSpPr>
        <p:spPr bwMode="auto">
          <a:xfrm>
            <a:off x="2748764" y="3236791"/>
            <a:ext cx="612000" cy="34043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9" name="填空热区-点击消失"/>
          <p:cNvSpPr>
            <a:spLocks noChangeArrowheads="1"/>
          </p:cNvSpPr>
          <p:nvPr/>
        </p:nvSpPr>
        <p:spPr bwMode="auto">
          <a:xfrm>
            <a:off x="3195448" y="3678365"/>
            <a:ext cx="338311" cy="34043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1" name="填空热区-点击消失"/>
          <p:cNvSpPr>
            <a:spLocks noChangeArrowheads="1"/>
          </p:cNvSpPr>
          <p:nvPr/>
        </p:nvSpPr>
        <p:spPr bwMode="auto">
          <a:xfrm>
            <a:off x="3190685" y="4115727"/>
            <a:ext cx="457390" cy="34043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2" name="填空热区-点击消失"/>
          <p:cNvSpPr>
            <a:spLocks noChangeArrowheads="1"/>
          </p:cNvSpPr>
          <p:nvPr/>
        </p:nvSpPr>
        <p:spPr bwMode="auto">
          <a:xfrm>
            <a:off x="4722121" y="4552550"/>
            <a:ext cx="457390" cy="34043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3" name="填空热区-点击消失"/>
          <p:cNvSpPr>
            <a:spLocks noChangeArrowheads="1"/>
          </p:cNvSpPr>
          <p:nvPr/>
        </p:nvSpPr>
        <p:spPr bwMode="auto">
          <a:xfrm>
            <a:off x="4588041" y="5369232"/>
            <a:ext cx="785818" cy="34043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5" name="填空热区-点击消失"/>
          <p:cNvSpPr>
            <a:spLocks noChangeArrowheads="1"/>
          </p:cNvSpPr>
          <p:nvPr/>
        </p:nvSpPr>
        <p:spPr bwMode="auto">
          <a:xfrm>
            <a:off x="2168285" y="5804701"/>
            <a:ext cx="593948" cy="34043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57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66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27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 showWhenStopped="0"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</p:childTnLst>
        </p:cTn>
      </p:par>
    </p:tnLst>
    <p:bldLst>
      <p:bldP spid="58" grpId="0" animBg="1"/>
      <p:bldP spid="46" grpId="0" animBg="1"/>
      <p:bldP spid="48" grpId="0" animBg="1"/>
      <p:bldP spid="49" grpId="0" animBg="1"/>
      <p:bldP spid="51" grpId="0" animBg="1"/>
      <p:bldP spid="52" grpId="0" animBg="1"/>
      <p:bldP spid="53" grpId="0" animBg="1"/>
      <p:bldP spid="55" grpId="0" animBg="1"/>
    </p:bldLst>
  </p:timing>
</p:sld>
</file>

<file path=ppt/tags/tag1.xml><?xml version="1.0" encoding="utf-8"?>
<p:tagLst xmlns:p="http://schemas.openxmlformats.org/presentationml/2006/main">
  <p:tag name="KSO_WM_DIAGRAM_VIRTUALLY_FRAME" val="{&quot;height&quot;:342.8061417322835,&quot;left&quot;:25.474645669291338,&quot;top&quot;:165.33055118110235,&quot;width&quot;:680.3905511811024}"/>
</p:tagLst>
</file>

<file path=ppt/tags/tag2.xml><?xml version="1.0" encoding="utf-8"?>
<p:tagLst xmlns:p="http://schemas.openxmlformats.org/presentationml/2006/main">
  <p:tag name="KSO_WM_DIAGRAM_VIRTUALLY_FRAME" val="{&quot;height&quot;:342.8061417322835,&quot;left&quot;:25.474645669291338,&quot;top&quot;:165.33055118110235,&quot;width&quot;:680.3905511811024}"/>
</p:tagLst>
</file>

<file path=ppt/tags/tag3.xml><?xml version="1.0" encoding="utf-8"?>
<p:tagLst xmlns:p="http://schemas.openxmlformats.org/presentationml/2006/main">
  <p:tag name="KSO_WM_DIAGRAM_VIRTUALLY_FRAME" val="{&quot;height&quot;:342.8061417322835,&quot;left&quot;:25.474645669291338,&quot;top&quot;:165.33055118110235,&quot;width&quot;:680.3905511811024}"/>
</p:tagLst>
</file>

<file path=ppt/tags/tag4.xml><?xml version="1.0" encoding="utf-8"?>
<p:tagLst xmlns:p="http://schemas.openxmlformats.org/presentationml/2006/main">
  <p:tag name="KSO_WM_DIAGRAM_VIRTUALLY_FRAME" val="{&quot;height&quot;:342.8061417322835,&quot;left&quot;:25.474645669291338,&quot;top&quot;:165.33055118110235,&quot;width&quot;:680.3905511811024}"/>
</p:tagLst>
</file>

<file path=ppt/tags/tag5.xml><?xml version="1.0" encoding="utf-8"?>
<p:tagLst xmlns:p="http://schemas.openxmlformats.org/presentationml/2006/main">
  <p:tag name="KSO_WM_DIAGRAM_VIRTUALLY_FRAME" val="{&quot;height&quot;:342.8061417322835,&quot;left&quot;:25.474645669291338,&quot;top&quot;:165.33055118110235,&quot;width&quot;:680.3905511811024}"/>
</p:tagLst>
</file>

<file path=ppt/tags/tag6.xml><?xml version="1.0" encoding="utf-8"?>
<p:tagLst xmlns:p="http://schemas.openxmlformats.org/presentationml/2006/main">
  <p:tag name="KSO_WM_DIAGRAM_VIRTUALLY_FRAME" val="{&quot;height&quot;:342.8061417322835,&quot;left&quot;:25.474645669291338,&quot;top&quot;:165.33055118110235,&quot;width&quot;:680.3905511811024}"/>
</p:tagLst>
</file>

<file path=ppt/tags/tag7.xml><?xml version="1.0" encoding="utf-8"?>
<p:tagLst xmlns:p="http://schemas.openxmlformats.org/presentationml/2006/main">
  <p:tag name="KSO_WM_DIAGRAM_VIRTUALLY_FRAME" val="{&quot;height&quot;:342.8061417322835,&quot;left&quot;:25.474645669291338,&quot;top&quot;:165.33055118110235,&quot;width&quot;:680.3905511811024}"/>
</p:tagLst>
</file>

<file path=ppt/tags/tag8.xml><?xml version="1.0" encoding="utf-8"?>
<p:tagLst xmlns:p="http://schemas.openxmlformats.org/presentationml/2006/main">
  <p:tag name="KSO_WM_DIAGRAM_VIRTUALLY_FRAME" val="{&quot;height&quot;:342.8061417322835,&quot;left&quot;:25.474645669291338,&quot;top&quot;:165.33055118110235,&quot;width&quot;:680.3905511811024}"/>
</p:tagLst>
</file>

<file path=ppt/tags/tag9.xml><?xml version="1.0" encoding="utf-8"?>
<p:tagLst xmlns:p="http://schemas.openxmlformats.org/presentationml/2006/main">
  <p:tag name="KSO_WM_DIAGRAM_VIRTUALLY_FRAME" val="{&quot;height&quot;:342.8061417322835,&quot;left&quot;:25.474645669291338,&quot;top&quot;:165.33055118110235,&quot;width&quot;:680.3905511811024}"/>
</p:tagLst>
</file>

<file path=ppt/tags/tag10.xml><?xml version="1.0" encoding="utf-8"?>
<p:tagLst xmlns:p="http://schemas.openxmlformats.org/presentationml/2006/main">
  <p:tag name="KSO_WM_DIAGRAM_VIRTUALLY_FRAME" val="{&quot;height&quot;:342.8061417322835,&quot;left&quot;:25.474645669291338,&quot;top&quot;:165.33055118110235,&quot;width&quot;:680.3905511811024}"/>
</p:tagLst>
</file>

<file path=ppt/tags/tag11.xml><?xml version="1.0" encoding="utf-8"?>
<p:tagLst xmlns:p="http://schemas.openxmlformats.org/presentationml/2006/main">
  <p:tag name="KSO_WM_DIAGRAM_VIRTUALLY_FRAME" val="{&quot;height&quot;:342.8061417322835,&quot;left&quot;:25.474645669291338,&quot;top&quot;:165.33055118110235,&quot;width&quot;:680.3905511811024}"/>
</p:tagLst>
</file>

<file path=ppt/tags/tag12.xml><?xml version="1.0" encoding="utf-8"?>
<p:tagLst xmlns:p="http://schemas.openxmlformats.org/presentationml/2006/main">
  <p:tag name="KSO_WM_DIAGRAM_VIRTUALLY_FRAME" val="{&quot;height&quot;:342.8061417322835,&quot;left&quot;:25.474645669291338,&quot;top&quot;:165.33055118110235,&quot;width&quot;:680.3905511811024}"/>
</p:tagLst>
</file>

<file path=ppt/tags/tag13.xml><?xml version="1.0" encoding="utf-8"?>
<p:tagLst xmlns:p="http://schemas.openxmlformats.org/presentationml/2006/main">
  <p:tag name="KSO_WM_DIAGRAM_VIRTUALLY_FRAME" val="{&quot;height&quot;:342.8061417322835,&quot;left&quot;:25.474645669291338,&quot;top&quot;:165.33055118110235,&quot;width&quot;:680.3905511811024}"/>
</p:tagLst>
</file>

<file path=ppt/tags/tag14.xml><?xml version="1.0" encoding="utf-8"?>
<p:tagLst xmlns:p="http://schemas.openxmlformats.org/presentationml/2006/main">
  <p:tag name="KSO_WM_DIAGRAM_VIRTUALLY_FRAME" val="{&quot;height&quot;:342.8061417322835,&quot;left&quot;:25.474645669291338,&quot;top&quot;:165.33055118110235,&quot;width&quot;:680.3905511811024}"/>
</p:tagLst>
</file>

<file path=ppt/tags/tag15.xml><?xml version="1.0" encoding="utf-8"?>
<p:tagLst xmlns:p="http://schemas.openxmlformats.org/presentationml/2006/main">
  <p:tag name="KSO_WM_DIAGRAM_VIRTUALLY_FRAME" val="{&quot;height&quot;:342.8061417322835,&quot;left&quot;:25.474645669291338,&quot;top&quot;:165.33055118110235,&quot;width&quot;:680.3905511811024}"/>
</p:tagLst>
</file>

<file path=ppt/tags/tag16.xml><?xml version="1.0" encoding="utf-8"?>
<p:tagLst xmlns:p="http://schemas.openxmlformats.org/presentationml/2006/main">
  <p:tag name="KSO_WM_DIAGRAM_VIRTUALLY_FRAME" val="{&quot;height&quot;:342.8061417322835,&quot;left&quot;:25.474645669291338,&quot;top&quot;:165.33055118110235,&quot;width&quot;:680.3905511811024}"/>
</p:tagLst>
</file>

<file path=ppt/tags/tag17.xml><?xml version="1.0" encoding="utf-8"?>
<p:tagLst xmlns:p="http://schemas.openxmlformats.org/presentationml/2006/main">
  <p:tag name="KSO_WM_DIAGRAM_VIRTUALLY_FRAME" val="{&quot;height&quot;:342.8061417322835,&quot;left&quot;:25.474645669291338,&quot;top&quot;:165.33055118110235,&quot;width&quot;:680.3905511811024}"/>
</p:tagLst>
</file>

<file path=ppt/tags/tag18.xml><?xml version="1.0" encoding="utf-8"?>
<p:tagLst xmlns:p="http://schemas.openxmlformats.org/presentationml/2006/main">
  <p:tag name="commondata" val="eyJoZGlkIjoiZWNhNzhjZGJkMzMzZjhhNWJmN2E2YWM2ZDMyYWYwN2YifQ=="/>
</p:tagLst>
</file>

<file path=ppt/theme/theme1.xml><?xml version="1.0" encoding="utf-8"?>
<a:theme xmlns:a="http://schemas.openxmlformats.org/drawingml/2006/main" name="Office 主题">
  <a:themeElements>
    <a:clrScheme name="进阶视听说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AF88B6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10019</Words>
  <Application>WPS 演示</Application>
  <PresentationFormat>全屏显示(4:3)</PresentationFormat>
  <Paragraphs>576</Paragraphs>
  <Slides>23</Slides>
  <Notes>12</Notes>
  <HiddenSlides>0</HiddenSlides>
  <MMClips>59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宋体</vt:lpstr>
      <vt:lpstr>Wingdings</vt:lpstr>
      <vt:lpstr>Neuton</vt:lpstr>
      <vt:lpstr>Roboto Condensed</vt:lpstr>
      <vt:lpstr>微软雅黑</vt:lpstr>
      <vt:lpstr>Arial Unicode MS</vt:lpstr>
      <vt:lpstr>Calibri</vt:lpstr>
      <vt:lpstr>Neuton</vt:lpstr>
      <vt:lpstr>Calibri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183</cp:revision>
  <dcterms:created xsi:type="dcterms:W3CDTF">2017-12-23T09:29:00Z</dcterms:created>
  <dcterms:modified xsi:type="dcterms:W3CDTF">2024-08-27T03:37:47Z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5AD618C4107246CEB47F560681E4EFC5_13</vt:lpwstr>
  </property>
  <property fmtid="{D5CDD505-2E9C-101B-9397-08002B2CF9AE}" pid="3" name="KSOProductBuildVer">
    <vt:lpwstr>2052-12.1.0.17857</vt:lpwstr>
  </property>
</Properties>
</file>