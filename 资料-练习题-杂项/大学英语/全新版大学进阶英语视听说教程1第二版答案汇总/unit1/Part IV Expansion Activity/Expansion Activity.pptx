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3"/>
    <p:sldId id="261" r:id="rId4"/>
    <p:sldId id="262" r:id="rId5"/>
  </p:sldIdLst>
  <p:sldSz cx="9144000" cy="6858000" type="screen4x3"/>
  <p:notesSz cx="6858000" cy="9144000"/>
  <p:embeddedFontLst>
    <p:embeddedFont>
      <p:font typeface="Neuton" panose="00000500000000000000" charset="0"/>
      <p:regular r:id="rId11"/>
      <p:bold r:id="rId12"/>
      <p:italic r:id="rId13"/>
    </p:embeddedFont>
    <p:embeddedFont>
      <p:font typeface="Roboto Condensed" panose="02000000000000000000" charset="0"/>
      <p:regular r:id="rId14"/>
      <p:bold r:id="rId15"/>
      <p:italic r:id="rId16"/>
    </p:embeddedFont>
    <p:embeddedFont>
      <p:font typeface="微软雅黑" panose="020B0503020204020204" charset="-122"/>
      <p:regular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5672"/>
    <a:srgbClr val="FFDD33"/>
    <a:srgbClr val="FFFFFF"/>
    <a:srgbClr val="3C153B"/>
    <a:srgbClr val="AF88B6"/>
    <a:srgbClr val="9D6BA5"/>
    <a:srgbClr val="B35DB1"/>
    <a:srgbClr val="CB8B02"/>
    <a:srgbClr val="F3B700"/>
    <a:srgbClr val="F3F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6" autoAdjust="0"/>
    <p:restoredTop sz="93686" autoAdjust="0"/>
  </p:normalViewPr>
  <p:slideViewPr>
    <p:cSldViewPr showGuides="1">
      <p:cViewPr varScale="1">
        <p:scale>
          <a:sx n="100" d="100"/>
          <a:sy n="100" d="100"/>
        </p:scale>
        <p:origin x="16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2844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1.xml"/><Relationship Id="rId21" Type="http://schemas.openxmlformats.org/officeDocument/2006/relationships/font" Target="fonts/font11.fntdata"/><Relationship Id="rId20" Type="http://schemas.openxmlformats.org/officeDocument/2006/relationships/font" Target="fonts/font10.fntdata"/><Relationship Id="rId2" Type="http://schemas.openxmlformats.org/officeDocument/2006/relationships/theme" Target="theme/theme1.xml"/><Relationship Id="rId19" Type="http://schemas.openxmlformats.org/officeDocument/2006/relationships/font" Target="fonts/font9.fntdata"/><Relationship Id="rId18" Type="http://schemas.openxmlformats.org/officeDocument/2006/relationships/font" Target="fonts/font8.fntdata"/><Relationship Id="rId17" Type="http://schemas.openxmlformats.org/officeDocument/2006/relationships/font" Target="fonts/font7.fntdata"/><Relationship Id="rId16" Type="http://schemas.openxmlformats.org/officeDocument/2006/relationships/font" Target="fonts/font6.fntdata"/><Relationship Id="rId15" Type="http://schemas.openxmlformats.org/officeDocument/2006/relationships/font" Target="fonts/font5.fntdata"/><Relationship Id="rId14" Type="http://schemas.openxmlformats.org/officeDocument/2006/relationships/font" Target="fonts/font4.fntdata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A6FA5-9299-4CE1-A327-CB3C60321A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14E66-D570-4D12-8DDD-93D4BD4AE2F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31D2C-B22C-4903-8B3C-903F91599D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翻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340768"/>
            <a:ext cx="8569325" cy="482508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1" name="标题 1"/>
          <p:cNvSpPr txBox="1"/>
          <p:nvPr userDrawn="1"/>
        </p:nvSpPr>
        <p:spPr>
          <a:xfrm>
            <a:off x="179512" y="0"/>
            <a:ext cx="2995488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IV Expansion Activity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dir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24744"/>
            <a:ext cx="8569325" cy="576262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 smtClean="0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2204864"/>
            <a:ext cx="8569325" cy="3960986"/>
          </a:xfrm>
        </p:spPr>
        <p:txBody>
          <a:bodyPr/>
          <a:lstStyle>
            <a:lvl1pPr marL="217805" indent="-217805">
              <a:defRPr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标题 1"/>
          <p:cNvSpPr txBox="1"/>
          <p:nvPr userDrawn="1"/>
        </p:nvSpPr>
        <p:spPr>
          <a:xfrm>
            <a:off x="179512" y="0"/>
            <a:ext cx="2995488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IV Expansion Activity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3FACB-9944-46C7-BB15-79BEA3D61A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3EA13-C732-4F17-8516-92EE82C34A8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.xml"/><Relationship Id="rId1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1.xml"/><Relationship Id="rId2" Type="http://schemas.openxmlformats.org/officeDocument/2006/relationships/slide" Target="slide3.xml"/><Relationship Id="rId1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1.xml"/><Relationship Id="rId2" Type="http://schemas.openxmlformats.org/officeDocument/2006/relationships/slide" Target="slide3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8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A </a:t>
            </a:r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class </a:t>
            </a:r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survey        </a:t>
            </a:r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Project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323850" y="1124744"/>
            <a:ext cx="8569325" cy="742156"/>
          </a:xfrm>
        </p:spPr>
        <p:txBody>
          <a:bodyPr>
            <a:normAutofit/>
          </a:bodyPr>
          <a:lstStyle/>
          <a:p>
            <a:r>
              <a:rPr lang="en-US" altLang="zh-CN" b="1" smtClean="0"/>
              <a:t>A. What are you like?</a:t>
            </a:r>
            <a:r>
              <a:rPr lang="en-US" altLang="zh-CN" smtClean="0"/>
              <a:t> Complete questions </a:t>
            </a:r>
            <a:r>
              <a:rPr lang="en-US" altLang="zh-CN" i="1" smtClean="0"/>
              <a:t>1</a:t>
            </a:r>
            <a:r>
              <a:rPr lang="en-US" altLang="zh-CN" smtClean="0"/>
              <a:t> to </a:t>
            </a:r>
            <a:r>
              <a:rPr lang="en-US" altLang="zh-CN" i="1" smtClean="0"/>
              <a:t>5</a:t>
            </a:r>
            <a:r>
              <a:rPr lang="en-US" altLang="zh-CN" smtClean="0"/>
              <a:t> using the words in the box. Then write your answers to the questions in the table.</a:t>
            </a:r>
            <a:endParaRPr lang="zh-CN" altLang="en-US"/>
          </a:p>
        </p:txBody>
      </p:sp>
      <p:sp>
        <p:nvSpPr>
          <p:cNvPr id="35" name="文本占位符 34"/>
          <p:cNvSpPr>
            <a:spLocks noGrp="1"/>
          </p:cNvSpPr>
          <p:nvPr>
            <p:ph type="body" sz="quarter" idx="14"/>
          </p:nvPr>
        </p:nvSpPr>
        <p:spPr>
          <a:xfrm>
            <a:off x="323528" y="2420888"/>
            <a:ext cx="8569325" cy="1368152"/>
          </a:xfrm>
        </p:spPr>
        <p:txBody>
          <a:bodyPr numCol="2"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sz="2400" dirty="0" smtClean="0"/>
              <a:t>How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old</a:t>
            </a:r>
            <a:r>
              <a:rPr lang="en-US" altLang="zh-CN" sz="2400" dirty="0" smtClean="0"/>
              <a:t> are you?</a:t>
            </a:r>
            <a:endParaRPr lang="en-US" altLang="zh-CN" sz="2400" dirty="0" smtClean="0"/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en-US" altLang="zh-CN" sz="2400" dirty="0" smtClean="0"/>
              <a:t>Where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are</a:t>
            </a:r>
            <a:r>
              <a:rPr lang="en-US" altLang="zh-CN" sz="2400" dirty="0" smtClean="0"/>
              <a:t> you from?</a:t>
            </a:r>
            <a:endParaRPr lang="en-US" altLang="zh-CN" sz="2400" dirty="0" smtClean="0"/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en-US" altLang="zh-CN" sz="2400" dirty="0" smtClean="0"/>
              <a:t>Are you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married</a:t>
            </a:r>
            <a:r>
              <a:rPr lang="en-US" altLang="zh-CN" sz="2400" dirty="0" smtClean="0"/>
              <a:t> or single?</a:t>
            </a:r>
            <a:endParaRPr lang="en-US" altLang="zh-CN" sz="2400" dirty="0" smtClean="0"/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en-US" altLang="zh-CN" sz="2400" dirty="0" smtClean="0"/>
              <a:t>Do you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have</a:t>
            </a:r>
            <a:r>
              <a:rPr lang="en-US" altLang="zh-CN" sz="2400" dirty="0" smtClean="0"/>
              <a:t> a job? (If yes, what is it?)</a:t>
            </a:r>
            <a:endParaRPr lang="en-US" altLang="zh-CN" sz="2400" dirty="0" smtClean="0"/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en-US" altLang="zh-CN" sz="2400" u="sng" dirty="0" smtClean="0">
                <a:solidFill>
                  <a:schemeClr val="accent1"/>
                </a:solidFill>
              </a:rPr>
              <a:t>Do</a:t>
            </a:r>
            <a:r>
              <a:rPr lang="en-US" altLang="zh-CN" sz="2400" dirty="0" smtClean="0"/>
              <a:t> you have a cell phone? (If yes, what kind?)</a:t>
            </a:r>
            <a:endParaRPr lang="zh-CN" altLang="en-US" sz="2400" dirty="0"/>
          </a:p>
        </p:txBody>
      </p:sp>
      <p:sp>
        <p:nvSpPr>
          <p:cNvPr id="36" name="圆角矩形 35"/>
          <p:cNvSpPr/>
          <p:nvPr/>
        </p:nvSpPr>
        <p:spPr>
          <a:xfrm>
            <a:off x="2104008" y="1844824"/>
            <a:ext cx="5007992" cy="504056"/>
          </a:xfrm>
          <a:prstGeom prst="roundRect">
            <a:avLst>
              <a:gd name="adj" fmla="val 4737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smtClean="0">
                <a:solidFill>
                  <a:schemeClr val="tx1"/>
                </a:solidFill>
              </a:rPr>
              <a:t>are      do      have      married      old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7" name="填空热区-点击消失"/>
          <p:cNvSpPr>
            <a:spLocks noChangeArrowheads="1"/>
          </p:cNvSpPr>
          <p:nvPr/>
        </p:nvSpPr>
        <p:spPr bwMode="auto">
          <a:xfrm>
            <a:off x="1462956" y="2530475"/>
            <a:ext cx="344977" cy="270329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2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38" name="填空热区-点击消失"/>
          <p:cNvSpPr>
            <a:spLocks noChangeArrowheads="1"/>
          </p:cNvSpPr>
          <p:nvPr/>
        </p:nvSpPr>
        <p:spPr bwMode="auto">
          <a:xfrm>
            <a:off x="1677963" y="2934469"/>
            <a:ext cx="344977" cy="270329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2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50" name="填空热区-点击消失"/>
          <p:cNvSpPr>
            <a:spLocks noChangeArrowheads="1"/>
          </p:cNvSpPr>
          <p:nvPr/>
        </p:nvSpPr>
        <p:spPr bwMode="auto">
          <a:xfrm>
            <a:off x="1781721" y="3334767"/>
            <a:ext cx="864096" cy="270329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2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51" name="填空热区-点击消失"/>
          <p:cNvSpPr>
            <a:spLocks noChangeArrowheads="1"/>
          </p:cNvSpPr>
          <p:nvPr/>
        </p:nvSpPr>
        <p:spPr bwMode="auto">
          <a:xfrm>
            <a:off x="5121873" y="2934468"/>
            <a:ext cx="324912" cy="270329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r>
              <a:rPr lang="en-US" altLang="zh-CN" sz="2200" u="sng" smtClean="0">
                <a:solidFill>
                  <a:schemeClr val="bg1"/>
                </a:solidFill>
                <a:uFill>
                  <a:solidFill>
                    <a:schemeClr val="tx1"/>
                  </a:solidFill>
                </a:uFill>
              </a:rPr>
              <a:t>Do</a:t>
            </a:r>
            <a:endParaRPr lang="en-US" altLang="zh-CN" sz="22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52" name="填空热区-点击消失"/>
          <p:cNvSpPr>
            <a:spLocks noChangeArrowheads="1"/>
          </p:cNvSpPr>
          <p:nvPr/>
        </p:nvSpPr>
        <p:spPr bwMode="auto">
          <a:xfrm>
            <a:off x="5899675" y="2530826"/>
            <a:ext cx="497877" cy="270329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r>
              <a:rPr lang="en-US" altLang="zh-CN" sz="2200" u="sng" smtClean="0">
                <a:solidFill>
                  <a:schemeClr val="bg1"/>
                </a:solidFill>
                <a:uFill>
                  <a:solidFill>
                    <a:schemeClr val="tx1"/>
                  </a:solidFill>
                </a:uFill>
              </a:rPr>
              <a:t>have</a:t>
            </a:r>
            <a:endParaRPr lang="en-US" altLang="zh-CN" sz="22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graphicFrame>
        <p:nvGraphicFramePr>
          <p:cNvPr id="53" name="表格 52"/>
          <p:cNvGraphicFramePr>
            <a:graphicFrameLocks noGrp="1"/>
          </p:cNvGraphicFramePr>
          <p:nvPr/>
        </p:nvGraphicFramePr>
        <p:xfrm>
          <a:off x="323528" y="3933056"/>
          <a:ext cx="8424936" cy="23774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080120"/>
                <a:gridCol w="1008112"/>
                <a:gridCol w="1728192"/>
                <a:gridCol w="1944216"/>
                <a:gridCol w="1008112"/>
                <a:gridCol w="1656184"/>
              </a:tblGrid>
              <a:tr h="370840"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smtClean="0"/>
                        <a:t>1. Age?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smtClean="0"/>
                        <a:t>2. Hometown?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smtClean="0"/>
                        <a:t>3. Relationship?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smtClean="0"/>
                        <a:t>4. Job?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smtClean="0"/>
                        <a:t>5. Phone?</a:t>
                      </a:r>
                      <a:endParaRPr lang="zh-CN" altLang="en-US" sz="20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smtClean="0"/>
                        <a:t>You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smtClean="0"/>
                        <a:t>Partner 1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smtClean="0"/>
                        <a:t>Partner 2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smtClean="0"/>
                        <a:t>Partner 3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smtClean="0"/>
                        <a:t>Partner</a:t>
                      </a:r>
                      <a:r>
                        <a:rPr lang="en-US" altLang="zh-CN" sz="2000" baseline="0" smtClean="0"/>
                        <a:t> 4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btn-Part 1">
            <a:hlinkClick r:id="rId1" action="ppaction://hlinksldjump"/>
          </p:cNvPr>
          <p:cNvSpPr/>
          <p:nvPr/>
        </p:nvSpPr>
        <p:spPr>
          <a:xfrm>
            <a:off x="1619672" y="482615"/>
            <a:ext cx="696684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btn-Part 1">
            <a:hlinkClick r:id="rId2" action="ppaction://hlinksldjump"/>
          </p:cNvPr>
          <p:cNvSpPr/>
          <p:nvPr/>
        </p:nvSpPr>
        <p:spPr>
          <a:xfrm>
            <a:off x="63500" y="528464"/>
            <a:ext cx="1344386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50" grpId="0" animBg="1"/>
      <p:bldP spid="51" grpId="0" animBg="1"/>
      <p:bldP spid="5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323850" y="1124744"/>
            <a:ext cx="8569325" cy="4536504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altLang="zh-CN" b="1" smtClean="0"/>
              <a:t>B. Work in a group of five people.</a:t>
            </a:r>
            <a:r>
              <a:rPr lang="en-US" altLang="zh-CN" smtClean="0"/>
              <a:t> Take turns. Tell everyone in the group your answers. Together, make one chart with everyone’s answers.</a:t>
            </a:r>
            <a:endParaRPr lang="en-US" altLang="zh-CN" smtClean="0"/>
          </a:p>
          <a:p>
            <a:pPr>
              <a:spcAft>
                <a:spcPts val="1200"/>
              </a:spcAft>
            </a:pPr>
            <a:endParaRPr lang="en-US" altLang="zh-CN" smtClean="0"/>
          </a:p>
          <a:p>
            <a:pPr>
              <a:spcAft>
                <a:spcPts val="1200"/>
              </a:spcAft>
            </a:pPr>
            <a:r>
              <a:rPr lang="en-US" altLang="zh-CN" b="1" smtClean="0"/>
              <a:t>C. Share your results.</a:t>
            </a:r>
            <a:r>
              <a:rPr lang="en-US" altLang="zh-CN" smtClean="0"/>
              <a:t> Put your chart on the board.</a:t>
            </a:r>
            <a:endParaRPr lang="en-US" altLang="zh-CN" smtClean="0"/>
          </a:p>
          <a:p>
            <a:pPr>
              <a:spcAft>
                <a:spcPts val="1200"/>
              </a:spcAft>
            </a:pPr>
            <a:r>
              <a:rPr lang="en-US" altLang="zh-CN" b="1" smtClean="0"/>
              <a:t>D. Make a poster.</a:t>
            </a:r>
            <a:r>
              <a:rPr lang="en-US" altLang="zh-CN" smtClean="0"/>
              <a:t> With your group, read all the charts on the board. Make a poster about a typical person in your class.</a:t>
            </a:r>
            <a:endParaRPr lang="en-US" altLang="zh-CN" smtClean="0"/>
          </a:p>
          <a:p>
            <a:pPr>
              <a:spcAft>
                <a:spcPts val="1200"/>
              </a:spcAft>
            </a:pPr>
            <a:r>
              <a:rPr lang="en-US" altLang="zh-CN" b="1" smtClean="0"/>
              <a:t>E. Show your poster to another group.</a:t>
            </a:r>
            <a:r>
              <a:rPr lang="en-US" altLang="zh-CN" smtClean="0"/>
              <a:t> Tell them about it. Are your posters the same?</a:t>
            </a:r>
            <a:endParaRPr lang="zh-CN" altLang="en-US"/>
          </a:p>
        </p:txBody>
      </p:sp>
      <p:grpSp>
        <p:nvGrpSpPr>
          <p:cNvPr id="21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2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2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28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1" name="按钮-Language Note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95536" y="1916832"/>
            <a:ext cx="1467165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3" name="Language Note"/>
          <p:cNvGrpSpPr/>
          <p:nvPr/>
        </p:nvGrpSpPr>
        <p:grpSpPr>
          <a:xfrm>
            <a:off x="2087724" y="1678306"/>
            <a:ext cx="4968552" cy="3501389"/>
            <a:chOff x="2375756" y="1268760"/>
            <a:chExt cx="4968552" cy="3501389"/>
          </a:xfrm>
        </p:grpSpPr>
        <p:sp>
          <p:nvSpPr>
            <p:cNvPr id="39" name="矩形 38"/>
            <p:cNvSpPr/>
            <p:nvPr/>
          </p:nvSpPr>
          <p:spPr>
            <a:xfrm>
              <a:off x="2375756" y="1268760"/>
              <a:ext cx="4968552" cy="350138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  <a:effectLst>
              <a:outerShdw blurRad="279400" dist="63500" dir="7800000" sx="101000" sy="101000" algn="t" rotWithShape="0">
                <a:prstClr val="black">
                  <a:alpha val="6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tIns="504000" rIns="216000" bIns="216000" rtlCol="0" anchor="t"/>
            <a:lstStyle/>
            <a:p>
              <a:pPr>
                <a:spcAft>
                  <a:spcPts val="1200"/>
                </a:spcAft>
                <a:buClr>
                  <a:schemeClr val="accent3"/>
                </a:buClr>
                <a:buSzPct val="50000"/>
              </a:pPr>
              <a:r>
                <a:rPr lang="en-US" altLang="zh-CN" sz="2800" dirty="0" smtClean="0">
                  <a:solidFill>
                    <a:schemeClr val="tx1"/>
                  </a:solidFill>
                </a:rPr>
                <a:t>I am </a:t>
              </a:r>
              <a:r>
                <a:rPr lang="en-US" altLang="zh-CN" sz="2800" u="sng" dirty="0" smtClean="0">
                  <a:solidFill>
                    <a:schemeClr val="tx1"/>
                  </a:solidFill>
                </a:rPr>
                <a:t>            </a:t>
              </a:r>
              <a:r>
                <a:rPr lang="en-US" altLang="zh-CN" sz="2800" dirty="0" smtClean="0">
                  <a:solidFill>
                    <a:schemeClr val="tx1"/>
                  </a:solidFill>
                </a:rPr>
                <a:t> years old.</a:t>
              </a:r>
              <a:endParaRPr lang="en-US" altLang="zh-CN" sz="2800" dirty="0" smtClean="0">
                <a:solidFill>
                  <a:schemeClr val="tx1"/>
                </a:solidFill>
              </a:endParaRPr>
            </a:p>
            <a:p>
              <a:pPr>
                <a:spcAft>
                  <a:spcPts val="1200"/>
                </a:spcAft>
                <a:buClr>
                  <a:schemeClr val="accent3"/>
                </a:buClr>
                <a:buSzPct val="50000"/>
              </a:pPr>
              <a:r>
                <a:rPr lang="en-US" altLang="zh-CN" sz="2800" smtClean="0">
                  <a:solidFill>
                    <a:schemeClr val="tx1"/>
                  </a:solidFill>
                </a:rPr>
                <a:t>I am from  </a:t>
              </a:r>
              <a:r>
                <a:rPr lang="en-US" altLang="zh-CN" sz="2800" u="sng" smtClean="0">
                  <a:solidFill>
                    <a:schemeClr val="tx1"/>
                  </a:solidFill>
                </a:rPr>
                <a:t>                       </a:t>
              </a:r>
              <a:r>
                <a:rPr lang="en-US" altLang="zh-CN" sz="2800" smtClean="0">
                  <a:solidFill>
                    <a:schemeClr val="tx1"/>
                  </a:solidFill>
                </a:rPr>
                <a:t>.</a:t>
              </a:r>
              <a:endParaRPr lang="en-US" altLang="zh-CN" sz="2800" smtClean="0">
                <a:solidFill>
                  <a:schemeClr val="tx1"/>
                </a:solidFill>
              </a:endParaRPr>
            </a:p>
            <a:p>
              <a:pPr>
                <a:spcAft>
                  <a:spcPts val="1200"/>
                </a:spcAft>
                <a:buClr>
                  <a:schemeClr val="accent3"/>
                </a:buClr>
                <a:buSzPct val="50000"/>
              </a:pPr>
              <a:r>
                <a:rPr lang="en-US" altLang="zh-CN" sz="2800" dirty="0" smtClean="0">
                  <a:solidFill>
                    <a:schemeClr val="tx1"/>
                  </a:solidFill>
                </a:rPr>
                <a:t>I am single/married.</a:t>
              </a:r>
              <a:endParaRPr lang="en-US" altLang="zh-CN" sz="2800" dirty="0" smtClean="0">
                <a:solidFill>
                  <a:schemeClr val="tx1"/>
                </a:solidFill>
              </a:endParaRPr>
            </a:p>
            <a:p>
              <a:pPr>
                <a:spcAft>
                  <a:spcPts val="1200"/>
                </a:spcAft>
                <a:buClr>
                  <a:schemeClr val="accent3"/>
                </a:buClr>
                <a:buSzPct val="50000"/>
              </a:pPr>
              <a:r>
                <a:rPr lang="en-US" altLang="zh-CN" sz="2800" dirty="0" smtClean="0">
                  <a:solidFill>
                    <a:schemeClr val="tx1"/>
                  </a:solidFill>
                </a:rPr>
                <a:t>I have/don’t have a job.</a:t>
              </a:r>
              <a:endParaRPr lang="en-US" altLang="zh-CN" sz="2800" dirty="0" smtClean="0">
                <a:solidFill>
                  <a:schemeClr val="tx1"/>
                </a:solidFill>
              </a:endParaRPr>
            </a:p>
            <a:p>
              <a:pPr>
                <a:spcAft>
                  <a:spcPts val="1200"/>
                </a:spcAft>
                <a:buClr>
                  <a:schemeClr val="accent3"/>
                </a:buClr>
                <a:buSzPct val="50000"/>
              </a:pPr>
              <a:r>
                <a:rPr lang="en-US" altLang="zh-CN" sz="2800" dirty="0" smtClean="0">
                  <a:solidFill>
                    <a:schemeClr val="tx1"/>
                  </a:solidFill>
                </a:rPr>
                <a:t>I have/don’t have a cell phone.</a:t>
              </a:r>
              <a:endParaRPr lang="en-US" altLang="zh-CN" sz="2800" dirty="0">
                <a:solidFill>
                  <a:schemeClr val="tx1"/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375756" y="1268760"/>
              <a:ext cx="4968552" cy="369332"/>
            </a:xfrm>
            <a:prstGeom prst="rect">
              <a:avLst/>
            </a:prstGeom>
            <a:solidFill>
              <a:schemeClr val="accent3"/>
            </a:solidFill>
          </p:spPr>
          <p:txBody>
            <a:bodyPr wrap="square" rtlCol="0">
              <a:noAutofit/>
            </a:bodyPr>
            <a:lstStyle/>
            <a:p>
              <a:r>
                <a:rPr lang="en-US" altLang="zh-CN" b="1" smtClean="0">
                  <a:solidFill>
                    <a:schemeClr val="bg1"/>
                  </a:solidFill>
                  <a:latin typeface="+mj-lt"/>
                </a:rPr>
                <a:t>Language Note</a:t>
              </a:r>
              <a:endParaRPr lang="zh-CN" altLang="en-US" b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A </a:t>
            </a:r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class </a:t>
            </a:r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survey        </a:t>
            </a:r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Project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30" name="btn-Part 1">
            <a:hlinkClick r:id="rId2" action="ppaction://hlinksldjump"/>
          </p:cNvPr>
          <p:cNvSpPr/>
          <p:nvPr/>
        </p:nvSpPr>
        <p:spPr>
          <a:xfrm>
            <a:off x="1619672" y="482615"/>
            <a:ext cx="696684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btn-Part 1">
            <a:hlinkClick r:id="rId3" action="ppaction://hlinksldjump"/>
          </p:cNvPr>
          <p:cNvSpPr/>
          <p:nvPr/>
        </p:nvSpPr>
        <p:spPr>
          <a:xfrm>
            <a:off x="63500" y="528464"/>
            <a:ext cx="1344386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A </a:t>
            </a:r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class </a:t>
            </a:r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survey        </a:t>
            </a:r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Project</a:t>
            </a:r>
            <a:endParaRPr lang="zh-CN" altLang="en-US" sz="1600" b="1" dirty="0">
              <a:solidFill>
                <a:srgbClr val="515672"/>
              </a:solidFill>
              <a:latin typeface="+mj-lt"/>
            </a:endParaRPr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323850" y="1124744"/>
            <a:ext cx="8569325" cy="1152128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altLang="zh-CN" b="1" smtClean="0"/>
              <a:t>Make a new survey.</a:t>
            </a:r>
            <a:r>
              <a:rPr lang="en-US" altLang="zh-CN" smtClean="0"/>
              <a:t>  Choose a particular group of people in your country (e.g., business people, retired people, or young children). Make a survey and interview them. What is a typical person in that group like? Share your results with the class.</a:t>
            </a:r>
            <a:endParaRPr lang="zh-CN" altLang="en-US"/>
          </a:p>
        </p:txBody>
      </p:sp>
      <p:grpSp>
        <p:nvGrpSpPr>
          <p:cNvPr id="35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36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1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4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6" name="图片 45" descr="P01-12_1309526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275856" y="2420888"/>
            <a:ext cx="5436434" cy="3622873"/>
          </a:xfrm>
          <a:prstGeom prst="rect">
            <a:avLst/>
          </a:prstGeom>
        </p:spPr>
      </p:pic>
      <p:sp>
        <p:nvSpPr>
          <p:cNvPr id="47" name="矩形 46"/>
          <p:cNvSpPr/>
          <p:nvPr/>
        </p:nvSpPr>
        <p:spPr>
          <a:xfrm>
            <a:off x="4543534" y="5582096"/>
            <a:ext cx="4161717" cy="46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400" smtClean="0">
                <a:solidFill>
                  <a:schemeClr val="bg1"/>
                </a:solidFill>
              </a:rPr>
              <a:t>Students in a language class in Peru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15" name="btn-Part 1">
            <a:hlinkClick r:id="rId2" action="ppaction://hlinksldjump"/>
          </p:cNvPr>
          <p:cNvSpPr/>
          <p:nvPr/>
        </p:nvSpPr>
        <p:spPr>
          <a:xfrm>
            <a:off x="1643068" y="499889"/>
            <a:ext cx="696684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btn-Part 1">
            <a:hlinkClick r:id="rId3" action="ppaction://hlinksldjump"/>
          </p:cNvPr>
          <p:cNvSpPr/>
          <p:nvPr/>
        </p:nvSpPr>
        <p:spPr>
          <a:xfrm>
            <a:off x="63500" y="482615"/>
            <a:ext cx="1344386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ZWNhNzhjZGJkMzMzZjhhNWJmN2E2YWM2ZDMyYWYwN2YifQ=="/>
</p:tagLst>
</file>

<file path=ppt/theme/theme1.xml><?xml version="1.0" encoding="utf-8"?>
<a:theme xmlns:a="http://schemas.openxmlformats.org/drawingml/2006/main" name="Office 主题">
  <a:themeElements>
    <a:clrScheme name="进阶视听说">
      <a:dk1>
        <a:sysClr val="windowText" lastClr="000000"/>
      </a:dk1>
      <a:lt1>
        <a:sysClr val="window" lastClr="FFFFFF"/>
      </a:lt1>
      <a:dk2>
        <a:srgbClr val="582957"/>
      </a:dk2>
      <a:lt2>
        <a:srgbClr val="EEECE1"/>
      </a:lt2>
      <a:accent1>
        <a:srgbClr val="4F81BD"/>
      </a:accent1>
      <a:accent2>
        <a:srgbClr val="C0504D"/>
      </a:accent2>
      <a:accent3>
        <a:srgbClr val="88BB16"/>
      </a:accent3>
      <a:accent4>
        <a:srgbClr val="AF88B6"/>
      </a:accent4>
      <a:accent5>
        <a:srgbClr val="4BACC6"/>
      </a:accent5>
      <a:accent6>
        <a:srgbClr val="FEE200"/>
      </a:accent6>
      <a:hlink>
        <a:srgbClr val="0000FF"/>
      </a:hlink>
      <a:folHlink>
        <a:srgbClr val="800080"/>
      </a:folHlink>
    </a:clrScheme>
    <a:fontScheme name="进阶试听说">
      <a:majorFont>
        <a:latin typeface="Roboto Condensed"/>
        <a:ea typeface="微软雅黑"/>
        <a:cs typeface=""/>
      </a:majorFont>
      <a:minorFont>
        <a:latin typeface="Neuto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1327</Words>
  <Application>WPS 演示</Application>
  <PresentationFormat>全屏显示(4:3)</PresentationFormat>
  <Paragraphs>58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Neuton</vt:lpstr>
      <vt:lpstr>Roboto Condensed</vt:lpstr>
      <vt:lpstr>微软雅黑</vt:lpstr>
      <vt:lpstr>Arial Unicode MS</vt:lpstr>
      <vt:lpstr>Calibri</vt:lpstr>
      <vt:lpstr>Office 主题</vt:lpstr>
      <vt:lpstr>PowerPoint 演示文稿</vt:lpstr>
      <vt:lpstr>PowerPoint 演示文稿</vt:lpstr>
      <vt:lpstr>PowerPoint 演示文稿</vt:lpstr>
    </vt:vector>
  </TitlesOfParts>
  <Company>cmet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old9</dc:creator>
  <cp:lastModifiedBy>别急躁</cp:lastModifiedBy>
  <cp:revision>196</cp:revision>
  <dcterms:created xsi:type="dcterms:W3CDTF">2017-12-23T09:29:00Z</dcterms:created>
  <dcterms:modified xsi:type="dcterms:W3CDTF">2024-08-27T04:22:12Z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B9EF62812C9D4C6F8517592C6A1EDF60_13</vt:lpwstr>
  </property>
  <property fmtid="{D5CDD505-2E9C-101B-9397-08002B2CF9AE}" pid="3" name="KSOProductBuildVer">
    <vt:lpwstr>2052-12.1.0.17857</vt:lpwstr>
  </property>
</Properties>
</file>