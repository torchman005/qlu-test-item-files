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62" r:id="rId5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0"/>
    </p:embeddedFon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AF88B6"/>
    <a:srgbClr val="FFDD33"/>
    <a:srgbClr val="FFFFFF"/>
    <a:srgbClr val="3C153B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3686" autoAdjust="0"/>
  </p:normalViewPr>
  <p:slideViewPr>
    <p:cSldViewPr showGuides="1">
      <p:cViewPr varScale="1">
        <p:scale>
          <a:sx n="100" d="100"/>
          <a:sy n="100" d="100"/>
        </p:scale>
        <p:origin x="10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28086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V </a:t>
            </a:r>
            <a:r>
              <a:rPr lang="en-US" altLang="zh-CN" sz="2000" b="1" i="0" u="none" strike="noStrike" kern="1200" baseline="0" dirty="0">
                <a:solidFill>
                  <a:srgbClr val="515672"/>
                </a:solidFill>
                <a:latin typeface="+mj-lt"/>
                <a:ea typeface="+mn-ea"/>
                <a:cs typeface="+mn-cs"/>
              </a:rPr>
              <a:t>Test Your 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5_Script1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1.pptx" TargetMode="External"/><Relationship Id="rId2" Type="http://schemas.openxmlformats.org/officeDocument/2006/relationships/slide" Target="slide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1.mp3"/><Relationship Id="rId10" Type="http://schemas.openxmlformats.org/officeDocument/2006/relationships/audio" Target="../media/media1.mp3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5_Script2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2.pptx" TargetMode="External"/><Relationship Id="rId2" Type="http://schemas.openxmlformats.org/officeDocument/2006/relationships/slide" Target="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2.mp3"/><Relationship Id="rId10" Type="http://schemas.openxmlformats.org/officeDocument/2006/relationships/audio" Target="../media/media2.mp3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326366" y="1126172"/>
            <a:ext cx="8566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60" dirty="0">
                <a:latin typeface="+mj-lt"/>
              </a:rPr>
              <a:t>Directions: </a:t>
            </a:r>
            <a:r>
              <a:rPr lang="en-US" altLang="zh-CN" sz="2000" i="1" spc="-60" dirty="0">
                <a:latin typeface="+mj-lt"/>
              </a:rPr>
              <a:t>In this section, you will hear a long conversation. At the end of the conversation</a:t>
            </a:r>
            <a:r>
              <a:rPr lang="en-US" altLang="zh-CN" sz="2000" i="1" spc="-50" dirty="0">
                <a:latin typeface="+mj-lt"/>
              </a:rPr>
              <a:t>,</a:t>
            </a:r>
            <a:r>
              <a:rPr lang="en-US" altLang="zh-CN" sz="2000" i="1" dirty="0">
                <a:latin typeface="+mj-lt"/>
              </a:rPr>
              <a:t> </a:t>
            </a:r>
            <a:r>
              <a:rPr lang="en-US" altLang="zh-CN" sz="2000" i="1" spc="10" dirty="0">
                <a:latin typeface="+mj-lt"/>
              </a:rPr>
              <a:t>you will hear four questions. Both the conversation and the questions will be spoken</a:t>
            </a:r>
            <a:r>
              <a:rPr lang="en-US" altLang="zh-CN" sz="2000" i="1" dirty="0">
                <a:latin typeface="+mj-lt"/>
              </a:rPr>
              <a:t> only once. After you hear a question, choose the best answer.</a:t>
            </a:r>
            <a:endParaRPr lang="zh-CN" altLang="en-US" sz="2000" dirty="0">
              <a:latin typeface="+mj-lt"/>
            </a:endParaRPr>
          </a:p>
          <a:p>
            <a:pPr algn="just"/>
            <a:endParaRPr lang="zh-CN" altLang="en-US" sz="2000" dirty="0">
              <a:latin typeface="+mj-lt"/>
            </a:endParaRPr>
          </a:p>
        </p:txBody>
      </p: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Section B Passage</a:t>
            </a:r>
            <a:endParaRPr lang="en-US" altLang="zh-CN" sz="1600" b="0" i="0" u="none" strike="noStrike" baseline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btn-Part 1">
            <a:hlinkClick r:id="rId1" action="ppaction://hlinksldjump"/>
          </p:cNvPr>
          <p:cNvSpPr/>
          <p:nvPr/>
        </p:nvSpPr>
        <p:spPr>
          <a:xfrm>
            <a:off x="2843808" y="514772"/>
            <a:ext cx="254984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2" action="ppaction://hlinksldjump"/>
          </p:cNvPr>
          <p:cNvSpPr/>
          <p:nvPr/>
        </p:nvSpPr>
        <p:spPr>
          <a:xfrm>
            <a:off x="117028" y="528464"/>
            <a:ext cx="236673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3850" y="2398812"/>
            <a:ext cx="715452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b="1" dirty="0">
                <a:latin typeface="+mj-lt"/>
              </a:rPr>
              <a:t>Questions 1 to 4 are based on the conversation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1. </a:t>
            </a:r>
            <a:r>
              <a:rPr lang="en-US" altLang="zh-CN" sz="2000" dirty="0"/>
              <a:t>A. Chemistry.              B. Climatology.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2.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3.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4.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54410" y="2398812"/>
            <a:ext cx="83387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dirty="0"/>
          </a:p>
          <a:p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It is a natural phenomenon that has been occurring for years.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It is the result of a sudden rising temperature caused by human activities.</a:t>
            </a:r>
            <a:endParaRPr lang="en-US" altLang="zh-CN" sz="2000" dirty="0"/>
          </a:p>
          <a:p>
            <a:pPr algn="just">
              <a:spcBef>
                <a:spcPts val="600"/>
              </a:spcBef>
            </a:pPr>
            <a:r>
              <a:rPr lang="en-US" altLang="zh-CN" sz="2000" spc="10" dirty="0"/>
              <a:t>C. It is the gradual warming of the atmosphere caused by an increase in carbon dioxide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algn="just">
              <a:spcBef>
                <a:spcPts val="600"/>
              </a:spcBef>
            </a:pPr>
            <a:r>
              <a:rPr lang="en-US" altLang="zh-CN" sz="2000" dirty="0"/>
              <a:t>      levels.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It is caused by a decrease of oxygen in the atmosphere due to human activities.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The sea level will rise.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All now-fertile areas will dry up.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To use less energy.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To produce less carbon dioxide.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471417" y="2398812"/>
            <a:ext cx="449193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C. Physiology.              D. Psychology.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There will be more deserts.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There will be more polar ice caps.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To use less and less fossil fuels.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To depend on fossil fuels and green energy.</a:t>
            </a:r>
            <a:endParaRPr lang="en-US" altLang="zh-CN" sz="2000" dirty="0"/>
          </a:p>
        </p:txBody>
      </p:sp>
      <p:sp>
        <p:nvSpPr>
          <p:cNvPr id="18" name="同心圆 17"/>
          <p:cNvSpPr/>
          <p:nvPr/>
        </p:nvSpPr>
        <p:spPr>
          <a:xfrm>
            <a:off x="2283497" y="2657140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热区"/>
          <p:cNvSpPr/>
          <p:nvPr/>
        </p:nvSpPr>
        <p:spPr>
          <a:xfrm>
            <a:off x="380296" y="2754641"/>
            <a:ext cx="7715134" cy="36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同心圆 30"/>
          <p:cNvSpPr/>
          <p:nvPr/>
        </p:nvSpPr>
        <p:spPr>
          <a:xfrm>
            <a:off x="493758" y="379661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热区"/>
          <p:cNvSpPr/>
          <p:nvPr/>
        </p:nvSpPr>
        <p:spPr>
          <a:xfrm>
            <a:off x="380295" y="3179161"/>
            <a:ext cx="8370549" cy="1844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同心圆 32"/>
          <p:cNvSpPr/>
          <p:nvPr/>
        </p:nvSpPr>
        <p:spPr>
          <a:xfrm>
            <a:off x="493758" y="4963505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热区"/>
          <p:cNvSpPr/>
          <p:nvPr/>
        </p:nvSpPr>
        <p:spPr>
          <a:xfrm>
            <a:off x="380295" y="4959291"/>
            <a:ext cx="7495127" cy="78445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同心圆 56"/>
          <p:cNvSpPr/>
          <p:nvPr/>
        </p:nvSpPr>
        <p:spPr>
          <a:xfrm>
            <a:off x="4387925" y="5708895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热区"/>
          <p:cNvSpPr/>
          <p:nvPr/>
        </p:nvSpPr>
        <p:spPr>
          <a:xfrm>
            <a:off x="380295" y="5723731"/>
            <a:ext cx="8512880" cy="78445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U5_Script1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886087" y="1860971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4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18" grpId="0" animBg="1"/>
      <p:bldP spid="31" grpId="0" animBg="1"/>
      <p:bldP spid="33" grpId="0" animBg="1"/>
      <p:bldP spid="5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</a:t>
            </a:r>
            <a:r>
              <a:rPr lang="en-US" altLang="zh-CN"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btn-Part 1">
            <a:hlinkClick r:id="rId1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2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3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326366" y="1126172"/>
            <a:ext cx="8566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10" dirty="0">
                <a:latin typeface="+mj-lt"/>
              </a:rPr>
              <a:t>Directions: </a:t>
            </a:r>
            <a:r>
              <a:rPr lang="en-US" altLang="zh-CN" sz="2000" i="1" spc="-10" dirty="0">
                <a:latin typeface="+mj-lt"/>
              </a:rPr>
              <a:t>In this section, you will hear a passage. At the end of the passage, you will</a:t>
            </a:r>
            <a:r>
              <a:rPr lang="en-US" altLang="zh-CN" sz="2000" i="1" dirty="0">
                <a:latin typeface="+mj-lt"/>
              </a:rPr>
              <a:t> hear three or four questions. Both the passage and the questions will be spoken only once. After you hear a question, choose the best answer.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23850" y="2398812"/>
            <a:ext cx="6675225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latin typeface="+mj-lt"/>
              </a:rPr>
              <a:t>Questions 5 to 7 are based on the passage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5. </a:t>
            </a: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6.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7. </a:t>
            </a:r>
            <a:endParaRPr lang="en-US" altLang="zh-CN" sz="20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92510" y="2398812"/>
            <a:ext cx="545534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A. Love, parents and children.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Love, sympathy and confidence.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It teaches duty.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It is the birthplace of people.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It takes good care of the family members.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It is a school where people learn to be a proper citizen.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Home and civilization.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The importance of home.</a:t>
            </a:r>
            <a:endParaRPr lang="zh-CN" altLang="en-US" sz="2000" dirty="0"/>
          </a:p>
        </p:txBody>
      </p:sp>
      <p:sp>
        <p:nvSpPr>
          <p:cNvPr id="48" name="文本框 47"/>
          <p:cNvSpPr txBox="1"/>
          <p:nvPr/>
        </p:nvSpPr>
        <p:spPr>
          <a:xfrm>
            <a:off x="4471417" y="2398812"/>
            <a:ext cx="4083169" cy="340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B. Love, sympathy and happiness.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Love, shared activities and confidence.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Ways to build a home.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The relationship of home and country.</a:t>
            </a:r>
            <a:endParaRPr lang="zh-CN" altLang="en-US" sz="2000" dirty="0"/>
          </a:p>
        </p:txBody>
      </p:sp>
      <p:sp>
        <p:nvSpPr>
          <p:cNvPr id="54" name="同心圆 53"/>
          <p:cNvSpPr/>
          <p:nvPr/>
        </p:nvSpPr>
        <p:spPr>
          <a:xfrm>
            <a:off x="516638" y="3028901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热区"/>
          <p:cNvSpPr/>
          <p:nvPr/>
        </p:nvSpPr>
        <p:spPr>
          <a:xfrm>
            <a:off x="403156" y="2852936"/>
            <a:ext cx="8151430" cy="5982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同心圆 28"/>
          <p:cNvSpPr/>
          <p:nvPr/>
        </p:nvSpPr>
        <p:spPr>
          <a:xfrm>
            <a:off x="516638" y="4560119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热区"/>
          <p:cNvSpPr/>
          <p:nvPr/>
        </p:nvSpPr>
        <p:spPr>
          <a:xfrm>
            <a:off x="403156" y="3553967"/>
            <a:ext cx="5536996" cy="142847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同心圆 49"/>
          <p:cNvSpPr/>
          <p:nvPr/>
        </p:nvSpPr>
        <p:spPr>
          <a:xfrm>
            <a:off x="516638" y="5327823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" name="热区"/>
          <p:cNvSpPr/>
          <p:nvPr/>
        </p:nvSpPr>
        <p:spPr>
          <a:xfrm>
            <a:off x="403156" y="5108900"/>
            <a:ext cx="8057276" cy="6317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" name="U5_Script2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1137507" y="1969763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2"/>
                </p:tgtEl>
              </p:cMediaNode>
            </p:audi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25" dur="1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5" dur="1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54" grpId="0" animBg="1"/>
      <p:bldP spid="29" grpId="0" animBg="1"/>
      <p:bldP spid="50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WPS 演示</Application>
  <PresentationFormat>全屏显示(4:3)</PresentationFormat>
  <Paragraphs>70</Paragraphs>
  <Slides>2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221</cp:revision>
  <dcterms:created xsi:type="dcterms:W3CDTF">2017-12-23T09:29:00Z</dcterms:created>
  <dcterms:modified xsi:type="dcterms:W3CDTF">2024-08-27T05:59:42Z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5668E61C35FF4BBCBF7E0C2F00D1190B_13</vt:lpwstr>
  </property>
  <property fmtid="{D5CDD505-2E9C-101B-9397-08002B2CF9AE}" pid="3" name="KSOProductBuildVer">
    <vt:lpwstr>2052-12.1.0.17857</vt:lpwstr>
  </property>
</Properties>
</file>