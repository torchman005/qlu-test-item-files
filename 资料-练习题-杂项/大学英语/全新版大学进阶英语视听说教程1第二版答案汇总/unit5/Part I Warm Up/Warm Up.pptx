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9144000" cy="6858000" type="screen4x3"/>
  <p:notesSz cx="6858000" cy="9144000"/>
  <p:embeddedFontLst>
    <p:embeddedFont>
      <p:font typeface="Neuton" panose="00000500000000000000" charset="0"/>
      <p:regular r:id="rId11"/>
      <p:bold r:id="rId12"/>
      <p:italic r:id="rId13"/>
    </p:embeddedFont>
    <p:embeddedFont>
      <p:font typeface="Roboto Condensed" panose="02000000000000000000" charset="0"/>
      <p:regular r:id="rId14"/>
      <p:bold r:id="rId15"/>
      <p:italic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672"/>
    <a:srgbClr val="FFDD33"/>
    <a:srgbClr val="FFFFFF"/>
    <a:srgbClr val="CB8B02"/>
    <a:srgbClr val="F3B700"/>
    <a:srgbClr val="F3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6" autoAdjust="0"/>
    <p:restoredTop sz="94273" autoAdjust="0"/>
  </p:normalViewPr>
  <p:slideViewPr>
    <p:cSldViewPr showGuides="1">
      <p:cViewPr varScale="1">
        <p:scale>
          <a:sx n="100" d="100"/>
          <a:sy n="100" d="100"/>
        </p:scale>
        <p:origin x="225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2844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A6FA5-9299-4CE1-A327-CB3C60321A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14E66-D570-4D12-8DDD-93D4BD4AE2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31D2C-B22C-4903-8B3C-903F91599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63C93-9101-4F51-B1E6-A3BBF9E38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翻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79512" y="0"/>
            <a:ext cx="1872208" cy="476672"/>
          </a:xfrm>
          <a:solidFill>
            <a:srgbClr val="FFDD33"/>
          </a:solidFill>
        </p:spPr>
        <p:txBody>
          <a:bodyPr lIns="144000">
            <a:noAutofit/>
          </a:bodyPr>
          <a:lstStyle>
            <a:lvl1pPr algn="l">
              <a:defRPr sz="2000" b="1">
                <a:solidFill>
                  <a:srgbClr val="515672"/>
                </a:solidFill>
                <a:latin typeface="+mj-lt"/>
              </a:defRPr>
            </a:lvl1pPr>
          </a:lstStyle>
          <a:p>
            <a:r>
              <a:rPr lang="en-US" altLang="zh-CN" smtClean="0"/>
              <a:t>Part I Warm Up</a:t>
            </a: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79512" cy="4766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irections"/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836613"/>
            <a:ext cx="8569325" cy="576262"/>
          </a:xfrm>
        </p:spPr>
        <p:txBody>
          <a:bodyPr>
            <a:normAutofit/>
          </a:bodyPr>
          <a:lstStyle>
            <a:lvl1pPr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en-US" altLang="zh-CN" smtClean="0"/>
              <a:t>Directions here</a:t>
            </a:r>
            <a:endParaRPr lang="zh-CN" altLang="en-US"/>
          </a:p>
        </p:txBody>
      </p:sp>
      <p:sp>
        <p:nvSpPr>
          <p:cNvPr id="14" name="主体内容"/>
          <p:cNvSpPr>
            <a:spLocks noGrp="1"/>
          </p:cNvSpPr>
          <p:nvPr>
            <p:ph type="body" sz="quarter" idx="14"/>
          </p:nvPr>
        </p:nvSpPr>
        <p:spPr>
          <a:xfrm>
            <a:off x="323850" y="1628775"/>
            <a:ext cx="8569325" cy="45370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3FACB-9944-46C7-BB15-79BEA3D61A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3EA13-C732-4F17-8516-92EE82C34A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Part I Warm Up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Answer these questions with a partner.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323850" y="1320817"/>
            <a:ext cx="4319587" cy="5251455"/>
          </a:xfrm>
        </p:spPr>
        <p:txBody>
          <a:bodyPr>
            <a:noAutofit/>
          </a:bodyPr>
          <a:lstStyle/>
          <a:p>
            <a:pPr marL="357505" indent="-357505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Look at the photo. Do you like these homes?</a:t>
            </a:r>
            <a:endParaRPr lang="en-US" altLang="zh-CN" dirty="0" smtClean="0"/>
          </a:p>
          <a:p>
            <a:pPr marL="357505" indent="-357505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Do you live in a house or an apartment?</a:t>
            </a:r>
            <a:endParaRPr lang="en-US" altLang="zh-CN" dirty="0" smtClean="0"/>
          </a:p>
          <a:p>
            <a:pPr marL="357505" indent="-357505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altLang="zh-CN" dirty="0" smtClean="0"/>
              <a:t>What’s better: a big house in the country, or a small apartment in the city? Why?</a:t>
            </a:r>
            <a:endParaRPr lang="zh-CN" altLang="en-US" u="sng" dirty="0">
              <a:solidFill>
                <a:schemeClr val="accent1"/>
              </a:solidFill>
            </a:endParaRPr>
          </a:p>
        </p:txBody>
      </p:sp>
      <p:pic>
        <p:nvPicPr>
          <p:cNvPr id="11" name="图片 10" descr="b1u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731" y="1000108"/>
            <a:ext cx="4038021" cy="4466052"/>
          </a:xfrm>
          <a:prstGeom prst="rect">
            <a:avLst/>
          </a:prstGeom>
        </p:spPr>
      </p:pic>
      <p:sp>
        <p:nvSpPr>
          <p:cNvPr id="29" name="图片标题"/>
          <p:cNvSpPr txBox="1"/>
          <p:nvPr/>
        </p:nvSpPr>
        <p:spPr>
          <a:xfrm>
            <a:off x="4929190" y="1000109"/>
            <a:ext cx="2460844" cy="71438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r>
              <a:rPr lang="en-US" altLang="zh-CN" sz="4800" b="1" dirty="0" smtClean="0">
                <a:solidFill>
                  <a:schemeClr val="bg1"/>
                </a:solidFill>
                <a:latin typeface="+mj-lt"/>
              </a:rPr>
              <a:t>Homes</a:t>
            </a:r>
            <a:endParaRPr lang="en-US" altLang="zh-CN" sz="48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图片说明"/>
          <p:cNvSpPr txBox="1"/>
          <p:nvPr/>
        </p:nvSpPr>
        <p:spPr>
          <a:xfrm>
            <a:off x="4857752" y="5493705"/>
            <a:ext cx="4213670" cy="41152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600" dirty="0" smtClean="0">
                <a:latin typeface="+mj-lt"/>
              </a:rPr>
              <a:t>Colorful houses beside the water in Veneto, Italy</a:t>
            </a:r>
            <a:endParaRPr lang="zh-CN" altLang="en-US" sz="1600" dirty="0">
              <a:latin typeface="+mj-lt"/>
            </a:endParaRPr>
          </a:p>
        </p:txBody>
      </p:sp>
      <p:pic>
        <p:nvPicPr>
          <p:cNvPr id="30" name="按钮-Content Note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929190" y="5857892"/>
            <a:ext cx="13508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按钮-Language Note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014276" y="1640802"/>
            <a:ext cx="1446697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7" name="返回按钮"/>
          <p:cNvGrpSpPr/>
          <p:nvPr/>
        </p:nvGrpSpPr>
        <p:grpSpPr>
          <a:xfrm>
            <a:off x="7875422" y="6585447"/>
            <a:ext cx="264567" cy="210642"/>
            <a:chOff x="7875422" y="6585447"/>
            <a:chExt cx="264567" cy="210642"/>
          </a:xfrm>
        </p:grpSpPr>
        <p:sp>
          <p:nvSpPr>
            <p:cNvPr id="48" name="返回箭头">
              <a:hlinkClick r:id="" action="ppaction://hlinkshowjump?jump=endshow"/>
            </p:cNvPr>
            <p:cNvSpPr/>
            <p:nvPr/>
          </p:nvSpPr>
          <p:spPr bwMode="auto">
            <a:xfrm>
              <a:off x="7919210" y="6598497"/>
              <a:ext cx="182307" cy="180975"/>
            </a:xfrm>
            <a:custGeom>
              <a:avLst/>
              <a:gdLst/>
              <a:ahLst/>
              <a:cxnLst>
                <a:cxn ang="0">
                  <a:pos x="1780" y="1910"/>
                </a:cxn>
                <a:cxn ang="0">
                  <a:pos x="856" y="1910"/>
                </a:cxn>
                <a:cxn ang="0">
                  <a:pos x="850" y="1911"/>
                </a:cxn>
                <a:cxn ang="0">
                  <a:pos x="710" y="1776"/>
                </a:cxn>
                <a:cxn ang="0">
                  <a:pos x="710" y="476"/>
                </a:cxn>
                <a:cxn ang="0">
                  <a:pos x="251" y="922"/>
                </a:cxn>
                <a:cxn ang="0">
                  <a:pos x="54" y="922"/>
                </a:cxn>
                <a:cxn ang="0">
                  <a:pos x="54" y="731"/>
                </a:cxn>
                <a:cxn ang="0">
                  <a:pos x="751" y="53"/>
                </a:cxn>
                <a:cxn ang="0">
                  <a:pos x="948" y="53"/>
                </a:cxn>
                <a:cxn ang="0">
                  <a:pos x="1645" y="731"/>
                </a:cxn>
                <a:cxn ang="0">
                  <a:pos x="1645" y="922"/>
                </a:cxn>
                <a:cxn ang="0">
                  <a:pos x="1546" y="962"/>
                </a:cxn>
                <a:cxn ang="0">
                  <a:pos x="1448" y="922"/>
                </a:cxn>
                <a:cxn ang="0">
                  <a:pos x="989" y="476"/>
                </a:cxn>
                <a:cxn ang="0">
                  <a:pos x="989" y="1608"/>
                </a:cxn>
                <a:cxn ang="0">
                  <a:pos x="1780" y="1608"/>
                </a:cxn>
                <a:cxn ang="0">
                  <a:pos x="1916" y="1759"/>
                </a:cxn>
                <a:cxn ang="0">
                  <a:pos x="1780" y="1910"/>
                </a:cxn>
              </a:cxnLst>
              <a:rect l="0" t="0" r="r" b="b"/>
              <a:pathLst>
                <a:path w="1916" h="1911">
                  <a:moveTo>
                    <a:pt x="1780" y="1910"/>
                  </a:moveTo>
                  <a:cubicBezTo>
                    <a:pt x="856" y="1910"/>
                    <a:pt x="856" y="1910"/>
                    <a:pt x="856" y="1910"/>
                  </a:cubicBezTo>
                  <a:cubicBezTo>
                    <a:pt x="854" y="1910"/>
                    <a:pt x="852" y="1911"/>
                    <a:pt x="850" y="1911"/>
                  </a:cubicBezTo>
                  <a:cubicBezTo>
                    <a:pt x="773" y="1911"/>
                    <a:pt x="710" y="1851"/>
                    <a:pt x="710" y="1776"/>
                  </a:cubicBezTo>
                  <a:cubicBezTo>
                    <a:pt x="710" y="476"/>
                    <a:pt x="710" y="476"/>
                    <a:pt x="710" y="476"/>
                  </a:cubicBezTo>
                  <a:cubicBezTo>
                    <a:pt x="251" y="922"/>
                    <a:pt x="251" y="922"/>
                    <a:pt x="251" y="922"/>
                  </a:cubicBezTo>
                  <a:cubicBezTo>
                    <a:pt x="197" y="975"/>
                    <a:pt x="109" y="975"/>
                    <a:pt x="54" y="922"/>
                  </a:cubicBezTo>
                  <a:cubicBezTo>
                    <a:pt x="0" y="869"/>
                    <a:pt x="0" y="784"/>
                    <a:pt x="54" y="731"/>
                  </a:cubicBezTo>
                  <a:cubicBezTo>
                    <a:pt x="751" y="53"/>
                    <a:pt x="751" y="53"/>
                    <a:pt x="751" y="53"/>
                  </a:cubicBezTo>
                  <a:cubicBezTo>
                    <a:pt x="806" y="0"/>
                    <a:pt x="894" y="0"/>
                    <a:pt x="948" y="53"/>
                  </a:cubicBezTo>
                  <a:cubicBezTo>
                    <a:pt x="1645" y="731"/>
                    <a:pt x="1645" y="731"/>
                    <a:pt x="1645" y="731"/>
                  </a:cubicBezTo>
                  <a:cubicBezTo>
                    <a:pt x="1699" y="784"/>
                    <a:pt x="1699" y="869"/>
                    <a:pt x="1645" y="922"/>
                  </a:cubicBezTo>
                  <a:cubicBezTo>
                    <a:pt x="1618" y="949"/>
                    <a:pt x="1582" y="962"/>
                    <a:pt x="1546" y="962"/>
                  </a:cubicBezTo>
                  <a:cubicBezTo>
                    <a:pt x="1511" y="962"/>
                    <a:pt x="1475" y="949"/>
                    <a:pt x="1448" y="922"/>
                  </a:cubicBezTo>
                  <a:cubicBezTo>
                    <a:pt x="989" y="476"/>
                    <a:pt x="989" y="476"/>
                    <a:pt x="989" y="476"/>
                  </a:cubicBezTo>
                  <a:cubicBezTo>
                    <a:pt x="989" y="1608"/>
                    <a:pt x="989" y="1608"/>
                    <a:pt x="989" y="1608"/>
                  </a:cubicBezTo>
                  <a:cubicBezTo>
                    <a:pt x="1780" y="1608"/>
                    <a:pt x="1780" y="1608"/>
                    <a:pt x="1780" y="1608"/>
                  </a:cubicBezTo>
                  <a:cubicBezTo>
                    <a:pt x="1855" y="1608"/>
                    <a:pt x="1916" y="1675"/>
                    <a:pt x="1916" y="1759"/>
                  </a:cubicBezTo>
                  <a:cubicBezTo>
                    <a:pt x="1916" y="1842"/>
                    <a:pt x="1855" y="1910"/>
                    <a:pt x="1780" y="191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热区">
              <a:hlinkClick r:id="" action="ppaction://hlinkshowjump?jump=endshow"/>
            </p:cNvPr>
            <p:cNvSpPr/>
            <p:nvPr/>
          </p:nvSpPr>
          <p:spPr>
            <a:xfrm>
              <a:off x="7875422" y="6585447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下一页"/>
          <p:cNvGrpSpPr/>
          <p:nvPr/>
        </p:nvGrpSpPr>
        <p:grpSpPr>
          <a:xfrm>
            <a:off x="8750845" y="6578304"/>
            <a:ext cx="264567" cy="210642"/>
            <a:chOff x="8750845" y="6578304"/>
            <a:chExt cx="264567" cy="210642"/>
          </a:xfrm>
        </p:grpSpPr>
        <p:sp>
          <p:nvSpPr>
            <p:cNvPr id="28" name="右箭头">
              <a:hlinkClick r:id="" action="ppaction://hlinkshowjump?jump=nextslide"/>
            </p:cNvPr>
            <p:cNvSpPr/>
            <p:nvPr/>
          </p:nvSpPr>
          <p:spPr bwMode="auto">
            <a:xfrm>
              <a:off x="8786568" y="6604402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热区"/>
            <p:cNvSpPr/>
            <p:nvPr/>
          </p:nvSpPr>
          <p:spPr>
            <a:xfrm>
              <a:off x="8750845" y="6578304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上一页"/>
          <p:cNvGrpSpPr/>
          <p:nvPr/>
        </p:nvGrpSpPr>
        <p:grpSpPr>
          <a:xfrm>
            <a:off x="8335464" y="6580685"/>
            <a:ext cx="264567" cy="210642"/>
            <a:chOff x="8335464" y="6580685"/>
            <a:chExt cx="264567" cy="210642"/>
          </a:xfrm>
        </p:grpSpPr>
        <p:sp>
          <p:nvSpPr>
            <p:cNvPr id="35" name="左箭头"/>
            <p:cNvSpPr/>
            <p:nvPr/>
          </p:nvSpPr>
          <p:spPr bwMode="auto">
            <a:xfrm rot="10800000">
              <a:off x="8380612" y="6604401"/>
              <a:ext cx="191620" cy="166338"/>
            </a:xfrm>
            <a:custGeom>
              <a:avLst/>
              <a:gdLst/>
              <a:ahLst/>
              <a:cxnLst>
                <a:cxn ang="0">
                  <a:pos x="1115" y="1511"/>
                </a:cxn>
                <a:cxn ang="0">
                  <a:pos x="1755" y="871"/>
                </a:cxn>
                <a:cxn ang="0">
                  <a:pos x="1755" y="689"/>
                </a:cxn>
                <a:cxn ang="0">
                  <a:pos x="1115" y="49"/>
                </a:cxn>
                <a:cxn ang="0">
                  <a:pos x="933" y="49"/>
                </a:cxn>
                <a:cxn ang="0">
                  <a:pos x="933" y="231"/>
                </a:cxn>
                <a:cxn ang="0">
                  <a:pos x="1355" y="652"/>
                </a:cxn>
                <a:cxn ang="0">
                  <a:pos x="128" y="652"/>
                </a:cxn>
                <a:cxn ang="0">
                  <a:pos x="0" y="780"/>
                </a:cxn>
                <a:cxn ang="0">
                  <a:pos x="128" y="908"/>
                </a:cxn>
                <a:cxn ang="0">
                  <a:pos x="1355" y="908"/>
                </a:cxn>
                <a:cxn ang="0">
                  <a:pos x="933" y="1329"/>
                </a:cxn>
                <a:cxn ang="0">
                  <a:pos x="896" y="1420"/>
                </a:cxn>
                <a:cxn ang="0">
                  <a:pos x="933" y="1511"/>
                </a:cxn>
                <a:cxn ang="0">
                  <a:pos x="1115" y="1511"/>
                </a:cxn>
              </a:cxnLst>
              <a:rect l="0" t="0" r="r" b="b"/>
              <a:pathLst>
                <a:path w="1804" h="1560">
                  <a:moveTo>
                    <a:pt x="1115" y="1511"/>
                  </a:moveTo>
                  <a:cubicBezTo>
                    <a:pt x="1755" y="871"/>
                    <a:pt x="1755" y="871"/>
                    <a:pt x="1755" y="871"/>
                  </a:cubicBezTo>
                  <a:cubicBezTo>
                    <a:pt x="1804" y="821"/>
                    <a:pt x="1804" y="739"/>
                    <a:pt x="1755" y="689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065" y="0"/>
                    <a:pt x="983" y="0"/>
                    <a:pt x="933" y="49"/>
                  </a:cubicBezTo>
                  <a:cubicBezTo>
                    <a:pt x="884" y="99"/>
                    <a:pt x="884" y="181"/>
                    <a:pt x="933" y="231"/>
                  </a:cubicBezTo>
                  <a:cubicBezTo>
                    <a:pt x="1355" y="652"/>
                    <a:pt x="1355" y="652"/>
                    <a:pt x="1355" y="652"/>
                  </a:cubicBezTo>
                  <a:cubicBezTo>
                    <a:pt x="128" y="652"/>
                    <a:pt x="128" y="652"/>
                    <a:pt x="128" y="652"/>
                  </a:cubicBezTo>
                  <a:cubicBezTo>
                    <a:pt x="57" y="652"/>
                    <a:pt x="0" y="709"/>
                    <a:pt x="0" y="780"/>
                  </a:cubicBezTo>
                  <a:cubicBezTo>
                    <a:pt x="0" y="851"/>
                    <a:pt x="57" y="908"/>
                    <a:pt x="128" y="908"/>
                  </a:cubicBezTo>
                  <a:cubicBezTo>
                    <a:pt x="1355" y="908"/>
                    <a:pt x="1355" y="908"/>
                    <a:pt x="1355" y="908"/>
                  </a:cubicBezTo>
                  <a:cubicBezTo>
                    <a:pt x="933" y="1329"/>
                    <a:pt x="933" y="1329"/>
                    <a:pt x="933" y="1329"/>
                  </a:cubicBezTo>
                  <a:cubicBezTo>
                    <a:pt x="908" y="1354"/>
                    <a:pt x="896" y="1387"/>
                    <a:pt x="896" y="1420"/>
                  </a:cubicBezTo>
                  <a:cubicBezTo>
                    <a:pt x="896" y="1453"/>
                    <a:pt x="908" y="1486"/>
                    <a:pt x="933" y="1511"/>
                  </a:cubicBezTo>
                  <a:cubicBezTo>
                    <a:pt x="983" y="1560"/>
                    <a:pt x="1065" y="1560"/>
                    <a:pt x="1115" y="1511"/>
                  </a:cubicBez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热区"/>
            <p:cNvSpPr/>
            <p:nvPr/>
          </p:nvSpPr>
          <p:spPr>
            <a:xfrm>
              <a:off x="8335464" y="6580685"/>
              <a:ext cx="264567" cy="21064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54" name="Content Note"/>
          <p:cNvGrpSpPr/>
          <p:nvPr/>
        </p:nvGrpSpPr>
        <p:grpSpPr>
          <a:xfrm>
            <a:off x="683235" y="1271253"/>
            <a:ext cx="7072362" cy="4577399"/>
            <a:chOff x="1475656" y="1268760"/>
            <a:chExt cx="7632848" cy="5670630"/>
          </a:xfrm>
        </p:grpSpPr>
        <p:sp>
          <p:nvSpPr>
            <p:cNvPr id="55" name="矩形 54"/>
            <p:cNvSpPr/>
            <p:nvPr/>
          </p:nvSpPr>
          <p:spPr>
            <a:xfrm>
              <a:off x="1475656" y="1268760"/>
              <a:ext cx="7632848" cy="56706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CB8B02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475656" y="1268760"/>
              <a:ext cx="7632848" cy="442499"/>
            </a:xfrm>
            <a:prstGeom prst="rect">
              <a:avLst/>
            </a:prstGeom>
            <a:solidFill>
              <a:srgbClr val="CB8B02"/>
            </a:solidFill>
          </p:spPr>
          <p:txBody>
            <a:bodyPr wrap="square" rtlCol="0">
              <a:noAutofit/>
            </a:bodyPr>
            <a:p>
              <a:r>
                <a:rPr lang="en-US" altLang="zh-CN" b="1" dirty="0" smtClean="0">
                  <a:solidFill>
                    <a:schemeClr val="bg1"/>
                  </a:solidFill>
                  <a:latin typeface="+mj-lt"/>
                </a:rPr>
                <a:t>Content Note</a:t>
              </a:r>
              <a:endParaRPr lang="zh-CN" altLang="en-US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547664" y="2082395"/>
              <a:ext cx="7416824" cy="3965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A </a:t>
              </a:r>
              <a:r>
                <a:rPr lang="en-US" altLang="zh-CN" sz="2400" b="1" dirty="0" smtClean="0"/>
                <a:t>typical Italian home</a:t>
              </a:r>
              <a:r>
                <a:rPr lang="en-US" altLang="zh-CN" sz="2400" dirty="0" smtClean="0"/>
                <a:t> is often spread over two, three, or more floors. Sometimes, a bigger house will be shared by more than one family, each living on different floors.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b="1" dirty="0" smtClean="0"/>
                <a:t>Veneto</a:t>
              </a:r>
              <a:r>
                <a:rPr lang="en-US" altLang="zh-CN" sz="2400" dirty="0" smtClean="0"/>
                <a:t> is the most popular region of Italy for tourists to visit each year. Its cultural and historical heritage is on display in </a:t>
              </a:r>
              <a:r>
                <a:rPr lang="en-US" altLang="zh-CN" sz="2400" b="1" dirty="0" smtClean="0"/>
                <a:t>smaller homes </a:t>
              </a:r>
              <a:r>
                <a:rPr lang="en-US" altLang="zh-CN" sz="2400" dirty="0" smtClean="0"/>
                <a:t>such as those in the picture as well as in the </a:t>
              </a:r>
              <a:r>
                <a:rPr lang="en-US" altLang="zh-CN" sz="2400" b="1" dirty="0" smtClean="0"/>
                <a:t>grand Palladian villas </a:t>
              </a:r>
              <a:r>
                <a:rPr lang="en-US" altLang="zh-CN" sz="2400" dirty="0" smtClean="0"/>
                <a:t>that are found along the </a:t>
              </a:r>
              <a:r>
                <a:rPr lang="en-US" altLang="zh-CN" sz="2400" dirty="0" err="1" smtClean="0"/>
                <a:t>Brenta</a:t>
              </a:r>
              <a:r>
                <a:rPr lang="en-US" altLang="zh-CN" sz="2400" dirty="0" smtClean="0"/>
                <a:t> </a:t>
              </a:r>
              <a:r>
                <a:rPr lang="en-US" sz="2400" dirty="0" smtClean="0"/>
                <a:t>Riviera.</a:t>
              </a:r>
              <a:endParaRPr lang="en-US" altLang="zh-CN" sz="2400" b="1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50" name="Language Note"/>
          <p:cNvGrpSpPr/>
          <p:nvPr/>
        </p:nvGrpSpPr>
        <p:grpSpPr>
          <a:xfrm>
            <a:off x="928662" y="1214422"/>
            <a:ext cx="7429552" cy="4620319"/>
            <a:chOff x="2699792" y="1268760"/>
            <a:chExt cx="5184576" cy="6000792"/>
          </a:xfrm>
        </p:grpSpPr>
        <p:sp>
          <p:nvSpPr>
            <p:cNvPr id="51" name="矩形 50"/>
            <p:cNvSpPr/>
            <p:nvPr/>
          </p:nvSpPr>
          <p:spPr>
            <a:xfrm>
              <a:off x="2699792" y="1268760"/>
              <a:ext cx="5184576" cy="600079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  <a:effectLst>
              <a:outerShdw blurRad="279400" dist="63500" dir="7800000" sx="101000" sy="101000" algn="t" rotWithShape="0">
                <a:prstClr val="black">
                  <a:alpha val="6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96700" y="1783076"/>
              <a:ext cx="4968552" cy="5116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dirty="0" smtClean="0"/>
                <a:t>A </a:t>
              </a:r>
              <a:r>
                <a:rPr lang="en-US" altLang="zh-CN" sz="2400" b="1" dirty="0" smtClean="0"/>
                <a:t>home</a:t>
              </a:r>
              <a:r>
                <a:rPr lang="en-US" altLang="zh-CN" sz="2400" dirty="0" smtClean="0"/>
                <a:t> is </a:t>
              </a:r>
              <a:r>
                <a:rPr lang="en-US" altLang="zh-CN" sz="2400" b="1" dirty="0" smtClean="0"/>
                <a:t>a place where someone lives regularly</a:t>
              </a:r>
              <a:r>
                <a:rPr lang="en-US" altLang="zh-CN" sz="2400" dirty="0" smtClean="0"/>
                <a:t>. A home can be a range of different dwellings: </a:t>
              </a:r>
              <a:r>
                <a:rPr lang="en-US" altLang="zh-CN" sz="2400" b="1" i="1" dirty="0" smtClean="0"/>
                <a:t>house</a:t>
              </a:r>
              <a:r>
                <a:rPr lang="en-US" altLang="zh-CN" sz="2400" dirty="0" smtClean="0"/>
                <a:t>, </a:t>
              </a:r>
              <a:r>
                <a:rPr lang="en-US" altLang="zh-CN" sz="2400" b="1" i="1" dirty="0" smtClean="0"/>
                <a:t>apartment</a:t>
              </a:r>
              <a:r>
                <a:rPr lang="en-US" altLang="zh-CN" sz="2400" dirty="0" smtClean="0"/>
                <a:t>/</a:t>
              </a:r>
              <a:r>
                <a:rPr lang="en-US" altLang="zh-CN" sz="2400" b="1" i="1" dirty="0" smtClean="0"/>
                <a:t>flat</a:t>
              </a:r>
              <a:r>
                <a:rPr lang="en-US" altLang="zh-CN" sz="2400" dirty="0" smtClean="0"/>
                <a:t>, </a:t>
              </a:r>
              <a:r>
                <a:rPr lang="en-US" altLang="zh-CN" sz="2400" b="1" i="1" dirty="0" smtClean="0"/>
                <a:t>condo</a:t>
              </a:r>
              <a:r>
                <a:rPr lang="en-US" altLang="zh-CN" sz="2400" dirty="0" smtClean="0"/>
                <a:t>/</a:t>
              </a:r>
              <a:r>
                <a:rPr lang="en-US" altLang="zh-CN" sz="2400" b="1" i="1" dirty="0" smtClean="0"/>
                <a:t>condominium</a:t>
              </a:r>
              <a:r>
                <a:rPr lang="en-US" altLang="zh-CN" sz="2400" dirty="0" smtClean="0"/>
                <a:t>, </a:t>
              </a:r>
              <a:r>
                <a:rPr lang="en-US" altLang="zh-CN" sz="2400" b="1" i="1" dirty="0" smtClean="0"/>
                <a:t>townhouse</a:t>
              </a:r>
              <a:r>
                <a:rPr lang="en-US" altLang="zh-CN" sz="2400" dirty="0" smtClean="0"/>
                <a:t>, etc. </a:t>
              </a:r>
              <a:endParaRPr lang="en-US" altLang="zh-CN" sz="2400" dirty="0" smtClean="0"/>
            </a:p>
            <a:p>
              <a:pPr marL="265430" indent="-265430">
                <a:spcAft>
                  <a:spcPts val="1200"/>
                </a:spcAft>
                <a:buClr>
                  <a:schemeClr val="accent3"/>
                </a:buClr>
                <a:buSzPct val="50000"/>
                <a:buFont typeface="Wingdings" panose="05000000000000000000" pitchFamily="2" charset="2"/>
                <a:buChar char="l"/>
              </a:pPr>
              <a:r>
                <a:rPr lang="en-US" altLang="zh-CN" sz="2400" b="1" dirty="0" smtClean="0"/>
                <a:t>Home</a:t>
              </a:r>
              <a:r>
                <a:rPr lang="en-US" altLang="zh-CN" sz="2400" dirty="0" smtClean="0"/>
                <a:t> is often used to refer to </a:t>
              </a:r>
              <a:r>
                <a:rPr lang="en-US" altLang="zh-CN" sz="2400" b="1" dirty="0" smtClean="0"/>
                <a:t>the house where you grew up</a:t>
              </a:r>
              <a:r>
                <a:rPr lang="en-US" altLang="zh-CN" sz="2400" dirty="0" smtClean="0"/>
                <a:t>, which is located in your hometown. As an adjective, </a:t>
              </a:r>
              <a:r>
                <a:rPr lang="en-US" altLang="zh-CN" sz="2400" b="1" i="1" dirty="0" smtClean="0"/>
                <a:t>home</a:t>
              </a:r>
              <a:r>
                <a:rPr lang="en-US" altLang="zh-CN" sz="2400" dirty="0" smtClean="0"/>
                <a:t> can also be found in phrases like </a:t>
              </a:r>
              <a:r>
                <a:rPr lang="en-US" altLang="zh-CN" sz="2400" b="1" i="1" dirty="0" smtClean="0"/>
                <a:t>home country</a:t>
              </a:r>
              <a:r>
                <a:rPr lang="en-US" altLang="zh-CN" sz="2400" dirty="0" smtClean="0"/>
                <a:t>, </a:t>
              </a:r>
              <a:r>
                <a:rPr lang="en-US" altLang="zh-CN" sz="2400" b="1" i="1" dirty="0" smtClean="0"/>
                <a:t>home team</a:t>
              </a:r>
              <a:r>
                <a:rPr lang="en-US" altLang="zh-CN" sz="2400" dirty="0" smtClean="0"/>
                <a:t>, and </a:t>
              </a:r>
              <a:r>
                <a:rPr lang="en-US" altLang="zh-CN" sz="2400" b="1" i="1" dirty="0" smtClean="0"/>
                <a:t>home territory</a:t>
              </a:r>
              <a:r>
                <a:rPr lang="en-US" altLang="zh-CN" sz="2400" dirty="0" smtClean="0"/>
                <a:t>. Something that is </a:t>
              </a:r>
              <a:r>
                <a:rPr lang="en-US" altLang="zh-CN" sz="2400" b="1" i="1" dirty="0" smtClean="0"/>
                <a:t>home-made</a:t>
              </a:r>
              <a:r>
                <a:rPr lang="en-US" altLang="zh-CN" sz="2400" dirty="0" smtClean="0"/>
                <a:t> is made by hand instead of by machine. The term </a:t>
              </a:r>
              <a:r>
                <a:rPr lang="en-US" altLang="zh-CN" sz="2400" b="1" i="1" dirty="0" smtClean="0"/>
                <a:t>home</a:t>
              </a:r>
              <a:r>
                <a:rPr lang="en-US" altLang="zh-CN" sz="2400" dirty="0" smtClean="0"/>
                <a:t> can also refer to a person’s upbringing or family: </a:t>
              </a:r>
              <a:r>
                <a:rPr lang="en-US" altLang="zh-CN" sz="2400" b="1" i="1" dirty="0" smtClean="0"/>
                <a:t>She comes from a good home</a:t>
              </a:r>
              <a:r>
                <a:rPr lang="en-US" altLang="zh-CN" sz="2400" dirty="0" smtClean="0"/>
                <a:t>.</a:t>
              </a:r>
              <a:endParaRPr lang="en-US" altLang="zh-CN" sz="2400" b="1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WNhNzhjZGJkMzMzZjhhNWJmN2E2YWM2ZDMyYWYwN2YifQ==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582957"/>
      </a:dk2>
      <a:lt2>
        <a:srgbClr val="EEECE1"/>
      </a:lt2>
      <a:accent1>
        <a:srgbClr val="4F81BD"/>
      </a:accent1>
      <a:accent2>
        <a:srgbClr val="C0504D"/>
      </a:accent2>
      <a:accent3>
        <a:srgbClr val="88BB16"/>
      </a:accent3>
      <a:accent4>
        <a:srgbClr val="D496D3"/>
      </a:accent4>
      <a:accent5>
        <a:srgbClr val="4BACC6"/>
      </a:accent5>
      <a:accent6>
        <a:srgbClr val="FEE200"/>
      </a:accent6>
      <a:hlink>
        <a:srgbClr val="0000FF"/>
      </a:hlink>
      <a:folHlink>
        <a:srgbClr val="800080"/>
      </a:folHlink>
    </a:clrScheme>
    <a:fontScheme name="进阶试听说">
      <a:majorFont>
        <a:latin typeface="Roboto Condensed"/>
        <a:ea typeface="微软雅黑"/>
        <a:cs typeface=""/>
      </a:majorFont>
      <a:minorFont>
        <a:latin typeface="Neuto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WPS 演示</Application>
  <PresentationFormat>全屏显示(4:3)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Neuton</vt:lpstr>
      <vt:lpstr>Roboto Condensed</vt:lpstr>
      <vt:lpstr>微软雅黑</vt:lpstr>
      <vt:lpstr>Arial Unicode MS</vt:lpstr>
      <vt:lpstr>Calibri</vt:lpstr>
      <vt:lpstr>Office 主题</vt:lpstr>
      <vt:lpstr>Part I Warm Up</vt:lpstr>
      <vt:lpstr>PowerPoint 演示文稿</vt:lpstr>
      <vt:lpstr>PowerPoint 演示文稿</vt:lpstr>
    </vt:vector>
  </TitlesOfParts>
  <Company>cmet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old9</dc:creator>
  <cp:lastModifiedBy>别急躁</cp:lastModifiedBy>
  <cp:revision>126</cp:revision>
  <dcterms:created xsi:type="dcterms:W3CDTF">2017-12-23T09:29:00Z</dcterms:created>
  <dcterms:modified xsi:type="dcterms:W3CDTF">2024-08-27T05:41:56Z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E01F12AF930649ABB46C1A03755B88BD_13</vt:lpwstr>
  </property>
  <property fmtid="{D5CDD505-2E9C-101B-9397-08002B2CF9AE}" pid="3" name="KSOProductBuildVer">
    <vt:lpwstr>2052-12.1.0.17857</vt:lpwstr>
  </property>
</Properties>
</file>