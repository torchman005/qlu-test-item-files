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9144000" cy="6858000" type="screen4x3"/>
  <p:notesSz cx="6858000" cy="9144000"/>
  <p:embeddedFontLst>
    <p:embeddedFont>
      <p:font typeface="Neuton" panose="00000500000000000000" charset="0"/>
      <p:regular r:id="rId10"/>
      <p:bold r:id="rId11"/>
      <p:italic r:id="rId12"/>
    </p:embeddedFont>
    <p:embeddedFont>
      <p:font typeface="Roboto Condensed" panose="02000000000000000000" charset="0"/>
      <p:regular r:id="rId13"/>
      <p:bold r:id="rId14"/>
      <p:italic r:id="rId15"/>
    </p:embeddedFont>
    <p:embeddedFont>
      <p:font typeface="微软雅黑" panose="020B0503020204020204" charset="-122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33"/>
    <a:srgbClr val="515672"/>
    <a:srgbClr val="062656"/>
    <a:srgbClr val="909090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 varScale="1">
        <p:scale>
          <a:sx n="100" d="100"/>
          <a:sy n="100" d="100"/>
        </p:scale>
        <p:origin x="225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 smtClean="0"/>
              <a:t>Part I Warm Up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Answer these questions with a partner.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323850" y="1320817"/>
            <a:ext cx="4319587" cy="5251455"/>
          </a:xfrm>
        </p:spPr>
        <p:txBody>
          <a:bodyPr>
            <a:noAutofit/>
          </a:bodyPr>
          <a:lstStyle/>
          <a:p>
            <a:pPr marL="355600" indent="-355600">
              <a:buNone/>
            </a:pPr>
            <a:r>
              <a:rPr lang="en-US" altLang="zh-CN" sz="2800" dirty="0" smtClean="0"/>
              <a:t>1.  How is the weather in the photo?</a:t>
            </a:r>
            <a:endParaRPr lang="en-US" altLang="zh-CN" sz="2800" dirty="0" smtClean="0"/>
          </a:p>
          <a:p>
            <a:pPr marL="355600" indent="0">
              <a:spcAft>
                <a:spcPts val="1200"/>
              </a:spcAft>
              <a:buNone/>
            </a:pPr>
            <a:r>
              <a:rPr lang="en-US" altLang="zh-CN" sz="2800" u="sng" dirty="0" smtClean="0">
                <a:solidFill>
                  <a:schemeClr val="accent1"/>
                </a:solidFill>
              </a:rPr>
              <a:t>cold, snowy, freezing, etc.</a:t>
            </a:r>
            <a:endParaRPr lang="en-US" altLang="zh-CN" sz="2800" u="sng" dirty="0" smtClean="0">
              <a:solidFill>
                <a:schemeClr val="accent1"/>
              </a:solidFill>
            </a:endParaRPr>
          </a:p>
          <a:p>
            <a:pPr marL="355600" indent="-355600">
              <a:spcAft>
                <a:spcPts val="1200"/>
              </a:spcAft>
              <a:buNone/>
            </a:pPr>
            <a:r>
              <a:rPr lang="en-US" altLang="zh-CN" sz="2800" dirty="0" smtClean="0"/>
              <a:t>2.  In your country, how many seasons are there?</a:t>
            </a:r>
            <a:endParaRPr lang="en-US" altLang="zh-CN" sz="2800" dirty="0" smtClean="0"/>
          </a:p>
          <a:p>
            <a:pPr marL="355600" indent="-355600">
              <a:buNone/>
            </a:pPr>
            <a:r>
              <a:rPr lang="en-US" altLang="zh-CN" sz="2800" dirty="0" smtClean="0"/>
              <a:t>3.  Which season is your favorite? Why?</a:t>
            </a:r>
            <a:endParaRPr lang="en-US" altLang="zh-CN" sz="2800" dirty="0" smtClean="0"/>
          </a:p>
        </p:txBody>
      </p:sp>
      <p:pic>
        <p:nvPicPr>
          <p:cNvPr id="11" name="图片 10" descr="b1u1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929731" y="1043950"/>
            <a:ext cx="4038021" cy="4378368"/>
          </a:xfrm>
          <a:prstGeom prst="rect">
            <a:avLst/>
          </a:prstGeom>
        </p:spPr>
      </p:pic>
      <p:sp>
        <p:nvSpPr>
          <p:cNvPr id="29" name="图片标题"/>
          <p:cNvSpPr txBox="1"/>
          <p:nvPr/>
        </p:nvSpPr>
        <p:spPr>
          <a:xfrm>
            <a:off x="4929190" y="1000109"/>
            <a:ext cx="2214578" cy="64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62656"/>
                </a:solidFill>
              </a14:hiddenFill>
            </a:ext>
          </a:extLst>
        </p:spPr>
        <p:txBody>
          <a:bodyPr wrap="square" tIns="0" bIns="0" rtlCol="0" anchor="ctr" anchorCtr="0">
            <a:no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  <a:latin typeface="+mj-lt"/>
              </a:rPr>
              <a:t>Weather</a:t>
            </a:r>
            <a:endParaRPr lang="en-US" altLang="zh-CN" sz="48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图片说明"/>
          <p:cNvSpPr txBox="1"/>
          <p:nvPr/>
        </p:nvSpPr>
        <p:spPr>
          <a:xfrm>
            <a:off x="4857752" y="5493705"/>
            <a:ext cx="4213670" cy="6499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dirty="0" smtClean="0"/>
              <a:t>People gather in the snow to vote in Appenzell-Innerrhoden, Switzerland.</a:t>
            </a:r>
            <a:endParaRPr lang="zh-CN" altLang="en-US" dirty="0">
              <a:latin typeface="+mj-lt"/>
            </a:endParaRPr>
          </a:p>
        </p:txBody>
      </p: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1" name="按钮-Language Note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929190" y="1631475"/>
            <a:ext cx="1446697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7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填空热区-点击消失"/>
          <p:cNvSpPr>
            <a:spLocks noChangeArrowheads="1"/>
          </p:cNvSpPr>
          <p:nvPr/>
        </p:nvSpPr>
        <p:spPr bwMode="auto">
          <a:xfrm>
            <a:off x="767252" y="2251710"/>
            <a:ext cx="3429024" cy="47931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\</a:t>
            </a:r>
            <a:endParaRPr lang="en-US" altLang="zh-CN" sz="2800" u="sng" dirty="0" smtClean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  <p:bldLst>
      <p:bldP spid="3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0" name="Language Note"/>
          <p:cNvGrpSpPr/>
          <p:nvPr/>
        </p:nvGrpSpPr>
        <p:grpSpPr>
          <a:xfrm>
            <a:off x="928662" y="1214422"/>
            <a:ext cx="7429552" cy="4620319"/>
            <a:chOff x="2699792" y="1268760"/>
            <a:chExt cx="5184576" cy="6000792"/>
          </a:xfrm>
        </p:grpSpPr>
        <p:sp>
          <p:nvSpPr>
            <p:cNvPr id="51" name="矩形 50"/>
            <p:cNvSpPr/>
            <p:nvPr/>
          </p:nvSpPr>
          <p:spPr>
            <a:xfrm>
              <a:off x="2699792" y="1268760"/>
              <a:ext cx="5184576" cy="60007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699792" y="1268760"/>
              <a:ext cx="5184576" cy="483935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Language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96700" y="1894763"/>
              <a:ext cx="4968552" cy="447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400" b="1" dirty="0" smtClean="0"/>
                <a:t>Some weather-related words: </a:t>
              </a:r>
              <a:endParaRPr lang="en-US" altLang="zh-CN" sz="2400" b="1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hot, cold, warm, freezing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sunny, rainy, snowy, windy, icy, cloudy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hail, snow, rain, sun, cloud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spring, summer, fall/autumn, winter, rainy season/monsoon, dry season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thunderstorm, hailstorm, blizzard, tornado, heatwave, etc.</a:t>
              </a:r>
              <a:endParaRPr lang="en-US" altLang="zh-CN" sz="24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D496D3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WPS 演示</Application>
  <PresentationFormat>全屏显示(4:3)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Part I Warm Up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134</cp:revision>
  <dcterms:created xsi:type="dcterms:W3CDTF">2017-12-23T09:29:00Z</dcterms:created>
  <dcterms:modified xsi:type="dcterms:W3CDTF">2024-08-27T06:35:54Z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C766455B98D944FBB1EED7287A726765_13</vt:lpwstr>
  </property>
  <property fmtid="{D5CDD505-2E9C-101B-9397-08002B2CF9AE}" pid="3" name="KSOProductBuildVer">
    <vt:lpwstr>2052-12.1.0.17857</vt:lpwstr>
  </property>
</Properties>
</file>