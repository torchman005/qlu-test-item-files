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57" r:id="rId5"/>
    <p:sldId id="259" r:id="rId6"/>
    <p:sldId id="267" r:id="rId7"/>
    <p:sldId id="261" r:id="rId8"/>
    <p:sldId id="262" r:id="rId9"/>
    <p:sldId id="264" r:id="rId10"/>
  </p:sldIdLst>
  <p:sldSz cx="9144000" cy="6858000" type="screen4x3"/>
  <p:notesSz cx="6858000" cy="9144000"/>
  <p:embeddedFontLst>
    <p:embeddedFont>
      <p:font typeface="Neuton" panose="00000500000000000000" charset="0"/>
      <p:regular r:id="rId15"/>
      <p:bold r:id="rId16"/>
      <p:italic r:id="rId17"/>
    </p:embeddedFont>
    <p:embeddedFont>
      <p:font typeface="Roboto Condensed" panose="02000000000000000000" charset="0"/>
      <p:regular r:id="rId18"/>
      <p:bold r:id="rId19"/>
      <p:italic r:id="rId20"/>
    </p:embeddedFont>
    <p:embeddedFont>
      <p:font typeface="微软雅黑" panose="020B0503020204020204" charset="-122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DD33"/>
    <a:srgbClr val="515672"/>
    <a:srgbClr val="F2F2F2"/>
    <a:srgbClr val="FFFFFF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4273" autoAdjust="0"/>
  </p:normalViewPr>
  <p:slideViewPr>
    <p:cSldViewPr showGuides="1">
      <p:cViewPr>
        <p:scale>
          <a:sx n="100" d="100"/>
          <a:sy n="100" d="100"/>
        </p:scale>
        <p:origin x="2250" y="6"/>
      </p:cViewPr>
      <p:guideLst>
        <p:guide orient="horz" pos="2160"/>
        <p:guide pos="290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II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fore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2160240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Before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le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197430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While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fter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194890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After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jpeg"/><Relationship Id="rId3" Type="http://schemas.openxmlformats.org/officeDocument/2006/relationships/slide" Target="slide7.xml"/><Relationship Id="rId2" Type="http://schemas.openxmlformats.org/officeDocument/2006/relationships/slide" Target="slide5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emf"/><Relationship Id="rId8" Type="http://schemas.openxmlformats.org/officeDocument/2006/relationships/slide" Target="slide3.xml"/><Relationship Id="rId7" Type="http://schemas.microsoft.com/office/2007/relationships/media" Target="ppt/slides/normally.mp3" TargetMode="External"/><Relationship Id="rId6" Type="http://schemas.openxmlformats.org/officeDocument/2006/relationships/audio" Target="ppt/slides/normally.mp3" TargetMode="External"/><Relationship Id="rId5" Type="http://schemas.microsoft.com/office/2007/relationships/media" Target="ppt/slides/oxygen.mp3" TargetMode="External"/><Relationship Id="rId4" Type="http://schemas.openxmlformats.org/officeDocument/2006/relationships/audio" Target="ppt/slides/oxygen.mp3" TargetMode="External"/><Relationship Id="rId3" Type="http://schemas.openxmlformats.org/officeDocument/2006/relationships/image" Target="../media/image3.emf"/><Relationship Id="rId20" Type="http://schemas.openxmlformats.org/officeDocument/2006/relationships/notesSlide" Target="../notesSlides/notesSlide2.xml"/><Relationship Id="rId2" Type="http://schemas.microsoft.com/office/2007/relationships/media" Target="ppt/slides/heatwave.mp3" TargetMode="External"/><Relationship Id="rId19" Type="http://schemas.openxmlformats.org/officeDocument/2006/relationships/slideLayout" Target="../slideLayouts/slideLayout2.xml"/><Relationship Id="rId18" Type="http://schemas.openxmlformats.org/officeDocument/2006/relationships/slide" Target="slide2.xml"/><Relationship Id="rId17" Type="http://schemas.openxmlformats.org/officeDocument/2006/relationships/slide" Target="slide4.xml"/><Relationship Id="rId16" Type="http://schemas.microsoft.com/office/2007/relationships/media" Target="ppt/slides/release.mp3" TargetMode="External"/><Relationship Id="rId15" Type="http://schemas.openxmlformats.org/officeDocument/2006/relationships/audio" Target="ppt/slides/release.mp3" TargetMode="External"/><Relationship Id="rId14" Type="http://schemas.openxmlformats.org/officeDocument/2006/relationships/image" Target="../media/image7.png"/><Relationship Id="rId13" Type="http://schemas.microsoft.com/office/2007/relationships/media" Target="ppt/slides/words-1.mp3" TargetMode="External"/><Relationship Id="rId12" Type="http://schemas.openxmlformats.org/officeDocument/2006/relationships/audio" Target="ppt/slides/words-1.mp3" TargetMode="External"/><Relationship Id="rId11" Type="http://schemas.openxmlformats.org/officeDocument/2006/relationships/image" Target="../media/image6.emf"/><Relationship Id="rId10" Type="http://schemas.openxmlformats.org/officeDocument/2006/relationships/image" Target="../media/image5.emf"/><Relationship Id="rId1" Type="http://schemas.openxmlformats.org/officeDocument/2006/relationships/audio" Target="ppt/slides/heatwave.mp3" TargetMode="Externa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slide" Target="slide3.xml"/><Relationship Id="rId2" Type="http://schemas.openxmlformats.org/officeDocument/2006/relationships/slide" Target="slide4.xml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slide" Target="slide4.xml"/><Relationship Id="rId3" Type="http://schemas.openxmlformats.org/officeDocument/2006/relationships/image" Target="../media/image8.jpeg"/><Relationship Id="rId2" Type="http://schemas.openxmlformats.org/officeDocument/2006/relationships/slide" Target="slide2.xml"/><Relationship Id="rId1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slide" Target="slide5.xml"/><Relationship Id="rId7" Type="http://schemas.openxmlformats.org/officeDocument/2006/relationships/hyperlink" Target="B1%20Unit7.wmv" TargetMode="External"/><Relationship Id="rId6" Type="http://schemas.openxmlformats.org/officeDocument/2006/relationships/slide" Target="slide6.xml"/><Relationship Id="rId5" Type="http://schemas.openxmlformats.org/officeDocument/2006/relationships/image" Target="../media/image10.emf"/><Relationship Id="rId4" Type="http://schemas.openxmlformats.org/officeDocument/2006/relationships/hyperlink" Target="B1%20Unit7-sub.mp4" TargetMode="External"/><Relationship Id="rId3" Type="http://schemas.openxmlformats.org/officeDocument/2006/relationships/image" Target="../media/image9.png"/><Relationship Id="rId2" Type="http://schemas.microsoft.com/office/2007/relationships/media" Target="ppt/slides/B1%20Unit7.wmv" TargetMode="External"/><Relationship Id="rId10" Type="http://schemas.openxmlformats.org/officeDocument/2006/relationships/notesSlide" Target="../notesSlides/notesSlide5.xml"/><Relationship Id="rId1" Type="http://schemas.openxmlformats.org/officeDocument/2006/relationships/video" Target="ppt/slides/B1%20Unit7.wmv" TargetMode="Externa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image" Target="../media/image11.emf"/><Relationship Id="rId7" Type="http://schemas.openxmlformats.org/officeDocument/2006/relationships/hyperlink" Target="Script1.pptx" TargetMode="External"/><Relationship Id="rId6" Type="http://schemas.openxmlformats.org/officeDocument/2006/relationships/image" Target="../media/image10.emf"/><Relationship Id="rId5" Type="http://schemas.openxmlformats.org/officeDocument/2006/relationships/hyperlink" Target="B1%20Unit7-sub.mp4" TargetMode="External"/><Relationship Id="rId4" Type="http://schemas.openxmlformats.org/officeDocument/2006/relationships/image" Target="../media/image9.png"/><Relationship Id="rId3" Type="http://schemas.microsoft.com/office/2007/relationships/media" Target="ppt/slides/B1%20Unit7.wmv" TargetMode="External"/><Relationship Id="rId2" Type="http://schemas.openxmlformats.org/officeDocument/2006/relationships/video" Target="ppt/slides/B1%20Unit7.wmv" TargetMode="Externa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3.xml"/><Relationship Id="rId1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文本占位符 25"/>
          <p:cNvSpPr>
            <a:spLocks noGrp="1"/>
          </p:cNvSpPr>
          <p:nvPr>
            <p:ph type="body" sz="quarter" idx="14"/>
          </p:nvPr>
        </p:nvSpPr>
        <p:spPr>
          <a:xfrm>
            <a:off x="90612" y="980729"/>
            <a:ext cx="8569325" cy="5328592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20000"/>
              </a:lnSpc>
              <a:buClr>
                <a:schemeClr val="accent3"/>
              </a:buClr>
            </a:pPr>
            <a:r>
              <a:rPr lang="en-US" altLang="zh-CN" b="1" dirty="0" smtClean="0">
                <a:solidFill>
                  <a:schemeClr val="tx2"/>
                </a:solidFill>
                <a:latin typeface="+mj-lt"/>
              </a:rPr>
              <a:t>Deadly </a:t>
            </a:r>
            <a:r>
              <a:rPr lang="en-US" altLang="zh-CN" b="1" dirty="0" err="1" smtClean="0">
                <a:solidFill>
                  <a:schemeClr val="tx2"/>
                </a:solidFill>
                <a:latin typeface="+mj-lt"/>
              </a:rPr>
              <a:t>Heatwave</a:t>
            </a:r>
            <a:endParaRPr lang="en-US" altLang="zh-CN" b="1" dirty="0" smtClean="0">
              <a:solidFill>
                <a:schemeClr val="tx2"/>
              </a:solidFill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 smtClean="0">
                <a:latin typeface="+mj-lt"/>
              </a:rPr>
              <a:t>Before You Watch</a:t>
            </a:r>
            <a:endParaRPr lang="en-US" altLang="zh-CN" dirty="0" smtClean="0"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 smtClean="0">
                <a:latin typeface="+mj-lt"/>
              </a:rPr>
              <a:t>While You Watch</a:t>
            </a:r>
            <a:endParaRPr lang="en-US" altLang="zh-CN" dirty="0" smtClean="0"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 smtClean="0">
                <a:latin typeface="+mj-lt"/>
              </a:rPr>
              <a:t>After You Watch</a:t>
            </a:r>
            <a:endParaRPr lang="en-US" altLang="zh-CN" dirty="0" smtClean="0">
              <a:latin typeface="+mj-lt"/>
            </a:endParaRPr>
          </a:p>
        </p:txBody>
      </p:sp>
      <p:sp>
        <p:nvSpPr>
          <p:cNvPr id="51" name="btn-Part 1">
            <a:hlinkClick r:id="rId1" action="ppaction://hlinksldjump"/>
          </p:cNvPr>
          <p:cNvSpPr/>
          <p:nvPr/>
        </p:nvSpPr>
        <p:spPr>
          <a:xfrm>
            <a:off x="586160" y="1730524"/>
            <a:ext cx="270227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btn-Part 1">
            <a:hlinkClick r:id="rId2" action="ppaction://hlinksldjump"/>
          </p:cNvPr>
          <p:cNvSpPr/>
          <p:nvPr/>
        </p:nvSpPr>
        <p:spPr>
          <a:xfrm>
            <a:off x="624136" y="2370088"/>
            <a:ext cx="2541677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btn-Part 1">
            <a:hlinkClick r:id="rId3" action="ppaction://hlinksldjump"/>
          </p:cNvPr>
          <p:cNvSpPr/>
          <p:nvPr/>
        </p:nvSpPr>
        <p:spPr>
          <a:xfrm>
            <a:off x="624136" y="2975744"/>
            <a:ext cx="2351051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E:\lab\全新版进阶视听说\PPT\working\P01-13_1327321.jpg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714744" y="1214422"/>
            <a:ext cx="5228307" cy="3485538"/>
          </a:xfrm>
          <a:prstGeom prst="rect">
            <a:avLst/>
          </a:prstGeom>
          <a:noFill/>
        </p:spPr>
      </p:pic>
      <p:sp>
        <p:nvSpPr>
          <p:cNvPr id="16" name="矩形 15"/>
          <p:cNvSpPr/>
          <p:nvPr/>
        </p:nvSpPr>
        <p:spPr>
          <a:xfrm>
            <a:off x="6869891" y="4130109"/>
            <a:ext cx="2059827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chemeClr val="bg1"/>
                </a:solidFill>
              </a:rPr>
              <a:t>A boy stays cool during</a:t>
            </a:r>
            <a:endParaRPr lang="en-US" altLang="zh-CN" sz="1600" dirty="0" smtClean="0">
              <a:solidFill>
                <a:schemeClr val="bg1"/>
              </a:solidFill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</a:rPr>
              <a:t>a </a:t>
            </a:r>
            <a:r>
              <a:rPr lang="en-US" altLang="zh-CN" sz="1600" dirty="0" err="1" smtClean="0">
                <a:solidFill>
                  <a:schemeClr val="bg1"/>
                </a:solidFill>
              </a:rPr>
              <a:t>heatwave</a:t>
            </a:r>
            <a:r>
              <a:rPr lang="en-US" altLang="zh-CN" sz="1600" dirty="0" smtClean="0">
                <a:solidFill>
                  <a:schemeClr val="bg1"/>
                </a:solidFill>
              </a:rPr>
              <a:t> in Pakistan.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7" name="btn-Part 1">
            <a:hlinkClick r:id="rId1" action="ppaction://hlinksldjump"/>
          </p:cNvPr>
          <p:cNvSpPr/>
          <p:nvPr/>
        </p:nvSpPr>
        <p:spPr>
          <a:xfrm>
            <a:off x="329788" y="1021110"/>
            <a:ext cx="3071834" cy="5945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New words and expression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About the video      Understand vocabulary   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0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755576" y="1412776"/>
            <a:ext cx="8137599" cy="3016356"/>
          </a:xfrm>
        </p:spPr>
        <p:txBody>
          <a:bodyPr numCol="2" spcCol="900000">
            <a:noAutofit/>
          </a:bodyPr>
          <a:lstStyle/>
          <a:p>
            <a:pPr marL="0" indent="0">
              <a:buNone/>
            </a:pPr>
            <a:r>
              <a:rPr lang="en-US" sz="2400" b="1" dirty="0" err="1" smtClean="0"/>
              <a:t>heatwave</a:t>
            </a:r>
            <a:r>
              <a:rPr lang="en-US" sz="2400" b="1" dirty="0" smtClean="0"/>
              <a:t>  </a:t>
            </a:r>
            <a:r>
              <a:rPr lang="en-US" sz="2400" i="1" dirty="0" smtClean="0"/>
              <a:t>n. </a:t>
            </a:r>
            <a:r>
              <a:rPr lang="zh-CN" altLang="en-US" sz="2400" dirty="0" smtClean="0"/>
              <a:t>热浪，奇热时期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normally  </a:t>
            </a:r>
            <a:r>
              <a:rPr lang="en-US" sz="2400" i="1" dirty="0" smtClean="0"/>
              <a:t>adv. </a:t>
            </a:r>
            <a:r>
              <a:rPr lang="en-US" sz="2400" dirty="0" smtClean="0"/>
              <a:t>Anything that normally happens is something that occurs so often that it is usual and expected. </a:t>
            </a:r>
            <a:r>
              <a:rPr lang="zh-CN" altLang="en-US" sz="2400" dirty="0" smtClean="0"/>
              <a:t>通常地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oxygen  </a:t>
            </a:r>
            <a:r>
              <a:rPr lang="en-US" sz="2400" i="1" dirty="0" smtClean="0"/>
              <a:t>n. </a:t>
            </a:r>
            <a:r>
              <a:rPr lang="zh-CN" altLang="en-US" sz="2400" dirty="0" smtClean="0"/>
              <a:t>氧气，氧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release  </a:t>
            </a:r>
            <a:r>
              <a:rPr lang="en-US" sz="2400" i="1" dirty="0" smtClean="0"/>
              <a:t>v. </a:t>
            </a:r>
            <a:r>
              <a:rPr lang="en-US" sz="2400" dirty="0" smtClean="0"/>
              <a:t>When something is released, it escapes.（</a:t>
            </a:r>
            <a:r>
              <a:rPr lang="zh-CN" altLang="en-US" sz="2400" dirty="0" smtClean="0"/>
              <a:t>能量、物质等）释放</a:t>
            </a:r>
            <a:endParaRPr lang="zh-CN" altLang="en-US" sz="2400" dirty="0"/>
          </a:p>
        </p:txBody>
      </p:sp>
      <p:pic>
        <p:nvPicPr>
          <p:cNvPr id="61" name="heatwave.mp3">
            <a:hlinkClick r:id="" action="ppaction://media"/>
          </p:cNvPr>
          <p:cNvPicPr>
            <a:picLocks noRot="1"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83" y="1527076"/>
            <a:ext cx="312701" cy="309438"/>
          </a:xfrm>
          <a:prstGeom prst="rect">
            <a:avLst/>
          </a:prstGeom>
        </p:spPr>
      </p:pic>
      <p:pic>
        <p:nvPicPr>
          <p:cNvPr id="67" name="oxygen.mp3">
            <a:hlinkClick r:id="" action="ppaction://media"/>
          </p:cNvPr>
          <p:cNvPicPr>
            <a:picLocks noRot="1"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1547926"/>
            <a:ext cx="312701" cy="309438"/>
          </a:xfrm>
          <a:prstGeom prst="rect">
            <a:avLst/>
          </a:prstGeom>
        </p:spPr>
      </p:pic>
      <p:pic>
        <p:nvPicPr>
          <p:cNvPr id="68" name="normally.mp3">
            <a:hlinkClick r:id="" action="ppaction://media"/>
          </p:cNvPr>
          <p:cNvPicPr>
            <a:picLocks noRot="1"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83" y="2333744"/>
            <a:ext cx="312701" cy="309438"/>
          </a:xfrm>
          <a:prstGeom prst="rect">
            <a:avLst/>
          </a:prstGeom>
        </p:spPr>
      </p:pic>
      <p:sp>
        <p:nvSpPr>
          <p:cNvPr id="22" name="btn-Part 1">
            <a:hlinkClick r:id="rId8" action="ppaction://hlinksldjump"/>
          </p:cNvPr>
          <p:cNvSpPr/>
          <p:nvPr/>
        </p:nvSpPr>
        <p:spPr>
          <a:xfrm>
            <a:off x="2489200" y="482615"/>
            <a:ext cx="136842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播放按钮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1161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" name="暂停按钮"/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37165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停止按钮"/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73169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" name="words-1.mp3">
            <a:hlinkClick r:id="" action="ppaction://media"/>
          </p:cNvPr>
          <p:cNvPicPr>
            <a:picLocks noRot="1"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link="rId13"/>
              </p:ext>
            </p:extLst>
          </p:nvPr>
        </p:nvPicPr>
        <p:blipFill>
          <a:blip r:embed="rId14" cstate="print"/>
          <a:stretch>
            <a:fillRect/>
          </a:stretch>
        </p:blipFill>
        <p:spPr>
          <a:xfrm>
            <a:off x="9235752" y="1052736"/>
            <a:ext cx="304800" cy="304800"/>
          </a:xfrm>
          <a:prstGeom prst="rect">
            <a:avLst/>
          </a:prstGeom>
        </p:spPr>
      </p:pic>
      <p:grpSp>
        <p:nvGrpSpPr>
          <p:cNvPr id="3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1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4" name="release.mp3">
            <a:hlinkClick r:id="" action="ppaction://media"/>
          </p:cNvPr>
          <p:cNvPicPr>
            <a:picLocks noRot="1" noChangeAspect="1"/>
          </p:cNvPicPr>
          <p:nvPr>
            <a:audioFile r:link="rId15"/>
            <p:extLst>
              <p:ext uri="{DAA4B4D4-6D71-4841-9C94-3DE7FCFB9230}">
                <p14:media xmlns:p14="http://schemas.microsoft.com/office/powerpoint/2010/main" r:link="rId16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17817" y="1976554"/>
            <a:ext cx="312701" cy="309438"/>
          </a:xfrm>
          <a:prstGeom prst="rect">
            <a:avLst/>
          </a:prstGeom>
        </p:spPr>
      </p:pic>
      <p:sp>
        <p:nvSpPr>
          <p:cNvPr id="37" name="btn-Part 1">
            <a:hlinkClick r:id="rId17" action="ppaction://hlinksldjump"/>
          </p:cNvPr>
          <p:cNvSpPr/>
          <p:nvPr/>
        </p:nvSpPr>
        <p:spPr>
          <a:xfrm>
            <a:off x="4071935" y="493329"/>
            <a:ext cx="207170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btn-Part 1">
            <a:hlinkClick r:id="rId18" action="ppaction://hlinksldjump"/>
          </p:cNvPr>
          <p:cNvSpPr/>
          <p:nvPr/>
        </p:nvSpPr>
        <p:spPr>
          <a:xfrm>
            <a:off x="63500" y="482615"/>
            <a:ext cx="22987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7"/>
                </p:tgtEl>
              </p:cMediaNode>
            </p:audio>
            <p:audio>
              <p:cMediaNode>
                <p:cTn id="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8"/>
                </p:tgtEl>
              </p:cMediaNode>
            </p:audio>
            <p:audio>
              <p:cMediaNode showWhenStopped="0">
                <p:cTn id="5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  <p:audio>
              <p:cMediaNode>
                <p:cTn id="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New words and expression    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About the video 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Understand vocabulary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28596" y="1571612"/>
            <a:ext cx="7929618" cy="2143140"/>
          </a:xfrm>
          <a:prstGeom prst="roundRect">
            <a:avLst>
              <a:gd name="adj" fmla="val 558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16000" rtlCol="0" anchor="ctr"/>
          <a:lstStyle/>
          <a:p>
            <a:pPr algn="just"/>
            <a:r>
              <a:rPr lang="en-US" altLang="zh-CN" sz="2400" b="1" dirty="0" smtClean="0">
                <a:solidFill>
                  <a:schemeClr val="tx1"/>
                </a:solidFill>
              </a:rPr>
              <a:t>About the video. </a:t>
            </a:r>
            <a:r>
              <a:rPr lang="en-US" altLang="zh-CN" sz="2400" dirty="0" smtClean="0">
                <a:solidFill>
                  <a:schemeClr val="tx1"/>
                </a:solidFill>
              </a:rPr>
              <a:t>A </a:t>
            </a:r>
            <a:r>
              <a:rPr lang="en-US" altLang="zh-CN" sz="2400" i="1" dirty="0" err="1" smtClean="0">
                <a:solidFill>
                  <a:schemeClr val="tx1"/>
                </a:solidFill>
              </a:rPr>
              <a:t>heatwave</a:t>
            </a:r>
            <a:r>
              <a:rPr lang="en-US" altLang="zh-CN" sz="2400" dirty="0" smtClean="0">
                <a:solidFill>
                  <a:schemeClr val="tx1"/>
                </a:solidFill>
              </a:rPr>
              <a:t> describes many days of very hot weather. </a:t>
            </a:r>
            <a:r>
              <a:rPr lang="en-US" altLang="zh-CN" sz="2400" dirty="0" err="1" smtClean="0">
                <a:solidFill>
                  <a:schemeClr val="tx1"/>
                </a:solidFill>
              </a:rPr>
              <a:t>Heatwaves</a:t>
            </a:r>
            <a:r>
              <a:rPr lang="en-US" altLang="zh-CN" sz="2400" dirty="0" smtClean="0">
                <a:solidFill>
                  <a:schemeClr val="tx1"/>
                </a:solidFill>
              </a:rPr>
              <a:t> can be dangerous: people can die, and fires can start. In 2003, there was a </a:t>
            </a:r>
            <a:r>
              <a:rPr lang="en-US" altLang="zh-CN" sz="2400" dirty="0" err="1" smtClean="0">
                <a:solidFill>
                  <a:schemeClr val="tx1"/>
                </a:solidFill>
              </a:rPr>
              <a:t>heatwave</a:t>
            </a:r>
            <a:r>
              <a:rPr lang="en-US" altLang="zh-CN" sz="2400" dirty="0" smtClean="0">
                <a:solidFill>
                  <a:schemeClr val="tx1"/>
                </a:solidFill>
              </a:rPr>
              <a:t> in Europe—one of the worst in modern history.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21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2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btn-Part 1">
            <a:hlinkClick r:id="rId1" action="ppaction://hlinksldjump"/>
          </p:cNvPr>
          <p:cNvSpPr/>
          <p:nvPr/>
        </p:nvSpPr>
        <p:spPr>
          <a:xfrm>
            <a:off x="63500" y="482615"/>
            <a:ext cx="22987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btn-Part 1">
            <a:hlinkClick r:id="rId2" action="ppaction://hlinksldjump"/>
          </p:cNvPr>
          <p:cNvSpPr/>
          <p:nvPr/>
        </p:nvSpPr>
        <p:spPr>
          <a:xfrm>
            <a:off x="4082951" y="478880"/>
            <a:ext cx="188036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7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9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btn-Part 1">
            <a:hlinkClick r:id="rId3" action="ppaction://hlinksldjump"/>
          </p:cNvPr>
          <p:cNvSpPr/>
          <p:nvPr/>
        </p:nvSpPr>
        <p:spPr>
          <a:xfrm>
            <a:off x="2512173" y="488167"/>
            <a:ext cx="1345448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New words and expression     About the video     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Understand vocabulary</a:t>
            </a:r>
            <a:endParaRPr lang="zh-CN" altLang="en-US" sz="1600" b="1" dirty="0" smtClean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9325" cy="446868"/>
          </a:xfrm>
        </p:spPr>
        <p:txBody>
          <a:bodyPr>
            <a:noAutofit/>
          </a:bodyPr>
          <a:lstStyle/>
          <a:p>
            <a:r>
              <a:rPr lang="en-US" altLang="zh-CN" dirty="0" smtClean="0"/>
              <a:t>Look at the diagram. Complete the information using the words in the box.</a:t>
            </a:r>
            <a:endParaRPr lang="zh-CN" altLang="en-US" dirty="0"/>
          </a:p>
        </p:txBody>
      </p:sp>
      <p:grpSp>
        <p:nvGrpSpPr>
          <p:cNvPr id="2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9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2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btn-Part 1">
            <a:hlinkClick r:id="rId1" action="ppaction://hlinksldjump"/>
          </p:cNvPr>
          <p:cNvSpPr/>
          <p:nvPr/>
        </p:nvSpPr>
        <p:spPr>
          <a:xfrm>
            <a:off x="2511315" y="500042"/>
            <a:ext cx="1346305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btn-Part 1">
            <a:hlinkClick r:id="rId2" action="ppaction://hlinksldjump"/>
          </p:cNvPr>
          <p:cNvSpPr/>
          <p:nvPr/>
        </p:nvSpPr>
        <p:spPr>
          <a:xfrm>
            <a:off x="63500" y="482615"/>
            <a:ext cx="22987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8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圆角矩形 29"/>
          <p:cNvSpPr/>
          <p:nvPr/>
        </p:nvSpPr>
        <p:spPr>
          <a:xfrm>
            <a:off x="752449" y="1643050"/>
            <a:ext cx="6819947" cy="428628"/>
          </a:xfrm>
          <a:prstGeom prst="roundRect">
            <a:avLst>
              <a:gd name="adj" fmla="val 958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>
              <a:lnSpc>
                <a:spcPct val="110000"/>
              </a:lnSpc>
            </a:pPr>
            <a:r>
              <a:rPr lang="en-US" altLang="zh-CN" sz="2400" dirty="0" smtClean="0">
                <a:solidFill>
                  <a:schemeClr val="tx1"/>
                </a:solidFill>
              </a:rPr>
              <a:t>air           control           dangerous             temperature             water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31" name="图片 30" descr="U7-P3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770" y="2363111"/>
            <a:ext cx="3500462" cy="3241053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357158" y="2363111"/>
            <a:ext cx="250033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Plants help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control</a:t>
            </a:r>
            <a:r>
              <a:rPr lang="en-US" altLang="zh-CN" sz="2400" dirty="0" smtClean="0"/>
              <a:t>  CO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 in the air and keep Earth cool. Too much CO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 in the air is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dangerous</a:t>
            </a:r>
            <a:r>
              <a:rPr lang="en-US" altLang="zh-CN" sz="2400" dirty="0" smtClean="0"/>
              <a:t> because it causes the Earth’s 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temperature</a:t>
            </a:r>
            <a:r>
              <a:rPr lang="en-US" altLang="zh-CN" sz="2400" dirty="0" smtClean="0"/>
              <a:t> to increase.</a:t>
            </a:r>
            <a:endParaRPr lang="en-US" altLang="zh-CN" sz="2400" dirty="0" smtClean="0"/>
          </a:p>
        </p:txBody>
      </p:sp>
      <p:sp>
        <p:nvSpPr>
          <p:cNvPr id="37" name="矩形 36"/>
          <p:cNvSpPr/>
          <p:nvPr/>
        </p:nvSpPr>
        <p:spPr>
          <a:xfrm>
            <a:off x="5962373" y="2357430"/>
            <a:ext cx="278608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Plants take in carbon dioxide (CO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) and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water </a:t>
            </a:r>
            <a:r>
              <a:rPr lang="en-US" altLang="zh-CN" sz="2400" dirty="0" smtClean="0"/>
              <a:t>(H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O) from the environment.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5962341" y="4214818"/>
            <a:ext cx="278611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Then plants release oxygen (O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) into the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air</a:t>
            </a:r>
            <a:r>
              <a:rPr lang="en-US" altLang="zh-CN" sz="2400" dirty="0" smtClean="0"/>
              <a:t>. Humans need oxygen to live.</a:t>
            </a:r>
            <a:endParaRPr lang="zh-CN" altLang="en-US" sz="2400" dirty="0"/>
          </a:p>
        </p:txBody>
      </p:sp>
      <p:sp>
        <p:nvSpPr>
          <p:cNvPr id="41" name="填空热区-点击消失"/>
          <p:cNvSpPr>
            <a:spLocks noChangeArrowheads="1"/>
          </p:cNvSpPr>
          <p:nvPr/>
        </p:nvSpPr>
        <p:spPr bwMode="auto">
          <a:xfrm>
            <a:off x="1729110" y="2401320"/>
            <a:ext cx="857256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2" name="填空热区-点击消失"/>
          <p:cNvSpPr>
            <a:spLocks noChangeArrowheads="1"/>
          </p:cNvSpPr>
          <p:nvPr/>
        </p:nvSpPr>
        <p:spPr bwMode="auto">
          <a:xfrm>
            <a:off x="669935" y="3882188"/>
            <a:ext cx="1214446" cy="3600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3" name="填空热区-点击消失"/>
          <p:cNvSpPr>
            <a:spLocks noChangeArrowheads="1"/>
          </p:cNvSpPr>
          <p:nvPr/>
        </p:nvSpPr>
        <p:spPr bwMode="auto">
          <a:xfrm>
            <a:off x="428596" y="4965811"/>
            <a:ext cx="1476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4" name="填空热区-点击消失"/>
          <p:cNvSpPr>
            <a:spLocks noChangeArrowheads="1"/>
          </p:cNvSpPr>
          <p:nvPr/>
        </p:nvSpPr>
        <p:spPr bwMode="auto">
          <a:xfrm>
            <a:off x="6057568" y="3123053"/>
            <a:ext cx="684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5" name="填空热区-点击消失"/>
          <p:cNvSpPr>
            <a:spLocks noChangeArrowheads="1"/>
          </p:cNvSpPr>
          <p:nvPr/>
        </p:nvSpPr>
        <p:spPr bwMode="auto">
          <a:xfrm>
            <a:off x="6050253" y="4980441"/>
            <a:ext cx="324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7" name="btn-Part 1">
            <a:hlinkClick r:id="rId4" action="ppaction://hlinksldjump"/>
          </p:cNvPr>
          <p:cNvSpPr/>
          <p:nvPr/>
        </p:nvSpPr>
        <p:spPr>
          <a:xfrm>
            <a:off x="4038883" y="493329"/>
            <a:ext cx="200026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A. Watch the video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B. Watch the video again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0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923912"/>
            <a:ext cx="8569325" cy="361948"/>
          </a:xfrm>
        </p:spPr>
        <p:txBody>
          <a:bodyPr>
            <a:noAutofit/>
          </a:bodyPr>
          <a:lstStyle/>
          <a:p>
            <a:r>
              <a:rPr lang="en-US" altLang="zh-CN" dirty="0" smtClean="0"/>
              <a:t>Write numbers to complete the summary below.</a:t>
            </a:r>
            <a:endParaRPr lang="zh-CN" altLang="en-US" dirty="0" smtClean="0"/>
          </a:p>
        </p:txBody>
      </p:sp>
      <p:pic>
        <p:nvPicPr>
          <p:cNvPr id="25" name="B1 Unit7.wmv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467545" y="1407381"/>
            <a:ext cx="4114997" cy="2314686"/>
          </a:xfrm>
          <a:prstGeom prst="rect">
            <a:avLst/>
          </a:prstGeom>
        </p:spPr>
      </p:pic>
      <p:pic>
        <p:nvPicPr>
          <p:cNvPr id="26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714876" y="3401387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btn-Part 1">
            <a:hlinkClick r:id="rId6" action="ppaction://hlinksldjump"/>
          </p:cNvPr>
          <p:cNvSpPr/>
          <p:nvPr/>
        </p:nvSpPr>
        <p:spPr>
          <a:xfrm>
            <a:off x="1807952" y="500042"/>
            <a:ext cx="206102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203270" y="3401387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smtClean="0">
                <a:latin typeface="+mj-lt"/>
              </a:rPr>
              <a:t>(Subtitles On)</a:t>
            </a:r>
            <a:endParaRPr lang="zh-CN" altLang="en-US" sz="1200">
              <a:latin typeface="+mj-lt"/>
            </a:endParaRPr>
          </a:p>
        </p:txBody>
      </p:sp>
      <p:grpSp>
        <p:nvGrpSpPr>
          <p:cNvPr id="4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1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7" name="按钮-External Player">
            <a:hlinkClick r:id="rId7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714876" y="3007687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8" name="TextBox 47"/>
          <p:cNvSpPr txBox="1"/>
          <p:nvPr/>
        </p:nvSpPr>
        <p:spPr>
          <a:xfrm>
            <a:off x="6203270" y="3007687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smtClean="0">
                <a:latin typeface="+mj-lt"/>
              </a:rPr>
              <a:t>(Subtitles Off)</a:t>
            </a:r>
            <a:endParaRPr lang="zh-CN" altLang="en-US" sz="1200">
              <a:latin typeface="+mj-lt"/>
            </a:endParaRPr>
          </a:p>
        </p:txBody>
      </p:sp>
      <p:sp>
        <p:nvSpPr>
          <p:cNvPr id="36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428596" y="3869691"/>
            <a:ext cx="8464579" cy="2488267"/>
          </a:xfrm>
        </p:spPr>
        <p:txBody>
          <a:bodyPr>
            <a:noAutofit/>
          </a:bodyPr>
          <a:lstStyle/>
          <a:p>
            <a:pPr marL="0" indent="452755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dirty="0" smtClean="0"/>
              <a:t>In August 2003, Europe, particularly France, had one of its worst </a:t>
            </a:r>
            <a:r>
              <a:rPr lang="en-US" sz="2800" dirty="0" err="1" smtClean="0"/>
              <a:t>heatwaves</a:t>
            </a:r>
            <a:r>
              <a:rPr lang="en-US" sz="2800" dirty="0" smtClean="0"/>
              <a:t> ever. The temperature was sometimes more than </a:t>
            </a:r>
            <a:r>
              <a:rPr lang="en-US" sz="2800" u="sng" dirty="0" smtClean="0">
                <a:solidFill>
                  <a:schemeClr val="accent1"/>
                </a:solidFill>
              </a:rPr>
              <a:t>40</a:t>
            </a:r>
            <a:r>
              <a:rPr lang="en-US" sz="2800" dirty="0" smtClean="0"/>
              <a:t> degrees. Because of this, many people died. On one night, August 10th, between </a:t>
            </a:r>
            <a:r>
              <a:rPr lang="en-US" sz="2800" u="sng" dirty="0" smtClean="0">
                <a:solidFill>
                  <a:schemeClr val="accent1"/>
                </a:solidFill>
              </a:rPr>
              <a:t>2,500</a:t>
            </a:r>
            <a:r>
              <a:rPr lang="en-US" sz="2800" dirty="0" smtClean="0"/>
              <a:t> and </a:t>
            </a:r>
            <a:r>
              <a:rPr lang="en-US" sz="2800" u="sng" dirty="0" smtClean="0">
                <a:solidFill>
                  <a:schemeClr val="accent1"/>
                </a:solidFill>
              </a:rPr>
              <a:t>3,000</a:t>
            </a:r>
            <a:r>
              <a:rPr lang="en-US" sz="2800" dirty="0" smtClean="0"/>
              <a:t> people died. In total, more than </a:t>
            </a:r>
            <a:r>
              <a:rPr lang="en-US" sz="2800" u="sng" dirty="0" smtClean="0">
                <a:solidFill>
                  <a:schemeClr val="accent1"/>
                </a:solidFill>
              </a:rPr>
              <a:t>50,000</a:t>
            </a:r>
            <a:r>
              <a:rPr lang="en-US" sz="2800" dirty="0" smtClean="0"/>
              <a:t> people died in Europe, including </a:t>
            </a:r>
            <a:r>
              <a:rPr lang="en-US" sz="2800" u="sng" dirty="0" smtClean="0">
                <a:solidFill>
                  <a:schemeClr val="accent1"/>
                </a:solidFill>
              </a:rPr>
              <a:t>15,000</a:t>
            </a:r>
            <a:r>
              <a:rPr lang="en-US" sz="2800" dirty="0" smtClean="0"/>
              <a:t> in France.</a:t>
            </a:r>
            <a:endParaRPr lang="en-US" altLang="zh-CN" sz="2800" dirty="0" smtClean="0"/>
          </a:p>
        </p:txBody>
      </p:sp>
      <p:sp>
        <p:nvSpPr>
          <p:cNvPr id="38" name="填空热区-点击消失"/>
          <p:cNvSpPr>
            <a:spLocks noChangeArrowheads="1"/>
          </p:cNvSpPr>
          <p:nvPr/>
        </p:nvSpPr>
        <p:spPr bwMode="auto">
          <a:xfrm>
            <a:off x="1177839" y="4815620"/>
            <a:ext cx="35719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9" name="填空热区-点击消失"/>
          <p:cNvSpPr>
            <a:spLocks noChangeArrowheads="1"/>
          </p:cNvSpPr>
          <p:nvPr/>
        </p:nvSpPr>
        <p:spPr bwMode="auto">
          <a:xfrm>
            <a:off x="4286248" y="5244210"/>
            <a:ext cx="785818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0" name="填空热区-点击消失"/>
          <p:cNvSpPr>
            <a:spLocks noChangeArrowheads="1"/>
          </p:cNvSpPr>
          <p:nvPr/>
        </p:nvSpPr>
        <p:spPr bwMode="auto">
          <a:xfrm>
            <a:off x="5643570" y="5244248"/>
            <a:ext cx="785818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1" name="填空热区-点击消失"/>
          <p:cNvSpPr>
            <a:spLocks noChangeArrowheads="1"/>
          </p:cNvSpPr>
          <p:nvPr/>
        </p:nvSpPr>
        <p:spPr bwMode="auto">
          <a:xfrm>
            <a:off x="2685352" y="5672876"/>
            <a:ext cx="928694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2" name="填空热区-点击消失"/>
          <p:cNvSpPr>
            <a:spLocks noChangeArrowheads="1"/>
          </p:cNvSpPr>
          <p:nvPr/>
        </p:nvSpPr>
        <p:spPr bwMode="auto">
          <a:xfrm>
            <a:off x="521979" y="6101466"/>
            <a:ext cx="928694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7" name="btn-Part 1">
            <a:hlinkClick r:id="rId8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video>
          </p:childTnLst>
        </p:cTn>
      </p:par>
    </p:tnLst>
    <p:bldLst>
      <p:bldP spid="3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A. Watch the video   </a:t>
            </a:r>
            <a:r>
              <a:rPr lang="en-US" altLang="zh-CN" sz="1600" b="1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B. Watch the video again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48" name="btn-Part 1">
            <a:hlinkClick r:id="rId1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3"/>
          </p:nvPr>
        </p:nvSpPr>
        <p:spPr>
          <a:xfrm>
            <a:off x="323850" y="925200"/>
            <a:ext cx="8569325" cy="714380"/>
          </a:xfrm>
        </p:spPr>
        <p:txBody>
          <a:bodyPr>
            <a:noAutofit/>
          </a:bodyPr>
          <a:lstStyle/>
          <a:p>
            <a:r>
              <a:rPr lang="en-US" altLang="zh-CN" dirty="0" smtClean="0"/>
              <a:t>Check your answers in A. Then choose the correct answers to complete the information below.</a:t>
            </a:r>
            <a:endParaRPr lang="zh-CN" altLang="en-US" dirty="0"/>
          </a:p>
        </p:txBody>
      </p:sp>
      <p:pic>
        <p:nvPicPr>
          <p:cNvPr id="75" name="B1 Unit7.wmv">
            <a:hlinkClick r:id="" action="ppaction://media"/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42144" y="1696601"/>
            <a:ext cx="3841824" cy="2161027"/>
          </a:xfrm>
          <a:prstGeom prst="rect">
            <a:avLst/>
          </a:prstGeom>
        </p:spPr>
      </p:pic>
      <p:sp>
        <p:nvSpPr>
          <p:cNvPr id="76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428596" y="4012567"/>
            <a:ext cx="8464579" cy="2416829"/>
          </a:xfrm>
        </p:spPr>
        <p:txBody>
          <a:bodyPr>
            <a:noAutofit/>
          </a:bodyPr>
          <a:lstStyle/>
          <a:p>
            <a:pPr marL="0" indent="44640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 smtClean="0"/>
              <a:t>Scientists noticed another bad thing that year. ( </a:t>
            </a:r>
            <a:r>
              <a:rPr lang="en-US" altLang="zh-CN" sz="2400" b="1" dirty="0" smtClean="0"/>
              <a:t>Carbon dioxide </a:t>
            </a:r>
            <a:r>
              <a:rPr lang="en-US" altLang="zh-CN" sz="2400" dirty="0" smtClean="0"/>
              <a:t>/ </a:t>
            </a:r>
            <a:r>
              <a:rPr lang="en-US" altLang="zh-CN" sz="2400" b="1" dirty="0" smtClean="0"/>
              <a:t>Oxygen</a:t>
            </a:r>
            <a:r>
              <a:rPr lang="en-US" altLang="zh-CN" sz="2400" dirty="0" smtClean="0"/>
              <a:t> ) levels in the air above Paris were ( </a:t>
            </a:r>
            <a:r>
              <a:rPr lang="en-US" altLang="zh-CN" sz="2400" b="1" dirty="0" smtClean="0"/>
              <a:t>higher </a:t>
            </a:r>
            <a:r>
              <a:rPr lang="en-US" altLang="zh-CN" sz="2400" dirty="0" smtClean="0"/>
              <a:t>/ </a:t>
            </a:r>
            <a:r>
              <a:rPr lang="en-US" altLang="zh-CN" sz="2400" b="1" dirty="0" smtClean="0"/>
              <a:t>lower </a:t>
            </a:r>
            <a:r>
              <a:rPr lang="en-US" altLang="zh-CN" sz="2400" dirty="0" smtClean="0"/>
              <a:t>) than usual. Plants normally take in ( </a:t>
            </a:r>
            <a:r>
              <a:rPr lang="en-US" altLang="zh-CN" sz="2400" b="1" dirty="0" smtClean="0"/>
              <a:t>carbon dioxide </a:t>
            </a:r>
            <a:r>
              <a:rPr lang="en-US" altLang="zh-CN" sz="2400" dirty="0" smtClean="0"/>
              <a:t>/ </a:t>
            </a:r>
            <a:r>
              <a:rPr lang="en-US" altLang="zh-CN" sz="2400" b="1" dirty="0" smtClean="0"/>
              <a:t>oxygen</a:t>
            </a:r>
            <a:r>
              <a:rPr lang="en-US" altLang="zh-CN" sz="2400" dirty="0" smtClean="0"/>
              <a:t> ) from the air, and release ( </a:t>
            </a:r>
            <a:r>
              <a:rPr lang="en-US" altLang="zh-CN" sz="2400" b="1" dirty="0" smtClean="0"/>
              <a:t>carbon dioxide </a:t>
            </a:r>
            <a:r>
              <a:rPr lang="en-US" altLang="zh-CN" sz="2400" dirty="0" smtClean="0"/>
              <a:t>/ </a:t>
            </a:r>
            <a:r>
              <a:rPr lang="en-US" altLang="zh-CN" sz="2400" b="1" dirty="0" smtClean="0"/>
              <a:t>oxygen</a:t>
            </a:r>
            <a:r>
              <a:rPr lang="en-US" altLang="zh-CN" sz="2400" dirty="0" smtClean="0"/>
              <a:t> ). However, the extreme heat reversed this process. This meant that the plants were no longer cooling and cleaning the air as well.</a:t>
            </a:r>
            <a:endParaRPr lang="en-US" altLang="zh-CN" sz="2400" dirty="0" smtClean="0"/>
          </a:p>
        </p:txBody>
      </p:sp>
      <p:pic>
        <p:nvPicPr>
          <p:cNvPr id="77" name="按钮-External Player">
            <a:hlinkClick r:id="rId5" action="ppaction://hlinkfile"/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3549628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8" name="按钮-Script">
            <a:hlinkClick r:id="rId7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3189588"/>
            <a:ext cx="904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同心圆 20"/>
          <p:cNvSpPr/>
          <p:nvPr/>
        </p:nvSpPr>
        <p:spPr>
          <a:xfrm>
            <a:off x="5330270" y="4492930"/>
            <a:ext cx="1000132" cy="364830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热区"/>
          <p:cNvSpPr/>
          <p:nvPr/>
        </p:nvSpPr>
        <p:spPr>
          <a:xfrm>
            <a:off x="5365133" y="4543859"/>
            <a:ext cx="1857388" cy="25709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同心圆 22"/>
          <p:cNvSpPr/>
          <p:nvPr/>
        </p:nvSpPr>
        <p:spPr>
          <a:xfrm>
            <a:off x="3214678" y="4901650"/>
            <a:ext cx="2143140" cy="364830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热区"/>
          <p:cNvSpPr/>
          <p:nvPr/>
        </p:nvSpPr>
        <p:spPr>
          <a:xfrm>
            <a:off x="3249541" y="4943227"/>
            <a:ext cx="3108410" cy="25709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同心圆 24"/>
          <p:cNvSpPr/>
          <p:nvPr/>
        </p:nvSpPr>
        <p:spPr>
          <a:xfrm>
            <a:off x="3471170" y="5337593"/>
            <a:ext cx="1100830" cy="33524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热区"/>
          <p:cNvSpPr/>
          <p:nvPr/>
        </p:nvSpPr>
        <p:spPr>
          <a:xfrm>
            <a:off x="1392153" y="5349910"/>
            <a:ext cx="3108410" cy="25709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同心圆 27"/>
          <p:cNvSpPr/>
          <p:nvPr/>
        </p:nvSpPr>
        <p:spPr>
          <a:xfrm>
            <a:off x="6187526" y="4079257"/>
            <a:ext cx="2143140" cy="364830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07349" y="4128149"/>
            <a:ext cx="7772112" cy="680719"/>
            <a:chOff x="507349" y="4128149"/>
            <a:chExt cx="7772112" cy="680719"/>
          </a:xfrm>
        </p:grpSpPr>
        <p:sp>
          <p:nvSpPr>
            <p:cNvPr id="29" name="热区"/>
            <p:cNvSpPr/>
            <p:nvPr/>
          </p:nvSpPr>
          <p:spPr>
            <a:xfrm>
              <a:off x="6286512" y="4128149"/>
              <a:ext cx="1992949" cy="2570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热区"/>
            <p:cNvSpPr/>
            <p:nvPr/>
          </p:nvSpPr>
          <p:spPr>
            <a:xfrm>
              <a:off x="507349" y="4551775"/>
              <a:ext cx="992817" cy="2570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3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7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929322" y="3570166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dirty="0" smtClean="0">
                <a:latin typeface="+mj-lt"/>
              </a:rPr>
              <a:t>(Subtitles On)</a:t>
            </a:r>
            <a:endParaRPr lang="zh-CN" altLang="en-US" sz="1200" dirty="0">
              <a:latin typeface="+mj-lt"/>
            </a:endParaRPr>
          </a:p>
        </p:txBody>
      </p:sp>
      <p:sp>
        <p:nvSpPr>
          <p:cNvPr id="44" name="btn-Part 1">
            <a:hlinkClick r:id="rId9" action="ppaction://hlinksldjump"/>
          </p:cNvPr>
          <p:cNvSpPr/>
          <p:nvPr/>
        </p:nvSpPr>
        <p:spPr>
          <a:xfrm>
            <a:off x="1857356" y="489025"/>
            <a:ext cx="2061029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video>
          </p:childTnLst>
        </p:cTn>
      </p:par>
    </p:tnLst>
    <p:bldLst>
      <p:bldP spid="21" grpId="0" animBg="1"/>
      <p:bldP spid="23" grpId="0" animBg="1"/>
      <p:bldP spid="25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764704"/>
            <a:ext cx="8569325" cy="949784"/>
          </a:xfrm>
        </p:spPr>
        <p:txBody>
          <a:bodyPr>
            <a:normAutofit lnSpcReduction="10000"/>
          </a:bodyPr>
          <a:lstStyle/>
          <a:p>
            <a:r>
              <a:rPr lang="en-US" altLang="zh-CN" b="1" dirty="0" smtClean="0"/>
              <a:t>A. Discussion. </a:t>
            </a:r>
            <a:r>
              <a:rPr lang="en-US" altLang="zh-CN" dirty="0" smtClean="0"/>
              <a:t>Work with a partner. Why is a </a:t>
            </a:r>
            <a:r>
              <a:rPr lang="en-US" altLang="zh-CN" dirty="0" err="1" smtClean="0"/>
              <a:t>heatwave</a:t>
            </a:r>
            <a:r>
              <a:rPr lang="en-US" altLang="zh-CN" dirty="0" smtClean="0"/>
              <a:t> (like the one in 2003) bad for our planet? Which of the things below are good to do in a </a:t>
            </a:r>
            <a:r>
              <a:rPr lang="en-US" altLang="zh-CN" dirty="0" err="1" smtClean="0"/>
              <a:t>heatwave</a:t>
            </a:r>
            <a:r>
              <a:rPr lang="en-US" altLang="zh-CN" dirty="0" smtClean="0"/>
              <a:t>? Which aren’t?</a:t>
            </a:r>
            <a:endParaRPr lang="zh-CN" altLang="en-US" dirty="0" smtClean="0"/>
          </a:p>
        </p:txBody>
      </p:sp>
      <p:grpSp>
        <p:nvGrpSpPr>
          <p:cNvPr id="14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1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500034" y="1928802"/>
          <a:ext cx="8358248" cy="2928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64"/>
                <a:gridCol w="2178860"/>
                <a:gridCol w="2089562"/>
                <a:gridCol w="2089562"/>
              </a:tblGrid>
              <a:tr h="636730"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drink water </a:t>
                      </a:r>
                      <a:endParaRPr lang="zh-CN" altLang="en-US" sz="2400" b="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go swimming </a:t>
                      </a:r>
                      <a:endParaRPr lang="zh-CN" altLang="en-US" sz="24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smoke</a:t>
                      </a:r>
                      <a:endParaRPr lang="zh-CN" altLang="en-US" sz="24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eat a big meal</a:t>
                      </a:r>
                      <a:endParaRPr 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146114"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go to the mall </a:t>
                      </a:r>
                      <a:endParaRPr lang="zh-CN" altLang="en-US" sz="2400" b="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turn off the lights </a:t>
                      </a:r>
                      <a:endParaRPr lang="zh-CN" altLang="en-US" sz="24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wear dark clothing </a:t>
                      </a:r>
                      <a:endParaRPr lang="zh-CN" altLang="en-US" sz="24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go outside</a:t>
                      </a:r>
                      <a:endParaRPr 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146114"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turn on a fan or the A/C </a:t>
                      </a:r>
                      <a:endParaRPr lang="zh-CN" altLang="en-US" sz="2400" b="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open your windows </a:t>
                      </a:r>
                      <a:endParaRPr lang="zh-CN" altLang="en-US" sz="24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exercise </a:t>
                      </a:r>
                      <a:endParaRPr lang="zh-CN" altLang="en-US" sz="24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wear sunscreen</a:t>
                      </a:r>
                      <a:endParaRPr 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476250" y="5286388"/>
            <a:ext cx="8569325" cy="949784"/>
          </a:xfrm>
        </p:spPr>
        <p:txBody>
          <a:bodyPr>
            <a:noAutofit/>
          </a:bodyPr>
          <a:lstStyle/>
          <a:p>
            <a:r>
              <a:rPr lang="en-US" altLang="zh-CN" b="1" dirty="0" smtClean="0"/>
              <a:t>B. Role play. </a:t>
            </a:r>
            <a:r>
              <a:rPr lang="en-US" altLang="zh-CN" dirty="0" smtClean="0"/>
              <a:t>Imagine there is a </a:t>
            </a:r>
            <a:r>
              <a:rPr lang="en-US" altLang="zh-CN" dirty="0" err="1" smtClean="0"/>
              <a:t>heatwave</a:t>
            </a:r>
            <a:r>
              <a:rPr lang="en-US" altLang="zh-CN" dirty="0" smtClean="0"/>
              <a:t> in your area. Make a 30-second radio or TV weather report. Talk about the weather and tell people ways to stay safe and cool. Use your ideas from </a:t>
            </a:r>
            <a:r>
              <a:rPr lang="en-US" altLang="zh-CN" b="1" dirty="0" smtClean="0"/>
              <a:t>A</a:t>
            </a:r>
            <a:r>
              <a:rPr lang="en-US" altLang="zh-CN" dirty="0" smtClean="0"/>
              <a:t>. Then show your weather report to another pair.</a:t>
            </a:r>
            <a:endParaRPr lang="zh-CN" altLang="en-US" dirty="0" smtClean="0"/>
          </a:p>
        </p:txBody>
      </p:sp>
      <p:sp>
        <p:nvSpPr>
          <p:cNvPr id="21" name="同心圆 20"/>
          <p:cNvSpPr/>
          <p:nvPr/>
        </p:nvSpPr>
        <p:spPr>
          <a:xfrm>
            <a:off x="500034" y="2098572"/>
            <a:ext cx="1571636" cy="364830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同心圆 22"/>
          <p:cNvSpPr/>
          <p:nvPr/>
        </p:nvSpPr>
        <p:spPr>
          <a:xfrm>
            <a:off x="459693" y="3000372"/>
            <a:ext cx="1785950" cy="364830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同心圆 23"/>
          <p:cNvSpPr/>
          <p:nvPr/>
        </p:nvSpPr>
        <p:spPr>
          <a:xfrm>
            <a:off x="443188" y="3877084"/>
            <a:ext cx="2071702" cy="785818"/>
          </a:xfrm>
          <a:prstGeom prst="donut">
            <a:avLst>
              <a:gd name="adj" fmla="val 5976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0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同心圆 31"/>
          <p:cNvSpPr/>
          <p:nvPr/>
        </p:nvSpPr>
        <p:spPr>
          <a:xfrm>
            <a:off x="2428860" y="2116222"/>
            <a:ext cx="1857388" cy="364830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同心圆 32"/>
          <p:cNvSpPr/>
          <p:nvPr/>
        </p:nvSpPr>
        <p:spPr>
          <a:xfrm>
            <a:off x="6688246" y="4133310"/>
            <a:ext cx="2000264" cy="364830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同心圆 33"/>
          <p:cNvSpPr/>
          <p:nvPr/>
        </p:nvSpPr>
        <p:spPr>
          <a:xfrm>
            <a:off x="2285984" y="2781194"/>
            <a:ext cx="2071702" cy="785818"/>
          </a:xfrm>
          <a:prstGeom prst="donut">
            <a:avLst>
              <a:gd name="adj" fmla="val 5976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热区"/>
          <p:cNvSpPr/>
          <p:nvPr/>
        </p:nvSpPr>
        <p:spPr>
          <a:xfrm>
            <a:off x="527404" y="2038627"/>
            <a:ext cx="8215370" cy="264320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  <p:bldLst>
      <p:bldP spid="21" grpId="0" animBg="1"/>
      <p:bldP spid="23" grpId="0" animBg="1"/>
      <p:bldP spid="24" grpId="0" animBg="1"/>
      <p:bldP spid="32" grpId="0" animBg="1"/>
      <p:bldP spid="33" grpId="0" animBg="1"/>
      <p:bldP spid="34" grpId="0" animBg="1"/>
    </p:bldLst>
  </p:timing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2726</Words>
  <Application>WPS 演示</Application>
  <PresentationFormat>全屏显示(4:3)</PresentationFormat>
  <Paragraphs>77</Paragraphs>
  <Slides>7</Slides>
  <Notes>7</Notes>
  <HiddenSlides>0</HiddenSlides>
  <MMClips>7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256</cp:revision>
  <dcterms:created xsi:type="dcterms:W3CDTF">2017-12-23T09:29:00Z</dcterms:created>
  <dcterms:modified xsi:type="dcterms:W3CDTF">2024-08-27T06:47:34Z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7AA117DF015440FB8CDAAF0BC4016C93_13</vt:lpwstr>
  </property>
  <property fmtid="{D5CDD505-2E9C-101B-9397-08002B2CF9AE}" pid="3" name="KSOProductBuildVer">
    <vt:lpwstr>2052-12.1.0.17857</vt:lpwstr>
  </property>
</Properties>
</file>