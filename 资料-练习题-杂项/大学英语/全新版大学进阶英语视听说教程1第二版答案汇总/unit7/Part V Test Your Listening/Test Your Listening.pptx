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262" r:id="rId5"/>
    <p:sldId id="263" r:id="rId6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11"/>
    </p:embeddedFont>
    <p:embeddedFont>
      <p:font typeface="Neuton" panose="00000500000000000000" charset="0"/>
      <p:regular r:id="rId12"/>
      <p:bold r:id="rId13"/>
      <p:italic r:id="rId14"/>
    </p:embeddedFont>
    <p:embeddedFont>
      <p:font typeface="Roboto Condensed" panose="02000000000000000000" charset="0"/>
      <p:regular r:id="rId15"/>
      <p:bold r:id="rId16"/>
      <p:italic r:id="rId17"/>
    </p:embeddedFont>
    <p:embeddedFont>
      <p:font typeface="微软雅黑" panose="020B0503020204020204" charset="-122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AF88B6"/>
    <a:srgbClr val="FFDD33"/>
    <a:srgbClr val="FFFFFF"/>
    <a:srgbClr val="3C153B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3686" autoAdjust="0"/>
  </p:normalViewPr>
  <p:slideViewPr>
    <p:cSldViewPr showGuides="1">
      <p:cViewPr varScale="1">
        <p:scale>
          <a:sx n="100" d="100"/>
          <a:sy n="100" d="100"/>
        </p:scale>
        <p:origin x="4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12.fntdata"/><Relationship Id="rId21" Type="http://schemas.openxmlformats.org/officeDocument/2006/relationships/font" Target="fonts/font11.fntdata"/><Relationship Id="rId20" Type="http://schemas.openxmlformats.org/officeDocument/2006/relationships/font" Target="fonts/font10.fntdata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328086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V </a:t>
            </a:r>
            <a:r>
              <a:rPr lang="en-US" altLang="zh-CN" sz="2000" b="1" i="0" u="none" strike="noStrike" kern="1200" baseline="0" dirty="0">
                <a:solidFill>
                  <a:srgbClr val="515672"/>
                </a:solidFill>
                <a:latin typeface="+mj-lt"/>
                <a:ea typeface="+mn-ea"/>
                <a:cs typeface="+mn-cs"/>
              </a:rPr>
              <a:t>Test Your 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7_Script1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1.pptx" TargetMode="External"/><Relationship Id="rId2" Type="http://schemas.openxmlformats.org/officeDocument/2006/relationships/slide" Target="slide1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1.mp3"/><Relationship Id="rId10" Type="http://schemas.openxmlformats.org/officeDocument/2006/relationships/audio" Target="../media/media1.mp3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7_Script2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2.pptx" TargetMode="External"/><Relationship Id="rId2" Type="http://schemas.openxmlformats.org/officeDocument/2006/relationships/slide" Target="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2.mp3"/><Relationship Id="rId10" Type="http://schemas.openxmlformats.org/officeDocument/2006/relationships/audio" Target="../media/media2.mp3"/><Relationship Id="rId1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326366" y="1126172"/>
            <a:ext cx="8566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60" dirty="0">
                <a:latin typeface="+mj-lt"/>
              </a:rPr>
              <a:t>Directions: </a:t>
            </a:r>
            <a:r>
              <a:rPr lang="en-US" altLang="zh-CN" sz="2000" i="1" spc="-60" dirty="0">
                <a:latin typeface="+mj-lt"/>
              </a:rPr>
              <a:t>In this section, you will hear a long conversation. At the end of the conversation</a:t>
            </a:r>
            <a:r>
              <a:rPr lang="en-US" altLang="zh-CN" sz="2000" i="1" spc="-50" dirty="0">
                <a:latin typeface="+mj-lt"/>
              </a:rPr>
              <a:t>,</a:t>
            </a:r>
            <a:r>
              <a:rPr lang="en-US" altLang="zh-CN" sz="2000" i="1" dirty="0">
                <a:latin typeface="+mj-lt"/>
              </a:rPr>
              <a:t> </a:t>
            </a:r>
            <a:r>
              <a:rPr lang="en-US" altLang="zh-CN" sz="2000" i="1" spc="10" dirty="0">
                <a:latin typeface="+mj-lt"/>
              </a:rPr>
              <a:t>you will hear four questions. Both the conversation and the questions will be spoken</a:t>
            </a:r>
            <a:r>
              <a:rPr lang="en-US" altLang="zh-CN" sz="2000" i="1" dirty="0">
                <a:latin typeface="+mj-lt"/>
              </a:rPr>
              <a:t> only once. After you hear a question, choose the best answer.</a:t>
            </a:r>
            <a:endParaRPr lang="zh-CN" altLang="en-US" sz="2000" dirty="0">
              <a:latin typeface="+mj-lt"/>
            </a:endParaRPr>
          </a:p>
          <a:p>
            <a:pPr algn="just"/>
            <a:endParaRPr lang="zh-CN" altLang="en-US" sz="2000" dirty="0">
              <a:latin typeface="+mj-lt"/>
            </a:endParaRPr>
          </a:p>
        </p:txBody>
      </p:sp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A Long Conversation   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Section B Passage</a:t>
            </a:r>
            <a:endParaRPr lang="en-US" altLang="zh-CN" sz="1600" b="0" i="0" u="none" strike="noStrike" baseline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4" name="btn-Part 1">
            <a:hlinkClick r:id="rId1" action="ppaction://hlinksldjump"/>
          </p:cNvPr>
          <p:cNvSpPr/>
          <p:nvPr/>
        </p:nvSpPr>
        <p:spPr>
          <a:xfrm>
            <a:off x="2843808" y="514772"/>
            <a:ext cx="254984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btn-Part 1">
            <a:hlinkClick r:id="rId2" action="ppaction://hlinksldjump"/>
          </p:cNvPr>
          <p:cNvSpPr/>
          <p:nvPr/>
        </p:nvSpPr>
        <p:spPr>
          <a:xfrm>
            <a:off x="117028" y="528464"/>
            <a:ext cx="236673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7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8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3850" y="2398812"/>
            <a:ext cx="7154523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Bef>
                <a:spcPts val="480"/>
              </a:spcBef>
            </a:pPr>
            <a:r>
              <a:rPr lang="en-US" altLang="zh-CN" sz="2000" b="1" dirty="0">
                <a:latin typeface="+mj-lt"/>
              </a:rPr>
              <a:t>Questions 1 to 4 are based on the conversation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1. </a:t>
            </a: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2.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3.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4. 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4471417" y="2398812"/>
            <a:ext cx="4496744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B. It’s too cold outside.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It is going to snow for the whole day.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Sunny.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Hot and dry.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It is easy to find a job there.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The woman thinks it is nice to work there.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She is a tour guide in California.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She is a university student from California.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92510" y="2398812"/>
            <a:ext cx="3966792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A. It has been raining.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It has been snowing heavily.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Rainy.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Snowy.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It is humid and cool.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It is sunny most of the time.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She is a university teacher.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spc="-30" dirty="0"/>
              <a:t>C. She is a university student from Seattle.</a:t>
            </a:r>
            <a:endParaRPr lang="zh-CN" altLang="en-US" sz="2000" spc="-30" dirty="0"/>
          </a:p>
        </p:txBody>
      </p:sp>
      <p:sp>
        <p:nvSpPr>
          <p:cNvPr id="18" name="同心圆 17"/>
          <p:cNvSpPr/>
          <p:nvPr/>
        </p:nvSpPr>
        <p:spPr>
          <a:xfrm>
            <a:off x="520502" y="303505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热区"/>
          <p:cNvSpPr/>
          <p:nvPr/>
        </p:nvSpPr>
        <p:spPr>
          <a:xfrm>
            <a:off x="440678" y="2816513"/>
            <a:ext cx="7803729" cy="614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同心圆 30"/>
          <p:cNvSpPr/>
          <p:nvPr/>
        </p:nvSpPr>
        <p:spPr>
          <a:xfrm>
            <a:off x="4405638" y="3482980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热区"/>
          <p:cNvSpPr/>
          <p:nvPr/>
        </p:nvSpPr>
        <p:spPr>
          <a:xfrm>
            <a:off x="440679" y="3640550"/>
            <a:ext cx="5643490" cy="614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同心圆 32"/>
          <p:cNvSpPr/>
          <p:nvPr/>
        </p:nvSpPr>
        <p:spPr>
          <a:xfrm>
            <a:off x="520502" y="4700405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热区"/>
          <p:cNvSpPr/>
          <p:nvPr/>
        </p:nvSpPr>
        <p:spPr>
          <a:xfrm>
            <a:off x="440678" y="4481866"/>
            <a:ext cx="8310167" cy="614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同心圆 56"/>
          <p:cNvSpPr/>
          <p:nvPr/>
        </p:nvSpPr>
        <p:spPr>
          <a:xfrm>
            <a:off x="4405638" y="555533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" name="热区"/>
          <p:cNvSpPr/>
          <p:nvPr/>
        </p:nvSpPr>
        <p:spPr>
          <a:xfrm>
            <a:off x="440678" y="5305903"/>
            <a:ext cx="8379472" cy="614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U7_Script1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765175" y="2673350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3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18" grpId="0" animBg="1"/>
      <p:bldP spid="31" grpId="0" animBg="1"/>
      <p:bldP spid="33" grpId="0" animBg="1"/>
      <p:bldP spid="5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AF88B6"/>
                </a:solidFill>
                <a:latin typeface="+mj-lt"/>
              </a:rPr>
              <a:t>Section A Long Conversation</a:t>
            </a:r>
            <a:r>
              <a:rPr lang="en-US" altLang="zh-CN" sz="1600" b="1" dirty="0">
                <a:solidFill>
                  <a:schemeClr val="tx1"/>
                </a:solidFill>
                <a:latin typeface="+mj-lt"/>
              </a:rPr>
              <a:t>   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B Passage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btn-Part 1">
            <a:hlinkClick r:id="rId1" action="ppaction://hlinksldjump"/>
          </p:cNvPr>
          <p:cNvSpPr/>
          <p:nvPr/>
        </p:nvSpPr>
        <p:spPr>
          <a:xfrm>
            <a:off x="2767608" y="518939"/>
            <a:ext cx="151636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tn-Part 1">
            <a:hlinkClick r:id="rId2" action="ppaction://hlinksldjump"/>
          </p:cNvPr>
          <p:cNvSpPr/>
          <p:nvPr/>
        </p:nvSpPr>
        <p:spPr>
          <a:xfrm>
            <a:off x="121636" y="499889"/>
            <a:ext cx="229012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2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3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326366" y="1126172"/>
            <a:ext cx="85668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10" dirty="0">
                <a:latin typeface="+mj-lt"/>
              </a:rPr>
              <a:t>Directions: </a:t>
            </a:r>
            <a:r>
              <a:rPr lang="en-US" altLang="zh-CN" sz="2000" i="1" spc="-10" dirty="0">
                <a:latin typeface="+mj-lt"/>
              </a:rPr>
              <a:t>In this section, you will hear a passage. At the end of the passage, you will</a:t>
            </a:r>
            <a:r>
              <a:rPr lang="en-US" altLang="zh-CN" sz="2000" i="1" dirty="0">
                <a:latin typeface="+mj-lt"/>
              </a:rPr>
              <a:t> hear three or four questions. Both the passage and the questions will be spoken only once. After you hear a question, choose the best answer.</a:t>
            </a:r>
            <a:endParaRPr lang="zh-CN" altLang="en-US" sz="2000" dirty="0">
              <a:latin typeface="+mj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23850" y="2398812"/>
            <a:ext cx="68050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+mj-lt"/>
              </a:rPr>
              <a:t>Questions 5 to </a:t>
            </a:r>
            <a:r>
              <a:rPr lang="en-US" altLang="zh-CN" sz="2000" b="1" dirty="0" smtClean="0">
                <a:latin typeface="+mj-lt"/>
              </a:rPr>
              <a:t>8 </a:t>
            </a:r>
            <a:r>
              <a:rPr lang="en-US" altLang="zh-CN" sz="2000" b="1" dirty="0">
                <a:latin typeface="+mj-lt"/>
              </a:rPr>
              <a:t>are based on the passage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5. </a:t>
            </a: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6.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9" name="文本框 48"/>
          <p:cNvSpPr txBox="1"/>
          <p:nvPr/>
        </p:nvSpPr>
        <p:spPr>
          <a:xfrm>
            <a:off x="592510" y="2398812"/>
            <a:ext cx="7112845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A. Satellites can predict weather changes.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Satellites can take pictures of Earth’s weather from space.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Satellites can measure the weather from any part of the world.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Satellites can help meteorologists communicate with each other better.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By analyzing data from stations.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By using models based on historical data.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By comparing new images with previous ones.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By observing changes in the atmosphere from space.</a:t>
            </a:r>
            <a:endParaRPr lang="en-US" altLang="zh-CN" sz="2000" dirty="0"/>
          </a:p>
        </p:txBody>
      </p:sp>
      <p:sp>
        <p:nvSpPr>
          <p:cNvPr id="29" name="同心圆 28"/>
          <p:cNvSpPr/>
          <p:nvPr/>
        </p:nvSpPr>
        <p:spPr>
          <a:xfrm>
            <a:off x="520502" y="303505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热区"/>
          <p:cNvSpPr/>
          <p:nvPr/>
        </p:nvSpPr>
        <p:spPr>
          <a:xfrm>
            <a:off x="440678" y="2814198"/>
            <a:ext cx="7112845" cy="133488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51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7" name="同心圆 56"/>
          <p:cNvSpPr/>
          <p:nvPr/>
        </p:nvSpPr>
        <p:spPr>
          <a:xfrm>
            <a:off x="520502" y="4920159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" name="热区"/>
          <p:cNvSpPr/>
          <p:nvPr/>
        </p:nvSpPr>
        <p:spPr>
          <a:xfrm>
            <a:off x="440679" y="4345416"/>
            <a:ext cx="5355458" cy="133488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U7_Script2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744773" y="1810319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audio>
              <p:cMediaNode vol="80000" numSld="2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24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29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9" grpId="0" animBg="1"/>
      <p:bldP spid="5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AF88B6"/>
                </a:solidFill>
                <a:latin typeface="+mj-lt"/>
              </a:rPr>
              <a:t>Section A Long Conversation</a:t>
            </a:r>
            <a:r>
              <a:rPr lang="en-US" altLang="zh-CN" sz="1600" b="1" dirty="0">
                <a:solidFill>
                  <a:schemeClr val="tx1"/>
                </a:solidFill>
                <a:latin typeface="+mj-lt"/>
              </a:rPr>
              <a:t>   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B Passage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btn-Part 1">
            <a:hlinkClick r:id="rId1" action="ppaction://hlinksldjump"/>
          </p:cNvPr>
          <p:cNvSpPr/>
          <p:nvPr/>
        </p:nvSpPr>
        <p:spPr>
          <a:xfrm>
            <a:off x="2767608" y="518939"/>
            <a:ext cx="151636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tn-Part 1">
            <a:hlinkClick r:id="rId2" action="ppaction://hlinksldjump"/>
          </p:cNvPr>
          <p:cNvSpPr/>
          <p:nvPr/>
        </p:nvSpPr>
        <p:spPr>
          <a:xfrm>
            <a:off x="121636" y="499889"/>
            <a:ext cx="229012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326366" y="1126172"/>
            <a:ext cx="856680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7</a:t>
            </a:r>
            <a:r>
              <a:rPr lang="en-US" altLang="zh-CN" sz="2000" b="1" dirty="0"/>
              <a:t>.</a:t>
            </a:r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8. </a:t>
            </a:r>
            <a:endParaRPr lang="en-US" altLang="zh-CN" sz="2000" dirty="0"/>
          </a:p>
        </p:txBody>
      </p:sp>
      <p:sp>
        <p:nvSpPr>
          <p:cNvPr id="49" name="文本框 48"/>
          <p:cNvSpPr txBox="1"/>
          <p:nvPr/>
        </p:nvSpPr>
        <p:spPr>
          <a:xfrm>
            <a:off x="592510" y="1126172"/>
            <a:ext cx="6409127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/>
              <a:t>A</a:t>
            </a:r>
            <a:r>
              <a:rPr lang="en-US" altLang="zh-CN" sz="2000" dirty="0"/>
              <a:t>. There are weather stations in most countries.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Weather stations send pictures to satellites.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Weather stations help scientists make forecasts for longer time.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There are about 500 weather stations in the world.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The function of satellites.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Satellites and weather forecasts.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The progress made by meteorologists.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The development of weather forecast.</a:t>
            </a:r>
            <a:endParaRPr lang="zh-CN" altLang="en-US" sz="2000" dirty="0"/>
          </a:p>
        </p:txBody>
      </p:sp>
      <p:sp>
        <p:nvSpPr>
          <p:cNvPr id="29" name="同心圆 28"/>
          <p:cNvSpPr/>
          <p:nvPr/>
        </p:nvSpPr>
        <p:spPr>
          <a:xfrm>
            <a:off x="520502" y="220407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热区"/>
          <p:cNvSpPr/>
          <p:nvPr/>
        </p:nvSpPr>
        <p:spPr>
          <a:xfrm>
            <a:off x="393054" y="1215802"/>
            <a:ext cx="6483202" cy="14222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同心圆 23"/>
          <p:cNvSpPr/>
          <p:nvPr/>
        </p:nvSpPr>
        <p:spPr>
          <a:xfrm>
            <a:off x="520502" y="3070127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热区"/>
          <p:cNvSpPr/>
          <p:nvPr/>
        </p:nvSpPr>
        <p:spPr>
          <a:xfrm>
            <a:off x="393054" y="2843411"/>
            <a:ext cx="4106938" cy="14222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9" grpId="0" animBg="1"/>
      <p:bldP spid="24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2020</Words>
  <Application>WPS 演示</Application>
  <PresentationFormat>全屏显示(4:3)</PresentationFormat>
  <Paragraphs>74</Paragraphs>
  <Slides>3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等线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221</cp:revision>
  <dcterms:created xsi:type="dcterms:W3CDTF">2017-12-23T09:29:00Z</dcterms:created>
  <dcterms:modified xsi:type="dcterms:W3CDTF">2024-08-27T06:50:45Z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32D375E75591429EA1F85804BE76AF9E_13</vt:lpwstr>
  </property>
  <property fmtid="{D5CDD505-2E9C-101B-9397-08002B2CF9AE}" pid="3" name="KSOProductBuildVer">
    <vt:lpwstr>2052-12.1.0.17857</vt:lpwstr>
  </property>
</Properties>
</file>