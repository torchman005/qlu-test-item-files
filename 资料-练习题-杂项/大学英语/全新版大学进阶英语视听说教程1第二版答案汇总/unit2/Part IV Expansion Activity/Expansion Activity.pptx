
<file path=[Content_Types].xml><?xml version="1.0" encoding="utf-8"?>
<Types xmlns="http://schemas.openxmlformats.org/package/2006/content-types">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7"/>
  </p:handoutMasterIdLst>
  <p:sldIdLst>
    <p:sldId id="256" r:id="rId3"/>
    <p:sldId id="261" r:id="rId5"/>
    <p:sldId id="262" r:id="rId6"/>
  </p:sldIdLst>
  <p:sldSz cx="9144000" cy="6858000" type="screen4x3"/>
  <p:notesSz cx="6858000" cy="9144000"/>
  <p:embeddedFontLst>
    <p:embeddedFont>
      <p:font typeface="Neuton" panose="00000500000000000000" charset="0"/>
      <p:regular r:id="rId11"/>
      <p:bold r:id="rId12"/>
      <p:italic r:id="rId13"/>
    </p:embeddedFont>
    <p:embeddedFont>
      <p:font typeface="Roboto Condensed" panose="02000000000000000000" charset="0"/>
      <p:regular r:id="rId14"/>
      <p:bold r:id="rId15"/>
      <p:italic r:id="rId16"/>
    </p:embeddedFont>
    <p:embeddedFont>
      <p:font typeface="微软雅黑" panose="020B0503020204020204" charset="-122"/>
      <p:regular r:id="rId17"/>
    </p:embeddedFont>
    <p:embeddedFont>
      <p:font typeface="Calibri" panose="020F0502020204030204" charset="0"/>
      <p:regular r:id="rId18"/>
      <p:bold r:id="rId19"/>
      <p:italic r:id="rId20"/>
      <p:boldItalic r:id="rId21"/>
    </p:embeddedFont>
  </p:embeddedFontLst>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15672"/>
    <a:srgbClr val="FFDD33"/>
    <a:srgbClr val="FFFFFF"/>
    <a:srgbClr val="3C153B"/>
    <a:srgbClr val="AF88B6"/>
    <a:srgbClr val="9D6BA5"/>
    <a:srgbClr val="B35DB1"/>
    <a:srgbClr val="CB8B02"/>
    <a:srgbClr val="F3B700"/>
    <a:srgbClr val="F3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27" autoAdjust="0"/>
    <p:restoredTop sz="93686" autoAdjust="0"/>
  </p:normalViewPr>
  <p:slideViewPr>
    <p:cSldViewPr showGuides="1">
      <p:cViewPr>
        <p:scale>
          <a:sx n="100" d="100"/>
          <a:sy n="100" d="100"/>
        </p:scale>
        <p:origin x="1506" y="18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5" d="100"/>
          <a:sy n="65" d="100"/>
        </p:scale>
        <p:origin x="-2844"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gs" Target="tags/tag1.xml"/><Relationship Id="rId21" Type="http://schemas.openxmlformats.org/officeDocument/2006/relationships/font" Target="fonts/font11.fntdata"/><Relationship Id="rId20" Type="http://schemas.openxmlformats.org/officeDocument/2006/relationships/font" Target="fonts/font10.fntdata"/><Relationship Id="rId2" Type="http://schemas.openxmlformats.org/officeDocument/2006/relationships/theme" Target="theme/theme1.xml"/><Relationship Id="rId19" Type="http://schemas.openxmlformats.org/officeDocument/2006/relationships/font" Target="fonts/font9.fntdata"/><Relationship Id="rId18" Type="http://schemas.openxmlformats.org/officeDocument/2006/relationships/font" Target="fonts/font8.fntdata"/><Relationship Id="rId17" Type="http://schemas.openxmlformats.org/officeDocument/2006/relationships/font" Target="fonts/font7.fntdata"/><Relationship Id="rId16" Type="http://schemas.openxmlformats.org/officeDocument/2006/relationships/font" Target="fonts/font6.fntdata"/><Relationship Id="rId15" Type="http://schemas.openxmlformats.org/officeDocument/2006/relationships/font" Target="fonts/font5.fntdata"/><Relationship Id="rId14" Type="http://schemas.openxmlformats.org/officeDocument/2006/relationships/font" Target="fonts/font4.fntdata"/><Relationship Id="rId13" Type="http://schemas.openxmlformats.org/officeDocument/2006/relationships/font" Target="fonts/font3.fntdata"/><Relationship Id="rId12" Type="http://schemas.openxmlformats.org/officeDocument/2006/relationships/font" Target="fonts/font2.fntdata"/><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1A6FA5-9299-4CE1-A327-CB3C60321AD6}"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B14E66-D570-4D12-8DDD-93D4BD4AE2F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31D2C-B22C-4903-8B3C-903F91599D3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063C93-9101-4F51-B1E6-A3BBF9E38CC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带翻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主体内容"/>
          <p:cNvSpPr>
            <a:spLocks noGrp="1"/>
          </p:cNvSpPr>
          <p:nvPr>
            <p:ph type="body" sz="quarter" idx="14"/>
          </p:nvPr>
        </p:nvSpPr>
        <p:spPr>
          <a:xfrm>
            <a:off x="323850" y="1340768"/>
            <a:ext cx="8569325" cy="482508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1" name="标题 1"/>
          <p:cNvSpPr txBox="1"/>
          <p:nvPr userDrawn="1"/>
        </p:nvSpPr>
        <p:spPr>
          <a:xfrm>
            <a:off x="179512" y="0"/>
            <a:ext cx="2995488" cy="476672"/>
          </a:xfrm>
          <a:prstGeom prst="rect">
            <a:avLst/>
          </a:prstGeom>
          <a:solidFill>
            <a:srgbClr val="FFDD33"/>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a:ln>
                  <a:noFill/>
                </a:ln>
                <a:solidFill>
                  <a:srgbClr val="515672"/>
                </a:solidFill>
                <a:effectLst/>
                <a:uLnTx/>
                <a:uFillTx/>
                <a:latin typeface="+mj-lt"/>
                <a:ea typeface="+mj-ea"/>
                <a:cs typeface="+mj-cs"/>
              </a:rPr>
              <a:t>Part IV Expansion Activity</a:t>
            </a:r>
            <a:endParaRPr kumimoji="0" lang="zh-CN" altLang="en-US" sz="2000" b="1" i="0" u="none" strike="noStrike" kern="1200" cap="none" spc="0" normalizeH="0" baseline="0" noProof="0">
              <a:ln>
                <a:noFill/>
              </a:ln>
              <a:solidFill>
                <a:srgbClr val="515672"/>
              </a:solidFill>
              <a:effectLst/>
              <a:uLnTx/>
              <a:uFillTx/>
              <a:latin typeface="+mj-lt"/>
              <a:ea typeface="+mj-ea"/>
              <a:cs typeface="+mj-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带dir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1124744"/>
            <a:ext cx="8569325" cy="576262"/>
          </a:xfrm>
        </p:spPr>
        <p:txBody>
          <a:bodyPr>
            <a:normAutofit/>
          </a:bodyPr>
          <a:lstStyle>
            <a:lvl1pPr marL="0" indent="0">
              <a:buNone/>
              <a:defRPr sz="2000" baseline="0">
                <a:latin typeface="+mj-lt"/>
              </a:defRPr>
            </a:lvl1pPr>
          </a:lstStyle>
          <a:p>
            <a:pPr lvl="0"/>
            <a:r>
              <a:rPr lang="en-US" altLang="zh-CN"/>
              <a:t>Directions here</a:t>
            </a:r>
            <a:endParaRPr lang="zh-CN" altLang="en-US"/>
          </a:p>
        </p:txBody>
      </p:sp>
      <p:sp>
        <p:nvSpPr>
          <p:cNvPr id="14" name="主体内容"/>
          <p:cNvSpPr>
            <a:spLocks noGrp="1"/>
          </p:cNvSpPr>
          <p:nvPr>
            <p:ph type="body" sz="quarter" idx="14"/>
          </p:nvPr>
        </p:nvSpPr>
        <p:spPr>
          <a:xfrm>
            <a:off x="323850" y="2204864"/>
            <a:ext cx="8569325" cy="3960986"/>
          </a:xfrm>
        </p:spPr>
        <p:txBody>
          <a:bodyPr/>
          <a:lstStyle>
            <a:lvl1pPr marL="217805" indent="-217805">
              <a:defRPr/>
            </a:lvl1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标题 1"/>
          <p:cNvSpPr txBox="1"/>
          <p:nvPr userDrawn="1"/>
        </p:nvSpPr>
        <p:spPr>
          <a:xfrm>
            <a:off x="179512" y="0"/>
            <a:ext cx="2995488" cy="476672"/>
          </a:xfrm>
          <a:prstGeom prst="rect">
            <a:avLst/>
          </a:prstGeom>
          <a:solidFill>
            <a:srgbClr val="FFDD33"/>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a:ln>
                  <a:noFill/>
                </a:ln>
                <a:solidFill>
                  <a:srgbClr val="515672"/>
                </a:solidFill>
                <a:effectLst/>
                <a:uLnTx/>
                <a:uFillTx/>
                <a:latin typeface="+mj-lt"/>
                <a:ea typeface="+mj-ea"/>
                <a:cs typeface="+mj-cs"/>
              </a:rPr>
              <a:t>Part IV Expansion Activity</a:t>
            </a:r>
            <a:endParaRPr kumimoji="0" lang="zh-CN" altLang="en-US" sz="2000" b="1" i="0" u="none" strike="noStrike" kern="1200" cap="none" spc="0" normalizeH="0" baseline="0" noProof="0">
              <a:ln>
                <a:noFill/>
              </a:ln>
              <a:solidFill>
                <a:srgbClr val="515672"/>
              </a:solidFill>
              <a:effectLst/>
              <a:uLnTx/>
              <a:uFillTx/>
              <a:latin typeface="+mj-lt"/>
              <a:ea typeface="+mj-ea"/>
              <a:cs typeface="+mj-cs"/>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C3FACB-9944-46C7-BB15-79BEA3D61AE3}"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93EA13-C732-4F17-8516-92EE82C34A8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slide" Target="slide1.xml"/><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 Target="slide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1.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3.xml"/><Relationship Id="rId2" Type="http://schemas.openxmlformats.org/officeDocument/2006/relationships/slide" Target="slide1.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返回按钮"/>
          <p:cNvGrpSpPr/>
          <p:nvPr/>
        </p:nvGrpSpPr>
        <p:grpSpPr>
          <a:xfrm>
            <a:off x="7875422" y="6585447"/>
            <a:ext cx="264567" cy="210642"/>
            <a:chOff x="7875422" y="6585447"/>
            <a:chExt cx="264567" cy="210642"/>
          </a:xfrm>
        </p:grpSpPr>
        <p:sp>
          <p:nvSpPr>
            <p:cNvPr id="48"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9"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a:solidFill>
                  <a:srgbClr val="515672"/>
                </a:solidFill>
                <a:latin typeface="+mj-lt"/>
              </a:rPr>
              <a:t>A hot ticket        </a:t>
            </a:r>
            <a:r>
              <a:rPr lang="en-US" altLang="zh-CN" sz="1600" b="1" dirty="0">
                <a:solidFill>
                  <a:schemeClr val="accent4"/>
                </a:solidFill>
                <a:latin typeface="+mj-lt"/>
              </a:rPr>
              <a:t>Project</a:t>
            </a:r>
            <a:endParaRPr lang="zh-CN" altLang="en-US" sz="1600" b="1" dirty="0">
              <a:solidFill>
                <a:schemeClr val="accent4"/>
              </a:solidFill>
              <a:latin typeface="+mj-lt"/>
            </a:endParaRPr>
          </a:p>
        </p:txBody>
      </p:sp>
      <p:sp>
        <p:nvSpPr>
          <p:cNvPr id="32" name="文本占位符 31"/>
          <p:cNvSpPr>
            <a:spLocks noGrp="1"/>
          </p:cNvSpPr>
          <p:nvPr>
            <p:ph type="body" sz="quarter" idx="13"/>
          </p:nvPr>
        </p:nvSpPr>
        <p:spPr>
          <a:xfrm>
            <a:off x="323850" y="2571744"/>
            <a:ext cx="8569325" cy="742156"/>
          </a:xfrm>
        </p:spPr>
        <p:txBody>
          <a:bodyPr>
            <a:normAutofit/>
          </a:bodyPr>
          <a:lstStyle/>
          <a:p>
            <a:r>
              <a:rPr lang="en-US" altLang="zh-CN" b="1" dirty="0"/>
              <a:t>A. Choose a sporting event. </a:t>
            </a:r>
            <a:r>
              <a:rPr lang="en-US" altLang="zh-CN" dirty="0"/>
              <a:t>Work with a partner. Choose one of the events in the box or think of your own idea.</a:t>
            </a:r>
            <a:endParaRPr lang="zh-CN" altLang="en-US" dirty="0"/>
          </a:p>
        </p:txBody>
      </p:sp>
      <p:sp>
        <p:nvSpPr>
          <p:cNvPr id="21" name="btn-Part 1">
            <a:hlinkClick r:id="rId1" action="ppaction://hlinksldjump"/>
          </p:cNvPr>
          <p:cNvSpPr/>
          <p:nvPr/>
        </p:nvSpPr>
        <p:spPr>
          <a:xfrm>
            <a:off x="1478900" y="482615"/>
            <a:ext cx="6966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缺角矩形 24"/>
          <p:cNvSpPr/>
          <p:nvPr/>
        </p:nvSpPr>
        <p:spPr>
          <a:xfrm>
            <a:off x="1000100" y="3428976"/>
            <a:ext cx="4857784" cy="3143296"/>
          </a:xfrm>
          <a:prstGeom prst="plaque">
            <a:avLst>
              <a:gd name="adj" fmla="val 12505"/>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solidFill>
              </a:rPr>
              <a:t>FIFA Women’s World Cup</a:t>
            </a:r>
            <a:endParaRPr lang="en-US" altLang="zh-CN" sz="2400" dirty="0">
              <a:solidFill>
                <a:schemeClr val="tx1"/>
              </a:solidFill>
            </a:endParaRPr>
          </a:p>
          <a:p>
            <a:r>
              <a:rPr lang="en-US" altLang="zh-CN" sz="2400" dirty="0">
                <a:solidFill>
                  <a:schemeClr val="tx1"/>
                </a:solidFill>
              </a:rPr>
              <a:t>Hong Kong Sevens Rugby</a:t>
            </a:r>
            <a:endParaRPr lang="en-US" altLang="zh-CN" sz="2400" dirty="0">
              <a:solidFill>
                <a:schemeClr val="tx1"/>
              </a:solidFill>
            </a:endParaRPr>
          </a:p>
          <a:p>
            <a:r>
              <a:rPr lang="en-US" altLang="zh-CN" sz="2400" dirty="0">
                <a:solidFill>
                  <a:schemeClr val="tx1"/>
                </a:solidFill>
              </a:rPr>
              <a:t>Run for Your Lives</a:t>
            </a:r>
            <a:endParaRPr lang="en-US" altLang="zh-CN" sz="2400" dirty="0">
              <a:solidFill>
                <a:schemeClr val="tx1"/>
              </a:solidFill>
            </a:endParaRPr>
          </a:p>
          <a:p>
            <a:r>
              <a:rPr lang="en-US" altLang="zh-CN" sz="2400" dirty="0">
                <a:solidFill>
                  <a:schemeClr val="tx1"/>
                </a:solidFill>
              </a:rPr>
              <a:t>The Dubai World Cup</a:t>
            </a:r>
            <a:endParaRPr lang="en-US" altLang="zh-CN" sz="2400" dirty="0">
              <a:solidFill>
                <a:schemeClr val="tx1"/>
              </a:solidFill>
            </a:endParaRPr>
          </a:p>
          <a:p>
            <a:r>
              <a:rPr lang="en-US" altLang="zh-CN" sz="2400" dirty="0">
                <a:solidFill>
                  <a:schemeClr val="tx1"/>
                </a:solidFill>
              </a:rPr>
              <a:t>The Tour de France</a:t>
            </a:r>
            <a:endParaRPr lang="en-US" altLang="zh-CN" sz="2400" dirty="0">
              <a:solidFill>
                <a:schemeClr val="tx1"/>
              </a:solidFill>
            </a:endParaRPr>
          </a:p>
          <a:p>
            <a:r>
              <a:rPr lang="en-US" altLang="zh-CN" sz="2400" dirty="0">
                <a:solidFill>
                  <a:schemeClr val="tx1"/>
                </a:solidFill>
              </a:rPr>
              <a:t>The Wimbledon Championships</a:t>
            </a:r>
            <a:endParaRPr lang="en-US" altLang="zh-CN" sz="2400" dirty="0">
              <a:solidFill>
                <a:schemeClr val="tx1"/>
              </a:solidFill>
            </a:endParaRPr>
          </a:p>
          <a:p>
            <a:r>
              <a:rPr lang="en-US" altLang="zh-CN" sz="2400" dirty="0">
                <a:solidFill>
                  <a:schemeClr val="tx1"/>
                </a:solidFill>
              </a:rPr>
              <a:t>Another idea:_____________</a:t>
            </a:r>
            <a:endParaRPr lang="zh-CN" altLang="en-US" sz="2400" dirty="0">
              <a:solidFill>
                <a:schemeClr val="tx1"/>
              </a:solidFill>
            </a:endParaRPr>
          </a:p>
        </p:txBody>
      </p:sp>
      <p:pic>
        <p:nvPicPr>
          <p:cNvPr id="27" name="图片 26" descr="图片1.JPG"/>
          <p:cNvPicPr>
            <a:picLocks noChangeAspect="1"/>
          </p:cNvPicPr>
          <p:nvPr/>
        </p:nvPicPr>
        <p:blipFill>
          <a:blip r:embed="rId2">
            <a:clrChange>
              <a:clrFrom>
                <a:srgbClr val="FFFFFF"/>
              </a:clrFrom>
              <a:clrTo>
                <a:srgbClr val="FFFFFF">
                  <a:alpha val="0"/>
                </a:srgbClr>
              </a:clrTo>
            </a:clrChange>
          </a:blip>
          <a:stretch>
            <a:fillRect/>
          </a:stretch>
        </p:blipFill>
        <p:spPr>
          <a:xfrm>
            <a:off x="0" y="907404"/>
            <a:ext cx="9144000" cy="1609641"/>
          </a:xfrm>
          <a:prstGeom prst="rect">
            <a:avLst/>
          </a:prstGeom>
        </p:spPr>
      </p:pic>
      <p:pic>
        <p:nvPicPr>
          <p:cNvPr id="28" name="按钮-Content Note"/>
          <p:cNvPicPr>
            <a:picLocks noChangeAspect="1" noChangeArrowheads="1"/>
          </p:cNvPicPr>
          <p:nvPr/>
        </p:nvPicPr>
        <p:blipFill>
          <a:blip r:embed="rId3" cstate="print"/>
          <a:srcRect/>
          <a:stretch>
            <a:fillRect/>
          </a:stretch>
        </p:blipFill>
        <p:spPr bwMode="auto">
          <a:xfrm>
            <a:off x="6225707" y="6286520"/>
            <a:ext cx="1323148" cy="288032"/>
          </a:xfrm>
          <a:prstGeom prst="rect">
            <a:avLst/>
          </a:prstGeom>
          <a:noFill/>
          <a:ln w="9525">
            <a:noFill/>
            <a:miter lim="800000"/>
            <a:headEnd/>
            <a:tailEnd/>
          </a:ln>
          <a:effectLst/>
        </p:spPr>
      </p:pic>
      <p:grpSp>
        <p:nvGrpSpPr>
          <p:cNvPr id="29" name="Content Note"/>
          <p:cNvGrpSpPr/>
          <p:nvPr/>
        </p:nvGrpSpPr>
        <p:grpSpPr>
          <a:xfrm>
            <a:off x="92672" y="796427"/>
            <a:ext cx="8929750" cy="6000768"/>
            <a:chOff x="1724766" y="1597930"/>
            <a:chExt cx="7632848" cy="5292588"/>
          </a:xfrm>
        </p:grpSpPr>
        <p:sp>
          <p:nvSpPr>
            <p:cNvPr id="30" name="矩形 29"/>
            <p:cNvSpPr/>
            <p:nvPr/>
          </p:nvSpPr>
          <p:spPr>
            <a:xfrm>
              <a:off x="1724766" y="1597930"/>
              <a:ext cx="7632848" cy="5292588"/>
            </a:xfrm>
            <a:prstGeom prst="rect">
              <a:avLst/>
            </a:prstGeom>
            <a:solidFill>
              <a:schemeClr val="accent6">
                <a:lumMod val="20000"/>
                <a:lumOff val="80000"/>
              </a:schemeClr>
            </a:solidFill>
            <a:ln>
              <a:solidFill>
                <a:srgbClr val="CB8B02"/>
              </a:solidFill>
            </a:ln>
            <a:effectLst>
              <a:outerShdw blurRad="279400" dist="63500" dir="7800000" sx="101000" sy="101000" algn="t" rotWithShape="0">
                <a:prstClr val="black">
                  <a:alpha val="6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TextBox 30"/>
            <p:cNvSpPr txBox="1"/>
            <p:nvPr/>
          </p:nvSpPr>
          <p:spPr>
            <a:xfrm>
              <a:off x="1724766" y="1597930"/>
              <a:ext cx="7632848" cy="369332"/>
            </a:xfrm>
            <a:prstGeom prst="rect">
              <a:avLst/>
            </a:prstGeom>
            <a:solidFill>
              <a:srgbClr val="CB8B02"/>
            </a:solidFill>
          </p:spPr>
          <p:txBody>
            <a:bodyPr wrap="square" rtlCol="0">
              <a:noAutofit/>
            </a:bodyPr>
            <a:lstStyle/>
            <a:p>
              <a:r>
                <a:rPr lang="en-US" altLang="zh-CN" b="1" dirty="0">
                  <a:solidFill>
                    <a:schemeClr val="bg1"/>
                  </a:solidFill>
                  <a:latin typeface="+mj-lt"/>
                </a:rPr>
                <a:t>Content Note</a:t>
              </a:r>
              <a:endParaRPr lang="zh-CN" altLang="en-US" b="1" dirty="0">
                <a:solidFill>
                  <a:schemeClr val="bg1"/>
                </a:solidFill>
                <a:latin typeface="+mj-lt"/>
              </a:endParaRPr>
            </a:p>
          </p:txBody>
        </p:sp>
        <p:sp>
          <p:nvSpPr>
            <p:cNvPr id="33" name="TextBox 32"/>
            <p:cNvSpPr txBox="1"/>
            <p:nvPr/>
          </p:nvSpPr>
          <p:spPr>
            <a:xfrm>
              <a:off x="1811420" y="2135796"/>
              <a:ext cx="7416822" cy="4574006"/>
            </a:xfrm>
            <a:prstGeom prst="rect">
              <a:avLst/>
            </a:prstGeom>
            <a:noFill/>
          </p:spPr>
          <p:txBody>
            <a:bodyPr wrap="square" rtlCol="0">
              <a:spAutoFit/>
            </a:bodyPr>
            <a:lstStyle/>
            <a:p>
              <a:pPr indent="265430">
                <a:spcAft>
                  <a:spcPts val="600"/>
                </a:spcAft>
                <a:buClr>
                  <a:schemeClr val="tx1"/>
                </a:buClr>
                <a:buSzPct val="100000"/>
              </a:pPr>
              <a:r>
                <a:rPr lang="en-US" altLang="zh-CN" dirty="0"/>
                <a:t>The FIFA Women’s World Cup is a world championship tournament for women’s soccer. It is held every four years in different countries.</a:t>
              </a:r>
              <a:endParaRPr lang="en-US" altLang="zh-CN" dirty="0"/>
            </a:p>
            <a:p>
              <a:pPr indent="265430">
                <a:spcAft>
                  <a:spcPts val="600"/>
                </a:spcAft>
                <a:buClr>
                  <a:schemeClr val="tx1"/>
                </a:buClr>
                <a:buSzPct val="100000"/>
              </a:pPr>
              <a:r>
                <a:rPr lang="en-US" altLang="zh-CN" dirty="0"/>
                <a:t>The Hong Kong Sevens Rugby is a three-day rugby tournament that is one of the most popular competitive team sporting events in South East Asia. Fans travel from all over the world to watch 28 rugby teams compete.</a:t>
              </a:r>
              <a:endParaRPr lang="en-US" altLang="zh-CN" dirty="0"/>
            </a:p>
            <a:p>
              <a:pPr indent="265430">
                <a:spcAft>
                  <a:spcPts val="600"/>
                </a:spcAft>
                <a:buClr>
                  <a:schemeClr val="tx1"/>
                </a:buClr>
                <a:buSzPct val="100000"/>
              </a:pPr>
              <a:r>
                <a:rPr lang="en-US" altLang="zh-CN" dirty="0"/>
                <a:t>Run for Your Lives was a series of 5k runs with a zombie theme that took place in the United States. Race staff would dress as zombies and chase runners in the fast and entertaining races. The races were held from 2011 to 2013.</a:t>
              </a:r>
              <a:endParaRPr lang="en-US" altLang="zh-CN" dirty="0"/>
            </a:p>
            <a:p>
              <a:pPr indent="265430">
                <a:spcAft>
                  <a:spcPts val="600"/>
                </a:spcAft>
                <a:buClr>
                  <a:schemeClr val="tx1"/>
                </a:buClr>
                <a:buSzPct val="100000"/>
              </a:pPr>
              <a:r>
                <a:rPr lang="en-US" altLang="zh-CN" dirty="0"/>
                <a:t>The Dubai World Cup is a horse race that takes place every year in March at the </a:t>
              </a:r>
              <a:r>
                <a:rPr lang="en-US" altLang="zh-CN" dirty="0" err="1"/>
                <a:t>Meydan</a:t>
              </a:r>
              <a:r>
                <a:rPr lang="en-US" altLang="zh-CN" dirty="0"/>
                <a:t> Racecourse in Dubai. Race day is known as one of luxury and riches, with prizes totaling US $ 10 million. The winner gets US $ 6 million.</a:t>
              </a:r>
              <a:endParaRPr lang="en-US" altLang="zh-CN" dirty="0"/>
            </a:p>
            <a:p>
              <a:pPr indent="265430">
                <a:spcAft>
                  <a:spcPts val="600"/>
                </a:spcAft>
                <a:buClr>
                  <a:schemeClr val="tx1"/>
                </a:buClr>
                <a:buSzPct val="100000"/>
              </a:pPr>
              <a:r>
                <a:rPr lang="en-US" altLang="zh-CN" dirty="0"/>
                <a:t>The Tour de France is an annual cycling race that travels through the countryside of France. The three-week-long race, which usually takes place in July, has been held since 1903. The course changes each year.</a:t>
              </a:r>
              <a:endParaRPr lang="en-US" altLang="zh-CN" dirty="0"/>
            </a:p>
            <a:p>
              <a:pPr indent="265430">
                <a:spcAft>
                  <a:spcPts val="600"/>
                </a:spcAft>
                <a:buClr>
                  <a:schemeClr val="tx1"/>
                </a:buClr>
                <a:buSzPct val="100000"/>
              </a:pPr>
              <a:r>
                <a:rPr lang="en-US" altLang="zh-CN" dirty="0"/>
                <a:t>Wimbledon is a championship tennis tournament held in England each summer. It has been held since 1877, making it the oldest tennis tournament in the world. Fans travel from all over and pay high ticket prices to watch the world’s best ranked tennis players compete.</a:t>
              </a:r>
              <a:endParaRPr lang="en-US" altLang="zh-CN" dirty="0"/>
            </a:p>
          </p:txBody>
        </p:sp>
      </p:grpSp>
      <p:sp>
        <p:nvSpPr>
          <p:cNvPr id="23" name="btn-Part 1">
            <a:hlinkClick r:id="rId4" action="ppaction://hlinksldjump"/>
          </p:cNvPr>
          <p:cNvSpPr/>
          <p:nvPr/>
        </p:nvSpPr>
        <p:spPr>
          <a:xfrm>
            <a:off x="71406" y="489409"/>
            <a:ext cx="115091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a:solidFill>
                  <a:srgbClr val="515672"/>
                </a:solidFill>
                <a:latin typeface="+mj-lt"/>
              </a:rPr>
              <a:t>A hot ticket        </a:t>
            </a:r>
            <a:r>
              <a:rPr lang="en-US" altLang="zh-CN" sz="1600" b="1" dirty="0">
                <a:solidFill>
                  <a:schemeClr val="accent4"/>
                </a:solidFill>
                <a:latin typeface="+mj-lt"/>
              </a:rPr>
              <a:t>Project</a:t>
            </a:r>
            <a:endParaRPr lang="zh-CN" altLang="en-US" sz="1600" b="1" dirty="0">
              <a:solidFill>
                <a:schemeClr val="accent4"/>
              </a:solidFill>
              <a:latin typeface="+mj-lt"/>
            </a:endParaRPr>
          </a:p>
        </p:txBody>
      </p:sp>
      <p:sp>
        <p:nvSpPr>
          <p:cNvPr id="32" name="文本占位符 31"/>
          <p:cNvSpPr>
            <a:spLocks noGrp="1"/>
          </p:cNvSpPr>
          <p:nvPr>
            <p:ph type="body" sz="quarter" idx="13"/>
          </p:nvPr>
        </p:nvSpPr>
        <p:spPr>
          <a:xfrm>
            <a:off x="323850" y="1124744"/>
            <a:ext cx="8569325" cy="5233214"/>
          </a:xfrm>
        </p:spPr>
        <p:txBody>
          <a:bodyPr>
            <a:noAutofit/>
          </a:bodyPr>
          <a:lstStyle/>
          <a:p>
            <a:pPr>
              <a:spcAft>
                <a:spcPts val="1200"/>
              </a:spcAft>
            </a:pPr>
            <a:r>
              <a:rPr lang="en-US" altLang="zh-CN" b="1" dirty="0"/>
              <a:t>B. Research your event. </a:t>
            </a:r>
            <a:r>
              <a:rPr lang="en-US" altLang="zh-CN" dirty="0"/>
              <a:t>Answer these questions.</a:t>
            </a:r>
            <a:endParaRPr lang="en-US" altLang="zh-CN" dirty="0"/>
          </a:p>
          <a:p>
            <a:pPr marL="713105" indent="-447675">
              <a:spcBef>
                <a:spcPts val="0"/>
              </a:spcBef>
              <a:spcAft>
                <a:spcPts val="600"/>
              </a:spcAft>
              <a:buFont typeface="+mj-lt"/>
              <a:buAutoNum type="arabicPeriod"/>
            </a:pPr>
            <a:r>
              <a:rPr lang="en-US" altLang="zh-CN" sz="2400" dirty="0">
                <a:latin typeface="+mn-lt"/>
              </a:rPr>
              <a:t>What is the name of your event? What kind of event is it? </a:t>
            </a:r>
            <a:endParaRPr lang="en-US" altLang="zh-CN" sz="2400" dirty="0">
              <a:latin typeface="+mn-lt"/>
            </a:endParaRPr>
          </a:p>
          <a:p>
            <a:pPr marL="713105" indent="-447675">
              <a:spcBef>
                <a:spcPts val="0"/>
              </a:spcBef>
              <a:spcAft>
                <a:spcPts val="600"/>
              </a:spcAft>
              <a:buFont typeface="+mj-lt"/>
              <a:buAutoNum type="arabicPeriod"/>
            </a:pPr>
            <a:r>
              <a:rPr lang="en-US" altLang="zh-CN" sz="2400" dirty="0">
                <a:latin typeface="+mn-lt"/>
              </a:rPr>
              <a:t>Where and when is it?</a:t>
            </a:r>
            <a:endParaRPr lang="en-US" altLang="zh-CN" sz="2400" dirty="0">
              <a:latin typeface="+mn-lt"/>
            </a:endParaRPr>
          </a:p>
          <a:p>
            <a:pPr marL="713105" indent="-447675">
              <a:spcBef>
                <a:spcPts val="0"/>
              </a:spcBef>
              <a:spcAft>
                <a:spcPts val="1200"/>
              </a:spcAft>
              <a:buFont typeface="+mj-lt"/>
              <a:buAutoNum type="arabicPeriod"/>
            </a:pPr>
            <a:r>
              <a:rPr lang="en-US" altLang="zh-CN" sz="2400" dirty="0">
                <a:latin typeface="+mn-lt"/>
              </a:rPr>
              <a:t>What happens, and why is the event interesting?</a:t>
            </a:r>
            <a:endParaRPr lang="en-US" altLang="zh-CN" sz="2400" dirty="0">
              <a:latin typeface="+mn-lt"/>
            </a:endParaRPr>
          </a:p>
          <a:p>
            <a:pPr>
              <a:spcBef>
                <a:spcPts val="600"/>
              </a:spcBef>
              <a:spcAft>
                <a:spcPts val="1200"/>
              </a:spcAft>
            </a:pPr>
            <a:r>
              <a:rPr lang="en-US" altLang="zh-CN" b="1" dirty="0"/>
              <a:t>C. Make tickets. </a:t>
            </a:r>
            <a:r>
              <a:rPr lang="en-US" altLang="zh-CN" dirty="0"/>
              <a:t>Use your answers to the questions in</a:t>
            </a:r>
            <a:r>
              <a:rPr lang="en-US" altLang="zh-CN" b="1" dirty="0"/>
              <a:t> B </a:t>
            </a:r>
            <a:r>
              <a:rPr lang="en-US" altLang="zh-CN" dirty="0"/>
              <a:t>to make tickets for your event. Make eight tickets for your event.</a:t>
            </a:r>
            <a:endParaRPr lang="en-US" altLang="zh-CN" dirty="0"/>
          </a:p>
          <a:p>
            <a:pPr>
              <a:spcBef>
                <a:spcPts val="600"/>
              </a:spcBef>
              <a:spcAft>
                <a:spcPts val="1200"/>
              </a:spcAft>
            </a:pPr>
            <a:r>
              <a:rPr lang="en-US" altLang="zh-CN" b="1" dirty="0"/>
              <a:t>D. Present your event. </a:t>
            </a:r>
            <a:r>
              <a:rPr lang="en-US" altLang="zh-CN" dirty="0"/>
              <a:t>Work with other pairs. Explain your event. Use your answers from </a:t>
            </a:r>
            <a:r>
              <a:rPr lang="en-US" altLang="zh-CN" b="1" dirty="0"/>
              <a:t>B</a:t>
            </a:r>
            <a:r>
              <a:rPr lang="en-US" altLang="zh-CN" dirty="0"/>
              <a:t>. Change roles and learn about other events.</a:t>
            </a:r>
            <a:endParaRPr lang="en-US" altLang="zh-CN" dirty="0"/>
          </a:p>
          <a:p>
            <a:pPr>
              <a:spcBef>
                <a:spcPts val="600"/>
              </a:spcBef>
              <a:spcAft>
                <a:spcPts val="1200"/>
              </a:spcAft>
            </a:pPr>
            <a:r>
              <a:rPr lang="en-US" altLang="zh-CN" b="1" dirty="0"/>
              <a:t>E. Get tickets. </a:t>
            </a:r>
            <a:r>
              <a:rPr lang="en-US" altLang="zh-CN" dirty="0"/>
              <a:t>With your partner, choose one event to go to together. The tickets are free (they don’t cost any money) but you must get them quickly. Which event is the most popular? Do you give away all your tickets?</a:t>
            </a:r>
            <a:endParaRPr lang="zh-CN" altLang="en-US" dirty="0"/>
          </a:p>
        </p:txBody>
      </p:sp>
      <p:grpSp>
        <p:nvGrpSpPr>
          <p:cNvPr id="21" name="下一页"/>
          <p:cNvGrpSpPr/>
          <p:nvPr/>
        </p:nvGrpSpPr>
        <p:grpSpPr>
          <a:xfrm>
            <a:off x="8750845" y="6578304"/>
            <a:ext cx="264567" cy="210642"/>
            <a:chOff x="8750845" y="6578304"/>
            <a:chExt cx="264567" cy="210642"/>
          </a:xfrm>
        </p:grpSpPr>
        <p:sp>
          <p:nvSpPr>
            <p:cNvPr id="2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上一页"/>
          <p:cNvGrpSpPr/>
          <p:nvPr/>
        </p:nvGrpSpPr>
        <p:grpSpPr>
          <a:xfrm>
            <a:off x="8335464" y="6580685"/>
            <a:ext cx="264567" cy="210642"/>
            <a:chOff x="8335464" y="6580685"/>
            <a:chExt cx="264567" cy="210642"/>
          </a:xfrm>
        </p:grpSpPr>
        <p:sp>
          <p:nvSpPr>
            <p:cNvPr id="2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6"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返回按钮"/>
          <p:cNvGrpSpPr/>
          <p:nvPr/>
        </p:nvGrpSpPr>
        <p:grpSpPr>
          <a:xfrm>
            <a:off x="7875422" y="6585447"/>
            <a:ext cx="264567" cy="210642"/>
            <a:chOff x="7875422" y="6585447"/>
            <a:chExt cx="264567" cy="210642"/>
          </a:xfrm>
        </p:grpSpPr>
        <p:sp>
          <p:nvSpPr>
            <p:cNvPr id="28"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9"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btn-Part 1">
            <a:hlinkClick r:id="rId1" action="ppaction://hlinksldjump"/>
          </p:cNvPr>
          <p:cNvSpPr/>
          <p:nvPr/>
        </p:nvSpPr>
        <p:spPr>
          <a:xfrm>
            <a:off x="1478900" y="482615"/>
            <a:ext cx="6966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btn-Part 1">
            <a:hlinkClick r:id="rId2" action="ppaction://hlinksldjump"/>
          </p:cNvPr>
          <p:cNvSpPr/>
          <p:nvPr/>
        </p:nvSpPr>
        <p:spPr>
          <a:xfrm>
            <a:off x="63500" y="482615"/>
            <a:ext cx="115091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a:solidFill>
                  <a:schemeClr val="accent4"/>
                </a:solidFill>
                <a:latin typeface="+mj-lt"/>
              </a:rPr>
              <a:t>A hot ticket      </a:t>
            </a:r>
            <a:r>
              <a:rPr lang="en-US" altLang="zh-CN" sz="1600" b="1" dirty="0">
                <a:solidFill>
                  <a:srgbClr val="515672"/>
                </a:solidFill>
                <a:latin typeface="+mj-lt"/>
              </a:rPr>
              <a:t>  Project</a:t>
            </a:r>
            <a:endParaRPr lang="zh-CN" altLang="en-US" sz="1600" b="1" dirty="0">
              <a:solidFill>
                <a:srgbClr val="515672"/>
              </a:solidFill>
              <a:latin typeface="+mj-lt"/>
            </a:endParaRPr>
          </a:p>
        </p:txBody>
      </p:sp>
      <p:sp>
        <p:nvSpPr>
          <p:cNvPr id="32" name="文本占位符 31"/>
          <p:cNvSpPr>
            <a:spLocks noGrp="1"/>
          </p:cNvSpPr>
          <p:nvPr>
            <p:ph type="body" sz="quarter" idx="13"/>
          </p:nvPr>
        </p:nvSpPr>
        <p:spPr>
          <a:xfrm>
            <a:off x="323850" y="1124744"/>
            <a:ext cx="8569325" cy="1232686"/>
          </a:xfrm>
        </p:spPr>
        <p:txBody>
          <a:bodyPr>
            <a:normAutofit lnSpcReduction="10000"/>
          </a:bodyPr>
          <a:lstStyle/>
          <a:p>
            <a:pPr>
              <a:spcAft>
                <a:spcPts val="1200"/>
              </a:spcAft>
            </a:pPr>
            <a:r>
              <a:rPr lang="en-US" altLang="zh-CN" b="1" dirty="0"/>
              <a:t>Make a poster. </a:t>
            </a:r>
            <a:r>
              <a:rPr lang="en-US" altLang="zh-CN" dirty="0"/>
              <a:t>Make a poster for the sports event you talked about in the </a:t>
            </a:r>
            <a:r>
              <a:rPr lang="en-US" altLang="zh-CN" b="1" dirty="0"/>
              <a:t>Expansion Activity</a:t>
            </a:r>
            <a:r>
              <a:rPr lang="en-US" altLang="zh-CN" dirty="0"/>
              <a:t>. Use photos from the Internet. Show your poster to your friends to get their comments. Then, when you are finished, show the final poster to your class.</a:t>
            </a:r>
            <a:endParaRPr lang="zh-CN" altLang="en-US" dirty="0"/>
          </a:p>
        </p:txBody>
      </p:sp>
      <p:grpSp>
        <p:nvGrpSpPr>
          <p:cNvPr id="35" name="下一页"/>
          <p:cNvGrpSpPr/>
          <p:nvPr/>
        </p:nvGrpSpPr>
        <p:grpSpPr>
          <a:xfrm>
            <a:off x="8750845" y="6578304"/>
            <a:ext cx="264567" cy="210642"/>
            <a:chOff x="8750845" y="6578304"/>
            <a:chExt cx="264567" cy="210642"/>
          </a:xfrm>
        </p:grpSpPr>
        <p:sp>
          <p:nvSpPr>
            <p:cNvPr id="36"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37" name="热区"/>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上一页"/>
          <p:cNvGrpSpPr/>
          <p:nvPr/>
        </p:nvGrpSpPr>
        <p:grpSpPr>
          <a:xfrm>
            <a:off x="8335464" y="6580685"/>
            <a:ext cx="264567" cy="210642"/>
            <a:chOff x="8335464" y="6580685"/>
            <a:chExt cx="264567" cy="210642"/>
          </a:xfrm>
        </p:grpSpPr>
        <p:sp>
          <p:nvSpPr>
            <p:cNvPr id="41"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2"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返回按钮"/>
          <p:cNvGrpSpPr/>
          <p:nvPr/>
        </p:nvGrpSpPr>
        <p:grpSpPr>
          <a:xfrm>
            <a:off x="7875422" y="6585447"/>
            <a:ext cx="264567" cy="210642"/>
            <a:chOff x="7875422" y="6585447"/>
            <a:chExt cx="264567" cy="210642"/>
          </a:xfrm>
        </p:grpSpPr>
        <p:sp>
          <p:nvSpPr>
            <p:cNvPr id="44"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5"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6" name="图片 45" descr="P01-12_1309526.jpg"/>
          <p:cNvPicPr>
            <a:picLocks noChangeAspect="1"/>
          </p:cNvPicPr>
          <p:nvPr/>
        </p:nvPicPr>
        <p:blipFill>
          <a:blip r:embed="rId1"/>
          <a:stretch>
            <a:fillRect/>
          </a:stretch>
        </p:blipFill>
        <p:spPr>
          <a:xfrm>
            <a:off x="2214546" y="2643182"/>
            <a:ext cx="4214841" cy="2804612"/>
          </a:xfrm>
          <a:prstGeom prst="rect">
            <a:avLst/>
          </a:prstGeom>
        </p:spPr>
      </p:pic>
      <p:sp>
        <p:nvSpPr>
          <p:cNvPr id="47" name="矩形 46"/>
          <p:cNvSpPr/>
          <p:nvPr/>
        </p:nvSpPr>
        <p:spPr>
          <a:xfrm>
            <a:off x="2214546" y="5354834"/>
            <a:ext cx="4214842" cy="584775"/>
          </a:xfrm>
          <a:prstGeom prst="rect">
            <a:avLst/>
          </a:prstGeom>
          <a:solidFill>
            <a:schemeClr val="tx1"/>
          </a:solidFill>
        </p:spPr>
        <p:txBody>
          <a:bodyPr wrap="square">
            <a:spAutoFit/>
          </a:bodyPr>
          <a:lstStyle/>
          <a:p>
            <a:r>
              <a:rPr lang="en-US" altLang="zh-CN" sz="1600" dirty="0">
                <a:solidFill>
                  <a:schemeClr val="bg1"/>
                </a:solidFill>
              </a:rPr>
              <a:t>A South African woman kisses her tickets to a World Cup soccer match.</a:t>
            </a:r>
            <a:endParaRPr lang="zh-CN" altLang="en-US" sz="1600" dirty="0">
              <a:solidFill>
                <a:schemeClr val="bg1"/>
              </a:solidFill>
            </a:endParaRPr>
          </a:p>
        </p:txBody>
      </p:sp>
      <p:sp>
        <p:nvSpPr>
          <p:cNvPr id="16" name="btn-Part 1">
            <a:hlinkClick r:id="rId2" action="ppaction://hlinksldjump"/>
          </p:cNvPr>
          <p:cNvSpPr/>
          <p:nvPr/>
        </p:nvSpPr>
        <p:spPr>
          <a:xfrm>
            <a:off x="63500" y="482615"/>
            <a:ext cx="115091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btn-Part 1">
            <a:hlinkClick r:id="rId3" action="ppaction://hlinksldjump"/>
          </p:cNvPr>
          <p:cNvSpPr/>
          <p:nvPr/>
        </p:nvSpPr>
        <p:spPr>
          <a:xfrm>
            <a:off x="1478900" y="482615"/>
            <a:ext cx="6966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sld>
</file>

<file path=ppt/tags/tag1.xml><?xml version="1.0" encoding="utf-8"?>
<p:tagLst xmlns:p="http://schemas.openxmlformats.org/presentationml/2006/main">
  <p:tag name="commondata" val="eyJoZGlkIjoiZWNhNzhjZGJkMzMzZjhhNWJmN2E2YWM2ZDMyYWYwN2YifQ=="/>
</p:tagLst>
</file>

<file path=ppt/theme/theme1.xml><?xml version="1.0" encoding="utf-8"?>
<a:theme xmlns:a="http://schemas.openxmlformats.org/drawingml/2006/main" name="Office 主题">
  <a:themeElements>
    <a:clrScheme name="进阶视听说">
      <a:dk1>
        <a:sysClr val="windowText" lastClr="000000"/>
      </a:dk1>
      <a:lt1>
        <a:sysClr val="window" lastClr="FFFFFF"/>
      </a:lt1>
      <a:dk2>
        <a:srgbClr val="582957"/>
      </a:dk2>
      <a:lt2>
        <a:srgbClr val="EEECE1"/>
      </a:lt2>
      <a:accent1>
        <a:srgbClr val="4F81BD"/>
      </a:accent1>
      <a:accent2>
        <a:srgbClr val="C0504D"/>
      </a:accent2>
      <a:accent3>
        <a:srgbClr val="88BB16"/>
      </a:accent3>
      <a:accent4>
        <a:srgbClr val="AF88B6"/>
      </a:accent4>
      <a:accent5>
        <a:srgbClr val="4BACC6"/>
      </a:accent5>
      <a:accent6>
        <a:srgbClr val="FEE200"/>
      </a:accent6>
      <a:hlink>
        <a:srgbClr val="0000FF"/>
      </a:hlink>
      <a:folHlink>
        <a:srgbClr val="800080"/>
      </a:folHlink>
    </a:clrScheme>
    <a:fontScheme name="进阶试听说">
      <a:majorFont>
        <a:latin typeface="Roboto Condensed"/>
        <a:ea typeface="微软雅黑"/>
        <a:cs typeface=""/>
      </a:majorFont>
      <a:minorFont>
        <a:latin typeface="Neuto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2587</Words>
  <Application>WPS 演示</Application>
  <PresentationFormat>全屏显示(4:3)</PresentationFormat>
  <Paragraphs>37</Paragraphs>
  <Slides>3</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vt:i4>
      </vt:variant>
    </vt:vector>
  </HeadingPairs>
  <TitlesOfParts>
    <vt:vector size="12" baseType="lpstr">
      <vt:lpstr>Arial</vt:lpstr>
      <vt:lpstr>宋体</vt:lpstr>
      <vt:lpstr>Wingdings</vt:lpstr>
      <vt:lpstr>Neuton</vt:lpstr>
      <vt:lpstr>Roboto Condensed</vt:lpstr>
      <vt:lpstr>微软雅黑</vt:lpstr>
      <vt:lpstr>Arial Unicode MS</vt:lpstr>
      <vt:lpstr>Calibri</vt:lpstr>
      <vt:lpstr>Office 主题</vt:lpstr>
      <vt:lpstr>PowerPoint 演示文稿</vt:lpstr>
      <vt:lpstr>PowerPoint 演示文稿</vt:lpstr>
      <vt:lpstr>PowerPoint 演示文稿</vt:lpstr>
    </vt:vector>
  </TitlesOfParts>
  <Company>cmet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old9</dc:creator>
  <cp:lastModifiedBy>别急躁</cp:lastModifiedBy>
  <cp:revision>206</cp:revision>
  <dcterms:created xsi:type="dcterms:W3CDTF">2017-12-23T09:29:00Z</dcterms:created>
  <dcterms:modified xsi:type="dcterms:W3CDTF">2024-08-27T04:57:09Z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A354FD91B15B46EB9636E9C2188C6A61_13</vt:lpwstr>
  </property>
  <property fmtid="{D5CDD505-2E9C-101B-9397-08002B2CF9AE}" pid="3" name="KSOProductBuildVer">
    <vt:lpwstr>2052-12.1.0.17857</vt:lpwstr>
  </property>
</Properties>
</file>