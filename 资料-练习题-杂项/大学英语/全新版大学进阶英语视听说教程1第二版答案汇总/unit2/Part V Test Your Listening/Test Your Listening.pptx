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mp3" ContentType="audio/mp3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handoutMasterIdLst>
    <p:handoutMasterId r:id="rId6"/>
  </p:handoutMasterIdLst>
  <p:sldIdLst>
    <p:sldId id="256" r:id="rId3"/>
    <p:sldId id="262" r:id="rId5"/>
  </p:sldIdLst>
  <p:sldSz cx="9144000" cy="6858000" type="screen4x3"/>
  <p:notesSz cx="6858000" cy="9144000"/>
  <p:embeddedFontLst>
    <p:embeddedFont>
      <p:font typeface="等线" panose="02010600030101010101" pitchFamily="2" charset="-122"/>
      <p:regular r:id="rId10"/>
    </p:embeddedFont>
    <p:embeddedFont>
      <p:font typeface="Neuton" panose="00000500000000000000" charset="0"/>
      <p:regular r:id="rId11"/>
      <p:bold r:id="rId12"/>
      <p:italic r:id="rId13"/>
    </p:embeddedFont>
    <p:embeddedFont>
      <p:font typeface="Roboto Condensed" panose="02000000000000000000" charset="0"/>
      <p:regular r:id="rId14"/>
      <p:bold r:id="rId15"/>
      <p:italic r:id="rId16"/>
    </p:embeddedFont>
    <p:embeddedFont>
      <p:font typeface="微软雅黑" panose="020B0503020204020204" charset="-122"/>
      <p:regular r:id="rId17"/>
    </p:embeddedFont>
    <p:embeddedFont>
      <p:font typeface="Calibri" panose="020F0502020204030204" charset="0"/>
      <p:regular r:id="rId18"/>
      <p:bold r:id="rId19"/>
      <p:italic r:id="rId20"/>
      <p:boldItalic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15672"/>
    <a:srgbClr val="AF88B6"/>
    <a:srgbClr val="FFDD33"/>
    <a:srgbClr val="FFFFFF"/>
    <a:srgbClr val="3C153B"/>
    <a:srgbClr val="9D6BA5"/>
    <a:srgbClr val="B35DB1"/>
    <a:srgbClr val="CB8B02"/>
    <a:srgbClr val="F3B700"/>
    <a:srgbClr val="F3FC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91" autoAdjust="0"/>
    <p:restoredTop sz="93686" autoAdjust="0"/>
  </p:normalViewPr>
  <p:slideViewPr>
    <p:cSldViewPr showGuides="1">
      <p:cViewPr varScale="1">
        <p:scale>
          <a:sx n="103" d="100"/>
          <a:sy n="103" d="100"/>
        </p:scale>
        <p:origin x="149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-2844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font" Target="fonts/font12.fntdata"/><Relationship Id="rId20" Type="http://schemas.openxmlformats.org/officeDocument/2006/relationships/font" Target="fonts/font11.fntdata"/><Relationship Id="rId2" Type="http://schemas.openxmlformats.org/officeDocument/2006/relationships/theme" Target="theme/theme1.xml"/><Relationship Id="rId19" Type="http://schemas.openxmlformats.org/officeDocument/2006/relationships/font" Target="fonts/font10.fntdata"/><Relationship Id="rId18" Type="http://schemas.openxmlformats.org/officeDocument/2006/relationships/font" Target="fonts/font9.fntdata"/><Relationship Id="rId17" Type="http://schemas.openxmlformats.org/officeDocument/2006/relationships/font" Target="fonts/font8.fntdata"/><Relationship Id="rId16" Type="http://schemas.openxmlformats.org/officeDocument/2006/relationships/font" Target="fonts/font7.fntdata"/><Relationship Id="rId15" Type="http://schemas.openxmlformats.org/officeDocument/2006/relationships/font" Target="fonts/font6.fntdata"/><Relationship Id="rId14" Type="http://schemas.openxmlformats.org/officeDocument/2006/relationships/font" Target="fonts/font5.fntdata"/><Relationship Id="rId13" Type="http://schemas.openxmlformats.org/officeDocument/2006/relationships/font" Target="fonts/font4.fntdata"/><Relationship Id="rId12" Type="http://schemas.openxmlformats.org/officeDocument/2006/relationships/font" Target="fonts/font3.fntdata"/><Relationship Id="rId11" Type="http://schemas.openxmlformats.org/officeDocument/2006/relationships/font" Target="fonts/font2.fntdata"/><Relationship Id="rId10" Type="http://schemas.openxmlformats.org/officeDocument/2006/relationships/font" Target="fonts/font1.fntdata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ea typeface="等线" panose="02010600030101010101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1A6FA5-9299-4CE1-A327-CB3C60321AD6}" type="datetimeFigureOut">
              <a:rPr lang="zh-CN" altLang="en-US" smtClean="0">
                <a:ea typeface="等线" panose="02010600030101010101" pitchFamily="2" charset="-122"/>
              </a:rPr>
            </a:fld>
            <a:endParaRPr lang="zh-CN" altLang="en-US" dirty="0">
              <a:ea typeface="等线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ea typeface="等线" panose="0201060003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B14E66-D570-4D12-8DDD-93D4BD4AE2FC}" type="slidenum">
              <a:rPr lang="zh-CN" altLang="en-US" smtClean="0">
                <a:ea typeface="等线" panose="02010600030101010101" pitchFamily="2" charset="-122"/>
              </a:rPr>
            </a:fld>
            <a:endParaRPr lang="zh-CN" altLang="en-US" dirty="0">
              <a:ea typeface="等线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等线" panose="02010600030101010101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等线" panose="02010600030101010101" pitchFamily="2" charset="-122"/>
              </a:defRPr>
            </a:lvl1pPr>
          </a:lstStyle>
          <a:p>
            <a:fld id="{5D831D2C-B22C-4903-8B3C-903F91599D35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等线" panose="02010600030101010101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等线" panose="02010600030101010101" pitchFamily="2" charset="-122"/>
              </a:defRPr>
            </a:lvl1pPr>
          </a:lstStyle>
          <a:p>
            <a:fld id="{31063C93-9101-4F51-B1E6-A3BBF9E38CCE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等线" panose="02010600030101010101" pitchFamily="2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等线" panose="02010600030101010101" pitchFamily="2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等线" panose="02010600030101010101" pitchFamily="2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等线" panose="02010600030101010101" pitchFamily="2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等线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63C93-9101-4F51-B1E6-A3BBF9E38CC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翻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179512" cy="4766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主体内容"/>
          <p:cNvSpPr>
            <a:spLocks noGrp="1"/>
          </p:cNvSpPr>
          <p:nvPr>
            <p:ph type="body" sz="quarter" idx="14"/>
          </p:nvPr>
        </p:nvSpPr>
        <p:spPr>
          <a:xfrm>
            <a:off x="323850" y="1340768"/>
            <a:ext cx="8569325" cy="48250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1" name="标题 1"/>
          <p:cNvSpPr txBox="1"/>
          <p:nvPr userDrawn="1"/>
        </p:nvSpPr>
        <p:spPr>
          <a:xfrm>
            <a:off x="179512" y="0"/>
            <a:ext cx="2995488" cy="476672"/>
          </a:xfrm>
          <a:prstGeom prst="rect">
            <a:avLst/>
          </a:prstGeom>
          <a:solidFill>
            <a:srgbClr val="FFDD33"/>
          </a:solidFill>
        </p:spPr>
        <p:txBody>
          <a:bodyPr vert="horz" lIns="144000" tIns="45720" rIns="91440" bIns="45720" rtlCol="0"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51567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Part IV Expansion Activity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51567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dir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179512" cy="4766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Directions"/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1124744"/>
            <a:ext cx="8569325" cy="576262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latin typeface="+mj-lt"/>
              </a:defRPr>
            </a:lvl1pPr>
          </a:lstStyle>
          <a:p>
            <a:pPr lvl="0"/>
            <a:r>
              <a:rPr lang="en-US" altLang="zh-CN"/>
              <a:t>Directions here</a:t>
            </a:r>
            <a:endParaRPr lang="zh-CN" altLang="en-US"/>
          </a:p>
        </p:txBody>
      </p:sp>
      <p:sp>
        <p:nvSpPr>
          <p:cNvPr id="14" name="主体内容"/>
          <p:cNvSpPr>
            <a:spLocks noGrp="1"/>
          </p:cNvSpPr>
          <p:nvPr>
            <p:ph type="body" sz="quarter" idx="14"/>
          </p:nvPr>
        </p:nvSpPr>
        <p:spPr>
          <a:xfrm>
            <a:off x="323850" y="2204864"/>
            <a:ext cx="8569325" cy="3960986"/>
          </a:xfrm>
        </p:spPr>
        <p:txBody>
          <a:bodyPr/>
          <a:lstStyle>
            <a:lvl1pPr marL="217805" indent="-217805"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标题 1"/>
          <p:cNvSpPr txBox="1"/>
          <p:nvPr userDrawn="1"/>
        </p:nvSpPr>
        <p:spPr>
          <a:xfrm>
            <a:off x="179512" y="0"/>
            <a:ext cx="3280864" cy="476672"/>
          </a:xfrm>
          <a:prstGeom prst="rect">
            <a:avLst/>
          </a:prstGeom>
          <a:solidFill>
            <a:srgbClr val="FFDD33"/>
          </a:solidFill>
        </p:spPr>
        <p:txBody>
          <a:bodyPr vert="horz" lIns="144000" tIns="45720" rIns="91440" bIns="45720" rtlCol="0"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51567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Part V </a:t>
            </a:r>
            <a:r>
              <a:rPr lang="en-US" altLang="zh-CN" sz="2000" b="1" i="0" u="none" strike="noStrike" kern="1200" baseline="0" dirty="0">
                <a:solidFill>
                  <a:srgbClr val="515672"/>
                </a:solidFill>
                <a:latin typeface="+mj-lt"/>
                <a:ea typeface="+mn-ea"/>
                <a:cs typeface="+mn-cs"/>
              </a:rPr>
              <a:t>Test Your Listening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51567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C3FACB-9944-46C7-BB15-79BEA3D61A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93EA13-C732-4F17-8516-92EE82C34A8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emf"/><Relationship Id="rId8" Type="http://schemas.openxmlformats.org/officeDocument/2006/relationships/hyperlink" Target="U2_Script1.mp3" TargetMode="External"/><Relationship Id="rId7" Type="http://schemas.openxmlformats.org/officeDocument/2006/relationships/image" Target="../media/image5.emf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4" Type="http://schemas.openxmlformats.org/officeDocument/2006/relationships/image" Target="../media/image2.emf"/><Relationship Id="rId3" Type="http://schemas.openxmlformats.org/officeDocument/2006/relationships/hyperlink" Target="Script1.pptx" TargetMode="External"/><Relationship Id="rId2" Type="http://schemas.openxmlformats.org/officeDocument/2006/relationships/slide" Target="slide1.xml"/><Relationship Id="rId14" Type="http://schemas.openxmlformats.org/officeDocument/2006/relationships/notesSlide" Target="../notesSlides/notesSlide1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7.png"/><Relationship Id="rId11" Type="http://schemas.microsoft.com/office/2007/relationships/media" Target="../media/media1.mp3"/><Relationship Id="rId10" Type="http://schemas.openxmlformats.org/officeDocument/2006/relationships/audio" Target="../media/media1.mp3"/><Relationship Id="rId1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emf"/><Relationship Id="rId8" Type="http://schemas.openxmlformats.org/officeDocument/2006/relationships/hyperlink" Target="U2_Script2.mp3" TargetMode="External"/><Relationship Id="rId7" Type="http://schemas.openxmlformats.org/officeDocument/2006/relationships/image" Target="../media/image5.emf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4" Type="http://schemas.openxmlformats.org/officeDocument/2006/relationships/image" Target="../media/image2.emf"/><Relationship Id="rId3" Type="http://schemas.openxmlformats.org/officeDocument/2006/relationships/hyperlink" Target="Script2.pptx" TargetMode="External"/><Relationship Id="rId2" Type="http://schemas.openxmlformats.org/officeDocument/2006/relationships/slide" Target="slide1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7.png"/><Relationship Id="rId11" Type="http://schemas.microsoft.com/office/2007/relationships/media" Target="../media/media2.mp3"/><Relationship Id="rId10" Type="http://schemas.openxmlformats.org/officeDocument/2006/relationships/audio" Target="../media/media2.mp3"/><Relationship Id="rId1" Type="http://schemas.openxmlformats.org/officeDocument/2006/relationships/slide" Target="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/>
        </p:nvSpPr>
        <p:spPr>
          <a:xfrm>
            <a:off x="326366" y="1126172"/>
            <a:ext cx="856680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000" b="1" spc="-60" dirty="0">
                <a:latin typeface="+mj-lt"/>
              </a:rPr>
              <a:t>Directions: </a:t>
            </a:r>
            <a:r>
              <a:rPr lang="en-US" altLang="zh-CN" sz="2000" i="1" spc="-60" dirty="0">
                <a:latin typeface="+mj-lt"/>
              </a:rPr>
              <a:t>In this section, you will hear a long conversation. At the end of the conversation</a:t>
            </a:r>
            <a:r>
              <a:rPr lang="en-US" altLang="zh-CN" sz="2000" i="1" spc="-50" dirty="0">
                <a:latin typeface="+mj-lt"/>
              </a:rPr>
              <a:t>,</a:t>
            </a:r>
            <a:r>
              <a:rPr lang="en-US" altLang="zh-CN" sz="2000" i="1" dirty="0">
                <a:latin typeface="+mj-lt"/>
              </a:rPr>
              <a:t> </a:t>
            </a:r>
            <a:r>
              <a:rPr lang="en-US" altLang="zh-CN" sz="2000" i="1" spc="10" dirty="0">
                <a:latin typeface="+mj-lt"/>
              </a:rPr>
              <a:t>you will hear four questions. Both the conversation and the questions will be spoken</a:t>
            </a:r>
            <a:r>
              <a:rPr lang="en-US" altLang="zh-CN" sz="2000" i="1" dirty="0">
                <a:latin typeface="+mj-lt"/>
              </a:rPr>
              <a:t> only once. After you hear a question, choose the best answer.</a:t>
            </a:r>
            <a:endParaRPr lang="zh-CN" altLang="en-US" sz="2000" dirty="0">
              <a:latin typeface="+mj-lt"/>
            </a:endParaRPr>
          </a:p>
          <a:p>
            <a:pPr algn="just"/>
            <a:endParaRPr lang="zh-CN" altLang="en-US" sz="2000" dirty="0">
              <a:latin typeface="+mj-lt"/>
            </a:endParaRPr>
          </a:p>
        </p:txBody>
      </p:sp>
      <p:grpSp>
        <p:nvGrpSpPr>
          <p:cNvPr id="41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42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热区">
              <a:hlinkClick r:id="" action="ppaction://hlinkshowjump?jump=nextslide"/>
            </p:cNvPr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4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45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热区"/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7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48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热区">
              <a:hlinkClick r:id="" action="ppaction://hlinkshowjump?jump=endshow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矩形 22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solidFill>
            <a:srgbClr val="FFDD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>
                <a:solidFill>
                  <a:srgbClr val="515672"/>
                </a:solidFill>
                <a:latin typeface="+mj-lt"/>
              </a:rPr>
              <a:t>Section A Long Conversation        </a:t>
            </a:r>
            <a:r>
              <a:rPr lang="en-US" altLang="zh-CN" sz="1600" b="1" dirty="0">
                <a:solidFill>
                  <a:schemeClr val="accent4"/>
                </a:solidFill>
                <a:latin typeface="+mj-lt"/>
              </a:rPr>
              <a:t>Section B Passage</a:t>
            </a:r>
            <a:endParaRPr lang="en-US" altLang="zh-CN" sz="1600" b="0" i="0" u="none" strike="noStrike" baseline="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24" name="btn-Part 1">
            <a:hlinkClick r:id="rId1" action="ppaction://hlinksldjump"/>
          </p:cNvPr>
          <p:cNvSpPr/>
          <p:nvPr/>
        </p:nvSpPr>
        <p:spPr>
          <a:xfrm>
            <a:off x="2843808" y="514772"/>
            <a:ext cx="2549842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btn-Part 1">
            <a:hlinkClick r:id="rId2" action="ppaction://hlinksldjump"/>
          </p:cNvPr>
          <p:cNvSpPr/>
          <p:nvPr/>
        </p:nvSpPr>
        <p:spPr>
          <a:xfrm>
            <a:off x="117028" y="528464"/>
            <a:ext cx="2366739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6" name="按钮-Script">
            <a:hlinkClick r:id="rId3" action="ppaction://hlinkpres?slideindex=1&amp;slidetitle="/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3067800" y="2107876"/>
            <a:ext cx="904875" cy="333375"/>
          </a:xfrm>
          <a:prstGeom prst="rect">
            <a:avLst/>
          </a:prstGeom>
        </p:spPr>
      </p:pic>
      <p:pic>
        <p:nvPicPr>
          <p:cNvPr id="37" name="播放按钮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24086" y="2107876"/>
            <a:ext cx="295275" cy="304800"/>
          </a:xfrm>
          <a:prstGeom prst="rect">
            <a:avLst/>
          </a:prstGeom>
        </p:spPr>
      </p:pic>
      <p:pic>
        <p:nvPicPr>
          <p:cNvPr id="38" name="暂停按钮"/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84126" y="2107876"/>
            <a:ext cx="295275" cy="304800"/>
          </a:xfrm>
          <a:prstGeom prst="rect">
            <a:avLst/>
          </a:prstGeom>
        </p:spPr>
      </p:pic>
      <p:pic>
        <p:nvPicPr>
          <p:cNvPr id="39" name="停止按钮"/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144166" y="2107876"/>
            <a:ext cx="295275" cy="304800"/>
          </a:xfrm>
          <a:prstGeom prst="rect">
            <a:avLst/>
          </a:prstGeom>
        </p:spPr>
      </p:pic>
      <p:sp>
        <p:nvSpPr>
          <p:cNvPr id="50" name="文本框 49"/>
          <p:cNvSpPr txBox="1"/>
          <p:nvPr/>
        </p:nvSpPr>
        <p:spPr>
          <a:xfrm>
            <a:off x="323850" y="2398812"/>
            <a:ext cx="7154523" cy="35548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spcBef>
                <a:spcPts val="480"/>
              </a:spcBef>
            </a:pPr>
            <a:r>
              <a:rPr lang="en-US" altLang="zh-CN" sz="2000" b="1" dirty="0">
                <a:latin typeface="+mj-lt"/>
              </a:rPr>
              <a:t>Questions 1 to 4 are based on the conversation you have just heard.</a:t>
            </a:r>
            <a:endParaRPr lang="en-US" altLang="zh-CN" sz="2000" b="1" dirty="0">
              <a:latin typeface="+mj-lt"/>
            </a:endParaRPr>
          </a:p>
          <a:p>
            <a:r>
              <a:rPr lang="en-US" altLang="zh-CN" sz="2000" b="1" dirty="0"/>
              <a:t>1. </a:t>
            </a:r>
            <a:endParaRPr lang="en-US" altLang="zh-CN" sz="2000" b="1" dirty="0"/>
          </a:p>
          <a:p>
            <a:pPr>
              <a:spcBef>
                <a:spcPts val="600"/>
              </a:spcBef>
            </a:pPr>
            <a:endParaRPr lang="en-US" altLang="zh-CN" sz="2000" b="1" dirty="0"/>
          </a:p>
          <a:p>
            <a:pPr>
              <a:spcBef>
                <a:spcPts val="1200"/>
              </a:spcBef>
            </a:pPr>
            <a:r>
              <a:rPr lang="en-US" altLang="zh-CN" sz="2000" b="1" dirty="0"/>
              <a:t>2. 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endParaRPr lang="en-US" altLang="zh-CN" sz="2000" dirty="0"/>
          </a:p>
          <a:p>
            <a:pPr>
              <a:spcBef>
                <a:spcPts val="1200"/>
              </a:spcBef>
            </a:pPr>
            <a:r>
              <a:rPr lang="en-US" altLang="zh-CN" sz="2000" b="1" dirty="0"/>
              <a:t>3. 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endParaRPr lang="en-US" altLang="zh-CN" sz="2000" b="1" dirty="0"/>
          </a:p>
          <a:p>
            <a:pPr>
              <a:spcBef>
                <a:spcPts val="1200"/>
              </a:spcBef>
            </a:pPr>
            <a:r>
              <a:rPr lang="en-US" altLang="zh-CN" sz="2000" b="1" dirty="0"/>
              <a:t>4. </a:t>
            </a:r>
            <a:endParaRPr lang="en-US" altLang="zh-CN" sz="2000" dirty="0"/>
          </a:p>
          <a:p>
            <a:endParaRPr lang="zh-CN" altLang="en-US" sz="2000" dirty="0"/>
          </a:p>
        </p:txBody>
      </p:sp>
      <p:sp>
        <p:nvSpPr>
          <p:cNvPr id="7" name="文本框 6"/>
          <p:cNvSpPr txBox="1"/>
          <p:nvPr/>
        </p:nvSpPr>
        <p:spPr>
          <a:xfrm>
            <a:off x="4471417" y="2398812"/>
            <a:ext cx="3881191" cy="39395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zh-CN" sz="2000" dirty="0"/>
          </a:p>
          <a:p>
            <a:r>
              <a:rPr lang="en-US" altLang="zh-CN" sz="2000" dirty="0"/>
              <a:t>B. Women’s Baseball World Cup.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D. Women’s Basketball World Cup.</a:t>
            </a:r>
            <a:endParaRPr lang="en-US" altLang="zh-CN" sz="2000" dirty="0"/>
          </a:p>
          <a:p>
            <a:pPr>
              <a:spcBef>
                <a:spcPts val="1200"/>
              </a:spcBef>
            </a:pPr>
            <a:r>
              <a:rPr lang="en-US" altLang="zh-CN" sz="2000" dirty="0"/>
              <a:t>B. China.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D. Auckland.</a:t>
            </a:r>
            <a:endParaRPr lang="en-US" altLang="zh-CN" sz="2000" dirty="0"/>
          </a:p>
          <a:p>
            <a:pPr>
              <a:spcBef>
                <a:spcPts val="1200"/>
              </a:spcBef>
            </a:pPr>
            <a:r>
              <a:rPr lang="en-US" altLang="zh-CN" sz="2000" dirty="0"/>
              <a:t>B. In Auckland.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D. In Beijing.</a:t>
            </a:r>
            <a:endParaRPr lang="en-US" altLang="zh-CN" sz="2000" dirty="0"/>
          </a:p>
          <a:p>
            <a:pPr>
              <a:spcBef>
                <a:spcPts val="1200"/>
              </a:spcBef>
            </a:pPr>
            <a:r>
              <a:rPr lang="en-US" altLang="zh-CN" sz="2000" dirty="0"/>
              <a:t>B. They show the country’s passion.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D. They can play the third-place match.</a:t>
            </a:r>
            <a:endParaRPr lang="zh-CN" altLang="en-US" sz="2000" dirty="0"/>
          </a:p>
          <a:p>
            <a:endParaRPr lang="zh-CN" altLang="en-US" sz="2000" dirty="0"/>
          </a:p>
        </p:txBody>
      </p:sp>
      <p:sp>
        <p:nvSpPr>
          <p:cNvPr id="10" name="文本框 9"/>
          <p:cNvSpPr txBox="1"/>
          <p:nvPr/>
        </p:nvSpPr>
        <p:spPr>
          <a:xfrm>
            <a:off x="592510" y="2398812"/>
            <a:ext cx="3727302" cy="39395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zh-CN" sz="2000" dirty="0"/>
          </a:p>
          <a:p>
            <a:r>
              <a:rPr lang="en-US" altLang="zh-CN" sz="2000" dirty="0"/>
              <a:t>A. Women’s Ice Hockey World Cup. 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C. Women’s Football World Cup.           </a:t>
            </a:r>
            <a:endParaRPr lang="en-US" altLang="zh-CN" sz="2000" dirty="0"/>
          </a:p>
          <a:p>
            <a:pPr>
              <a:spcBef>
                <a:spcPts val="1200"/>
              </a:spcBef>
            </a:pPr>
            <a:r>
              <a:rPr lang="en-US" altLang="zh-CN" sz="2000" dirty="0"/>
              <a:t>A. Australia.                                             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C. New Zealand.                                      </a:t>
            </a:r>
            <a:endParaRPr lang="en-US" altLang="zh-CN" sz="2000" dirty="0"/>
          </a:p>
          <a:p>
            <a:pPr>
              <a:spcBef>
                <a:spcPts val="1200"/>
              </a:spcBef>
            </a:pPr>
            <a:r>
              <a:rPr lang="en-US" altLang="zh-CN" sz="2000" dirty="0"/>
              <a:t>A. In Sydney.                                          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C. In Brisbane.                                         </a:t>
            </a:r>
            <a:endParaRPr lang="en-US" altLang="zh-CN" sz="2000" dirty="0"/>
          </a:p>
          <a:p>
            <a:pPr>
              <a:spcBef>
                <a:spcPts val="1200"/>
              </a:spcBef>
            </a:pPr>
            <a:r>
              <a:rPr lang="en-US" altLang="zh-CN" sz="2000" dirty="0"/>
              <a:t>A. They are called the “steel roses.”</a:t>
            </a:r>
            <a:r>
              <a:rPr lang="en-US" altLang="zh-CN" sz="2000" spc="40" dirty="0"/>
              <a:t>    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C. They are brave and courageous.       </a:t>
            </a:r>
            <a:endParaRPr lang="zh-CN" altLang="en-US" sz="2000" dirty="0"/>
          </a:p>
          <a:p>
            <a:endParaRPr lang="zh-CN" altLang="en-US" sz="2000" dirty="0"/>
          </a:p>
        </p:txBody>
      </p:sp>
      <p:sp>
        <p:nvSpPr>
          <p:cNvPr id="18" name="同心圆 17"/>
          <p:cNvSpPr/>
          <p:nvPr/>
        </p:nvSpPr>
        <p:spPr>
          <a:xfrm>
            <a:off x="514402" y="3028901"/>
            <a:ext cx="525065" cy="525065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热区"/>
          <p:cNvSpPr/>
          <p:nvPr/>
        </p:nvSpPr>
        <p:spPr>
          <a:xfrm>
            <a:off x="386383" y="2835563"/>
            <a:ext cx="7715134" cy="59742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同心圆 50"/>
          <p:cNvSpPr/>
          <p:nvPr/>
        </p:nvSpPr>
        <p:spPr>
          <a:xfrm>
            <a:off x="514402" y="3515784"/>
            <a:ext cx="525065" cy="525065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2" name="热区"/>
          <p:cNvSpPr/>
          <p:nvPr/>
        </p:nvSpPr>
        <p:spPr>
          <a:xfrm>
            <a:off x="386383" y="3652234"/>
            <a:ext cx="7715134" cy="59742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同心圆 52"/>
          <p:cNvSpPr/>
          <p:nvPr/>
        </p:nvSpPr>
        <p:spPr>
          <a:xfrm>
            <a:off x="4390562" y="4335362"/>
            <a:ext cx="525065" cy="525065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4" name="热区"/>
          <p:cNvSpPr/>
          <p:nvPr/>
        </p:nvSpPr>
        <p:spPr>
          <a:xfrm>
            <a:off x="386383" y="4487755"/>
            <a:ext cx="7715134" cy="59742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同心圆 54"/>
          <p:cNvSpPr/>
          <p:nvPr/>
        </p:nvSpPr>
        <p:spPr>
          <a:xfrm>
            <a:off x="514402" y="5505748"/>
            <a:ext cx="525065" cy="525065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6" name="热区"/>
          <p:cNvSpPr/>
          <p:nvPr/>
        </p:nvSpPr>
        <p:spPr>
          <a:xfrm>
            <a:off x="386382" y="5310733"/>
            <a:ext cx="7858025" cy="67147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0" name="按钮-External Player">
            <a:hlinkClick r:id="rId8" action="ppaction://hlinkfile"/>
          </p:cNvPr>
          <p:cNvPicPr>
            <a:picLocks noChangeAspect="1" noChangeArrowheads="1"/>
          </p:cNvPicPr>
          <p:nvPr/>
        </p:nvPicPr>
        <p:blipFill>
          <a:blip r:embed="rId9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510556" y="2107876"/>
            <a:ext cx="1521337" cy="308000"/>
          </a:xfrm>
          <a:prstGeom prst="rect">
            <a:avLst/>
          </a:prstGeom>
        </p:spPr>
      </p:pic>
      <p:pic>
        <p:nvPicPr>
          <p:cNvPr id="32" name="U2_Script1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-890028" y="1969763"/>
            <a:ext cx="609600" cy="6096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audio>
              <p:cMediaNode vol="80000">
                <p:cTn id="2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2"/>
                </p:tgtEl>
              </p:cMediaNode>
            </p:audio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">
                                      <p:cBhvr>
                                        <p:cTn id="31" dur="1" fill="hold"/>
                                        <p:tgtEl>
                                          <p:spTgt spid="3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6" dur="1" fill="hold"/>
                                        <p:tgtEl>
                                          <p:spTgt spid="3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stop">
                                      <p:cBhvr>
                                        <p:cTn id="41" dur="1" fill="hold"/>
                                        <p:tgtEl>
                                          <p:spTgt spid="3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</p:childTnLst>
        </p:cTn>
      </p:par>
    </p:tnLst>
    <p:bldLst>
      <p:bldP spid="18" grpId="0" animBg="1"/>
      <p:bldP spid="51" grpId="0" animBg="1"/>
      <p:bldP spid="53" grpId="0" animBg="1"/>
      <p:bldP spid="5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solidFill>
            <a:srgbClr val="FFDD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>
                <a:solidFill>
                  <a:srgbClr val="AF88B6"/>
                </a:solidFill>
                <a:latin typeface="+mj-lt"/>
              </a:rPr>
              <a:t>Section A Long Conversation</a:t>
            </a:r>
            <a:r>
              <a:rPr lang="en-US" altLang="zh-CN" sz="1600" b="1" dirty="0">
                <a:solidFill>
                  <a:schemeClr val="tx1"/>
                </a:solidFill>
                <a:latin typeface="+mj-lt"/>
              </a:rPr>
              <a:t>        </a:t>
            </a:r>
            <a:r>
              <a:rPr lang="en-US" altLang="zh-CN" sz="1600" b="1" dirty="0">
                <a:solidFill>
                  <a:srgbClr val="515672"/>
                </a:solidFill>
                <a:latin typeface="+mj-lt"/>
              </a:rPr>
              <a:t>Section B Passage</a:t>
            </a:r>
            <a:endParaRPr lang="zh-CN" altLang="en-US" sz="1600" b="1" dirty="0">
              <a:solidFill>
                <a:srgbClr val="515672"/>
              </a:solidFill>
              <a:latin typeface="+mj-lt"/>
            </a:endParaRPr>
          </a:p>
        </p:txBody>
      </p:sp>
      <p:grpSp>
        <p:nvGrpSpPr>
          <p:cNvPr id="35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36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热区"/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8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41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热区">
              <a:hlinkClick r:id="" action="ppaction://hlinkshowjump?jump=previousslide"/>
            </p:cNvPr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44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热区">
              <a:hlinkClick r:id="" action="ppaction://hlinkshowjump?jump=endshow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btn-Part 1">
            <a:hlinkClick r:id="rId1" action="ppaction://hlinksldjump"/>
          </p:cNvPr>
          <p:cNvSpPr/>
          <p:nvPr/>
        </p:nvSpPr>
        <p:spPr>
          <a:xfrm>
            <a:off x="2767608" y="518939"/>
            <a:ext cx="1516360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btn-Part 1">
            <a:hlinkClick r:id="rId2" action="ppaction://hlinksldjump"/>
          </p:cNvPr>
          <p:cNvSpPr/>
          <p:nvPr/>
        </p:nvSpPr>
        <p:spPr>
          <a:xfrm>
            <a:off x="121636" y="499889"/>
            <a:ext cx="2290123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1" name="按钮-Script">
            <a:hlinkClick r:id="rId3" action="ppaction://hlinkpres?slideindex=1&amp;slidetitle="/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3067800" y="2107876"/>
            <a:ext cx="904875" cy="333375"/>
          </a:xfrm>
          <a:prstGeom prst="rect">
            <a:avLst/>
          </a:prstGeom>
        </p:spPr>
      </p:pic>
      <p:pic>
        <p:nvPicPr>
          <p:cNvPr id="32" name="播放按钮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24086" y="2107876"/>
            <a:ext cx="295275" cy="304800"/>
          </a:xfrm>
          <a:prstGeom prst="rect">
            <a:avLst/>
          </a:prstGeom>
        </p:spPr>
      </p:pic>
      <p:pic>
        <p:nvPicPr>
          <p:cNvPr id="33" name="暂停按钮"/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84126" y="2107876"/>
            <a:ext cx="295275" cy="304800"/>
          </a:xfrm>
          <a:prstGeom prst="rect">
            <a:avLst/>
          </a:prstGeom>
        </p:spPr>
      </p:pic>
      <p:pic>
        <p:nvPicPr>
          <p:cNvPr id="39" name="停止按钮"/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144166" y="2107876"/>
            <a:ext cx="295275" cy="304800"/>
          </a:xfrm>
          <a:prstGeom prst="rect">
            <a:avLst/>
          </a:prstGeom>
        </p:spPr>
      </p:pic>
      <p:pic>
        <p:nvPicPr>
          <p:cNvPr id="40" name="按钮-External Player">
            <a:hlinkClick r:id="rId8" action="ppaction://hlinkfile"/>
          </p:cNvPr>
          <p:cNvPicPr>
            <a:picLocks noChangeAspect="1" noChangeArrowheads="1"/>
          </p:cNvPicPr>
          <p:nvPr/>
        </p:nvPicPr>
        <p:blipFill>
          <a:blip r:embed="rId9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510556" y="2107876"/>
            <a:ext cx="1521337" cy="308000"/>
          </a:xfrm>
          <a:prstGeom prst="rect">
            <a:avLst/>
          </a:prstGeom>
        </p:spPr>
      </p:pic>
      <p:sp>
        <p:nvSpPr>
          <p:cNvPr id="46" name="文本框 45"/>
          <p:cNvSpPr txBox="1"/>
          <p:nvPr/>
        </p:nvSpPr>
        <p:spPr>
          <a:xfrm>
            <a:off x="326366" y="1126172"/>
            <a:ext cx="85668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000" b="1" spc="-10" dirty="0">
                <a:latin typeface="+mj-lt"/>
              </a:rPr>
              <a:t>Directions: </a:t>
            </a:r>
            <a:r>
              <a:rPr lang="en-US" altLang="zh-CN" sz="2000" i="1" spc="-10" dirty="0">
                <a:latin typeface="+mj-lt"/>
              </a:rPr>
              <a:t>In this section, you will hear a passage. At the end of the passage, you will</a:t>
            </a:r>
            <a:r>
              <a:rPr lang="en-US" altLang="zh-CN" sz="2000" i="1" dirty="0">
                <a:latin typeface="+mj-lt"/>
              </a:rPr>
              <a:t> hear three or four questions. Both the passage and the questions will be spoken only once. After you hear a question, choose the best answer.</a:t>
            </a:r>
            <a:endParaRPr lang="zh-CN" altLang="en-US" sz="2000" dirty="0">
              <a:latin typeface="+mj-lt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323850" y="2398812"/>
            <a:ext cx="6675225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2000" b="1" dirty="0">
                <a:latin typeface="+mj-lt"/>
              </a:rPr>
              <a:t>Questions 5 to 7 are based on the passage you have just heard.</a:t>
            </a:r>
            <a:endParaRPr lang="en-US" altLang="zh-CN" sz="2000" b="1" dirty="0">
              <a:latin typeface="+mj-lt"/>
            </a:endParaRPr>
          </a:p>
          <a:p>
            <a:r>
              <a:rPr lang="en-US" altLang="zh-CN" sz="2000" b="1" dirty="0"/>
              <a:t>5. </a:t>
            </a:r>
            <a:endParaRPr lang="en-US" altLang="zh-CN" sz="2000" b="1" dirty="0"/>
          </a:p>
          <a:p>
            <a:pPr>
              <a:spcBef>
                <a:spcPts val="600"/>
              </a:spcBef>
            </a:pPr>
            <a:endParaRPr lang="en-US" altLang="zh-CN" sz="2000" b="1" dirty="0"/>
          </a:p>
          <a:p>
            <a:pPr>
              <a:spcBef>
                <a:spcPts val="1200"/>
              </a:spcBef>
            </a:pPr>
            <a:r>
              <a:rPr lang="en-US" altLang="zh-CN" sz="2000" b="1" dirty="0"/>
              <a:t>6. 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endParaRPr lang="en-US" altLang="zh-CN" sz="2000" dirty="0"/>
          </a:p>
          <a:p>
            <a:pPr>
              <a:spcBef>
                <a:spcPts val="1200"/>
              </a:spcBef>
            </a:pPr>
            <a:r>
              <a:rPr lang="en-US" altLang="zh-CN" sz="2000" b="1" dirty="0"/>
              <a:t>7. </a:t>
            </a:r>
            <a:endParaRPr lang="en-US" altLang="zh-CN" sz="2000" dirty="0"/>
          </a:p>
        </p:txBody>
      </p:sp>
      <p:sp>
        <p:nvSpPr>
          <p:cNvPr id="49" name="文本框 48"/>
          <p:cNvSpPr txBox="1"/>
          <p:nvPr/>
        </p:nvSpPr>
        <p:spPr>
          <a:xfrm>
            <a:off x="592510" y="2398812"/>
            <a:ext cx="5070619" cy="35548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</a:pPr>
            <a:endParaRPr lang="en-US" altLang="zh-CN" sz="2000" dirty="0"/>
          </a:p>
          <a:p>
            <a:r>
              <a:rPr lang="en-US" altLang="zh-CN" sz="2000" dirty="0"/>
              <a:t>A. Traditional sports.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C. Sports meetings.</a:t>
            </a:r>
            <a:endParaRPr lang="en-US" altLang="zh-CN" sz="2000" dirty="0"/>
          </a:p>
          <a:p>
            <a:pPr>
              <a:spcBef>
                <a:spcPts val="1200"/>
              </a:spcBef>
            </a:pPr>
            <a:r>
              <a:rPr lang="en-US" altLang="zh-CN" sz="2000" dirty="0"/>
              <a:t>A. Skiing.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C. Jumping.</a:t>
            </a:r>
            <a:endParaRPr lang="en-US" altLang="zh-CN" sz="2000" dirty="0"/>
          </a:p>
          <a:p>
            <a:pPr>
              <a:spcBef>
                <a:spcPts val="1200"/>
              </a:spcBef>
            </a:pPr>
            <a:r>
              <a:rPr lang="en-US" altLang="zh-CN" sz="2000" dirty="0"/>
              <a:t>A. To experience great excitement.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B. To challenge themselves mentally and physically.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C. To experience and enjoy fears.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D. To have a deeper connection to nature.</a:t>
            </a:r>
            <a:endParaRPr lang="zh-CN" altLang="en-US" sz="2000" dirty="0"/>
          </a:p>
        </p:txBody>
      </p:sp>
      <p:sp>
        <p:nvSpPr>
          <p:cNvPr id="48" name="文本框 47"/>
          <p:cNvSpPr txBox="1"/>
          <p:nvPr/>
        </p:nvSpPr>
        <p:spPr>
          <a:xfrm>
            <a:off x="4471417" y="2398812"/>
            <a:ext cx="211468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</a:pPr>
            <a:endParaRPr lang="en-US" altLang="zh-CN" sz="2000" dirty="0"/>
          </a:p>
          <a:p>
            <a:r>
              <a:rPr lang="en-US" altLang="zh-CN" sz="2000" dirty="0"/>
              <a:t>B. Adventure sports.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D. Youth sports.</a:t>
            </a:r>
            <a:endParaRPr lang="en-US" altLang="zh-CN" sz="2000" dirty="0"/>
          </a:p>
          <a:p>
            <a:pPr>
              <a:spcBef>
                <a:spcPts val="1200"/>
              </a:spcBef>
            </a:pPr>
            <a:r>
              <a:rPr lang="en-US" altLang="zh-CN" sz="2000" dirty="0"/>
              <a:t>B. Biking.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D. Climbing.</a:t>
            </a:r>
            <a:endParaRPr lang="zh-CN" altLang="en-US" sz="2000" dirty="0"/>
          </a:p>
        </p:txBody>
      </p:sp>
      <p:sp>
        <p:nvSpPr>
          <p:cNvPr id="22" name="同心圆 21"/>
          <p:cNvSpPr/>
          <p:nvPr/>
        </p:nvSpPr>
        <p:spPr>
          <a:xfrm>
            <a:off x="4387925" y="2655962"/>
            <a:ext cx="525065" cy="525065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3" name="热区"/>
          <p:cNvSpPr/>
          <p:nvPr/>
        </p:nvSpPr>
        <p:spPr>
          <a:xfrm>
            <a:off x="382934" y="2787504"/>
            <a:ext cx="6333008" cy="658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同心圆 51"/>
          <p:cNvSpPr/>
          <p:nvPr/>
        </p:nvSpPr>
        <p:spPr>
          <a:xfrm>
            <a:off x="505941" y="3510533"/>
            <a:ext cx="525065" cy="525065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3" name="热区"/>
          <p:cNvSpPr/>
          <p:nvPr/>
        </p:nvSpPr>
        <p:spPr>
          <a:xfrm>
            <a:off x="382934" y="3624808"/>
            <a:ext cx="5485210" cy="658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同心圆 53"/>
          <p:cNvSpPr/>
          <p:nvPr/>
        </p:nvSpPr>
        <p:spPr>
          <a:xfrm>
            <a:off x="505941" y="5083596"/>
            <a:ext cx="525065" cy="525065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5" name="热区"/>
          <p:cNvSpPr/>
          <p:nvPr/>
        </p:nvSpPr>
        <p:spPr>
          <a:xfrm>
            <a:off x="382934" y="4516345"/>
            <a:ext cx="5341194" cy="13418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" name="U2_Script2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-1108483" y="1969763"/>
            <a:ext cx="609600" cy="6096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0"/>
                </p:tgtEl>
              </p:cMediaNode>
            </p:audio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">
                                      <p:cBhvr>
                                        <p:cTn id="25" dur="1" fill="hold"/>
                                        <p:tgtEl>
                                          <p:spTgt spid="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0" dur="1" fill="hold"/>
                                        <p:tgtEl>
                                          <p:spTgt spid="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stop">
                                      <p:cBhvr>
                                        <p:cTn id="35" dur="1" fill="hold"/>
                                        <p:tgtEl>
                                          <p:spTgt spid="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</p:childTnLst>
        </p:cTn>
      </p:par>
    </p:tnLst>
    <p:bldLst>
      <p:bldP spid="22" grpId="0" animBg="1"/>
      <p:bldP spid="52" grpId="0" animBg="1"/>
      <p:bldP spid="54" grpId="0" animBg="1"/>
    </p:bldLst>
  </p:timing>
</p:sld>
</file>

<file path=ppt/theme/theme1.xml><?xml version="1.0" encoding="utf-8"?>
<a:theme xmlns:a="http://schemas.openxmlformats.org/drawingml/2006/main" name="Office 主题">
  <a:themeElements>
    <a:clrScheme name="进阶视听说">
      <a:dk1>
        <a:sysClr val="windowText" lastClr="000000"/>
      </a:dk1>
      <a:lt1>
        <a:sysClr val="window" lastClr="FFFFFF"/>
      </a:lt1>
      <a:dk2>
        <a:srgbClr val="582957"/>
      </a:dk2>
      <a:lt2>
        <a:srgbClr val="EEECE1"/>
      </a:lt2>
      <a:accent1>
        <a:srgbClr val="4F81BD"/>
      </a:accent1>
      <a:accent2>
        <a:srgbClr val="C0504D"/>
      </a:accent2>
      <a:accent3>
        <a:srgbClr val="88BB16"/>
      </a:accent3>
      <a:accent4>
        <a:srgbClr val="AF88B6"/>
      </a:accent4>
      <a:accent5>
        <a:srgbClr val="4BACC6"/>
      </a:accent5>
      <a:accent6>
        <a:srgbClr val="FEE200"/>
      </a:accent6>
      <a:hlink>
        <a:srgbClr val="0000FF"/>
      </a:hlink>
      <a:folHlink>
        <a:srgbClr val="800080"/>
      </a:folHlink>
    </a:clrScheme>
    <a:fontScheme name="进阶试听说">
      <a:majorFont>
        <a:latin typeface="Roboto Condensed"/>
        <a:ea typeface="微软雅黑"/>
        <a:cs typeface=""/>
      </a:majorFont>
      <a:minorFont>
        <a:latin typeface="Neuto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1573</Words>
  <Application>WPS 演示</Application>
  <PresentationFormat>全屏显示(4:3)</PresentationFormat>
  <Paragraphs>60</Paragraphs>
  <Slides>2</Slides>
  <Notes>1</Notes>
  <HiddenSlides>0</HiddenSlides>
  <MMClips>2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宋体</vt:lpstr>
      <vt:lpstr>Wingdings</vt:lpstr>
      <vt:lpstr>等线</vt:lpstr>
      <vt:lpstr>Neuton</vt:lpstr>
      <vt:lpstr>Roboto Condensed</vt:lpstr>
      <vt:lpstr>微软雅黑</vt:lpstr>
      <vt:lpstr>Arial Unicode MS</vt:lpstr>
      <vt:lpstr>Calibri</vt:lpstr>
      <vt:lpstr>Office 主题</vt:lpstr>
      <vt:lpstr>PowerPoint 演示文稿</vt:lpstr>
      <vt:lpstr>PowerPoint 演示文稿</vt:lpstr>
    </vt:vector>
  </TitlesOfParts>
  <Company>cmet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old9</dc:creator>
  <cp:lastModifiedBy>别急躁</cp:lastModifiedBy>
  <cp:revision>220</cp:revision>
  <dcterms:created xsi:type="dcterms:W3CDTF">2017-12-23T09:29:00Z</dcterms:created>
  <dcterms:modified xsi:type="dcterms:W3CDTF">2024-08-27T04:57:36Z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834DF18D22624A9D88F6DF398C6D3430_13</vt:lpwstr>
  </property>
  <property fmtid="{D5CDD505-2E9C-101B-9397-08002B2CF9AE}" pid="3" name="KSOProductBuildVer">
    <vt:lpwstr>2052-12.1.0.17857</vt:lpwstr>
  </property>
</Properties>
</file>