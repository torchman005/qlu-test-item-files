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9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embeddedFontLst>
    <p:embeddedFont>
      <p:font typeface="Neuton" panose="00000500000000000000" charset="0"/>
      <p:regular r:id="rId16"/>
      <p:bold r:id="rId17"/>
      <p:italic r:id="rId18"/>
    </p:embeddedFont>
    <p:embeddedFont>
      <p:font typeface="Roboto Condensed" panose="02000000000000000000" charset="0"/>
      <p:regular r:id="rId19"/>
      <p:bold r:id="rId20"/>
      <p:italic r:id="rId21"/>
    </p:embeddedFont>
    <p:embeddedFont>
      <p:font typeface="微软雅黑" panose="020B050302020402020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15672"/>
    <a:srgbClr val="FFDD33"/>
    <a:srgbClr val="F2F2F2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 varScale="1">
        <p:scale>
          <a:sx n="100" d="100"/>
          <a:sy n="100" d="100"/>
        </p:scale>
        <p:origin x="1698" y="90"/>
      </p:cViewPr>
      <p:guideLst>
        <p:guide orient="horz" pos="2144"/>
        <p:guide pos="291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60"/>
        <p:guide pos="218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 III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for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2160240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Before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le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743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While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fter You Watch dir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24744"/>
            <a:ext cx="8569325" cy="576262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2204864"/>
            <a:ext cx="8569325" cy="3960986"/>
          </a:xfrm>
        </p:spPr>
        <p:txBody>
          <a:bodyPr/>
          <a:lstStyle>
            <a:lvl1pPr marL="217805" indent="-217805"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1" name="标题 1"/>
          <p:cNvSpPr txBox="1"/>
          <p:nvPr userDrawn="1"/>
        </p:nvSpPr>
        <p:spPr>
          <a:xfrm>
            <a:off x="1835696" y="0"/>
            <a:ext cx="1948904" cy="476672"/>
          </a:xfrm>
          <a:prstGeom prst="rect">
            <a:avLst/>
          </a:prstGeom>
          <a:solidFill>
            <a:srgbClr val="FFDD33"/>
          </a:solidFill>
        </p:spPr>
        <p:txBody>
          <a:bodyPr vert="horz" lIns="144000" tIns="45720" rIns="91440" bIns="45720" rtlCol="0" anchor="ctr">
            <a:noAutofit/>
          </a:bodyPr>
          <a:lstStyle>
            <a:lvl1pPr algn="l"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1567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After You Watch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51567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标题 1"/>
          <p:cNvSpPr txBox="1"/>
          <p:nvPr userDrawn="1"/>
        </p:nvSpPr>
        <p:spPr>
          <a:xfrm>
            <a:off x="179512" y="0"/>
            <a:ext cx="1656184" cy="47667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vert="horz" lIns="14400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III Video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microsoft.com/office/2007/relationships/media" Target="ppt/slides/sleepwalk.mp3" TargetMode="External"/><Relationship Id="rId8" Type="http://schemas.openxmlformats.org/officeDocument/2006/relationships/audio" Target="ppt/slides/sleepwalk.mp3" TargetMode="External"/><Relationship Id="rId7" Type="http://schemas.microsoft.com/office/2007/relationships/media" Target="ppt/slides/stressed.mp3" TargetMode="External"/><Relationship Id="rId6" Type="http://schemas.openxmlformats.org/officeDocument/2006/relationships/audio" Target="ppt/slides/stressed.mp3" TargetMode="External"/><Relationship Id="rId5" Type="http://schemas.microsoft.com/office/2007/relationships/media" Target="ppt/slides/scientist.mp3" TargetMode="External"/><Relationship Id="rId4" Type="http://schemas.openxmlformats.org/officeDocument/2006/relationships/audio" Target="ppt/slides/scientist.mp3" TargetMode="External"/><Relationship Id="rId3" Type="http://schemas.openxmlformats.org/officeDocument/2006/relationships/image" Target="../media/image3.emf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2.xml"/><Relationship Id="rId2" Type="http://schemas.microsoft.com/office/2007/relationships/media" Target="ppt/slides/alcohol.mp3" TargetMode="External"/><Relationship Id="rId19" Type="http://schemas.openxmlformats.org/officeDocument/2006/relationships/slide" Target="slide2.xml"/><Relationship Id="rId18" Type="http://schemas.openxmlformats.org/officeDocument/2006/relationships/image" Target="../media/image7.png"/><Relationship Id="rId17" Type="http://schemas.microsoft.com/office/2007/relationships/media" Target="ppt/slides/words-1.mp3" TargetMode="External"/><Relationship Id="rId16" Type="http://schemas.openxmlformats.org/officeDocument/2006/relationships/audio" Target="ppt/slides/words-1.mp3" TargetMode="External"/><Relationship Id="rId15" Type="http://schemas.openxmlformats.org/officeDocument/2006/relationships/image" Target="../media/image6.emf"/><Relationship Id="rId14" Type="http://schemas.openxmlformats.org/officeDocument/2006/relationships/image" Target="../media/image5.emf"/><Relationship Id="rId13" Type="http://schemas.openxmlformats.org/officeDocument/2006/relationships/image" Target="../media/image4.emf"/><Relationship Id="rId12" Type="http://schemas.openxmlformats.org/officeDocument/2006/relationships/slide" Target="slide3.xml"/><Relationship Id="rId11" Type="http://schemas.microsoft.com/office/2007/relationships/media" Target="ppt/slides/hopefully.mp3" TargetMode="External"/><Relationship Id="rId10" Type="http://schemas.openxmlformats.org/officeDocument/2006/relationships/audio" Target="ppt/slides/hopefully.mp3" TargetMode="External"/><Relationship Id="rId1" Type="http://schemas.openxmlformats.org/officeDocument/2006/relationships/audio" Target="ppt/slides/alcohol.mp3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" Target="slide4.xml"/><Relationship Id="rId8" Type="http://schemas.openxmlformats.org/officeDocument/2006/relationships/hyperlink" Target="B1%20Unit3.wmv" TargetMode="External"/><Relationship Id="rId7" Type="http://schemas.openxmlformats.org/officeDocument/2006/relationships/slide" Target="slide7.xml"/><Relationship Id="rId6" Type="http://schemas.openxmlformats.org/officeDocument/2006/relationships/slide" Target="slide5.xml"/><Relationship Id="rId5" Type="http://schemas.openxmlformats.org/officeDocument/2006/relationships/image" Target="../media/image9.emf"/><Relationship Id="rId4" Type="http://schemas.openxmlformats.org/officeDocument/2006/relationships/hyperlink" Target="B1%20Unit3-sub.mp4" TargetMode="External"/><Relationship Id="rId3" Type="http://schemas.openxmlformats.org/officeDocument/2006/relationships/image" Target="../media/image8.png"/><Relationship Id="rId2" Type="http://schemas.microsoft.com/office/2007/relationships/media" Target="ppt/slides/B1%20Unit3.wmv" TargetMode="Externa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3.xml"/><Relationship Id="rId1" Type="http://schemas.openxmlformats.org/officeDocument/2006/relationships/video" Target="ppt/slides/B1%20Unit3.wmv" TargetMode="Externa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slide" Target="slide5.xml"/><Relationship Id="rId7" Type="http://schemas.openxmlformats.org/officeDocument/2006/relationships/image" Target="../media/image9.emf"/><Relationship Id="rId6" Type="http://schemas.openxmlformats.org/officeDocument/2006/relationships/hyperlink" Target="B1%20Unit3-sub.mp4" TargetMode="External"/><Relationship Id="rId5" Type="http://schemas.openxmlformats.org/officeDocument/2006/relationships/image" Target="../media/image8.png"/><Relationship Id="rId4" Type="http://schemas.microsoft.com/office/2007/relationships/media" Target="ppt/slides/B1%20Unit3.wmv" TargetMode="External"/><Relationship Id="rId3" Type="http://schemas.openxmlformats.org/officeDocument/2006/relationships/video" Target="ppt/slides/B1%20Unit3.wmv" TargetMode="External"/><Relationship Id="rId2" Type="http://schemas.openxmlformats.org/officeDocument/2006/relationships/slide" Target="slide7.xml"/><Relationship Id="rId10" Type="http://schemas.openxmlformats.org/officeDocument/2006/relationships/notesSlide" Target="../notesSlides/notesSlide5.xml"/><Relationship Id="rId1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slide" Target="slide5.xml"/><Relationship Id="rId7" Type="http://schemas.openxmlformats.org/officeDocument/2006/relationships/image" Target="../media/image9.emf"/><Relationship Id="rId6" Type="http://schemas.openxmlformats.org/officeDocument/2006/relationships/hyperlink" Target="B1%20Unit3-sub.mp4" TargetMode="External"/><Relationship Id="rId5" Type="http://schemas.openxmlformats.org/officeDocument/2006/relationships/image" Target="../media/image8.png"/><Relationship Id="rId4" Type="http://schemas.microsoft.com/office/2007/relationships/media" Target="ppt/slides/B1%20Unit3.wmv" TargetMode="External"/><Relationship Id="rId3" Type="http://schemas.openxmlformats.org/officeDocument/2006/relationships/video" Target="ppt/slides/B1%20Unit3.wmv" TargetMode="External"/><Relationship Id="rId2" Type="http://schemas.openxmlformats.org/officeDocument/2006/relationships/slide" Target="slide7.xml"/><Relationship Id="rId10" Type="http://schemas.openxmlformats.org/officeDocument/2006/relationships/notesSlide" Target="../notesSlides/notesSlide6.xml"/><Relationship Id="rId1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" Target="slide4.xml"/><Relationship Id="rId8" Type="http://schemas.openxmlformats.org/officeDocument/2006/relationships/slide" Target="slide5.xml"/><Relationship Id="rId7" Type="http://schemas.openxmlformats.org/officeDocument/2006/relationships/image" Target="../media/image10.emf"/><Relationship Id="rId6" Type="http://schemas.openxmlformats.org/officeDocument/2006/relationships/hyperlink" Target="Script1.pptx" TargetMode="External"/><Relationship Id="rId5" Type="http://schemas.openxmlformats.org/officeDocument/2006/relationships/image" Target="../media/image9.emf"/><Relationship Id="rId4" Type="http://schemas.openxmlformats.org/officeDocument/2006/relationships/hyperlink" Target="B1%20Unit3-sub.mp4" TargetMode="External"/><Relationship Id="rId3" Type="http://schemas.openxmlformats.org/officeDocument/2006/relationships/image" Target="../media/image8.png"/><Relationship Id="rId2" Type="http://schemas.microsoft.com/office/2007/relationships/media" Target="ppt/slides/B1%20Unit3.wmv" TargetMode="Externa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3.xml"/><Relationship Id="rId10" Type="http://schemas.openxmlformats.org/officeDocument/2006/relationships/slide" Target="slide7.xml"/><Relationship Id="rId1" Type="http://schemas.openxmlformats.org/officeDocument/2006/relationships/video" Target="ppt/slides/B1%20Unit3.wmv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文本占位符 25"/>
          <p:cNvSpPr>
            <a:spLocks noGrp="1"/>
          </p:cNvSpPr>
          <p:nvPr>
            <p:ph type="body" sz="quarter" idx="14"/>
          </p:nvPr>
        </p:nvSpPr>
        <p:spPr>
          <a:xfrm>
            <a:off x="90612" y="980729"/>
            <a:ext cx="8569325" cy="5328592"/>
          </a:xfrm>
        </p:spPr>
        <p:txBody>
          <a:bodyPr>
            <a:normAutofit/>
          </a:bodyPr>
          <a:lstStyle/>
          <a:p>
            <a:pPr marL="228600" indent="-228600">
              <a:lnSpc>
                <a:spcPct val="120000"/>
              </a:lnSpc>
              <a:buClr>
                <a:schemeClr val="accent3"/>
              </a:buClr>
            </a:pPr>
            <a:r>
              <a:rPr lang="en-US" altLang="zh-CN" b="1" dirty="0" smtClean="0">
                <a:solidFill>
                  <a:schemeClr val="tx2"/>
                </a:solidFill>
                <a:latin typeface="+mj-lt"/>
              </a:rPr>
              <a:t>Sleepwalking</a:t>
            </a:r>
            <a:endParaRPr lang="en-US" altLang="zh-CN" b="1" dirty="0" smtClean="0">
              <a:solidFill>
                <a:schemeClr val="tx2"/>
              </a:solidFill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Before You Watch</a:t>
            </a:r>
            <a:endParaRPr lang="en-US" altLang="zh-CN" dirty="0" smtClean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While You Watch</a:t>
            </a:r>
            <a:endParaRPr lang="en-US" altLang="zh-CN" dirty="0" smtClean="0">
              <a:latin typeface="+mj-lt"/>
            </a:endParaRPr>
          </a:p>
          <a:p>
            <a:pPr marL="577850" lvl="1">
              <a:lnSpc>
                <a:spcPct val="120000"/>
              </a:lnSpc>
              <a:buClr>
                <a:schemeClr val="accent3"/>
              </a:buClr>
            </a:pPr>
            <a:r>
              <a:rPr lang="en-US" altLang="zh-CN" dirty="0" smtClean="0">
                <a:latin typeface="+mj-lt"/>
              </a:rPr>
              <a:t>After You Watch</a:t>
            </a:r>
            <a:endParaRPr lang="en-US" altLang="zh-CN" dirty="0" smtClean="0">
              <a:latin typeface="+mj-lt"/>
            </a:endParaRPr>
          </a:p>
        </p:txBody>
      </p:sp>
      <p:sp>
        <p:nvSpPr>
          <p:cNvPr id="51" name="btn-Part 1">
            <a:hlinkClick r:id="rId1" action="ppaction://hlinksldjump"/>
          </p:cNvPr>
          <p:cNvSpPr/>
          <p:nvPr/>
        </p:nvSpPr>
        <p:spPr>
          <a:xfrm>
            <a:off x="586160" y="1730524"/>
            <a:ext cx="270227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btn-Part 1">
            <a:hlinkClick r:id="rId2" action="ppaction://hlinksldjump"/>
          </p:cNvPr>
          <p:cNvSpPr/>
          <p:nvPr/>
        </p:nvSpPr>
        <p:spPr>
          <a:xfrm>
            <a:off x="624136" y="2370088"/>
            <a:ext cx="2541677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btn-Part 1">
            <a:hlinkClick r:id="rId3" action="ppaction://hlinksldjump"/>
          </p:cNvPr>
          <p:cNvSpPr/>
          <p:nvPr/>
        </p:nvSpPr>
        <p:spPr>
          <a:xfrm>
            <a:off x="624136" y="2975744"/>
            <a:ext cx="2351051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E:\lab\全新版进阶视听说\PPT\working\P01-13_1327321.jpg"/>
          <p:cNvPicPr>
            <a:picLocks noChangeAspect="1" noChangeArrowheads="1"/>
          </p:cNvPicPr>
          <p:nvPr/>
        </p:nvPicPr>
        <p:blipFill>
          <a:blip r:embed="rId4" cstate="print"/>
          <a:srcRect l="3426" r="2355"/>
          <a:stretch>
            <a:fillRect/>
          </a:stretch>
        </p:blipFill>
        <p:spPr bwMode="auto">
          <a:xfrm>
            <a:off x="3428992" y="1428736"/>
            <a:ext cx="5715040" cy="4036727"/>
          </a:xfrm>
          <a:prstGeom prst="rect">
            <a:avLst/>
          </a:prstGeom>
          <a:noFill/>
        </p:spPr>
      </p:pic>
      <p:sp>
        <p:nvSpPr>
          <p:cNvPr id="16" name="矩形 15"/>
          <p:cNvSpPr/>
          <p:nvPr/>
        </p:nvSpPr>
        <p:spPr>
          <a:xfrm>
            <a:off x="3428992" y="4786322"/>
            <a:ext cx="321471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One in ten people sleepwalk at some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>
                <a:solidFill>
                  <a:schemeClr val="bg1"/>
                </a:solidFill>
              </a:rPr>
              <a:t>point in their lives, say scientists.</a:t>
            </a:r>
            <a:r>
              <a:rPr lang="en-US" altLang="zh-CN" dirty="0" smtClean="0"/>
              <a:t>.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btn-Part 1">
            <a:hlinkClick r:id="rId1" action="ppaction://hlinksldjump"/>
          </p:cNvPr>
          <p:cNvSpPr/>
          <p:nvPr/>
        </p:nvSpPr>
        <p:spPr>
          <a:xfrm>
            <a:off x="357158" y="1068348"/>
            <a:ext cx="2702272" cy="5231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New words and expression 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Prediction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755576" y="1412776"/>
            <a:ext cx="8137599" cy="3159232"/>
          </a:xfrm>
        </p:spPr>
        <p:txBody>
          <a:bodyPr numCol="2" spcCol="900000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 smtClean="0"/>
              <a:t>alcohol</a:t>
            </a:r>
            <a:r>
              <a:rPr lang="en-US" altLang="zh-CN" sz="2400" dirty="0" smtClean="0"/>
              <a:t>  </a:t>
            </a:r>
            <a:r>
              <a:rPr lang="en-US" altLang="zh-CN" sz="2400" i="1" dirty="0" smtClean="0"/>
              <a:t>n. </a:t>
            </a:r>
            <a:r>
              <a:rPr lang="zh-CN" altLang="en-US" sz="2400" dirty="0" smtClean="0"/>
              <a:t>酒，酒精</a:t>
            </a:r>
            <a:endParaRPr lang="zh-CN" altLang="en-US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 smtClean="0"/>
              <a:t>hopefully  </a:t>
            </a:r>
            <a:r>
              <a:rPr lang="en-US" altLang="zh-CN" sz="2400" i="1" dirty="0" smtClean="0"/>
              <a:t>adv.</a:t>
            </a:r>
            <a:r>
              <a:rPr lang="en-US" altLang="zh-CN" sz="2400" dirty="0" smtClean="0"/>
              <a:t> To do something hopefully is to do it with the hope of getting a much desired result. </a:t>
            </a:r>
            <a:r>
              <a:rPr lang="zh-CN" altLang="en-US" sz="2400" dirty="0" smtClean="0"/>
              <a:t>抱有希望地，可望</a:t>
            </a:r>
            <a:endParaRPr lang="zh-CN" altLang="en-US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 smtClean="0"/>
              <a:t>scientist</a:t>
            </a:r>
            <a:r>
              <a:rPr lang="en-US" altLang="zh-CN" sz="2400" dirty="0" smtClean="0"/>
              <a:t>  </a:t>
            </a:r>
            <a:r>
              <a:rPr lang="en-US" altLang="zh-CN" sz="2400" i="1" dirty="0" smtClean="0"/>
              <a:t>n. </a:t>
            </a:r>
            <a:r>
              <a:rPr lang="zh-CN" altLang="en-US" sz="2400" dirty="0" smtClean="0"/>
              <a:t>科学家</a:t>
            </a:r>
            <a:endParaRPr lang="zh-CN" altLang="en-US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 smtClean="0"/>
              <a:t>sleepwalk </a:t>
            </a:r>
            <a:r>
              <a:rPr lang="en-US" altLang="zh-CN" sz="2400" i="1" dirty="0" smtClean="0"/>
              <a:t>v. </a:t>
            </a:r>
            <a:r>
              <a:rPr lang="zh-CN" altLang="en-US" sz="2400" dirty="0" smtClean="0"/>
              <a:t>梦游</a:t>
            </a:r>
            <a:endParaRPr lang="zh-CN" altLang="en-US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b="1" dirty="0" smtClean="0"/>
              <a:t>stressed  </a:t>
            </a:r>
            <a:r>
              <a:rPr lang="en-US" altLang="zh-CN" sz="2400" i="1" dirty="0" smtClean="0"/>
              <a:t>adj. </a:t>
            </a:r>
            <a:r>
              <a:rPr lang="en-US" altLang="zh-CN" sz="2400" dirty="0" smtClean="0"/>
              <a:t>If you feel stressed, you feel tension and anxiety because of difficulties in your life. </a:t>
            </a:r>
            <a:r>
              <a:rPr lang="zh-CN" altLang="en-US" sz="2400" dirty="0" smtClean="0"/>
              <a:t>紧张的，有压力的</a:t>
            </a:r>
            <a:endParaRPr lang="zh-CN" altLang="en-US" sz="2400" dirty="0" smtClean="0"/>
          </a:p>
        </p:txBody>
      </p:sp>
      <p:pic>
        <p:nvPicPr>
          <p:cNvPr id="61" name="alcohol.mp3">
            <a:hlinkClick r:id="" action="ppaction://media"/>
          </p:cNvPr>
          <p:cNvPicPr>
            <a:picLocks noRot="1"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1527076"/>
            <a:ext cx="312701" cy="309438"/>
          </a:xfrm>
          <a:prstGeom prst="rect">
            <a:avLst/>
          </a:prstGeom>
        </p:spPr>
      </p:pic>
      <p:pic>
        <p:nvPicPr>
          <p:cNvPr id="65" name="scientist.mp3">
            <a:hlinkClick r:id="" action="ppaction://media"/>
          </p:cNvPr>
          <p:cNvPicPr>
            <a:picLocks noRot="1"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4025904"/>
            <a:ext cx="312701" cy="309438"/>
          </a:xfrm>
          <a:prstGeom prst="rect">
            <a:avLst/>
          </a:prstGeom>
        </p:spPr>
      </p:pic>
      <p:pic>
        <p:nvPicPr>
          <p:cNvPr id="66" name="stressed.mp3">
            <a:hlinkClick r:id="" action="ppaction://media"/>
          </p:cNvPr>
          <p:cNvPicPr>
            <a:picLocks noRot="1"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link="rId7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19340" y="2071678"/>
            <a:ext cx="312701" cy="309438"/>
          </a:xfrm>
          <a:prstGeom prst="rect">
            <a:avLst/>
          </a:prstGeom>
        </p:spPr>
      </p:pic>
      <p:pic>
        <p:nvPicPr>
          <p:cNvPr id="67" name="sleepwalk.mp3">
            <a:hlinkClick r:id="" action="ppaction://media"/>
          </p:cNvPr>
          <p:cNvPicPr>
            <a:picLocks noRot="1"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link="rId9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7371" y="1525574"/>
            <a:ext cx="312701" cy="309438"/>
          </a:xfrm>
          <a:prstGeom prst="rect">
            <a:avLst/>
          </a:prstGeom>
        </p:spPr>
      </p:pic>
      <p:pic>
        <p:nvPicPr>
          <p:cNvPr id="68" name="hopefully.mp3">
            <a:hlinkClick r:id="" action="ppaction://media"/>
          </p:cNvPr>
          <p:cNvPicPr>
            <a:picLocks noRot="1"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link="rId11"/>
              </p:ext>
            </p:extLst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4883" y="2047992"/>
            <a:ext cx="312701" cy="309438"/>
          </a:xfrm>
          <a:prstGeom prst="rect">
            <a:avLst/>
          </a:prstGeom>
        </p:spPr>
      </p:pic>
      <p:sp>
        <p:nvSpPr>
          <p:cNvPr id="22" name="btn-Part 1">
            <a:hlinkClick r:id="rId12" action="ppaction://hlinksldjump"/>
          </p:cNvPr>
          <p:cNvSpPr/>
          <p:nvPr/>
        </p:nvSpPr>
        <p:spPr>
          <a:xfrm>
            <a:off x="2489200" y="482615"/>
            <a:ext cx="93979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播放按钮"/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1161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" name="暂停按钮"/>
          <p:cNvPicPr>
            <a:picLocks noChangeAspect="1" noChangeArrowheads="1"/>
          </p:cNvPicPr>
          <p:nvPr/>
        </p:nvPicPr>
        <p:blipFill>
          <a:blip r:embed="rId14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37165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停止按钮"/>
          <p:cNvPicPr>
            <a:picLocks noChangeAspect="1" noChangeArrowheads="1"/>
          </p:cNvPicPr>
          <p:nvPr/>
        </p:nvPicPr>
        <p:blipFill>
          <a:blip r:embed="rId1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731696" y="1052736"/>
            <a:ext cx="2952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words-1.mp3">
            <a:hlinkClick r:id="" action="ppaction://media"/>
          </p:cNvPr>
          <p:cNvPicPr>
            <a:picLocks noRot="1"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link="rId17"/>
              </p:ext>
            </p:extLst>
          </p:nvPr>
        </p:nvPicPr>
        <p:blipFill>
          <a:blip r:embed="rId18" cstate="print"/>
          <a:stretch>
            <a:fillRect/>
          </a:stretch>
        </p:blipFill>
        <p:spPr>
          <a:xfrm>
            <a:off x="9235752" y="1052736"/>
            <a:ext cx="304800" cy="304800"/>
          </a:xfrm>
          <a:prstGeom prst="rect">
            <a:avLst/>
          </a:prstGeom>
        </p:spPr>
      </p:pic>
      <p:grpSp>
        <p:nvGrpSpPr>
          <p:cNvPr id="3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btn-Part 1">
            <a:hlinkClick r:id="rId19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audi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  <p:audio>
              <p:cMediaNode>
                <p:cTn id="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  <p:audio>
              <p:cMediaNode>
                <p:cTn id="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6"/>
                </p:tgtEl>
              </p:cMediaNode>
            </p:audio>
            <p:audio>
              <p:cMediaNode>
                <p:cTn id="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7"/>
                </p:tgtEl>
              </p:cMediaNode>
            </p:audio>
            <p:audio>
              <p:cMediaNode>
                <p:cTn id="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New words and expression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  Prediction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/>
          </p:nvPr>
        </p:nvSpPr>
        <p:spPr>
          <a:xfrm>
            <a:off x="323850" y="1124744"/>
            <a:ext cx="8569325" cy="7326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Read </a:t>
            </a:r>
            <a:r>
              <a:rPr lang="en-US" altLang="zh-CN" b="1" dirty="0" smtClean="0"/>
              <a:t>About the video</a:t>
            </a:r>
            <a:r>
              <a:rPr lang="en-US" altLang="zh-CN" dirty="0" smtClean="0"/>
              <a:t>. What do you think is the main cause of sleepwalking? Circle your idea.</a:t>
            </a:r>
            <a:endParaRPr lang="zh-CN" altLang="en-US" dirty="0"/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28596" y="3333646"/>
            <a:ext cx="8391554" cy="20241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altLang="zh-CN" sz="2800" dirty="0" smtClean="0"/>
              <a:t>drinking coffee 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eriod"/>
            </a:pPr>
            <a:r>
              <a:rPr lang="en-US" altLang="zh-CN" sz="2800" dirty="0" smtClean="0"/>
              <a:t>not sleeping enough</a:t>
            </a:r>
            <a:endParaRPr lang="en-US" altLang="zh-CN" sz="2800" dirty="0" smtClean="0"/>
          </a:p>
          <a:p>
            <a:pPr marL="514350" indent="-514350">
              <a:buFont typeface="+mj-lt"/>
              <a:buAutoNum type="alphaLcPeriod"/>
            </a:pPr>
            <a:r>
              <a:rPr lang="en-US" altLang="zh-CN" sz="2800" dirty="0" smtClean="0"/>
              <a:t>stress</a:t>
            </a:r>
            <a:endParaRPr lang="en-US" altLang="zh-CN" sz="2800" dirty="0"/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36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9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圆角矩形 26"/>
          <p:cNvSpPr/>
          <p:nvPr/>
        </p:nvSpPr>
        <p:spPr>
          <a:xfrm>
            <a:off x="357158" y="1928802"/>
            <a:ext cx="8496944" cy="12241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 smtClean="0">
                <a:solidFill>
                  <a:schemeClr val="tx1"/>
                </a:solidFill>
              </a:rPr>
              <a:t>About the video. </a:t>
            </a:r>
            <a:r>
              <a:rPr lang="en-US" altLang="zh-CN" sz="2400" dirty="0" smtClean="0">
                <a:solidFill>
                  <a:schemeClr val="tx1"/>
                </a:solidFill>
              </a:rPr>
              <a:t>The video talks about sleepwalking. When people sleepwalk, they are asleep but they get out of bed and walk around.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21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22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btn-Part 1">
            <a:hlinkClick r:id="rId1" action="ppaction://hlinksldjump"/>
          </p:cNvPr>
          <p:cNvSpPr/>
          <p:nvPr/>
        </p:nvSpPr>
        <p:spPr>
          <a:xfrm>
            <a:off x="63500" y="482615"/>
            <a:ext cx="2298700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btn-Part 1">
            <a:hlinkClick r:id="rId2" action="ppaction://hlinksldjump"/>
          </p:cNvPr>
          <p:cNvSpPr/>
          <p:nvPr/>
        </p:nvSpPr>
        <p:spPr>
          <a:xfrm>
            <a:off x="2489200" y="482615"/>
            <a:ext cx="939792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solidFill>
            <a:srgbClr val="FFDD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A. Watch the video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B. Watch the video again    C. Watch again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4495812"/>
            <a:ext cx="8569325" cy="576262"/>
          </a:xfrm>
        </p:spPr>
        <p:txBody>
          <a:bodyPr>
            <a:noAutofit/>
          </a:bodyPr>
          <a:lstStyle/>
          <a:p>
            <a:r>
              <a:rPr lang="en-US" altLang="zh-CN" sz="2800" dirty="0" smtClean="0">
                <a:latin typeface="+mn-lt"/>
              </a:rPr>
              <a:t>What do you think is the main cause of sleepwalking?</a:t>
            </a:r>
            <a:endParaRPr lang="zh-CN" altLang="en-US" sz="2800" dirty="0" smtClean="0">
              <a:latin typeface="+mn-lt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323850" y="5081788"/>
            <a:ext cx="8569325" cy="141904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altLang="zh-CN" sz="2400" dirty="0" smtClean="0"/>
              <a:t>drinking coffee </a:t>
            </a:r>
            <a:endParaRPr lang="en-US" altLang="zh-CN" sz="2400" dirty="0" smtClean="0"/>
          </a:p>
          <a:p>
            <a:pPr marL="514350" indent="-514350">
              <a:buFont typeface="+mj-lt"/>
              <a:buAutoNum type="alphaLcPeriod"/>
            </a:pPr>
            <a:r>
              <a:rPr lang="en-US" altLang="zh-CN" sz="2400" dirty="0" smtClean="0"/>
              <a:t>not sleeping enough</a:t>
            </a:r>
            <a:endParaRPr lang="en-US" altLang="zh-CN" sz="2400" dirty="0" smtClean="0"/>
          </a:p>
          <a:p>
            <a:pPr marL="514350" indent="-514350">
              <a:buFont typeface="+mj-lt"/>
              <a:buAutoNum type="alphaLcPeriod"/>
            </a:pPr>
            <a:r>
              <a:rPr lang="en-US" altLang="zh-CN" sz="2400" dirty="0" smtClean="0"/>
              <a:t>stress</a:t>
            </a:r>
            <a:endParaRPr lang="en-US" altLang="zh-CN" sz="2400" dirty="0" smtClean="0"/>
          </a:p>
        </p:txBody>
      </p:sp>
      <p:pic>
        <p:nvPicPr>
          <p:cNvPr id="25" name="B1 Unit3.wmv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467543" y="1047608"/>
            <a:ext cx="5676093" cy="3192802"/>
          </a:xfrm>
          <a:prstGeom prst="rect">
            <a:avLst/>
          </a:prstGeom>
        </p:spPr>
      </p:pic>
      <p:pic>
        <p:nvPicPr>
          <p:cNvPr id="26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86512" y="3917888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同心圆 26"/>
          <p:cNvSpPr/>
          <p:nvPr/>
        </p:nvSpPr>
        <p:spPr>
          <a:xfrm>
            <a:off x="260721" y="5526102"/>
            <a:ext cx="3239709" cy="525065"/>
          </a:xfrm>
          <a:prstGeom prst="donut">
            <a:avLst>
              <a:gd name="adj" fmla="val 14931"/>
            </a:avLst>
          </a:prstGeom>
          <a:solidFill>
            <a:srgbClr val="4F81BD">
              <a:alpha val="6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btn-Part 1">
            <a:hlinkClick r:id="rId6" action="ppaction://hlinksldjump"/>
          </p:cNvPr>
          <p:cNvSpPr/>
          <p:nvPr/>
        </p:nvSpPr>
        <p:spPr>
          <a:xfrm>
            <a:off x="1799771" y="482615"/>
            <a:ext cx="2061029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btn-Part 1">
            <a:hlinkClick r:id="rId7" action="ppaction://hlinksldjump"/>
          </p:cNvPr>
          <p:cNvSpPr/>
          <p:nvPr/>
        </p:nvSpPr>
        <p:spPr>
          <a:xfrm>
            <a:off x="4005944" y="482615"/>
            <a:ext cx="1306286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7774906" y="3917888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 smtClean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grpSp>
        <p:nvGrpSpPr>
          <p:cNvPr id="4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1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7" name="按钮-External Player">
            <a:hlinkClick r:id="rId8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86512" y="3524188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8" name="TextBox 47"/>
          <p:cNvSpPr txBox="1"/>
          <p:nvPr/>
        </p:nvSpPr>
        <p:spPr>
          <a:xfrm>
            <a:off x="7774906" y="3524188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smtClean="0">
                <a:latin typeface="+mj-lt"/>
              </a:rPr>
              <a:t>(Subtitles Off)</a:t>
            </a:r>
            <a:endParaRPr lang="zh-CN" altLang="en-US" sz="1200">
              <a:latin typeface="+mj-lt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57158" y="5153362"/>
            <a:ext cx="2857520" cy="1276034"/>
            <a:chOff x="928662" y="4786322"/>
            <a:chExt cx="2286016" cy="1276034"/>
          </a:xfrm>
        </p:grpSpPr>
        <p:sp>
          <p:nvSpPr>
            <p:cNvPr id="28" name="热区"/>
            <p:cNvSpPr/>
            <p:nvPr/>
          </p:nvSpPr>
          <p:spPr>
            <a:xfrm>
              <a:off x="928662" y="4786322"/>
              <a:ext cx="1785950" cy="3600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热区"/>
            <p:cNvSpPr/>
            <p:nvPr/>
          </p:nvSpPr>
          <p:spPr>
            <a:xfrm>
              <a:off x="928662" y="5214950"/>
              <a:ext cx="2286016" cy="3600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热区"/>
            <p:cNvSpPr/>
            <p:nvPr/>
          </p:nvSpPr>
          <p:spPr>
            <a:xfrm>
              <a:off x="928662" y="5702316"/>
              <a:ext cx="785818" cy="3600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btn-Part 1">
            <a:hlinkClick r:id="rId9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A. Watch the video   </a:t>
            </a:r>
            <a:r>
              <a:rPr lang="en-US" altLang="zh-CN" sz="1600" b="1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B. Watch the video again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C. Watch again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grpSp>
        <p:nvGrpSpPr>
          <p:cNvPr id="5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56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btn-Part 1">
            <a:hlinkClick r:id="rId1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btn-Part 1">
            <a:hlinkClick r:id="rId2" action="ppaction://hlinksldjump"/>
          </p:cNvPr>
          <p:cNvSpPr/>
          <p:nvPr/>
        </p:nvSpPr>
        <p:spPr>
          <a:xfrm>
            <a:off x="4005944" y="482615"/>
            <a:ext cx="130628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3"/>
          </p:nvPr>
        </p:nvSpPr>
        <p:spPr>
          <a:xfrm>
            <a:off x="323850" y="1000108"/>
            <a:ext cx="8569325" cy="732620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What do you remember? </a:t>
            </a:r>
            <a:r>
              <a:rPr lang="en-US" altLang="zh-CN" dirty="0" smtClean="0"/>
              <a:t>Are these statements true (T) or false (F)? Watch and check your answers. Correct the false sentences.</a:t>
            </a:r>
            <a:endParaRPr lang="zh-CN" altLang="en-US" dirty="0"/>
          </a:p>
        </p:txBody>
      </p:sp>
      <p:pic>
        <p:nvPicPr>
          <p:cNvPr id="75" name="B1 Unit3.wmv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42144" y="1768039"/>
            <a:ext cx="3841824" cy="2161027"/>
          </a:xfrm>
          <a:prstGeom prst="rect">
            <a:avLst/>
          </a:prstGeom>
        </p:spPr>
      </p:pic>
      <p:sp>
        <p:nvSpPr>
          <p:cNvPr id="7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1043608" y="4071942"/>
            <a:ext cx="7849567" cy="264320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 smtClean="0"/>
              <a:t>1.    A sleepwalker is usually dreaming. </a:t>
            </a:r>
            <a:endParaRPr lang="en-US" altLang="zh-CN" sz="2400" i="1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 smtClean="0"/>
              <a:t>       </a:t>
            </a:r>
            <a:r>
              <a:rPr lang="en-US" altLang="zh-CN" sz="2400" dirty="0" smtClean="0">
                <a:solidFill>
                  <a:schemeClr val="accent1"/>
                </a:solidFill>
              </a:rPr>
              <a:t>A sleepwalker is not dreaming.</a:t>
            </a:r>
            <a:endParaRPr lang="en-US" altLang="zh-CN" sz="2400" dirty="0" smtClean="0">
              <a:solidFill>
                <a:schemeClr val="accent1"/>
              </a:solidFill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 smtClean="0"/>
              <a:t>2.    A person sleepwalks because a part of the brain “wakes up.”</a:t>
            </a:r>
            <a:endParaRPr lang="en-US" altLang="zh-CN" sz="2400" i="1" dirty="0" smtClean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400" i="1" dirty="0" smtClean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 smtClean="0"/>
              <a:t>3.    Some sleepwalkers eat and drink. </a:t>
            </a:r>
            <a:endParaRPr lang="en-US" altLang="zh-CN" sz="2400" i="1" dirty="0" smtClean="0"/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AutoNum type="arabicPeriod" startAt="3"/>
            </a:pPr>
            <a:endParaRPr lang="en-US" altLang="zh-CN" sz="2400" i="1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 smtClean="0"/>
              <a:t>4.    Most sleepwalkers can remember their actions. </a:t>
            </a:r>
            <a:endParaRPr lang="en-US" altLang="zh-CN" sz="2400" i="1" dirty="0" smtClean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 smtClean="0"/>
              <a:t>       </a:t>
            </a:r>
            <a:r>
              <a:rPr lang="en-US" altLang="zh-CN" sz="2400" dirty="0" smtClean="0">
                <a:solidFill>
                  <a:schemeClr val="accent1"/>
                </a:solidFill>
              </a:rPr>
              <a:t>Sleepwalkers cannot remember their actions.</a:t>
            </a:r>
            <a:endParaRPr lang="en-US" altLang="zh-CN" sz="2200" dirty="0" smtClean="0">
              <a:solidFill>
                <a:schemeClr val="accent1"/>
              </a:solidFill>
            </a:endParaRPr>
          </a:p>
        </p:txBody>
      </p:sp>
      <p:pic>
        <p:nvPicPr>
          <p:cNvPr id="77" name="按钮-External Player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621066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矩形 78"/>
          <p:cNvSpPr/>
          <p:nvPr/>
        </p:nvSpPr>
        <p:spPr>
          <a:xfrm>
            <a:off x="611560" y="4740284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 smtClean="0">
                <a:solidFill>
                  <a:schemeClr val="accent1"/>
                </a:solidFill>
                <a:latin typeface="+mj-lt"/>
              </a:rPr>
              <a:t>T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1560" y="5336986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 smtClean="0">
                <a:solidFill>
                  <a:schemeClr val="accent1"/>
                </a:solidFill>
                <a:latin typeface="+mj-lt"/>
              </a:rPr>
              <a:t>T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11560" y="4136144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 smtClean="0">
                <a:solidFill>
                  <a:schemeClr val="accent1"/>
                </a:solidFill>
                <a:latin typeface="+mj-lt"/>
              </a:rPr>
              <a:t>F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11560" y="5968132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 smtClean="0">
                <a:solidFill>
                  <a:schemeClr val="accent1"/>
                </a:solidFill>
                <a:latin typeface="+mj-lt"/>
              </a:rPr>
              <a:t>F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4" name="填空热区2-点击消失"/>
          <p:cNvSpPr>
            <a:spLocks noChangeArrowheads="1"/>
          </p:cNvSpPr>
          <p:nvPr/>
        </p:nvSpPr>
        <p:spPr bwMode="auto">
          <a:xfrm>
            <a:off x="648939" y="4768958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5" name="填空热区3-点击消失"/>
          <p:cNvSpPr>
            <a:spLocks noChangeArrowheads="1"/>
          </p:cNvSpPr>
          <p:nvPr/>
        </p:nvSpPr>
        <p:spPr bwMode="auto">
          <a:xfrm>
            <a:off x="648939" y="5381416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6" name="填空热区1-点击消失"/>
          <p:cNvSpPr>
            <a:spLocks noChangeArrowheads="1"/>
          </p:cNvSpPr>
          <p:nvPr/>
        </p:nvSpPr>
        <p:spPr bwMode="auto">
          <a:xfrm>
            <a:off x="648939" y="4174170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7" name="填空热区4-点击消失"/>
          <p:cNvSpPr>
            <a:spLocks noChangeArrowheads="1"/>
          </p:cNvSpPr>
          <p:nvPr/>
        </p:nvSpPr>
        <p:spPr bwMode="auto">
          <a:xfrm>
            <a:off x="648939" y="6000785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4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53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填空热区1-点击消失"/>
          <p:cNvSpPr>
            <a:spLocks noChangeArrowheads="1"/>
          </p:cNvSpPr>
          <p:nvPr/>
        </p:nvSpPr>
        <p:spPr bwMode="auto">
          <a:xfrm>
            <a:off x="1428728" y="4454533"/>
            <a:ext cx="3143272" cy="285752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0" name="填空热区1-点击消失"/>
          <p:cNvSpPr>
            <a:spLocks noChangeArrowheads="1"/>
          </p:cNvSpPr>
          <p:nvPr/>
        </p:nvSpPr>
        <p:spPr bwMode="auto">
          <a:xfrm>
            <a:off x="1428728" y="6286520"/>
            <a:ext cx="4357718" cy="285752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17447" y="3629729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 smtClean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33" name="btn-Part 1">
            <a:hlinkClick r:id="rId8" action="ppaction://hlinksldjump"/>
          </p:cNvPr>
          <p:cNvSpPr/>
          <p:nvPr/>
        </p:nvSpPr>
        <p:spPr>
          <a:xfrm>
            <a:off x="1799771" y="482615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video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A. Watch the video   </a:t>
            </a:r>
            <a:r>
              <a:rPr lang="en-US" altLang="zh-CN" sz="1600" b="1" dirty="0" smtClean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B. Watch the video again    </a:t>
            </a:r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C. Watch again</a:t>
            </a:r>
            <a:endParaRPr lang="zh-CN" altLang="en-US" sz="1600" b="1" dirty="0">
              <a:solidFill>
                <a:schemeClr val="accent4"/>
              </a:solidFill>
              <a:latin typeface="+mj-lt"/>
            </a:endParaRPr>
          </a:p>
        </p:txBody>
      </p:sp>
      <p:grpSp>
        <p:nvGrpSpPr>
          <p:cNvPr id="2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56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btn-Part 1">
            <a:hlinkClick r:id="rId1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btn-Part 1">
            <a:hlinkClick r:id="rId2" action="ppaction://hlinksldjump"/>
          </p:cNvPr>
          <p:cNvSpPr/>
          <p:nvPr/>
        </p:nvSpPr>
        <p:spPr>
          <a:xfrm>
            <a:off x="4005944" y="482615"/>
            <a:ext cx="130628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13"/>
          </p:nvPr>
        </p:nvSpPr>
        <p:spPr>
          <a:xfrm>
            <a:off x="323850" y="1000108"/>
            <a:ext cx="8569325" cy="73262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Are these statements true (T) or false (F)? Watch and check your answers. Correct the false sentences.</a:t>
            </a:r>
            <a:endParaRPr lang="zh-CN" altLang="en-US" dirty="0"/>
          </a:p>
        </p:txBody>
      </p:sp>
      <p:pic>
        <p:nvPicPr>
          <p:cNvPr id="75" name="B1 Unit3.wmv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42144" y="1768039"/>
            <a:ext cx="3841824" cy="2161027"/>
          </a:xfrm>
          <a:prstGeom prst="rect">
            <a:avLst/>
          </a:prstGeom>
        </p:spPr>
      </p:pic>
      <p:sp>
        <p:nvSpPr>
          <p:cNvPr id="76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1043608" y="4143380"/>
            <a:ext cx="7849567" cy="2643206"/>
          </a:xfrm>
        </p:spPr>
        <p:txBody>
          <a:bodyPr>
            <a:normAutofit/>
          </a:bodyPr>
          <a:lstStyle/>
          <a:p>
            <a:pPr marL="355600" indent="-355600">
              <a:spcBef>
                <a:spcPts val="0"/>
              </a:spcBef>
              <a:buFont typeface="+mj-lt"/>
              <a:buAutoNum type="arabicPeriod" startAt="5"/>
            </a:pPr>
            <a:r>
              <a:rPr lang="en-US" altLang="zh-CN" sz="2000" dirty="0" smtClean="0"/>
              <a:t>Adults stand a higher chance of sleepwalking. </a:t>
            </a:r>
            <a:endParaRPr lang="en-US" altLang="zh-CN" sz="2000" i="1" dirty="0" smtClean="0"/>
          </a:p>
          <a:p>
            <a:pPr marL="355600" indent="0">
              <a:spcBef>
                <a:spcPts val="0"/>
              </a:spcBef>
              <a:spcAft>
                <a:spcPts val="600"/>
              </a:spcAft>
              <a:buNone/>
              <a:tabLst>
                <a:tab pos="355600" algn="l"/>
              </a:tabLst>
            </a:pPr>
            <a:r>
              <a:rPr lang="en-US" altLang="zh-CN" sz="2000" dirty="0" smtClean="0">
                <a:solidFill>
                  <a:schemeClr val="accent1"/>
                </a:solidFill>
              </a:rPr>
              <a:t>More children sleepwalk.</a:t>
            </a:r>
            <a:endParaRPr lang="en-US" altLang="zh-CN" sz="2000" dirty="0" smtClean="0">
              <a:solidFill>
                <a:schemeClr val="accent1"/>
              </a:solidFill>
            </a:endParaRPr>
          </a:p>
          <a:p>
            <a:pPr marL="355600" indent="-355600">
              <a:spcBef>
                <a:spcPts val="0"/>
              </a:spcBef>
              <a:buFont typeface="+mj-lt"/>
              <a:buAutoNum type="arabicPeriod" startAt="6"/>
            </a:pPr>
            <a:r>
              <a:rPr lang="en-US" altLang="zh-CN" sz="2000" dirty="0" smtClean="0"/>
              <a:t>It’s difficult to wake up a sleepwalker. </a:t>
            </a:r>
            <a:endParaRPr lang="en-US" altLang="zh-CN" sz="2000" i="1" dirty="0" smtClean="0"/>
          </a:p>
          <a:p>
            <a:pPr marL="355600" indent="-355600"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i="1" dirty="0" smtClean="0"/>
          </a:p>
          <a:p>
            <a:pPr marL="355600" indent="-355600">
              <a:spcBef>
                <a:spcPts val="0"/>
              </a:spcBef>
              <a:buFont typeface="+mj-lt"/>
              <a:buAutoNum type="arabicPeriod" startAt="7"/>
            </a:pPr>
            <a:r>
              <a:rPr lang="en-US" altLang="zh-CN" sz="2000" dirty="0" smtClean="0"/>
              <a:t>It’s best to wake up a sleepwalker. </a:t>
            </a:r>
            <a:endParaRPr lang="en-US" altLang="zh-CN" sz="2000" i="1" dirty="0" smtClean="0"/>
          </a:p>
          <a:p>
            <a:pPr marL="355600" indent="0">
              <a:spcBef>
                <a:spcPts val="0"/>
              </a:spcBef>
              <a:buNone/>
            </a:pPr>
            <a:r>
              <a:rPr lang="en-US" altLang="zh-CN" sz="2000" dirty="0" smtClean="0">
                <a:solidFill>
                  <a:schemeClr val="accent1"/>
                </a:solidFill>
              </a:rPr>
              <a:t>It’s best to walk a sleepwalker back to bed.</a:t>
            </a:r>
            <a:endParaRPr lang="en-US" altLang="zh-CN" sz="2200" dirty="0" smtClean="0">
              <a:solidFill>
                <a:schemeClr val="accent1"/>
              </a:solidFill>
            </a:endParaRPr>
          </a:p>
        </p:txBody>
      </p:sp>
      <p:pic>
        <p:nvPicPr>
          <p:cNvPr id="77" name="按钮-External Player">
            <a:hlinkClick r:id="rId6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621066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矩形 78"/>
          <p:cNvSpPr/>
          <p:nvPr/>
        </p:nvSpPr>
        <p:spPr>
          <a:xfrm>
            <a:off x="611560" y="4857760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 smtClean="0">
                <a:solidFill>
                  <a:schemeClr val="accent1"/>
                </a:solidFill>
                <a:latin typeface="+mj-lt"/>
              </a:rPr>
              <a:t>T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11560" y="4168780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 smtClean="0">
                <a:solidFill>
                  <a:schemeClr val="accent1"/>
                </a:solidFill>
                <a:latin typeface="+mj-lt"/>
              </a:rPr>
              <a:t>F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11560" y="5572140"/>
            <a:ext cx="364426" cy="364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000" b="1" smtClean="0">
                <a:solidFill>
                  <a:schemeClr val="accent1"/>
                </a:solidFill>
                <a:latin typeface="+mj-lt"/>
              </a:rPr>
              <a:t>F</a:t>
            </a:r>
            <a:endParaRPr lang="zh-CN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4" name="填空热区6-点击消失"/>
          <p:cNvSpPr>
            <a:spLocks noChangeArrowheads="1"/>
          </p:cNvSpPr>
          <p:nvPr/>
        </p:nvSpPr>
        <p:spPr bwMode="auto">
          <a:xfrm>
            <a:off x="648939" y="4886434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6" name="填空热区5-点击消失"/>
          <p:cNvSpPr>
            <a:spLocks noChangeArrowheads="1"/>
          </p:cNvSpPr>
          <p:nvPr/>
        </p:nvSpPr>
        <p:spPr bwMode="auto">
          <a:xfrm>
            <a:off x="648939" y="4206806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87" name="填空热区7-点击消失"/>
          <p:cNvSpPr>
            <a:spLocks noChangeArrowheads="1"/>
          </p:cNvSpPr>
          <p:nvPr/>
        </p:nvSpPr>
        <p:spPr bwMode="auto">
          <a:xfrm>
            <a:off x="648939" y="5604793"/>
            <a:ext cx="282129" cy="298797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4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53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热区">
              <a:hlinkClick r:id="" action="ppaction://hlinkshowjump?jump=nextslide"/>
            </p:cNvPr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填空热区1-点击消失"/>
          <p:cNvSpPr>
            <a:spLocks noChangeArrowheads="1"/>
          </p:cNvSpPr>
          <p:nvPr/>
        </p:nvSpPr>
        <p:spPr bwMode="auto">
          <a:xfrm>
            <a:off x="1428728" y="4508508"/>
            <a:ext cx="3643338" cy="349252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0" name="填空热区1-点击消失"/>
          <p:cNvSpPr>
            <a:spLocks noChangeArrowheads="1"/>
          </p:cNvSpPr>
          <p:nvPr/>
        </p:nvSpPr>
        <p:spPr bwMode="auto">
          <a:xfrm>
            <a:off x="1500166" y="5905392"/>
            <a:ext cx="3929090" cy="35719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05572" y="3631627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 smtClean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28" name="btn-Part 1">
            <a:hlinkClick r:id="rId8" action="ppaction://hlinksldjump"/>
          </p:cNvPr>
          <p:cNvSpPr/>
          <p:nvPr/>
        </p:nvSpPr>
        <p:spPr>
          <a:xfrm>
            <a:off x="1799771" y="482615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video>
          </p:childTnLst>
        </p:cTn>
      </p:par>
    </p:tnLst>
    <p:bldLst>
      <p:bldP spid="84" grpId="0" animBg="1"/>
      <p:bldP spid="86" grpId="0" animBg="1"/>
      <p:bldP spid="87" grpId="0" animBg="1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1 Unit3.wmv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442144" y="1767600"/>
            <a:ext cx="3841824" cy="2161027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0" y="476672"/>
            <a:ext cx="91440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DD33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en-US" altLang="zh-CN" sz="1600" b="1" dirty="0" smtClean="0">
                <a:solidFill>
                  <a:schemeClr val="accent4"/>
                </a:solidFill>
                <a:latin typeface="+mj-lt"/>
              </a:rPr>
              <a:t>A. Watch the video    B. Watch the video again    </a:t>
            </a:r>
            <a:r>
              <a:rPr lang="en-US" altLang="zh-CN" sz="1600" b="1" dirty="0" smtClean="0">
                <a:solidFill>
                  <a:srgbClr val="515672"/>
                </a:solidFill>
                <a:latin typeface="+mj-lt"/>
              </a:rPr>
              <a:t>C. Watch again</a:t>
            </a:r>
            <a:endParaRPr lang="zh-CN" altLang="en-US" sz="1600" b="1" dirty="0">
              <a:solidFill>
                <a:srgbClr val="515672"/>
              </a:solidFill>
              <a:latin typeface="+mj-lt"/>
            </a:endParaRPr>
          </a:p>
        </p:txBody>
      </p: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1000800"/>
            <a:ext cx="8569325" cy="875496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Fill in the missing words. </a:t>
            </a:r>
            <a:r>
              <a:rPr lang="en-US" altLang="zh-CN" dirty="0" smtClean="0"/>
              <a:t>Watch the video again and complete the following paragraph with what you hear.</a:t>
            </a:r>
            <a:endParaRPr lang="zh-CN" altLang="en-US" dirty="0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357158" y="4000504"/>
            <a:ext cx="8536017" cy="28574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 smtClean="0"/>
              <a:t>        People sleepwalk because a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lower</a:t>
            </a:r>
            <a:r>
              <a:rPr lang="en-US" altLang="zh-CN" sz="2400" dirty="0" smtClean="0"/>
              <a:t> part of their brain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wakes up</a:t>
            </a:r>
            <a:r>
              <a:rPr lang="en-US" altLang="zh-CN" sz="2400" dirty="0" smtClean="0"/>
              <a:t> during sleep. Some sleepwalkers even eat or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drink</a:t>
            </a:r>
            <a:r>
              <a:rPr lang="en-US" altLang="zh-CN" sz="2400" dirty="0" smtClean="0"/>
              <a:t>. But they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don’t remember </a:t>
            </a:r>
            <a:r>
              <a:rPr lang="en-US" altLang="zh-CN" sz="2400" dirty="0" smtClean="0"/>
              <a:t>anything later. The main reason for this behavior is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not sleeping enough</a:t>
            </a:r>
            <a:r>
              <a:rPr lang="en-US" altLang="zh-CN" sz="2400" dirty="0" smtClean="0"/>
              <a:t>. Sometimes drinking too much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alcohol</a:t>
            </a:r>
            <a:r>
              <a:rPr lang="en-US" altLang="zh-CN" sz="2400" dirty="0" smtClean="0"/>
              <a:t> or feeling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stressed</a:t>
            </a:r>
            <a:r>
              <a:rPr lang="en-US" altLang="zh-CN" sz="2400" dirty="0" smtClean="0"/>
              <a:t> will make people sleepwalk. When people are sleepwalking, it’s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hard</a:t>
            </a:r>
            <a:r>
              <a:rPr lang="en-US" altLang="zh-CN" sz="2400" dirty="0" smtClean="0"/>
              <a:t> to wake them up. The best thing is to walk the sleepwalker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back to bed</a:t>
            </a:r>
            <a:r>
              <a:rPr lang="en-US" altLang="zh-CN" sz="2400" dirty="0" smtClean="0"/>
              <a:t>. And </a:t>
            </a:r>
            <a:r>
              <a:rPr lang="en-US" altLang="zh-CN" sz="2400" u="sng" dirty="0" smtClean="0">
                <a:solidFill>
                  <a:schemeClr val="accent1"/>
                </a:solidFill>
              </a:rPr>
              <a:t>hopefully</a:t>
            </a:r>
            <a:r>
              <a:rPr lang="en-US" altLang="zh-CN" sz="2400" dirty="0" smtClean="0"/>
              <a:t>, they’ll stay asleep there.</a:t>
            </a:r>
            <a:endParaRPr lang="zh-CN" altLang="zh-CN" sz="2400" dirty="0"/>
          </a:p>
        </p:txBody>
      </p:sp>
      <p:pic>
        <p:nvPicPr>
          <p:cNvPr id="26" name="按钮-External Player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598476"/>
            <a:ext cx="1521337" cy="3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" name="按钮-Script">
            <a:hlinkClick r:id="rId6" action="ppaction://hlinkpres?slideindex=1&amp;slidetitle=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27984" y="3238436"/>
            <a:ext cx="9048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2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33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btn-Part 1">
            <a:hlinkClick r:id="rId8" action="ppaction://hlinksldjump"/>
          </p:cNvPr>
          <p:cNvSpPr/>
          <p:nvPr/>
        </p:nvSpPr>
        <p:spPr>
          <a:xfrm>
            <a:off x="1799771" y="482615"/>
            <a:ext cx="2061029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btn-Part 1">
            <a:hlinkClick r:id="rId9" action="ppaction://hlinksldjump"/>
          </p:cNvPr>
          <p:cNvSpPr/>
          <p:nvPr/>
        </p:nvSpPr>
        <p:spPr>
          <a:xfrm>
            <a:off x="63500" y="482615"/>
            <a:ext cx="1678214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61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填空热区-点击消失"/>
          <p:cNvSpPr>
            <a:spLocks noChangeArrowheads="1"/>
          </p:cNvSpPr>
          <p:nvPr/>
        </p:nvSpPr>
        <p:spPr bwMode="auto">
          <a:xfrm>
            <a:off x="3831864" y="4110576"/>
            <a:ext cx="642942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lower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3" name="填空热区-点击消失"/>
          <p:cNvSpPr>
            <a:spLocks noChangeArrowheads="1"/>
          </p:cNvSpPr>
          <p:nvPr/>
        </p:nvSpPr>
        <p:spPr bwMode="auto">
          <a:xfrm>
            <a:off x="6585751" y="4110307"/>
            <a:ext cx="1044000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wakes up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4" name="填空热区-点击消失"/>
          <p:cNvSpPr>
            <a:spLocks noChangeArrowheads="1"/>
          </p:cNvSpPr>
          <p:nvPr/>
        </p:nvSpPr>
        <p:spPr bwMode="auto">
          <a:xfrm>
            <a:off x="4507386" y="4479101"/>
            <a:ext cx="642942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drink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5" name="填空热区-点击消失"/>
          <p:cNvSpPr>
            <a:spLocks noChangeArrowheads="1"/>
          </p:cNvSpPr>
          <p:nvPr/>
        </p:nvSpPr>
        <p:spPr bwMode="auto">
          <a:xfrm>
            <a:off x="6252392" y="4475752"/>
            <a:ext cx="1891508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Don’t remember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6" name="填空热区-点击消失"/>
          <p:cNvSpPr>
            <a:spLocks noChangeArrowheads="1"/>
          </p:cNvSpPr>
          <p:nvPr/>
        </p:nvSpPr>
        <p:spPr bwMode="auto">
          <a:xfrm>
            <a:off x="6228561" y="4844004"/>
            <a:ext cx="2286016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not sleeping enough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8" name="填空热区-点击消失"/>
          <p:cNvSpPr>
            <a:spLocks noChangeArrowheads="1"/>
          </p:cNvSpPr>
          <p:nvPr/>
        </p:nvSpPr>
        <p:spPr bwMode="auto">
          <a:xfrm>
            <a:off x="3916180" y="5202072"/>
            <a:ext cx="857256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alcohol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49" name="填空热区-点击消失"/>
          <p:cNvSpPr>
            <a:spLocks noChangeArrowheads="1"/>
          </p:cNvSpPr>
          <p:nvPr/>
        </p:nvSpPr>
        <p:spPr bwMode="auto">
          <a:xfrm>
            <a:off x="5916444" y="5202072"/>
            <a:ext cx="952494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stressed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0" name="填空热区-点击消失"/>
          <p:cNvSpPr>
            <a:spLocks noChangeArrowheads="1"/>
          </p:cNvSpPr>
          <p:nvPr/>
        </p:nvSpPr>
        <p:spPr bwMode="auto">
          <a:xfrm>
            <a:off x="5533498" y="5571262"/>
            <a:ext cx="571504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hard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1" name="填空热区-点击消失"/>
          <p:cNvSpPr>
            <a:spLocks noChangeArrowheads="1"/>
          </p:cNvSpPr>
          <p:nvPr/>
        </p:nvSpPr>
        <p:spPr bwMode="auto">
          <a:xfrm>
            <a:off x="4487684" y="5942208"/>
            <a:ext cx="1285884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back to bed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sp>
        <p:nvSpPr>
          <p:cNvPr id="59" name="填空热区-点击消失"/>
          <p:cNvSpPr>
            <a:spLocks noChangeArrowheads="1"/>
          </p:cNvSpPr>
          <p:nvPr/>
        </p:nvSpPr>
        <p:spPr bwMode="auto">
          <a:xfrm>
            <a:off x="6371437" y="5935769"/>
            <a:ext cx="1143008" cy="3059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>
              <a:lnSpc>
                <a:spcPct val="100000"/>
              </a:lnSpc>
              <a:defRPr/>
            </a:pPr>
            <a:r>
              <a:rPr lang="en-US" altLang="zh-CN" sz="2400" u="sng" dirty="0" smtClean="0">
                <a:solidFill>
                  <a:schemeClr val="bg1"/>
                </a:solidFill>
                <a:uFill>
                  <a:solidFill>
                    <a:schemeClr val="tx1"/>
                  </a:solidFill>
                </a:uFill>
              </a:rPr>
              <a:t>hopefully</a:t>
            </a:r>
            <a:endParaRPr lang="en-US" altLang="zh-CN" sz="2400" u="sng" dirty="0">
              <a:solidFill>
                <a:schemeClr val="bg1"/>
              </a:solidFill>
              <a:uFill>
                <a:solidFill>
                  <a:schemeClr val="tx1"/>
                </a:solidFill>
              </a:uFill>
            </a:endParaRPr>
          </a:p>
        </p:txBody>
      </p: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64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热区">
              <a:hlinkClick r:id="" action="ppaction://hlinkshowjump?jump=previousslide"/>
            </p:cNvPr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929322" y="3611110"/>
            <a:ext cx="934478" cy="287462"/>
          </a:xfrm>
          <a:prstGeom prst="rect">
            <a:avLst/>
          </a:prstGeom>
          <a:noFill/>
        </p:spPr>
        <p:txBody>
          <a:bodyPr wrap="none" lIns="72000" tIns="36000" bIns="36000" rtlCol="0" anchor="ctr" anchorCtr="0">
            <a:noAutofit/>
          </a:bodyPr>
          <a:lstStyle/>
          <a:p>
            <a:r>
              <a:rPr lang="en-US" altLang="zh-CN" sz="1200" dirty="0" smtClean="0">
                <a:latin typeface="+mj-lt"/>
              </a:rPr>
              <a:t>(Subtitles On)</a:t>
            </a:r>
            <a:endParaRPr lang="zh-CN" altLang="en-US" sz="1200" dirty="0">
              <a:latin typeface="+mj-lt"/>
            </a:endParaRPr>
          </a:p>
        </p:txBody>
      </p:sp>
      <p:sp>
        <p:nvSpPr>
          <p:cNvPr id="31" name="btn-Part 1">
            <a:hlinkClick r:id="rId10" action="ppaction://hlinksldjump"/>
          </p:cNvPr>
          <p:cNvSpPr/>
          <p:nvPr/>
        </p:nvSpPr>
        <p:spPr>
          <a:xfrm>
            <a:off x="4005944" y="482615"/>
            <a:ext cx="1306286" cy="38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video>
              <p:cMediaNode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video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42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4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323850" y="764704"/>
            <a:ext cx="8569325" cy="576064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A. </a:t>
            </a:r>
            <a:r>
              <a:rPr lang="en-US" altLang="zh-CN" dirty="0" smtClean="0"/>
              <a:t>Complete the sentences about yourself.</a:t>
            </a:r>
            <a:endParaRPr lang="zh-CN" altLang="en-US" dirty="0" smtClean="0"/>
          </a:p>
        </p:txBody>
      </p:sp>
      <p:grpSp>
        <p:nvGrpSpPr>
          <p:cNvPr id="14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15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热区">
              <a:hlinkClick r:id="" action="ppaction://hlinkshowjump?jump=firstslide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28597" y="1341489"/>
          <a:ext cx="8286807" cy="2659015"/>
        </p:xfrm>
        <a:graphic>
          <a:graphicData uri="http://schemas.openxmlformats.org/drawingml/2006/table">
            <a:tbl>
              <a:tblPr/>
              <a:tblGrid>
                <a:gridCol w="3721492"/>
                <a:gridCol w="1053268"/>
                <a:gridCol w="1166340"/>
                <a:gridCol w="1466067"/>
                <a:gridCol w="879640"/>
              </a:tblGrid>
              <a:tr h="531803">
                <a:tc>
                  <a:txBody>
                    <a:bodyPr/>
                    <a:lstStyle/>
                    <a:p>
                      <a:pPr algn="l"/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1" baseline="0" dirty="0" smtClean="0">
                          <a:latin typeface="+mn-lt"/>
                        </a:rPr>
                        <a:t>Always</a:t>
                      </a:r>
                      <a:endParaRPr lang="en-US" altLang="zh-CN" sz="2200" b="1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baseline="0" dirty="0" smtClean="0">
                          <a:latin typeface="+mn-lt"/>
                        </a:rPr>
                        <a:t>Usually</a:t>
                      </a:r>
                      <a:endParaRPr lang="en-US" altLang="zh-CN" sz="2200" b="1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1" baseline="0" dirty="0" smtClean="0">
                          <a:latin typeface="+mn-lt"/>
                        </a:rPr>
                        <a:t>Sometimes </a:t>
                      </a:r>
                      <a:endParaRPr lang="zh-CN" altLang="en-US" sz="2200" b="1" kern="0" dirty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1" baseline="0" dirty="0" smtClean="0">
                          <a:latin typeface="+mn-lt"/>
                        </a:rPr>
                        <a:t>Never</a:t>
                      </a:r>
                      <a:endParaRPr lang="zh-CN" altLang="en-US" sz="2200" b="1" kern="0" dirty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</a:tr>
              <a:tr h="53180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0" baseline="0" dirty="0" smtClean="0">
                          <a:latin typeface="+mn-lt"/>
                        </a:rPr>
                        <a:t>1. I walk in my sleep.</a:t>
                      </a:r>
                      <a:endParaRPr lang="en-US" altLang="zh-CN" sz="2200" b="0" baseline="0" dirty="0" smtClean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3180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0" baseline="0" dirty="0" smtClean="0">
                          <a:latin typeface="+mn-lt"/>
                        </a:rPr>
                        <a:t>2. I talk in my sleep.</a:t>
                      </a:r>
                      <a:endParaRPr lang="en-US" altLang="zh-CN" sz="2200" b="0" baseline="0" dirty="0" smtClean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3180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0" baseline="0" dirty="0" smtClean="0">
                          <a:latin typeface="+mn-lt"/>
                        </a:rPr>
                        <a:t>3. I remember my dreams.</a:t>
                      </a:r>
                      <a:endParaRPr lang="en-US" altLang="zh-CN" sz="2200" b="0" baseline="0" dirty="0" smtClean="0">
                        <a:latin typeface="+mn-lt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3180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0" baseline="0" dirty="0" smtClean="0">
                          <a:latin typeface="+mn-lt"/>
                        </a:rPr>
                        <a:t>4. I have nightmares (bad dreams).</a:t>
                      </a:r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200" b="0" kern="0" dirty="0" smtClean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zh-CN" sz="2200" b="0" kern="0" dirty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35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endParaRPr lang="zh-CN" sz="2200" b="0" kern="0" dirty="0">
                        <a:solidFill>
                          <a:srgbClr val="333333"/>
                        </a:solidFill>
                        <a:latin typeface="+mn-lt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48095" marR="48095" marT="48095" marB="48095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7" name="文本占位符 8"/>
          <p:cNvSpPr txBox="1"/>
          <p:nvPr/>
        </p:nvSpPr>
        <p:spPr>
          <a:xfrm>
            <a:off x="323850" y="4286256"/>
            <a:ext cx="8569325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spcBef>
                <a:spcPct val="20000"/>
              </a:spcBef>
            </a:pPr>
            <a:r>
              <a:rPr lang="en-US" altLang="zh-CN" sz="2000" b="1" dirty="0" smtClean="0">
                <a:latin typeface="+mj-lt"/>
              </a:rPr>
              <a:t>B. Work with a partner. </a:t>
            </a:r>
            <a:r>
              <a:rPr lang="en-US" altLang="zh-CN" sz="2000" dirty="0" smtClean="0">
                <a:latin typeface="+mj-lt"/>
              </a:rPr>
              <a:t>Talk about your answers in </a:t>
            </a:r>
            <a:r>
              <a:rPr lang="en-US" altLang="zh-CN" sz="2000" b="1" dirty="0" smtClean="0">
                <a:latin typeface="+mj-lt"/>
              </a:rPr>
              <a:t>A </a:t>
            </a:r>
            <a:r>
              <a:rPr lang="en-US" altLang="zh-CN" sz="2000" dirty="0" smtClean="0">
                <a:latin typeface="+mj-lt"/>
              </a:rPr>
              <a:t>together.</a:t>
            </a:r>
            <a:endParaRPr kumimoji="0" lang="zh-CN" altLang="en-US" sz="2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714348" y="5072074"/>
            <a:ext cx="5328592" cy="928694"/>
          </a:xfrm>
          <a:prstGeom prst="wedgeRoundRectCallout">
            <a:avLst>
              <a:gd name="adj1" fmla="val -55075"/>
              <a:gd name="adj2" fmla="val 39464"/>
              <a:gd name="adj3" fmla="val 16667"/>
            </a:avLst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smtClean="0">
                <a:solidFill>
                  <a:schemeClr val="tx1"/>
                </a:solidFill>
              </a:rPr>
              <a:t>Sometimes in my dreams I am late for class. It’s very stressful!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进阶视听说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AF88B6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2820</Words>
  <Application>WPS 演示</Application>
  <PresentationFormat>全屏显示(4:3)</PresentationFormat>
  <Paragraphs>130</Paragraphs>
  <Slides>8</Slides>
  <Notes>8</Notes>
  <HiddenSlides>0</HiddenSlides>
  <MMClips>10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347</cp:revision>
  <dcterms:created xsi:type="dcterms:W3CDTF">2017-12-23T09:29:00Z</dcterms:created>
  <dcterms:modified xsi:type="dcterms:W3CDTF">2024-08-27T05:10:16Z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5AC837603D4A4C9088A2C9C9078E9289_13</vt:lpwstr>
  </property>
  <property fmtid="{D5CDD505-2E9C-101B-9397-08002B2CF9AE}" pid="3" name="KSOProductBuildVer">
    <vt:lpwstr>2052-12.1.0.17857</vt:lpwstr>
  </property>
</Properties>
</file>