
<file path=[Content_Types].xml><?xml version="1.0" encoding="utf-8"?>
<Types xmlns="http://schemas.openxmlformats.org/package/2006/content-types">
  <Default Extension="jpeg" ContentType="image/jpeg"/>
  <Default Extension="JPG" ContentType="image/.jpg"/>
  <Default Extension="emf" ContentType="image/x-emf"/>
  <Default Extension="png" ContentType="image/png"/>
  <Default Extension="mp3" ContentType="audio/mp3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4"/>
  </p:notesMasterIdLst>
  <p:handoutMasterIdLst>
    <p:handoutMasterId r:id="rId6"/>
  </p:handoutMasterIdLst>
  <p:sldIdLst>
    <p:sldId id="256" r:id="rId3"/>
    <p:sldId id="262" r:id="rId5"/>
  </p:sldIdLst>
  <p:sldSz cx="9144000" cy="6858000" type="screen4x3"/>
  <p:notesSz cx="6858000" cy="9144000"/>
  <p:embeddedFontLst>
    <p:embeddedFont>
      <p:font typeface="等线" panose="02010600030101010101" pitchFamily="2" charset="-122"/>
      <p:regular r:id="rId10"/>
    </p:embeddedFont>
    <p:embeddedFont>
      <p:font typeface="Neuton" panose="00000500000000000000" charset="0"/>
      <p:regular r:id="rId11"/>
      <p:bold r:id="rId12"/>
      <p:italic r:id="rId13"/>
    </p:embeddedFont>
    <p:embeddedFont>
      <p:font typeface="Roboto Condensed" panose="02000000000000000000" charset="0"/>
      <p:regular r:id="rId14"/>
      <p:bold r:id="rId15"/>
      <p:italic r:id="rId16"/>
    </p:embeddedFont>
    <p:embeddedFont>
      <p:font typeface="微软雅黑" panose="020B0503020204020204" charset="-122"/>
      <p:regular r:id="rId17"/>
    </p:embeddedFont>
    <p:embeddedFont>
      <p:font typeface="Calibri" panose="020F0502020204030204" charset="0"/>
      <p:regular r:id="rId18"/>
      <p:bold r:id="rId19"/>
      <p:italic r:id="rId20"/>
      <p:boldItalic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15672"/>
    <a:srgbClr val="AF88B6"/>
    <a:srgbClr val="FFDD33"/>
    <a:srgbClr val="FFFFFF"/>
    <a:srgbClr val="3C153B"/>
    <a:srgbClr val="9D6BA5"/>
    <a:srgbClr val="B35DB1"/>
    <a:srgbClr val="CB8B02"/>
    <a:srgbClr val="F3B700"/>
    <a:srgbClr val="F3FC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891" autoAdjust="0"/>
    <p:restoredTop sz="93686" autoAdjust="0"/>
  </p:normalViewPr>
  <p:slideViewPr>
    <p:cSldViewPr showGuides="1">
      <p:cViewPr varScale="1">
        <p:scale>
          <a:sx n="100" d="100"/>
          <a:sy n="100" d="100"/>
        </p:scale>
        <p:origin x="1002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5" d="100"/>
          <a:sy n="65" d="100"/>
        </p:scale>
        <p:origin x="-2844" y="-12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handoutMaster" Target="handoutMasters/handoutMaster1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font" Target="fonts/font12.fntdata"/><Relationship Id="rId20" Type="http://schemas.openxmlformats.org/officeDocument/2006/relationships/font" Target="fonts/font11.fntdata"/><Relationship Id="rId2" Type="http://schemas.openxmlformats.org/officeDocument/2006/relationships/theme" Target="theme/theme1.xml"/><Relationship Id="rId19" Type="http://schemas.openxmlformats.org/officeDocument/2006/relationships/font" Target="fonts/font10.fntdata"/><Relationship Id="rId18" Type="http://schemas.openxmlformats.org/officeDocument/2006/relationships/font" Target="fonts/font9.fntdata"/><Relationship Id="rId17" Type="http://schemas.openxmlformats.org/officeDocument/2006/relationships/font" Target="fonts/font8.fntdata"/><Relationship Id="rId16" Type="http://schemas.openxmlformats.org/officeDocument/2006/relationships/font" Target="fonts/font7.fntdata"/><Relationship Id="rId15" Type="http://schemas.openxmlformats.org/officeDocument/2006/relationships/font" Target="fonts/font6.fntdata"/><Relationship Id="rId14" Type="http://schemas.openxmlformats.org/officeDocument/2006/relationships/font" Target="fonts/font5.fntdata"/><Relationship Id="rId13" Type="http://schemas.openxmlformats.org/officeDocument/2006/relationships/font" Target="fonts/font4.fntdata"/><Relationship Id="rId12" Type="http://schemas.openxmlformats.org/officeDocument/2006/relationships/font" Target="fonts/font3.fntdata"/><Relationship Id="rId11" Type="http://schemas.openxmlformats.org/officeDocument/2006/relationships/font" Target="fonts/font2.fntdata"/><Relationship Id="rId10" Type="http://schemas.openxmlformats.org/officeDocument/2006/relationships/font" Target="fonts/font1.fntdata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 dirty="0">
              <a:ea typeface="等线" panose="02010600030101010101" pitchFamily="2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1A6FA5-9299-4CE1-A327-CB3C60321AD6}" type="datetimeFigureOut">
              <a:rPr lang="zh-CN" altLang="en-US" smtClean="0">
                <a:ea typeface="等线" panose="02010600030101010101" pitchFamily="2" charset="-122"/>
              </a:rPr>
            </a:fld>
            <a:endParaRPr lang="zh-CN" altLang="en-US" dirty="0">
              <a:ea typeface="等线" panose="02010600030101010101" pitchFamily="2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 dirty="0">
              <a:ea typeface="等线" panose="02010600030101010101" pitchFamily="2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B14E66-D570-4D12-8DDD-93D4BD4AE2FC}" type="slidenum">
              <a:rPr lang="zh-CN" altLang="en-US" smtClean="0">
                <a:ea typeface="等线" panose="02010600030101010101" pitchFamily="2" charset="-122"/>
              </a:rPr>
            </a:fld>
            <a:endParaRPr lang="zh-CN" altLang="en-US" dirty="0">
              <a:ea typeface="等线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ea typeface="等线" panose="02010600030101010101" pitchFamily="2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ea typeface="等线" panose="02010600030101010101" pitchFamily="2" charset="-122"/>
              </a:defRPr>
            </a:lvl1pPr>
          </a:lstStyle>
          <a:p>
            <a:fld id="{5D831D2C-B22C-4903-8B3C-903F91599D35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ea typeface="等线" panose="02010600030101010101" pitchFamily="2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ea typeface="等线" panose="02010600030101010101" pitchFamily="2" charset="-122"/>
              </a:defRPr>
            </a:lvl1pPr>
          </a:lstStyle>
          <a:p>
            <a:fld id="{31063C93-9101-4F51-B1E6-A3BBF9E38CCE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等线" panose="02010600030101010101" pitchFamily="2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等线" panose="02010600030101010101" pitchFamily="2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等线" panose="02010600030101010101" pitchFamily="2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等线" panose="02010600030101010101" pitchFamily="2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等线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063C93-9101-4F51-B1E6-A3BBF9E38CC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带翻页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0" y="0"/>
            <a:ext cx="179512" cy="47667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主体内容"/>
          <p:cNvSpPr>
            <a:spLocks noGrp="1"/>
          </p:cNvSpPr>
          <p:nvPr>
            <p:ph type="body" sz="quarter" idx="14"/>
          </p:nvPr>
        </p:nvSpPr>
        <p:spPr>
          <a:xfrm>
            <a:off x="323850" y="1340768"/>
            <a:ext cx="8569325" cy="482508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1" name="标题 1"/>
          <p:cNvSpPr txBox="1"/>
          <p:nvPr userDrawn="1"/>
        </p:nvSpPr>
        <p:spPr>
          <a:xfrm>
            <a:off x="179512" y="0"/>
            <a:ext cx="2995488" cy="476672"/>
          </a:xfrm>
          <a:prstGeom prst="rect">
            <a:avLst/>
          </a:prstGeom>
          <a:solidFill>
            <a:srgbClr val="FFDD33"/>
          </a:solidFill>
        </p:spPr>
        <p:txBody>
          <a:bodyPr vert="horz" lIns="144000" tIns="45720" rIns="91440" bIns="45720" rtlCol="0" anchor="ctr">
            <a:noAutofit/>
          </a:bodyPr>
          <a:lstStyle>
            <a:lvl1pPr algn="l">
              <a:defRPr sz="2000" b="1">
                <a:solidFill>
                  <a:schemeClr val="bg1"/>
                </a:solidFill>
                <a:latin typeface="+mj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51567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Part IV Expansion Activity</a:t>
            </a: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51567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带direc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0" y="0"/>
            <a:ext cx="179512" cy="47667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Directions"/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1124744"/>
            <a:ext cx="8569325" cy="576262"/>
          </a:xfrm>
        </p:spPr>
        <p:txBody>
          <a:bodyPr>
            <a:normAutofit/>
          </a:bodyPr>
          <a:lstStyle>
            <a:lvl1pPr marL="0" indent="0">
              <a:buNone/>
              <a:defRPr sz="2000" baseline="0">
                <a:latin typeface="+mj-lt"/>
              </a:defRPr>
            </a:lvl1pPr>
          </a:lstStyle>
          <a:p>
            <a:pPr lvl="0"/>
            <a:r>
              <a:rPr lang="en-US" altLang="zh-CN"/>
              <a:t>Directions here</a:t>
            </a:r>
            <a:endParaRPr lang="zh-CN" altLang="en-US"/>
          </a:p>
        </p:txBody>
      </p:sp>
      <p:sp>
        <p:nvSpPr>
          <p:cNvPr id="14" name="主体内容"/>
          <p:cNvSpPr>
            <a:spLocks noGrp="1"/>
          </p:cNvSpPr>
          <p:nvPr>
            <p:ph type="body" sz="quarter" idx="14"/>
          </p:nvPr>
        </p:nvSpPr>
        <p:spPr>
          <a:xfrm>
            <a:off x="323850" y="2204864"/>
            <a:ext cx="8569325" cy="3960986"/>
          </a:xfrm>
        </p:spPr>
        <p:txBody>
          <a:bodyPr/>
          <a:lstStyle>
            <a:lvl1pPr marL="217805" indent="-217805">
              <a:defRPr/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标题 1"/>
          <p:cNvSpPr txBox="1"/>
          <p:nvPr userDrawn="1"/>
        </p:nvSpPr>
        <p:spPr>
          <a:xfrm>
            <a:off x="179512" y="0"/>
            <a:ext cx="3280864" cy="476672"/>
          </a:xfrm>
          <a:prstGeom prst="rect">
            <a:avLst/>
          </a:prstGeom>
          <a:solidFill>
            <a:srgbClr val="FFDD33"/>
          </a:solidFill>
        </p:spPr>
        <p:txBody>
          <a:bodyPr vert="horz" lIns="144000" tIns="45720" rIns="91440" bIns="45720" rtlCol="0" anchor="ctr">
            <a:noAutofit/>
          </a:bodyPr>
          <a:lstStyle>
            <a:lvl1pPr algn="l">
              <a:defRPr sz="2000" b="1">
                <a:solidFill>
                  <a:schemeClr val="bg1"/>
                </a:solidFill>
                <a:latin typeface="+mj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51567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Part V </a:t>
            </a:r>
            <a:r>
              <a:rPr lang="en-US" altLang="zh-CN" sz="2000" b="1" i="0" u="none" strike="noStrike" kern="1200" baseline="0" dirty="0">
                <a:solidFill>
                  <a:srgbClr val="515672"/>
                </a:solidFill>
                <a:latin typeface="+mj-lt"/>
                <a:ea typeface="+mn-ea"/>
                <a:cs typeface="+mn-cs"/>
              </a:rPr>
              <a:t>Test Your Listening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51567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C3FACB-9944-46C7-BB15-79BEA3D61AE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93EA13-C732-4F17-8516-92EE82C34A8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6.emf"/><Relationship Id="rId8" Type="http://schemas.openxmlformats.org/officeDocument/2006/relationships/hyperlink" Target="U3_Script1.mp3" TargetMode="External"/><Relationship Id="rId7" Type="http://schemas.openxmlformats.org/officeDocument/2006/relationships/image" Target="../media/image5.emf"/><Relationship Id="rId6" Type="http://schemas.openxmlformats.org/officeDocument/2006/relationships/image" Target="../media/image4.emf"/><Relationship Id="rId5" Type="http://schemas.openxmlformats.org/officeDocument/2006/relationships/image" Target="../media/image3.emf"/><Relationship Id="rId4" Type="http://schemas.openxmlformats.org/officeDocument/2006/relationships/image" Target="../media/image2.emf"/><Relationship Id="rId3" Type="http://schemas.openxmlformats.org/officeDocument/2006/relationships/hyperlink" Target="Script1.pptx" TargetMode="External"/><Relationship Id="rId2" Type="http://schemas.openxmlformats.org/officeDocument/2006/relationships/slide" Target="slide1.xml"/><Relationship Id="rId14" Type="http://schemas.openxmlformats.org/officeDocument/2006/relationships/notesSlide" Target="../notesSlides/notesSlide1.xml"/><Relationship Id="rId13" Type="http://schemas.openxmlformats.org/officeDocument/2006/relationships/slideLayout" Target="../slideLayouts/slideLayout2.xml"/><Relationship Id="rId12" Type="http://schemas.openxmlformats.org/officeDocument/2006/relationships/image" Target="../media/image7.png"/><Relationship Id="rId11" Type="http://schemas.microsoft.com/office/2007/relationships/media" Target="../media/media1.mp3"/><Relationship Id="rId10" Type="http://schemas.openxmlformats.org/officeDocument/2006/relationships/audio" Target="../media/media1.mp3"/><Relationship Id="rId1" Type="http://schemas.openxmlformats.org/officeDocument/2006/relationships/slide" Target="slide2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6.emf"/><Relationship Id="rId8" Type="http://schemas.openxmlformats.org/officeDocument/2006/relationships/hyperlink" Target="U3_Script2.mp3" TargetMode="External"/><Relationship Id="rId7" Type="http://schemas.openxmlformats.org/officeDocument/2006/relationships/image" Target="../media/image5.emf"/><Relationship Id="rId6" Type="http://schemas.openxmlformats.org/officeDocument/2006/relationships/image" Target="../media/image4.emf"/><Relationship Id="rId5" Type="http://schemas.openxmlformats.org/officeDocument/2006/relationships/image" Target="../media/image3.emf"/><Relationship Id="rId4" Type="http://schemas.openxmlformats.org/officeDocument/2006/relationships/image" Target="../media/image2.emf"/><Relationship Id="rId3" Type="http://schemas.openxmlformats.org/officeDocument/2006/relationships/hyperlink" Target="Script2.pptx" TargetMode="External"/><Relationship Id="rId2" Type="http://schemas.openxmlformats.org/officeDocument/2006/relationships/slide" Target="slide1.xml"/><Relationship Id="rId13" Type="http://schemas.openxmlformats.org/officeDocument/2006/relationships/slideLayout" Target="../slideLayouts/slideLayout2.xml"/><Relationship Id="rId12" Type="http://schemas.openxmlformats.org/officeDocument/2006/relationships/image" Target="../media/image7.png"/><Relationship Id="rId11" Type="http://schemas.microsoft.com/office/2007/relationships/media" Target="../media/media2.mp3"/><Relationship Id="rId10" Type="http://schemas.openxmlformats.org/officeDocument/2006/relationships/audio" Target="../media/media2.mp3"/><Relationship Id="rId1" Type="http://schemas.openxmlformats.org/officeDocument/2006/relationships/slide" Target="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文本框 49"/>
          <p:cNvSpPr txBox="1"/>
          <p:nvPr/>
        </p:nvSpPr>
        <p:spPr>
          <a:xfrm>
            <a:off x="323850" y="2398812"/>
            <a:ext cx="8569325" cy="38625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600"/>
              </a:spcBef>
            </a:pPr>
            <a:r>
              <a:rPr lang="en-US" altLang="zh-CN" sz="2000" b="1" dirty="0">
                <a:latin typeface="+mj-lt"/>
              </a:rPr>
              <a:t>Questions 1 to 4 are based on the conversation you have just heard.</a:t>
            </a:r>
            <a:endParaRPr lang="en-US" altLang="zh-CN" sz="2000" b="1" dirty="0">
              <a:latin typeface="+mj-lt"/>
            </a:endParaRPr>
          </a:p>
          <a:p>
            <a:r>
              <a:rPr lang="en-US" altLang="zh-CN" sz="2000" b="1" dirty="0"/>
              <a:t>1. </a:t>
            </a:r>
            <a:r>
              <a:rPr lang="en-US" altLang="zh-CN" sz="2000" dirty="0"/>
              <a:t>A. Los Angeles.                 B. New York.                 C. San Francisco.                 D. Washington D.C.</a:t>
            </a:r>
            <a:r>
              <a:rPr lang="en-US" altLang="zh-CN" sz="2000" b="1" dirty="0"/>
              <a:t> </a:t>
            </a:r>
            <a:endParaRPr lang="en-US" altLang="zh-CN" sz="2000" b="1" dirty="0"/>
          </a:p>
          <a:p>
            <a:pPr>
              <a:spcBef>
                <a:spcPts val="600"/>
              </a:spcBef>
            </a:pPr>
            <a:r>
              <a:rPr lang="en-US" altLang="zh-CN" sz="2000" b="1" dirty="0"/>
              <a:t>2. </a:t>
            </a:r>
            <a:endParaRPr lang="en-US" altLang="zh-CN" sz="2000" dirty="0"/>
          </a:p>
          <a:p>
            <a:pPr>
              <a:spcBef>
                <a:spcPts val="600"/>
              </a:spcBef>
            </a:pPr>
            <a:endParaRPr lang="en-US" altLang="zh-CN" sz="2000" dirty="0"/>
          </a:p>
          <a:p>
            <a:pPr>
              <a:spcBef>
                <a:spcPts val="600"/>
              </a:spcBef>
            </a:pPr>
            <a:endParaRPr lang="en-US" altLang="zh-CN" sz="2000" b="1" dirty="0"/>
          </a:p>
          <a:p>
            <a:pPr>
              <a:spcBef>
                <a:spcPts val="600"/>
              </a:spcBef>
            </a:pPr>
            <a:endParaRPr lang="en-US" altLang="zh-CN" sz="2000" b="1" dirty="0"/>
          </a:p>
          <a:p>
            <a:pPr>
              <a:spcBef>
                <a:spcPts val="600"/>
              </a:spcBef>
            </a:pPr>
            <a:r>
              <a:rPr lang="en-US" altLang="zh-CN" sz="2000" b="1" dirty="0"/>
              <a:t>3. </a:t>
            </a:r>
            <a:endParaRPr lang="en-US" altLang="zh-CN" sz="2000" dirty="0"/>
          </a:p>
          <a:p>
            <a:pPr>
              <a:spcBef>
                <a:spcPts val="600"/>
              </a:spcBef>
            </a:pPr>
            <a:endParaRPr lang="en-US" altLang="zh-CN" sz="2000" b="1" dirty="0"/>
          </a:p>
          <a:p>
            <a:pPr>
              <a:spcBef>
                <a:spcPts val="600"/>
              </a:spcBef>
            </a:pPr>
            <a:r>
              <a:rPr lang="en-US" altLang="zh-CN" sz="2000" b="1" dirty="0"/>
              <a:t>4. </a:t>
            </a:r>
            <a:endParaRPr lang="en-US" altLang="zh-CN" sz="2000" dirty="0"/>
          </a:p>
          <a:p>
            <a:pPr>
              <a:spcBef>
                <a:spcPts val="600"/>
              </a:spcBef>
            </a:pPr>
            <a:endParaRPr lang="zh-CN" altLang="en-US" sz="2000" dirty="0"/>
          </a:p>
        </p:txBody>
      </p:sp>
      <p:sp>
        <p:nvSpPr>
          <p:cNvPr id="10" name="文本框 9"/>
          <p:cNvSpPr txBox="1"/>
          <p:nvPr/>
        </p:nvSpPr>
        <p:spPr>
          <a:xfrm>
            <a:off x="563935" y="2398812"/>
            <a:ext cx="6942926" cy="38625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ts val="600"/>
              </a:spcBef>
            </a:pPr>
            <a:endParaRPr lang="en-US" altLang="zh-CN" sz="2000" dirty="0"/>
          </a:p>
          <a:p>
            <a:pPr>
              <a:spcBef>
                <a:spcPts val="600"/>
              </a:spcBef>
            </a:pPr>
            <a:r>
              <a:rPr lang="en-US" altLang="zh-CN" sz="2000" dirty="0"/>
              <a:t>       </a:t>
            </a:r>
            <a:endParaRPr lang="en-US" altLang="zh-CN" sz="2000" dirty="0"/>
          </a:p>
          <a:p>
            <a:r>
              <a:rPr lang="en-US" altLang="zh-CN" sz="2000" dirty="0"/>
              <a:t>A. It was hard for Linda to fall asleep last night.</a:t>
            </a:r>
            <a:endParaRPr lang="en-US" altLang="zh-CN" sz="2000" dirty="0"/>
          </a:p>
          <a:p>
            <a:pPr>
              <a:spcBef>
                <a:spcPts val="600"/>
              </a:spcBef>
            </a:pPr>
            <a:r>
              <a:rPr lang="en-US" altLang="zh-CN" sz="2000" dirty="0"/>
              <a:t>B. If you are very tired in the afternoon, you’d better sleep for hours.</a:t>
            </a:r>
            <a:endParaRPr lang="en-US" altLang="zh-CN" sz="2000" dirty="0"/>
          </a:p>
          <a:p>
            <a:pPr>
              <a:spcBef>
                <a:spcPts val="600"/>
              </a:spcBef>
            </a:pPr>
            <a:r>
              <a:rPr lang="en-US" altLang="zh-CN" sz="2000" dirty="0"/>
              <a:t>C. Travelling between different time zones changes one’s internal clock.</a:t>
            </a:r>
            <a:endParaRPr lang="en-US" altLang="zh-CN" sz="2000" dirty="0"/>
          </a:p>
          <a:p>
            <a:pPr>
              <a:spcBef>
                <a:spcPts val="600"/>
              </a:spcBef>
            </a:pPr>
            <a:r>
              <a:rPr lang="en-US" altLang="zh-CN" sz="2000" dirty="0"/>
              <a:t>D. Trying to sleep for the whole flight might help you feel better.</a:t>
            </a:r>
            <a:endParaRPr lang="en-US" altLang="zh-CN" sz="2000" dirty="0"/>
          </a:p>
          <a:p>
            <a:pPr>
              <a:spcBef>
                <a:spcPts val="600"/>
              </a:spcBef>
            </a:pPr>
            <a:r>
              <a:rPr lang="en-US" altLang="zh-CN" sz="2000" dirty="0"/>
              <a:t>A. Jet lag.</a:t>
            </a:r>
            <a:endParaRPr lang="en-US" altLang="zh-CN" sz="2000" dirty="0"/>
          </a:p>
          <a:p>
            <a:pPr>
              <a:spcBef>
                <a:spcPts val="600"/>
              </a:spcBef>
            </a:pPr>
            <a:r>
              <a:rPr lang="en-US" altLang="zh-CN" sz="2000" dirty="0"/>
              <a:t>C. Healthy habits.</a:t>
            </a:r>
            <a:endParaRPr lang="en-US" altLang="zh-CN" sz="2000" dirty="0"/>
          </a:p>
          <a:p>
            <a:pPr>
              <a:spcBef>
                <a:spcPts val="600"/>
              </a:spcBef>
            </a:pPr>
            <a:r>
              <a:rPr lang="en-US" altLang="zh-CN" sz="2000" dirty="0"/>
              <a:t>A. Try to adapt to the local time.</a:t>
            </a:r>
            <a:endParaRPr lang="en-US" altLang="zh-CN" sz="2000" dirty="0"/>
          </a:p>
          <a:p>
            <a:pPr>
              <a:spcBef>
                <a:spcPts val="600"/>
              </a:spcBef>
            </a:pPr>
            <a:r>
              <a:rPr lang="en-US" altLang="zh-CN" sz="2000" dirty="0"/>
              <a:t>C. Stay awake for the whole flight.</a:t>
            </a:r>
            <a:endParaRPr lang="zh-CN" altLang="en-US" sz="2000" dirty="0"/>
          </a:p>
        </p:txBody>
      </p:sp>
      <p:sp>
        <p:nvSpPr>
          <p:cNvPr id="7" name="文本框 6"/>
          <p:cNvSpPr txBox="1"/>
          <p:nvPr/>
        </p:nvSpPr>
        <p:spPr>
          <a:xfrm>
            <a:off x="4471417" y="2398812"/>
            <a:ext cx="3839513" cy="38625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ts val="600"/>
              </a:spcBef>
            </a:pPr>
            <a:endParaRPr lang="en-US" altLang="zh-CN" sz="2000" dirty="0"/>
          </a:p>
          <a:p>
            <a:endParaRPr lang="en-US" altLang="zh-CN" sz="2000" dirty="0"/>
          </a:p>
          <a:p>
            <a:pPr>
              <a:spcBef>
                <a:spcPts val="600"/>
              </a:spcBef>
            </a:pPr>
            <a:endParaRPr lang="en-US" altLang="zh-CN" sz="2000" dirty="0"/>
          </a:p>
          <a:p>
            <a:pPr>
              <a:spcBef>
                <a:spcPts val="600"/>
              </a:spcBef>
            </a:pPr>
            <a:r>
              <a:rPr lang="en-US" altLang="zh-CN" sz="2000" dirty="0"/>
              <a:t> </a:t>
            </a:r>
            <a:endParaRPr lang="en-US" altLang="zh-CN" sz="2000" dirty="0"/>
          </a:p>
          <a:p>
            <a:pPr>
              <a:spcBef>
                <a:spcPts val="600"/>
              </a:spcBef>
            </a:pPr>
            <a:endParaRPr lang="en-US" altLang="zh-CN" sz="2000" dirty="0"/>
          </a:p>
          <a:p>
            <a:pPr>
              <a:spcBef>
                <a:spcPts val="600"/>
              </a:spcBef>
            </a:pPr>
            <a:endParaRPr lang="en-US" altLang="zh-CN" sz="2000" dirty="0"/>
          </a:p>
          <a:p>
            <a:pPr>
              <a:spcBef>
                <a:spcPts val="600"/>
              </a:spcBef>
            </a:pPr>
            <a:r>
              <a:rPr lang="en-US" altLang="zh-CN" sz="2000" dirty="0"/>
              <a:t>B. Lifestyles.</a:t>
            </a:r>
            <a:endParaRPr lang="en-US" altLang="zh-CN" sz="2000" dirty="0"/>
          </a:p>
          <a:p>
            <a:pPr>
              <a:spcBef>
                <a:spcPts val="600"/>
              </a:spcBef>
            </a:pPr>
            <a:r>
              <a:rPr lang="en-US" altLang="zh-CN" sz="2000" dirty="0"/>
              <a:t>D. Sleeping problems.</a:t>
            </a:r>
            <a:endParaRPr lang="en-US" altLang="zh-CN" sz="2000" dirty="0"/>
          </a:p>
          <a:p>
            <a:pPr>
              <a:spcBef>
                <a:spcPts val="600"/>
              </a:spcBef>
            </a:pPr>
            <a:r>
              <a:rPr lang="en-US" altLang="zh-CN" sz="2000" dirty="0"/>
              <a:t>B. Sleep for the whole flight.</a:t>
            </a:r>
            <a:endParaRPr lang="en-US" altLang="zh-CN" sz="2000" dirty="0"/>
          </a:p>
          <a:p>
            <a:pPr>
              <a:spcBef>
                <a:spcPts val="600"/>
              </a:spcBef>
            </a:pPr>
            <a:r>
              <a:rPr lang="en-US" altLang="zh-CN" sz="2000" dirty="0"/>
              <a:t>D. Take sleeping pills during the flight.</a:t>
            </a:r>
            <a:endParaRPr lang="zh-CN" altLang="en-US" sz="2000" dirty="0">
              <a:latin typeface="+mj-lt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326366" y="1126172"/>
            <a:ext cx="856680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2000" b="1" spc="-60" dirty="0">
                <a:latin typeface="+mj-lt"/>
              </a:rPr>
              <a:t>Directions: </a:t>
            </a:r>
            <a:r>
              <a:rPr lang="en-US" altLang="zh-CN" sz="2000" i="1" spc="-60" dirty="0">
                <a:latin typeface="+mj-lt"/>
              </a:rPr>
              <a:t>In this section, you will hear a long conversation. At the end of the conversation</a:t>
            </a:r>
            <a:r>
              <a:rPr lang="en-US" altLang="zh-CN" sz="2000" i="1" spc="-50" dirty="0">
                <a:latin typeface="+mj-lt"/>
              </a:rPr>
              <a:t>,</a:t>
            </a:r>
            <a:r>
              <a:rPr lang="en-US" altLang="zh-CN" sz="2000" i="1" dirty="0">
                <a:latin typeface="+mj-lt"/>
              </a:rPr>
              <a:t> </a:t>
            </a:r>
            <a:r>
              <a:rPr lang="en-US" altLang="zh-CN" sz="2000" i="1" spc="10" dirty="0">
                <a:latin typeface="+mj-lt"/>
              </a:rPr>
              <a:t>you will hear four questions. Both the conversation and the questions will be spoken</a:t>
            </a:r>
            <a:r>
              <a:rPr lang="en-US" altLang="zh-CN" sz="2000" i="1" dirty="0">
                <a:latin typeface="+mj-lt"/>
              </a:rPr>
              <a:t> only once. After you hear a question, choose the best answer.</a:t>
            </a:r>
            <a:endParaRPr lang="zh-CN" altLang="en-US" sz="2000" dirty="0">
              <a:latin typeface="+mj-lt"/>
            </a:endParaRPr>
          </a:p>
          <a:p>
            <a:pPr algn="just"/>
            <a:endParaRPr lang="zh-CN" altLang="en-US" sz="2000" dirty="0">
              <a:latin typeface="+mj-lt"/>
            </a:endParaRPr>
          </a:p>
        </p:txBody>
      </p:sp>
      <p:grpSp>
        <p:nvGrpSpPr>
          <p:cNvPr id="41" name="下一页"/>
          <p:cNvGrpSpPr/>
          <p:nvPr/>
        </p:nvGrpSpPr>
        <p:grpSpPr>
          <a:xfrm>
            <a:off x="8750845" y="6578304"/>
            <a:ext cx="264567" cy="210642"/>
            <a:chOff x="8750845" y="6578304"/>
            <a:chExt cx="264567" cy="210642"/>
          </a:xfrm>
        </p:grpSpPr>
        <p:sp>
          <p:nvSpPr>
            <p:cNvPr id="42" name="右箭头">
              <a:hlinkClick r:id="" action="ppaction://hlinkshowjump?jump=nextslide"/>
            </p:cNvPr>
            <p:cNvSpPr/>
            <p:nvPr/>
          </p:nvSpPr>
          <p:spPr bwMode="auto">
            <a:xfrm>
              <a:off x="8786568" y="6604402"/>
              <a:ext cx="191620" cy="166338"/>
            </a:xfrm>
            <a:custGeom>
              <a:avLst/>
              <a:gdLst/>
              <a:ahLst/>
              <a:cxnLst>
                <a:cxn ang="0">
                  <a:pos x="1115" y="1511"/>
                </a:cxn>
                <a:cxn ang="0">
                  <a:pos x="1755" y="871"/>
                </a:cxn>
                <a:cxn ang="0">
                  <a:pos x="1755" y="689"/>
                </a:cxn>
                <a:cxn ang="0">
                  <a:pos x="1115" y="49"/>
                </a:cxn>
                <a:cxn ang="0">
                  <a:pos x="933" y="49"/>
                </a:cxn>
                <a:cxn ang="0">
                  <a:pos x="933" y="231"/>
                </a:cxn>
                <a:cxn ang="0">
                  <a:pos x="1355" y="652"/>
                </a:cxn>
                <a:cxn ang="0">
                  <a:pos x="128" y="652"/>
                </a:cxn>
                <a:cxn ang="0">
                  <a:pos x="0" y="780"/>
                </a:cxn>
                <a:cxn ang="0">
                  <a:pos x="128" y="908"/>
                </a:cxn>
                <a:cxn ang="0">
                  <a:pos x="1355" y="908"/>
                </a:cxn>
                <a:cxn ang="0">
                  <a:pos x="933" y="1329"/>
                </a:cxn>
                <a:cxn ang="0">
                  <a:pos x="896" y="1420"/>
                </a:cxn>
                <a:cxn ang="0">
                  <a:pos x="933" y="1511"/>
                </a:cxn>
                <a:cxn ang="0">
                  <a:pos x="1115" y="1511"/>
                </a:cxn>
              </a:cxnLst>
              <a:rect l="0" t="0" r="r" b="b"/>
              <a:pathLst>
                <a:path w="1804" h="1560">
                  <a:moveTo>
                    <a:pt x="1115" y="1511"/>
                  </a:moveTo>
                  <a:cubicBezTo>
                    <a:pt x="1755" y="871"/>
                    <a:pt x="1755" y="871"/>
                    <a:pt x="1755" y="871"/>
                  </a:cubicBezTo>
                  <a:cubicBezTo>
                    <a:pt x="1804" y="821"/>
                    <a:pt x="1804" y="739"/>
                    <a:pt x="1755" y="689"/>
                  </a:cubicBezTo>
                  <a:cubicBezTo>
                    <a:pt x="1115" y="49"/>
                    <a:pt x="1115" y="49"/>
                    <a:pt x="1115" y="49"/>
                  </a:cubicBezTo>
                  <a:cubicBezTo>
                    <a:pt x="1065" y="0"/>
                    <a:pt x="983" y="0"/>
                    <a:pt x="933" y="49"/>
                  </a:cubicBezTo>
                  <a:cubicBezTo>
                    <a:pt x="884" y="99"/>
                    <a:pt x="884" y="181"/>
                    <a:pt x="933" y="231"/>
                  </a:cubicBezTo>
                  <a:cubicBezTo>
                    <a:pt x="1355" y="652"/>
                    <a:pt x="1355" y="652"/>
                    <a:pt x="1355" y="652"/>
                  </a:cubicBezTo>
                  <a:cubicBezTo>
                    <a:pt x="128" y="652"/>
                    <a:pt x="128" y="652"/>
                    <a:pt x="128" y="652"/>
                  </a:cubicBezTo>
                  <a:cubicBezTo>
                    <a:pt x="57" y="652"/>
                    <a:pt x="0" y="709"/>
                    <a:pt x="0" y="780"/>
                  </a:cubicBezTo>
                  <a:cubicBezTo>
                    <a:pt x="0" y="851"/>
                    <a:pt x="57" y="908"/>
                    <a:pt x="128" y="908"/>
                  </a:cubicBezTo>
                  <a:cubicBezTo>
                    <a:pt x="1355" y="908"/>
                    <a:pt x="1355" y="908"/>
                    <a:pt x="1355" y="908"/>
                  </a:cubicBezTo>
                  <a:cubicBezTo>
                    <a:pt x="933" y="1329"/>
                    <a:pt x="933" y="1329"/>
                    <a:pt x="933" y="1329"/>
                  </a:cubicBezTo>
                  <a:cubicBezTo>
                    <a:pt x="908" y="1354"/>
                    <a:pt x="896" y="1387"/>
                    <a:pt x="896" y="1420"/>
                  </a:cubicBezTo>
                  <a:cubicBezTo>
                    <a:pt x="896" y="1453"/>
                    <a:pt x="908" y="1486"/>
                    <a:pt x="933" y="1511"/>
                  </a:cubicBezTo>
                  <a:cubicBezTo>
                    <a:pt x="983" y="1560"/>
                    <a:pt x="1065" y="1560"/>
                    <a:pt x="1115" y="1511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3" name="热区">
              <a:hlinkClick r:id="" action="ppaction://hlinkshowjump?jump=nextslide"/>
            </p:cNvPr>
            <p:cNvSpPr/>
            <p:nvPr/>
          </p:nvSpPr>
          <p:spPr>
            <a:xfrm>
              <a:off x="8750845" y="6578304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4" name="上一页"/>
          <p:cNvGrpSpPr/>
          <p:nvPr/>
        </p:nvGrpSpPr>
        <p:grpSpPr>
          <a:xfrm>
            <a:off x="8335464" y="6580685"/>
            <a:ext cx="264567" cy="210642"/>
            <a:chOff x="8335464" y="6580685"/>
            <a:chExt cx="264567" cy="210642"/>
          </a:xfrm>
        </p:grpSpPr>
        <p:sp>
          <p:nvSpPr>
            <p:cNvPr id="45" name="左箭头"/>
            <p:cNvSpPr/>
            <p:nvPr/>
          </p:nvSpPr>
          <p:spPr bwMode="auto">
            <a:xfrm rot="10800000">
              <a:off x="8380612" y="6604401"/>
              <a:ext cx="191620" cy="166338"/>
            </a:xfrm>
            <a:custGeom>
              <a:avLst/>
              <a:gdLst/>
              <a:ahLst/>
              <a:cxnLst>
                <a:cxn ang="0">
                  <a:pos x="1115" y="1511"/>
                </a:cxn>
                <a:cxn ang="0">
                  <a:pos x="1755" y="871"/>
                </a:cxn>
                <a:cxn ang="0">
                  <a:pos x="1755" y="689"/>
                </a:cxn>
                <a:cxn ang="0">
                  <a:pos x="1115" y="49"/>
                </a:cxn>
                <a:cxn ang="0">
                  <a:pos x="933" y="49"/>
                </a:cxn>
                <a:cxn ang="0">
                  <a:pos x="933" y="231"/>
                </a:cxn>
                <a:cxn ang="0">
                  <a:pos x="1355" y="652"/>
                </a:cxn>
                <a:cxn ang="0">
                  <a:pos x="128" y="652"/>
                </a:cxn>
                <a:cxn ang="0">
                  <a:pos x="0" y="780"/>
                </a:cxn>
                <a:cxn ang="0">
                  <a:pos x="128" y="908"/>
                </a:cxn>
                <a:cxn ang="0">
                  <a:pos x="1355" y="908"/>
                </a:cxn>
                <a:cxn ang="0">
                  <a:pos x="933" y="1329"/>
                </a:cxn>
                <a:cxn ang="0">
                  <a:pos x="896" y="1420"/>
                </a:cxn>
                <a:cxn ang="0">
                  <a:pos x="933" y="1511"/>
                </a:cxn>
                <a:cxn ang="0">
                  <a:pos x="1115" y="1511"/>
                </a:cxn>
              </a:cxnLst>
              <a:rect l="0" t="0" r="r" b="b"/>
              <a:pathLst>
                <a:path w="1804" h="1560">
                  <a:moveTo>
                    <a:pt x="1115" y="1511"/>
                  </a:moveTo>
                  <a:cubicBezTo>
                    <a:pt x="1755" y="871"/>
                    <a:pt x="1755" y="871"/>
                    <a:pt x="1755" y="871"/>
                  </a:cubicBezTo>
                  <a:cubicBezTo>
                    <a:pt x="1804" y="821"/>
                    <a:pt x="1804" y="739"/>
                    <a:pt x="1755" y="689"/>
                  </a:cubicBezTo>
                  <a:cubicBezTo>
                    <a:pt x="1115" y="49"/>
                    <a:pt x="1115" y="49"/>
                    <a:pt x="1115" y="49"/>
                  </a:cubicBezTo>
                  <a:cubicBezTo>
                    <a:pt x="1065" y="0"/>
                    <a:pt x="983" y="0"/>
                    <a:pt x="933" y="49"/>
                  </a:cubicBezTo>
                  <a:cubicBezTo>
                    <a:pt x="884" y="99"/>
                    <a:pt x="884" y="181"/>
                    <a:pt x="933" y="231"/>
                  </a:cubicBezTo>
                  <a:cubicBezTo>
                    <a:pt x="1355" y="652"/>
                    <a:pt x="1355" y="652"/>
                    <a:pt x="1355" y="652"/>
                  </a:cubicBezTo>
                  <a:cubicBezTo>
                    <a:pt x="128" y="652"/>
                    <a:pt x="128" y="652"/>
                    <a:pt x="128" y="652"/>
                  </a:cubicBezTo>
                  <a:cubicBezTo>
                    <a:pt x="57" y="652"/>
                    <a:pt x="0" y="709"/>
                    <a:pt x="0" y="780"/>
                  </a:cubicBezTo>
                  <a:cubicBezTo>
                    <a:pt x="0" y="851"/>
                    <a:pt x="57" y="908"/>
                    <a:pt x="128" y="908"/>
                  </a:cubicBezTo>
                  <a:cubicBezTo>
                    <a:pt x="1355" y="908"/>
                    <a:pt x="1355" y="908"/>
                    <a:pt x="1355" y="908"/>
                  </a:cubicBezTo>
                  <a:cubicBezTo>
                    <a:pt x="933" y="1329"/>
                    <a:pt x="933" y="1329"/>
                    <a:pt x="933" y="1329"/>
                  </a:cubicBezTo>
                  <a:cubicBezTo>
                    <a:pt x="908" y="1354"/>
                    <a:pt x="896" y="1387"/>
                    <a:pt x="896" y="1420"/>
                  </a:cubicBezTo>
                  <a:cubicBezTo>
                    <a:pt x="896" y="1453"/>
                    <a:pt x="908" y="1486"/>
                    <a:pt x="933" y="1511"/>
                  </a:cubicBezTo>
                  <a:cubicBezTo>
                    <a:pt x="983" y="1560"/>
                    <a:pt x="1065" y="1560"/>
                    <a:pt x="1115" y="1511"/>
                  </a:cubicBezTo>
                  <a:close/>
                </a:path>
              </a:pathLst>
            </a:custGeom>
            <a:solidFill>
              <a:srgbClr val="FFFFFF">
                <a:alpha val="30196"/>
              </a:srgb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6" name="热区"/>
            <p:cNvSpPr/>
            <p:nvPr/>
          </p:nvSpPr>
          <p:spPr>
            <a:xfrm>
              <a:off x="8335464" y="6580685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7" name="返回按钮"/>
          <p:cNvGrpSpPr/>
          <p:nvPr/>
        </p:nvGrpSpPr>
        <p:grpSpPr>
          <a:xfrm>
            <a:off x="7875422" y="6585447"/>
            <a:ext cx="264567" cy="210642"/>
            <a:chOff x="7875422" y="6585447"/>
            <a:chExt cx="264567" cy="210642"/>
          </a:xfrm>
        </p:grpSpPr>
        <p:sp>
          <p:nvSpPr>
            <p:cNvPr id="48" name="返回箭头">
              <a:hlinkClick r:id="" action="ppaction://hlinkshowjump?jump=endshow"/>
            </p:cNvPr>
            <p:cNvSpPr/>
            <p:nvPr/>
          </p:nvSpPr>
          <p:spPr bwMode="auto">
            <a:xfrm>
              <a:off x="7919210" y="6598497"/>
              <a:ext cx="182307" cy="180975"/>
            </a:xfrm>
            <a:custGeom>
              <a:avLst/>
              <a:gdLst/>
              <a:ahLst/>
              <a:cxnLst>
                <a:cxn ang="0">
                  <a:pos x="1780" y="1910"/>
                </a:cxn>
                <a:cxn ang="0">
                  <a:pos x="856" y="1910"/>
                </a:cxn>
                <a:cxn ang="0">
                  <a:pos x="850" y="1911"/>
                </a:cxn>
                <a:cxn ang="0">
                  <a:pos x="710" y="1776"/>
                </a:cxn>
                <a:cxn ang="0">
                  <a:pos x="710" y="476"/>
                </a:cxn>
                <a:cxn ang="0">
                  <a:pos x="251" y="922"/>
                </a:cxn>
                <a:cxn ang="0">
                  <a:pos x="54" y="922"/>
                </a:cxn>
                <a:cxn ang="0">
                  <a:pos x="54" y="731"/>
                </a:cxn>
                <a:cxn ang="0">
                  <a:pos x="751" y="53"/>
                </a:cxn>
                <a:cxn ang="0">
                  <a:pos x="948" y="53"/>
                </a:cxn>
                <a:cxn ang="0">
                  <a:pos x="1645" y="731"/>
                </a:cxn>
                <a:cxn ang="0">
                  <a:pos x="1645" y="922"/>
                </a:cxn>
                <a:cxn ang="0">
                  <a:pos x="1546" y="962"/>
                </a:cxn>
                <a:cxn ang="0">
                  <a:pos x="1448" y="922"/>
                </a:cxn>
                <a:cxn ang="0">
                  <a:pos x="989" y="476"/>
                </a:cxn>
                <a:cxn ang="0">
                  <a:pos x="989" y="1608"/>
                </a:cxn>
                <a:cxn ang="0">
                  <a:pos x="1780" y="1608"/>
                </a:cxn>
                <a:cxn ang="0">
                  <a:pos x="1916" y="1759"/>
                </a:cxn>
                <a:cxn ang="0">
                  <a:pos x="1780" y="1910"/>
                </a:cxn>
              </a:cxnLst>
              <a:rect l="0" t="0" r="r" b="b"/>
              <a:pathLst>
                <a:path w="1916" h="1911">
                  <a:moveTo>
                    <a:pt x="1780" y="1910"/>
                  </a:moveTo>
                  <a:cubicBezTo>
                    <a:pt x="856" y="1910"/>
                    <a:pt x="856" y="1910"/>
                    <a:pt x="856" y="1910"/>
                  </a:cubicBezTo>
                  <a:cubicBezTo>
                    <a:pt x="854" y="1910"/>
                    <a:pt x="852" y="1911"/>
                    <a:pt x="850" y="1911"/>
                  </a:cubicBezTo>
                  <a:cubicBezTo>
                    <a:pt x="773" y="1911"/>
                    <a:pt x="710" y="1851"/>
                    <a:pt x="710" y="1776"/>
                  </a:cubicBezTo>
                  <a:cubicBezTo>
                    <a:pt x="710" y="476"/>
                    <a:pt x="710" y="476"/>
                    <a:pt x="710" y="476"/>
                  </a:cubicBezTo>
                  <a:cubicBezTo>
                    <a:pt x="251" y="922"/>
                    <a:pt x="251" y="922"/>
                    <a:pt x="251" y="922"/>
                  </a:cubicBezTo>
                  <a:cubicBezTo>
                    <a:pt x="197" y="975"/>
                    <a:pt x="109" y="975"/>
                    <a:pt x="54" y="922"/>
                  </a:cubicBezTo>
                  <a:cubicBezTo>
                    <a:pt x="0" y="869"/>
                    <a:pt x="0" y="784"/>
                    <a:pt x="54" y="731"/>
                  </a:cubicBezTo>
                  <a:cubicBezTo>
                    <a:pt x="751" y="53"/>
                    <a:pt x="751" y="53"/>
                    <a:pt x="751" y="53"/>
                  </a:cubicBezTo>
                  <a:cubicBezTo>
                    <a:pt x="806" y="0"/>
                    <a:pt x="894" y="0"/>
                    <a:pt x="948" y="53"/>
                  </a:cubicBezTo>
                  <a:cubicBezTo>
                    <a:pt x="1645" y="731"/>
                    <a:pt x="1645" y="731"/>
                    <a:pt x="1645" y="731"/>
                  </a:cubicBezTo>
                  <a:cubicBezTo>
                    <a:pt x="1699" y="784"/>
                    <a:pt x="1699" y="869"/>
                    <a:pt x="1645" y="922"/>
                  </a:cubicBezTo>
                  <a:cubicBezTo>
                    <a:pt x="1618" y="949"/>
                    <a:pt x="1582" y="962"/>
                    <a:pt x="1546" y="962"/>
                  </a:cubicBezTo>
                  <a:cubicBezTo>
                    <a:pt x="1511" y="962"/>
                    <a:pt x="1475" y="949"/>
                    <a:pt x="1448" y="922"/>
                  </a:cubicBezTo>
                  <a:cubicBezTo>
                    <a:pt x="989" y="476"/>
                    <a:pt x="989" y="476"/>
                    <a:pt x="989" y="476"/>
                  </a:cubicBezTo>
                  <a:cubicBezTo>
                    <a:pt x="989" y="1608"/>
                    <a:pt x="989" y="1608"/>
                    <a:pt x="989" y="1608"/>
                  </a:cubicBezTo>
                  <a:cubicBezTo>
                    <a:pt x="1780" y="1608"/>
                    <a:pt x="1780" y="1608"/>
                    <a:pt x="1780" y="1608"/>
                  </a:cubicBezTo>
                  <a:cubicBezTo>
                    <a:pt x="1855" y="1608"/>
                    <a:pt x="1916" y="1675"/>
                    <a:pt x="1916" y="1759"/>
                  </a:cubicBezTo>
                  <a:cubicBezTo>
                    <a:pt x="1916" y="1842"/>
                    <a:pt x="1855" y="1910"/>
                    <a:pt x="1780" y="191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9" name="热区">
              <a:hlinkClick r:id="" action="ppaction://hlinkshowjump?jump=endshow"/>
            </p:cNvPr>
            <p:cNvSpPr/>
            <p:nvPr/>
          </p:nvSpPr>
          <p:spPr>
            <a:xfrm>
              <a:off x="7875422" y="6585447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3" name="矩形 22"/>
          <p:cNvSpPr/>
          <p:nvPr/>
        </p:nvSpPr>
        <p:spPr>
          <a:xfrm>
            <a:off x="0" y="476672"/>
            <a:ext cx="9144000" cy="432048"/>
          </a:xfrm>
          <a:prstGeom prst="rect">
            <a:avLst/>
          </a:prstGeom>
          <a:solidFill>
            <a:srgbClr val="FFDD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r>
              <a:rPr lang="en-US" altLang="zh-CN" sz="1600" b="1" dirty="0">
                <a:solidFill>
                  <a:srgbClr val="515672"/>
                </a:solidFill>
                <a:latin typeface="+mj-lt"/>
              </a:rPr>
              <a:t>Section A Long Conversation        </a:t>
            </a:r>
            <a:r>
              <a:rPr lang="en-US" altLang="zh-CN" sz="1600" b="1" dirty="0">
                <a:solidFill>
                  <a:schemeClr val="accent4"/>
                </a:solidFill>
                <a:latin typeface="+mj-lt"/>
              </a:rPr>
              <a:t>Section B Passage</a:t>
            </a:r>
            <a:endParaRPr lang="en-US" altLang="zh-CN" sz="1600" b="0" i="0" u="none" strike="noStrike" baseline="0" dirty="0">
              <a:solidFill>
                <a:schemeClr val="accent4"/>
              </a:solidFill>
              <a:latin typeface="+mj-lt"/>
            </a:endParaRPr>
          </a:p>
        </p:txBody>
      </p:sp>
      <p:sp>
        <p:nvSpPr>
          <p:cNvPr id="24" name="btn-Part 1">
            <a:hlinkClick r:id="rId1" action="ppaction://hlinksldjump"/>
          </p:cNvPr>
          <p:cNvSpPr/>
          <p:nvPr/>
        </p:nvSpPr>
        <p:spPr>
          <a:xfrm>
            <a:off x="2843808" y="514772"/>
            <a:ext cx="2549842" cy="3802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btn-Part 1">
            <a:hlinkClick r:id="rId2" action="ppaction://hlinksldjump"/>
          </p:cNvPr>
          <p:cNvSpPr/>
          <p:nvPr/>
        </p:nvSpPr>
        <p:spPr>
          <a:xfrm>
            <a:off x="117028" y="528464"/>
            <a:ext cx="2366739" cy="3802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6" name="按钮-Script">
            <a:hlinkClick r:id="rId3" action="ppaction://hlinkpres?slideindex=1&amp;slidetitle="/>
          </p:cNvPr>
          <p:cNvPicPr>
            <a:picLocks noChangeAspect="1" noChangeArrowheads="1"/>
          </p:cNvPicPr>
          <p:nvPr/>
        </p:nvPicPr>
        <p:blipFill>
          <a:blip r:embed="rId4" cstate="print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3067800" y="2107876"/>
            <a:ext cx="904875" cy="333375"/>
          </a:xfrm>
          <a:prstGeom prst="rect">
            <a:avLst/>
          </a:prstGeom>
        </p:spPr>
      </p:pic>
      <p:pic>
        <p:nvPicPr>
          <p:cNvPr id="37" name="播放按钮"/>
          <p:cNvPicPr>
            <a:picLocks noChangeAspect="1" noChangeArrowheads="1"/>
          </p:cNvPicPr>
          <p:nvPr/>
        </p:nvPicPr>
        <p:blipFill>
          <a:blip r:embed="rId5" cstate="print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424086" y="2107876"/>
            <a:ext cx="295275" cy="304800"/>
          </a:xfrm>
          <a:prstGeom prst="rect">
            <a:avLst/>
          </a:prstGeom>
        </p:spPr>
      </p:pic>
      <p:pic>
        <p:nvPicPr>
          <p:cNvPr id="38" name="暂停按钮"/>
          <p:cNvPicPr>
            <a:picLocks noChangeAspect="1" noChangeArrowheads="1"/>
          </p:cNvPicPr>
          <p:nvPr/>
        </p:nvPicPr>
        <p:blipFill>
          <a:blip r:embed="rId6" cstate="print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784126" y="2107876"/>
            <a:ext cx="295275" cy="304800"/>
          </a:xfrm>
          <a:prstGeom prst="rect">
            <a:avLst/>
          </a:prstGeom>
        </p:spPr>
      </p:pic>
      <p:pic>
        <p:nvPicPr>
          <p:cNvPr id="39" name="停止按钮"/>
          <p:cNvPicPr>
            <a:picLocks noChangeAspect="1" noChangeArrowheads="1"/>
          </p:cNvPicPr>
          <p:nvPr/>
        </p:nvPicPr>
        <p:blipFill>
          <a:blip r:embed="rId7" cstate="print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1144166" y="2107876"/>
            <a:ext cx="295275" cy="304800"/>
          </a:xfrm>
          <a:prstGeom prst="rect">
            <a:avLst/>
          </a:prstGeom>
        </p:spPr>
      </p:pic>
      <p:pic>
        <p:nvPicPr>
          <p:cNvPr id="40" name="按钮-External Player">
            <a:hlinkClick r:id="rId8" action="ppaction://hlinkfile"/>
          </p:cNvPr>
          <p:cNvPicPr>
            <a:picLocks noChangeAspect="1" noChangeArrowheads="1"/>
          </p:cNvPicPr>
          <p:nvPr/>
        </p:nvPicPr>
        <p:blipFill>
          <a:blip r:embed="rId9" cstate="print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1510556" y="2107876"/>
            <a:ext cx="1521337" cy="308000"/>
          </a:xfrm>
          <a:prstGeom prst="rect">
            <a:avLst/>
          </a:prstGeom>
        </p:spPr>
      </p:pic>
      <p:sp>
        <p:nvSpPr>
          <p:cNvPr id="18" name="同心圆 17"/>
          <p:cNvSpPr/>
          <p:nvPr/>
        </p:nvSpPr>
        <p:spPr>
          <a:xfrm>
            <a:off x="471190" y="2652318"/>
            <a:ext cx="525065" cy="525065"/>
          </a:xfrm>
          <a:prstGeom prst="donut">
            <a:avLst>
              <a:gd name="adj" fmla="val 14931"/>
            </a:avLst>
          </a:prstGeom>
          <a:solidFill>
            <a:srgbClr val="4F81BD">
              <a:alpha val="69804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9" name="热区"/>
          <p:cNvSpPr/>
          <p:nvPr/>
        </p:nvSpPr>
        <p:spPr>
          <a:xfrm>
            <a:off x="343170" y="2775595"/>
            <a:ext cx="8333285" cy="3105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同心圆 30"/>
          <p:cNvSpPr/>
          <p:nvPr/>
        </p:nvSpPr>
        <p:spPr>
          <a:xfrm>
            <a:off x="471190" y="3407991"/>
            <a:ext cx="525065" cy="525065"/>
          </a:xfrm>
          <a:prstGeom prst="donut">
            <a:avLst>
              <a:gd name="adj" fmla="val 14931"/>
            </a:avLst>
          </a:prstGeom>
          <a:solidFill>
            <a:srgbClr val="4F81BD">
              <a:alpha val="69804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2" name="热区"/>
          <p:cNvSpPr/>
          <p:nvPr/>
        </p:nvSpPr>
        <p:spPr>
          <a:xfrm>
            <a:off x="343171" y="3209377"/>
            <a:ext cx="6965134" cy="135074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同心圆 32"/>
          <p:cNvSpPr/>
          <p:nvPr/>
        </p:nvSpPr>
        <p:spPr>
          <a:xfrm>
            <a:off x="471190" y="4560119"/>
            <a:ext cx="525065" cy="525065"/>
          </a:xfrm>
          <a:prstGeom prst="donut">
            <a:avLst>
              <a:gd name="adj" fmla="val 14931"/>
            </a:avLst>
          </a:prstGeom>
          <a:solidFill>
            <a:srgbClr val="4F81BD">
              <a:alpha val="69804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4" name="热区"/>
          <p:cNvSpPr/>
          <p:nvPr/>
        </p:nvSpPr>
        <p:spPr>
          <a:xfrm>
            <a:off x="343171" y="4683396"/>
            <a:ext cx="6317062" cy="69272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同心圆 56"/>
          <p:cNvSpPr/>
          <p:nvPr/>
        </p:nvSpPr>
        <p:spPr>
          <a:xfrm>
            <a:off x="4387925" y="5712247"/>
            <a:ext cx="525065" cy="525065"/>
          </a:xfrm>
          <a:prstGeom prst="donut">
            <a:avLst>
              <a:gd name="adj" fmla="val 14931"/>
            </a:avLst>
          </a:prstGeom>
          <a:solidFill>
            <a:srgbClr val="4F81BD">
              <a:alpha val="69804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8" name="热区"/>
          <p:cNvSpPr/>
          <p:nvPr/>
        </p:nvSpPr>
        <p:spPr>
          <a:xfrm>
            <a:off x="343171" y="5486698"/>
            <a:ext cx="7901238" cy="60659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U3_Script1">
            <a:hlinkClick r:id="" action="ppaction://media"/>
          </p:cNvPr>
          <p:cNvPicPr>
            <a:picLocks noChangeAspect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-823775" y="1969763"/>
            <a:ext cx="609600" cy="6096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4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8"/>
                  </p:tgtEl>
                </p:cond>
              </p:nextCondLst>
            </p:seq>
            <p:audio>
              <p:cMediaNode vol="80000">
                <p:cTn id="2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seq concurrent="1" nextAc="seek">
              <p:cTn id="27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">
                                      <p:cBhvr>
                                        <p:cTn id="31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3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8"/>
                  </p:tgtEl>
                </p:cond>
              </p:nextCondLst>
            </p:seq>
            <p:seq concurrent="1" nextAc="seek">
              <p:cTn id="37" restart="whenNotActive" fill="hold" evtFilter="cancelBubble" nodeType="interactiveSeq">
                <p:stCondLst>
                  <p:cond evt="onClick" delay="0">
                    <p:tgtEl>
                      <p:spTgt spid="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stop">
                                      <p:cBhvr>
                                        <p:cTn id="41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9"/>
                  </p:tgtEl>
                </p:cond>
              </p:nextCondLst>
            </p:seq>
          </p:childTnLst>
        </p:cTn>
      </p:par>
    </p:tnLst>
    <p:bldLst>
      <p:bldP spid="18" grpId="0" animBg="1"/>
      <p:bldP spid="31" grpId="0" animBg="1"/>
      <p:bldP spid="33" grpId="0" animBg="1"/>
      <p:bldP spid="57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/>
          <p:cNvSpPr/>
          <p:nvPr/>
        </p:nvSpPr>
        <p:spPr>
          <a:xfrm>
            <a:off x="0" y="476672"/>
            <a:ext cx="9144000" cy="432048"/>
          </a:xfrm>
          <a:prstGeom prst="rect">
            <a:avLst/>
          </a:prstGeom>
          <a:solidFill>
            <a:srgbClr val="FFDD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r>
              <a:rPr lang="en-US" altLang="zh-CN" sz="1600" b="1" dirty="0">
                <a:solidFill>
                  <a:srgbClr val="AF88B6"/>
                </a:solidFill>
                <a:latin typeface="+mj-lt"/>
              </a:rPr>
              <a:t>Section A Long Conversation</a:t>
            </a:r>
            <a:r>
              <a:rPr lang="en-US" altLang="zh-CN" sz="1600" b="1" dirty="0">
                <a:solidFill>
                  <a:schemeClr val="tx1"/>
                </a:solidFill>
                <a:latin typeface="+mj-lt"/>
              </a:rPr>
              <a:t>        </a:t>
            </a:r>
            <a:r>
              <a:rPr lang="en-US" altLang="zh-CN" sz="1600" b="1" dirty="0">
                <a:solidFill>
                  <a:srgbClr val="515672"/>
                </a:solidFill>
                <a:latin typeface="+mj-lt"/>
              </a:rPr>
              <a:t>Section B Passage</a:t>
            </a:r>
            <a:endParaRPr lang="zh-CN" altLang="en-US" sz="1600" b="1" dirty="0">
              <a:solidFill>
                <a:srgbClr val="515672"/>
              </a:solidFill>
              <a:latin typeface="+mj-lt"/>
            </a:endParaRPr>
          </a:p>
        </p:txBody>
      </p:sp>
      <p:grpSp>
        <p:nvGrpSpPr>
          <p:cNvPr id="35" name="下一页"/>
          <p:cNvGrpSpPr/>
          <p:nvPr/>
        </p:nvGrpSpPr>
        <p:grpSpPr>
          <a:xfrm>
            <a:off x="8750845" y="6578304"/>
            <a:ext cx="264567" cy="210642"/>
            <a:chOff x="8750845" y="6578304"/>
            <a:chExt cx="264567" cy="210642"/>
          </a:xfrm>
        </p:grpSpPr>
        <p:sp>
          <p:nvSpPr>
            <p:cNvPr id="36" name="右箭头">
              <a:hlinkClick r:id="" action="ppaction://hlinkshowjump?jump=nextslide"/>
            </p:cNvPr>
            <p:cNvSpPr/>
            <p:nvPr/>
          </p:nvSpPr>
          <p:spPr bwMode="auto">
            <a:xfrm>
              <a:off x="8786568" y="6604402"/>
              <a:ext cx="191620" cy="166338"/>
            </a:xfrm>
            <a:custGeom>
              <a:avLst/>
              <a:gdLst/>
              <a:ahLst/>
              <a:cxnLst>
                <a:cxn ang="0">
                  <a:pos x="1115" y="1511"/>
                </a:cxn>
                <a:cxn ang="0">
                  <a:pos x="1755" y="871"/>
                </a:cxn>
                <a:cxn ang="0">
                  <a:pos x="1755" y="689"/>
                </a:cxn>
                <a:cxn ang="0">
                  <a:pos x="1115" y="49"/>
                </a:cxn>
                <a:cxn ang="0">
                  <a:pos x="933" y="49"/>
                </a:cxn>
                <a:cxn ang="0">
                  <a:pos x="933" y="231"/>
                </a:cxn>
                <a:cxn ang="0">
                  <a:pos x="1355" y="652"/>
                </a:cxn>
                <a:cxn ang="0">
                  <a:pos x="128" y="652"/>
                </a:cxn>
                <a:cxn ang="0">
                  <a:pos x="0" y="780"/>
                </a:cxn>
                <a:cxn ang="0">
                  <a:pos x="128" y="908"/>
                </a:cxn>
                <a:cxn ang="0">
                  <a:pos x="1355" y="908"/>
                </a:cxn>
                <a:cxn ang="0">
                  <a:pos x="933" y="1329"/>
                </a:cxn>
                <a:cxn ang="0">
                  <a:pos x="896" y="1420"/>
                </a:cxn>
                <a:cxn ang="0">
                  <a:pos x="933" y="1511"/>
                </a:cxn>
                <a:cxn ang="0">
                  <a:pos x="1115" y="1511"/>
                </a:cxn>
              </a:cxnLst>
              <a:rect l="0" t="0" r="r" b="b"/>
              <a:pathLst>
                <a:path w="1804" h="1560">
                  <a:moveTo>
                    <a:pt x="1115" y="1511"/>
                  </a:moveTo>
                  <a:cubicBezTo>
                    <a:pt x="1755" y="871"/>
                    <a:pt x="1755" y="871"/>
                    <a:pt x="1755" y="871"/>
                  </a:cubicBezTo>
                  <a:cubicBezTo>
                    <a:pt x="1804" y="821"/>
                    <a:pt x="1804" y="739"/>
                    <a:pt x="1755" y="689"/>
                  </a:cubicBezTo>
                  <a:cubicBezTo>
                    <a:pt x="1115" y="49"/>
                    <a:pt x="1115" y="49"/>
                    <a:pt x="1115" y="49"/>
                  </a:cubicBezTo>
                  <a:cubicBezTo>
                    <a:pt x="1065" y="0"/>
                    <a:pt x="983" y="0"/>
                    <a:pt x="933" y="49"/>
                  </a:cubicBezTo>
                  <a:cubicBezTo>
                    <a:pt x="884" y="99"/>
                    <a:pt x="884" y="181"/>
                    <a:pt x="933" y="231"/>
                  </a:cubicBezTo>
                  <a:cubicBezTo>
                    <a:pt x="1355" y="652"/>
                    <a:pt x="1355" y="652"/>
                    <a:pt x="1355" y="652"/>
                  </a:cubicBezTo>
                  <a:cubicBezTo>
                    <a:pt x="128" y="652"/>
                    <a:pt x="128" y="652"/>
                    <a:pt x="128" y="652"/>
                  </a:cubicBezTo>
                  <a:cubicBezTo>
                    <a:pt x="57" y="652"/>
                    <a:pt x="0" y="709"/>
                    <a:pt x="0" y="780"/>
                  </a:cubicBezTo>
                  <a:cubicBezTo>
                    <a:pt x="0" y="851"/>
                    <a:pt x="57" y="908"/>
                    <a:pt x="128" y="908"/>
                  </a:cubicBezTo>
                  <a:cubicBezTo>
                    <a:pt x="1355" y="908"/>
                    <a:pt x="1355" y="908"/>
                    <a:pt x="1355" y="908"/>
                  </a:cubicBezTo>
                  <a:cubicBezTo>
                    <a:pt x="933" y="1329"/>
                    <a:pt x="933" y="1329"/>
                    <a:pt x="933" y="1329"/>
                  </a:cubicBezTo>
                  <a:cubicBezTo>
                    <a:pt x="908" y="1354"/>
                    <a:pt x="896" y="1387"/>
                    <a:pt x="896" y="1420"/>
                  </a:cubicBezTo>
                  <a:cubicBezTo>
                    <a:pt x="896" y="1453"/>
                    <a:pt x="908" y="1486"/>
                    <a:pt x="933" y="1511"/>
                  </a:cubicBezTo>
                  <a:cubicBezTo>
                    <a:pt x="983" y="1560"/>
                    <a:pt x="1065" y="1560"/>
                    <a:pt x="1115" y="1511"/>
                  </a:cubicBezTo>
                  <a:close/>
                </a:path>
              </a:pathLst>
            </a:custGeom>
            <a:solidFill>
              <a:srgbClr val="FFFFFF">
                <a:alpha val="30196"/>
              </a:srgb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7" name="热区"/>
            <p:cNvSpPr/>
            <p:nvPr/>
          </p:nvSpPr>
          <p:spPr>
            <a:xfrm>
              <a:off x="8750845" y="6578304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8" name="上一页"/>
          <p:cNvGrpSpPr/>
          <p:nvPr/>
        </p:nvGrpSpPr>
        <p:grpSpPr>
          <a:xfrm>
            <a:off x="8335464" y="6580685"/>
            <a:ext cx="264567" cy="210642"/>
            <a:chOff x="8335464" y="6580685"/>
            <a:chExt cx="264567" cy="210642"/>
          </a:xfrm>
        </p:grpSpPr>
        <p:sp>
          <p:nvSpPr>
            <p:cNvPr id="41" name="左箭头"/>
            <p:cNvSpPr/>
            <p:nvPr/>
          </p:nvSpPr>
          <p:spPr bwMode="auto">
            <a:xfrm rot="10800000">
              <a:off x="8380612" y="6604401"/>
              <a:ext cx="191620" cy="166338"/>
            </a:xfrm>
            <a:custGeom>
              <a:avLst/>
              <a:gdLst/>
              <a:ahLst/>
              <a:cxnLst>
                <a:cxn ang="0">
                  <a:pos x="1115" y="1511"/>
                </a:cxn>
                <a:cxn ang="0">
                  <a:pos x="1755" y="871"/>
                </a:cxn>
                <a:cxn ang="0">
                  <a:pos x="1755" y="689"/>
                </a:cxn>
                <a:cxn ang="0">
                  <a:pos x="1115" y="49"/>
                </a:cxn>
                <a:cxn ang="0">
                  <a:pos x="933" y="49"/>
                </a:cxn>
                <a:cxn ang="0">
                  <a:pos x="933" y="231"/>
                </a:cxn>
                <a:cxn ang="0">
                  <a:pos x="1355" y="652"/>
                </a:cxn>
                <a:cxn ang="0">
                  <a:pos x="128" y="652"/>
                </a:cxn>
                <a:cxn ang="0">
                  <a:pos x="0" y="780"/>
                </a:cxn>
                <a:cxn ang="0">
                  <a:pos x="128" y="908"/>
                </a:cxn>
                <a:cxn ang="0">
                  <a:pos x="1355" y="908"/>
                </a:cxn>
                <a:cxn ang="0">
                  <a:pos x="933" y="1329"/>
                </a:cxn>
                <a:cxn ang="0">
                  <a:pos x="896" y="1420"/>
                </a:cxn>
                <a:cxn ang="0">
                  <a:pos x="933" y="1511"/>
                </a:cxn>
                <a:cxn ang="0">
                  <a:pos x="1115" y="1511"/>
                </a:cxn>
              </a:cxnLst>
              <a:rect l="0" t="0" r="r" b="b"/>
              <a:pathLst>
                <a:path w="1804" h="1560">
                  <a:moveTo>
                    <a:pt x="1115" y="1511"/>
                  </a:moveTo>
                  <a:cubicBezTo>
                    <a:pt x="1755" y="871"/>
                    <a:pt x="1755" y="871"/>
                    <a:pt x="1755" y="871"/>
                  </a:cubicBezTo>
                  <a:cubicBezTo>
                    <a:pt x="1804" y="821"/>
                    <a:pt x="1804" y="739"/>
                    <a:pt x="1755" y="689"/>
                  </a:cubicBezTo>
                  <a:cubicBezTo>
                    <a:pt x="1115" y="49"/>
                    <a:pt x="1115" y="49"/>
                    <a:pt x="1115" y="49"/>
                  </a:cubicBezTo>
                  <a:cubicBezTo>
                    <a:pt x="1065" y="0"/>
                    <a:pt x="983" y="0"/>
                    <a:pt x="933" y="49"/>
                  </a:cubicBezTo>
                  <a:cubicBezTo>
                    <a:pt x="884" y="99"/>
                    <a:pt x="884" y="181"/>
                    <a:pt x="933" y="231"/>
                  </a:cubicBezTo>
                  <a:cubicBezTo>
                    <a:pt x="1355" y="652"/>
                    <a:pt x="1355" y="652"/>
                    <a:pt x="1355" y="652"/>
                  </a:cubicBezTo>
                  <a:cubicBezTo>
                    <a:pt x="128" y="652"/>
                    <a:pt x="128" y="652"/>
                    <a:pt x="128" y="652"/>
                  </a:cubicBezTo>
                  <a:cubicBezTo>
                    <a:pt x="57" y="652"/>
                    <a:pt x="0" y="709"/>
                    <a:pt x="0" y="780"/>
                  </a:cubicBezTo>
                  <a:cubicBezTo>
                    <a:pt x="0" y="851"/>
                    <a:pt x="57" y="908"/>
                    <a:pt x="128" y="908"/>
                  </a:cubicBezTo>
                  <a:cubicBezTo>
                    <a:pt x="1355" y="908"/>
                    <a:pt x="1355" y="908"/>
                    <a:pt x="1355" y="908"/>
                  </a:cubicBezTo>
                  <a:cubicBezTo>
                    <a:pt x="933" y="1329"/>
                    <a:pt x="933" y="1329"/>
                    <a:pt x="933" y="1329"/>
                  </a:cubicBezTo>
                  <a:cubicBezTo>
                    <a:pt x="908" y="1354"/>
                    <a:pt x="896" y="1387"/>
                    <a:pt x="896" y="1420"/>
                  </a:cubicBezTo>
                  <a:cubicBezTo>
                    <a:pt x="896" y="1453"/>
                    <a:pt x="908" y="1486"/>
                    <a:pt x="933" y="1511"/>
                  </a:cubicBezTo>
                  <a:cubicBezTo>
                    <a:pt x="983" y="1560"/>
                    <a:pt x="1065" y="1560"/>
                    <a:pt x="1115" y="1511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2" name="热区">
              <a:hlinkClick r:id="" action="ppaction://hlinkshowjump?jump=previousslide"/>
            </p:cNvPr>
            <p:cNvSpPr/>
            <p:nvPr/>
          </p:nvSpPr>
          <p:spPr>
            <a:xfrm>
              <a:off x="8335464" y="6580685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3" name="返回按钮"/>
          <p:cNvGrpSpPr/>
          <p:nvPr/>
        </p:nvGrpSpPr>
        <p:grpSpPr>
          <a:xfrm>
            <a:off x="7875422" y="6585447"/>
            <a:ext cx="264567" cy="210642"/>
            <a:chOff x="7875422" y="6585447"/>
            <a:chExt cx="264567" cy="210642"/>
          </a:xfrm>
        </p:grpSpPr>
        <p:sp>
          <p:nvSpPr>
            <p:cNvPr id="44" name="返回箭头">
              <a:hlinkClick r:id="" action="ppaction://hlinkshowjump?jump=endshow"/>
            </p:cNvPr>
            <p:cNvSpPr/>
            <p:nvPr/>
          </p:nvSpPr>
          <p:spPr bwMode="auto">
            <a:xfrm>
              <a:off x="7919210" y="6598497"/>
              <a:ext cx="182307" cy="180975"/>
            </a:xfrm>
            <a:custGeom>
              <a:avLst/>
              <a:gdLst/>
              <a:ahLst/>
              <a:cxnLst>
                <a:cxn ang="0">
                  <a:pos x="1780" y="1910"/>
                </a:cxn>
                <a:cxn ang="0">
                  <a:pos x="856" y="1910"/>
                </a:cxn>
                <a:cxn ang="0">
                  <a:pos x="850" y="1911"/>
                </a:cxn>
                <a:cxn ang="0">
                  <a:pos x="710" y="1776"/>
                </a:cxn>
                <a:cxn ang="0">
                  <a:pos x="710" y="476"/>
                </a:cxn>
                <a:cxn ang="0">
                  <a:pos x="251" y="922"/>
                </a:cxn>
                <a:cxn ang="0">
                  <a:pos x="54" y="922"/>
                </a:cxn>
                <a:cxn ang="0">
                  <a:pos x="54" y="731"/>
                </a:cxn>
                <a:cxn ang="0">
                  <a:pos x="751" y="53"/>
                </a:cxn>
                <a:cxn ang="0">
                  <a:pos x="948" y="53"/>
                </a:cxn>
                <a:cxn ang="0">
                  <a:pos x="1645" y="731"/>
                </a:cxn>
                <a:cxn ang="0">
                  <a:pos x="1645" y="922"/>
                </a:cxn>
                <a:cxn ang="0">
                  <a:pos x="1546" y="962"/>
                </a:cxn>
                <a:cxn ang="0">
                  <a:pos x="1448" y="922"/>
                </a:cxn>
                <a:cxn ang="0">
                  <a:pos x="989" y="476"/>
                </a:cxn>
                <a:cxn ang="0">
                  <a:pos x="989" y="1608"/>
                </a:cxn>
                <a:cxn ang="0">
                  <a:pos x="1780" y="1608"/>
                </a:cxn>
                <a:cxn ang="0">
                  <a:pos x="1916" y="1759"/>
                </a:cxn>
                <a:cxn ang="0">
                  <a:pos x="1780" y="1910"/>
                </a:cxn>
              </a:cxnLst>
              <a:rect l="0" t="0" r="r" b="b"/>
              <a:pathLst>
                <a:path w="1916" h="1911">
                  <a:moveTo>
                    <a:pt x="1780" y="1910"/>
                  </a:moveTo>
                  <a:cubicBezTo>
                    <a:pt x="856" y="1910"/>
                    <a:pt x="856" y="1910"/>
                    <a:pt x="856" y="1910"/>
                  </a:cubicBezTo>
                  <a:cubicBezTo>
                    <a:pt x="854" y="1910"/>
                    <a:pt x="852" y="1911"/>
                    <a:pt x="850" y="1911"/>
                  </a:cubicBezTo>
                  <a:cubicBezTo>
                    <a:pt x="773" y="1911"/>
                    <a:pt x="710" y="1851"/>
                    <a:pt x="710" y="1776"/>
                  </a:cubicBezTo>
                  <a:cubicBezTo>
                    <a:pt x="710" y="476"/>
                    <a:pt x="710" y="476"/>
                    <a:pt x="710" y="476"/>
                  </a:cubicBezTo>
                  <a:cubicBezTo>
                    <a:pt x="251" y="922"/>
                    <a:pt x="251" y="922"/>
                    <a:pt x="251" y="922"/>
                  </a:cubicBezTo>
                  <a:cubicBezTo>
                    <a:pt x="197" y="975"/>
                    <a:pt x="109" y="975"/>
                    <a:pt x="54" y="922"/>
                  </a:cubicBezTo>
                  <a:cubicBezTo>
                    <a:pt x="0" y="869"/>
                    <a:pt x="0" y="784"/>
                    <a:pt x="54" y="731"/>
                  </a:cubicBezTo>
                  <a:cubicBezTo>
                    <a:pt x="751" y="53"/>
                    <a:pt x="751" y="53"/>
                    <a:pt x="751" y="53"/>
                  </a:cubicBezTo>
                  <a:cubicBezTo>
                    <a:pt x="806" y="0"/>
                    <a:pt x="894" y="0"/>
                    <a:pt x="948" y="53"/>
                  </a:cubicBezTo>
                  <a:cubicBezTo>
                    <a:pt x="1645" y="731"/>
                    <a:pt x="1645" y="731"/>
                    <a:pt x="1645" y="731"/>
                  </a:cubicBezTo>
                  <a:cubicBezTo>
                    <a:pt x="1699" y="784"/>
                    <a:pt x="1699" y="869"/>
                    <a:pt x="1645" y="922"/>
                  </a:cubicBezTo>
                  <a:cubicBezTo>
                    <a:pt x="1618" y="949"/>
                    <a:pt x="1582" y="962"/>
                    <a:pt x="1546" y="962"/>
                  </a:cubicBezTo>
                  <a:cubicBezTo>
                    <a:pt x="1511" y="962"/>
                    <a:pt x="1475" y="949"/>
                    <a:pt x="1448" y="922"/>
                  </a:cubicBezTo>
                  <a:cubicBezTo>
                    <a:pt x="989" y="476"/>
                    <a:pt x="989" y="476"/>
                    <a:pt x="989" y="476"/>
                  </a:cubicBezTo>
                  <a:cubicBezTo>
                    <a:pt x="989" y="1608"/>
                    <a:pt x="989" y="1608"/>
                    <a:pt x="989" y="1608"/>
                  </a:cubicBezTo>
                  <a:cubicBezTo>
                    <a:pt x="1780" y="1608"/>
                    <a:pt x="1780" y="1608"/>
                    <a:pt x="1780" y="1608"/>
                  </a:cubicBezTo>
                  <a:cubicBezTo>
                    <a:pt x="1855" y="1608"/>
                    <a:pt x="1916" y="1675"/>
                    <a:pt x="1916" y="1759"/>
                  </a:cubicBezTo>
                  <a:cubicBezTo>
                    <a:pt x="1916" y="1842"/>
                    <a:pt x="1855" y="1910"/>
                    <a:pt x="1780" y="191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5" name="热区">
              <a:hlinkClick r:id="" action="ppaction://hlinkshowjump?jump=endshow"/>
            </p:cNvPr>
            <p:cNvSpPr/>
            <p:nvPr/>
          </p:nvSpPr>
          <p:spPr>
            <a:xfrm>
              <a:off x="7875422" y="6585447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5" name="btn-Part 1">
            <a:hlinkClick r:id="rId1" action="ppaction://hlinksldjump"/>
          </p:cNvPr>
          <p:cNvSpPr/>
          <p:nvPr/>
        </p:nvSpPr>
        <p:spPr>
          <a:xfrm>
            <a:off x="2767608" y="518939"/>
            <a:ext cx="1516360" cy="3802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btn-Part 1">
            <a:hlinkClick r:id="rId2" action="ppaction://hlinksldjump"/>
          </p:cNvPr>
          <p:cNvSpPr/>
          <p:nvPr/>
        </p:nvSpPr>
        <p:spPr>
          <a:xfrm>
            <a:off x="121636" y="499889"/>
            <a:ext cx="2290123" cy="3802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1" name="按钮-Script">
            <a:hlinkClick r:id="rId3" action="ppaction://hlinkpres?slideindex=1&amp;slidetitle="/>
          </p:cNvPr>
          <p:cNvPicPr>
            <a:picLocks noChangeAspect="1" noChangeArrowheads="1"/>
          </p:cNvPicPr>
          <p:nvPr/>
        </p:nvPicPr>
        <p:blipFill>
          <a:blip r:embed="rId4" cstate="print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3067800" y="2107876"/>
            <a:ext cx="904875" cy="333375"/>
          </a:xfrm>
          <a:prstGeom prst="rect">
            <a:avLst/>
          </a:prstGeom>
        </p:spPr>
      </p:pic>
      <p:pic>
        <p:nvPicPr>
          <p:cNvPr id="32" name="播放按钮"/>
          <p:cNvPicPr>
            <a:picLocks noChangeAspect="1" noChangeArrowheads="1"/>
          </p:cNvPicPr>
          <p:nvPr/>
        </p:nvPicPr>
        <p:blipFill>
          <a:blip r:embed="rId5" cstate="print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424086" y="2107876"/>
            <a:ext cx="295275" cy="304800"/>
          </a:xfrm>
          <a:prstGeom prst="rect">
            <a:avLst/>
          </a:prstGeom>
        </p:spPr>
      </p:pic>
      <p:pic>
        <p:nvPicPr>
          <p:cNvPr id="33" name="暂停按钮"/>
          <p:cNvPicPr>
            <a:picLocks noChangeAspect="1" noChangeArrowheads="1"/>
          </p:cNvPicPr>
          <p:nvPr/>
        </p:nvPicPr>
        <p:blipFill>
          <a:blip r:embed="rId6" cstate="print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784126" y="2107876"/>
            <a:ext cx="295275" cy="304800"/>
          </a:xfrm>
          <a:prstGeom prst="rect">
            <a:avLst/>
          </a:prstGeom>
        </p:spPr>
      </p:pic>
      <p:pic>
        <p:nvPicPr>
          <p:cNvPr id="39" name="停止按钮"/>
          <p:cNvPicPr>
            <a:picLocks noChangeAspect="1" noChangeArrowheads="1"/>
          </p:cNvPicPr>
          <p:nvPr/>
        </p:nvPicPr>
        <p:blipFill>
          <a:blip r:embed="rId7" cstate="print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1144166" y="2107876"/>
            <a:ext cx="295275" cy="304800"/>
          </a:xfrm>
          <a:prstGeom prst="rect">
            <a:avLst/>
          </a:prstGeom>
        </p:spPr>
      </p:pic>
      <p:pic>
        <p:nvPicPr>
          <p:cNvPr id="40" name="按钮-External Player">
            <a:hlinkClick r:id="rId8" action="ppaction://hlinkfile"/>
          </p:cNvPr>
          <p:cNvPicPr>
            <a:picLocks noChangeAspect="1" noChangeArrowheads="1"/>
          </p:cNvPicPr>
          <p:nvPr/>
        </p:nvPicPr>
        <p:blipFill>
          <a:blip r:embed="rId9" cstate="print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1510556" y="2107876"/>
            <a:ext cx="1521337" cy="308000"/>
          </a:xfrm>
          <a:prstGeom prst="rect">
            <a:avLst/>
          </a:prstGeom>
        </p:spPr>
      </p:pic>
      <p:sp>
        <p:nvSpPr>
          <p:cNvPr id="46" name="文本框 45"/>
          <p:cNvSpPr txBox="1"/>
          <p:nvPr/>
        </p:nvSpPr>
        <p:spPr>
          <a:xfrm>
            <a:off x="326366" y="1126172"/>
            <a:ext cx="856680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2000" b="1" spc="-10" dirty="0">
                <a:latin typeface="+mj-lt"/>
              </a:rPr>
              <a:t>Directions: </a:t>
            </a:r>
            <a:r>
              <a:rPr lang="en-US" altLang="zh-CN" sz="2000" i="1" spc="-10" dirty="0">
                <a:latin typeface="+mj-lt"/>
              </a:rPr>
              <a:t>In this section, you will hear a passage. At the end of the passage, you will</a:t>
            </a:r>
            <a:r>
              <a:rPr lang="en-US" altLang="zh-CN" sz="2000" i="1" dirty="0">
                <a:latin typeface="+mj-lt"/>
              </a:rPr>
              <a:t> hear three or four questions. Both the passage and the questions will be spoken only once. After you hear a question, choose the best answer.</a:t>
            </a:r>
            <a:endParaRPr lang="zh-CN" altLang="en-US" sz="2000" dirty="0">
              <a:latin typeface="+mj-lt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323850" y="2398812"/>
            <a:ext cx="6675225" cy="3016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>
                <a:latin typeface="+mj-lt"/>
              </a:rPr>
              <a:t>Questions 5 to 7 are based on the passage you have just heard.</a:t>
            </a:r>
            <a:endParaRPr lang="en-US" altLang="zh-CN" sz="2000" b="1" dirty="0">
              <a:latin typeface="+mj-lt"/>
            </a:endParaRPr>
          </a:p>
          <a:p>
            <a:r>
              <a:rPr lang="en-US" altLang="zh-CN" sz="2000" b="1" dirty="0"/>
              <a:t>5. </a:t>
            </a:r>
            <a:endParaRPr lang="en-US" altLang="zh-CN" sz="2000" b="1" dirty="0"/>
          </a:p>
          <a:p>
            <a:pPr>
              <a:spcBef>
                <a:spcPts val="600"/>
              </a:spcBef>
            </a:pPr>
            <a:endParaRPr lang="en-US" altLang="zh-CN" sz="2000" b="1" dirty="0"/>
          </a:p>
          <a:p>
            <a:pPr>
              <a:spcBef>
                <a:spcPts val="600"/>
              </a:spcBef>
            </a:pPr>
            <a:r>
              <a:rPr lang="en-US" altLang="zh-CN" sz="2000" b="1" dirty="0"/>
              <a:t>6. </a:t>
            </a:r>
            <a:endParaRPr lang="en-US" altLang="zh-CN" sz="2000" dirty="0"/>
          </a:p>
          <a:p>
            <a:pPr>
              <a:spcBef>
                <a:spcPts val="600"/>
              </a:spcBef>
            </a:pPr>
            <a:endParaRPr lang="en-US" altLang="zh-CN" sz="2000" dirty="0"/>
          </a:p>
          <a:p>
            <a:pPr>
              <a:spcBef>
                <a:spcPts val="600"/>
              </a:spcBef>
            </a:pPr>
            <a:endParaRPr lang="en-US" altLang="zh-CN" sz="2000" dirty="0"/>
          </a:p>
          <a:p>
            <a:pPr>
              <a:spcBef>
                <a:spcPts val="600"/>
              </a:spcBef>
            </a:pPr>
            <a:endParaRPr lang="en-US" altLang="zh-CN" sz="2000" dirty="0"/>
          </a:p>
          <a:p>
            <a:pPr>
              <a:spcBef>
                <a:spcPts val="600"/>
              </a:spcBef>
            </a:pPr>
            <a:r>
              <a:rPr lang="en-US" altLang="zh-CN" sz="2000" b="1" dirty="0"/>
              <a:t>7. </a:t>
            </a:r>
            <a:endParaRPr lang="en-US" altLang="zh-CN" sz="2000" dirty="0"/>
          </a:p>
        </p:txBody>
      </p:sp>
      <p:sp>
        <p:nvSpPr>
          <p:cNvPr id="49" name="文本框 48"/>
          <p:cNvSpPr txBox="1"/>
          <p:nvPr/>
        </p:nvSpPr>
        <p:spPr>
          <a:xfrm>
            <a:off x="592510" y="2398812"/>
            <a:ext cx="6413935" cy="4247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ts val="600"/>
              </a:spcBef>
            </a:pPr>
            <a:endParaRPr lang="en-US" altLang="zh-CN" sz="2000" dirty="0">
              <a:latin typeface="+mj-lt"/>
            </a:endParaRPr>
          </a:p>
          <a:p>
            <a:r>
              <a:rPr lang="en-US" altLang="zh-CN" sz="2000" dirty="0"/>
              <a:t>A. For six years.</a:t>
            </a:r>
            <a:endParaRPr lang="en-US" altLang="zh-CN" sz="2000" dirty="0"/>
          </a:p>
          <a:p>
            <a:pPr>
              <a:spcBef>
                <a:spcPts val="600"/>
              </a:spcBef>
            </a:pPr>
            <a:r>
              <a:rPr lang="en-US" altLang="zh-CN" sz="2000" dirty="0"/>
              <a:t>C. For six years and six months.</a:t>
            </a:r>
            <a:endParaRPr lang="en-US" altLang="zh-CN" sz="2000" dirty="0"/>
          </a:p>
          <a:p>
            <a:pPr>
              <a:spcBef>
                <a:spcPts val="600"/>
              </a:spcBef>
            </a:pPr>
            <a:r>
              <a:rPr lang="en-US" altLang="zh-CN" sz="2000" dirty="0"/>
              <a:t>A. Those who stay up late are more likely to die early.</a:t>
            </a:r>
            <a:endParaRPr lang="en-US" altLang="zh-CN" sz="2000" dirty="0"/>
          </a:p>
          <a:p>
            <a:pPr>
              <a:spcBef>
                <a:spcPts val="600"/>
              </a:spcBef>
            </a:pPr>
            <a:r>
              <a:rPr lang="en-US" altLang="zh-CN" sz="2000" dirty="0"/>
              <a:t>B. Why those who stay up late are more likely to die early.</a:t>
            </a:r>
            <a:endParaRPr lang="en-US" altLang="zh-CN" sz="2000" dirty="0"/>
          </a:p>
          <a:p>
            <a:pPr>
              <a:spcBef>
                <a:spcPts val="600"/>
              </a:spcBef>
            </a:pPr>
            <a:r>
              <a:rPr lang="en-US" altLang="zh-CN" sz="2000" dirty="0"/>
              <a:t>C. There is no connection between mortality and night-owl habits.</a:t>
            </a:r>
            <a:endParaRPr lang="en-US" altLang="zh-CN" sz="2000" dirty="0"/>
          </a:p>
          <a:p>
            <a:pPr>
              <a:spcBef>
                <a:spcPts val="600"/>
              </a:spcBef>
            </a:pPr>
            <a:r>
              <a:rPr lang="en-US" altLang="zh-CN" sz="2000" dirty="0"/>
              <a:t>D. Night owls are more likely to have a range of health issues.</a:t>
            </a:r>
            <a:endParaRPr lang="en-US" altLang="zh-CN" sz="2000" dirty="0"/>
          </a:p>
          <a:p>
            <a:pPr>
              <a:spcBef>
                <a:spcPts val="600"/>
              </a:spcBef>
            </a:pPr>
            <a:r>
              <a:rPr lang="en-US" altLang="zh-CN" sz="2000" dirty="0"/>
              <a:t>A. People staying up late live a busy life.</a:t>
            </a:r>
            <a:endParaRPr lang="en-US" altLang="zh-CN" sz="2000" dirty="0"/>
          </a:p>
          <a:p>
            <a:pPr>
              <a:spcBef>
                <a:spcPts val="600"/>
              </a:spcBef>
            </a:pPr>
            <a:r>
              <a:rPr lang="en-US" altLang="zh-CN" sz="2000" dirty="0"/>
              <a:t>B. People staying up late try to get up early.</a:t>
            </a:r>
            <a:endParaRPr lang="en-US" altLang="zh-CN" sz="2000" dirty="0"/>
          </a:p>
          <a:p>
            <a:pPr>
              <a:spcBef>
                <a:spcPts val="600"/>
              </a:spcBef>
            </a:pPr>
            <a:r>
              <a:rPr lang="en-US" altLang="zh-CN" sz="2000" dirty="0"/>
              <a:t>C. People staying up late have many health problems.</a:t>
            </a:r>
            <a:endParaRPr lang="en-US" altLang="zh-CN" sz="2000" dirty="0"/>
          </a:p>
          <a:p>
            <a:pPr>
              <a:spcBef>
                <a:spcPts val="600"/>
              </a:spcBef>
            </a:pPr>
            <a:r>
              <a:rPr lang="en-US" altLang="zh-CN" sz="2000" dirty="0"/>
              <a:t>D. People staying up late have a higher risk of dying early.</a:t>
            </a:r>
            <a:endParaRPr lang="zh-CN" altLang="en-US" sz="2000" dirty="0">
              <a:latin typeface="+mj-lt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4471417" y="2398812"/>
            <a:ext cx="331533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altLang="zh-CN" sz="2000" dirty="0"/>
          </a:p>
          <a:p>
            <a:r>
              <a:rPr lang="en-US" altLang="zh-CN" sz="2000" dirty="0"/>
              <a:t>B. For six months.</a:t>
            </a:r>
            <a:endParaRPr lang="en-US" altLang="zh-CN" sz="2000" dirty="0"/>
          </a:p>
          <a:p>
            <a:r>
              <a:rPr lang="en-US" altLang="zh-CN" sz="2000" dirty="0"/>
              <a:t>D. For four years and six months.</a:t>
            </a:r>
            <a:endParaRPr lang="zh-CN" altLang="en-US" sz="2000" dirty="0"/>
          </a:p>
        </p:txBody>
      </p:sp>
      <p:sp>
        <p:nvSpPr>
          <p:cNvPr id="29" name="同心圆 28"/>
          <p:cNvSpPr/>
          <p:nvPr/>
        </p:nvSpPr>
        <p:spPr>
          <a:xfrm>
            <a:off x="499493" y="3059435"/>
            <a:ext cx="525065" cy="525065"/>
          </a:xfrm>
          <a:prstGeom prst="donut">
            <a:avLst>
              <a:gd name="adj" fmla="val 14931"/>
            </a:avLst>
          </a:prstGeom>
          <a:solidFill>
            <a:srgbClr val="4F81BD">
              <a:alpha val="69804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0" name="热区"/>
          <p:cNvSpPr/>
          <p:nvPr/>
        </p:nvSpPr>
        <p:spPr>
          <a:xfrm>
            <a:off x="343171" y="2766070"/>
            <a:ext cx="7443577" cy="66293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同心圆 57"/>
          <p:cNvSpPr/>
          <p:nvPr/>
        </p:nvSpPr>
        <p:spPr>
          <a:xfrm>
            <a:off x="499493" y="3789040"/>
            <a:ext cx="525065" cy="525065"/>
          </a:xfrm>
          <a:prstGeom prst="donut">
            <a:avLst>
              <a:gd name="adj" fmla="val 14931"/>
            </a:avLst>
          </a:prstGeom>
          <a:solidFill>
            <a:srgbClr val="4F81BD">
              <a:alpha val="69804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9" name="热区"/>
          <p:cNvSpPr/>
          <p:nvPr/>
        </p:nvSpPr>
        <p:spPr>
          <a:xfrm>
            <a:off x="343171" y="3649215"/>
            <a:ext cx="6655904" cy="141191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同心圆 59"/>
          <p:cNvSpPr/>
          <p:nvPr/>
        </p:nvSpPr>
        <p:spPr>
          <a:xfrm>
            <a:off x="499493" y="6072287"/>
            <a:ext cx="525065" cy="525065"/>
          </a:xfrm>
          <a:prstGeom prst="donut">
            <a:avLst>
              <a:gd name="adj" fmla="val 14931"/>
            </a:avLst>
          </a:prstGeom>
          <a:solidFill>
            <a:srgbClr val="4F81BD">
              <a:alpha val="69804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1" name="热区"/>
          <p:cNvSpPr/>
          <p:nvPr/>
        </p:nvSpPr>
        <p:spPr>
          <a:xfrm>
            <a:off x="343171" y="5075659"/>
            <a:ext cx="5813005" cy="150264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0" name="U3_Script2">
            <a:hlinkClick r:id="" action="ppaction://media"/>
          </p:cNvPr>
          <p:cNvPicPr>
            <a:picLocks noChangeAspect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-849927" y="1969763"/>
            <a:ext cx="609600" cy="6096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0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1"/>
                  </p:tgtEl>
                </p:cond>
              </p:nextCondLst>
            </p:seq>
            <p:audio>
              <p:cMediaNode vol="80000">
                <p:cTn id="2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0"/>
                </p:tgtEl>
              </p:cMediaNode>
            </p:audio>
            <p:seq concurrent="1" nextAc="seek">
              <p:cTn id="21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" fill="hold">
                      <p:stCondLst>
                        <p:cond delay="0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">
                                      <p:cBhvr>
                                        <p:cTn id="25" dur="1" fill="hold"/>
                                        <p:tgtEl>
                                          <p:spTgt spid="5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30" dur="1" fill="hold"/>
                                        <p:tgtEl>
                                          <p:spTgt spid="5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3"/>
                  </p:tgtEl>
                </p:cond>
              </p:nextCondLst>
            </p:seq>
            <p:seq concurrent="1" nextAc="seek">
              <p:cTn id="31" restart="whenNotActive" fill="hold" evtFilter="cancelBubble" nodeType="interactiveSeq">
                <p:stCondLst>
                  <p:cond evt="onClick" delay="0">
                    <p:tgtEl>
                      <p:spTgt spid="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" fill="hold">
                      <p:stCondLst>
                        <p:cond delay="0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stop">
                                      <p:cBhvr>
                                        <p:cTn id="35" dur="1" fill="hold"/>
                                        <p:tgtEl>
                                          <p:spTgt spid="5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9"/>
                  </p:tgtEl>
                </p:cond>
              </p:nextCondLst>
            </p:seq>
          </p:childTnLst>
        </p:cTn>
      </p:par>
    </p:tnLst>
    <p:bldLst>
      <p:bldP spid="29" grpId="0" animBg="1"/>
      <p:bldP spid="58" grpId="0" animBg="1"/>
      <p:bldP spid="60" grpId="0" animBg="1"/>
    </p:bldLst>
  </p:timing>
</p:sld>
</file>

<file path=ppt/theme/theme1.xml><?xml version="1.0" encoding="utf-8"?>
<a:theme xmlns:a="http://schemas.openxmlformats.org/drawingml/2006/main" name="Office 主题">
  <a:themeElements>
    <a:clrScheme name="进阶视听说">
      <a:dk1>
        <a:sysClr val="windowText" lastClr="000000"/>
      </a:dk1>
      <a:lt1>
        <a:sysClr val="window" lastClr="FFFFFF"/>
      </a:lt1>
      <a:dk2>
        <a:srgbClr val="582957"/>
      </a:dk2>
      <a:lt2>
        <a:srgbClr val="EEECE1"/>
      </a:lt2>
      <a:accent1>
        <a:srgbClr val="4F81BD"/>
      </a:accent1>
      <a:accent2>
        <a:srgbClr val="C0504D"/>
      </a:accent2>
      <a:accent3>
        <a:srgbClr val="88BB16"/>
      </a:accent3>
      <a:accent4>
        <a:srgbClr val="AF88B6"/>
      </a:accent4>
      <a:accent5>
        <a:srgbClr val="4BACC6"/>
      </a:accent5>
      <a:accent6>
        <a:srgbClr val="FEE200"/>
      </a:accent6>
      <a:hlink>
        <a:srgbClr val="0000FF"/>
      </a:hlink>
      <a:folHlink>
        <a:srgbClr val="800080"/>
      </a:folHlink>
    </a:clrScheme>
    <a:fontScheme name="进阶试听说">
      <a:majorFont>
        <a:latin typeface="Roboto Condensed"/>
        <a:ea typeface="微软雅黑"/>
        <a:cs typeface=""/>
      </a:majorFont>
      <a:minorFont>
        <a:latin typeface="Neuto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1862</Words>
  <Application>WPS 演示</Application>
  <PresentationFormat>全屏显示(4:3)</PresentationFormat>
  <Paragraphs>63</Paragraphs>
  <Slides>2</Slides>
  <Notes>1</Notes>
  <HiddenSlides>0</HiddenSlides>
  <MMClips>2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2" baseType="lpstr">
      <vt:lpstr>Arial</vt:lpstr>
      <vt:lpstr>宋体</vt:lpstr>
      <vt:lpstr>Wingdings</vt:lpstr>
      <vt:lpstr>等线</vt:lpstr>
      <vt:lpstr>Neuton</vt:lpstr>
      <vt:lpstr>Roboto Condensed</vt:lpstr>
      <vt:lpstr>微软雅黑</vt:lpstr>
      <vt:lpstr>Arial Unicode MS</vt:lpstr>
      <vt:lpstr>Calibri</vt:lpstr>
      <vt:lpstr>Office 主题</vt:lpstr>
      <vt:lpstr>PowerPoint 演示文稿</vt:lpstr>
      <vt:lpstr>PowerPoint 演示文稿</vt:lpstr>
    </vt:vector>
  </TitlesOfParts>
  <Company>cmet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old9</dc:creator>
  <cp:lastModifiedBy>别急躁</cp:lastModifiedBy>
  <cp:revision>221</cp:revision>
  <dcterms:created xsi:type="dcterms:W3CDTF">2017-12-23T09:29:00Z</dcterms:created>
  <dcterms:modified xsi:type="dcterms:W3CDTF">2024-08-27T05:18:57Z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B36282925A2F454DA54278FBF1D7FF2F_13</vt:lpwstr>
  </property>
  <property fmtid="{D5CDD505-2E9C-101B-9397-08002B2CF9AE}" pid="3" name="KSOProductBuildVer">
    <vt:lpwstr>2052-12.1.0.17857</vt:lpwstr>
  </property>
</Properties>
</file>