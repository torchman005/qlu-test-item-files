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57" r:id="rId4"/>
    <p:sldId id="258" r:id="rId5"/>
  </p:sldIdLst>
  <p:sldSz cx="9144000" cy="6858000" type="screen4x3"/>
  <p:notesSz cx="6858000" cy="9144000"/>
  <p:embeddedFontLst>
    <p:embeddedFont>
      <p:font typeface="Neuton" panose="00000500000000000000" charset="0"/>
      <p:regular r:id="rId11"/>
      <p:bold r:id="rId12"/>
      <p:italic r:id="rId13"/>
    </p:embeddedFont>
    <p:embeddedFont>
      <p:font typeface="Roboto Condensed" panose="02000000000000000000" charset="0"/>
      <p:regular r:id="rId14"/>
      <p:bold r:id="rId15"/>
      <p:italic r:id="rId16"/>
    </p:embeddedFont>
    <p:embeddedFont>
      <p:font typeface="微软雅黑" panose="020B0503020204020204" charset="-122"/>
      <p:regular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33"/>
    <a:srgbClr val="515672"/>
    <a:srgbClr val="3C153B"/>
    <a:srgbClr val="FFFFFF"/>
    <a:srgbClr val="CB8B02"/>
    <a:srgbClr val="F3B700"/>
    <a:srgbClr val="F3F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6" autoAdjust="0"/>
    <p:restoredTop sz="94273" autoAdjust="0"/>
  </p:normalViewPr>
  <p:slideViewPr>
    <p:cSldViewPr showGuides="1">
      <p:cViewPr varScale="1">
        <p:scale>
          <a:sx n="100" d="100"/>
          <a:sy n="100" d="100"/>
        </p:scale>
        <p:origin x="162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844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font" Target="fonts/font11.fntdata"/><Relationship Id="rId20" Type="http://schemas.openxmlformats.org/officeDocument/2006/relationships/font" Target="fonts/font10.fntdata"/><Relationship Id="rId2" Type="http://schemas.openxmlformats.org/officeDocument/2006/relationships/theme" Target="theme/theme1.xml"/><Relationship Id="rId19" Type="http://schemas.openxmlformats.org/officeDocument/2006/relationships/font" Target="fonts/font9.fntdata"/><Relationship Id="rId18" Type="http://schemas.openxmlformats.org/officeDocument/2006/relationships/font" Target="fonts/font8.fntdata"/><Relationship Id="rId17" Type="http://schemas.openxmlformats.org/officeDocument/2006/relationships/font" Target="fonts/font7.fntdata"/><Relationship Id="rId16" Type="http://schemas.openxmlformats.org/officeDocument/2006/relationships/font" Target="fonts/font6.fntdata"/><Relationship Id="rId15" Type="http://schemas.openxmlformats.org/officeDocument/2006/relationships/font" Target="fonts/font5.fntdata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A6FA5-9299-4CE1-A327-CB3C60321A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14E66-D570-4D12-8DDD-93D4BD4AE2F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31D2C-B22C-4903-8B3C-903F91599D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翻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79512" y="0"/>
            <a:ext cx="1872208" cy="476672"/>
          </a:xfrm>
          <a:solidFill>
            <a:srgbClr val="FFDD33"/>
          </a:solidFill>
        </p:spPr>
        <p:txBody>
          <a:bodyPr lIns="144000">
            <a:noAutofit/>
          </a:bodyPr>
          <a:lstStyle>
            <a:lvl1pPr algn="l">
              <a:defRPr sz="2000" b="1">
                <a:solidFill>
                  <a:srgbClr val="515672"/>
                </a:solidFill>
                <a:latin typeface="+mj-lt"/>
              </a:defRPr>
            </a:lvl1pPr>
          </a:lstStyle>
          <a:p>
            <a:r>
              <a:rPr lang="en-US" altLang="zh-CN" smtClean="0"/>
              <a:t>Part I Warm Up</a:t>
            </a:r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36613"/>
            <a:ext cx="8569325" cy="576262"/>
          </a:xfrm>
        </p:spPr>
        <p:txBody>
          <a:bodyPr>
            <a:normAutofit/>
          </a:bodyPr>
          <a:lstStyle>
            <a:lvl1pPr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628775"/>
            <a:ext cx="8569325" cy="45370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普通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79512" y="0"/>
            <a:ext cx="1872208" cy="476672"/>
          </a:xfrm>
          <a:solidFill>
            <a:srgbClr val="FFDD33"/>
          </a:solidFill>
        </p:spPr>
        <p:txBody>
          <a:bodyPr lIns="144000">
            <a:noAutofit/>
          </a:bodyPr>
          <a:lstStyle>
            <a:lvl1pPr algn="l">
              <a:defRPr sz="2000" b="1">
                <a:solidFill>
                  <a:srgbClr val="3C153B"/>
                </a:solidFill>
                <a:latin typeface="+mj-lt"/>
              </a:defRPr>
            </a:lvl1pPr>
          </a:lstStyle>
          <a:p>
            <a:r>
              <a:rPr lang="en-US" altLang="zh-CN" smtClean="0"/>
              <a:t>Part I Warm Up</a:t>
            </a:r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36613"/>
            <a:ext cx="8569325" cy="576262"/>
          </a:xfrm>
        </p:spPr>
        <p:txBody>
          <a:bodyPr>
            <a:normAutofit/>
          </a:bodyPr>
          <a:lstStyle>
            <a:lvl1pPr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628775"/>
            <a:ext cx="8569325" cy="45370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18" r="1"/>
          <a:stretch>
            <a:fillRect/>
          </a:stretch>
        </p:blipFill>
        <p:spPr>
          <a:xfrm>
            <a:off x="4763380" y="627536"/>
            <a:ext cx="3932370" cy="496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Part I Warm Up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smtClean="0"/>
              <a:t>Answer these questions with a partner.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323851" y="1500174"/>
            <a:ext cx="4104134" cy="4537075"/>
          </a:xfrm>
        </p:spPr>
        <p:txBody>
          <a:bodyPr>
            <a:normAutofit/>
          </a:bodyPr>
          <a:lstStyle/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US" altLang="zh-CN" sz="2800" dirty="0" smtClean="0"/>
              <a:t>Look at the picture. Would you like to sleep in a place like this?</a:t>
            </a:r>
            <a:endParaRPr lang="en-US" altLang="zh-CN" sz="2800" dirty="0" smtClean="0"/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US" altLang="zh-CN" sz="2800" dirty="0" smtClean="0"/>
              <a:t>Are you a “morning person” or a “night person”? Why?</a:t>
            </a:r>
            <a:endParaRPr lang="en-US" altLang="zh-CN" sz="2800" dirty="0" smtClean="0"/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US" altLang="zh-CN" sz="2800" dirty="0"/>
              <a:t>What do you usually do in your spare time at night?</a:t>
            </a:r>
            <a:endParaRPr lang="zh-CN" altLang="en-US" sz="2800" u="sng" dirty="0">
              <a:solidFill>
                <a:schemeClr val="accent1"/>
              </a:solidFill>
            </a:endParaRPr>
          </a:p>
        </p:txBody>
      </p:sp>
      <p:sp>
        <p:nvSpPr>
          <p:cNvPr id="29" name="图片标题"/>
          <p:cNvSpPr txBox="1"/>
          <p:nvPr/>
        </p:nvSpPr>
        <p:spPr>
          <a:xfrm>
            <a:off x="4726649" y="447738"/>
            <a:ext cx="4032448" cy="1052436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r>
              <a:rPr lang="en-US" altLang="zh-CN" sz="4800" b="1" dirty="0" smtClean="0">
                <a:solidFill>
                  <a:schemeClr val="bg1"/>
                </a:solidFill>
                <a:latin typeface="+mj-lt"/>
              </a:rPr>
              <a:t>The Night</a:t>
            </a:r>
            <a:endParaRPr lang="en-US" altLang="zh-CN" sz="4800" b="1" dirty="0" smtClean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2" name="图片说明"/>
          <p:cNvSpPr txBox="1"/>
          <p:nvPr/>
        </p:nvSpPr>
        <p:spPr>
          <a:xfrm>
            <a:off x="4716016" y="5589241"/>
            <a:ext cx="4032448" cy="64807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1600" dirty="0">
                <a:latin typeface="+mj-lt"/>
              </a:rPr>
              <a:t>Lit-up dome tents at </a:t>
            </a:r>
            <a:r>
              <a:rPr lang="en-US" altLang="zh-CN" sz="1600" dirty="0" err="1">
                <a:latin typeface="+mj-lt"/>
              </a:rPr>
              <a:t>Qaleraliq</a:t>
            </a:r>
            <a:r>
              <a:rPr lang="en-US" altLang="zh-CN" sz="1600" dirty="0">
                <a:latin typeface="+mj-lt"/>
              </a:rPr>
              <a:t> Glacier Camp, near </a:t>
            </a:r>
            <a:r>
              <a:rPr lang="en-US" altLang="zh-CN" sz="1600" dirty="0" err="1">
                <a:latin typeface="+mj-lt"/>
              </a:rPr>
              <a:t>Narsaq</a:t>
            </a:r>
            <a:r>
              <a:rPr lang="en-US" altLang="zh-CN" sz="1600" dirty="0">
                <a:latin typeface="+mj-lt"/>
              </a:rPr>
              <a:t>, Greenland</a:t>
            </a:r>
            <a:endParaRPr lang="zh-CN" altLang="en-US" sz="1600" dirty="0">
              <a:latin typeface="+mj-lt"/>
            </a:endParaRPr>
          </a:p>
        </p:txBody>
      </p:sp>
      <p:pic>
        <p:nvPicPr>
          <p:cNvPr id="30" name="按钮-Content Note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820937" y="6170159"/>
            <a:ext cx="1182004" cy="25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" name="按钮-Language Note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954839" y="3939699"/>
            <a:ext cx="1265861" cy="25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4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28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3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/>
        <p:txBody>
          <a:bodyPr/>
          <a:p>
            <a:endParaRPr lang="zh-CN" altLang="en-US"/>
          </a:p>
        </p:txBody>
      </p:sp>
      <p:grpSp>
        <p:nvGrpSpPr>
          <p:cNvPr id="54" name="Content Note"/>
          <p:cNvGrpSpPr/>
          <p:nvPr/>
        </p:nvGrpSpPr>
        <p:grpSpPr>
          <a:xfrm>
            <a:off x="611431" y="692159"/>
            <a:ext cx="7632848" cy="5670630"/>
            <a:chOff x="1475656" y="1268760"/>
            <a:chExt cx="7632848" cy="5670630"/>
          </a:xfrm>
        </p:grpSpPr>
        <p:sp>
          <p:nvSpPr>
            <p:cNvPr id="55" name="矩形 54"/>
            <p:cNvSpPr/>
            <p:nvPr/>
          </p:nvSpPr>
          <p:spPr>
            <a:xfrm>
              <a:off x="1475656" y="1268760"/>
              <a:ext cx="7632848" cy="567063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CB8B02"/>
              </a:solidFill>
            </a:ln>
            <a:effectLst>
              <a:outerShdw blurRad="279400" dist="63500" dir="7800000" sx="101000" sy="101000" algn="t" rotWithShape="0">
                <a:prstClr val="black">
                  <a:alpha val="6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475656" y="1268760"/>
              <a:ext cx="7632848" cy="369332"/>
            </a:xfrm>
            <a:prstGeom prst="rect">
              <a:avLst/>
            </a:prstGeom>
            <a:solidFill>
              <a:srgbClr val="CB8B02"/>
            </a:solidFill>
          </p:spPr>
          <p:txBody>
            <a:bodyPr wrap="square" rtlCol="0">
              <a:noAutofit/>
            </a:bodyPr>
            <a:p>
              <a:r>
                <a:rPr lang="en-US" altLang="zh-CN" b="1" dirty="0" smtClean="0">
                  <a:solidFill>
                    <a:schemeClr val="bg1"/>
                  </a:solidFill>
                  <a:latin typeface="+mj-lt"/>
                </a:rPr>
                <a:t>Content Note</a:t>
              </a:r>
              <a:endParaRPr lang="zh-CN" altLang="en-US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547664" y="1696736"/>
              <a:ext cx="7416824" cy="5170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323850" algn="just"/>
              <a:r>
                <a:rPr lang="en-US" altLang="zh-CN" sz="2200" spc="-10" dirty="0" err="1"/>
                <a:t>Qaleraliq</a:t>
              </a:r>
              <a:r>
                <a:rPr lang="en-US" altLang="zh-CN" sz="2200" spc="-10" dirty="0"/>
                <a:t> Glacier Camp is located in Greenland, situated on the edge</a:t>
              </a:r>
              <a:r>
                <a:rPr lang="en-US" altLang="zh-CN" sz="2200" dirty="0"/>
                <a:t> </a:t>
              </a:r>
              <a:r>
                <a:rPr lang="en-US" altLang="zh-CN" sz="2200" spc="-10" dirty="0"/>
                <a:t>of a </a:t>
              </a:r>
              <a:r>
                <a:rPr lang="en-US" altLang="zh-CN" sz="2200" spc="-10" dirty="0" smtClean="0"/>
                <a:t>massive glacier</a:t>
              </a:r>
              <a:r>
                <a:rPr lang="en-US" altLang="zh-CN" sz="2200" spc="-10" dirty="0"/>
                <a:t>. The camp, which consists of a series of dome tents</a:t>
              </a:r>
              <a:r>
                <a:rPr lang="en-US" altLang="zh-CN" sz="2200" dirty="0"/>
                <a:t>, </a:t>
              </a:r>
              <a:r>
                <a:rPr lang="en-US" altLang="zh-CN" sz="2200" spc="-10" dirty="0"/>
                <a:t>offers breathtaking views </a:t>
              </a:r>
              <a:r>
                <a:rPr lang="en-US" altLang="zh-CN" sz="2200" spc="-10" dirty="0" smtClean="0"/>
                <a:t>of the </a:t>
              </a:r>
              <a:r>
                <a:rPr lang="en-US" altLang="zh-CN" sz="2200" spc="-10" dirty="0"/>
                <a:t>surrounding landscape, with towering</a:t>
              </a:r>
              <a:r>
                <a:rPr lang="en-US" altLang="zh-CN" sz="2200" dirty="0"/>
                <a:t> </a:t>
              </a:r>
              <a:r>
                <a:rPr lang="en-US" altLang="zh-CN" sz="2200" spc="-10" dirty="0"/>
                <a:t>ice formations and snow-capped </a:t>
              </a:r>
              <a:r>
                <a:rPr lang="en-US" altLang="zh-CN" sz="2200" spc="-10" dirty="0" smtClean="0"/>
                <a:t>mountains in </a:t>
              </a:r>
              <a:r>
                <a:rPr lang="en-US" altLang="zh-CN" sz="2200" spc="-10" dirty="0"/>
                <a:t>every direction. Visitors</a:t>
              </a:r>
              <a:r>
                <a:rPr lang="en-US" altLang="zh-CN" sz="2200" dirty="0"/>
                <a:t> </a:t>
              </a:r>
              <a:r>
                <a:rPr lang="en-US" altLang="zh-CN" sz="2200" spc="30" dirty="0"/>
                <a:t>to the camp can enjoy a range of activities, including </a:t>
              </a:r>
              <a:r>
                <a:rPr lang="en-US" altLang="zh-CN" sz="2200" spc="30" dirty="0" smtClean="0"/>
                <a:t>hiking, glacier </a:t>
              </a:r>
              <a:r>
                <a:rPr lang="en-US" altLang="zh-CN" sz="2200" spc="10" dirty="0"/>
                <a:t>trekking, and kayaking in the nearby fjords. The camp is also home to </a:t>
              </a:r>
              <a:r>
                <a:rPr lang="en-US" altLang="zh-CN" sz="2200" dirty="0"/>
                <a:t>a </a:t>
              </a:r>
              <a:r>
                <a:rPr lang="en-US" altLang="zh-CN" sz="2200" dirty="0" smtClean="0"/>
                <a:t>variety </a:t>
              </a:r>
              <a:r>
                <a:rPr lang="en-US" altLang="zh-CN" sz="2200" dirty="0"/>
                <a:t>of wildlife, including polar bears, arctic foxes, and seals.</a:t>
              </a:r>
              <a:endParaRPr lang="en-US" altLang="zh-CN" sz="2200" dirty="0"/>
            </a:p>
            <a:p>
              <a:pPr indent="323850" algn="just"/>
              <a:r>
                <a:rPr lang="en-US" altLang="zh-CN" sz="2200" spc="40" dirty="0"/>
                <a:t>Each dome tent at </a:t>
              </a:r>
              <a:r>
                <a:rPr lang="en-US" altLang="zh-CN" sz="2200" spc="40" dirty="0" err="1"/>
                <a:t>Qaleraliq</a:t>
              </a:r>
              <a:r>
                <a:rPr lang="en-US" altLang="zh-CN" sz="2200" spc="40" dirty="0"/>
                <a:t> Glacier Camp is furnished with four</a:t>
              </a:r>
              <a:r>
                <a:rPr lang="en-US" altLang="zh-CN" sz="2200" dirty="0"/>
                <a:t> </a:t>
              </a:r>
              <a:r>
                <a:rPr lang="en-US" altLang="zh-CN" sz="2200" spc="-20" dirty="0"/>
                <a:t>bunk beds, a </a:t>
              </a:r>
              <a:r>
                <a:rPr lang="en-US" altLang="zh-CN" sz="2200" spc="-20" dirty="0" smtClean="0"/>
                <a:t>small table</a:t>
              </a:r>
              <a:r>
                <a:rPr lang="en-US" altLang="zh-CN" sz="2200" spc="-20" dirty="0"/>
                <a:t>, and a chair. While the dome tents are unheated</a:t>
              </a:r>
              <a:r>
                <a:rPr lang="en-US" altLang="zh-CN" sz="2200" dirty="0"/>
                <a:t>, </a:t>
              </a:r>
              <a:r>
                <a:rPr lang="en-US" altLang="zh-CN" sz="2200" spc="-40" dirty="0"/>
                <a:t>guests at the camp are </a:t>
              </a:r>
              <a:r>
                <a:rPr lang="en-US" altLang="zh-CN" sz="2200" spc="-40" dirty="0" smtClean="0"/>
                <a:t>provided with </a:t>
              </a:r>
              <a:r>
                <a:rPr lang="en-US" altLang="zh-CN" sz="2200" spc="-40" dirty="0"/>
                <a:t>warm sleeping bags. Food is provided</a:t>
              </a:r>
              <a:r>
                <a:rPr lang="en-US" altLang="zh-CN" sz="2200" dirty="0"/>
                <a:t> </a:t>
              </a:r>
              <a:r>
                <a:rPr lang="en-US" altLang="zh-CN" sz="2200" spc="10" dirty="0"/>
                <a:t>in longer dome tents at the camp, </a:t>
              </a:r>
              <a:r>
                <a:rPr lang="en-US" altLang="zh-CN" sz="2200" spc="10" dirty="0" smtClean="0"/>
                <a:t>and restroom </a:t>
              </a:r>
              <a:r>
                <a:rPr lang="en-US" altLang="zh-CN" sz="2200" spc="10" dirty="0"/>
                <a:t>facilities are provided</a:t>
              </a:r>
              <a:r>
                <a:rPr lang="en-US" altLang="zh-CN" sz="2200" dirty="0"/>
                <a:t> as outhouses at the furthest ends of the camp.</a:t>
              </a:r>
              <a:endParaRPr lang="en-US" altLang="zh-CN" sz="2200" dirty="0"/>
            </a:p>
            <a:p>
              <a:pPr indent="323850" algn="just"/>
              <a:r>
                <a:rPr lang="en-US" altLang="zh-CN" sz="2200" spc="-10" dirty="0"/>
                <a:t>With its rugged beauty and remote location, </a:t>
              </a:r>
              <a:r>
                <a:rPr lang="en-US" altLang="zh-CN" sz="2200" spc="-10" dirty="0" err="1"/>
                <a:t>Qaleraliq</a:t>
              </a:r>
              <a:r>
                <a:rPr lang="en-US" altLang="zh-CN" sz="2200" spc="-10" dirty="0"/>
                <a:t> Glacier Camp</a:t>
              </a:r>
              <a:r>
                <a:rPr lang="en-US" altLang="zh-CN" sz="2200" dirty="0"/>
                <a:t> is the </a:t>
              </a:r>
              <a:r>
                <a:rPr lang="en-US" altLang="zh-CN" sz="2200" dirty="0" smtClean="0"/>
                <a:t>perfect destination </a:t>
              </a:r>
              <a:r>
                <a:rPr lang="en-US" altLang="zh-CN" sz="2200" dirty="0"/>
                <a:t>for adventure travelers in one of the world’s most stunning natural landscapes.</a:t>
              </a:r>
              <a:endParaRPr lang="en-US" altLang="zh-CN" sz="2200" dirty="0" smtClean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/>
        <p:txBody>
          <a:bodyPr/>
          <a:p>
            <a:endParaRPr lang="zh-CN" altLang="en-US"/>
          </a:p>
        </p:txBody>
      </p:sp>
      <p:grpSp>
        <p:nvGrpSpPr>
          <p:cNvPr id="50" name="Language Note"/>
          <p:cNvGrpSpPr/>
          <p:nvPr/>
        </p:nvGrpSpPr>
        <p:grpSpPr>
          <a:xfrm>
            <a:off x="539724" y="692448"/>
            <a:ext cx="7929618" cy="5572164"/>
            <a:chOff x="2699792" y="1268760"/>
            <a:chExt cx="5184576" cy="6000792"/>
          </a:xfrm>
        </p:grpSpPr>
        <p:sp>
          <p:nvSpPr>
            <p:cNvPr id="51" name="矩形 50"/>
            <p:cNvSpPr/>
            <p:nvPr/>
          </p:nvSpPr>
          <p:spPr>
            <a:xfrm>
              <a:off x="2699792" y="1268760"/>
              <a:ext cx="5184576" cy="600079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  <a:effectLst>
              <a:outerShdw blurRad="279400" dist="63500" dir="7800000" sx="101000" sy="101000" algn="t" rotWithShape="0">
                <a:prstClr val="black">
                  <a:alpha val="6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699792" y="1268760"/>
              <a:ext cx="5184576" cy="369332"/>
            </a:xfrm>
            <a:prstGeom prst="rect">
              <a:avLst/>
            </a:prstGeom>
            <a:solidFill>
              <a:schemeClr val="accent3"/>
            </a:solidFill>
          </p:spPr>
          <p:txBody>
            <a:bodyPr wrap="square" rtlCol="0">
              <a:noAutofit/>
            </a:bodyPr>
            <a:lstStyle/>
            <a:p>
              <a:r>
                <a:rPr lang="en-US" altLang="zh-CN" b="1" dirty="0" smtClean="0">
                  <a:solidFill>
                    <a:schemeClr val="bg1"/>
                  </a:solidFill>
                  <a:latin typeface="+mj-lt"/>
                </a:rPr>
                <a:t>Language Note</a:t>
              </a:r>
              <a:endParaRPr lang="zh-CN" altLang="en-US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796700" y="1783076"/>
              <a:ext cx="4968552" cy="53553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65430" indent="-265430">
                <a:spcAft>
                  <a:spcPts val="1200"/>
                </a:spcAft>
                <a:buClr>
                  <a:schemeClr val="accent3"/>
                </a:buClr>
                <a:buSzPct val="50000"/>
                <a:buFont typeface="Wingdings" panose="05000000000000000000" pitchFamily="2" charset="2"/>
                <a:buChar char="l"/>
              </a:pPr>
              <a:r>
                <a:rPr lang="en-US" altLang="zh-CN" sz="2400" dirty="0" smtClean="0"/>
                <a:t>The terms </a:t>
              </a:r>
              <a:r>
                <a:rPr lang="en-US" altLang="zh-CN" sz="2400" b="1" i="1" dirty="0" smtClean="0"/>
                <a:t>morning person </a:t>
              </a:r>
              <a:r>
                <a:rPr lang="en-US" altLang="zh-CN" sz="2400" dirty="0" smtClean="0"/>
                <a:t>and </a:t>
              </a:r>
              <a:r>
                <a:rPr lang="en-US" altLang="zh-CN" sz="2400" b="1" i="1" dirty="0" smtClean="0"/>
                <a:t>night person </a:t>
              </a:r>
              <a:r>
                <a:rPr lang="en-US" altLang="zh-CN" sz="2400" dirty="0" smtClean="0"/>
                <a:t>refer to </a:t>
              </a:r>
              <a:r>
                <a:rPr lang="en-US" altLang="zh-CN" sz="2400" b="1" dirty="0" smtClean="0"/>
                <a:t>when a person generally feels most active and alert during the day</a:t>
              </a:r>
              <a:r>
                <a:rPr lang="en-US" altLang="zh-CN" sz="2400" dirty="0" smtClean="0"/>
                <a:t>. </a:t>
              </a:r>
              <a:endParaRPr lang="en-US" altLang="zh-CN" sz="2400" dirty="0" smtClean="0"/>
            </a:p>
            <a:p>
              <a:pPr marL="265430" indent="-265430">
                <a:spcAft>
                  <a:spcPts val="1200"/>
                </a:spcAft>
                <a:buClr>
                  <a:schemeClr val="accent3"/>
                </a:buClr>
                <a:buSzPct val="50000"/>
                <a:buFont typeface="Wingdings" panose="05000000000000000000" pitchFamily="2" charset="2"/>
                <a:buChar char="l"/>
              </a:pPr>
              <a:r>
                <a:rPr lang="en-US" altLang="zh-CN" sz="2400" b="1" dirty="0" smtClean="0"/>
                <a:t>A morning person wakes up early and feels most energetic in the morning</a:t>
              </a:r>
              <a:r>
                <a:rPr lang="en-US" altLang="zh-CN" sz="2400" dirty="0" smtClean="0"/>
                <a:t>. These people usually get a lot done in the morning and start to slow down later in the day. </a:t>
              </a:r>
              <a:endParaRPr lang="en-US" altLang="zh-CN" sz="2400" dirty="0" smtClean="0"/>
            </a:p>
            <a:p>
              <a:pPr marL="265430" indent="-265430">
                <a:spcAft>
                  <a:spcPts val="1200"/>
                </a:spcAft>
                <a:buClr>
                  <a:schemeClr val="accent3"/>
                </a:buClr>
                <a:buSzPct val="50000"/>
                <a:buFont typeface="Wingdings" panose="05000000000000000000" pitchFamily="2" charset="2"/>
                <a:buChar char="l"/>
              </a:pPr>
              <a:r>
                <a:rPr lang="en-US" altLang="zh-CN" sz="2400" b="1" dirty="0" smtClean="0"/>
                <a:t>A night person</a:t>
              </a:r>
              <a:r>
                <a:rPr lang="en-US" altLang="zh-CN" sz="2400" dirty="0" smtClean="0"/>
                <a:t> is the opposite: </a:t>
              </a:r>
              <a:r>
                <a:rPr lang="en-US" altLang="zh-CN" sz="2400" b="1" dirty="0" smtClean="0"/>
                <a:t>slow and tired in the morning, but active at night and often awake quite late</a:t>
              </a:r>
              <a:r>
                <a:rPr lang="en-US" altLang="zh-CN" sz="2400" dirty="0" smtClean="0"/>
                <a:t>. </a:t>
              </a:r>
              <a:endParaRPr lang="en-US" altLang="zh-CN" sz="2400" dirty="0" smtClean="0"/>
            </a:p>
            <a:p>
              <a:pPr marL="265430" indent="-265430">
                <a:spcAft>
                  <a:spcPts val="1200"/>
                </a:spcAft>
                <a:buClr>
                  <a:schemeClr val="accent3"/>
                </a:buClr>
                <a:buSzPct val="50000"/>
                <a:buFont typeface="Wingdings" panose="05000000000000000000" pitchFamily="2" charset="2"/>
                <a:buChar char="l"/>
              </a:pPr>
              <a:r>
                <a:rPr lang="en-US" altLang="zh-CN" sz="2400" b="1" dirty="0" smtClean="0"/>
                <a:t>A person’s type may change </a:t>
              </a:r>
              <a:r>
                <a:rPr lang="en-US" altLang="zh-CN" sz="2400" dirty="0" smtClean="0"/>
                <a:t>depending on age and life circumstances. Many young people are more awake at night, while many older people prefer mornings. The terms </a:t>
              </a:r>
              <a:r>
                <a:rPr lang="en-US" altLang="zh-CN" sz="2400" b="1" i="1" dirty="0" smtClean="0"/>
                <a:t>early bird </a:t>
              </a:r>
              <a:r>
                <a:rPr lang="en-US" altLang="zh-CN" sz="2400" dirty="0" smtClean="0"/>
                <a:t>and </a:t>
              </a:r>
              <a:r>
                <a:rPr lang="en-US" altLang="zh-CN" sz="2400" b="1" i="1" dirty="0" smtClean="0"/>
                <a:t>night owl </a:t>
              </a:r>
              <a:r>
                <a:rPr lang="en-US" altLang="zh-CN" sz="2400" dirty="0" smtClean="0"/>
                <a:t>are also used.</a:t>
              </a:r>
              <a:endParaRPr lang="en-US" altLang="zh-CN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commondata" val="eyJoZGlkIjoiZWNhNzhjZGJkMzMzZjhhNWJmN2E2YWM2ZDMyYWYwN2YifQ==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582957"/>
      </a:dk2>
      <a:lt2>
        <a:srgbClr val="EEECE1"/>
      </a:lt2>
      <a:accent1>
        <a:srgbClr val="4F81BD"/>
      </a:accent1>
      <a:accent2>
        <a:srgbClr val="C0504D"/>
      </a:accent2>
      <a:accent3>
        <a:srgbClr val="88BB16"/>
      </a:accent3>
      <a:accent4>
        <a:srgbClr val="D496D3"/>
      </a:accent4>
      <a:accent5>
        <a:srgbClr val="4BACC6"/>
      </a:accent5>
      <a:accent6>
        <a:srgbClr val="FEE200"/>
      </a:accent6>
      <a:hlink>
        <a:srgbClr val="0000FF"/>
      </a:hlink>
      <a:folHlink>
        <a:srgbClr val="800080"/>
      </a:folHlink>
    </a:clrScheme>
    <a:fontScheme name="进阶试听说">
      <a:majorFont>
        <a:latin typeface="Roboto Condensed"/>
        <a:ea typeface="微软雅黑"/>
        <a:cs typeface=""/>
      </a:majorFont>
      <a:minorFont>
        <a:latin typeface="Neuto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1914</Words>
  <Application>WPS 演示</Application>
  <PresentationFormat>全屏显示(4:3)</PresentationFormat>
  <Paragraphs>25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Neuton</vt:lpstr>
      <vt:lpstr>Roboto Condensed</vt:lpstr>
      <vt:lpstr>微软雅黑</vt:lpstr>
      <vt:lpstr>Arial Unicode MS</vt:lpstr>
      <vt:lpstr>Calibri</vt:lpstr>
      <vt:lpstr>Office 主题</vt:lpstr>
      <vt:lpstr>Part I Warm Up</vt:lpstr>
      <vt:lpstr>PowerPoint 演示文稿</vt:lpstr>
      <vt:lpstr>PowerPoint 演示文稿</vt:lpstr>
    </vt:vector>
  </TitlesOfParts>
  <Company>cmet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old9</dc:creator>
  <cp:lastModifiedBy>别急躁</cp:lastModifiedBy>
  <cp:revision>122</cp:revision>
  <dcterms:created xsi:type="dcterms:W3CDTF">2017-12-23T09:29:00Z</dcterms:created>
  <dcterms:modified xsi:type="dcterms:W3CDTF">2024-08-27T05:00:10Z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A231567164864B0199541CE1B5ADD2D0_13</vt:lpwstr>
  </property>
  <property fmtid="{D5CDD505-2E9C-101B-9397-08002B2CF9AE}" pid="3" name="KSOProductBuildVer">
    <vt:lpwstr>2052-12.1.0.17857</vt:lpwstr>
  </property>
</Properties>
</file>