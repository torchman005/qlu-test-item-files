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handoutMasterIdLst>
    <p:handoutMasterId r:id="rId7"/>
  </p:handoutMasterIdLst>
  <p:sldIdLst>
    <p:sldId id="256" r:id="rId3"/>
    <p:sldId id="261" r:id="rId4"/>
    <p:sldId id="262" r:id="rId5"/>
  </p:sldIdLst>
  <p:sldSz cx="9144000" cy="6858000" type="screen4x3"/>
  <p:notesSz cx="6858000" cy="9144000"/>
  <p:embeddedFontLst>
    <p:embeddedFont>
      <p:font typeface="Neuton" panose="00000500000000000000" charset="0"/>
      <p:regular r:id="rId11"/>
      <p:bold r:id="rId12"/>
      <p:italic r:id="rId13"/>
    </p:embeddedFont>
    <p:embeddedFont>
      <p:font typeface="Roboto Condensed" panose="02000000000000000000" charset="0"/>
      <p:regular r:id="rId14"/>
      <p:bold r:id="rId15"/>
      <p:italic r:id="rId16"/>
    </p:embeddedFont>
    <p:embeddedFont>
      <p:font typeface="微软雅黑" panose="020B0503020204020204" charset="-122"/>
      <p:regular r:id="rId17"/>
    </p:embeddedFont>
    <p:embeddedFont>
      <p:font typeface="Calibri" panose="020F0502020204030204" charset="0"/>
      <p:regular r:id="rId18"/>
      <p:bold r:id="rId19"/>
      <p:italic r:id="rId20"/>
      <p:boldItalic r:id="rId21"/>
    </p:embeddedFont>
  </p:embeddedFontLst>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D33"/>
    <a:srgbClr val="515672"/>
    <a:srgbClr val="FFFFFF"/>
    <a:srgbClr val="3C153B"/>
    <a:srgbClr val="AF88B6"/>
    <a:srgbClr val="9D6BA5"/>
    <a:srgbClr val="B35DB1"/>
    <a:srgbClr val="CB8B02"/>
    <a:srgbClr val="F3B700"/>
    <a:srgbClr val="F3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56" autoAdjust="0"/>
    <p:restoredTop sz="93686" autoAdjust="0"/>
  </p:normalViewPr>
  <p:slideViewPr>
    <p:cSldViewPr showGuides="1">
      <p:cViewPr varScale="1">
        <p:scale>
          <a:sx n="100" d="100"/>
          <a:sy n="100" d="100"/>
        </p:scale>
        <p:origin x="165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1.xml"/><Relationship Id="rId21" Type="http://schemas.openxmlformats.org/officeDocument/2006/relationships/font" Target="fonts/font11.fntdata"/><Relationship Id="rId20" Type="http://schemas.openxmlformats.org/officeDocument/2006/relationships/font" Target="fonts/font10.fntdata"/><Relationship Id="rId2" Type="http://schemas.openxmlformats.org/officeDocument/2006/relationships/theme" Target="theme/theme1.xml"/><Relationship Id="rId19" Type="http://schemas.openxmlformats.org/officeDocument/2006/relationships/font" Target="fonts/font9.fntdata"/><Relationship Id="rId18" Type="http://schemas.openxmlformats.org/officeDocument/2006/relationships/font" Target="fonts/font8.fntdata"/><Relationship Id="rId17" Type="http://schemas.openxmlformats.org/officeDocument/2006/relationships/font" Target="fonts/font7.fntdata"/><Relationship Id="rId16" Type="http://schemas.openxmlformats.org/officeDocument/2006/relationships/font" Target="fonts/font6.fntdata"/><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A6FA5-9299-4CE1-A327-CB3C60321AD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B14E66-D570-4D12-8DDD-93D4BD4AE2F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31D2C-B22C-4903-8B3C-903F91599D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063C93-9101-4F51-B1E6-A3BBF9E3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带翻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主体内容"/>
          <p:cNvSpPr>
            <a:spLocks noGrp="1"/>
          </p:cNvSpPr>
          <p:nvPr>
            <p:ph type="body" sz="quarter" idx="14"/>
          </p:nvPr>
        </p:nvSpPr>
        <p:spPr>
          <a:xfrm>
            <a:off x="323850" y="1340768"/>
            <a:ext cx="8569325" cy="482508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1" name="标题 1"/>
          <p:cNvSpPr txBox="1"/>
          <p:nvPr userDrawn="1"/>
        </p:nvSpPr>
        <p:spPr>
          <a:xfrm>
            <a:off x="179512" y="0"/>
            <a:ext cx="2995488"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j-ea"/>
                <a:cs typeface="+mj-cs"/>
              </a:rPr>
              <a:t>Part IV Expansion Activity</a:t>
            </a:r>
            <a:endParaRPr kumimoji="0" lang="zh-CN" altLang="en-US" sz="2000" b="1" i="0" u="none" strike="noStrike" kern="1200" cap="none" spc="0" normalizeH="0" baseline="0" noProof="0">
              <a:ln>
                <a:noFill/>
              </a:ln>
              <a:solidFill>
                <a:srgbClr val="515672"/>
              </a:solidFill>
              <a:effectLst/>
              <a:uLnTx/>
              <a:uFillTx/>
              <a:latin typeface="+mj-lt"/>
              <a:ea typeface="+mj-ea"/>
              <a:cs typeface="+mj-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带dir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1124744"/>
            <a:ext cx="8569325" cy="576262"/>
          </a:xfrm>
        </p:spPr>
        <p:txBody>
          <a:bodyPr>
            <a:normAutofit/>
          </a:bodyPr>
          <a:lstStyle>
            <a:lvl1pPr marL="0" indent="0">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2204864"/>
            <a:ext cx="8569325" cy="3960986"/>
          </a:xfrm>
        </p:spPr>
        <p:txBody>
          <a:bodyPr/>
          <a:lstStyle>
            <a:lvl1pPr marL="217805" indent="-217805">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2995488"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j-ea"/>
                <a:cs typeface="+mj-cs"/>
              </a:rPr>
              <a:t>Part IV Expansion Activity</a:t>
            </a:r>
            <a:endParaRPr kumimoji="0" lang="zh-CN" altLang="en-US" sz="2000" b="1" i="0" u="none" strike="noStrike" kern="1200" cap="none" spc="0" normalizeH="0" baseline="0" noProof="0">
              <a:ln>
                <a:noFill/>
              </a:ln>
              <a:solidFill>
                <a:srgbClr val="515672"/>
              </a:solidFill>
              <a:effectLst/>
              <a:uLnTx/>
              <a:uFillTx/>
              <a:latin typeface="+mj-lt"/>
              <a:ea typeface="+mj-ea"/>
              <a:cs typeface="+mj-cs"/>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3FACB-9944-46C7-BB15-79BEA3D61AE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EA13-C732-4F17-8516-92EE82C34A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 Target="slide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1.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3.xml"/><Relationship Id="rId2" Type="http://schemas.openxmlformats.org/officeDocument/2006/relationships/slide" Target="slide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返回按钮"/>
          <p:cNvGrpSpPr/>
          <p:nvPr/>
        </p:nvGrpSpPr>
        <p:grpSpPr>
          <a:xfrm>
            <a:off x="7875422" y="6585447"/>
            <a:ext cx="264567" cy="210642"/>
            <a:chOff x="7875422" y="6585447"/>
            <a:chExt cx="264567" cy="210642"/>
          </a:xfrm>
        </p:grpSpPr>
        <p:sp>
          <p:nvSpPr>
            <p:cNvPr id="4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The night shift        </a:t>
            </a:r>
            <a:r>
              <a:rPr lang="en-US" altLang="zh-CN" sz="1600" b="1" dirty="0" smtClean="0">
                <a:solidFill>
                  <a:schemeClr val="accent4"/>
                </a:solidFill>
                <a:latin typeface="+mj-lt"/>
              </a:rPr>
              <a:t>Project</a:t>
            </a:r>
            <a:endParaRPr lang="zh-CN" altLang="en-US" sz="1600" b="1" dirty="0">
              <a:solidFill>
                <a:schemeClr val="accent4"/>
              </a:solidFill>
              <a:latin typeface="+mj-lt"/>
            </a:endParaRPr>
          </a:p>
        </p:txBody>
      </p:sp>
      <p:sp>
        <p:nvSpPr>
          <p:cNvPr id="32" name="文本占位符 31"/>
          <p:cNvSpPr>
            <a:spLocks noGrp="1"/>
          </p:cNvSpPr>
          <p:nvPr>
            <p:ph type="body" sz="quarter" idx="13"/>
          </p:nvPr>
        </p:nvSpPr>
        <p:spPr>
          <a:xfrm>
            <a:off x="323850" y="1928802"/>
            <a:ext cx="8569325" cy="742156"/>
          </a:xfrm>
        </p:spPr>
        <p:txBody>
          <a:bodyPr>
            <a:normAutofit/>
          </a:bodyPr>
          <a:lstStyle/>
          <a:p>
            <a:r>
              <a:rPr lang="en-US" altLang="zh-CN" b="1" dirty="0" smtClean="0"/>
              <a:t>A. Choose a job. </a:t>
            </a:r>
            <a:r>
              <a:rPr lang="en-US" altLang="zh-CN" dirty="0" smtClean="0"/>
              <a:t>Working alone, choose one of these night jobs, or think of one of your own.</a:t>
            </a:r>
            <a:endParaRPr lang="zh-CN" altLang="en-US" dirty="0"/>
          </a:p>
        </p:txBody>
      </p:sp>
      <p:sp>
        <p:nvSpPr>
          <p:cNvPr id="35" name="文本占位符 34"/>
          <p:cNvSpPr>
            <a:spLocks noGrp="1"/>
          </p:cNvSpPr>
          <p:nvPr>
            <p:ph type="body" sz="quarter" idx="14"/>
          </p:nvPr>
        </p:nvSpPr>
        <p:spPr>
          <a:xfrm>
            <a:off x="323528" y="2669427"/>
            <a:ext cx="8569325" cy="1077224"/>
          </a:xfrm>
        </p:spPr>
        <p:txBody>
          <a:bodyPr numCol="1">
            <a:normAutofit/>
          </a:bodyPr>
          <a:lstStyle/>
          <a:p>
            <a:pPr>
              <a:buNone/>
            </a:pPr>
            <a:r>
              <a:rPr lang="en-US" altLang="zh-CN" sz="2400" dirty="0" smtClean="0"/>
              <a:t>call center worker      hotel clerk     waiter or waitress     nurse       police officer</a:t>
            </a:r>
            <a:endParaRPr lang="en-US" altLang="zh-CN" sz="2400" dirty="0" smtClean="0"/>
          </a:p>
          <a:p>
            <a:pPr>
              <a:buNone/>
            </a:pPr>
            <a:r>
              <a:rPr lang="en-US" altLang="zh-CN" sz="2400" dirty="0" smtClean="0"/>
              <a:t>radio DJ                             taxi driver      TV news anchor         other:_____________</a:t>
            </a:r>
            <a:endParaRPr lang="zh-CN" altLang="en-US" sz="2400" dirty="0"/>
          </a:p>
        </p:txBody>
      </p:sp>
      <p:sp>
        <p:nvSpPr>
          <p:cNvPr id="21" name="btn-Part 1">
            <a:hlinkClick r:id="rId1" action="ppaction://hlinksldjump"/>
          </p:cNvPr>
          <p:cNvSpPr/>
          <p:nvPr/>
        </p:nvSpPr>
        <p:spPr>
          <a:xfrm>
            <a:off x="1619672"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a:blip r:embed="rId2" cstate="print"/>
          <a:srcRect l="14447" t="35413" r="2638" b="35414"/>
          <a:stretch>
            <a:fillRect/>
          </a:stretch>
        </p:blipFill>
        <p:spPr bwMode="auto">
          <a:xfrm>
            <a:off x="357158" y="909199"/>
            <a:ext cx="8503334" cy="948165"/>
          </a:xfrm>
          <a:prstGeom prst="rect">
            <a:avLst/>
          </a:prstGeom>
          <a:noFill/>
          <a:ln w="9525">
            <a:noFill/>
            <a:miter lim="800000"/>
            <a:headEnd/>
            <a:tailEnd/>
          </a:ln>
        </p:spPr>
      </p:pic>
      <p:sp>
        <p:nvSpPr>
          <p:cNvPr id="24" name="矩形 23"/>
          <p:cNvSpPr/>
          <p:nvPr/>
        </p:nvSpPr>
        <p:spPr>
          <a:xfrm>
            <a:off x="357158" y="3913535"/>
            <a:ext cx="8643998" cy="1015663"/>
          </a:xfrm>
          <a:prstGeom prst="rect">
            <a:avLst/>
          </a:prstGeom>
        </p:spPr>
        <p:txBody>
          <a:bodyPr wrap="square">
            <a:spAutoFit/>
          </a:bodyPr>
          <a:lstStyle/>
          <a:p>
            <a:pPr>
              <a:spcBef>
                <a:spcPct val="20000"/>
              </a:spcBef>
            </a:pPr>
            <a:r>
              <a:rPr lang="en-US" altLang="zh-CN" sz="2000" b="1" dirty="0" smtClean="0">
                <a:latin typeface="+mj-lt"/>
              </a:rPr>
              <a:t>B. Research the job. </a:t>
            </a:r>
            <a:r>
              <a:rPr lang="en-US" altLang="zh-CN" sz="2000" dirty="0" smtClean="0">
                <a:latin typeface="+mj-lt"/>
              </a:rPr>
              <a:t>Imagine you do this job. What is a typical day like for you? Make a schedule. Write your daily activities and the times you do them. Think about these questions:</a:t>
            </a:r>
            <a:endParaRPr lang="zh-CN" altLang="en-US" sz="2000" dirty="0" smtClean="0">
              <a:latin typeface="+mj-lt"/>
            </a:endParaRPr>
          </a:p>
        </p:txBody>
      </p:sp>
      <p:sp>
        <p:nvSpPr>
          <p:cNvPr id="25" name="矩形 24"/>
          <p:cNvSpPr/>
          <p:nvPr/>
        </p:nvSpPr>
        <p:spPr>
          <a:xfrm>
            <a:off x="357158" y="5000636"/>
            <a:ext cx="8715436" cy="1569660"/>
          </a:xfrm>
          <a:prstGeom prst="rect">
            <a:avLst/>
          </a:prstGeom>
        </p:spPr>
        <p:txBody>
          <a:bodyPr wrap="square" numCol="2">
            <a:spAutoFit/>
          </a:bodyPr>
          <a:lstStyle/>
          <a:p>
            <a:pPr>
              <a:buFont typeface="Arial" panose="020B0604020202020204" pitchFamily="34" charset="0"/>
              <a:buChar char="•"/>
            </a:pPr>
            <a:r>
              <a:rPr lang="en-US" altLang="zh-CN" sz="2400" dirty="0" smtClean="0"/>
              <a:t> When do you usually wake up?</a:t>
            </a:r>
            <a:endParaRPr lang="en-US" altLang="zh-CN" sz="2400" dirty="0" smtClean="0"/>
          </a:p>
          <a:p>
            <a:pPr marL="180975" indent="-180975">
              <a:buFont typeface="Arial" panose="020B0604020202020204" pitchFamily="34" charset="0"/>
              <a:buChar char="•"/>
            </a:pPr>
            <a:r>
              <a:rPr lang="en-US" altLang="zh-CN" sz="2400" dirty="0" smtClean="0"/>
              <a:t>When do you start work? When do you finish?</a:t>
            </a:r>
            <a:endParaRPr lang="en-US" altLang="zh-CN" sz="2400" dirty="0" smtClean="0"/>
          </a:p>
          <a:p>
            <a:pPr marL="180975" indent="-180975">
              <a:buFont typeface="Arial" panose="020B0604020202020204" pitchFamily="34" charset="0"/>
              <a:buChar char="•"/>
            </a:pPr>
            <a:r>
              <a:rPr lang="en-US" altLang="zh-CN" sz="2400" dirty="0" smtClean="0"/>
              <a:t>What do you do after work?</a:t>
            </a:r>
            <a:endParaRPr lang="en-US" altLang="zh-CN" sz="2400" dirty="0" smtClean="0"/>
          </a:p>
          <a:p>
            <a:pPr indent="85725">
              <a:buFont typeface="Arial" panose="020B0604020202020204" pitchFamily="34" charset="0"/>
              <a:buChar char="•"/>
            </a:pPr>
            <a:r>
              <a:rPr lang="en-US" altLang="zh-CN" sz="2400" dirty="0" smtClean="0"/>
              <a:t>When do you go to sleep?</a:t>
            </a:r>
            <a:endParaRPr lang="en-US" altLang="zh-CN" sz="2400" dirty="0" smtClean="0"/>
          </a:p>
          <a:p>
            <a:pPr marL="85725" indent="-85725">
              <a:buFont typeface="Arial" panose="020B0604020202020204" pitchFamily="34" charset="0"/>
              <a:buChar char="•"/>
            </a:pPr>
            <a:r>
              <a:rPr lang="en-US" altLang="zh-CN" sz="2400" dirty="0" smtClean="0"/>
              <a:t>What is good about your night job?  What’s hard?</a:t>
            </a:r>
            <a:endParaRPr lang="en-US" altLang="zh-CN" sz="2400" dirty="0" smtClean="0"/>
          </a:p>
        </p:txBody>
      </p:sp>
      <p:pic>
        <p:nvPicPr>
          <p:cNvPr id="26" name="按钮-Content Note"/>
          <p:cNvPicPr>
            <a:picLocks noChangeAspect="1" noChangeArrowheads="1"/>
          </p:cNvPicPr>
          <p:nvPr/>
        </p:nvPicPr>
        <p:blipFill>
          <a:blip r:embed="rId3" cstate="print"/>
          <a:stretch>
            <a:fillRect/>
          </a:stretch>
        </p:blipFill>
        <p:spPr bwMode="auto">
          <a:xfrm>
            <a:off x="1934845" y="2329348"/>
            <a:ext cx="1350863" cy="288000"/>
          </a:xfrm>
          <a:prstGeom prst="rect">
            <a:avLst/>
          </a:prstGeom>
          <a:noFill/>
          <a:ln w="9525">
            <a:noFill/>
            <a:miter lim="800000"/>
            <a:headEnd/>
            <a:tailEnd/>
          </a:ln>
          <a:effectLst/>
        </p:spPr>
      </p:pic>
      <p:grpSp>
        <p:nvGrpSpPr>
          <p:cNvPr id="27" name="Content Note"/>
          <p:cNvGrpSpPr/>
          <p:nvPr/>
        </p:nvGrpSpPr>
        <p:grpSpPr>
          <a:xfrm>
            <a:off x="785786" y="1142984"/>
            <a:ext cx="7572428" cy="5000660"/>
            <a:chOff x="1475656" y="1268760"/>
            <a:chExt cx="7632848" cy="5657130"/>
          </a:xfrm>
        </p:grpSpPr>
        <p:sp>
          <p:nvSpPr>
            <p:cNvPr id="28" name="矩形 27"/>
            <p:cNvSpPr/>
            <p:nvPr/>
          </p:nvSpPr>
          <p:spPr>
            <a:xfrm>
              <a:off x="1475656" y="1268760"/>
              <a:ext cx="7632848" cy="5657130"/>
            </a:xfrm>
            <a:prstGeom prst="rect">
              <a:avLst/>
            </a:prstGeom>
            <a:solidFill>
              <a:schemeClr val="accent6">
                <a:lumMod val="20000"/>
                <a:lumOff val="80000"/>
              </a:schemeClr>
            </a:solidFill>
            <a:ln>
              <a:solidFill>
                <a:srgbClr val="CB8B02"/>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1475656" y="1268760"/>
              <a:ext cx="7632848" cy="429593"/>
            </a:xfrm>
            <a:prstGeom prst="rect">
              <a:avLst/>
            </a:prstGeom>
            <a:solidFill>
              <a:srgbClr val="CB8B02"/>
            </a:solidFill>
          </p:spPr>
          <p:txBody>
            <a:bodyPr wrap="square" rtlCol="0">
              <a:noAutofit/>
            </a:bodyPr>
            <a:lstStyle/>
            <a:p>
              <a:r>
                <a:rPr lang="en-US" altLang="zh-CN" b="1" dirty="0" smtClean="0">
                  <a:solidFill>
                    <a:schemeClr val="bg1"/>
                  </a:solidFill>
                  <a:latin typeface="+mj-lt"/>
                </a:rPr>
                <a:t>Content Note</a:t>
              </a:r>
              <a:endParaRPr lang="zh-CN" altLang="en-US" b="1" dirty="0">
                <a:solidFill>
                  <a:schemeClr val="bg1"/>
                </a:solidFill>
                <a:latin typeface="+mj-lt"/>
              </a:endParaRPr>
            </a:p>
          </p:txBody>
        </p:sp>
        <p:sp>
          <p:nvSpPr>
            <p:cNvPr id="30" name="TextBox 29"/>
            <p:cNvSpPr txBox="1"/>
            <p:nvPr/>
          </p:nvSpPr>
          <p:spPr>
            <a:xfrm>
              <a:off x="1547664" y="1788875"/>
              <a:ext cx="7416824" cy="4978980"/>
            </a:xfrm>
            <a:prstGeom prst="rect">
              <a:avLst/>
            </a:prstGeom>
            <a:noFill/>
          </p:spPr>
          <p:txBody>
            <a:bodyPr wrap="square" rtlCol="0">
              <a:spAutoFit/>
            </a:bodyPr>
            <a:lstStyle/>
            <a:p>
              <a:pPr>
                <a:spcAft>
                  <a:spcPts val="1200"/>
                </a:spcAft>
                <a:buClr>
                  <a:schemeClr val="accent3"/>
                </a:buClr>
                <a:buSzPct val="50000"/>
              </a:pPr>
              <a:r>
                <a:rPr lang="en-US" altLang="zh-CN" sz="2000" dirty="0" smtClean="0"/>
                <a:t>A </a:t>
              </a:r>
              <a:r>
                <a:rPr lang="en-US" altLang="zh-CN" sz="2000" b="1" i="1" dirty="0" smtClean="0"/>
                <a:t>call center worker </a:t>
              </a:r>
              <a:r>
                <a:rPr lang="en-US" altLang="zh-CN" sz="2000" b="1" dirty="0" smtClean="0"/>
                <a:t>is paid to answer phone calls</a:t>
              </a:r>
              <a:r>
                <a:rPr lang="en-US" altLang="zh-CN" sz="2000" dirty="0" smtClean="0"/>
                <a:t>, usually for customer service. It is common for big companies to outsource customer service call lines to other countries, so even though customers dial a domestic number, they may get an operator in another part of the world. Because of time differences, this means that call center workers have to be ready to take calls all night long.</a:t>
              </a:r>
              <a:endParaRPr lang="en-US" altLang="zh-CN" sz="2000" dirty="0" smtClean="0"/>
            </a:p>
            <a:p>
              <a:pPr>
                <a:spcAft>
                  <a:spcPts val="1200"/>
                </a:spcAft>
                <a:buClr>
                  <a:schemeClr val="accent3"/>
                </a:buClr>
                <a:buSzPct val="50000"/>
              </a:pPr>
              <a:r>
                <a:rPr lang="en-US" altLang="zh-CN" sz="2000" dirty="0" smtClean="0"/>
                <a:t>A </a:t>
              </a:r>
              <a:r>
                <a:rPr lang="en-US" altLang="zh-CN" sz="2000" b="1" i="1" dirty="0" smtClean="0"/>
                <a:t>hotel clerk </a:t>
              </a:r>
              <a:r>
                <a:rPr lang="en-US" altLang="zh-CN" sz="2000" dirty="0" smtClean="0"/>
                <a:t>refers to someone who </a:t>
              </a:r>
              <a:r>
                <a:rPr lang="en-US" altLang="zh-CN" sz="2000" b="1" dirty="0" smtClean="0"/>
                <a:t>stays up during the night to be at the front desk in a hotel</a:t>
              </a:r>
              <a:r>
                <a:rPr lang="en-US" altLang="zh-CN" sz="2000" dirty="0" smtClean="0"/>
                <a:t>. This person handles late-night check-ins, phone calls, or helps guests if other problems arise. </a:t>
              </a:r>
              <a:endParaRPr lang="en-US" altLang="zh-CN" sz="2000" dirty="0" smtClean="0"/>
            </a:p>
            <a:p>
              <a:pPr>
                <a:spcAft>
                  <a:spcPts val="1200"/>
                </a:spcAft>
                <a:buClr>
                  <a:schemeClr val="accent3"/>
                </a:buClr>
                <a:buSzPct val="50000"/>
              </a:pPr>
              <a:r>
                <a:rPr lang="en-US" altLang="zh-CN" sz="2000" dirty="0" smtClean="0"/>
                <a:t>Additional night-shift jobs include: </a:t>
              </a:r>
              <a:r>
                <a:rPr lang="en-US" altLang="zh-CN" sz="2000" b="1" i="1" dirty="0" smtClean="0"/>
                <a:t>convenience</a:t>
              </a:r>
              <a:r>
                <a:rPr lang="en-US" altLang="zh-CN" sz="2000" dirty="0" smtClean="0"/>
                <a:t> </a:t>
              </a:r>
              <a:r>
                <a:rPr lang="en-US" altLang="zh-CN" sz="2000" b="1" i="1" dirty="0" smtClean="0"/>
                <a:t>store worker</a:t>
              </a:r>
              <a:r>
                <a:rPr lang="en-US" altLang="zh-CN" sz="2000" i="1" dirty="0" smtClean="0"/>
                <a:t>, </a:t>
              </a:r>
              <a:r>
                <a:rPr lang="en-US" altLang="zh-CN" sz="2000" b="1" i="1" dirty="0" smtClean="0"/>
                <a:t>airplane pilot </a:t>
              </a:r>
              <a:r>
                <a:rPr lang="en-US" altLang="zh-CN" sz="2000" i="1" dirty="0" smtClean="0"/>
                <a:t>and </a:t>
              </a:r>
              <a:r>
                <a:rPr lang="en-US" altLang="zh-CN" sz="2000" b="1" i="1" dirty="0" smtClean="0"/>
                <a:t>flight attendant</a:t>
              </a:r>
              <a:r>
                <a:rPr lang="en-US" altLang="zh-CN" sz="2000" i="1" dirty="0" smtClean="0"/>
                <a:t>, </a:t>
              </a:r>
              <a:r>
                <a:rPr lang="en-US" altLang="zh-CN" sz="2000" b="1" i="1" dirty="0" smtClean="0"/>
                <a:t>gas station attendant</a:t>
              </a:r>
              <a:r>
                <a:rPr lang="en-US" altLang="zh-CN" sz="2000" i="1" dirty="0" smtClean="0"/>
                <a:t>, </a:t>
              </a:r>
              <a:r>
                <a:rPr lang="en-US" altLang="zh-CN" sz="2000" b="1" i="1" dirty="0" smtClean="0"/>
                <a:t>truck driver</a:t>
              </a:r>
              <a:r>
                <a:rPr lang="en-US" altLang="zh-CN" sz="2000" dirty="0" smtClean="0"/>
                <a:t>. Note that many stores are now open 24 hours every day, which means that many </a:t>
              </a:r>
              <a:r>
                <a:rPr lang="en-US" altLang="zh-CN" sz="2000" b="1" i="1" dirty="0" smtClean="0"/>
                <a:t>retail workers </a:t>
              </a:r>
              <a:r>
                <a:rPr lang="en-US" altLang="zh-CN" sz="2000" dirty="0" smtClean="0"/>
                <a:t>now need to work a night shift.</a:t>
              </a:r>
              <a:endParaRPr lang="en-US" altLang="zh-CN" sz="2000" dirty="0" smtClean="0"/>
            </a:p>
          </p:txBody>
        </p:sp>
      </p:grpSp>
      <p:sp>
        <p:nvSpPr>
          <p:cNvPr id="31" name="btn-Part 1">
            <a:hlinkClick r:id="rId4" action="ppaction://hlinksldjump"/>
          </p:cNvPr>
          <p:cNvSpPr/>
          <p:nvPr/>
        </p:nvSpPr>
        <p:spPr>
          <a:xfrm>
            <a:off x="0" y="500042"/>
            <a:ext cx="1344386"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The night shift        </a:t>
            </a:r>
            <a:r>
              <a:rPr lang="en-US" altLang="zh-CN" sz="1600" b="1" dirty="0" smtClean="0">
                <a:solidFill>
                  <a:schemeClr val="accent4"/>
                </a:solidFill>
                <a:latin typeface="+mj-lt"/>
              </a:rPr>
              <a:t>Project</a:t>
            </a:r>
            <a:endParaRPr lang="zh-CN" altLang="en-US" sz="1600" b="1" dirty="0">
              <a:solidFill>
                <a:schemeClr val="accent4"/>
              </a:solidFill>
              <a:latin typeface="+mj-lt"/>
            </a:endParaRPr>
          </a:p>
        </p:txBody>
      </p:sp>
      <p:sp>
        <p:nvSpPr>
          <p:cNvPr id="32" name="文本占位符 31"/>
          <p:cNvSpPr>
            <a:spLocks noGrp="1"/>
          </p:cNvSpPr>
          <p:nvPr>
            <p:ph type="body" sz="quarter" idx="13"/>
          </p:nvPr>
        </p:nvSpPr>
        <p:spPr>
          <a:xfrm>
            <a:off x="323850" y="3910826"/>
            <a:ext cx="8569325" cy="946934"/>
          </a:xfrm>
        </p:spPr>
        <p:txBody>
          <a:bodyPr>
            <a:normAutofit/>
          </a:bodyPr>
          <a:lstStyle/>
          <a:p>
            <a:r>
              <a:rPr lang="en-US" altLang="zh-CN" b="1" dirty="0" smtClean="0"/>
              <a:t>D. Compare different jobs. </a:t>
            </a:r>
            <a:r>
              <a:rPr lang="en-US" altLang="zh-CN" dirty="0" smtClean="0"/>
              <a:t>With a partner, list the jobs you learned about in B and C. Then explain:</a:t>
            </a:r>
            <a:endParaRPr lang="en-US" altLang="zh-CN" dirty="0" smtClean="0"/>
          </a:p>
        </p:txBody>
      </p:sp>
      <p:grpSp>
        <p:nvGrpSpPr>
          <p:cNvPr id="21" name="下一页"/>
          <p:cNvGrpSpPr/>
          <p:nvPr/>
        </p:nvGrpSpPr>
        <p:grpSpPr>
          <a:xfrm>
            <a:off x="8750845" y="6578304"/>
            <a:ext cx="264567" cy="210642"/>
            <a:chOff x="8750845" y="6578304"/>
            <a:chExt cx="264567" cy="210642"/>
          </a:xfrm>
        </p:grpSpPr>
        <p:sp>
          <p:nvSpPr>
            <p:cNvPr id="2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上一页"/>
          <p:cNvGrpSpPr/>
          <p:nvPr/>
        </p:nvGrpSpPr>
        <p:grpSpPr>
          <a:xfrm>
            <a:off x="8335464" y="6580685"/>
            <a:ext cx="264567" cy="210642"/>
            <a:chOff x="8335464" y="6580685"/>
            <a:chExt cx="264567" cy="210642"/>
          </a:xfrm>
        </p:grpSpPr>
        <p:sp>
          <p:nvSpPr>
            <p:cNvPr id="2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返回按钮"/>
          <p:cNvGrpSpPr/>
          <p:nvPr/>
        </p:nvGrpSpPr>
        <p:grpSpPr>
          <a:xfrm>
            <a:off x="7875422" y="6585447"/>
            <a:ext cx="264567" cy="210642"/>
            <a:chOff x="7875422" y="6585447"/>
            <a:chExt cx="264567" cy="210642"/>
          </a:xfrm>
        </p:grpSpPr>
        <p:sp>
          <p:nvSpPr>
            <p:cNvPr id="2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btn-Part 1">
            <a:hlinkClick r:id="rId1" action="ppaction://hlinksldjump"/>
          </p:cNvPr>
          <p:cNvSpPr/>
          <p:nvPr/>
        </p:nvSpPr>
        <p:spPr>
          <a:xfrm>
            <a:off x="1643068"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28596" y="4754424"/>
            <a:ext cx="8435967" cy="1200329"/>
          </a:xfrm>
          <a:prstGeom prst="rect">
            <a:avLst/>
          </a:prstGeom>
        </p:spPr>
        <p:txBody>
          <a:bodyPr wrap="square" numCol="1">
            <a:spAutoFit/>
          </a:bodyPr>
          <a:lstStyle/>
          <a:p>
            <a:pPr marL="457200" indent="-457200">
              <a:buFont typeface="+mj-lt"/>
              <a:buAutoNum type="arabicPeriod"/>
            </a:pPr>
            <a:r>
              <a:rPr lang="en-US" altLang="zh-CN" sz="2400" dirty="0" smtClean="0"/>
              <a:t>What are the good things about these night jobs? What are the bad things?</a:t>
            </a:r>
            <a:endParaRPr lang="en-US" altLang="zh-CN" sz="2400" dirty="0" smtClean="0"/>
          </a:p>
          <a:p>
            <a:pPr marL="457200" indent="-457200">
              <a:buFont typeface="+mj-lt"/>
              <a:buAutoNum type="arabicPeriod"/>
            </a:pPr>
            <a:r>
              <a:rPr lang="en-US" altLang="zh-CN" sz="2400" dirty="0" smtClean="0"/>
              <a:t>Which night job is the best? Which is the worst?</a:t>
            </a:r>
            <a:endParaRPr lang="zh-CN" altLang="en-US" sz="2400" dirty="0"/>
          </a:p>
        </p:txBody>
      </p:sp>
      <p:sp>
        <p:nvSpPr>
          <p:cNvPr id="30" name="文本占位符 31"/>
          <p:cNvSpPr>
            <a:spLocks noGrp="1"/>
          </p:cNvSpPr>
          <p:nvPr>
            <p:ph type="body" sz="quarter" idx="13"/>
          </p:nvPr>
        </p:nvSpPr>
        <p:spPr>
          <a:xfrm>
            <a:off x="357158" y="1000108"/>
            <a:ext cx="8569325" cy="857256"/>
          </a:xfrm>
        </p:spPr>
        <p:txBody>
          <a:bodyPr>
            <a:normAutofit/>
          </a:bodyPr>
          <a:lstStyle/>
          <a:p>
            <a:r>
              <a:rPr lang="en-US" altLang="zh-CN" b="1" dirty="0" smtClean="0"/>
              <a:t>C. Interview a partner. </a:t>
            </a:r>
            <a:r>
              <a:rPr lang="en-US" altLang="zh-CN" dirty="0" smtClean="0"/>
              <a:t>Talk about your routine. Your partner will take notes and ask you questions. Take turns with different partners.</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p:txBody>
      </p:sp>
      <p:sp>
        <p:nvSpPr>
          <p:cNvPr id="34" name="圆角矩形标注 33"/>
          <p:cNvSpPr/>
          <p:nvPr/>
        </p:nvSpPr>
        <p:spPr>
          <a:xfrm>
            <a:off x="611560" y="1857364"/>
            <a:ext cx="2745994" cy="576634"/>
          </a:xfrm>
          <a:prstGeom prst="wedgeRoundRectCallout">
            <a:avLst>
              <a:gd name="adj1" fmla="val -55075"/>
              <a:gd name="adj2" fmla="val 39464"/>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400" dirty="0" smtClean="0">
                <a:solidFill>
                  <a:schemeClr val="tx1"/>
                </a:solidFill>
              </a:rPr>
              <a:t>Do you like your job?</a:t>
            </a:r>
            <a:endParaRPr lang="zh-CN" altLang="en-US" sz="2400" dirty="0">
              <a:solidFill>
                <a:schemeClr val="tx1"/>
              </a:solidFill>
            </a:endParaRPr>
          </a:p>
        </p:txBody>
      </p:sp>
      <p:sp>
        <p:nvSpPr>
          <p:cNvPr id="35" name="圆角矩形标注 34"/>
          <p:cNvSpPr/>
          <p:nvPr/>
        </p:nvSpPr>
        <p:spPr>
          <a:xfrm>
            <a:off x="827584" y="2643182"/>
            <a:ext cx="7560840" cy="642942"/>
          </a:xfrm>
          <a:prstGeom prst="wedgeRoundRectCallout">
            <a:avLst>
              <a:gd name="adj1" fmla="val 54908"/>
              <a:gd name="adj2" fmla="val 41067"/>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400" dirty="0" smtClean="0">
                <a:solidFill>
                  <a:schemeClr val="tx1"/>
                </a:solidFill>
              </a:rPr>
              <a:t>Sometimes. It’s hard. I’m always sleepy. But the money is good.</a:t>
            </a:r>
            <a:endParaRPr lang="zh-CN" altLang="en-US" sz="2400" dirty="0">
              <a:solidFill>
                <a:schemeClr val="tx1"/>
              </a:solidFill>
            </a:endParaRPr>
          </a:p>
        </p:txBody>
      </p:sp>
      <p:sp>
        <p:nvSpPr>
          <p:cNvPr id="31" name="btn-Part 1">
            <a:hlinkClick r:id="rId2" action="ppaction://hlinksldjump"/>
          </p:cNvPr>
          <p:cNvSpPr/>
          <p:nvPr/>
        </p:nvSpPr>
        <p:spPr>
          <a:xfrm>
            <a:off x="63500" y="482615"/>
            <a:ext cx="1344386"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The night shift        </a:t>
            </a:r>
            <a:r>
              <a:rPr lang="en-US" altLang="zh-CN" sz="1600" b="1" dirty="0" smtClean="0">
                <a:solidFill>
                  <a:srgbClr val="515672"/>
                </a:solidFill>
                <a:latin typeface="+mj-lt"/>
              </a:rPr>
              <a:t>Project</a:t>
            </a:r>
            <a:endParaRPr lang="zh-CN" altLang="en-US" sz="1600" b="1" dirty="0">
              <a:solidFill>
                <a:srgbClr val="515672"/>
              </a:solidFill>
              <a:latin typeface="+mj-lt"/>
            </a:endParaRPr>
          </a:p>
        </p:txBody>
      </p:sp>
      <p:sp>
        <p:nvSpPr>
          <p:cNvPr id="32" name="文本占位符 31"/>
          <p:cNvSpPr>
            <a:spLocks noGrp="1"/>
          </p:cNvSpPr>
          <p:nvPr>
            <p:ph type="body" sz="quarter" idx="13"/>
          </p:nvPr>
        </p:nvSpPr>
        <p:spPr>
          <a:xfrm>
            <a:off x="323850" y="1124743"/>
            <a:ext cx="8569325" cy="1490865"/>
          </a:xfrm>
        </p:spPr>
        <p:txBody>
          <a:bodyPr>
            <a:normAutofit/>
          </a:bodyPr>
          <a:lstStyle/>
          <a:p>
            <a:r>
              <a:rPr lang="en-US" altLang="zh-CN" b="1" dirty="0" smtClean="0"/>
              <a:t>Interview a night shift worker. </a:t>
            </a:r>
            <a:r>
              <a:rPr lang="en-US" altLang="zh-CN" dirty="0" smtClean="0"/>
              <a:t>Find people who work (or used to work) the night shift. Interview them to find out what a typical day is like for them. Make a presentation about the people. Include photos. Show your presentation to the class and ask them which night job they think is best and which job they think is worst.</a:t>
            </a:r>
            <a:endParaRPr lang="zh-CN" altLang="en-US" dirty="0"/>
          </a:p>
        </p:txBody>
      </p:sp>
      <p:grpSp>
        <p:nvGrpSpPr>
          <p:cNvPr id="35" name="下一页"/>
          <p:cNvGrpSpPr/>
          <p:nvPr/>
        </p:nvGrpSpPr>
        <p:grpSpPr>
          <a:xfrm>
            <a:off x="8750845" y="6578304"/>
            <a:ext cx="264567" cy="210642"/>
            <a:chOff x="8750845" y="6578304"/>
            <a:chExt cx="264567" cy="210642"/>
          </a:xfrm>
        </p:grpSpPr>
        <p:sp>
          <p:nvSpPr>
            <p:cNvPr id="36"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37"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上一页"/>
          <p:cNvGrpSpPr/>
          <p:nvPr/>
        </p:nvGrpSpPr>
        <p:grpSpPr>
          <a:xfrm>
            <a:off x="8335464" y="6580685"/>
            <a:ext cx="264567" cy="210642"/>
            <a:chOff x="8335464" y="6580685"/>
            <a:chExt cx="264567" cy="210642"/>
          </a:xfrm>
        </p:grpSpPr>
        <p:sp>
          <p:nvSpPr>
            <p:cNvPr id="41"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2"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5"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6" name="图片 45" descr="P01-12_1309526.jpg"/>
          <p:cNvPicPr>
            <a:picLocks noChangeAspect="1"/>
          </p:cNvPicPr>
          <p:nvPr/>
        </p:nvPicPr>
        <p:blipFill>
          <a:blip r:embed="rId1" cstate="print"/>
          <a:stretch>
            <a:fillRect/>
          </a:stretch>
        </p:blipFill>
        <p:spPr>
          <a:xfrm>
            <a:off x="3276918" y="2714620"/>
            <a:ext cx="5434309" cy="3622873"/>
          </a:xfrm>
          <a:prstGeom prst="rect">
            <a:avLst/>
          </a:prstGeom>
        </p:spPr>
      </p:pic>
      <p:sp>
        <p:nvSpPr>
          <p:cNvPr id="47" name="矩形 46"/>
          <p:cNvSpPr/>
          <p:nvPr/>
        </p:nvSpPr>
        <p:spPr>
          <a:xfrm>
            <a:off x="5689576" y="5676278"/>
            <a:ext cx="3007555" cy="646331"/>
          </a:xfrm>
          <a:prstGeom prst="rect">
            <a:avLst/>
          </a:prstGeom>
          <a:solidFill>
            <a:schemeClr val="tx1"/>
          </a:solidFill>
        </p:spPr>
        <p:txBody>
          <a:bodyPr wrap="none">
            <a:spAutoFit/>
          </a:bodyPr>
          <a:lstStyle/>
          <a:p>
            <a:r>
              <a:rPr lang="en-US" altLang="zh-CN" dirty="0" smtClean="0">
                <a:solidFill>
                  <a:schemeClr val="bg1"/>
                </a:solidFill>
              </a:rPr>
              <a:t>This taxi driver in Madrid, Spain,</a:t>
            </a:r>
            <a:endParaRPr lang="en-US" altLang="zh-CN" dirty="0" smtClean="0">
              <a:solidFill>
                <a:schemeClr val="bg1"/>
              </a:solidFill>
            </a:endParaRPr>
          </a:p>
          <a:p>
            <a:r>
              <a:rPr lang="en-US" altLang="zh-CN" dirty="0" smtClean="0">
                <a:solidFill>
                  <a:schemeClr val="bg1"/>
                </a:solidFill>
              </a:rPr>
              <a:t>works at night. </a:t>
            </a:r>
            <a:endParaRPr lang="zh-CN" altLang="en-US" dirty="0">
              <a:solidFill>
                <a:schemeClr val="bg1"/>
              </a:solidFill>
            </a:endParaRPr>
          </a:p>
        </p:txBody>
      </p:sp>
      <p:sp>
        <p:nvSpPr>
          <p:cNvPr id="16" name="btn-Part 1">
            <a:hlinkClick r:id="rId2" action="ppaction://hlinksldjump"/>
          </p:cNvPr>
          <p:cNvSpPr/>
          <p:nvPr/>
        </p:nvSpPr>
        <p:spPr>
          <a:xfrm>
            <a:off x="63500" y="482615"/>
            <a:ext cx="1344386"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btn-Part 1">
            <a:hlinkClick r:id="rId3" action="ppaction://hlinksldjump"/>
          </p:cNvPr>
          <p:cNvSpPr/>
          <p:nvPr/>
        </p:nvSpPr>
        <p:spPr>
          <a:xfrm>
            <a:off x="1643068"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tags/tag1.xml><?xml version="1.0" encoding="utf-8"?>
<p:tagLst xmlns:p="http://schemas.openxmlformats.org/presentationml/2006/main">
  <p:tag name="commondata" val="eyJoZGlkIjoiZWNhNzhjZGJkMzMzZjhhNWJmN2E2YWM2ZDMyYWYwN2YifQ=="/>
</p:tagLst>
</file>

<file path=ppt/theme/theme1.xml><?xml version="1.0" encoding="utf-8"?>
<a:theme xmlns:a="http://schemas.openxmlformats.org/drawingml/2006/main" name="Office 主题">
  <a:themeElements>
    <a:clrScheme name="进阶视听说">
      <a:dk1>
        <a:sysClr val="windowText" lastClr="000000"/>
      </a:dk1>
      <a:lt1>
        <a:sysClr val="window" lastClr="FFFFFF"/>
      </a:lt1>
      <a:dk2>
        <a:srgbClr val="582957"/>
      </a:dk2>
      <a:lt2>
        <a:srgbClr val="EEECE1"/>
      </a:lt2>
      <a:accent1>
        <a:srgbClr val="4F81BD"/>
      </a:accent1>
      <a:accent2>
        <a:srgbClr val="C0504D"/>
      </a:accent2>
      <a:accent3>
        <a:srgbClr val="88BB16"/>
      </a:accent3>
      <a:accent4>
        <a:srgbClr val="AF88B6"/>
      </a:accent4>
      <a:accent5>
        <a:srgbClr val="4BACC6"/>
      </a:accent5>
      <a:accent6>
        <a:srgbClr val="FEE200"/>
      </a:accent6>
      <a:hlink>
        <a:srgbClr val="0000FF"/>
      </a:hlink>
      <a:folHlink>
        <a:srgbClr val="800080"/>
      </a:folHlink>
    </a:clrScheme>
    <a:fontScheme name="进阶试听说">
      <a:majorFont>
        <a:latin typeface="Roboto Condensed"/>
        <a:ea typeface="微软雅黑"/>
        <a:cs typeface=""/>
      </a:majorFont>
      <a:minorFont>
        <a:latin typeface="Neuto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2389</Words>
  <Application>WPS 演示</Application>
  <PresentationFormat>全屏显示(4:3)</PresentationFormat>
  <Paragraphs>50</Paragraphs>
  <Slides>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vt:i4>
      </vt:variant>
    </vt:vector>
  </HeadingPairs>
  <TitlesOfParts>
    <vt:vector size="12" baseType="lpstr">
      <vt:lpstr>Arial</vt:lpstr>
      <vt:lpstr>宋体</vt:lpstr>
      <vt:lpstr>Wingdings</vt:lpstr>
      <vt:lpstr>Neuton</vt:lpstr>
      <vt:lpstr>Roboto Condensed</vt:lpstr>
      <vt:lpstr>微软雅黑</vt:lpstr>
      <vt:lpstr>Arial Unicode MS</vt:lpstr>
      <vt:lpstr>Calibri</vt:lpstr>
      <vt:lpstr>Office 主题</vt:lpstr>
      <vt:lpstr>PowerPoint 演示文稿</vt:lpstr>
      <vt:lpstr>PowerPoint 演示文稿</vt:lpstr>
      <vt:lpstr>PowerPoint 演示文稿</vt:lpstr>
    </vt:vector>
  </TitlesOfParts>
  <Company>cmet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old9</dc:creator>
  <cp:lastModifiedBy>别急躁</cp:lastModifiedBy>
  <cp:revision>207</cp:revision>
  <dcterms:created xsi:type="dcterms:W3CDTF">2017-12-23T09:29:00Z</dcterms:created>
  <dcterms:modified xsi:type="dcterms:W3CDTF">2024-08-27T05:11:24Z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D973809295C142AFA87877A0EA66DA69_13</vt:lpwstr>
  </property>
  <property fmtid="{D5CDD505-2E9C-101B-9397-08002B2CF9AE}" pid="3" name="KSOProductBuildVer">
    <vt:lpwstr>2052-12.1.0.17857</vt:lpwstr>
  </property>
</Properties>
</file>