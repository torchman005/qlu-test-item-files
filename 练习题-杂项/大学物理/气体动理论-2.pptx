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s/slide29.xml" ContentType="application/vnd.openxmlformats-officedocument.presentationml.slide+xml"/>
  <Override PartName="/ppt/slideLayouts/slideLayout39.xml" ContentType="application/vnd.openxmlformats-officedocument.presentationml.slideLayout+xml"/>
  <Override PartName="/ppt/theme/theme5.xml" ContentType="application/vnd.openxmlformats-officedocument.theme+xml"/>
  <Override PartName="/ppt/slideLayouts/slideLayout57.xml" ContentType="application/vnd.openxmlformats-officedocument.presentationml.slideLayout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64.xml" ContentType="application/vnd.openxmlformats-officedocument.presentationml.slideLayout+xml"/>
  <Override PartName="/ppt/activeX/activeX2.xml" ContentType="application/vnd.ms-office.activeX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53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ppt/activeX/activeX2.bin" ContentType="application/vnd.ms-office.activeX"/>
  <Override PartName="/ppt/slideMasters/slideMaster4.xml" ContentType="application/vnd.openxmlformats-officedocument.presentationml.slideMaster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theme/theme6.xml" ContentType="application/vnd.openxmlformats-officedocument.theme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Default Extension="png" ContentType="image/png"/>
  <Override PartName="/ppt/slideLayouts/slideLayout58.xml" ContentType="application/vnd.openxmlformats-officedocument.presentationml.slideLayout+xml"/>
  <Override PartName="/ppt/slideLayouts/slideLayout67.xml" ContentType="application/vnd.openxmlformats-officedocument.presentationml.slideLayout+xml"/>
  <Default Extension="bin" ContentType="application/vnd.openxmlformats-officedocument.oleObject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65.xml" ContentType="application/vnd.openxmlformats-officedocument.presentationml.slideLayout+xml"/>
  <Override PartName="/ppt/activeX/activeX3.xml" ContentType="application/vnd.ms-office.activeX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63.xml" ContentType="application/vnd.openxmlformats-officedocument.presentationml.slideLayout+xml"/>
  <Default Extension="jpeg" ContentType="image/jpeg"/>
  <Override PartName="/ppt/activeX/activeX1.xml" ContentType="application/vnd.ms-office.activeX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tags/tag1.xml" ContentType="application/vnd.openxmlformats-officedocument.presentationml.tags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6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Default Extension="vml" ContentType="application/vnd.openxmlformats-officedocument.vmlDrawing"/>
  <Override PartName="/ppt/activeX/activeX3.bin" ContentType="application/vnd.ms-office.activeX"/>
  <Override PartName="/ppt/slideMasters/slideMaster5.xml" ContentType="application/vnd.openxmlformats-officedocument.presentationml.slideMaster+xml"/>
  <Override PartName="/ppt/slides/slide8.xml" ContentType="application/vnd.openxmlformats-officedocument.presentationml.slide+xml"/>
  <Override PartName="/ppt/slideLayouts/slideLayout59.xml" ContentType="application/vnd.openxmlformats-officedocument.presentationml.slideLayout+xml"/>
  <Override PartName="/ppt/theme/theme7.xml" ContentType="application/vnd.openxmlformats-officedocument.theme+xml"/>
  <Override PartName="/ppt/activeX/activeX1.bin" ContentType="application/vnd.ms-office.activeX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62.xml" ContentType="application/vnd.openxmlformats-officedocument.presentationml.slideLayout+xml"/>
  <Default Extension="wmf" ContentType="image/x-wmf"/>
  <Default Extension="rels" ContentType="application/vnd.openxmlformats-package.relationships+xml"/>
  <Override PartName="/ppt/slides/slide23.xml" ContentType="application/vnd.openxmlformats-officedocument.presentationml.slide+xml"/>
  <Override PartName="/ppt/slideLayouts/slideLayout2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Masters/slideMaster6.xml" ContentType="application/vnd.openxmlformats-officedocument.presentationml.slideMaster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1"/>
    <p:sldMasterId id="2147483697" r:id="rId2"/>
    <p:sldMasterId id="2147483777" r:id="rId3"/>
    <p:sldMasterId id="2147483789" r:id="rId4"/>
    <p:sldMasterId id="2147483801" r:id="rId5"/>
    <p:sldMasterId id="2147483813" r:id="rId6"/>
  </p:sldMasterIdLst>
  <p:notesMasterIdLst>
    <p:notesMasterId r:id="rId40"/>
  </p:notesMasterIdLst>
  <p:sldIdLst>
    <p:sldId id="306" r:id="rId7"/>
    <p:sldId id="285" r:id="rId8"/>
    <p:sldId id="307" r:id="rId9"/>
    <p:sldId id="308" r:id="rId10"/>
    <p:sldId id="309" r:id="rId11"/>
    <p:sldId id="310" r:id="rId12"/>
    <p:sldId id="311" r:id="rId13"/>
    <p:sldId id="312" r:id="rId14"/>
    <p:sldId id="313" r:id="rId15"/>
    <p:sldId id="314" r:id="rId16"/>
    <p:sldId id="315" r:id="rId17"/>
    <p:sldId id="316" r:id="rId18"/>
    <p:sldId id="317" r:id="rId19"/>
    <p:sldId id="318" r:id="rId20"/>
    <p:sldId id="319" r:id="rId21"/>
    <p:sldId id="320" r:id="rId22"/>
    <p:sldId id="321" r:id="rId23"/>
    <p:sldId id="322" r:id="rId24"/>
    <p:sldId id="323" r:id="rId25"/>
    <p:sldId id="324" r:id="rId26"/>
    <p:sldId id="325" r:id="rId27"/>
    <p:sldId id="326" r:id="rId28"/>
    <p:sldId id="328" r:id="rId29"/>
    <p:sldId id="329" r:id="rId30"/>
    <p:sldId id="330" r:id="rId31"/>
    <p:sldId id="331" r:id="rId32"/>
    <p:sldId id="332" r:id="rId33"/>
    <p:sldId id="333" r:id="rId34"/>
    <p:sldId id="334" r:id="rId35"/>
    <p:sldId id="335" r:id="rId36"/>
    <p:sldId id="336" r:id="rId37"/>
    <p:sldId id="337" r:id="rId38"/>
    <p:sldId id="338" r:id="rId39"/>
  </p:sldIdLst>
  <p:sldSz cx="9144000" cy="6858000" type="screen4x3"/>
  <p:notesSz cx="6858000" cy="9144000"/>
  <p:custDataLst>
    <p:tags r:id="rId41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00"/>
    <a:srgbClr val="FF99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69" autoAdjust="0"/>
    <p:restoredTop sz="94660"/>
  </p:normalViewPr>
  <p:slideViewPr>
    <p:cSldViewPr>
      <p:cViewPr varScale="1">
        <p:scale>
          <a:sx n="85" d="100"/>
          <a:sy n="85" d="100"/>
        </p:scale>
        <p:origin x="-1560" y="-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presProps" Target="pres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41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viewProps" Target="viewProps.xml"/></Relationships>
</file>

<file path=ppt/activeX/_rels/activeX1.xml.rels><?xml version="1.0" encoding="UTF-8" standalone="yes"?>
<Relationships xmlns="http://schemas.openxmlformats.org/package/2006/relationships"><Relationship Id="rId1" Type="http://schemas.microsoft.com/office/2006/relationships/activeXControlBinary" Target="activeX1.bin"/></Relationships>
</file>

<file path=ppt/activeX/_rels/activeX2.xml.rels><?xml version="1.0" encoding="UTF-8" standalone="yes"?>
<Relationships xmlns="http://schemas.openxmlformats.org/package/2006/relationships"><Relationship Id="rId1" Type="http://schemas.microsoft.com/office/2006/relationships/activeXControlBinary" Target="activeX2.bin"/></Relationships>
</file>

<file path=ppt/activeX/_rels/activeX3.xml.rels><?xml version="1.0" encoding="UTF-8" standalone="yes"?>
<Relationships xmlns="http://schemas.openxmlformats.org/package/2006/relationships"><Relationship Id="rId1" Type="http://schemas.microsoft.com/office/2006/relationships/activeXControlBinary" Target="activeX3.bin"/></Relationships>
</file>

<file path=ppt/activeX/activeX1.xml><?xml version="1.0" encoding="utf-8"?>
<ax:ocx xmlns:ax="http://schemas.microsoft.com/office/2006/activeX" xmlns:r="http://schemas.openxmlformats.org/officeDocument/2006/relationships" ax:classid="{D27CDB6E-AE6D-11CF-96B8-444553540000}" ax:persistence="persistStorage" r:id="rId1"/>
</file>

<file path=ppt/activeX/activeX2.xml><?xml version="1.0" encoding="utf-8"?>
<ax:ocx xmlns:ax="http://schemas.microsoft.com/office/2006/activeX" xmlns:r="http://schemas.openxmlformats.org/officeDocument/2006/relationships" ax:classid="{D27CDB6E-AE6D-11CF-96B8-444553540000}" ax:persistence="persistStorage" r:id="rId1"/>
</file>

<file path=ppt/activeX/activeX3.xml><?xml version="1.0" encoding="utf-8"?>
<ax:ocx xmlns:ax="http://schemas.microsoft.com/office/2006/activeX" xmlns:r="http://schemas.openxmlformats.org/officeDocument/2006/relationships" ax:classid="{D27CDB6E-AE6D-11CF-96B8-444553540000}" ax:persistence="persistStorage" r:id="rId1"/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Relationship Id="rId6" Type="http://schemas.openxmlformats.org/officeDocument/2006/relationships/image" Target="../media/image12.wmf"/><Relationship Id="rId5" Type="http://schemas.openxmlformats.org/officeDocument/2006/relationships/image" Target="../media/image11.wmf"/><Relationship Id="rId4" Type="http://schemas.openxmlformats.org/officeDocument/2006/relationships/image" Target="../media/image10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3" Type="http://schemas.openxmlformats.org/officeDocument/2006/relationships/image" Target="../media/image15.wmf"/><Relationship Id="rId7" Type="http://schemas.openxmlformats.org/officeDocument/2006/relationships/image" Target="../media/image19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Relationship Id="rId6" Type="http://schemas.openxmlformats.org/officeDocument/2006/relationships/image" Target="../media/image18.wmf"/><Relationship Id="rId5" Type="http://schemas.openxmlformats.org/officeDocument/2006/relationships/image" Target="../media/image17.wmf"/><Relationship Id="rId10" Type="http://schemas.openxmlformats.org/officeDocument/2006/relationships/image" Target="../media/image22.wmf"/><Relationship Id="rId4" Type="http://schemas.openxmlformats.org/officeDocument/2006/relationships/image" Target="../media/image16.wmf"/><Relationship Id="rId9" Type="http://schemas.openxmlformats.org/officeDocument/2006/relationships/image" Target="../media/image21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7" Type="http://schemas.openxmlformats.org/officeDocument/2006/relationships/image" Target="../media/image27.wmf"/><Relationship Id="rId2" Type="http://schemas.openxmlformats.org/officeDocument/2006/relationships/image" Target="../media/image23.wmf"/><Relationship Id="rId1" Type="http://schemas.openxmlformats.org/officeDocument/2006/relationships/image" Target="../media/image15.wmf"/><Relationship Id="rId6" Type="http://schemas.openxmlformats.org/officeDocument/2006/relationships/image" Target="../media/image26.wmf"/><Relationship Id="rId5" Type="http://schemas.openxmlformats.org/officeDocument/2006/relationships/image" Target="../media/image25.wmf"/><Relationship Id="rId4" Type="http://schemas.openxmlformats.org/officeDocument/2006/relationships/image" Target="../media/image24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image" Target="../media/image15.wmf"/><Relationship Id="rId1" Type="http://schemas.openxmlformats.org/officeDocument/2006/relationships/image" Target="../media/image28.wmf"/><Relationship Id="rId6" Type="http://schemas.openxmlformats.org/officeDocument/2006/relationships/image" Target="../media/image32.wmf"/><Relationship Id="rId5" Type="http://schemas.openxmlformats.org/officeDocument/2006/relationships/image" Target="../media/image31.wmf"/><Relationship Id="rId4" Type="http://schemas.openxmlformats.org/officeDocument/2006/relationships/image" Target="../media/image30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37.wmf"/><Relationship Id="rId3" Type="http://schemas.openxmlformats.org/officeDocument/2006/relationships/image" Target="../media/image14.wmf"/><Relationship Id="rId7" Type="http://schemas.openxmlformats.org/officeDocument/2006/relationships/image" Target="../media/image36.wmf"/><Relationship Id="rId2" Type="http://schemas.openxmlformats.org/officeDocument/2006/relationships/image" Target="../media/image33.wmf"/><Relationship Id="rId1" Type="http://schemas.openxmlformats.org/officeDocument/2006/relationships/image" Target="../media/image15.wmf"/><Relationship Id="rId6" Type="http://schemas.openxmlformats.org/officeDocument/2006/relationships/image" Target="../media/image35.wmf"/><Relationship Id="rId5" Type="http://schemas.openxmlformats.org/officeDocument/2006/relationships/image" Target="../media/image17.wmf"/><Relationship Id="rId4" Type="http://schemas.openxmlformats.org/officeDocument/2006/relationships/image" Target="../media/image34.wmf"/><Relationship Id="rId9" Type="http://schemas.openxmlformats.org/officeDocument/2006/relationships/image" Target="../media/image38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image" Target="../media/image15.wmf"/><Relationship Id="rId1" Type="http://schemas.openxmlformats.org/officeDocument/2006/relationships/image" Target="../media/image40.wmf"/><Relationship Id="rId4" Type="http://schemas.openxmlformats.org/officeDocument/2006/relationships/image" Target="../media/image14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45.wmf"/><Relationship Id="rId3" Type="http://schemas.openxmlformats.org/officeDocument/2006/relationships/image" Target="../media/image43.wmf"/><Relationship Id="rId7" Type="http://schemas.openxmlformats.org/officeDocument/2006/relationships/image" Target="../media/image44.wmf"/><Relationship Id="rId2" Type="http://schemas.openxmlformats.org/officeDocument/2006/relationships/image" Target="../media/image42.wmf"/><Relationship Id="rId1" Type="http://schemas.openxmlformats.org/officeDocument/2006/relationships/image" Target="../media/image41.wmf"/><Relationship Id="rId6" Type="http://schemas.openxmlformats.org/officeDocument/2006/relationships/image" Target="../media/image14.wmf"/><Relationship Id="rId5" Type="http://schemas.openxmlformats.org/officeDocument/2006/relationships/image" Target="../media/image23.wmf"/><Relationship Id="rId4" Type="http://schemas.openxmlformats.org/officeDocument/2006/relationships/image" Target="../media/image15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48.wmf"/><Relationship Id="rId2" Type="http://schemas.openxmlformats.org/officeDocument/2006/relationships/image" Target="../media/image47.wmf"/><Relationship Id="rId1" Type="http://schemas.openxmlformats.org/officeDocument/2006/relationships/image" Target="../media/image46.wmf"/><Relationship Id="rId4" Type="http://schemas.openxmlformats.org/officeDocument/2006/relationships/image" Target="../media/image43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55.wmf"/><Relationship Id="rId3" Type="http://schemas.openxmlformats.org/officeDocument/2006/relationships/image" Target="../media/image51.wmf"/><Relationship Id="rId7" Type="http://schemas.openxmlformats.org/officeDocument/2006/relationships/image" Target="../media/image54.wmf"/><Relationship Id="rId2" Type="http://schemas.openxmlformats.org/officeDocument/2006/relationships/image" Target="../media/image50.wmf"/><Relationship Id="rId1" Type="http://schemas.openxmlformats.org/officeDocument/2006/relationships/image" Target="../media/image49.wmf"/><Relationship Id="rId6" Type="http://schemas.openxmlformats.org/officeDocument/2006/relationships/image" Target="../media/image14.wmf"/><Relationship Id="rId5" Type="http://schemas.openxmlformats.org/officeDocument/2006/relationships/image" Target="../media/image53.wmf"/><Relationship Id="rId4" Type="http://schemas.openxmlformats.org/officeDocument/2006/relationships/image" Target="../media/image52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58.wmf"/><Relationship Id="rId2" Type="http://schemas.openxmlformats.org/officeDocument/2006/relationships/image" Target="../media/image57.wmf"/><Relationship Id="rId1" Type="http://schemas.openxmlformats.org/officeDocument/2006/relationships/image" Target="../media/image56.wmf"/><Relationship Id="rId4" Type="http://schemas.openxmlformats.org/officeDocument/2006/relationships/image" Target="../media/image59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2.wmf"/><Relationship Id="rId2" Type="http://schemas.openxmlformats.org/officeDocument/2006/relationships/image" Target="../media/image61.wmf"/><Relationship Id="rId1" Type="http://schemas.openxmlformats.org/officeDocument/2006/relationships/image" Target="../media/image60.wmf"/><Relationship Id="rId4" Type="http://schemas.openxmlformats.org/officeDocument/2006/relationships/image" Target="../media/image63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3" Type="http://schemas.openxmlformats.org/officeDocument/2006/relationships/image" Target="../media/image15.wmf"/><Relationship Id="rId7" Type="http://schemas.openxmlformats.org/officeDocument/2006/relationships/image" Target="../media/image68.wmf"/><Relationship Id="rId12" Type="http://schemas.openxmlformats.org/officeDocument/2006/relationships/image" Target="../media/image72.wmf"/><Relationship Id="rId2" Type="http://schemas.openxmlformats.org/officeDocument/2006/relationships/image" Target="../media/image65.wmf"/><Relationship Id="rId1" Type="http://schemas.openxmlformats.org/officeDocument/2006/relationships/image" Target="../media/image64.wmf"/><Relationship Id="rId6" Type="http://schemas.openxmlformats.org/officeDocument/2006/relationships/image" Target="../media/image67.wmf"/><Relationship Id="rId11" Type="http://schemas.openxmlformats.org/officeDocument/2006/relationships/image" Target="../media/image71.wmf"/><Relationship Id="rId5" Type="http://schemas.openxmlformats.org/officeDocument/2006/relationships/image" Target="../media/image14.wmf"/><Relationship Id="rId10" Type="http://schemas.openxmlformats.org/officeDocument/2006/relationships/image" Target="../media/image70.wmf"/><Relationship Id="rId4" Type="http://schemas.openxmlformats.org/officeDocument/2006/relationships/image" Target="../media/image66.wmf"/><Relationship Id="rId9" Type="http://schemas.openxmlformats.org/officeDocument/2006/relationships/image" Target="../media/image69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75.wmf"/><Relationship Id="rId7" Type="http://schemas.openxmlformats.org/officeDocument/2006/relationships/image" Target="../media/image78.wmf"/><Relationship Id="rId2" Type="http://schemas.openxmlformats.org/officeDocument/2006/relationships/image" Target="../media/image74.wmf"/><Relationship Id="rId1" Type="http://schemas.openxmlformats.org/officeDocument/2006/relationships/image" Target="../media/image73.wmf"/><Relationship Id="rId6" Type="http://schemas.openxmlformats.org/officeDocument/2006/relationships/image" Target="../media/image77.wmf"/><Relationship Id="rId5" Type="http://schemas.openxmlformats.org/officeDocument/2006/relationships/image" Target="../media/image76.wmf"/><Relationship Id="rId4" Type="http://schemas.openxmlformats.org/officeDocument/2006/relationships/image" Target="../media/image23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80.wmf"/><Relationship Id="rId2" Type="http://schemas.openxmlformats.org/officeDocument/2006/relationships/image" Target="../media/image23.wmf"/><Relationship Id="rId1" Type="http://schemas.openxmlformats.org/officeDocument/2006/relationships/image" Target="../media/image79.wmf"/><Relationship Id="rId4" Type="http://schemas.openxmlformats.org/officeDocument/2006/relationships/image" Target="../media/image81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84.wmf"/><Relationship Id="rId2" Type="http://schemas.openxmlformats.org/officeDocument/2006/relationships/image" Target="../media/image83.wmf"/><Relationship Id="rId1" Type="http://schemas.openxmlformats.org/officeDocument/2006/relationships/image" Target="../media/image82.wmf"/><Relationship Id="rId6" Type="http://schemas.openxmlformats.org/officeDocument/2006/relationships/image" Target="../media/image87.wmf"/><Relationship Id="rId5" Type="http://schemas.openxmlformats.org/officeDocument/2006/relationships/image" Target="../media/image86.wmf"/><Relationship Id="rId4" Type="http://schemas.openxmlformats.org/officeDocument/2006/relationships/image" Target="../media/image85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88.png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90.wmf"/><Relationship Id="rId1" Type="http://schemas.openxmlformats.org/officeDocument/2006/relationships/image" Target="../media/image89.w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93.wmf"/><Relationship Id="rId1" Type="http://schemas.openxmlformats.org/officeDocument/2006/relationships/image" Target="../media/image92.png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95.wmf"/><Relationship Id="rId1" Type="http://schemas.openxmlformats.org/officeDocument/2006/relationships/image" Target="../media/image94.png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98.wmf"/><Relationship Id="rId2" Type="http://schemas.openxmlformats.org/officeDocument/2006/relationships/image" Target="../media/image97.wmf"/><Relationship Id="rId1" Type="http://schemas.openxmlformats.org/officeDocument/2006/relationships/image" Target="../media/image96.wmf"/><Relationship Id="rId5" Type="http://schemas.openxmlformats.org/officeDocument/2006/relationships/image" Target="../media/image100.wmf"/><Relationship Id="rId4" Type="http://schemas.openxmlformats.org/officeDocument/2006/relationships/image" Target="../media/image99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wmf"/><Relationship Id="rId2" Type="http://schemas.openxmlformats.org/officeDocument/2006/relationships/image" Target="../media/image102.wmf"/><Relationship Id="rId1" Type="http://schemas.openxmlformats.org/officeDocument/2006/relationships/image" Target="../media/image101.wmf"/><Relationship Id="rId6" Type="http://schemas.openxmlformats.org/officeDocument/2006/relationships/image" Target="../media/image106.wmf"/><Relationship Id="rId5" Type="http://schemas.openxmlformats.org/officeDocument/2006/relationships/image" Target="../media/image105.wmf"/><Relationship Id="rId4" Type="http://schemas.openxmlformats.org/officeDocument/2006/relationships/image" Target="../media/image104.wmf"/></Relationships>
</file>

<file path=ppt/drawings/_rels/vmlDrawing2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wmf"/><Relationship Id="rId3" Type="http://schemas.openxmlformats.org/officeDocument/2006/relationships/image" Target="../media/image109.wmf"/><Relationship Id="rId7" Type="http://schemas.openxmlformats.org/officeDocument/2006/relationships/image" Target="../media/image113.wmf"/><Relationship Id="rId2" Type="http://schemas.openxmlformats.org/officeDocument/2006/relationships/image" Target="../media/image108.wmf"/><Relationship Id="rId1" Type="http://schemas.openxmlformats.org/officeDocument/2006/relationships/image" Target="../media/image107.wmf"/><Relationship Id="rId6" Type="http://schemas.openxmlformats.org/officeDocument/2006/relationships/image" Target="../media/image112.wmf"/><Relationship Id="rId11" Type="http://schemas.openxmlformats.org/officeDocument/2006/relationships/image" Target="../media/image117.wmf"/><Relationship Id="rId5" Type="http://schemas.openxmlformats.org/officeDocument/2006/relationships/image" Target="../media/image111.wmf"/><Relationship Id="rId10" Type="http://schemas.openxmlformats.org/officeDocument/2006/relationships/image" Target="../media/image116.wmf"/><Relationship Id="rId4" Type="http://schemas.openxmlformats.org/officeDocument/2006/relationships/image" Target="../media/image110.wmf"/><Relationship Id="rId9" Type="http://schemas.openxmlformats.org/officeDocument/2006/relationships/image" Target="../media/image115.w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wmf"/><Relationship Id="rId13" Type="http://schemas.openxmlformats.org/officeDocument/2006/relationships/image" Target="../media/image115.wmf"/><Relationship Id="rId3" Type="http://schemas.openxmlformats.org/officeDocument/2006/relationships/image" Target="../media/image119.wmf"/><Relationship Id="rId7" Type="http://schemas.openxmlformats.org/officeDocument/2006/relationships/image" Target="../media/image123.wmf"/><Relationship Id="rId12" Type="http://schemas.openxmlformats.org/officeDocument/2006/relationships/image" Target="../media/image128.wmf"/><Relationship Id="rId2" Type="http://schemas.openxmlformats.org/officeDocument/2006/relationships/image" Target="../media/image118.wmf"/><Relationship Id="rId1" Type="http://schemas.openxmlformats.org/officeDocument/2006/relationships/image" Target="../media/image108.wmf"/><Relationship Id="rId6" Type="http://schemas.openxmlformats.org/officeDocument/2006/relationships/image" Target="../media/image122.wmf"/><Relationship Id="rId11" Type="http://schemas.openxmlformats.org/officeDocument/2006/relationships/image" Target="../media/image127.wmf"/><Relationship Id="rId5" Type="http://schemas.openxmlformats.org/officeDocument/2006/relationships/image" Target="../media/image121.wmf"/><Relationship Id="rId10" Type="http://schemas.openxmlformats.org/officeDocument/2006/relationships/image" Target="../media/image126.wmf"/><Relationship Id="rId4" Type="http://schemas.openxmlformats.org/officeDocument/2006/relationships/image" Target="../media/image120.wmf"/><Relationship Id="rId9" Type="http://schemas.openxmlformats.org/officeDocument/2006/relationships/image" Target="../media/image125.wmf"/><Relationship Id="rId14" Type="http://schemas.openxmlformats.org/officeDocument/2006/relationships/image" Target="../media/image129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wmf"/><Relationship Id="rId2" Type="http://schemas.openxmlformats.org/officeDocument/2006/relationships/image" Target="../media/image131.wmf"/><Relationship Id="rId1" Type="http://schemas.openxmlformats.org/officeDocument/2006/relationships/image" Target="../media/image130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wmf"/><Relationship Id="rId2" Type="http://schemas.openxmlformats.org/officeDocument/2006/relationships/image" Target="../media/image134.wmf"/><Relationship Id="rId1" Type="http://schemas.openxmlformats.org/officeDocument/2006/relationships/image" Target="../media/image133.w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6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wmf"/><Relationship Id="rId2" Type="http://schemas.openxmlformats.org/officeDocument/2006/relationships/image" Target="../media/image137.wmf"/><Relationship Id="rId1" Type="http://schemas.openxmlformats.org/officeDocument/2006/relationships/image" Target="../media/image136.wmf"/><Relationship Id="rId4" Type="http://schemas.openxmlformats.org/officeDocument/2006/relationships/image" Target="../media/image139.wmf"/></Relationships>
</file>

<file path=ppt/drawings/_rels/vmlDrawing2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wmf"/><Relationship Id="rId1" Type="http://schemas.openxmlformats.org/officeDocument/2006/relationships/image" Target="../media/image140.wmf"/></Relationships>
</file>

<file path=ppt/drawings/_rels/vmlDrawing2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3.wmf"/><Relationship Id="rId1" Type="http://schemas.openxmlformats.org/officeDocument/2006/relationships/image" Target="../media/image142.w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wmf"/><Relationship Id="rId2" Type="http://schemas.openxmlformats.org/officeDocument/2006/relationships/image" Target="../media/image145.wmf"/><Relationship Id="rId1" Type="http://schemas.openxmlformats.org/officeDocument/2006/relationships/image" Target="../media/image144.wmf"/></Relationships>
</file>

<file path=ppt/drawings/_rels/vmlDrawing3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wmf"/><Relationship Id="rId7" Type="http://schemas.openxmlformats.org/officeDocument/2006/relationships/image" Target="../media/image153.wmf"/><Relationship Id="rId2" Type="http://schemas.openxmlformats.org/officeDocument/2006/relationships/image" Target="../media/image148.wmf"/><Relationship Id="rId1" Type="http://schemas.openxmlformats.org/officeDocument/2006/relationships/image" Target="../media/image147.wmf"/><Relationship Id="rId6" Type="http://schemas.openxmlformats.org/officeDocument/2006/relationships/image" Target="../media/image152.wmf"/><Relationship Id="rId5" Type="http://schemas.openxmlformats.org/officeDocument/2006/relationships/image" Target="../media/image151.wmf"/><Relationship Id="rId4" Type="http://schemas.openxmlformats.org/officeDocument/2006/relationships/image" Target="../media/image150.wmf"/></Relationships>
</file>

<file path=ppt/drawings/_rels/vmlDrawing3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5.wmf"/><Relationship Id="rId1" Type="http://schemas.openxmlformats.org/officeDocument/2006/relationships/image" Target="../media/image15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4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18FDAF88-6B13-479A-8640-99E69DAC31D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多原子分子，多一个绕红色的轴转动的自由度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0854F29-056B-4829-B00B-00EE754F4E04}" type="slidenum">
              <a:rPr lang="zh-CN" altLang="en-US" smtClean="0">
                <a:solidFill>
                  <a:prstClr val="black"/>
                </a:solidFill>
              </a:rPr>
              <a:pPr>
                <a:defRPr/>
              </a:pPr>
              <a:t>24</a:t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17" name="Rectangle 29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868488"/>
            <a:ext cx="7772400" cy="1600200"/>
          </a:xfrm>
          <a:prstGeom prst="rect">
            <a:avLst/>
          </a:prstGeom>
        </p:spPr>
        <p:txBody>
          <a:bodyPr anchorCtr="1"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7918" name="Rectangle 30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273175" y="3729038"/>
            <a:ext cx="6400800" cy="1371600"/>
          </a:xfrm>
          <a:prstGeom prst="rect">
            <a:avLst/>
          </a:prstGeom>
        </p:spPr>
        <p:txBody>
          <a:bodyPr anchorCtr="1"/>
          <a:lstStyle>
            <a:lvl1pPr marL="0" indent="0" algn="ctr">
              <a:buFontTx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31"/>
          <p:cNvSpPr>
            <a:spLocks noGrp="1" noChangeArrowheads="1"/>
          </p:cNvSpPr>
          <p:nvPr>
            <p:ph type="dt" sz="quarter" idx="10"/>
          </p:nvPr>
        </p:nvSpPr>
        <p:spPr>
          <a:xfrm>
            <a:off x="685800" y="6348413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545472"/>
              </a:solidFill>
            </a:endParaRPr>
          </a:p>
        </p:txBody>
      </p:sp>
      <p:sp>
        <p:nvSpPr>
          <p:cNvPr id="5" name="Rectangle 32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348413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545472"/>
              </a:solidFill>
            </a:endParaRPr>
          </a:p>
        </p:txBody>
      </p:sp>
      <p:sp>
        <p:nvSpPr>
          <p:cNvPr id="6" name="Rectangle 33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275513" y="638175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3E7889-68CC-47B2-93C8-024FA50A3F4D}" type="slidenum">
              <a:rPr lang="en-US" altLang="zh-CN">
                <a:solidFill>
                  <a:srgbClr val="545472"/>
                </a:solidFill>
              </a:rPr>
              <a:pPr>
                <a:defRPr/>
              </a:pPr>
              <a:t>‹#›</a:t>
            </a:fld>
            <a:endParaRPr lang="en-US" altLang="zh-CN" dirty="0">
              <a:solidFill>
                <a:srgbClr val="545472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768350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31"/>
          <p:cNvSpPr>
            <a:spLocks noGrp="1" noChangeArrowheads="1"/>
          </p:cNvSpPr>
          <p:nvPr>
            <p:ph type="dt" sz="half" idx="10"/>
          </p:nvPr>
        </p:nvSpPr>
        <p:spPr>
          <a:xfrm>
            <a:off x="665163" y="6367463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545472"/>
              </a:solidFill>
            </a:endParaRPr>
          </a:p>
        </p:txBody>
      </p:sp>
      <p:sp>
        <p:nvSpPr>
          <p:cNvPr id="5" name="Rectangle 32"/>
          <p:cNvSpPr>
            <a:spLocks noGrp="1" noChangeArrowheads="1"/>
          </p:cNvSpPr>
          <p:nvPr>
            <p:ph type="ftr" sz="quarter" idx="11"/>
          </p:nvPr>
        </p:nvSpPr>
        <p:spPr>
          <a:xfrm>
            <a:off x="3103563" y="6367463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545472"/>
              </a:solidFill>
            </a:endParaRPr>
          </a:p>
        </p:txBody>
      </p:sp>
      <p:sp>
        <p:nvSpPr>
          <p:cNvPr id="6" name="Rectangle 33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32563" y="6367463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754370-CE43-4910-8930-A7ADA34CA805}" type="slidenum">
              <a:rPr lang="en-US" altLang="zh-CN">
                <a:solidFill>
                  <a:srgbClr val="545472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545472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31"/>
          <p:cNvSpPr>
            <a:spLocks noGrp="1" noChangeArrowheads="1"/>
          </p:cNvSpPr>
          <p:nvPr>
            <p:ph type="dt" sz="half" idx="10"/>
          </p:nvPr>
        </p:nvSpPr>
        <p:spPr>
          <a:xfrm>
            <a:off x="665163" y="6367463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545472"/>
              </a:solidFill>
            </a:endParaRPr>
          </a:p>
        </p:txBody>
      </p:sp>
      <p:sp>
        <p:nvSpPr>
          <p:cNvPr id="5" name="Rectangle 32"/>
          <p:cNvSpPr>
            <a:spLocks noGrp="1" noChangeArrowheads="1"/>
          </p:cNvSpPr>
          <p:nvPr>
            <p:ph type="ftr" sz="quarter" idx="11"/>
          </p:nvPr>
        </p:nvSpPr>
        <p:spPr>
          <a:xfrm>
            <a:off x="3103563" y="6367463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545472"/>
              </a:solidFill>
            </a:endParaRPr>
          </a:p>
        </p:txBody>
      </p:sp>
      <p:sp>
        <p:nvSpPr>
          <p:cNvPr id="6" name="Rectangle 33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32563" y="6367463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163394-245A-47EF-BB0E-219DEDE130EC}" type="slidenum">
              <a:rPr lang="en-US" altLang="zh-CN">
                <a:solidFill>
                  <a:srgbClr val="545472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545472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768350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31"/>
          <p:cNvSpPr>
            <a:spLocks noGrp="1" noChangeArrowheads="1"/>
          </p:cNvSpPr>
          <p:nvPr>
            <p:ph type="dt" sz="half" idx="10"/>
          </p:nvPr>
        </p:nvSpPr>
        <p:spPr>
          <a:xfrm>
            <a:off x="665163" y="6367463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545472"/>
              </a:solidFill>
            </a:endParaRPr>
          </a:p>
        </p:txBody>
      </p:sp>
      <p:sp>
        <p:nvSpPr>
          <p:cNvPr id="6" name="Rectangle 32"/>
          <p:cNvSpPr>
            <a:spLocks noGrp="1" noChangeArrowheads="1"/>
          </p:cNvSpPr>
          <p:nvPr>
            <p:ph type="ftr" sz="quarter" idx="11"/>
          </p:nvPr>
        </p:nvSpPr>
        <p:spPr>
          <a:xfrm>
            <a:off x="3103563" y="6367463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545472"/>
              </a:solidFill>
            </a:endParaRPr>
          </a:p>
        </p:txBody>
      </p:sp>
      <p:sp>
        <p:nvSpPr>
          <p:cNvPr id="7" name="Rectangle 33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32563" y="6367463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806718-F50B-4C39-82E7-01912C1A5A18}" type="slidenum">
              <a:rPr lang="en-US" altLang="zh-CN">
                <a:solidFill>
                  <a:srgbClr val="545472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545472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31"/>
          <p:cNvSpPr>
            <a:spLocks noGrp="1" noChangeArrowheads="1"/>
          </p:cNvSpPr>
          <p:nvPr>
            <p:ph type="dt" sz="half" idx="10"/>
          </p:nvPr>
        </p:nvSpPr>
        <p:spPr>
          <a:xfrm>
            <a:off x="665163" y="6367463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545472"/>
              </a:solidFill>
            </a:endParaRPr>
          </a:p>
        </p:txBody>
      </p:sp>
      <p:sp>
        <p:nvSpPr>
          <p:cNvPr id="8" name="Rectangle 32"/>
          <p:cNvSpPr>
            <a:spLocks noGrp="1" noChangeArrowheads="1"/>
          </p:cNvSpPr>
          <p:nvPr>
            <p:ph type="ftr" sz="quarter" idx="11"/>
          </p:nvPr>
        </p:nvSpPr>
        <p:spPr>
          <a:xfrm>
            <a:off x="3103563" y="6367463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545472"/>
              </a:solidFill>
            </a:endParaRPr>
          </a:p>
        </p:txBody>
      </p:sp>
      <p:sp>
        <p:nvSpPr>
          <p:cNvPr id="9" name="Rectangle 33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32563" y="6367463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B35C41-2DA1-46C5-8A3A-720F666AC933}" type="slidenum">
              <a:rPr lang="en-US" altLang="zh-CN">
                <a:solidFill>
                  <a:srgbClr val="545472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545472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768350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31"/>
          <p:cNvSpPr>
            <a:spLocks noGrp="1" noChangeArrowheads="1"/>
          </p:cNvSpPr>
          <p:nvPr>
            <p:ph type="dt" sz="half" idx="10"/>
          </p:nvPr>
        </p:nvSpPr>
        <p:spPr>
          <a:xfrm>
            <a:off x="665163" y="6367463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545472"/>
              </a:solidFill>
            </a:endParaRPr>
          </a:p>
        </p:txBody>
      </p:sp>
      <p:sp>
        <p:nvSpPr>
          <p:cNvPr id="4" name="Rectangle 32"/>
          <p:cNvSpPr>
            <a:spLocks noGrp="1" noChangeArrowheads="1"/>
          </p:cNvSpPr>
          <p:nvPr>
            <p:ph type="ftr" sz="quarter" idx="11"/>
          </p:nvPr>
        </p:nvSpPr>
        <p:spPr>
          <a:xfrm>
            <a:off x="3103563" y="6367463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545472"/>
              </a:solidFill>
            </a:endParaRPr>
          </a:p>
        </p:txBody>
      </p:sp>
      <p:sp>
        <p:nvSpPr>
          <p:cNvPr id="5" name="Rectangle 33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32563" y="6367463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6877D7-571F-4613-B763-7A9B8D897871}" type="slidenum">
              <a:rPr lang="en-US" altLang="zh-CN">
                <a:solidFill>
                  <a:srgbClr val="545472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545472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65163" y="6367463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545472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03563" y="6367463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545472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7204075" y="6367463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pPr>
              <a:defRPr/>
            </a:pPr>
            <a:fld id="{896E2E5F-996F-4D9B-9F54-68241048B3BA}" type="slidenum">
              <a:rPr lang="en-US" altLang="zh-CN">
                <a:solidFill>
                  <a:srgbClr val="545472"/>
                </a:solidFill>
              </a:rPr>
              <a:pPr>
                <a:defRPr/>
              </a:pPr>
              <a:t>‹#›</a:t>
            </a:fld>
            <a:endParaRPr lang="en-US" altLang="zh-CN" dirty="0">
              <a:solidFill>
                <a:srgbClr val="545472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31"/>
          <p:cNvSpPr>
            <a:spLocks noGrp="1" noChangeArrowheads="1"/>
          </p:cNvSpPr>
          <p:nvPr>
            <p:ph type="dt" sz="half" idx="10"/>
          </p:nvPr>
        </p:nvSpPr>
        <p:spPr>
          <a:xfrm>
            <a:off x="665163" y="6367463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545472"/>
              </a:solidFill>
            </a:endParaRPr>
          </a:p>
        </p:txBody>
      </p:sp>
      <p:sp>
        <p:nvSpPr>
          <p:cNvPr id="6" name="Rectangle 32"/>
          <p:cNvSpPr>
            <a:spLocks noGrp="1" noChangeArrowheads="1"/>
          </p:cNvSpPr>
          <p:nvPr>
            <p:ph type="ftr" sz="quarter" idx="11"/>
          </p:nvPr>
        </p:nvSpPr>
        <p:spPr>
          <a:xfrm>
            <a:off x="3103563" y="6367463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545472"/>
              </a:solidFill>
            </a:endParaRPr>
          </a:p>
        </p:txBody>
      </p:sp>
      <p:sp>
        <p:nvSpPr>
          <p:cNvPr id="7" name="Rectangle 33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32563" y="6367463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4B8AB8-5532-43DF-B38E-1C13F5DFF258}" type="slidenum">
              <a:rPr lang="en-US" altLang="zh-CN">
                <a:solidFill>
                  <a:srgbClr val="545472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545472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31"/>
          <p:cNvSpPr>
            <a:spLocks noGrp="1" noChangeArrowheads="1"/>
          </p:cNvSpPr>
          <p:nvPr>
            <p:ph type="dt" sz="half" idx="10"/>
          </p:nvPr>
        </p:nvSpPr>
        <p:spPr>
          <a:xfrm>
            <a:off x="665163" y="6367463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545472"/>
              </a:solidFill>
            </a:endParaRPr>
          </a:p>
        </p:txBody>
      </p:sp>
      <p:sp>
        <p:nvSpPr>
          <p:cNvPr id="6" name="Rectangle 32"/>
          <p:cNvSpPr>
            <a:spLocks noGrp="1" noChangeArrowheads="1"/>
          </p:cNvSpPr>
          <p:nvPr>
            <p:ph type="ftr" sz="quarter" idx="11"/>
          </p:nvPr>
        </p:nvSpPr>
        <p:spPr>
          <a:xfrm>
            <a:off x="3103563" y="6367463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545472"/>
              </a:solidFill>
            </a:endParaRPr>
          </a:p>
        </p:txBody>
      </p:sp>
      <p:sp>
        <p:nvSpPr>
          <p:cNvPr id="7" name="Rectangle 33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32563" y="6367463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08402F-E308-4964-AB92-B742225DE923}" type="slidenum">
              <a:rPr lang="en-US" altLang="zh-CN">
                <a:solidFill>
                  <a:srgbClr val="545472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545472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768350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31"/>
          <p:cNvSpPr>
            <a:spLocks noGrp="1" noChangeArrowheads="1"/>
          </p:cNvSpPr>
          <p:nvPr>
            <p:ph type="dt" sz="half" idx="10"/>
          </p:nvPr>
        </p:nvSpPr>
        <p:spPr>
          <a:xfrm>
            <a:off x="665163" y="6367463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545472"/>
              </a:solidFill>
            </a:endParaRPr>
          </a:p>
        </p:txBody>
      </p:sp>
      <p:sp>
        <p:nvSpPr>
          <p:cNvPr id="5" name="Rectangle 32"/>
          <p:cNvSpPr>
            <a:spLocks noGrp="1" noChangeArrowheads="1"/>
          </p:cNvSpPr>
          <p:nvPr>
            <p:ph type="ftr" sz="quarter" idx="11"/>
          </p:nvPr>
        </p:nvSpPr>
        <p:spPr>
          <a:xfrm>
            <a:off x="3103563" y="6367463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545472"/>
              </a:solidFill>
            </a:endParaRPr>
          </a:p>
        </p:txBody>
      </p:sp>
      <p:sp>
        <p:nvSpPr>
          <p:cNvPr id="6" name="Rectangle 33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32563" y="6367463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EB1279-F363-4445-B784-BB92D298350F}" type="slidenum">
              <a:rPr lang="en-US" altLang="zh-CN">
                <a:solidFill>
                  <a:srgbClr val="545472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545472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768350"/>
            <a:ext cx="1943100" cy="5327650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768350"/>
            <a:ext cx="5676900" cy="532765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31"/>
          <p:cNvSpPr>
            <a:spLocks noGrp="1" noChangeArrowheads="1"/>
          </p:cNvSpPr>
          <p:nvPr>
            <p:ph type="dt" sz="half" idx="10"/>
          </p:nvPr>
        </p:nvSpPr>
        <p:spPr>
          <a:xfrm>
            <a:off x="665163" y="6367463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545472"/>
              </a:solidFill>
            </a:endParaRPr>
          </a:p>
        </p:txBody>
      </p:sp>
      <p:sp>
        <p:nvSpPr>
          <p:cNvPr id="5" name="Rectangle 32"/>
          <p:cNvSpPr>
            <a:spLocks noGrp="1" noChangeArrowheads="1"/>
          </p:cNvSpPr>
          <p:nvPr>
            <p:ph type="ftr" sz="quarter" idx="11"/>
          </p:nvPr>
        </p:nvSpPr>
        <p:spPr>
          <a:xfrm>
            <a:off x="3103563" y="6367463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545472"/>
              </a:solidFill>
            </a:endParaRPr>
          </a:p>
        </p:txBody>
      </p:sp>
      <p:sp>
        <p:nvSpPr>
          <p:cNvPr id="6" name="Rectangle 33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32563" y="6367463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D8B937-52BA-41CF-86F6-2CB46D305AF3}" type="slidenum">
              <a:rPr lang="en-US" altLang="zh-CN">
                <a:solidFill>
                  <a:srgbClr val="545472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545472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 baseline="-250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 baseline="-250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308850" y="659765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 baseline="-25000"/>
            </a:lvl1pPr>
          </a:lstStyle>
          <a:p>
            <a:pPr>
              <a:defRPr/>
            </a:pPr>
            <a:fld id="{075863AB-80B2-4537-A8A6-924570C0FD2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>
    <p:random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 baseline="-250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 baseline="-250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308850" y="659765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 baseline="-25000"/>
            </a:lvl1pPr>
          </a:lstStyle>
          <a:p>
            <a:pPr>
              <a:defRPr/>
            </a:pPr>
            <a:fld id="{546390EE-5686-4DEA-B719-0A1D1C479FE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>
    <p:random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 baseline="-250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 baseline="-250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308850" y="659765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 baseline="-25000"/>
            </a:lvl1pPr>
          </a:lstStyle>
          <a:p>
            <a:pPr>
              <a:defRPr/>
            </a:pPr>
            <a:fld id="{AF37822C-8542-49A7-8219-5F75087F616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>
    <p:random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 baseline="-250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 baseline="-250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7308850" y="659765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 baseline="-25000"/>
            </a:lvl1pPr>
          </a:lstStyle>
          <a:p>
            <a:pPr>
              <a:defRPr/>
            </a:pPr>
            <a:fld id="{48A7E11A-E593-4F9D-8F96-3416EE87E87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>
    <p:random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 baseline="-250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 baseline="-250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7308850" y="659765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 baseline="-25000"/>
            </a:lvl1pPr>
          </a:lstStyle>
          <a:p>
            <a:pPr>
              <a:defRPr/>
            </a:pPr>
            <a:fld id="{EEA2200F-C7E1-4B33-910B-76FDF52CD75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>
    <p:random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 baseline="-250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 baseline="-250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7308850" y="659765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 baseline="-25000"/>
            </a:lvl1pPr>
          </a:lstStyle>
          <a:p>
            <a:pPr>
              <a:defRPr/>
            </a:pPr>
            <a:fld id="{634E44A8-2791-4B18-ADD1-6052B8F26E8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>
    <p:random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 baseline="-250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 baseline="-250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7308850" y="659765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 baseline="-25000"/>
            </a:lvl1pPr>
          </a:lstStyle>
          <a:p>
            <a:pPr>
              <a:defRPr/>
            </a:pPr>
            <a:fld id="{88A4B717-7079-4647-B7C8-30451B4AE3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>
    <p:random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 baseline="-250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 baseline="-250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7308850" y="659765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 baseline="-25000"/>
            </a:lvl1pPr>
          </a:lstStyle>
          <a:p>
            <a:pPr>
              <a:defRPr/>
            </a:pPr>
            <a:fld id="{BD9546A6-CD7A-48C5-B3FB-868E7C87FCF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>
    <p:random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 baseline="-250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 baseline="-250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7308850" y="659765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 baseline="-25000"/>
            </a:lvl1pPr>
          </a:lstStyle>
          <a:p>
            <a:pPr>
              <a:defRPr/>
            </a:pPr>
            <a:fld id="{6C921948-A900-419D-8DCA-E067CFC8B3C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>
    <p:random/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 baseline="-250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 baseline="-250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308850" y="659765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 baseline="-25000"/>
            </a:lvl1pPr>
          </a:lstStyle>
          <a:p>
            <a:pPr>
              <a:defRPr/>
            </a:pPr>
            <a:fld id="{CC7CC6B0-69B1-4B5B-BCED-C27782EA8BE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>
    <p:random/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 baseline="-250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 baseline="-250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308850" y="659765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 baseline="-25000"/>
            </a:lvl1pPr>
          </a:lstStyle>
          <a:p>
            <a:pPr>
              <a:defRPr/>
            </a:pPr>
            <a:fld id="{B5ED2CDA-37EA-413D-83D2-0D1C9607650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>
    <p:random/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 baseline="-250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 baseline="-250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7308850" y="659765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 baseline="-25000"/>
            </a:lvl1pPr>
          </a:lstStyle>
          <a:p>
            <a:pPr>
              <a:defRPr/>
            </a:pPr>
            <a:fld id="{CF3DAF15-BADB-412A-A8DB-19116DCE2F4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>
    <p:rand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gi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gif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17" Type="http://schemas.openxmlformats.org/officeDocument/2006/relationships/image" Target="../media/image6.png"/><Relationship Id="rId2" Type="http://schemas.openxmlformats.org/officeDocument/2006/relationships/slideLayout" Target="../slideLayouts/slideLayout46.xml"/><Relationship Id="rId16" Type="http://schemas.openxmlformats.org/officeDocument/2006/relationships/image" Target="../media/image5.png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5" Type="http://schemas.openxmlformats.org/officeDocument/2006/relationships/image" Target="../media/image4.png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Relationship Id="rId14" Type="http://schemas.openxmlformats.org/officeDocument/2006/relationships/image" Target="../media/image3.pn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slideLayout" Target="../slideLayouts/slideLayout67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2" descr="C:\Users\qdx\Desktop\Aticles\20141011\temp_01.gif"/>
          <p:cNvPicPr>
            <a:picLocks noChangeAspect="1" noChangeArrowheads="1"/>
          </p:cNvPicPr>
          <p:nvPr/>
        </p:nvPicPr>
        <p:blipFill>
          <a:blip r:embed="rId13" cstate="print"/>
          <a:srcRect l="3641" t="17614" r="84133" b="37315"/>
          <a:stretch>
            <a:fillRect/>
          </a:stretch>
        </p:blipFill>
        <p:spPr bwMode="auto">
          <a:xfrm>
            <a:off x="72000" y="71414"/>
            <a:ext cx="750887" cy="73077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27" name="TextBox 80"/>
          <p:cNvSpPr txBox="1">
            <a:spLocks noChangeArrowheads="1"/>
          </p:cNvSpPr>
          <p:nvPr/>
        </p:nvSpPr>
        <p:spPr bwMode="auto">
          <a:xfrm>
            <a:off x="123825" y="207963"/>
            <a:ext cx="661988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1200" b="1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物理学</a:t>
            </a:r>
            <a:endParaRPr lang="en-US" altLang="zh-CN" sz="1200" b="1">
              <a:solidFill>
                <a:srgbClr val="000099"/>
              </a:solidFill>
              <a:latin typeface="楷体" pitchFamily="49" charset="-122"/>
              <a:ea typeface="楷体" pitchFamily="49" charset="-122"/>
            </a:endParaRPr>
          </a:p>
          <a:p>
            <a:r>
              <a:rPr lang="zh-CN" altLang="en-US" sz="1200" b="1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第六版</a:t>
            </a:r>
          </a:p>
        </p:txBody>
      </p:sp>
      <p:cxnSp>
        <p:nvCxnSpPr>
          <p:cNvPr id="11" name="直接连接符 10"/>
          <p:cNvCxnSpPr/>
          <p:nvPr/>
        </p:nvCxnSpPr>
        <p:spPr>
          <a:xfrm>
            <a:off x="4607235" y="6336000"/>
            <a:ext cx="1080000" cy="1588"/>
          </a:xfrm>
          <a:prstGeom prst="line">
            <a:avLst/>
          </a:prstGeom>
          <a:ln w="38100" cap="rnd">
            <a:gradFill flip="none" rotWithShape="1">
              <a:gsLst>
                <a:gs pos="0">
                  <a:srgbClr val="000099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flipH="1">
            <a:off x="3527235" y="6334124"/>
            <a:ext cx="1080000" cy="1588"/>
          </a:xfrm>
          <a:prstGeom prst="line">
            <a:avLst/>
          </a:prstGeom>
          <a:ln w="38100" cap="rnd">
            <a:gradFill flip="none" rotWithShape="1">
              <a:gsLst>
                <a:gs pos="0">
                  <a:srgbClr val="000099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0" name="Rectangle 97"/>
          <p:cNvSpPr>
            <a:spLocks noChangeArrowheads="1"/>
          </p:cNvSpPr>
          <p:nvPr/>
        </p:nvSpPr>
        <p:spPr bwMode="auto">
          <a:xfrm>
            <a:off x="3130550" y="6400800"/>
            <a:ext cx="2895600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en-US" b="1">
                <a:solidFill>
                  <a:srgbClr val="000066"/>
                </a:solidFill>
                <a:ea typeface="楷体_GB2312" pitchFamily="49" charset="-122"/>
              </a:rPr>
              <a:t>第十二章 气体动理论</a:t>
            </a:r>
          </a:p>
        </p:txBody>
      </p:sp>
      <p:sp>
        <p:nvSpPr>
          <p:cNvPr id="17" name="矩形 16"/>
          <p:cNvSpPr/>
          <p:nvPr/>
        </p:nvSpPr>
        <p:spPr>
          <a:xfrm>
            <a:off x="3175" y="857250"/>
            <a:ext cx="900113" cy="647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800" b="1"/>
          </a:p>
        </p:txBody>
      </p:sp>
      <p:sp>
        <p:nvSpPr>
          <p:cNvPr id="15" name="灯片编号占位符 15"/>
          <p:cNvSpPr>
            <a:spLocks/>
          </p:cNvSpPr>
          <p:nvPr/>
        </p:nvSpPr>
        <p:spPr bwMode="auto">
          <a:xfrm>
            <a:off x="6804025" y="6381750"/>
            <a:ext cx="21336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>
            <a:lvl1pPr>
              <a:defRPr/>
            </a:lvl1pPr>
          </a:lstStyle>
          <a:p>
            <a:pPr algn="r">
              <a:defRPr/>
            </a:pPr>
            <a:fld id="{E03DCFEC-D2CC-46E0-B0A1-A05459BA895F}" type="slidenum">
              <a:rPr lang="zh-CN" altLang="en-US" sz="2800" b="1" smtClean="0">
                <a:solidFill>
                  <a:srgbClr val="0000CC"/>
                </a:solidFill>
                <a:latin typeface="Calibri" pitchFamily="34" charset="0"/>
              </a:rPr>
              <a:pPr algn="r">
                <a:defRPr/>
              </a:pPr>
              <a:t>‹#›</a:t>
            </a:fld>
            <a:endParaRPr lang="en-US" altLang="zh-CN" sz="2800" b="1">
              <a:solidFill>
                <a:srgbClr val="0000CC"/>
              </a:solidFill>
              <a:latin typeface="Calibri" pitchFamily="34" charset="0"/>
            </a:endParaRPr>
          </a:p>
        </p:txBody>
      </p:sp>
      <p:cxnSp>
        <p:nvCxnSpPr>
          <p:cNvPr id="14" name="直接连接符 13"/>
          <p:cNvCxnSpPr/>
          <p:nvPr userDrawn="1"/>
        </p:nvCxnSpPr>
        <p:spPr>
          <a:xfrm>
            <a:off x="3422876" y="566942"/>
            <a:ext cx="4290084" cy="1179"/>
          </a:xfrm>
          <a:prstGeom prst="line">
            <a:avLst/>
          </a:prstGeom>
          <a:ln w="38100" cap="rnd">
            <a:gradFill flip="none" rotWithShape="1">
              <a:gsLst>
                <a:gs pos="0">
                  <a:srgbClr val="000099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0" scaled="0"/>
              <a:tileRect/>
            </a:gradFill>
            <a:bevel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4" name="Rectangle 10"/>
          <p:cNvSpPr>
            <a:spLocks noChangeArrowheads="1"/>
          </p:cNvSpPr>
          <p:nvPr userDrawn="1"/>
        </p:nvSpPr>
        <p:spPr bwMode="auto">
          <a:xfrm>
            <a:off x="3228975" y="44450"/>
            <a:ext cx="58801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en-US" altLang="en-US" sz="2800" b="1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12-6 麦克斯韦气体分子速率分布律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  <p:sldLayoutId id="2147483755" r:id="rId2"/>
    <p:sldLayoutId id="2147483756" r:id="rId3"/>
    <p:sldLayoutId id="2147483757" r:id="rId4"/>
    <p:sldLayoutId id="2147483758" r:id="rId5"/>
    <p:sldLayoutId id="2147483759" r:id="rId6"/>
    <p:sldLayoutId id="2147483766" r:id="rId7"/>
    <p:sldLayoutId id="2147483767" r:id="rId8"/>
    <p:sldLayoutId id="2147483768" r:id="rId9"/>
    <p:sldLayoutId id="2147483769" r:id="rId10"/>
    <p:sldLayoutId id="2147483770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2" descr="C:\Users\qdx\Desktop\Aticles\20141011\temp_01.gif"/>
          <p:cNvPicPr>
            <a:picLocks noChangeAspect="1" noChangeArrowheads="1"/>
          </p:cNvPicPr>
          <p:nvPr/>
        </p:nvPicPr>
        <p:blipFill>
          <a:blip r:embed="rId13" cstate="print"/>
          <a:srcRect l="3641" t="17614" r="84133" b="37315"/>
          <a:stretch>
            <a:fillRect/>
          </a:stretch>
        </p:blipFill>
        <p:spPr bwMode="auto">
          <a:xfrm>
            <a:off x="72000" y="71414"/>
            <a:ext cx="750887" cy="73077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2051" name="TextBox 80"/>
          <p:cNvSpPr txBox="1">
            <a:spLocks noChangeArrowheads="1"/>
          </p:cNvSpPr>
          <p:nvPr/>
        </p:nvSpPr>
        <p:spPr bwMode="auto">
          <a:xfrm>
            <a:off x="123825" y="207963"/>
            <a:ext cx="661988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1200" b="1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物理学</a:t>
            </a:r>
            <a:endParaRPr lang="en-US" altLang="zh-CN" sz="1200" b="1">
              <a:solidFill>
                <a:srgbClr val="000099"/>
              </a:solidFill>
              <a:latin typeface="楷体" pitchFamily="49" charset="-122"/>
              <a:ea typeface="楷体" pitchFamily="49" charset="-122"/>
            </a:endParaRPr>
          </a:p>
          <a:p>
            <a:r>
              <a:rPr lang="zh-CN" altLang="en-US" sz="1200" b="1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第六版</a:t>
            </a:r>
          </a:p>
        </p:txBody>
      </p:sp>
      <p:cxnSp>
        <p:nvCxnSpPr>
          <p:cNvPr id="11" name="直接连接符 10"/>
          <p:cNvCxnSpPr/>
          <p:nvPr/>
        </p:nvCxnSpPr>
        <p:spPr>
          <a:xfrm>
            <a:off x="4607235" y="6336000"/>
            <a:ext cx="1080000" cy="1588"/>
          </a:xfrm>
          <a:prstGeom prst="line">
            <a:avLst/>
          </a:prstGeom>
          <a:ln w="38100" cap="rnd">
            <a:gradFill flip="none" rotWithShape="1">
              <a:gsLst>
                <a:gs pos="0">
                  <a:srgbClr val="000099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flipH="1">
            <a:off x="3527235" y="6334124"/>
            <a:ext cx="1080000" cy="1588"/>
          </a:xfrm>
          <a:prstGeom prst="line">
            <a:avLst/>
          </a:prstGeom>
          <a:ln w="38100" cap="rnd">
            <a:gradFill flip="none" rotWithShape="1">
              <a:gsLst>
                <a:gs pos="0">
                  <a:srgbClr val="000099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4" name="Rectangle 97"/>
          <p:cNvSpPr>
            <a:spLocks noChangeArrowheads="1"/>
          </p:cNvSpPr>
          <p:nvPr/>
        </p:nvSpPr>
        <p:spPr bwMode="auto">
          <a:xfrm>
            <a:off x="3130550" y="6400800"/>
            <a:ext cx="2895600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en-US" b="1">
                <a:solidFill>
                  <a:srgbClr val="000066"/>
                </a:solidFill>
                <a:ea typeface="楷体_GB2312" pitchFamily="49" charset="-122"/>
              </a:rPr>
              <a:t>第十二章 气体动理论</a:t>
            </a:r>
          </a:p>
        </p:txBody>
      </p:sp>
      <p:sp>
        <p:nvSpPr>
          <p:cNvPr id="17" name="矩形 16"/>
          <p:cNvSpPr/>
          <p:nvPr/>
        </p:nvSpPr>
        <p:spPr>
          <a:xfrm>
            <a:off x="3175" y="857250"/>
            <a:ext cx="900113" cy="647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800" b="1">
              <a:solidFill>
                <a:srgbClr val="FFFFFF"/>
              </a:solidFill>
            </a:endParaRPr>
          </a:p>
        </p:txBody>
      </p:sp>
      <p:sp>
        <p:nvSpPr>
          <p:cNvPr id="15" name="灯片编号占位符 15"/>
          <p:cNvSpPr>
            <a:spLocks/>
          </p:cNvSpPr>
          <p:nvPr/>
        </p:nvSpPr>
        <p:spPr bwMode="auto">
          <a:xfrm>
            <a:off x="6804025" y="6381750"/>
            <a:ext cx="21336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>
            <a:lvl1pPr>
              <a:defRPr/>
            </a:lvl1pPr>
          </a:lstStyle>
          <a:p>
            <a:pPr algn="r">
              <a:defRPr/>
            </a:pPr>
            <a:fld id="{CF1B0B4F-A0BD-4AD9-972D-3A2D70B329AE}" type="slidenum">
              <a:rPr lang="zh-CN" altLang="en-US" sz="2800" b="1" smtClean="0">
                <a:solidFill>
                  <a:srgbClr val="0000CC"/>
                </a:solidFill>
                <a:latin typeface="Calibri" pitchFamily="34" charset="0"/>
              </a:rPr>
              <a:pPr algn="r">
                <a:defRPr/>
              </a:pPr>
              <a:t>‹#›</a:t>
            </a:fld>
            <a:endParaRPr lang="en-US" altLang="zh-CN" sz="2800" b="1">
              <a:solidFill>
                <a:srgbClr val="0000CC"/>
              </a:solidFill>
              <a:latin typeface="Calibri" pitchFamily="34" charset="0"/>
            </a:endParaRPr>
          </a:p>
        </p:txBody>
      </p:sp>
      <p:cxnSp>
        <p:nvCxnSpPr>
          <p:cNvPr id="14" name="直接连接符 13"/>
          <p:cNvCxnSpPr/>
          <p:nvPr userDrawn="1"/>
        </p:nvCxnSpPr>
        <p:spPr>
          <a:xfrm>
            <a:off x="3783238" y="566942"/>
            <a:ext cx="4290084" cy="1179"/>
          </a:xfrm>
          <a:prstGeom prst="line">
            <a:avLst/>
          </a:prstGeom>
          <a:ln w="38100" cap="rnd">
            <a:gradFill flip="none" rotWithShape="1">
              <a:gsLst>
                <a:gs pos="0">
                  <a:srgbClr val="000099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0" scaled="0"/>
              <a:tileRect/>
            </a:gradFill>
            <a:bevel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8" name="Rectangle 10"/>
          <p:cNvSpPr>
            <a:spLocks noChangeArrowheads="1"/>
          </p:cNvSpPr>
          <p:nvPr userDrawn="1"/>
        </p:nvSpPr>
        <p:spPr bwMode="auto">
          <a:xfrm>
            <a:off x="3659188" y="101600"/>
            <a:ext cx="559276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en-US" altLang="en-US" sz="2800" b="1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12-5 能量均分定理 理想气体内能</a:t>
            </a:r>
            <a:endParaRPr kumimoji="1" lang="zh-CN" altLang="en-US" sz="2800" b="1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72" r:id="rId7"/>
    <p:sldLayoutId id="2147483773" r:id="rId8"/>
    <p:sldLayoutId id="2147483774" r:id="rId9"/>
    <p:sldLayoutId id="2147483775" r:id="rId10"/>
    <p:sldLayoutId id="2147483776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3175" y="857250"/>
            <a:ext cx="900113" cy="647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800" b="1">
              <a:solidFill>
                <a:srgbClr val="FFFFFF"/>
              </a:solidFill>
            </a:endParaRPr>
          </a:p>
        </p:txBody>
      </p:sp>
      <p:sp>
        <p:nvSpPr>
          <p:cNvPr id="15" name="灯片编号占位符 15"/>
          <p:cNvSpPr>
            <a:spLocks/>
          </p:cNvSpPr>
          <p:nvPr/>
        </p:nvSpPr>
        <p:spPr bwMode="auto">
          <a:xfrm>
            <a:off x="7046913" y="6524625"/>
            <a:ext cx="21336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>
            <a:lvl1pPr>
              <a:defRPr/>
            </a:lvl1pPr>
          </a:lstStyle>
          <a:p>
            <a:pPr algn="r">
              <a:defRPr/>
            </a:pPr>
            <a:fld id="{09A15F98-2A73-4EB4-A4F6-5B66E92AA051}" type="slidenum">
              <a:rPr lang="zh-CN" altLang="en-US" sz="1400" b="1" smtClean="0">
                <a:solidFill>
                  <a:srgbClr val="0000CC"/>
                </a:solidFill>
                <a:latin typeface="Calibri" pitchFamily="34" charset="0"/>
              </a:rPr>
              <a:pPr algn="r">
                <a:defRPr/>
              </a:pPr>
              <a:t>‹#›</a:t>
            </a:fld>
            <a:endParaRPr lang="en-US" altLang="zh-CN" sz="1400" b="1" dirty="0">
              <a:solidFill>
                <a:srgbClr val="0000CC"/>
              </a:solidFill>
              <a:latin typeface="Calibri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8" r:id="rId1"/>
    <p:sldLayoutId id="2147483779" r:id="rId2"/>
    <p:sldLayoutId id="2147483780" r:id="rId3"/>
    <p:sldLayoutId id="2147483781" r:id="rId4"/>
    <p:sldLayoutId id="2147483782" r:id="rId5"/>
    <p:sldLayoutId id="2147483783" r:id="rId6"/>
    <p:sldLayoutId id="2147483784" r:id="rId7"/>
    <p:sldLayoutId id="2147483785" r:id="rId8"/>
    <p:sldLayoutId id="2147483786" r:id="rId9"/>
    <p:sldLayoutId id="2147483787" r:id="rId10"/>
    <p:sldLayoutId id="2147483788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3175" y="857250"/>
            <a:ext cx="900113" cy="647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800" b="1">
              <a:solidFill>
                <a:srgbClr val="FFFFFF"/>
              </a:solidFill>
            </a:endParaRPr>
          </a:p>
        </p:txBody>
      </p:sp>
      <p:sp>
        <p:nvSpPr>
          <p:cNvPr id="15" name="灯片编号占位符 15"/>
          <p:cNvSpPr>
            <a:spLocks/>
          </p:cNvSpPr>
          <p:nvPr/>
        </p:nvSpPr>
        <p:spPr bwMode="auto">
          <a:xfrm>
            <a:off x="7046913" y="6524625"/>
            <a:ext cx="21336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>
            <a:lvl1pPr>
              <a:defRPr/>
            </a:lvl1pPr>
          </a:lstStyle>
          <a:p>
            <a:pPr algn="r">
              <a:defRPr/>
            </a:pPr>
            <a:fld id="{09A15F98-2A73-4EB4-A4F6-5B66E92AA051}" type="slidenum">
              <a:rPr lang="zh-CN" altLang="en-US" sz="1400" b="1" smtClean="0">
                <a:solidFill>
                  <a:srgbClr val="0000CC"/>
                </a:solidFill>
                <a:latin typeface="Calibri" pitchFamily="34" charset="0"/>
              </a:rPr>
              <a:pPr algn="r">
                <a:defRPr/>
              </a:pPr>
              <a:t>‹#›</a:t>
            </a:fld>
            <a:endParaRPr lang="en-US" altLang="zh-CN" sz="1400" b="1" dirty="0">
              <a:solidFill>
                <a:srgbClr val="0000CC"/>
              </a:solidFill>
              <a:latin typeface="Calibri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0" r:id="rId1"/>
    <p:sldLayoutId id="2147483791" r:id="rId2"/>
    <p:sldLayoutId id="2147483792" r:id="rId3"/>
    <p:sldLayoutId id="2147483793" r:id="rId4"/>
    <p:sldLayoutId id="2147483794" r:id="rId5"/>
    <p:sldLayoutId id="2147483795" r:id="rId6"/>
    <p:sldLayoutId id="2147483796" r:id="rId7"/>
    <p:sldLayoutId id="2147483797" r:id="rId8"/>
    <p:sldLayoutId id="2147483798" r:id="rId9"/>
    <p:sldLayoutId id="2147483799" r:id="rId10"/>
    <p:sldLayoutId id="2147483800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5"/>
          <p:cNvSpPr>
            <a:spLocks/>
          </p:cNvSpPr>
          <p:nvPr userDrawn="1"/>
        </p:nvSpPr>
        <p:spPr bwMode="auto">
          <a:xfrm>
            <a:off x="7046913" y="6524625"/>
            <a:ext cx="21336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>
            <a:lvl1pPr>
              <a:defRPr/>
            </a:lvl1pPr>
          </a:lstStyle>
          <a:p>
            <a:pPr algn="r">
              <a:defRPr/>
            </a:pPr>
            <a:fld id="{09A15F98-2A73-4EB4-A4F6-5B66E92AA051}" type="slidenum">
              <a:rPr lang="zh-CN" altLang="en-US" sz="1400" b="1" smtClean="0">
                <a:solidFill>
                  <a:srgbClr val="0000CC"/>
                </a:solidFill>
                <a:latin typeface="Calibri" pitchFamily="34" charset="0"/>
              </a:rPr>
              <a:pPr algn="r">
                <a:defRPr/>
              </a:pPr>
              <a:t>‹#›</a:t>
            </a:fld>
            <a:endParaRPr lang="en-US" altLang="zh-CN" sz="1400" b="1" dirty="0">
              <a:solidFill>
                <a:srgbClr val="0000CC"/>
              </a:solidFill>
              <a:latin typeface="Calibri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2" r:id="rId1"/>
    <p:sldLayoutId id="2147483803" r:id="rId2"/>
    <p:sldLayoutId id="2147483804" r:id="rId3"/>
    <p:sldLayoutId id="2147483805" r:id="rId4"/>
    <p:sldLayoutId id="2147483806" r:id="rId5"/>
    <p:sldLayoutId id="2147483807" r:id="rId6"/>
    <p:sldLayoutId id="2147483808" r:id="rId7"/>
    <p:sldLayoutId id="2147483809" r:id="rId8"/>
    <p:sldLayoutId id="2147483810" r:id="rId9"/>
    <p:sldLayoutId id="2147483811" r:id="rId10"/>
    <p:sldLayoutId id="2147483812" r:id="rId11"/>
  </p:sldLayoutIdLst>
  <p:transition/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90000"/>
        <a:buBlip>
          <a:blip r:embed="rId13"/>
        </a:buBlip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14"/>
        </a:buBlip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70000"/>
        <a:buBlip>
          <a:blip r:embed="rId15"/>
        </a:buBlip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70000"/>
        <a:buBlip>
          <a:blip r:embed="rId16"/>
        </a:buBlip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70000"/>
        <a:buBlip>
          <a:blip r:embed="rId17"/>
        </a:buBlip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SzPct val="70000"/>
        <a:buBlip>
          <a:blip r:embed="rId17"/>
        </a:buBlip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SzPct val="70000"/>
        <a:buBlip>
          <a:blip r:embed="rId17"/>
        </a:buBlip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SzPct val="70000"/>
        <a:buBlip>
          <a:blip r:embed="rId17"/>
        </a:buBlip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SzPct val="70000"/>
        <a:buBlip>
          <a:blip r:embed="rId17"/>
        </a:buBlip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5"/>
          <p:cNvSpPr>
            <a:spLocks/>
          </p:cNvSpPr>
          <p:nvPr userDrawn="1"/>
        </p:nvSpPr>
        <p:spPr bwMode="auto">
          <a:xfrm>
            <a:off x="7046913" y="6524625"/>
            <a:ext cx="21336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>
            <a:lvl1pPr>
              <a:defRPr/>
            </a:lvl1pPr>
          </a:lstStyle>
          <a:p>
            <a:pPr algn="r">
              <a:defRPr/>
            </a:pPr>
            <a:fld id="{09A15F98-2A73-4EB4-A4F6-5B66E92AA051}" type="slidenum">
              <a:rPr lang="zh-CN" altLang="en-US" sz="1400" b="1" smtClean="0">
                <a:solidFill>
                  <a:srgbClr val="0000CC"/>
                </a:solidFill>
                <a:latin typeface="Calibri" pitchFamily="34" charset="0"/>
              </a:rPr>
              <a:pPr algn="r">
                <a:defRPr/>
              </a:pPr>
              <a:t>‹#›</a:t>
            </a:fld>
            <a:endParaRPr lang="en-US" altLang="zh-CN" sz="1400" b="1" dirty="0">
              <a:solidFill>
                <a:srgbClr val="0000CC"/>
              </a:solidFill>
              <a:latin typeface="Calibri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4" r:id="rId1"/>
    <p:sldLayoutId id="2147483815" r:id="rId2"/>
    <p:sldLayoutId id="2147483816" r:id="rId3"/>
    <p:sldLayoutId id="2147483817" r:id="rId4"/>
    <p:sldLayoutId id="2147483818" r:id="rId5"/>
    <p:sldLayoutId id="2147483819" r:id="rId6"/>
    <p:sldLayoutId id="2147483820" r:id="rId7"/>
    <p:sldLayoutId id="2147483821" r:id="rId8"/>
    <p:sldLayoutId id="2147483822" r:id="rId9"/>
    <p:sldLayoutId id="2147483823" r:id="rId10"/>
    <p:sldLayoutId id="2147483824" r:id="rId11"/>
    <p:sldLayoutId id="2147483825" r:id="rId12"/>
  </p:sldLayoutIdLst>
  <p:transition>
    <p:random/>
  </p:transition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4.bin"/><Relationship Id="rId5" Type="http://schemas.openxmlformats.org/officeDocument/2006/relationships/oleObject" Target="../embeddings/oleObject3.bin"/><Relationship Id="rId4" Type="http://schemas.openxmlformats.org/officeDocument/2006/relationships/oleObject" Target="../embeddings/oleObject2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.bin"/><Relationship Id="rId13" Type="http://schemas.openxmlformats.org/officeDocument/2006/relationships/oleObject" Target="../embeddings/oleObject17.bin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11.bin"/><Relationship Id="rId12" Type="http://schemas.openxmlformats.org/officeDocument/2006/relationships/oleObject" Target="../embeddings/oleObject16.bin"/><Relationship Id="rId2" Type="http://schemas.openxmlformats.org/officeDocument/2006/relationships/slideLayout" Target="../slideLayouts/slideLayout29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10.bin"/><Relationship Id="rId11" Type="http://schemas.openxmlformats.org/officeDocument/2006/relationships/oleObject" Target="../embeddings/oleObject15.bin"/><Relationship Id="rId5" Type="http://schemas.openxmlformats.org/officeDocument/2006/relationships/oleObject" Target="../embeddings/oleObject9.bin"/><Relationship Id="rId10" Type="http://schemas.openxmlformats.org/officeDocument/2006/relationships/oleObject" Target="../embeddings/oleObject14.bin"/><Relationship Id="rId4" Type="http://schemas.openxmlformats.org/officeDocument/2006/relationships/oleObject" Target="../embeddings/oleObject8.bin"/><Relationship Id="rId9" Type="http://schemas.openxmlformats.org/officeDocument/2006/relationships/oleObject" Target="../embeddings/oleObject13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.bin"/><Relationship Id="rId3" Type="http://schemas.openxmlformats.org/officeDocument/2006/relationships/oleObject" Target="../embeddings/oleObject18.bin"/><Relationship Id="rId7" Type="http://schemas.openxmlformats.org/officeDocument/2006/relationships/oleObject" Target="../embeddings/oleObject22.bin"/><Relationship Id="rId2" Type="http://schemas.openxmlformats.org/officeDocument/2006/relationships/slideLayout" Target="../slideLayouts/slideLayout29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21.bin"/><Relationship Id="rId5" Type="http://schemas.openxmlformats.org/officeDocument/2006/relationships/oleObject" Target="../embeddings/oleObject20.bin"/><Relationship Id="rId10" Type="http://schemas.openxmlformats.org/officeDocument/2006/relationships/oleObject" Target="../embeddings/oleObject25.bin"/><Relationship Id="rId4" Type="http://schemas.openxmlformats.org/officeDocument/2006/relationships/oleObject" Target="../embeddings/oleObject19.bin"/><Relationship Id="rId9" Type="http://schemas.openxmlformats.org/officeDocument/2006/relationships/oleObject" Target="../embeddings/oleObject24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.bin"/><Relationship Id="rId3" Type="http://schemas.openxmlformats.org/officeDocument/2006/relationships/oleObject" Target="../embeddings/oleObject26.bin"/><Relationship Id="rId7" Type="http://schemas.openxmlformats.org/officeDocument/2006/relationships/oleObject" Target="../embeddings/oleObject30.bin"/><Relationship Id="rId2" Type="http://schemas.openxmlformats.org/officeDocument/2006/relationships/slideLayout" Target="../slideLayouts/slideLayout29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29.bin"/><Relationship Id="rId5" Type="http://schemas.openxmlformats.org/officeDocument/2006/relationships/oleObject" Target="../embeddings/oleObject28.bin"/><Relationship Id="rId4" Type="http://schemas.openxmlformats.org/officeDocument/2006/relationships/oleObject" Target="../embeddings/oleObject27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6.bin"/><Relationship Id="rId13" Type="http://schemas.openxmlformats.org/officeDocument/2006/relationships/oleObject" Target="../embeddings/oleObject41.bin"/><Relationship Id="rId3" Type="http://schemas.openxmlformats.org/officeDocument/2006/relationships/oleObject" Target="../embeddings/oleObject32.bin"/><Relationship Id="rId7" Type="http://schemas.openxmlformats.org/officeDocument/2006/relationships/oleObject" Target="../embeddings/oleObject35.bin"/><Relationship Id="rId12" Type="http://schemas.openxmlformats.org/officeDocument/2006/relationships/oleObject" Target="../embeddings/oleObject40.bin"/><Relationship Id="rId2" Type="http://schemas.openxmlformats.org/officeDocument/2006/relationships/slideLayout" Target="../slideLayouts/slideLayout29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39.jpeg"/><Relationship Id="rId11" Type="http://schemas.openxmlformats.org/officeDocument/2006/relationships/oleObject" Target="../embeddings/oleObject39.bin"/><Relationship Id="rId5" Type="http://schemas.openxmlformats.org/officeDocument/2006/relationships/oleObject" Target="../embeddings/oleObject34.bin"/><Relationship Id="rId10" Type="http://schemas.openxmlformats.org/officeDocument/2006/relationships/oleObject" Target="../embeddings/oleObject38.bin"/><Relationship Id="rId4" Type="http://schemas.openxmlformats.org/officeDocument/2006/relationships/oleObject" Target="../embeddings/oleObject33.bin"/><Relationship Id="rId9" Type="http://schemas.openxmlformats.org/officeDocument/2006/relationships/oleObject" Target="../embeddings/oleObject37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2.bin"/><Relationship Id="rId2" Type="http://schemas.openxmlformats.org/officeDocument/2006/relationships/slideLayout" Target="../slideLayouts/slideLayout29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45.bin"/><Relationship Id="rId5" Type="http://schemas.openxmlformats.org/officeDocument/2006/relationships/oleObject" Target="../embeddings/oleObject44.bin"/><Relationship Id="rId4" Type="http://schemas.openxmlformats.org/officeDocument/2006/relationships/oleObject" Target="../embeddings/oleObject43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1.bin"/><Relationship Id="rId3" Type="http://schemas.openxmlformats.org/officeDocument/2006/relationships/oleObject" Target="../embeddings/oleObject46.bin"/><Relationship Id="rId7" Type="http://schemas.openxmlformats.org/officeDocument/2006/relationships/oleObject" Target="../embeddings/oleObject50.bin"/><Relationship Id="rId2" Type="http://schemas.openxmlformats.org/officeDocument/2006/relationships/slideLayout" Target="../slideLayouts/slideLayout29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49.bin"/><Relationship Id="rId5" Type="http://schemas.openxmlformats.org/officeDocument/2006/relationships/oleObject" Target="../embeddings/oleObject48.bin"/><Relationship Id="rId10" Type="http://schemas.openxmlformats.org/officeDocument/2006/relationships/oleObject" Target="../embeddings/oleObject53.bin"/><Relationship Id="rId4" Type="http://schemas.openxmlformats.org/officeDocument/2006/relationships/oleObject" Target="../embeddings/oleObject47.bin"/><Relationship Id="rId9" Type="http://schemas.openxmlformats.org/officeDocument/2006/relationships/oleObject" Target="../embeddings/oleObject52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4.bin"/><Relationship Id="rId2" Type="http://schemas.openxmlformats.org/officeDocument/2006/relationships/slideLayout" Target="../slideLayouts/slideLayout29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57.bin"/><Relationship Id="rId5" Type="http://schemas.openxmlformats.org/officeDocument/2006/relationships/oleObject" Target="../embeddings/oleObject56.bin"/><Relationship Id="rId4" Type="http://schemas.openxmlformats.org/officeDocument/2006/relationships/oleObject" Target="../embeddings/oleObject55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3.bin"/><Relationship Id="rId3" Type="http://schemas.openxmlformats.org/officeDocument/2006/relationships/oleObject" Target="../embeddings/oleObject58.bin"/><Relationship Id="rId7" Type="http://schemas.openxmlformats.org/officeDocument/2006/relationships/oleObject" Target="../embeddings/oleObject62.bin"/><Relationship Id="rId2" Type="http://schemas.openxmlformats.org/officeDocument/2006/relationships/slideLayout" Target="../slideLayouts/slideLayout29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61.bin"/><Relationship Id="rId5" Type="http://schemas.openxmlformats.org/officeDocument/2006/relationships/oleObject" Target="../embeddings/oleObject60.bin"/><Relationship Id="rId10" Type="http://schemas.openxmlformats.org/officeDocument/2006/relationships/oleObject" Target="../embeddings/oleObject65.bin"/><Relationship Id="rId4" Type="http://schemas.openxmlformats.org/officeDocument/2006/relationships/oleObject" Target="../embeddings/oleObject59.bin"/><Relationship Id="rId9" Type="http://schemas.openxmlformats.org/officeDocument/2006/relationships/oleObject" Target="../embeddings/oleObject64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6.bin"/><Relationship Id="rId2" Type="http://schemas.openxmlformats.org/officeDocument/2006/relationships/slideLayout" Target="../slideLayouts/slideLayout29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69.bin"/><Relationship Id="rId5" Type="http://schemas.openxmlformats.org/officeDocument/2006/relationships/oleObject" Target="../embeddings/oleObject68.bin"/><Relationship Id="rId4" Type="http://schemas.openxmlformats.org/officeDocument/2006/relationships/oleObject" Target="../embeddings/oleObject67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0.bin"/><Relationship Id="rId2" Type="http://schemas.openxmlformats.org/officeDocument/2006/relationships/slideLayout" Target="../slideLayouts/slideLayout29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73.bin"/><Relationship Id="rId5" Type="http://schemas.openxmlformats.org/officeDocument/2006/relationships/oleObject" Target="../embeddings/oleObject72.bin"/><Relationship Id="rId4" Type="http://schemas.openxmlformats.org/officeDocument/2006/relationships/oleObject" Target="../embeddings/oleObject71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9.bin"/><Relationship Id="rId13" Type="http://schemas.openxmlformats.org/officeDocument/2006/relationships/oleObject" Target="../embeddings/oleObject84.bin"/><Relationship Id="rId3" Type="http://schemas.openxmlformats.org/officeDocument/2006/relationships/oleObject" Target="../embeddings/oleObject74.bin"/><Relationship Id="rId7" Type="http://schemas.openxmlformats.org/officeDocument/2006/relationships/oleObject" Target="../embeddings/oleObject78.bin"/><Relationship Id="rId12" Type="http://schemas.openxmlformats.org/officeDocument/2006/relationships/oleObject" Target="../embeddings/oleObject83.bin"/><Relationship Id="rId2" Type="http://schemas.openxmlformats.org/officeDocument/2006/relationships/slideLayout" Target="../slideLayouts/slideLayout29.xml"/><Relationship Id="rId16" Type="http://schemas.openxmlformats.org/officeDocument/2006/relationships/oleObject" Target="../embeddings/oleObject87.bin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77.bin"/><Relationship Id="rId11" Type="http://schemas.openxmlformats.org/officeDocument/2006/relationships/oleObject" Target="../embeddings/oleObject82.bin"/><Relationship Id="rId5" Type="http://schemas.openxmlformats.org/officeDocument/2006/relationships/oleObject" Target="../embeddings/oleObject76.bin"/><Relationship Id="rId15" Type="http://schemas.openxmlformats.org/officeDocument/2006/relationships/oleObject" Target="../embeddings/oleObject86.bin"/><Relationship Id="rId10" Type="http://schemas.openxmlformats.org/officeDocument/2006/relationships/oleObject" Target="../embeddings/oleObject81.bin"/><Relationship Id="rId4" Type="http://schemas.openxmlformats.org/officeDocument/2006/relationships/oleObject" Target="../embeddings/oleObject75.bin"/><Relationship Id="rId9" Type="http://schemas.openxmlformats.org/officeDocument/2006/relationships/oleObject" Target="../embeddings/oleObject80.bin"/><Relationship Id="rId14" Type="http://schemas.openxmlformats.org/officeDocument/2006/relationships/oleObject" Target="../embeddings/oleObject85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3.bin"/><Relationship Id="rId3" Type="http://schemas.openxmlformats.org/officeDocument/2006/relationships/oleObject" Target="../embeddings/oleObject88.bin"/><Relationship Id="rId7" Type="http://schemas.openxmlformats.org/officeDocument/2006/relationships/oleObject" Target="../embeddings/oleObject92.bin"/><Relationship Id="rId2" Type="http://schemas.openxmlformats.org/officeDocument/2006/relationships/slideLayout" Target="../slideLayouts/slideLayout29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91.bin"/><Relationship Id="rId5" Type="http://schemas.openxmlformats.org/officeDocument/2006/relationships/oleObject" Target="../embeddings/oleObject90.bin"/><Relationship Id="rId4" Type="http://schemas.openxmlformats.org/officeDocument/2006/relationships/oleObject" Target="../embeddings/oleObject89.bin"/><Relationship Id="rId9" Type="http://schemas.openxmlformats.org/officeDocument/2006/relationships/oleObject" Target="../embeddings/oleObject94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5.bin"/><Relationship Id="rId2" Type="http://schemas.openxmlformats.org/officeDocument/2006/relationships/slideLayout" Target="../slideLayouts/slideLayout29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98.bin"/><Relationship Id="rId5" Type="http://schemas.openxmlformats.org/officeDocument/2006/relationships/oleObject" Target="../embeddings/oleObject97.bin"/><Relationship Id="rId4" Type="http://schemas.openxmlformats.org/officeDocument/2006/relationships/oleObject" Target="../embeddings/oleObject96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4.bin"/><Relationship Id="rId3" Type="http://schemas.openxmlformats.org/officeDocument/2006/relationships/oleObject" Target="../embeddings/oleObject99.bin"/><Relationship Id="rId7" Type="http://schemas.openxmlformats.org/officeDocument/2006/relationships/oleObject" Target="../embeddings/oleObject103.bin"/><Relationship Id="rId2" Type="http://schemas.openxmlformats.org/officeDocument/2006/relationships/slideLayout" Target="../slideLayouts/slideLayout29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102.bin"/><Relationship Id="rId5" Type="http://schemas.openxmlformats.org/officeDocument/2006/relationships/oleObject" Target="../embeddings/oleObject101.bin"/><Relationship Id="rId4" Type="http://schemas.openxmlformats.org/officeDocument/2006/relationships/oleObject" Target="../embeddings/oleObject100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0.xml"/><Relationship Id="rId2" Type="http://schemas.openxmlformats.org/officeDocument/2006/relationships/control" Target="../activeX/activeX1.xml"/><Relationship Id="rId1" Type="http://schemas.openxmlformats.org/officeDocument/2006/relationships/vmlDrawing" Target="../drawings/vmlDrawing16.v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5.bin"/><Relationship Id="rId2" Type="http://schemas.openxmlformats.org/officeDocument/2006/relationships/slideLayout" Target="../slideLayouts/slideLayout35.xml"/><Relationship Id="rId1" Type="http://schemas.openxmlformats.org/officeDocument/2006/relationships/vmlDrawing" Target="../drawings/vmlDrawing17.vml"/><Relationship Id="rId5" Type="http://schemas.openxmlformats.org/officeDocument/2006/relationships/image" Target="../media/image91.png"/><Relationship Id="rId4" Type="http://schemas.openxmlformats.org/officeDocument/2006/relationships/oleObject" Target="../embeddings/oleObject106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0.xml"/><Relationship Id="rId2" Type="http://schemas.openxmlformats.org/officeDocument/2006/relationships/control" Target="../activeX/activeX2.xml"/><Relationship Id="rId1" Type="http://schemas.openxmlformats.org/officeDocument/2006/relationships/vmlDrawing" Target="../drawings/vmlDrawing18.vml"/><Relationship Id="rId4" Type="http://schemas.openxmlformats.org/officeDocument/2006/relationships/oleObject" Target="../embeddings/oleObject107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7.xml"/><Relationship Id="rId2" Type="http://schemas.openxmlformats.org/officeDocument/2006/relationships/control" Target="../activeX/activeX3.xml"/><Relationship Id="rId1" Type="http://schemas.openxmlformats.org/officeDocument/2006/relationships/vmlDrawing" Target="../drawings/vmlDrawing19.vml"/><Relationship Id="rId5" Type="http://schemas.openxmlformats.org/officeDocument/2006/relationships/image" Target="../media/image91.png"/><Relationship Id="rId4" Type="http://schemas.openxmlformats.org/officeDocument/2006/relationships/oleObject" Target="../embeddings/oleObject108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3.bin"/><Relationship Id="rId3" Type="http://schemas.openxmlformats.org/officeDocument/2006/relationships/image" Target="../media/image91.png"/><Relationship Id="rId7" Type="http://schemas.openxmlformats.org/officeDocument/2006/relationships/oleObject" Target="../embeddings/oleObject112.bin"/><Relationship Id="rId2" Type="http://schemas.openxmlformats.org/officeDocument/2006/relationships/slideLayout" Target="../slideLayouts/slideLayout40.xml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111.bin"/><Relationship Id="rId5" Type="http://schemas.openxmlformats.org/officeDocument/2006/relationships/oleObject" Target="../embeddings/oleObject110.bin"/><Relationship Id="rId4" Type="http://schemas.openxmlformats.org/officeDocument/2006/relationships/oleObject" Target="../embeddings/oleObject109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9.bin"/><Relationship Id="rId3" Type="http://schemas.openxmlformats.org/officeDocument/2006/relationships/oleObject" Target="../embeddings/oleObject114.bin"/><Relationship Id="rId7" Type="http://schemas.openxmlformats.org/officeDocument/2006/relationships/oleObject" Target="../embeddings/oleObject118.bin"/><Relationship Id="rId2" Type="http://schemas.openxmlformats.org/officeDocument/2006/relationships/slideLayout" Target="../slideLayouts/slideLayout40.xml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117.bin"/><Relationship Id="rId5" Type="http://schemas.openxmlformats.org/officeDocument/2006/relationships/oleObject" Target="../embeddings/oleObject116.bin"/><Relationship Id="rId4" Type="http://schemas.openxmlformats.org/officeDocument/2006/relationships/oleObject" Target="../embeddings/oleObject115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5.bin"/><Relationship Id="rId13" Type="http://schemas.openxmlformats.org/officeDocument/2006/relationships/oleObject" Target="../embeddings/oleObject130.bin"/><Relationship Id="rId3" Type="http://schemas.openxmlformats.org/officeDocument/2006/relationships/oleObject" Target="../embeddings/oleObject120.bin"/><Relationship Id="rId7" Type="http://schemas.openxmlformats.org/officeDocument/2006/relationships/oleObject" Target="../embeddings/oleObject124.bin"/><Relationship Id="rId12" Type="http://schemas.openxmlformats.org/officeDocument/2006/relationships/oleObject" Target="../embeddings/oleObject129.bin"/><Relationship Id="rId2" Type="http://schemas.openxmlformats.org/officeDocument/2006/relationships/slideLayout" Target="../slideLayouts/slideLayout45.xml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123.bin"/><Relationship Id="rId11" Type="http://schemas.openxmlformats.org/officeDocument/2006/relationships/oleObject" Target="../embeddings/oleObject128.bin"/><Relationship Id="rId5" Type="http://schemas.openxmlformats.org/officeDocument/2006/relationships/oleObject" Target="../embeddings/oleObject122.bin"/><Relationship Id="rId10" Type="http://schemas.openxmlformats.org/officeDocument/2006/relationships/oleObject" Target="../embeddings/oleObject127.bin"/><Relationship Id="rId4" Type="http://schemas.openxmlformats.org/officeDocument/2006/relationships/oleObject" Target="../embeddings/oleObject121.bin"/><Relationship Id="rId9" Type="http://schemas.openxmlformats.org/officeDocument/2006/relationships/oleObject" Target="../embeddings/oleObject126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5.bin"/><Relationship Id="rId13" Type="http://schemas.openxmlformats.org/officeDocument/2006/relationships/oleObject" Target="../embeddings/oleObject140.bin"/><Relationship Id="rId18" Type="http://schemas.openxmlformats.org/officeDocument/2006/relationships/oleObject" Target="../embeddings/oleObject145.bin"/><Relationship Id="rId3" Type="http://schemas.openxmlformats.org/officeDocument/2006/relationships/notesSlide" Target="../notesSlides/notesSlide1.xml"/><Relationship Id="rId7" Type="http://schemas.openxmlformats.org/officeDocument/2006/relationships/oleObject" Target="../embeddings/oleObject134.bin"/><Relationship Id="rId12" Type="http://schemas.openxmlformats.org/officeDocument/2006/relationships/oleObject" Target="../embeddings/oleObject139.bin"/><Relationship Id="rId17" Type="http://schemas.openxmlformats.org/officeDocument/2006/relationships/oleObject" Target="../embeddings/oleObject144.bin"/><Relationship Id="rId2" Type="http://schemas.openxmlformats.org/officeDocument/2006/relationships/slideLayout" Target="../slideLayouts/slideLayout51.xml"/><Relationship Id="rId16" Type="http://schemas.openxmlformats.org/officeDocument/2006/relationships/oleObject" Target="../embeddings/oleObject143.bin"/><Relationship Id="rId1" Type="http://schemas.openxmlformats.org/officeDocument/2006/relationships/vmlDrawing" Target="../drawings/vmlDrawing23.vml"/><Relationship Id="rId6" Type="http://schemas.openxmlformats.org/officeDocument/2006/relationships/oleObject" Target="../embeddings/oleObject133.bin"/><Relationship Id="rId11" Type="http://schemas.openxmlformats.org/officeDocument/2006/relationships/oleObject" Target="../embeddings/oleObject138.bin"/><Relationship Id="rId5" Type="http://schemas.openxmlformats.org/officeDocument/2006/relationships/oleObject" Target="../embeddings/oleObject132.bin"/><Relationship Id="rId15" Type="http://schemas.openxmlformats.org/officeDocument/2006/relationships/oleObject" Target="../embeddings/oleObject142.bin"/><Relationship Id="rId10" Type="http://schemas.openxmlformats.org/officeDocument/2006/relationships/oleObject" Target="../embeddings/oleObject137.bin"/><Relationship Id="rId4" Type="http://schemas.openxmlformats.org/officeDocument/2006/relationships/oleObject" Target="../embeddings/oleObject131.bin"/><Relationship Id="rId9" Type="http://schemas.openxmlformats.org/officeDocument/2006/relationships/oleObject" Target="../embeddings/oleObject136.bin"/><Relationship Id="rId14" Type="http://schemas.openxmlformats.org/officeDocument/2006/relationships/oleObject" Target="../embeddings/oleObject141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6.bin"/><Relationship Id="rId2" Type="http://schemas.openxmlformats.org/officeDocument/2006/relationships/slideLayout" Target="../slideLayouts/slideLayout51.xml"/><Relationship Id="rId1" Type="http://schemas.openxmlformats.org/officeDocument/2006/relationships/vmlDrawing" Target="../drawings/vmlDrawing24.vml"/><Relationship Id="rId5" Type="http://schemas.openxmlformats.org/officeDocument/2006/relationships/oleObject" Target="../embeddings/oleObject148.bin"/><Relationship Id="rId4" Type="http://schemas.openxmlformats.org/officeDocument/2006/relationships/oleObject" Target="../embeddings/oleObject147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9.bin"/><Relationship Id="rId2" Type="http://schemas.openxmlformats.org/officeDocument/2006/relationships/slideLayout" Target="../slideLayouts/slideLayout45.xml"/><Relationship Id="rId1" Type="http://schemas.openxmlformats.org/officeDocument/2006/relationships/vmlDrawing" Target="../drawings/vmlDrawing25.vml"/><Relationship Id="rId5" Type="http://schemas.openxmlformats.org/officeDocument/2006/relationships/oleObject" Target="../embeddings/oleObject151.bin"/><Relationship Id="rId4" Type="http://schemas.openxmlformats.org/officeDocument/2006/relationships/oleObject" Target="../embeddings/oleObject150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2.bin"/><Relationship Id="rId2" Type="http://schemas.openxmlformats.org/officeDocument/2006/relationships/slideLayout" Target="../slideLayouts/slideLayout45.xml"/><Relationship Id="rId1" Type="http://schemas.openxmlformats.org/officeDocument/2006/relationships/vmlDrawing" Target="../drawings/vmlDrawing26.v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3.bin"/><Relationship Id="rId2" Type="http://schemas.openxmlformats.org/officeDocument/2006/relationships/slideLayout" Target="../slideLayouts/slideLayout45.xml"/><Relationship Id="rId1" Type="http://schemas.openxmlformats.org/officeDocument/2006/relationships/vmlDrawing" Target="../drawings/vmlDrawing27.vml"/><Relationship Id="rId6" Type="http://schemas.openxmlformats.org/officeDocument/2006/relationships/oleObject" Target="../embeddings/oleObject156.bin"/><Relationship Id="rId5" Type="http://schemas.openxmlformats.org/officeDocument/2006/relationships/oleObject" Target="../embeddings/oleObject155.bin"/><Relationship Id="rId4" Type="http://schemas.openxmlformats.org/officeDocument/2006/relationships/oleObject" Target="../embeddings/oleObject154.bin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7.bin"/><Relationship Id="rId2" Type="http://schemas.openxmlformats.org/officeDocument/2006/relationships/slideLayout" Target="../slideLayouts/slideLayout51.xml"/><Relationship Id="rId1" Type="http://schemas.openxmlformats.org/officeDocument/2006/relationships/vmlDrawing" Target="../drawings/vmlDrawing28.vml"/><Relationship Id="rId4" Type="http://schemas.openxmlformats.org/officeDocument/2006/relationships/oleObject" Target="../embeddings/oleObject158.bin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9.bin"/><Relationship Id="rId2" Type="http://schemas.openxmlformats.org/officeDocument/2006/relationships/slideLayout" Target="../slideLayouts/slideLayout62.xml"/><Relationship Id="rId1" Type="http://schemas.openxmlformats.org/officeDocument/2006/relationships/vmlDrawing" Target="../drawings/vmlDrawing29.vml"/><Relationship Id="rId4" Type="http://schemas.openxmlformats.org/officeDocument/2006/relationships/oleObject" Target="../embeddings/oleObject160.bin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1.bin"/><Relationship Id="rId2" Type="http://schemas.openxmlformats.org/officeDocument/2006/relationships/slideLayout" Target="../slideLayouts/slideLayout62.xml"/><Relationship Id="rId1" Type="http://schemas.openxmlformats.org/officeDocument/2006/relationships/vmlDrawing" Target="../drawings/vmlDrawing30.vml"/><Relationship Id="rId5" Type="http://schemas.openxmlformats.org/officeDocument/2006/relationships/oleObject" Target="../embeddings/oleObject163.bin"/><Relationship Id="rId4" Type="http://schemas.openxmlformats.org/officeDocument/2006/relationships/oleObject" Target="../embeddings/oleObject162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9.bin"/><Relationship Id="rId3" Type="http://schemas.openxmlformats.org/officeDocument/2006/relationships/oleObject" Target="../embeddings/oleObject164.bin"/><Relationship Id="rId7" Type="http://schemas.openxmlformats.org/officeDocument/2006/relationships/oleObject" Target="../embeddings/oleObject168.bin"/><Relationship Id="rId2" Type="http://schemas.openxmlformats.org/officeDocument/2006/relationships/slideLayout" Target="../slideLayouts/slideLayout62.xml"/><Relationship Id="rId1" Type="http://schemas.openxmlformats.org/officeDocument/2006/relationships/vmlDrawing" Target="../drawings/vmlDrawing31.vml"/><Relationship Id="rId6" Type="http://schemas.openxmlformats.org/officeDocument/2006/relationships/oleObject" Target="../embeddings/oleObject167.bin"/><Relationship Id="rId5" Type="http://schemas.openxmlformats.org/officeDocument/2006/relationships/oleObject" Target="../embeddings/oleObject166.bin"/><Relationship Id="rId10" Type="http://schemas.openxmlformats.org/officeDocument/2006/relationships/oleObject" Target="../embeddings/oleObject171.bin"/><Relationship Id="rId4" Type="http://schemas.openxmlformats.org/officeDocument/2006/relationships/oleObject" Target="../embeddings/oleObject165.bin"/><Relationship Id="rId9" Type="http://schemas.openxmlformats.org/officeDocument/2006/relationships/oleObject" Target="../embeddings/oleObject170.bin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2.bin"/><Relationship Id="rId2" Type="http://schemas.openxmlformats.org/officeDocument/2006/relationships/slideLayout" Target="../slideLayouts/slideLayout62.xml"/><Relationship Id="rId1" Type="http://schemas.openxmlformats.org/officeDocument/2006/relationships/vmlDrawing" Target="../drawings/vmlDrawing32.vml"/><Relationship Id="rId4" Type="http://schemas.openxmlformats.org/officeDocument/2006/relationships/oleObject" Target="../embeddings/oleObject173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7"/>
          <p:cNvSpPr>
            <a:spLocks noChangeArrowheads="1"/>
          </p:cNvSpPr>
          <p:nvPr/>
        </p:nvSpPr>
        <p:spPr bwMode="auto">
          <a:xfrm>
            <a:off x="1686185" y="548680"/>
            <a:ext cx="5622119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3600" b="1" dirty="0">
                <a:ea typeface="华文细黑" pitchFamily="2" charset="-122"/>
              </a:rPr>
              <a:t>第 五</a:t>
            </a:r>
            <a:r>
              <a:rPr lang="zh-CN" altLang="en-US" sz="3600" b="1" dirty="0" smtClean="0">
                <a:ea typeface="华文细黑" pitchFamily="2" charset="-122"/>
              </a:rPr>
              <a:t>章     </a:t>
            </a:r>
            <a:r>
              <a:rPr lang="zh-CN" altLang="en-US" sz="3600" b="1" dirty="0" smtClean="0">
                <a:latin typeface="华文细黑" pitchFamily="2" charset="-122"/>
                <a:ea typeface="华文细黑" pitchFamily="2" charset="-122"/>
              </a:rPr>
              <a:t>气</a:t>
            </a:r>
            <a:r>
              <a:rPr lang="zh-CN" altLang="en-US" sz="3600" b="1" dirty="0">
                <a:latin typeface="华文细黑" pitchFamily="2" charset="-122"/>
                <a:ea typeface="华文细黑" pitchFamily="2" charset="-122"/>
              </a:rPr>
              <a:t>体动理论</a:t>
            </a:r>
            <a:endParaRPr lang="zh-CN" altLang="en-US" sz="3600" b="1" dirty="0">
              <a:ea typeface="华文细黑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7584" y="1305704"/>
            <a:ext cx="8064896" cy="4859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</a:pPr>
            <a:r>
              <a:rPr lang="en-US" altLang="zh-CN" sz="3200" b="1" dirty="0" smtClean="0">
                <a:solidFill>
                  <a:srgbClr val="0000FF"/>
                </a:solidFill>
              </a:rPr>
              <a:t>5-1 </a:t>
            </a:r>
            <a:r>
              <a:rPr lang="zh-CN" altLang="en-US" sz="3200" b="1" dirty="0" smtClean="0">
                <a:solidFill>
                  <a:srgbClr val="0000FF"/>
                </a:solidFill>
              </a:rPr>
              <a:t>理想气体状态方程</a:t>
            </a:r>
            <a:endParaRPr lang="en-US" altLang="zh-CN" sz="3200" b="1" dirty="0" smtClean="0">
              <a:solidFill>
                <a:srgbClr val="0000FF"/>
              </a:solidFill>
            </a:endParaRPr>
          </a:p>
          <a:p>
            <a:pPr marL="342900" indent="-342900">
              <a:lnSpc>
                <a:spcPct val="200000"/>
              </a:lnSpc>
            </a:pPr>
            <a:r>
              <a:rPr lang="en-US" altLang="zh-CN" sz="3200" b="1" dirty="0" smtClean="0">
                <a:solidFill>
                  <a:srgbClr val="0000FF"/>
                </a:solidFill>
              </a:rPr>
              <a:t>5-2 </a:t>
            </a:r>
            <a:r>
              <a:rPr lang="zh-CN" altLang="en-US" sz="3200" b="1" dirty="0" smtClean="0">
                <a:solidFill>
                  <a:srgbClr val="0000FF"/>
                </a:solidFill>
              </a:rPr>
              <a:t>理想气体压强与温度</a:t>
            </a:r>
            <a:endParaRPr lang="en-US" altLang="zh-CN" sz="3200" b="1" dirty="0" smtClean="0">
              <a:solidFill>
                <a:srgbClr val="0000FF"/>
              </a:solidFill>
            </a:endParaRPr>
          </a:p>
          <a:p>
            <a:pPr marL="342900" indent="-342900">
              <a:lnSpc>
                <a:spcPct val="200000"/>
              </a:lnSpc>
            </a:pPr>
            <a:r>
              <a:rPr lang="en-US" altLang="zh-CN" sz="3200" b="1" dirty="0" smtClean="0">
                <a:solidFill>
                  <a:srgbClr val="0000FF"/>
                </a:solidFill>
              </a:rPr>
              <a:t>5-3 </a:t>
            </a:r>
            <a:r>
              <a:rPr lang="zh-CN" altLang="en-US" sz="3200" b="1" dirty="0" smtClean="0">
                <a:solidFill>
                  <a:srgbClr val="0000FF"/>
                </a:solidFill>
              </a:rPr>
              <a:t>气</a:t>
            </a:r>
            <a:r>
              <a:rPr lang="zh-CN" altLang="en-US" sz="3200" b="1" dirty="0">
                <a:solidFill>
                  <a:srgbClr val="0000FF"/>
                </a:solidFill>
              </a:rPr>
              <a:t>体分</a:t>
            </a:r>
            <a:r>
              <a:rPr lang="zh-CN" altLang="en-US" sz="3200" b="1" dirty="0" smtClean="0">
                <a:solidFill>
                  <a:srgbClr val="0000FF"/>
                </a:solidFill>
              </a:rPr>
              <a:t>子热运动的速率分布规律</a:t>
            </a:r>
            <a:endParaRPr lang="en-US" altLang="zh-CN" sz="3200" b="1" dirty="0" smtClean="0">
              <a:solidFill>
                <a:srgbClr val="0000FF"/>
              </a:solidFill>
            </a:endParaRPr>
          </a:p>
          <a:p>
            <a:pPr marL="342900" indent="-342900">
              <a:lnSpc>
                <a:spcPct val="200000"/>
              </a:lnSpc>
            </a:pPr>
            <a:r>
              <a:rPr lang="en-US" altLang="zh-CN" sz="3200" b="1" dirty="0" smtClean="0">
                <a:solidFill>
                  <a:srgbClr val="0000FF"/>
                </a:solidFill>
              </a:rPr>
              <a:t>5-4 </a:t>
            </a:r>
            <a:r>
              <a:rPr lang="zh-CN" altLang="en-US" sz="3200" b="1" dirty="0" smtClean="0">
                <a:solidFill>
                  <a:srgbClr val="0000FF"/>
                </a:solidFill>
              </a:rPr>
              <a:t>气</a:t>
            </a:r>
            <a:r>
              <a:rPr lang="zh-CN" altLang="en-US" sz="3200" b="1" dirty="0">
                <a:solidFill>
                  <a:srgbClr val="0000FF"/>
                </a:solidFill>
              </a:rPr>
              <a:t>体分</a:t>
            </a:r>
            <a:r>
              <a:rPr lang="zh-CN" altLang="en-US" sz="3200" b="1" dirty="0" smtClean="0">
                <a:solidFill>
                  <a:srgbClr val="0000FF"/>
                </a:solidFill>
              </a:rPr>
              <a:t>子的平均碰撞次数和平均自由程</a:t>
            </a:r>
            <a:endParaRPr lang="en-US" altLang="zh-CN" sz="3200" b="1" dirty="0" smtClean="0">
              <a:solidFill>
                <a:srgbClr val="0000FF"/>
              </a:solidFill>
            </a:endParaRPr>
          </a:p>
          <a:p>
            <a:pPr marL="342900" indent="-342900">
              <a:lnSpc>
                <a:spcPct val="200000"/>
              </a:lnSpc>
            </a:pPr>
            <a:r>
              <a:rPr lang="en-US" altLang="zh-CN" sz="3200" b="1" dirty="0" smtClean="0">
                <a:solidFill>
                  <a:srgbClr val="0000FF"/>
                </a:solidFill>
              </a:rPr>
              <a:t>5-5 </a:t>
            </a:r>
            <a:r>
              <a:rPr lang="zh-CN" altLang="en-US" sz="3200" b="1" dirty="0" smtClean="0">
                <a:solidFill>
                  <a:srgbClr val="0000FF"/>
                </a:solidFill>
              </a:rPr>
              <a:t>能</a:t>
            </a:r>
            <a:r>
              <a:rPr lang="zh-CN" altLang="en-US" sz="3200" b="1" dirty="0">
                <a:solidFill>
                  <a:srgbClr val="0000FF"/>
                </a:solidFill>
              </a:rPr>
              <a:t>量均</a:t>
            </a:r>
            <a:r>
              <a:rPr lang="zh-CN" altLang="en-US" sz="3200" b="1" dirty="0" smtClean="0">
                <a:solidFill>
                  <a:srgbClr val="0000FF"/>
                </a:solidFill>
              </a:rPr>
              <a:t>分定理与理想气体的内能</a:t>
            </a:r>
            <a:endParaRPr lang="zh-CN" altLang="en-US" sz="3200" b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5"/>
          <p:cNvSpPr txBox="1">
            <a:spLocks noChangeArrowheads="1"/>
          </p:cNvSpPr>
          <p:nvPr/>
        </p:nvSpPr>
        <p:spPr bwMode="auto">
          <a:xfrm>
            <a:off x="323528" y="908720"/>
            <a:ext cx="7661275" cy="584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CC0000"/>
                </a:solidFill>
              </a:rPr>
              <a:t>一   测定气体分子速率分布的实验</a:t>
            </a:r>
          </a:p>
        </p:txBody>
      </p:sp>
      <p:sp>
        <p:nvSpPr>
          <p:cNvPr id="4144" name="TextBox 53"/>
          <p:cNvSpPr txBox="1">
            <a:spLocks noChangeArrowheads="1"/>
          </p:cNvSpPr>
          <p:nvPr/>
        </p:nvSpPr>
        <p:spPr bwMode="auto">
          <a:xfrm>
            <a:off x="731907" y="188913"/>
            <a:ext cx="7800533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600" b="1" dirty="0"/>
              <a:t>§5-3</a:t>
            </a:r>
            <a:r>
              <a:rPr lang="zh-CN" altLang="en-US" sz="3600" b="1" dirty="0"/>
              <a:t>气体分子热运动的速率分布规律</a:t>
            </a:r>
          </a:p>
        </p:txBody>
      </p:sp>
      <p:sp>
        <p:nvSpPr>
          <p:cNvPr id="57" name="Text Box 4"/>
          <p:cNvSpPr txBox="1">
            <a:spLocks noChangeArrowheads="1"/>
          </p:cNvSpPr>
          <p:nvPr/>
        </p:nvSpPr>
        <p:spPr bwMode="auto">
          <a:xfrm>
            <a:off x="679457" y="1792313"/>
            <a:ext cx="2982913" cy="588963"/>
          </a:xfrm>
          <a:prstGeom prst="rect">
            <a:avLst/>
          </a:prstGeom>
          <a:gradFill rotWithShape="0">
            <a:gsLst>
              <a:gs pos="0">
                <a:schemeClr val="accent1">
                  <a:alpha val="33000"/>
                </a:schemeClr>
              </a:gs>
              <a:gs pos="50000">
                <a:srgbClr val="FFFFFF"/>
              </a:gs>
              <a:gs pos="100000">
                <a:schemeClr val="accent1">
                  <a:alpha val="9000"/>
                </a:schemeClr>
              </a:gs>
            </a:gsLst>
            <a:lin ang="5400000" scaled="1"/>
          </a:gradFill>
          <a:ln w="952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zh-CN" altLang="en-US" sz="3200" b="1">
                <a:solidFill>
                  <a:srgbClr val="000000"/>
                </a:solidFill>
                <a:latin typeface="Times New Roman" pitchFamily="18" charset="0"/>
              </a:rPr>
              <a:t>实验装置</a:t>
            </a:r>
          </a:p>
        </p:txBody>
      </p:sp>
      <p:grpSp>
        <p:nvGrpSpPr>
          <p:cNvPr id="59" name="Group 6"/>
          <p:cNvGrpSpPr>
            <a:grpSpLocks/>
          </p:cNvGrpSpPr>
          <p:nvPr/>
        </p:nvGrpSpPr>
        <p:grpSpPr bwMode="auto">
          <a:xfrm>
            <a:off x="1054107" y="2771800"/>
            <a:ext cx="1258888" cy="3124200"/>
            <a:chOff x="672" y="1824"/>
            <a:chExt cx="793" cy="1968"/>
          </a:xfrm>
        </p:grpSpPr>
        <p:graphicFrame>
          <p:nvGraphicFramePr>
            <p:cNvPr id="60" name="Object 7"/>
            <p:cNvGraphicFramePr>
              <a:graphicFrameLocks noChangeAspect="1"/>
            </p:cNvGraphicFramePr>
            <p:nvPr/>
          </p:nvGraphicFramePr>
          <p:xfrm>
            <a:off x="672" y="2400"/>
            <a:ext cx="793" cy="1392"/>
          </p:xfrm>
          <a:graphic>
            <a:graphicData uri="http://schemas.openxmlformats.org/presentationml/2006/ole">
              <p:oleObj spid="_x0000_s4151" name="Equation" r:id="rId3" imgW="736600" imgH="1295400" progId="Equation.3">
                <p:embed/>
              </p:oleObj>
            </a:graphicData>
          </a:graphic>
        </p:graphicFrame>
        <p:graphicFrame>
          <p:nvGraphicFramePr>
            <p:cNvPr id="61" name="Object 8"/>
            <p:cNvGraphicFramePr>
              <a:graphicFrameLocks noChangeAspect="1"/>
            </p:cNvGraphicFramePr>
            <p:nvPr/>
          </p:nvGraphicFramePr>
          <p:xfrm>
            <a:off x="672" y="1824"/>
            <a:ext cx="766" cy="375"/>
          </p:xfrm>
          <a:graphic>
            <a:graphicData uri="http://schemas.openxmlformats.org/presentationml/2006/ole">
              <p:oleObj spid="_x0000_s4152" name="Equation" r:id="rId4" imgW="647419" imgH="317362" progId="Equation.3">
                <p:embed/>
              </p:oleObj>
            </a:graphicData>
          </a:graphic>
        </p:graphicFrame>
      </p:grpSp>
      <p:sp>
        <p:nvSpPr>
          <p:cNvPr id="62" name="AutoShape 10"/>
          <p:cNvSpPr>
            <a:spLocks noChangeArrowheads="1"/>
          </p:cNvSpPr>
          <p:nvPr/>
        </p:nvSpPr>
        <p:spPr bwMode="auto">
          <a:xfrm rot="5380271" flipH="1">
            <a:off x="2862269" y="4151338"/>
            <a:ext cx="3127375" cy="800100"/>
          </a:xfrm>
          <a:prstGeom prst="parallelogram">
            <a:avLst>
              <a:gd name="adj" fmla="val 88562"/>
            </a:avLst>
          </a:prstGeom>
          <a:solidFill>
            <a:schemeClr val="bg1">
              <a:lumMod val="50000"/>
            </a:schemeClr>
          </a:solidFill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b="1"/>
          </a:p>
        </p:txBody>
      </p:sp>
      <p:sp>
        <p:nvSpPr>
          <p:cNvPr id="63" name="AutoShape 11"/>
          <p:cNvSpPr>
            <a:spLocks noChangeArrowheads="1"/>
          </p:cNvSpPr>
          <p:nvPr/>
        </p:nvSpPr>
        <p:spPr bwMode="auto">
          <a:xfrm rot="5380271" flipH="1">
            <a:off x="3892081" y="3755482"/>
            <a:ext cx="1119188" cy="45719"/>
          </a:xfrm>
          <a:prstGeom prst="parallelogram">
            <a:avLst>
              <a:gd name="adj" fmla="val 193834"/>
            </a:avLst>
          </a:prstGeom>
          <a:solidFill>
            <a:schemeClr val="bg1"/>
          </a:solidFill>
          <a:ln w="1905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b="1"/>
          </a:p>
        </p:txBody>
      </p:sp>
      <p:sp>
        <p:nvSpPr>
          <p:cNvPr id="64" name="AutoShape 12"/>
          <p:cNvSpPr>
            <a:spLocks noChangeArrowheads="1"/>
          </p:cNvSpPr>
          <p:nvPr/>
        </p:nvSpPr>
        <p:spPr bwMode="auto">
          <a:xfrm rot="5401630">
            <a:off x="4826007" y="4130700"/>
            <a:ext cx="152400" cy="762000"/>
          </a:xfrm>
          <a:prstGeom prst="can">
            <a:avLst>
              <a:gd name="adj" fmla="val 52083"/>
            </a:avLst>
          </a:prstGeom>
          <a:gradFill rotWithShape="0">
            <a:gsLst>
              <a:gs pos="0">
                <a:srgbClr val="475E00"/>
              </a:gs>
              <a:gs pos="50000">
                <a:srgbClr val="99CC00"/>
              </a:gs>
              <a:gs pos="100000">
                <a:srgbClr val="475E00"/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b="1"/>
          </a:p>
        </p:txBody>
      </p:sp>
      <p:sp>
        <p:nvSpPr>
          <p:cNvPr id="65" name="Oval 13"/>
          <p:cNvSpPr>
            <a:spLocks noChangeArrowheads="1"/>
          </p:cNvSpPr>
          <p:nvPr/>
        </p:nvSpPr>
        <p:spPr bwMode="auto">
          <a:xfrm>
            <a:off x="5207007" y="3444900"/>
            <a:ext cx="609600" cy="1905000"/>
          </a:xfrm>
          <a:prstGeom prst="ellipse">
            <a:avLst/>
          </a:prstGeom>
          <a:solidFill>
            <a:schemeClr val="bg1">
              <a:lumMod val="50000"/>
            </a:schemeClr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b="1"/>
          </a:p>
        </p:txBody>
      </p:sp>
      <p:sp>
        <p:nvSpPr>
          <p:cNvPr id="66" name="AutoShape 14"/>
          <p:cNvSpPr>
            <a:spLocks noChangeArrowheads="1"/>
          </p:cNvSpPr>
          <p:nvPr/>
        </p:nvSpPr>
        <p:spPr bwMode="auto">
          <a:xfrm rot="5401630">
            <a:off x="5816607" y="4130700"/>
            <a:ext cx="152400" cy="762000"/>
          </a:xfrm>
          <a:prstGeom prst="can">
            <a:avLst>
              <a:gd name="adj" fmla="val 52083"/>
            </a:avLst>
          </a:prstGeom>
          <a:gradFill rotWithShape="0">
            <a:gsLst>
              <a:gs pos="0">
                <a:srgbClr val="475E00"/>
              </a:gs>
              <a:gs pos="50000">
                <a:srgbClr val="99CC00"/>
              </a:gs>
              <a:gs pos="100000">
                <a:srgbClr val="475E00"/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b="1"/>
          </a:p>
        </p:txBody>
      </p:sp>
      <p:sp>
        <p:nvSpPr>
          <p:cNvPr id="67" name="Oval 15"/>
          <p:cNvSpPr>
            <a:spLocks noChangeArrowheads="1"/>
          </p:cNvSpPr>
          <p:nvPr/>
        </p:nvSpPr>
        <p:spPr bwMode="auto">
          <a:xfrm>
            <a:off x="6121407" y="3444900"/>
            <a:ext cx="609600" cy="1905000"/>
          </a:xfrm>
          <a:prstGeom prst="ellipse">
            <a:avLst/>
          </a:prstGeom>
          <a:solidFill>
            <a:schemeClr val="bg1">
              <a:lumMod val="50000"/>
            </a:schemeClr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b="1"/>
          </a:p>
        </p:txBody>
      </p:sp>
      <p:sp>
        <p:nvSpPr>
          <p:cNvPr id="68" name="AutoShape 16"/>
          <p:cNvSpPr>
            <a:spLocks noChangeArrowheads="1"/>
          </p:cNvSpPr>
          <p:nvPr/>
        </p:nvSpPr>
        <p:spPr bwMode="auto">
          <a:xfrm rot="8735512">
            <a:off x="6251594" y="3850321"/>
            <a:ext cx="61846" cy="658813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1905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b="1"/>
          </a:p>
        </p:txBody>
      </p:sp>
      <p:sp>
        <p:nvSpPr>
          <p:cNvPr id="69" name="AutoShape 19"/>
          <p:cNvSpPr>
            <a:spLocks noChangeArrowheads="1"/>
          </p:cNvSpPr>
          <p:nvPr/>
        </p:nvSpPr>
        <p:spPr bwMode="auto">
          <a:xfrm>
            <a:off x="2616207" y="2467000"/>
            <a:ext cx="5791200" cy="3657600"/>
          </a:xfrm>
          <a:prstGeom prst="cube">
            <a:avLst>
              <a:gd name="adj" fmla="val 2500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b="1"/>
          </a:p>
        </p:txBody>
      </p:sp>
      <p:sp>
        <p:nvSpPr>
          <p:cNvPr id="70" name="Line 20"/>
          <p:cNvSpPr>
            <a:spLocks noChangeShapeType="1"/>
          </p:cNvSpPr>
          <p:nvPr/>
        </p:nvSpPr>
        <p:spPr bwMode="auto">
          <a:xfrm flipH="1">
            <a:off x="3495682" y="2444775"/>
            <a:ext cx="41275" cy="278765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zh-CN" altLang="en-US" b="1"/>
          </a:p>
        </p:txBody>
      </p:sp>
      <p:sp>
        <p:nvSpPr>
          <p:cNvPr id="71" name="Line 21"/>
          <p:cNvSpPr>
            <a:spLocks noChangeShapeType="1"/>
          </p:cNvSpPr>
          <p:nvPr/>
        </p:nvSpPr>
        <p:spPr bwMode="auto">
          <a:xfrm>
            <a:off x="3554420" y="5210200"/>
            <a:ext cx="48768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zh-CN" altLang="en-US" b="1"/>
          </a:p>
        </p:txBody>
      </p:sp>
      <p:sp>
        <p:nvSpPr>
          <p:cNvPr id="72" name="Line 22"/>
          <p:cNvSpPr>
            <a:spLocks noChangeShapeType="1"/>
          </p:cNvSpPr>
          <p:nvPr/>
        </p:nvSpPr>
        <p:spPr bwMode="auto">
          <a:xfrm flipH="1">
            <a:off x="2601920" y="5210200"/>
            <a:ext cx="914400" cy="9144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zh-CN" altLang="en-US" b="1"/>
          </a:p>
        </p:txBody>
      </p:sp>
      <p:sp>
        <p:nvSpPr>
          <p:cNvPr id="73" name="AutoShape 23"/>
          <p:cNvSpPr>
            <a:spLocks noChangeArrowheads="1"/>
          </p:cNvSpPr>
          <p:nvPr/>
        </p:nvSpPr>
        <p:spPr bwMode="auto">
          <a:xfrm>
            <a:off x="2806707" y="3749700"/>
            <a:ext cx="876300" cy="533400"/>
          </a:xfrm>
          <a:prstGeom prst="roundRect">
            <a:avLst>
              <a:gd name="adj" fmla="val 26667"/>
            </a:avLst>
          </a:prstGeom>
          <a:gradFill rotWithShape="0">
            <a:gsLst>
              <a:gs pos="0">
                <a:srgbClr val="B2B2B2"/>
              </a:gs>
              <a:gs pos="50000">
                <a:schemeClr val="bg1"/>
              </a:gs>
              <a:gs pos="100000">
                <a:srgbClr val="B2B2B2"/>
              </a:gs>
            </a:gsLst>
            <a:lin ang="5400000" scaled="1"/>
          </a:gradFill>
          <a:ln w="19050">
            <a:solidFill>
              <a:srgbClr val="5F5F5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b="1"/>
          </a:p>
        </p:txBody>
      </p:sp>
      <p:sp>
        <p:nvSpPr>
          <p:cNvPr id="74" name="AutoShape 24"/>
          <p:cNvSpPr>
            <a:spLocks noChangeArrowheads="1"/>
          </p:cNvSpPr>
          <p:nvPr/>
        </p:nvSpPr>
        <p:spPr bwMode="auto">
          <a:xfrm rot="10734736">
            <a:off x="5482828" y="3423687"/>
            <a:ext cx="55742" cy="1015195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1905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b="1"/>
          </a:p>
        </p:txBody>
      </p:sp>
      <p:sp>
        <p:nvSpPr>
          <p:cNvPr id="75" name="AutoShape 28"/>
          <p:cNvSpPr>
            <a:spLocks noChangeArrowheads="1"/>
          </p:cNvSpPr>
          <p:nvPr/>
        </p:nvSpPr>
        <p:spPr bwMode="auto">
          <a:xfrm rot="8170170">
            <a:off x="7169157" y="3589363"/>
            <a:ext cx="1543050" cy="725487"/>
          </a:xfrm>
          <a:prstGeom prst="parallelogram">
            <a:avLst>
              <a:gd name="adj" fmla="val 96016"/>
            </a:avLst>
          </a:prstGeom>
          <a:solidFill>
            <a:srgbClr val="CC00FF">
              <a:alpha val="50195"/>
            </a:srgbClr>
          </a:solidFill>
          <a:ln w="19050">
            <a:solidFill>
              <a:srgbClr val="CC00FF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b="1"/>
          </a:p>
        </p:txBody>
      </p:sp>
      <p:sp>
        <p:nvSpPr>
          <p:cNvPr id="76" name="AutoShape 29"/>
          <p:cNvSpPr>
            <a:spLocks noChangeArrowheads="1"/>
          </p:cNvSpPr>
          <p:nvPr/>
        </p:nvSpPr>
        <p:spPr bwMode="auto">
          <a:xfrm>
            <a:off x="5130807" y="2314600"/>
            <a:ext cx="304800" cy="533400"/>
          </a:xfrm>
          <a:prstGeom prst="can">
            <a:avLst>
              <a:gd name="adj" fmla="val 43750"/>
            </a:avLst>
          </a:prstGeom>
          <a:gradFill rotWithShape="0">
            <a:gsLst>
              <a:gs pos="0">
                <a:schemeClr val="bg1">
                  <a:gamma/>
                  <a:shade val="66275"/>
                  <a:invGamma/>
                </a:schemeClr>
              </a:gs>
              <a:gs pos="50000">
                <a:schemeClr val="bg1"/>
              </a:gs>
              <a:gs pos="100000">
                <a:schemeClr val="bg1">
                  <a:gamma/>
                  <a:shade val="66275"/>
                  <a:invGamma/>
                </a:schemeClr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b="1"/>
          </a:p>
        </p:txBody>
      </p:sp>
      <p:sp>
        <p:nvSpPr>
          <p:cNvPr id="77" name="AutoShape 30"/>
          <p:cNvSpPr>
            <a:spLocks noChangeArrowheads="1"/>
          </p:cNvSpPr>
          <p:nvPr/>
        </p:nvSpPr>
        <p:spPr bwMode="auto">
          <a:xfrm>
            <a:off x="6807207" y="2314600"/>
            <a:ext cx="304800" cy="533400"/>
          </a:xfrm>
          <a:prstGeom prst="can">
            <a:avLst>
              <a:gd name="adj" fmla="val 43750"/>
            </a:avLst>
          </a:prstGeom>
          <a:gradFill rotWithShape="0">
            <a:gsLst>
              <a:gs pos="0">
                <a:schemeClr val="bg1">
                  <a:gamma/>
                  <a:shade val="66275"/>
                  <a:invGamma/>
                </a:schemeClr>
              </a:gs>
              <a:gs pos="50000">
                <a:schemeClr val="bg1"/>
              </a:gs>
              <a:gs pos="100000">
                <a:schemeClr val="bg1">
                  <a:gamma/>
                  <a:shade val="66275"/>
                  <a:invGamma/>
                </a:schemeClr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b="1"/>
          </a:p>
        </p:txBody>
      </p:sp>
      <p:sp>
        <p:nvSpPr>
          <p:cNvPr id="78" name="Line 31"/>
          <p:cNvSpPr>
            <a:spLocks noChangeShapeType="1"/>
          </p:cNvSpPr>
          <p:nvPr/>
        </p:nvSpPr>
        <p:spPr bwMode="auto">
          <a:xfrm>
            <a:off x="5511807" y="5349900"/>
            <a:ext cx="0" cy="609600"/>
          </a:xfrm>
          <a:prstGeom prst="line">
            <a:avLst/>
          </a:prstGeom>
          <a:noFill/>
          <a:ln w="19050">
            <a:solidFill>
              <a:srgbClr val="0000FF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zh-CN" altLang="en-US" b="1"/>
          </a:p>
        </p:txBody>
      </p:sp>
      <p:sp>
        <p:nvSpPr>
          <p:cNvPr id="79" name="Line 32"/>
          <p:cNvSpPr>
            <a:spLocks noChangeShapeType="1"/>
          </p:cNvSpPr>
          <p:nvPr/>
        </p:nvSpPr>
        <p:spPr bwMode="auto">
          <a:xfrm>
            <a:off x="6426207" y="5349900"/>
            <a:ext cx="0" cy="609600"/>
          </a:xfrm>
          <a:prstGeom prst="line">
            <a:avLst/>
          </a:prstGeom>
          <a:noFill/>
          <a:ln w="19050">
            <a:solidFill>
              <a:srgbClr val="0000FF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zh-CN" altLang="en-US" b="1"/>
          </a:p>
        </p:txBody>
      </p:sp>
      <p:sp>
        <p:nvSpPr>
          <p:cNvPr id="80" name="Line 33"/>
          <p:cNvSpPr>
            <a:spLocks noChangeShapeType="1"/>
          </p:cNvSpPr>
          <p:nvPr/>
        </p:nvSpPr>
        <p:spPr bwMode="auto">
          <a:xfrm>
            <a:off x="5511807" y="5807100"/>
            <a:ext cx="914400" cy="0"/>
          </a:xfrm>
          <a:prstGeom prst="line">
            <a:avLst/>
          </a:prstGeom>
          <a:noFill/>
          <a:ln w="12700">
            <a:solidFill>
              <a:srgbClr val="FF0066"/>
            </a:solidFill>
            <a:prstDash val="dash"/>
            <a:round/>
            <a:headEnd type="triangle" w="sm" len="lg"/>
            <a:tailEnd type="triangle" w="sm" len="lg"/>
          </a:ln>
        </p:spPr>
        <p:txBody>
          <a:bodyPr wrap="none" anchor="ctr"/>
          <a:lstStyle/>
          <a:p>
            <a:endParaRPr lang="zh-CN" altLang="en-US" b="1"/>
          </a:p>
        </p:txBody>
      </p:sp>
      <p:sp>
        <p:nvSpPr>
          <p:cNvPr id="81" name="Line 34"/>
          <p:cNvSpPr>
            <a:spLocks noChangeShapeType="1"/>
          </p:cNvSpPr>
          <p:nvPr/>
        </p:nvSpPr>
        <p:spPr bwMode="auto">
          <a:xfrm>
            <a:off x="3683007" y="3978300"/>
            <a:ext cx="342900" cy="0"/>
          </a:xfrm>
          <a:prstGeom prst="line">
            <a:avLst/>
          </a:prstGeom>
          <a:noFill/>
          <a:ln w="38100">
            <a:solidFill>
              <a:srgbClr val="0000FF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zh-CN" altLang="en-US" b="1"/>
          </a:p>
        </p:txBody>
      </p:sp>
      <p:sp>
        <p:nvSpPr>
          <p:cNvPr id="82" name="Line 35"/>
          <p:cNvSpPr>
            <a:spLocks noChangeShapeType="1"/>
          </p:cNvSpPr>
          <p:nvPr/>
        </p:nvSpPr>
        <p:spPr bwMode="auto">
          <a:xfrm>
            <a:off x="4445007" y="3978300"/>
            <a:ext cx="762000" cy="0"/>
          </a:xfrm>
          <a:prstGeom prst="line">
            <a:avLst/>
          </a:prstGeom>
          <a:noFill/>
          <a:ln w="38100">
            <a:solidFill>
              <a:srgbClr val="0000FF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zh-CN" altLang="en-US" b="1"/>
          </a:p>
        </p:txBody>
      </p:sp>
      <p:sp>
        <p:nvSpPr>
          <p:cNvPr id="83" name="Line 36"/>
          <p:cNvSpPr>
            <a:spLocks noChangeShapeType="1"/>
          </p:cNvSpPr>
          <p:nvPr/>
        </p:nvSpPr>
        <p:spPr bwMode="auto">
          <a:xfrm>
            <a:off x="5511807" y="3978300"/>
            <a:ext cx="2411413" cy="0"/>
          </a:xfrm>
          <a:prstGeom prst="line">
            <a:avLst/>
          </a:prstGeom>
          <a:noFill/>
          <a:ln w="38100">
            <a:solidFill>
              <a:srgbClr val="0000FF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zh-CN" altLang="en-US" b="1"/>
          </a:p>
        </p:txBody>
      </p:sp>
      <p:sp>
        <p:nvSpPr>
          <p:cNvPr id="84" name="Line 37"/>
          <p:cNvSpPr>
            <a:spLocks noChangeShapeType="1"/>
          </p:cNvSpPr>
          <p:nvPr/>
        </p:nvSpPr>
        <p:spPr bwMode="auto">
          <a:xfrm>
            <a:off x="3683007" y="4054500"/>
            <a:ext cx="342900" cy="0"/>
          </a:xfrm>
          <a:prstGeom prst="line">
            <a:avLst/>
          </a:prstGeom>
          <a:noFill/>
          <a:ln w="38100">
            <a:solidFill>
              <a:srgbClr val="0000FF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zh-CN" altLang="en-US" b="1"/>
          </a:p>
        </p:txBody>
      </p:sp>
      <p:sp>
        <p:nvSpPr>
          <p:cNvPr id="85" name="Line 38"/>
          <p:cNvSpPr>
            <a:spLocks noChangeShapeType="1"/>
          </p:cNvSpPr>
          <p:nvPr/>
        </p:nvSpPr>
        <p:spPr bwMode="auto">
          <a:xfrm>
            <a:off x="4445007" y="4054500"/>
            <a:ext cx="762000" cy="0"/>
          </a:xfrm>
          <a:prstGeom prst="line">
            <a:avLst/>
          </a:prstGeom>
          <a:noFill/>
          <a:ln w="38100">
            <a:solidFill>
              <a:srgbClr val="0000FF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zh-CN" altLang="en-US" b="1"/>
          </a:p>
        </p:txBody>
      </p:sp>
      <p:sp>
        <p:nvSpPr>
          <p:cNvPr id="86" name="Line 39"/>
          <p:cNvSpPr>
            <a:spLocks noChangeShapeType="1"/>
          </p:cNvSpPr>
          <p:nvPr/>
        </p:nvSpPr>
        <p:spPr bwMode="auto">
          <a:xfrm>
            <a:off x="5511807" y="4054500"/>
            <a:ext cx="2411413" cy="0"/>
          </a:xfrm>
          <a:prstGeom prst="line">
            <a:avLst/>
          </a:prstGeom>
          <a:noFill/>
          <a:ln w="38100">
            <a:solidFill>
              <a:srgbClr val="0000FF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zh-CN" altLang="en-US" b="1"/>
          </a:p>
        </p:txBody>
      </p:sp>
      <p:sp>
        <p:nvSpPr>
          <p:cNvPr id="87" name="Line 40"/>
          <p:cNvSpPr>
            <a:spLocks noChangeShapeType="1"/>
          </p:cNvSpPr>
          <p:nvPr/>
        </p:nvSpPr>
        <p:spPr bwMode="auto">
          <a:xfrm>
            <a:off x="3683007" y="3902100"/>
            <a:ext cx="342900" cy="0"/>
          </a:xfrm>
          <a:prstGeom prst="line">
            <a:avLst/>
          </a:prstGeom>
          <a:noFill/>
          <a:ln w="38100">
            <a:solidFill>
              <a:srgbClr val="0000FF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zh-CN" altLang="en-US" b="1"/>
          </a:p>
        </p:txBody>
      </p:sp>
      <p:sp>
        <p:nvSpPr>
          <p:cNvPr id="88" name="Line 41"/>
          <p:cNvSpPr>
            <a:spLocks noChangeShapeType="1"/>
          </p:cNvSpPr>
          <p:nvPr/>
        </p:nvSpPr>
        <p:spPr bwMode="auto">
          <a:xfrm>
            <a:off x="4445007" y="3902100"/>
            <a:ext cx="762000" cy="0"/>
          </a:xfrm>
          <a:prstGeom prst="line">
            <a:avLst/>
          </a:prstGeom>
          <a:noFill/>
          <a:ln w="38100">
            <a:solidFill>
              <a:srgbClr val="0000FF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zh-CN" altLang="en-US" b="1"/>
          </a:p>
        </p:txBody>
      </p:sp>
      <p:sp>
        <p:nvSpPr>
          <p:cNvPr id="89" name="Line 42"/>
          <p:cNvSpPr>
            <a:spLocks noChangeShapeType="1"/>
          </p:cNvSpPr>
          <p:nvPr/>
        </p:nvSpPr>
        <p:spPr bwMode="auto">
          <a:xfrm>
            <a:off x="5511807" y="3902100"/>
            <a:ext cx="2411413" cy="0"/>
          </a:xfrm>
          <a:prstGeom prst="line">
            <a:avLst/>
          </a:prstGeom>
          <a:noFill/>
          <a:ln w="38100">
            <a:solidFill>
              <a:srgbClr val="0000FF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zh-CN" altLang="en-US" b="1"/>
          </a:p>
        </p:txBody>
      </p:sp>
      <p:graphicFrame>
        <p:nvGraphicFramePr>
          <p:cNvPr id="90" name="Object 43"/>
          <p:cNvGraphicFramePr>
            <a:graphicFrameLocks noChangeAspect="1"/>
          </p:cNvGraphicFramePr>
          <p:nvPr/>
        </p:nvGraphicFramePr>
        <p:xfrm>
          <a:off x="5816607" y="5654700"/>
          <a:ext cx="238125" cy="533400"/>
        </p:xfrm>
        <a:graphic>
          <a:graphicData uri="http://schemas.openxmlformats.org/presentationml/2006/ole">
            <p:oleObj spid="_x0000_s4153" name="公式" r:id="rId5" imgW="114201" imgH="253780" progId="Equation.3">
              <p:embed/>
            </p:oleObj>
          </a:graphicData>
        </a:graphic>
      </p:graphicFrame>
      <p:graphicFrame>
        <p:nvGraphicFramePr>
          <p:cNvPr id="91" name="Object 44"/>
          <p:cNvGraphicFramePr>
            <a:graphicFrameLocks noChangeAspect="1"/>
          </p:cNvGraphicFramePr>
          <p:nvPr/>
        </p:nvGraphicFramePr>
        <p:xfrm>
          <a:off x="3051182" y="3825900"/>
          <a:ext cx="477838" cy="390525"/>
        </p:xfrm>
        <a:graphic>
          <a:graphicData uri="http://schemas.openxmlformats.org/presentationml/2006/ole">
            <p:oleObj spid="_x0000_s4154" name="Equation" r:id="rId6" imgW="355446" imgH="291973" progId="Equation.3">
              <p:embed/>
            </p:oleObj>
          </a:graphicData>
        </a:graphic>
      </p:graphicFrame>
      <p:sp>
        <p:nvSpPr>
          <p:cNvPr id="92" name="Text Box 45"/>
          <p:cNvSpPr txBox="1">
            <a:spLocks noChangeArrowheads="1"/>
          </p:cNvSpPr>
          <p:nvPr/>
        </p:nvSpPr>
        <p:spPr bwMode="auto">
          <a:xfrm>
            <a:off x="2578107" y="4283100"/>
            <a:ext cx="2286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>
                <a:solidFill>
                  <a:srgbClr val="010000"/>
                </a:solidFill>
                <a:latin typeface="Times New Roman" pitchFamily="18" charset="0"/>
              </a:rPr>
              <a:t>金属蒸气</a:t>
            </a:r>
            <a:endParaRPr lang="zh-CN" altLang="en-US" sz="2800" b="1">
              <a:solidFill>
                <a:srgbClr val="010000"/>
              </a:solidFill>
              <a:latin typeface="Times New Roman" pitchFamily="18" charset="0"/>
            </a:endParaRPr>
          </a:p>
        </p:txBody>
      </p:sp>
      <p:sp>
        <p:nvSpPr>
          <p:cNvPr id="93" name="Text Box 46"/>
          <p:cNvSpPr txBox="1">
            <a:spLocks noChangeArrowheads="1"/>
          </p:cNvSpPr>
          <p:nvPr/>
        </p:nvSpPr>
        <p:spPr bwMode="auto">
          <a:xfrm>
            <a:off x="7693429" y="4511700"/>
            <a:ext cx="615553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eaVert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rgbClr val="0000FF"/>
                </a:solidFill>
                <a:latin typeface="Times New Roman" pitchFamily="18" charset="0"/>
              </a:rPr>
              <a:t>显示屏</a:t>
            </a:r>
            <a:endParaRPr lang="zh-CN" altLang="en-US" sz="2800" b="1">
              <a:latin typeface="Times New Roman" pitchFamily="18" charset="0"/>
            </a:endParaRPr>
          </a:p>
        </p:txBody>
      </p:sp>
      <p:sp>
        <p:nvSpPr>
          <p:cNvPr id="94" name="Text Box 47"/>
          <p:cNvSpPr txBox="1">
            <a:spLocks noChangeArrowheads="1"/>
          </p:cNvSpPr>
          <p:nvPr/>
        </p:nvSpPr>
        <p:spPr bwMode="auto">
          <a:xfrm>
            <a:off x="4025907" y="4359300"/>
            <a:ext cx="7620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chemeClr val="bg1"/>
                </a:solidFill>
                <a:latin typeface="Times New Roman" pitchFamily="18" charset="0"/>
              </a:rPr>
              <a:t>狭缝</a:t>
            </a:r>
            <a:endParaRPr lang="zh-CN" altLang="en-US" sz="2800" b="1" dirty="0">
              <a:solidFill>
                <a:schemeClr val="bg1"/>
              </a:solidFill>
              <a:latin typeface="Times New Roman" pitchFamily="18" charset="0"/>
            </a:endParaRPr>
          </a:p>
        </p:txBody>
      </p:sp>
      <p:graphicFrame>
        <p:nvGraphicFramePr>
          <p:cNvPr id="95" name="Object 49"/>
          <p:cNvGraphicFramePr>
            <a:graphicFrameLocks noChangeAspect="1"/>
          </p:cNvGraphicFramePr>
          <p:nvPr/>
        </p:nvGraphicFramePr>
        <p:xfrm>
          <a:off x="6883407" y="4816500"/>
          <a:ext cx="411163" cy="365125"/>
        </p:xfrm>
        <a:graphic>
          <a:graphicData uri="http://schemas.openxmlformats.org/presentationml/2006/ole">
            <p:oleObj spid="_x0000_s4155" name="公式" r:id="rId7" imgW="215713" imgH="190335" progId="Equation.3">
              <p:embed/>
            </p:oleObj>
          </a:graphicData>
        </a:graphic>
      </p:graphicFrame>
      <p:sp>
        <p:nvSpPr>
          <p:cNvPr id="96" name="Line 50"/>
          <p:cNvSpPr>
            <a:spLocks noChangeShapeType="1"/>
          </p:cNvSpPr>
          <p:nvPr/>
        </p:nvSpPr>
        <p:spPr bwMode="auto">
          <a:xfrm flipH="1" flipV="1">
            <a:off x="5229231" y="4016400"/>
            <a:ext cx="282575" cy="418918"/>
          </a:xfrm>
          <a:prstGeom prst="line">
            <a:avLst/>
          </a:prstGeom>
          <a:noFill/>
          <a:ln w="19050">
            <a:solidFill>
              <a:schemeClr val="bg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zh-CN" altLang="en-US" b="1"/>
          </a:p>
        </p:txBody>
      </p:sp>
      <p:graphicFrame>
        <p:nvGraphicFramePr>
          <p:cNvPr id="97" name="Object 51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3607368519"/>
              </p:ext>
            </p:extLst>
          </p:nvPr>
        </p:nvGraphicFramePr>
        <p:xfrm>
          <a:off x="5310494" y="3940200"/>
          <a:ext cx="172103" cy="262807"/>
        </p:xfrm>
        <a:graphic>
          <a:graphicData uri="http://schemas.openxmlformats.org/presentationml/2006/ole">
            <p:oleObj spid="_x0000_s4156" name="Equation" r:id="rId8" imgW="139680" imgH="177480" progId="Equation.DSMT4">
              <p:embed/>
            </p:oleObj>
          </a:graphicData>
        </a:graphic>
      </p:graphicFrame>
      <p:grpSp>
        <p:nvGrpSpPr>
          <p:cNvPr id="98" name="Group 52"/>
          <p:cNvGrpSpPr>
            <a:grpSpLocks/>
          </p:cNvGrpSpPr>
          <p:nvPr/>
        </p:nvGrpSpPr>
        <p:grpSpPr bwMode="auto">
          <a:xfrm>
            <a:off x="5283207" y="1628800"/>
            <a:ext cx="2057400" cy="762000"/>
            <a:chOff x="3336" y="1056"/>
            <a:chExt cx="1296" cy="480"/>
          </a:xfrm>
        </p:grpSpPr>
        <p:sp>
          <p:nvSpPr>
            <p:cNvPr id="99" name="Freeform 53"/>
            <p:cNvSpPr>
              <a:spLocks/>
            </p:cNvSpPr>
            <p:nvPr/>
          </p:nvSpPr>
          <p:spPr bwMode="auto">
            <a:xfrm>
              <a:off x="3336" y="1056"/>
              <a:ext cx="1152" cy="480"/>
            </a:xfrm>
            <a:custGeom>
              <a:avLst/>
              <a:gdLst>
                <a:gd name="T0" fmla="*/ 0 w 1152"/>
                <a:gd name="T1" fmla="*/ 480 h 480"/>
                <a:gd name="T2" fmla="*/ 96 w 1152"/>
                <a:gd name="T3" fmla="*/ 336 h 480"/>
                <a:gd name="T4" fmla="*/ 96 w 1152"/>
                <a:gd name="T5" fmla="*/ 0 h 480"/>
                <a:gd name="T6" fmla="*/ 1152 w 1152"/>
                <a:gd name="T7" fmla="*/ 0 h 480"/>
                <a:gd name="T8" fmla="*/ 1152 w 1152"/>
                <a:gd name="T9" fmla="*/ 336 h 480"/>
                <a:gd name="T10" fmla="*/ 1104 w 1152"/>
                <a:gd name="T11" fmla="*/ 336 h 480"/>
                <a:gd name="T12" fmla="*/ 1056 w 1152"/>
                <a:gd name="T13" fmla="*/ 480 h 480"/>
                <a:gd name="T14" fmla="*/ 1008 w 1152"/>
                <a:gd name="T15" fmla="*/ 336 h 480"/>
                <a:gd name="T16" fmla="*/ 240 w 1152"/>
                <a:gd name="T17" fmla="*/ 336 h 480"/>
                <a:gd name="T18" fmla="*/ 0 w 1152"/>
                <a:gd name="T19" fmla="*/ 480 h 48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152"/>
                <a:gd name="T31" fmla="*/ 0 h 480"/>
                <a:gd name="T32" fmla="*/ 1152 w 1152"/>
                <a:gd name="T33" fmla="*/ 480 h 48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152" h="480">
                  <a:moveTo>
                    <a:pt x="0" y="480"/>
                  </a:moveTo>
                  <a:lnTo>
                    <a:pt x="96" y="336"/>
                  </a:lnTo>
                  <a:lnTo>
                    <a:pt x="96" y="0"/>
                  </a:lnTo>
                  <a:lnTo>
                    <a:pt x="1152" y="0"/>
                  </a:lnTo>
                  <a:lnTo>
                    <a:pt x="1152" y="336"/>
                  </a:lnTo>
                  <a:lnTo>
                    <a:pt x="1104" y="336"/>
                  </a:lnTo>
                  <a:lnTo>
                    <a:pt x="1056" y="480"/>
                  </a:lnTo>
                  <a:lnTo>
                    <a:pt x="1008" y="336"/>
                  </a:lnTo>
                  <a:lnTo>
                    <a:pt x="240" y="336"/>
                  </a:lnTo>
                  <a:lnTo>
                    <a:pt x="0" y="480"/>
                  </a:lnTo>
                  <a:close/>
                </a:path>
              </a:pathLst>
            </a:custGeom>
            <a:gradFill rotWithShape="0">
              <a:gsLst>
                <a:gs pos="0">
                  <a:srgbClr val="FFFFFF"/>
                </a:gs>
                <a:gs pos="100000">
                  <a:schemeClr val="accent1"/>
                </a:gs>
              </a:gsLst>
              <a:lin ang="5400000" scaled="1"/>
            </a:gradFill>
            <a:ln w="12700" cmpd="sng">
              <a:solidFill>
                <a:schemeClr val="tx2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b="1"/>
            </a:p>
          </p:txBody>
        </p:sp>
        <p:sp>
          <p:nvSpPr>
            <p:cNvPr id="100" name="Text Box 54"/>
            <p:cNvSpPr txBox="1">
              <a:spLocks noChangeArrowheads="1"/>
            </p:cNvSpPr>
            <p:nvPr/>
          </p:nvSpPr>
          <p:spPr bwMode="auto">
            <a:xfrm>
              <a:off x="3432" y="1056"/>
              <a:ext cx="1200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>
                  <a:solidFill>
                    <a:srgbClr val="000000"/>
                  </a:solidFill>
                  <a:latin typeface="Times New Roman" pitchFamily="18" charset="0"/>
                </a:rPr>
                <a:t>接抽气泵</a:t>
              </a:r>
            </a:p>
          </p:txBody>
        </p:sp>
      </p:grpSp>
      <p:sp>
        <p:nvSpPr>
          <p:cNvPr id="101" name="AutoShape 14"/>
          <p:cNvSpPr>
            <a:spLocks noChangeArrowheads="1"/>
          </p:cNvSpPr>
          <p:nvPr/>
        </p:nvSpPr>
        <p:spPr bwMode="auto">
          <a:xfrm rot="5401630">
            <a:off x="6749052" y="4130700"/>
            <a:ext cx="152400" cy="762000"/>
          </a:xfrm>
          <a:prstGeom prst="can">
            <a:avLst>
              <a:gd name="adj" fmla="val 52083"/>
            </a:avLst>
          </a:prstGeom>
          <a:gradFill rotWithShape="0">
            <a:gsLst>
              <a:gs pos="0">
                <a:srgbClr val="475E00"/>
              </a:gs>
              <a:gs pos="50000">
                <a:srgbClr val="99CC00"/>
              </a:gs>
              <a:gs pos="100000">
                <a:srgbClr val="475E00"/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b="1"/>
          </a:p>
        </p:txBody>
      </p:sp>
      <p:sp>
        <p:nvSpPr>
          <p:cNvPr id="102" name="Arc 48"/>
          <p:cNvSpPr>
            <a:spLocks/>
          </p:cNvSpPr>
          <p:nvPr/>
        </p:nvSpPr>
        <p:spPr bwMode="auto">
          <a:xfrm flipH="1">
            <a:off x="6985223" y="4206900"/>
            <a:ext cx="251080" cy="533400"/>
          </a:xfrm>
          <a:custGeom>
            <a:avLst/>
            <a:gdLst>
              <a:gd name="T0" fmla="*/ 5480592 w 38399"/>
              <a:gd name="T1" fmla="*/ 172480804 h 43200"/>
              <a:gd name="T2" fmla="*/ 0 w 38399"/>
              <a:gd name="T3" fmla="*/ 817614387 h 43200"/>
              <a:gd name="T4" fmla="*/ 182660010 w 38399"/>
              <a:gd name="T5" fmla="*/ 502030960 h 43200"/>
              <a:gd name="T6" fmla="*/ 0 60000 65536"/>
              <a:gd name="T7" fmla="*/ 0 60000 65536"/>
              <a:gd name="T8" fmla="*/ 0 60000 65536"/>
              <a:gd name="T9" fmla="*/ 0 w 38399"/>
              <a:gd name="T10" fmla="*/ 0 h 43200"/>
              <a:gd name="T11" fmla="*/ 38399 w 38399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8399" h="43200" fill="none" extrusionOk="0">
                <a:moveTo>
                  <a:pt x="504" y="7421"/>
                </a:moveTo>
                <a:cubicBezTo>
                  <a:pt x="4606" y="2706"/>
                  <a:pt x="10549" y="-1"/>
                  <a:pt x="16799" y="0"/>
                </a:cubicBezTo>
                <a:cubicBezTo>
                  <a:pt x="28728" y="0"/>
                  <a:pt x="38399" y="9670"/>
                  <a:pt x="38399" y="21600"/>
                </a:cubicBezTo>
                <a:cubicBezTo>
                  <a:pt x="38399" y="33529"/>
                  <a:pt x="28728" y="43200"/>
                  <a:pt x="16799" y="43200"/>
                </a:cubicBezTo>
                <a:cubicBezTo>
                  <a:pt x="10275" y="43200"/>
                  <a:pt x="4101" y="40251"/>
                  <a:pt x="0" y="35177"/>
                </a:cubicBezTo>
              </a:path>
              <a:path w="38399" h="43200" stroke="0" extrusionOk="0">
                <a:moveTo>
                  <a:pt x="504" y="7421"/>
                </a:moveTo>
                <a:cubicBezTo>
                  <a:pt x="4606" y="2706"/>
                  <a:pt x="10549" y="-1"/>
                  <a:pt x="16799" y="0"/>
                </a:cubicBezTo>
                <a:cubicBezTo>
                  <a:pt x="28728" y="0"/>
                  <a:pt x="38399" y="9670"/>
                  <a:pt x="38399" y="21600"/>
                </a:cubicBezTo>
                <a:cubicBezTo>
                  <a:pt x="38399" y="33529"/>
                  <a:pt x="28728" y="43200"/>
                  <a:pt x="16799" y="43200"/>
                </a:cubicBezTo>
                <a:cubicBezTo>
                  <a:pt x="10275" y="43200"/>
                  <a:pt x="4101" y="40251"/>
                  <a:pt x="0" y="35177"/>
                </a:cubicBezTo>
                <a:lnTo>
                  <a:pt x="16799" y="21600"/>
                </a:lnTo>
                <a:close/>
              </a:path>
            </a:pathLst>
          </a:custGeom>
          <a:noFill/>
          <a:ln w="9525">
            <a:solidFill>
              <a:srgbClr val="FF0000"/>
            </a:solidFill>
            <a:round/>
            <a:headEnd type="arrow" w="med" len="med"/>
            <a:tailEnd type="none" w="med" len="med"/>
          </a:ln>
        </p:spPr>
        <p:txBody>
          <a:bodyPr wrap="none" anchor="ctr"/>
          <a:lstStyle/>
          <a:p>
            <a:endParaRPr lang="zh-CN" altLang="en-US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9" name="Text Box 3"/>
          <p:cNvSpPr txBox="1">
            <a:spLocks noChangeArrowheads="1"/>
          </p:cNvSpPr>
          <p:nvPr/>
        </p:nvSpPr>
        <p:spPr bwMode="auto">
          <a:xfrm>
            <a:off x="682625" y="620688"/>
            <a:ext cx="3097213" cy="592138"/>
          </a:xfrm>
          <a:prstGeom prst="rect">
            <a:avLst/>
          </a:prstGeom>
          <a:gradFill rotWithShape="0">
            <a:gsLst>
              <a:gs pos="0">
                <a:srgbClr val="FFE1FF"/>
              </a:gs>
              <a:gs pos="50000">
                <a:srgbClr val="FFFFFF"/>
              </a:gs>
              <a:gs pos="100000">
                <a:srgbClr val="FFE1FF"/>
              </a:gs>
            </a:gsLst>
            <a:lin ang="5400000" scaled="1"/>
          </a:gradFill>
          <a:ln w="12700">
            <a:solidFill>
              <a:srgbClr val="CC00CC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3200" b="1">
                <a:solidFill>
                  <a:srgbClr val="A50021"/>
                </a:solidFill>
              </a:rPr>
              <a:t>分子速率分布图</a:t>
            </a:r>
          </a:p>
        </p:txBody>
      </p:sp>
      <p:grpSp>
        <p:nvGrpSpPr>
          <p:cNvPr id="2" name="Group 95"/>
          <p:cNvGrpSpPr>
            <a:grpSpLocks/>
          </p:cNvGrpSpPr>
          <p:nvPr/>
        </p:nvGrpSpPr>
        <p:grpSpPr bwMode="auto">
          <a:xfrm>
            <a:off x="4067175" y="620688"/>
            <a:ext cx="2479675" cy="579437"/>
            <a:chOff x="2562" y="661"/>
            <a:chExt cx="1562" cy="365"/>
          </a:xfrm>
        </p:grpSpPr>
        <p:graphicFrame>
          <p:nvGraphicFramePr>
            <p:cNvPr id="9228" name="Object 5"/>
            <p:cNvGraphicFramePr>
              <a:graphicFrameLocks noChangeAspect="1"/>
            </p:cNvGraphicFramePr>
            <p:nvPr/>
          </p:nvGraphicFramePr>
          <p:xfrm>
            <a:off x="2562" y="752"/>
            <a:ext cx="272" cy="258"/>
          </p:xfrm>
          <a:graphic>
            <a:graphicData uri="http://schemas.openxmlformats.org/presentationml/2006/ole">
              <p:oleObj spid="_x0000_s61442" name="公式" r:id="rId3" imgW="253890" imgH="241195" progId="Equation.3">
                <p:embed/>
              </p:oleObj>
            </a:graphicData>
          </a:graphic>
        </p:graphicFrame>
        <p:sp>
          <p:nvSpPr>
            <p:cNvPr id="9266" name="Text Box 6"/>
            <p:cNvSpPr txBox="1">
              <a:spLocks noChangeArrowheads="1"/>
            </p:cNvSpPr>
            <p:nvPr/>
          </p:nvSpPr>
          <p:spPr bwMode="auto">
            <a:xfrm>
              <a:off x="2847" y="661"/>
              <a:ext cx="1277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solidFill>
                    <a:srgbClr val="000000"/>
                  </a:solidFill>
                  <a:latin typeface="Times New Roman" pitchFamily="18" charset="0"/>
                </a:rPr>
                <a:t>:</a:t>
              </a:r>
              <a:r>
                <a:rPr lang="en-US" altLang="zh-CN" sz="2400" b="1" dirty="0">
                  <a:solidFill>
                    <a:srgbClr val="000000"/>
                  </a:solidFill>
                  <a:latin typeface="Times New Roman" pitchFamily="18" charset="0"/>
                </a:rPr>
                <a:t> </a:t>
              </a:r>
              <a:r>
                <a:rPr lang="zh-CN" altLang="zh-CN" sz="3200" b="1" dirty="0">
                  <a:solidFill>
                    <a:srgbClr val="1C1C1C"/>
                  </a:solidFill>
                  <a:latin typeface="Times New Roman" pitchFamily="18" charset="0"/>
                </a:rPr>
                <a:t>分子总数</a:t>
              </a:r>
              <a:endParaRPr lang="zh-CN" altLang="en-US" sz="3200" b="1" dirty="0">
                <a:solidFill>
                  <a:srgbClr val="1C1C1C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3" name="Group 11"/>
          <p:cNvGrpSpPr>
            <a:grpSpLocks/>
          </p:cNvGrpSpPr>
          <p:nvPr/>
        </p:nvGrpSpPr>
        <p:grpSpPr bwMode="auto">
          <a:xfrm>
            <a:off x="1466850" y="2301875"/>
            <a:ext cx="5257800" cy="2590800"/>
            <a:chOff x="1296" y="1152"/>
            <a:chExt cx="3312" cy="1776"/>
          </a:xfrm>
        </p:grpSpPr>
        <p:sp>
          <p:nvSpPr>
            <p:cNvPr id="9243" name="Rectangle 12"/>
            <p:cNvSpPr>
              <a:spLocks noChangeArrowheads="1"/>
            </p:cNvSpPr>
            <p:nvPr/>
          </p:nvSpPr>
          <p:spPr bwMode="auto">
            <a:xfrm>
              <a:off x="1296" y="2592"/>
              <a:ext cx="144" cy="336"/>
            </a:xfrm>
            <a:prstGeom prst="rect">
              <a:avLst/>
            </a:prstGeom>
            <a:noFill/>
            <a:ln w="28575">
              <a:solidFill>
                <a:srgbClr val="0000CC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b="1">
                <a:solidFill>
                  <a:srgbClr val="000000"/>
                </a:solidFill>
              </a:endParaRPr>
            </a:p>
          </p:txBody>
        </p:sp>
        <p:sp>
          <p:nvSpPr>
            <p:cNvPr id="9244" name="Rectangle 13"/>
            <p:cNvSpPr>
              <a:spLocks noChangeArrowheads="1"/>
            </p:cNvSpPr>
            <p:nvPr/>
          </p:nvSpPr>
          <p:spPr bwMode="auto">
            <a:xfrm>
              <a:off x="1440" y="2256"/>
              <a:ext cx="144" cy="672"/>
            </a:xfrm>
            <a:prstGeom prst="rect">
              <a:avLst/>
            </a:prstGeom>
            <a:noFill/>
            <a:ln w="28575">
              <a:solidFill>
                <a:srgbClr val="0000CC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b="1">
                <a:solidFill>
                  <a:srgbClr val="000000"/>
                </a:solidFill>
              </a:endParaRPr>
            </a:p>
          </p:txBody>
        </p:sp>
        <p:sp>
          <p:nvSpPr>
            <p:cNvPr id="9245" name="Rectangle 14"/>
            <p:cNvSpPr>
              <a:spLocks noChangeArrowheads="1"/>
            </p:cNvSpPr>
            <p:nvPr/>
          </p:nvSpPr>
          <p:spPr bwMode="auto">
            <a:xfrm>
              <a:off x="1584" y="1968"/>
              <a:ext cx="144" cy="960"/>
            </a:xfrm>
            <a:prstGeom prst="rect">
              <a:avLst/>
            </a:prstGeom>
            <a:noFill/>
            <a:ln w="28575">
              <a:solidFill>
                <a:srgbClr val="0000CC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b="1">
                <a:solidFill>
                  <a:srgbClr val="000000"/>
                </a:solidFill>
              </a:endParaRPr>
            </a:p>
          </p:txBody>
        </p:sp>
        <p:sp>
          <p:nvSpPr>
            <p:cNvPr id="9246" name="Rectangle 15"/>
            <p:cNvSpPr>
              <a:spLocks noChangeArrowheads="1"/>
            </p:cNvSpPr>
            <p:nvPr/>
          </p:nvSpPr>
          <p:spPr bwMode="auto">
            <a:xfrm>
              <a:off x="1728" y="1728"/>
              <a:ext cx="144" cy="1200"/>
            </a:xfrm>
            <a:prstGeom prst="rect">
              <a:avLst/>
            </a:prstGeom>
            <a:noFill/>
            <a:ln w="28575">
              <a:solidFill>
                <a:srgbClr val="0000CC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b="1">
                <a:solidFill>
                  <a:srgbClr val="000000"/>
                </a:solidFill>
              </a:endParaRPr>
            </a:p>
          </p:txBody>
        </p:sp>
        <p:sp>
          <p:nvSpPr>
            <p:cNvPr id="9247" name="Rectangle 16"/>
            <p:cNvSpPr>
              <a:spLocks noChangeArrowheads="1"/>
            </p:cNvSpPr>
            <p:nvPr/>
          </p:nvSpPr>
          <p:spPr bwMode="auto">
            <a:xfrm>
              <a:off x="1872" y="1536"/>
              <a:ext cx="144" cy="1392"/>
            </a:xfrm>
            <a:prstGeom prst="rect">
              <a:avLst/>
            </a:prstGeom>
            <a:noFill/>
            <a:ln w="28575">
              <a:solidFill>
                <a:srgbClr val="0000CC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b="1">
                <a:solidFill>
                  <a:srgbClr val="000000"/>
                </a:solidFill>
              </a:endParaRPr>
            </a:p>
          </p:txBody>
        </p:sp>
        <p:sp>
          <p:nvSpPr>
            <p:cNvPr id="9248" name="Rectangle 17"/>
            <p:cNvSpPr>
              <a:spLocks noChangeArrowheads="1"/>
            </p:cNvSpPr>
            <p:nvPr/>
          </p:nvSpPr>
          <p:spPr bwMode="auto">
            <a:xfrm>
              <a:off x="2016" y="1344"/>
              <a:ext cx="144" cy="1584"/>
            </a:xfrm>
            <a:prstGeom prst="rect">
              <a:avLst/>
            </a:prstGeom>
            <a:noFill/>
            <a:ln w="28575">
              <a:solidFill>
                <a:srgbClr val="0000CC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b="1">
                <a:solidFill>
                  <a:srgbClr val="000000"/>
                </a:solidFill>
              </a:endParaRPr>
            </a:p>
          </p:txBody>
        </p:sp>
        <p:sp>
          <p:nvSpPr>
            <p:cNvPr id="9249" name="Rectangle 18"/>
            <p:cNvSpPr>
              <a:spLocks noChangeArrowheads="1"/>
            </p:cNvSpPr>
            <p:nvPr/>
          </p:nvSpPr>
          <p:spPr bwMode="auto">
            <a:xfrm>
              <a:off x="2160" y="1248"/>
              <a:ext cx="144" cy="1680"/>
            </a:xfrm>
            <a:prstGeom prst="rect">
              <a:avLst/>
            </a:prstGeom>
            <a:noFill/>
            <a:ln w="28575">
              <a:solidFill>
                <a:srgbClr val="0000CC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b="1">
                <a:solidFill>
                  <a:srgbClr val="000000"/>
                </a:solidFill>
              </a:endParaRPr>
            </a:p>
          </p:txBody>
        </p:sp>
        <p:sp>
          <p:nvSpPr>
            <p:cNvPr id="9250" name="Rectangle 19"/>
            <p:cNvSpPr>
              <a:spLocks noChangeArrowheads="1"/>
            </p:cNvSpPr>
            <p:nvPr/>
          </p:nvSpPr>
          <p:spPr bwMode="auto">
            <a:xfrm>
              <a:off x="2304" y="1200"/>
              <a:ext cx="144" cy="1728"/>
            </a:xfrm>
            <a:prstGeom prst="rect">
              <a:avLst/>
            </a:prstGeom>
            <a:noFill/>
            <a:ln w="28575">
              <a:solidFill>
                <a:srgbClr val="0000CC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b="1">
                <a:solidFill>
                  <a:srgbClr val="000000"/>
                </a:solidFill>
              </a:endParaRPr>
            </a:p>
          </p:txBody>
        </p:sp>
        <p:sp>
          <p:nvSpPr>
            <p:cNvPr id="9251" name="Rectangle 20"/>
            <p:cNvSpPr>
              <a:spLocks noChangeArrowheads="1"/>
            </p:cNvSpPr>
            <p:nvPr/>
          </p:nvSpPr>
          <p:spPr bwMode="auto">
            <a:xfrm>
              <a:off x="2448" y="1152"/>
              <a:ext cx="144" cy="1776"/>
            </a:xfrm>
            <a:prstGeom prst="rect">
              <a:avLst/>
            </a:prstGeom>
            <a:noFill/>
            <a:ln w="28575">
              <a:solidFill>
                <a:srgbClr val="0000CC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b="1">
                <a:solidFill>
                  <a:srgbClr val="000000"/>
                </a:solidFill>
              </a:endParaRPr>
            </a:p>
          </p:txBody>
        </p:sp>
        <p:sp>
          <p:nvSpPr>
            <p:cNvPr id="9252" name="Rectangle 21"/>
            <p:cNvSpPr>
              <a:spLocks noChangeArrowheads="1"/>
            </p:cNvSpPr>
            <p:nvPr/>
          </p:nvSpPr>
          <p:spPr bwMode="auto">
            <a:xfrm>
              <a:off x="2592" y="1200"/>
              <a:ext cx="144" cy="1728"/>
            </a:xfrm>
            <a:prstGeom prst="rect">
              <a:avLst/>
            </a:prstGeom>
            <a:noFill/>
            <a:ln w="28575">
              <a:solidFill>
                <a:srgbClr val="0000CC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b="1">
                <a:solidFill>
                  <a:srgbClr val="000000"/>
                </a:solidFill>
              </a:endParaRPr>
            </a:p>
          </p:txBody>
        </p:sp>
        <p:sp>
          <p:nvSpPr>
            <p:cNvPr id="9253" name="Rectangle 22"/>
            <p:cNvSpPr>
              <a:spLocks noChangeArrowheads="1"/>
            </p:cNvSpPr>
            <p:nvPr/>
          </p:nvSpPr>
          <p:spPr bwMode="auto">
            <a:xfrm>
              <a:off x="2736" y="1296"/>
              <a:ext cx="144" cy="1632"/>
            </a:xfrm>
            <a:prstGeom prst="rect">
              <a:avLst/>
            </a:prstGeom>
            <a:noFill/>
            <a:ln w="28575">
              <a:solidFill>
                <a:srgbClr val="0000CC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b="1">
                <a:solidFill>
                  <a:srgbClr val="000000"/>
                </a:solidFill>
              </a:endParaRPr>
            </a:p>
          </p:txBody>
        </p:sp>
        <p:sp>
          <p:nvSpPr>
            <p:cNvPr id="9254" name="Rectangle 23"/>
            <p:cNvSpPr>
              <a:spLocks noChangeArrowheads="1"/>
            </p:cNvSpPr>
            <p:nvPr/>
          </p:nvSpPr>
          <p:spPr bwMode="auto">
            <a:xfrm>
              <a:off x="2880" y="1440"/>
              <a:ext cx="144" cy="1488"/>
            </a:xfrm>
            <a:prstGeom prst="rect">
              <a:avLst/>
            </a:prstGeom>
            <a:noFill/>
            <a:ln w="28575">
              <a:solidFill>
                <a:srgbClr val="0000CC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b="1">
                <a:solidFill>
                  <a:srgbClr val="000000"/>
                </a:solidFill>
              </a:endParaRPr>
            </a:p>
          </p:txBody>
        </p:sp>
        <p:sp>
          <p:nvSpPr>
            <p:cNvPr id="9255" name="Rectangle 24"/>
            <p:cNvSpPr>
              <a:spLocks noChangeArrowheads="1"/>
            </p:cNvSpPr>
            <p:nvPr/>
          </p:nvSpPr>
          <p:spPr bwMode="auto">
            <a:xfrm>
              <a:off x="3024" y="1632"/>
              <a:ext cx="144" cy="1296"/>
            </a:xfrm>
            <a:prstGeom prst="rect">
              <a:avLst/>
            </a:prstGeom>
            <a:noFill/>
            <a:ln w="28575">
              <a:solidFill>
                <a:srgbClr val="0000CC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b="1">
                <a:solidFill>
                  <a:srgbClr val="000000"/>
                </a:solidFill>
              </a:endParaRPr>
            </a:p>
          </p:txBody>
        </p:sp>
        <p:sp>
          <p:nvSpPr>
            <p:cNvPr id="9256" name="Rectangle 25"/>
            <p:cNvSpPr>
              <a:spLocks noChangeArrowheads="1"/>
            </p:cNvSpPr>
            <p:nvPr/>
          </p:nvSpPr>
          <p:spPr bwMode="auto">
            <a:xfrm>
              <a:off x="3312" y="2016"/>
              <a:ext cx="144" cy="912"/>
            </a:xfrm>
            <a:prstGeom prst="rect">
              <a:avLst/>
            </a:prstGeom>
            <a:noFill/>
            <a:ln w="28575">
              <a:solidFill>
                <a:srgbClr val="0000CC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b="1">
                <a:solidFill>
                  <a:srgbClr val="000000"/>
                </a:solidFill>
              </a:endParaRPr>
            </a:p>
          </p:txBody>
        </p:sp>
        <p:sp>
          <p:nvSpPr>
            <p:cNvPr id="9257" name="Rectangle 26"/>
            <p:cNvSpPr>
              <a:spLocks noChangeArrowheads="1"/>
            </p:cNvSpPr>
            <p:nvPr/>
          </p:nvSpPr>
          <p:spPr bwMode="auto">
            <a:xfrm>
              <a:off x="3456" y="2160"/>
              <a:ext cx="144" cy="768"/>
            </a:xfrm>
            <a:prstGeom prst="rect">
              <a:avLst/>
            </a:prstGeom>
            <a:noFill/>
            <a:ln w="28575">
              <a:solidFill>
                <a:srgbClr val="0000CC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b="1">
                <a:solidFill>
                  <a:srgbClr val="000000"/>
                </a:solidFill>
              </a:endParaRPr>
            </a:p>
          </p:txBody>
        </p:sp>
        <p:sp>
          <p:nvSpPr>
            <p:cNvPr id="9258" name="Rectangle 27"/>
            <p:cNvSpPr>
              <a:spLocks noChangeArrowheads="1"/>
            </p:cNvSpPr>
            <p:nvPr/>
          </p:nvSpPr>
          <p:spPr bwMode="auto">
            <a:xfrm>
              <a:off x="3600" y="2304"/>
              <a:ext cx="144" cy="624"/>
            </a:xfrm>
            <a:prstGeom prst="rect">
              <a:avLst/>
            </a:prstGeom>
            <a:noFill/>
            <a:ln w="28575">
              <a:solidFill>
                <a:srgbClr val="0000CC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b="1">
                <a:solidFill>
                  <a:srgbClr val="000000"/>
                </a:solidFill>
              </a:endParaRPr>
            </a:p>
          </p:txBody>
        </p:sp>
        <p:sp>
          <p:nvSpPr>
            <p:cNvPr id="9259" name="Rectangle 28"/>
            <p:cNvSpPr>
              <a:spLocks noChangeArrowheads="1"/>
            </p:cNvSpPr>
            <p:nvPr/>
          </p:nvSpPr>
          <p:spPr bwMode="auto">
            <a:xfrm>
              <a:off x="3744" y="2448"/>
              <a:ext cx="144" cy="480"/>
            </a:xfrm>
            <a:prstGeom prst="rect">
              <a:avLst/>
            </a:prstGeom>
            <a:noFill/>
            <a:ln w="28575">
              <a:solidFill>
                <a:srgbClr val="0000CC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b="1">
                <a:solidFill>
                  <a:srgbClr val="000000"/>
                </a:solidFill>
              </a:endParaRPr>
            </a:p>
          </p:txBody>
        </p:sp>
        <p:sp>
          <p:nvSpPr>
            <p:cNvPr id="9260" name="Rectangle 29"/>
            <p:cNvSpPr>
              <a:spLocks noChangeArrowheads="1"/>
            </p:cNvSpPr>
            <p:nvPr/>
          </p:nvSpPr>
          <p:spPr bwMode="auto">
            <a:xfrm>
              <a:off x="3888" y="2496"/>
              <a:ext cx="144" cy="432"/>
            </a:xfrm>
            <a:prstGeom prst="rect">
              <a:avLst/>
            </a:prstGeom>
            <a:noFill/>
            <a:ln w="28575">
              <a:solidFill>
                <a:srgbClr val="0000CC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b="1">
                <a:solidFill>
                  <a:srgbClr val="000000"/>
                </a:solidFill>
              </a:endParaRPr>
            </a:p>
          </p:txBody>
        </p:sp>
        <p:sp>
          <p:nvSpPr>
            <p:cNvPr id="9261" name="Rectangle 30"/>
            <p:cNvSpPr>
              <a:spLocks noChangeArrowheads="1"/>
            </p:cNvSpPr>
            <p:nvPr/>
          </p:nvSpPr>
          <p:spPr bwMode="auto">
            <a:xfrm>
              <a:off x="4032" y="2592"/>
              <a:ext cx="144" cy="336"/>
            </a:xfrm>
            <a:prstGeom prst="rect">
              <a:avLst/>
            </a:prstGeom>
            <a:noFill/>
            <a:ln w="28575">
              <a:solidFill>
                <a:srgbClr val="0000CC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b="1">
                <a:solidFill>
                  <a:srgbClr val="000000"/>
                </a:solidFill>
              </a:endParaRPr>
            </a:p>
          </p:txBody>
        </p:sp>
        <p:sp>
          <p:nvSpPr>
            <p:cNvPr id="9262" name="Rectangle 31"/>
            <p:cNvSpPr>
              <a:spLocks noChangeArrowheads="1"/>
            </p:cNvSpPr>
            <p:nvPr/>
          </p:nvSpPr>
          <p:spPr bwMode="auto">
            <a:xfrm>
              <a:off x="4176" y="2640"/>
              <a:ext cx="144" cy="288"/>
            </a:xfrm>
            <a:prstGeom prst="rect">
              <a:avLst/>
            </a:prstGeom>
            <a:noFill/>
            <a:ln w="28575">
              <a:solidFill>
                <a:srgbClr val="0000CC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b="1">
                <a:solidFill>
                  <a:srgbClr val="000000"/>
                </a:solidFill>
              </a:endParaRPr>
            </a:p>
          </p:txBody>
        </p:sp>
        <p:sp>
          <p:nvSpPr>
            <p:cNvPr id="9263" name="Rectangle 32"/>
            <p:cNvSpPr>
              <a:spLocks noChangeArrowheads="1"/>
            </p:cNvSpPr>
            <p:nvPr/>
          </p:nvSpPr>
          <p:spPr bwMode="auto">
            <a:xfrm>
              <a:off x="4320" y="2688"/>
              <a:ext cx="144" cy="240"/>
            </a:xfrm>
            <a:prstGeom prst="rect">
              <a:avLst/>
            </a:prstGeom>
            <a:noFill/>
            <a:ln w="28575">
              <a:solidFill>
                <a:srgbClr val="0000CC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b="1">
                <a:solidFill>
                  <a:srgbClr val="000000"/>
                </a:solidFill>
              </a:endParaRPr>
            </a:p>
          </p:txBody>
        </p:sp>
        <p:sp>
          <p:nvSpPr>
            <p:cNvPr id="9264" name="Rectangle 33"/>
            <p:cNvSpPr>
              <a:spLocks noChangeArrowheads="1"/>
            </p:cNvSpPr>
            <p:nvPr/>
          </p:nvSpPr>
          <p:spPr bwMode="auto">
            <a:xfrm>
              <a:off x="4464" y="2784"/>
              <a:ext cx="144" cy="144"/>
            </a:xfrm>
            <a:prstGeom prst="rect">
              <a:avLst/>
            </a:prstGeom>
            <a:noFill/>
            <a:ln w="28575">
              <a:solidFill>
                <a:srgbClr val="0000CC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b="1">
                <a:solidFill>
                  <a:srgbClr val="000000"/>
                </a:solidFill>
              </a:endParaRPr>
            </a:p>
          </p:txBody>
        </p:sp>
        <p:sp>
          <p:nvSpPr>
            <p:cNvPr id="9265" name="Rectangle 34"/>
            <p:cNvSpPr>
              <a:spLocks noChangeArrowheads="1"/>
            </p:cNvSpPr>
            <p:nvPr/>
          </p:nvSpPr>
          <p:spPr bwMode="auto">
            <a:xfrm>
              <a:off x="3168" y="1824"/>
              <a:ext cx="144" cy="1104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CC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b="1">
                <a:solidFill>
                  <a:srgbClr val="000000"/>
                </a:solidFill>
              </a:endParaRPr>
            </a:p>
          </p:txBody>
        </p:sp>
      </p:grpSp>
      <p:grpSp>
        <p:nvGrpSpPr>
          <p:cNvPr id="4" name="Group 35"/>
          <p:cNvGrpSpPr>
            <a:grpSpLocks/>
          </p:cNvGrpSpPr>
          <p:nvPr/>
        </p:nvGrpSpPr>
        <p:grpSpPr bwMode="auto">
          <a:xfrm>
            <a:off x="704850" y="1844675"/>
            <a:ext cx="6477000" cy="3463925"/>
            <a:chOff x="816" y="1008"/>
            <a:chExt cx="4080" cy="2182"/>
          </a:xfrm>
        </p:grpSpPr>
        <p:sp>
          <p:nvSpPr>
            <p:cNvPr id="9241" name="Line 36"/>
            <p:cNvSpPr>
              <a:spLocks noChangeShapeType="1"/>
            </p:cNvSpPr>
            <p:nvPr/>
          </p:nvSpPr>
          <p:spPr bwMode="auto">
            <a:xfrm>
              <a:off x="1056" y="2928"/>
              <a:ext cx="384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 b="1">
                <a:solidFill>
                  <a:srgbClr val="000000"/>
                </a:solidFill>
              </a:endParaRPr>
            </a:p>
          </p:txBody>
        </p:sp>
        <p:sp>
          <p:nvSpPr>
            <p:cNvPr id="9242" name="Line 37"/>
            <p:cNvSpPr>
              <a:spLocks noChangeShapeType="1"/>
            </p:cNvSpPr>
            <p:nvPr/>
          </p:nvSpPr>
          <p:spPr bwMode="auto">
            <a:xfrm flipV="1">
              <a:off x="1056" y="1008"/>
              <a:ext cx="0" cy="192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 b="1">
                <a:solidFill>
                  <a:srgbClr val="000000"/>
                </a:solidFill>
              </a:endParaRPr>
            </a:p>
          </p:txBody>
        </p:sp>
        <p:graphicFrame>
          <p:nvGraphicFramePr>
            <p:cNvPr id="9226" name="Object 39"/>
            <p:cNvGraphicFramePr>
              <a:graphicFrameLocks noChangeAspect="1"/>
            </p:cNvGraphicFramePr>
            <p:nvPr/>
          </p:nvGraphicFramePr>
          <p:xfrm>
            <a:off x="816" y="2832"/>
            <a:ext cx="261" cy="288"/>
          </p:xfrm>
          <a:graphic>
            <a:graphicData uri="http://schemas.openxmlformats.org/presentationml/2006/ole">
              <p:oleObj spid="_x0000_s61443" name="Equation" r:id="rId4" imgW="126835" imgH="139518" progId="Equation.3">
                <p:embed/>
              </p:oleObj>
            </a:graphicData>
          </a:graphic>
        </p:graphicFrame>
        <p:graphicFrame>
          <p:nvGraphicFramePr>
            <p:cNvPr id="9227" name="Object 40"/>
            <p:cNvGraphicFramePr>
              <a:graphicFrameLocks noChangeAspect="1"/>
            </p:cNvGraphicFramePr>
            <p:nvPr/>
          </p:nvGraphicFramePr>
          <p:xfrm>
            <a:off x="4656" y="2976"/>
            <a:ext cx="197" cy="214"/>
          </p:xfrm>
          <a:graphic>
            <a:graphicData uri="http://schemas.openxmlformats.org/presentationml/2006/ole">
              <p:oleObj spid="_x0000_s61444" name="Equation" r:id="rId5" imgW="177646" imgH="190335" progId="Equation.3">
                <p:embed/>
              </p:oleObj>
            </a:graphicData>
          </a:graphic>
        </p:graphicFrame>
      </p:grpSp>
      <p:grpSp>
        <p:nvGrpSpPr>
          <p:cNvPr id="5" name="Group 97"/>
          <p:cNvGrpSpPr>
            <a:grpSpLocks/>
          </p:cNvGrpSpPr>
          <p:nvPr/>
        </p:nvGrpSpPr>
        <p:grpSpPr bwMode="auto">
          <a:xfrm>
            <a:off x="4211638" y="2636838"/>
            <a:ext cx="1800225" cy="2667000"/>
            <a:chOff x="2653" y="1661"/>
            <a:chExt cx="1134" cy="1680"/>
          </a:xfrm>
        </p:grpSpPr>
        <p:graphicFrame>
          <p:nvGraphicFramePr>
            <p:cNvPr id="9222" name="Object 42"/>
            <p:cNvGraphicFramePr>
              <a:graphicFrameLocks noChangeAspect="1"/>
            </p:cNvGraphicFramePr>
            <p:nvPr/>
          </p:nvGraphicFramePr>
          <p:xfrm>
            <a:off x="2653" y="3129"/>
            <a:ext cx="197" cy="204"/>
          </p:xfrm>
          <a:graphic>
            <a:graphicData uri="http://schemas.openxmlformats.org/presentationml/2006/ole">
              <p:oleObj spid="_x0000_s61445" name="Equation" r:id="rId6" imgW="177646" imgH="190335" progId="Equation.3">
                <p:embed/>
              </p:oleObj>
            </a:graphicData>
          </a:graphic>
        </p:graphicFrame>
        <p:graphicFrame>
          <p:nvGraphicFramePr>
            <p:cNvPr id="9223" name="Object 43"/>
            <p:cNvGraphicFramePr>
              <a:graphicFrameLocks noChangeAspect="1"/>
            </p:cNvGraphicFramePr>
            <p:nvPr/>
          </p:nvGraphicFramePr>
          <p:xfrm>
            <a:off x="2845" y="3083"/>
            <a:ext cx="720" cy="258"/>
          </p:xfrm>
          <a:graphic>
            <a:graphicData uri="http://schemas.openxmlformats.org/presentationml/2006/ole">
              <p:oleObj spid="_x0000_s61446" name="Equation" r:id="rId7" imgW="685800" imgH="241300" progId="Equation.3">
                <p:embed/>
              </p:oleObj>
            </a:graphicData>
          </a:graphic>
        </p:graphicFrame>
        <p:sp>
          <p:nvSpPr>
            <p:cNvPr id="9239" name="Rectangle 44" descr="宽下对角线"/>
            <p:cNvSpPr>
              <a:spLocks noChangeArrowheads="1"/>
            </p:cNvSpPr>
            <p:nvPr/>
          </p:nvSpPr>
          <p:spPr bwMode="auto">
            <a:xfrm>
              <a:off x="2797" y="2028"/>
              <a:ext cx="144" cy="1036"/>
            </a:xfrm>
            <a:prstGeom prst="rect">
              <a:avLst/>
            </a:prstGeom>
            <a:pattFill prst="wdDnDiag">
              <a:fgClr>
                <a:srgbClr val="0000FF"/>
              </a:fgClr>
              <a:bgClr>
                <a:schemeClr val="accent2"/>
              </a:bgClr>
            </a:pattFill>
            <a:ln w="28575">
              <a:solidFill>
                <a:srgbClr val="0000CC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b="1">
                <a:solidFill>
                  <a:srgbClr val="000000"/>
                </a:solidFill>
              </a:endParaRPr>
            </a:p>
          </p:txBody>
        </p:sp>
        <p:graphicFrame>
          <p:nvGraphicFramePr>
            <p:cNvPr id="9224" name="Object 45"/>
            <p:cNvGraphicFramePr>
              <a:graphicFrameLocks noChangeAspect="1"/>
            </p:cNvGraphicFramePr>
            <p:nvPr/>
          </p:nvGraphicFramePr>
          <p:xfrm>
            <a:off x="3469" y="1661"/>
            <a:ext cx="318" cy="214"/>
          </p:xfrm>
          <a:graphic>
            <a:graphicData uri="http://schemas.openxmlformats.org/presentationml/2006/ole">
              <p:oleObj spid="_x0000_s61447" name="公式" r:id="rId8" imgW="342751" imgH="241195" progId="Equation.3">
                <p:embed/>
              </p:oleObj>
            </a:graphicData>
          </a:graphic>
        </p:graphicFrame>
        <p:sp>
          <p:nvSpPr>
            <p:cNvPr id="9240" name="Line 46"/>
            <p:cNvSpPr>
              <a:spLocks noChangeShapeType="1"/>
            </p:cNvSpPr>
            <p:nvPr/>
          </p:nvSpPr>
          <p:spPr bwMode="auto">
            <a:xfrm flipH="1">
              <a:off x="2845" y="1844"/>
              <a:ext cx="624" cy="367"/>
            </a:xfrm>
            <a:prstGeom prst="line">
              <a:avLst/>
            </a:prstGeom>
            <a:noFill/>
            <a:ln w="38100">
              <a:solidFill>
                <a:srgbClr val="CC6600"/>
              </a:solidFill>
              <a:prstDash val="dash"/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 b="1">
                <a:solidFill>
                  <a:srgbClr val="000000"/>
                </a:solidFill>
              </a:endParaRPr>
            </a:p>
          </p:txBody>
        </p:sp>
      </p:grpSp>
      <p:sp>
        <p:nvSpPr>
          <p:cNvPr id="38959" name="Freeform 47"/>
          <p:cNvSpPr>
            <a:spLocks/>
          </p:cNvSpPr>
          <p:nvPr/>
        </p:nvSpPr>
        <p:spPr bwMode="auto">
          <a:xfrm>
            <a:off x="1466850" y="2301875"/>
            <a:ext cx="5376863" cy="2428875"/>
          </a:xfrm>
          <a:custGeom>
            <a:avLst/>
            <a:gdLst>
              <a:gd name="T0" fmla="*/ 0 w 3387"/>
              <a:gd name="T1" fmla="*/ 2147483647 h 1674"/>
              <a:gd name="T2" fmla="*/ 2147483647 w 3387"/>
              <a:gd name="T3" fmla="*/ 2147483647 h 1674"/>
              <a:gd name="T4" fmla="*/ 2147483647 w 3387"/>
              <a:gd name="T5" fmla="*/ 2147483647 h 1674"/>
              <a:gd name="T6" fmla="*/ 2147483647 w 3387"/>
              <a:gd name="T7" fmla="*/ 2147483647 h 1674"/>
              <a:gd name="T8" fmla="*/ 2147483647 w 3387"/>
              <a:gd name="T9" fmla="*/ 2147483647 h 1674"/>
              <a:gd name="T10" fmla="*/ 2147483647 w 3387"/>
              <a:gd name="T11" fmla="*/ 2147483647 h 1674"/>
              <a:gd name="T12" fmla="*/ 2147483647 w 3387"/>
              <a:gd name="T13" fmla="*/ 2147483647 h 1674"/>
              <a:gd name="T14" fmla="*/ 2147483647 w 3387"/>
              <a:gd name="T15" fmla="*/ 2147483647 h 1674"/>
              <a:gd name="T16" fmla="*/ 2147483647 w 3387"/>
              <a:gd name="T17" fmla="*/ 2147483647 h 1674"/>
              <a:gd name="T18" fmla="*/ 2147483647 w 3387"/>
              <a:gd name="T19" fmla="*/ 2147483647 h 1674"/>
              <a:gd name="T20" fmla="*/ 2147483647 w 3387"/>
              <a:gd name="T21" fmla="*/ 2147483647 h 1674"/>
              <a:gd name="T22" fmla="*/ 2147483647 w 3387"/>
              <a:gd name="T23" fmla="*/ 2147483647 h 1674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3387"/>
              <a:gd name="T37" fmla="*/ 0 h 1674"/>
              <a:gd name="T38" fmla="*/ 3387 w 3387"/>
              <a:gd name="T39" fmla="*/ 1674 h 1674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3387" h="1674">
                <a:moveTo>
                  <a:pt x="0" y="1530"/>
                </a:moveTo>
                <a:cubicBezTo>
                  <a:pt x="39" y="1465"/>
                  <a:pt x="152" y="1291"/>
                  <a:pt x="240" y="1138"/>
                </a:cubicBezTo>
                <a:cubicBezTo>
                  <a:pt x="328" y="985"/>
                  <a:pt x="440" y="759"/>
                  <a:pt x="528" y="610"/>
                </a:cubicBezTo>
                <a:cubicBezTo>
                  <a:pt x="616" y="461"/>
                  <a:pt x="680" y="337"/>
                  <a:pt x="768" y="241"/>
                </a:cubicBezTo>
                <a:cubicBezTo>
                  <a:pt x="856" y="145"/>
                  <a:pt x="960" y="68"/>
                  <a:pt x="1056" y="34"/>
                </a:cubicBezTo>
                <a:cubicBezTo>
                  <a:pt x="1152" y="0"/>
                  <a:pt x="1256" y="2"/>
                  <a:pt x="1344" y="34"/>
                </a:cubicBezTo>
                <a:cubicBezTo>
                  <a:pt x="1432" y="66"/>
                  <a:pt x="1504" y="138"/>
                  <a:pt x="1584" y="226"/>
                </a:cubicBezTo>
                <a:cubicBezTo>
                  <a:pt x="1664" y="314"/>
                  <a:pt x="1736" y="442"/>
                  <a:pt x="1824" y="562"/>
                </a:cubicBezTo>
                <a:cubicBezTo>
                  <a:pt x="1912" y="682"/>
                  <a:pt x="2001" y="827"/>
                  <a:pt x="2112" y="946"/>
                </a:cubicBezTo>
                <a:cubicBezTo>
                  <a:pt x="2223" y="1065"/>
                  <a:pt x="2370" y="1188"/>
                  <a:pt x="2489" y="1276"/>
                </a:cubicBezTo>
                <a:cubicBezTo>
                  <a:pt x="2608" y="1364"/>
                  <a:pt x="2675" y="1409"/>
                  <a:pt x="2825" y="1475"/>
                </a:cubicBezTo>
                <a:cubicBezTo>
                  <a:pt x="2975" y="1541"/>
                  <a:pt x="3270" y="1633"/>
                  <a:pt x="3387" y="1674"/>
                </a:cubicBezTo>
              </a:path>
            </a:pathLst>
          </a:custGeom>
          <a:noFill/>
          <a:ln w="57150" cap="flat" cmpd="sng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 wrap="none"/>
          <a:lstStyle/>
          <a:p>
            <a:endParaRPr lang="zh-CN" altLang="en-US" b="1">
              <a:solidFill>
                <a:srgbClr val="000000"/>
              </a:solidFill>
            </a:endParaRPr>
          </a:p>
        </p:txBody>
      </p:sp>
      <p:grpSp>
        <p:nvGrpSpPr>
          <p:cNvPr id="6" name="Group 96"/>
          <p:cNvGrpSpPr>
            <a:grpSpLocks/>
          </p:cNvGrpSpPr>
          <p:nvPr/>
        </p:nvGrpSpPr>
        <p:grpSpPr bwMode="auto">
          <a:xfrm>
            <a:off x="3779838" y="1773238"/>
            <a:ext cx="4968875" cy="579437"/>
            <a:chOff x="2381" y="1117"/>
            <a:chExt cx="3039" cy="365"/>
          </a:xfrm>
        </p:grpSpPr>
        <p:graphicFrame>
          <p:nvGraphicFramePr>
            <p:cNvPr id="9220" name="Object 83"/>
            <p:cNvGraphicFramePr>
              <a:graphicFrameLocks noChangeAspect="1"/>
            </p:cNvGraphicFramePr>
            <p:nvPr/>
          </p:nvGraphicFramePr>
          <p:xfrm>
            <a:off x="2471" y="1189"/>
            <a:ext cx="454" cy="247"/>
          </p:xfrm>
          <a:graphic>
            <a:graphicData uri="http://schemas.openxmlformats.org/presentationml/2006/ole">
              <p:oleObj spid="_x0000_s61448" name="公式" r:id="rId9" imgW="393529" imgH="241195" progId="Equation.3">
                <p:embed/>
              </p:oleObj>
            </a:graphicData>
          </a:graphic>
        </p:graphicFrame>
        <p:sp>
          <p:nvSpPr>
            <p:cNvPr id="9238" name="Text Box 84"/>
            <p:cNvSpPr txBox="1">
              <a:spLocks noChangeArrowheads="1"/>
            </p:cNvSpPr>
            <p:nvPr/>
          </p:nvSpPr>
          <p:spPr bwMode="auto">
            <a:xfrm>
              <a:off x="2381" y="1117"/>
              <a:ext cx="3039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solidFill>
                    <a:srgbClr val="000000"/>
                  </a:solidFill>
                  <a:latin typeface="Times New Roman" pitchFamily="18" charset="0"/>
                </a:rPr>
                <a:t>       :</a:t>
              </a:r>
              <a:r>
                <a:rPr lang="en-US" altLang="zh-CN" b="1" dirty="0">
                  <a:solidFill>
                    <a:srgbClr val="000000"/>
                  </a:solidFill>
                </a:rPr>
                <a:t>    </a:t>
              </a:r>
              <a:r>
                <a:rPr lang="en-US" altLang="zh-CN" sz="3200" b="1" dirty="0">
                  <a:solidFill>
                    <a:srgbClr val="000000"/>
                  </a:solidFill>
                  <a:latin typeface="Times New Roman" pitchFamily="18" charset="0"/>
                </a:rPr>
                <a:t>               </a:t>
              </a:r>
              <a:r>
                <a:rPr lang="en-US" altLang="zh-CN" sz="3200" b="1" dirty="0" smtClean="0">
                  <a:solidFill>
                    <a:srgbClr val="000000"/>
                  </a:solidFill>
                  <a:latin typeface="Times New Roman" pitchFamily="18" charset="0"/>
                </a:rPr>
                <a:t> </a:t>
              </a:r>
              <a:r>
                <a:rPr lang="zh-CN" altLang="en-US" sz="3200" b="1" dirty="0" smtClean="0">
                  <a:solidFill>
                    <a:srgbClr val="000000"/>
                  </a:solidFill>
                  <a:latin typeface="Times New Roman" pitchFamily="18" charset="0"/>
                </a:rPr>
                <a:t>间</a:t>
              </a:r>
              <a:r>
                <a:rPr lang="zh-CN" altLang="en-US" sz="3200" b="1" dirty="0">
                  <a:solidFill>
                    <a:srgbClr val="000000"/>
                  </a:solidFill>
                  <a:latin typeface="Times New Roman" pitchFamily="18" charset="0"/>
                </a:rPr>
                <a:t>的分子数</a:t>
              </a:r>
              <a:r>
                <a:rPr lang="en-US" altLang="zh-CN" sz="3200" b="1" dirty="0">
                  <a:solidFill>
                    <a:srgbClr val="000000"/>
                  </a:solidFill>
                  <a:latin typeface="Times New Roman" pitchFamily="18" charset="0"/>
                </a:rPr>
                <a:t>. </a:t>
              </a:r>
            </a:p>
          </p:txBody>
        </p:sp>
        <p:graphicFrame>
          <p:nvGraphicFramePr>
            <p:cNvPr id="9221" name="Object 8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xmlns="" val="481451446"/>
                </p:ext>
              </p:extLst>
            </p:nvPr>
          </p:nvGraphicFramePr>
          <p:xfrm>
            <a:off x="2949" y="1152"/>
            <a:ext cx="1145" cy="298"/>
          </p:xfrm>
          <a:graphic>
            <a:graphicData uri="http://schemas.openxmlformats.org/presentationml/2006/ole">
              <p:oleObj spid="_x0000_s61449" name="Equation" r:id="rId10" imgW="672808" imgH="165028" progId="Equation.DSMT4">
                <p:embed/>
              </p:oleObj>
            </a:graphicData>
          </a:graphic>
        </p:graphicFrame>
      </p:grpSp>
      <p:grpSp>
        <p:nvGrpSpPr>
          <p:cNvPr id="7" name="Group 87"/>
          <p:cNvGrpSpPr>
            <a:grpSpLocks/>
          </p:cNvGrpSpPr>
          <p:nvPr/>
        </p:nvGrpSpPr>
        <p:grpSpPr bwMode="auto">
          <a:xfrm>
            <a:off x="900113" y="5514023"/>
            <a:ext cx="7696200" cy="1066800"/>
            <a:chOff x="576" y="3504"/>
            <a:chExt cx="4848" cy="672"/>
          </a:xfrm>
        </p:grpSpPr>
        <p:sp>
          <p:nvSpPr>
            <p:cNvPr id="9237" name="Rectangle 88"/>
            <p:cNvSpPr>
              <a:spLocks noChangeArrowheads="1"/>
            </p:cNvSpPr>
            <p:nvPr/>
          </p:nvSpPr>
          <p:spPr bwMode="auto">
            <a:xfrm>
              <a:off x="1680" y="3504"/>
              <a:ext cx="3744" cy="6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altLang="en-US" sz="3200" b="1" dirty="0">
                  <a:solidFill>
                    <a:srgbClr val="000000"/>
                  </a:solidFill>
                  <a:latin typeface="Times New Roman" pitchFamily="18" charset="0"/>
                </a:rPr>
                <a:t>表示速率在                           区间的分子数占总数的百分比 </a:t>
              </a:r>
              <a:r>
                <a:rPr lang="en-US" altLang="zh-CN" sz="3200" b="1" dirty="0">
                  <a:solidFill>
                    <a:srgbClr val="000000"/>
                  </a:solidFill>
                  <a:latin typeface="Times New Roman" pitchFamily="18" charset="0"/>
                </a:rPr>
                <a:t>.</a:t>
              </a:r>
            </a:p>
          </p:txBody>
        </p:sp>
        <p:graphicFrame>
          <p:nvGraphicFramePr>
            <p:cNvPr id="9218" name="Object 8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xmlns="" val="743321850"/>
                </p:ext>
              </p:extLst>
            </p:nvPr>
          </p:nvGraphicFramePr>
          <p:xfrm>
            <a:off x="576" y="3554"/>
            <a:ext cx="1056" cy="576"/>
          </p:xfrm>
          <a:graphic>
            <a:graphicData uri="http://schemas.openxmlformats.org/presentationml/2006/ole">
              <p:oleObj spid="_x0000_s61450" name="Equation" r:id="rId11" imgW="977900" imgH="609600" progId="Equation.DSMT4">
                <p:embed/>
              </p:oleObj>
            </a:graphicData>
          </a:graphic>
        </p:graphicFrame>
        <p:graphicFrame>
          <p:nvGraphicFramePr>
            <p:cNvPr id="9219" name="Object 90"/>
            <p:cNvGraphicFramePr>
              <a:graphicFrameLocks noChangeAspect="1"/>
            </p:cNvGraphicFramePr>
            <p:nvPr/>
          </p:nvGraphicFramePr>
          <p:xfrm>
            <a:off x="3159" y="3538"/>
            <a:ext cx="1399" cy="300"/>
          </p:xfrm>
          <a:graphic>
            <a:graphicData uri="http://schemas.openxmlformats.org/presentationml/2006/ole">
              <p:oleObj spid="_x0000_s61451" name="Equation" r:id="rId12" imgW="1180588" imgH="241195" progId="Equation.3">
                <p:embed/>
              </p:oleObj>
            </a:graphicData>
          </a:graphic>
        </p:graphicFrame>
      </p:grpSp>
      <p:graphicFrame>
        <p:nvGraphicFramePr>
          <p:cNvPr id="51" name="Object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960387646"/>
              </p:ext>
            </p:extLst>
          </p:nvPr>
        </p:nvGraphicFramePr>
        <p:xfrm>
          <a:off x="1162050" y="1844675"/>
          <a:ext cx="1804988" cy="477838"/>
        </p:xfrm>
        <a:graphic>
          <a:graphicData uri="http://schemas.openxmlformats.org/presentationml/2006/ole">
            <p:oleObj spid="_x0000_s61452" name="Equation" r:id="rId13" imgW="1143000" imgH="3048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8" dur="500"/>
                                        <p:tgtEl>
                                          <p:spTgt spid="38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5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1"/>
          <p:cNvGrpSpPr>
            <a:grpSpLocks/>
          </p:cNvGrpSpPr>
          <p:nvPr/>
        </p:nvGrpSpPr>
        <p:grpSpPr bwMode="auto">
          <a:xfrm>
            <a:off x="5148064" y="3789040"/>
            <a:ext cx="3505200" cy="2286000"/>
            <a:chOff x="336" y="1152"/>
            <a:chExt cx="2208" cy="1440"/>
          </a:xfrm>
        </p:grpSpPr>
        <p:sp>
          <p:nvSpPr>
            <p:cNvPr id="10255" name="Rectangle 32"/>
            <p:cNvSpPr>
              <a:spLocks noChangeArrowheads="1"/>
            </p:cNvSpPr>
            <p:nvPr/>
          </p:nvSpPr>
          <p:spPr bwMode="auto">
            <a:xfrm>
              <a:off x="336" y="1152"/>
              <a:ext cx="2208" cy="14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b="1">
                <a:solidFill>
                  <a:srgbClr val="000000"/>
                </a:solidFill>
              </a:endParaRPr>
            </a:p>
          </p:txBody>
        </p:sp>
        <p:sp>
          <p:nvSpPr>
            <p:cNvPr id="10256" name="Line 33"/>
            <p:cNvSpPr>
              <a:spLocks noChangeShapeType="1"/>
            </p:cNvSpPr>
            <p:nvPr/>
          </p:nvSpPr>
          <p:spPr bwMode="auto">
            <a:xfrm>
              <a:off x="466" y="2300"/>
              <a:ext cx="2030" cy="4"/>
            </a:xfrm>
            <a:prstGeom prst="line">
              <a:avLst/>
            </a:prstGeom>
            <a:noFill/>
            <a:ln w="19050">
              <a:solidFill>
                <a:srgbClr val="1C1C1C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 b="1">
                <a:solidFill>
                  <a:srgbClr val="000000"/>
                </a:solidFill>
              </a:endParaRPr>
            </a:p>
          </p:txBody>
        </p:sp>
        <p:graphicFrame>
          <p:nvGraphicFramePr>
            <p:cNvPr id="10247" name="Object 34"/>
            <p:cNvGraphicFramePr>
              <a:graphicFrameLocks noChangeAspect="1"/>
            </p:cNvGraphicFramePr>
            <p:nvPr/>
          </p:nvGraphicFramePr>
          <p:xfrm>
            <a:off x="2262" y="2352"/>
            <a:ext cx="146" cy="192"/>
          </p:xfrm>
          <a:graphic>
            <a:graphicData uri="http://schemas.openxmlformats.org/presentationml/2006/ole">
              <p:oleObj spid="_x0000_s62466" name="Equation" r:id="rId3" imgW="177646" imgH="190335" progId="Equation.3">
                <p:embed/>
              </p:oleObj>
            </a:graphicData>
          </a:graphic>
        </p:graphicFrame>
        <p:graphicFrame>
          <p:nvGraphicFramePr>
            <p:cNvPr id="10248" name="Object 35"/>
            <p:cNvGraphicFramePr>
              <a:graphicFrameLocks noChangeAspect="1"/>
            </p:cNvGraphicFramePr>
            <p:nvPr/>
          </p:nvGraphicFramePr>
          <p:xfrm>
            <a:off x="528" y="1200"/>
            <a:ext cx="328" cy="248"/>
          </p:xfrm>
          <a:graphic>
            <a:graphicData uri="http://schemas.openxmlformats.org/presentationml/2006/ole">
              <p:oleObj spid="_x0000_s62467" name="Equation" r:id="rId4" imgW="533169" imgH="304668" progId="Equation.3">
                <p:embed/>
              </p:oleObj>
            </a:graphicData>
          </a:graphic>
        </p:graphicFrame>
        <p:sp>
          <p:nvSpPr>
            <p:cNvPr id="10257" name="Line 36"/>
            <p:cNvSpPr>
              <a:spLocks noChangeShapeType="1"/>
            </p:cNvSpPr>
            <p:nvPr/>
          </p:nvSpPr>
          <p:spPr bwMode="auto">
            <a:xfrm flipV="1">
              <a:off x="480" y="1200"/>
              <a:ext cx="0" cy="1107"/>
            </a:xfrm>
            <a:prstGeom prst="line">
              <a:avLst/>
            </a:prstGeom>
            <a:noFill/>
            <a:ln w="19050">
              <a:solidFill>
                <a:srgbClr val="1C1C1C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 b="1">
                <a:solidFill>
                  <a:srgbClr val="000000"/>
                </a:solidFill>
              </a:endParaRPr>
            </a:p>
          </p:txBody>
        </p:sp>
        <p:graphicFrame>
          <p:nvGraphicFramePr>
            <p:cNvPr id="10249" name="Object 37"/>
            <p:cNvGraphicFramePr>
              <a:graphicFrameLocks noChangeAspect="1"/>
            </p:cNvGraphicFramePr>
            <p:nvPr/>
          </p:nvGraphicFramePr>
          <p:xfrm>
            <a:off x="384" y="2304"/>
            <a:ext cx="218" cy="240"/>
          </p:xfrm>
          <a:graphic>
            <a:graphicData uri="http://schemas.openxmlformats.org/presentationml/2006/ole">
              <p:oleObj spid="_x0000_s62468" name="Equation" r:id="rId5" imgW="126835" imgH="139518" progId="Equation.3">
                <p:embed/>
              </p:oleObj>
            </a:graphicData>
          </a:graphic>
        </p:graphicFrame>
      </p:grpSp>
      <p:graphicFrame>
        <p:nvGraphicFramePr>
          <p:cNvPr id="39974" name="Object 38"/>
          <p:cNvGraphicFramePr>
            <a:graphicFrameLocks noChangeAspect="1"/>
          </p:cNvGraphicFramePr>
          <p:nvPr/>
        </p:nvGraphicFramePr>
        <p:xfrm>
          <a:off x="1043608" y="3933056"/>
          <a:ext cx="3048000" cy="1006475"/>
        </p:xfrm>
        <a:graphic>
          <a:graphicData uri="http://schemas.openxmlformats.org/presentationml/2006/ole">
            <p:oleObj spid="_x0000_s62469" name="Equation" r:id="rId6" imgW="1917700" imgH="609600" progId="Equation.3">
              <p:embed/>
            </p:oleObj>
          </a:graphicData>
        </a:graphic>
      </p:graphicFrame>
      <p:graphicFrame>
        <p:nvGraphicFramePr>
          <p:cNvPr id="10243" name="Object 40"/>
          <p:cNvGraphicFramePr>
            <a:graphicFrameLocks noChangeAspect="1"/>
          </p:cNvGraphicFramePr>
          <p:nvPr/>
        </p:nvGraphicFramePr>
        <p:xfrm>
          <a:off x="899592" y="1844824"/>
          <a:ext cx="6505575" cy="958850"/>
        </p:xfrm>
        <a:graphic>
          <a:graphicData uri="http://schemas.openxmlformats.org/presentationml/2006/ole">
            <p:oleObj spid="_x0000_s62470" name="公式" r:id="rId7" imgW="4038600" imgH="609600" progId="Equation.3">
              <p:embed/>
            </p:oleObj>
          </a:graphicData>
        </a:graphic>
      </p:graphicFrame>
      <p:sp>
        <p:nvSpPr>
          <p:cNvPr id="10251" name="Rectangle 41"/>
          <p:cNvSpPr>
            <a:spLocks noChangeArrowheads="1"/>
          </p:cNvSpPr>
          <p:nvPr/>
        </p:nvSpPr>
        <p:spPr bwMode="auto">
          <a:xfrm>
            <a:off x="900113" y="764704"/>
            <a:ext cx="2187575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3200" b="1" dirty="0">
                <a:solidFill>
                  <a:srgbClr val="CC0000"/>
                </a:solidFill>
                <a:latin typeface="Times New Roman" pitchFamily="18" charset="0"/>
              </a:rPr>
              <a:t>分布函数</a:t>
            </a:r>
          </a:p>
        </p:txBody>
      </p:sp>
      <p:grpSp>
        <p:nvGrpSpPr>
          <p:cNvPr id="3" name="Group 48"/>
          <p:cNvGrpSpPr>
            <a:grpSpLocks/>
          </p:cNvGrpSpPr>
          <p:nvPr/>
        </p:nvGrpSpPr>
        <p:grpSpPr bwMode="auto">
          <a:xfrm>
            <a:off x="5986264" y="4398640"/>
            <a:ext cx="1176337" cy="1617663"/>
            <a:chOff x="1185" y="2556"/>
            <a:chExt cx="741" cy="1019"/>
          </a:xfrm>
        </p:grpSpPr>
        <p:sp>
          <p:nvSpPr>
            <p:cNvPr id="10254" name="Rectangle 43" descr="宽上对角线"/>
            <p:cNvSpPr>
              <a:spLocks noChangeArrowheads="1"/>
            </p:cNvSpPr>
            <p:nvPr/>
          </p:nvSpPr>
          <p:spPr bwMode="auto">
            <a:xfrm>
              <a:off x="1302" y="2556"/>
              <a:ext cx="75" cy="757"/>
            </a:xfrm>
            <a:prstGeom prst="rect">
              <a:avLst/>
            </a:prstGeom>
            <a:pattFill prst="wdUpDiag">
              <a:fgClr>
                <a:srgbClr val="0000FF"/>
              </a:fgClr>
              <a:bgClr>
                <a:srgbClr val="CCECFF"/>
              </a:bgClr>
            </a:pattFill>
            <a:ln w="9525">
              <a:solidFill>
                <a:srgbClr val="53A2E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b="1">
                <a:solidFill>
                  <a:srgbClr val="000000"/>
                </a:solidFill>
              </a:endParaRPr>
            </a:p>
          </p:txBody>
        </p:sp>
        <p:graphicFrame>
          <p:nvGraphicFramePr>
            <p:cNvPr id="10244" name="Object 44"/>
            <p:cNvGraphicFramePr>
              <a:graphicFrameLocks noChangeAspect="1"/>
            </p:cNvGraphicFramePr>
            <p:nvPr/>
          </p:nvGraphicFramePr>
          <p:xfrm>
            <a:off x="1185" y="3372"/>
            <a:ext cx="165" cy="203"/>
          </p:xfrm>
          <a:graphic>
            <a:graphicData uri="http://schemas.openxmlformats.org/presentationml/2006/ole">
              <p:oleObj spid="_x0000_s62471" name="Equation" r:id="rId8" imgW="177646" imgH="190335" progId="Equation.3">
                <p:embed/>
              </p:oleObj>
            </a:graphicData>
          </a:graphic>
        </p:graphicFrame>
        <p:graphicFrame>
          <p:nvGraphicFramePr>
            <p:cNvPr id="10245" name="Object 45"/>
            <p:cNvGraphicFramePr>
              <a:graphicFrameLocks noChangeAspect="1"/>
            </p:cNvGraphicFramePr>
            <p:nvPr/>
          </p:nvGraphicFramePr>
          <p:xfrm>
            <a:off x="1350" y="3320"/>
            <a:ext cx="576" cy="244"/>
          </p:xfrm>
          <a:graphic>
            <a:graphicData uri="http://schemas.openxmlformats.org/presentationml/2006/ole">
              <p:oleObj spid="_x0000_s62472" name="Equation" r:id="rId9" imgW="660113" imgH="253890" progId="Equation.3">
                <p:embed/>
              </p:oleObj>
            </a:graphicData>
          </a:graphic>
        </p:graphicFrame>
        <p:graphicFrame>
          <p:nvGraphicFramePr>
            <p:cNvPr id="10246" name="Object 46"/>
            <p:cNvGraphicFramePr>
              <a:graphicFrameLocks noChangeAspect="1"/>
            </p:cNvGraphicFramePr>
            <p:nvPr/>
          </p:nvGraphicFramePr>
          <p:xfrm>
            <a:off x="1377" y="2700"/>
            <a:ext cx="336" cy="275"/>
          </p:xfrm>
          <a:graphic>
            <a:graphicData uri="http://schemas.openxmlformats.org/presentationml/2006/ole">
              <p:oleObj spid="_x0000_s62473" name="Equation" r:id="rId10" imgW="215619" imgH="177569" progId="Equation.3">
                <p:embed/>
              </p:oleObj>
            </a:graphicData>
          </a:graphic>
        </p:graphicFrame>
      </p:grpSp>
      <p:sp>
        <p:nvSpPr>
          <p:cNvPr id="10253" name="Freeform 47"/>
          <p:cNvSpPr>
            <a:spLocks/>
          </p:cNvSpPr>
          <p:nvPr/>
        </p:nvSpPr>
        <p:spPr bwMode="auto">
          <a:xfrm>
            <a:off x="5376664" y="4192265"/>
            <a:ext cx="3060700" cy="1425575"/>
          </a:xfrm>
          <a:custGeom>
            <a:avLst/>
            <a:gdLst>
              <a:gd name="T0" fmla="*/ 0 w 1928"/>
              <a:gd name="T1" fmla="*/ 2147483647 h 898"/>
              <a:gd name="T2" fmla="*/ 2147483647 w 1928"/>
              <a:gd name="T3" fmla="*/ 2147483647 h 898"/>
              <a:gd name="T4" fmla="*/ 2147483647 w 1928"/>
              <a:gd name="T5" fmla="*/ 2147483647 h 898"/>
              <a:gd name="T6" fmla="*/ 2147483647 w 1928"/>
              <a:gd name="T7" fmla="*/ 2147483647 h 898"/>
              <a:gd name="T8" fmla="*/ 2147483647 w 1928"/>
              <a:gd name="T9" fmla="*/ 2147483647 h 898"/>
              <a:gd name="T10" fmla="*/ 2147483647 w 1928"/>
              <a:gd name="T11" fmla="*/ 2147483647 h 898"/>
              <a:gd name="T12" fmla="*/ 2147483647 w 1928"/>
              <a:gd name="T13" fmla="*/ 2147483647 h 898"/>
              <a:gd name="T14" fmla="*/ 2147483647 w 1928"/>
              <a:gd name="T15" fmla="*/ 2147483647 h 898"/>
              <a:gd name="T16" fmla="*/ 2147483647 w 1928"/>
              <a:gd name="T17" fmla="*/ 2147483647 h 898"/>
              <a:gd name="T18" fmla="*/ 2147483647 w 1928"/>
              <a:gd name="T19" fmla="*/ 2147483647 h 898"/>
              <a:gd name="T20" fmla="*/ 2147483647 w 1928"/>
              <a:gd name="T21" fmla="*/ 2147483647 h 898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1928"/>
              <a:gd name="T34" fmla="*/ 0 h 898"/>
              <a:gd name="T35" fmla="*/ 1928 w 1928"/>
              <a:gd name="T36" fmla="*/ 898 h 898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1928" h="898">
                <a:moveTo>
                  <a:pt x="0" y="898"/>
                </a:moveTo>
                <a:cubicBezTo>
                  <a:pt x="54" y="872"/>
                  <a:pt x="108" y="846"/>
                  <a:pt x="175" y="764"/>
                </a:cubicBezTo>
                <a:cubicBezTo>
                  <a:pt x="242" y="683"/>
                  <a:pt x="330" y="523"/>
                  <a:pt x="400" y="409"/>
                </a:cubicBezTo>
                <a:cubicBezTo>
                  <a:pt x="470" y="293"/>
                  <a:pt x="536" y="139"/>
                  <a:pt x="600" y="75"/>
                </a:cubicBezTo>
                <a:cubicBezTo>
                  <a:pt x="664" y="11"/>
                  <a:pt x="719" y="0"/>
                  <a:pt x="782" y="26"/>
                </a:cubicBezTo>
                <a:cubicBezTo>
                  <a:pt x="845" y="52"/>
                  <a:pt x="905" y="158"/>
                  <a:pt x="975" y="231"/>
                </a:cubicBezTo>
                <a:cubicBezTo>
                  <a:pt x="1045" y="304"/>
                  <a:pt x="1132" y="400"/>
                  <a:pt x="1203" y="467"/>
                </a:cubicBezTo>
                <a:cubicBezTo>
                  <a:pt x="1274" y="534"/>
                  <a:pt x="1317" y="577"/>
                  <a:pt x="1402" y="631"/>
                </a:cubicBezTo>
                <a:cubicBezTo>
                  <a:pt x="1487" y="686"/>
                  <a:pt x="1629" y="759"/>
                  <a:pt x="1711" y="796"/>
                </a:cubicBezTo>
                <a:cubicBezTo>
                  <a:pt x="1793" y="832"/>
                  <a:pt x="1864" y="843"/>
                  <a:pt x="1896" y="852"/>
                </a:cubicBezTo>
                <a:cubicBezTo>
                  <a:pt x="1928" y="861"/>
                  <a:pt x="1902" y="852"/>
                  <a:pt x="1903" y="852"/>
                </a:cubicBezTo>
              </a:path>
            </a:pathLst>
          </a:custGeom>
          <a:noFill/>
          <a:ln w="28575" cmpd="sng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b="1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39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"/>
          <p:cNvGrpSpPr/>
          <p:nvPr/>
        </p:nvGrpSpPr>
        <p:grpSpPr>
          <a:xfrm>
            <a:off x="473508" y="3138217"/>
            <a:ext cx="4433771" cy="757568"/>
            <a:chOff x="473508" y="3138217"/>
            <a:chExt cx="4433771" cy="757568"/>
          </a:xfrm>
        </p:grpSpPr>
        <p:sp>
          <p:nvSpPr>
            <p:cNvPr id="16" name="Oval 19"/>
            <p:cNvSpPr>
              <a:spLocks noChangeArrowheads="1"/>
            </p:cNvSpPr>
            <p:nvPr/>
          </p:nvSpPr>
          <p:spPr bwMode="auto">
            <a:xfrm>
              <a:off x="473508" y="3138217"/>
              <a:ext cx="3849471" cy="757568"/>
            </a:xfrm>
            <a:prstGeom prst="ellipse">
              <a:avLst/>
            </a:prstGeom>
            <a:solidFill>
              <a:srgbClr val="FFFFCC"/>
            </a:solidFill>
            <a:ln w="19050">
              <a:solidFill>
                <a:srgbClr val="CC66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b="1">
                <a:solidFill>
                  <a:srgbClr val="000000"/>
                </a:solidFill>
              </a:endParaRPr>
            </a:p>
          </p:txBody>
        </p:sp>
        <p:sp>
          <p:nvSpPr>
            <p:cNvPr id="17" name="Rectangle 22"/>
            <p:cNvSpPr>
              <a:spLocks noChangeArrowheads="1"/>
            </p:cNvSpPr>
            <p:nvPr/>
          </p:nvSpPr>
          <p:spPr bwMode="auto">
            <a:xfrm>
              <a:off x="1173140" y="3209337"/>
              <a:ext cx="3734139" cy="5792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sz="3200" b="1" i="1" dirty="0">
                  <a:solidFill>
                    <a:srgbClr val="000000"/>
                  </a:solidFill>
                  <a:latin typeface="Times New Roman" pitchFamily="18" charset="0"/>
                </a:rPr>
                <a:t>        </a:t>
              </a:r>
              <a:r>
                <a:rPr lang="zh-CN" altLang="en-US" sz="3200" b="1" dirty="0">
                  <a:solidFill>
                    <a:srgbClr val="000000"/>
                  </a:solidFill>
                  <a:latin typeface="Times New Roman" pitchFamily="18" charset="0"/>
                </a:rPr>
                <a:t>物理意义</a:t>
              </a:r>
            </a:p>
          </p:txBody>
        </p:sp>
      </p:grpSp>
      <p:grpSp>
        <p:nvGrpSpPr>
          <p:cNvPr id="3" name="Group 26"/>
          <p:cNvGrpSpPr>
            <a:grpSpLocks/>
          </p:cNvGrpSpPr>
          <p:nvPr/>
        </p:nvGrpSpPr>
        <p:grpSpPr bwMode="auto">
          <a:xfrm>
            <a:off x="971550" y="4065240"/>
            <a:ext cx="7200900" cy="1066800"/>
            <a:chOff x="884" y="2795"/>
            <a:chExt cx="4536" cy="672"/>
          </a:xfrm>
        </p:grpSpPr>
        <p:sp>
          <p:nvSpPr>
            <p:cNvPr id="11278" name="Rectangle 13"/>
            <p:cNvSpPr>
              <a:spLocks noChangeArrowheads="1"/>
            </p:cNvSpPr>
            <p:nvPr/>
          </p:nvSpPr>
          <p:spPr bwMode="auto">
            <a:xfrm>
              <a:off x="884" y="2795"/>
              <a:ext cx="4536" cy="6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sz="3200" b="1" dirty="0">
                  <a:solidFill>
                    <a:srgbClr val="000000"/>
                  </a:solidFill>
                  <a:latin typeface="Times New Roman" pitchFamily="18" charset="0"/>
                </a:rPr>
                <a:t>        </a:t>
              </a:r>
              <a:r>
                <a:rPr lang="zh-CN" altLang="en-US" sz="3200" b="1" dirty="0">
                  <a:solidFill>
                    <a:srgbClr val="000000"/>
                  </a:solidFill>
                  <a:latin typeface="Times New Roman" pitchFamily="18" charset="0"/>
                </a:rPr>
                <a:t>表示速率在                        区间的分子数占总分子数的百分比</a:t>
              </a:r>
              <a:r>
                <a:rPr lang="en-US" altLang="zh-CN" sz="3200" b="1" dirty="0">
                  <a:solidFill>
                    <a:srgbClr val="000000"/>
                  </a:solidFill>
                  <a:latin typeface="Times New Roman" pitchFamily="18" charset="0"/>
                </a:rPr>
                <a:t>.</a:t>
              </a:r>
            </a:p>
          </p:txBody>
        </p:sp>
        <p:graphicFrame>
          <p:nvGraphicFramePr>
            <p:cNvPr id="11270" name="Object 1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xmlns="" val="2672977027"/>
                </p:ext>
              </p:extLst>
            </p:nvPr>
          </p:nvGraphicFramePr>
          <p:xfrm>
            <a:off x="2809" y="2815"/>
            <a:ext cx="1484" cy="316"/>
          </p:xfrm>
          <a:graphic>
            <a:graphicData uri="http://schemas.openxmlformats.org/presentationml/2006/ole">
              <p:oleObj spid="_x0000_s63490" name="Equation" r:id="rId3" imgW="723600" imgH="177480" progId="Equation.DSMT4">
                <p:embed/>
              </p:oleObj>
            </a:graphicData>
          </a:graphic>
        </p:graphicFrame>
      </p:grpSp>
      <p:grpSp>
        <p:nvGrpSpPr>
          <p:cNvPr id="5" name="Group 32"/>
          <p:cNvGrpSpPr>
            <a:grpSpLocks/>
          </p:cNvGrpSpPr>
          <p:nvPr/>
        </p:nvGrpSpPr>
        <p:grpSpPr bwMode="auto">
          <a:xfrm>
            <a:off x="611560" y="132120"/>
            <a:ext cx="3168650" cy="1008063"/>
            <a:chOff x="521" y="572"/>
            <a:chExt cx="1853" cy="590"/>
          </a:xfrm>
        </p:grpSpPr>
        <p:sp>
          <p:nvSpPr>
            <p:cNvPr id="11276" name="Oval 19"/>
            <p:cNvSpPr>
              <a:spLocks noChangeArrowheads="1"/>
            </p:cNvSpPr>
            <p:nvPr/>
          </p:nvSpPr>
          <p:spPr bwMode="auto">
            <a:xfrm>
              <a:off x="521" y="572"/>
              <a:ext cx="1769" cy="590"/>
            </a:xfrm>
            <a:prstGeom prst="ellipse">
              <a:avLst/>
            </a:prstGeom>
            <a:solidFill>
              <a:srgbClr val="FFFFCC"/>
            </a:solidFill>
            <a:ln w="19050">
              <a:solidFill>
                <a:srgbClr val="CC66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b="1">
                <a:solidFill>
                  <a:srgbClr val="000000"/>
                </a:solidFill>
              </a:endParaRPr>
            </a:p>
          </p:txBody>
        </p:sp>
        <p:sp>
          <p:nvSpPr>
            <p:cNvPr id="11277" name="Rectangle 22"/>
            <p:cNvSpPr>
              <a:spLocks noChangeArrowheads="1"/>
            </p:cNvSpPr>
            <p:nvPr/>
          </p:nvSpPr>
          <p:spPr bwMode="auto">
            <a:xfrm>
              <a:off x="658" y="709"/>
              <a:ext cx="1716" cy="3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sz="3200" b="1" i="1" dirty="0">
                  <a:solidFill>
                    <a:srgbClr val="000000"/>
                  </a:solidFill>
                  <a:latin typeface="Times New Roman" pitchFamily="18" charset="0"/>
                </a:rPr>
                <a:t>        </a:t>
              </a:r>
              <a:r>
                <a:rPr lang="zh-CN" altLang="en-US" sz="3200" b="1" dirty="0">
                  <a:solidFill>
                    <a:srgbClr val="000000"/>
                  </a:solidFill>
                  <a:latin typeface="Times New Roman" pitchFamily="18" charset="0"/>
                </a:rPr>
                <a:t>物理意义</a:t>
              </a:r>
            </a:p>
          </p:txBody>
        </p:sp>
      </p:grpSp>
      <p:grpSp>
        <p:nvGrpSpPr>
          <p:cNvPr id="6" name="Group 31"/>
          <p:cNvGrpSpPr>
            <a:grpSpLocks/>
          </p:cNvGrpSpPr>
          <p:nvPr/>
        </p:nvGrpSpPr>
        <p:grpSpPr bwMode="auto">
          <a:xfrm>
            <a:off x="827088" y="1356256"/>
            <a:ext cx="7561262" cy="1570037"/>
            <a:chOff x="521" y="1237"/>
            <a:chExt cx="4763" cy="989"/>
          </a:xfrm>
        </p:grpSpPr>
        <p:sp>
          <p:nvSpPr>
            <p:cNvPr id="11275" name="Text Box 20"/>
            <p:cNvSpPr txBox="1">
              <a:spLocks noChangeArrowheads="1"/>
            </p:cNvSpPr>
            <p:nvPr/>
          </p:nvSpPr>
          <p:spPr bwMode="auto">
            <a:xfrm>
              <a:off x="521" y="1237"/>
              <a:ext cx="4763" cy="9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solidFill>
                    <a:srgbClr val="1C1C1C"/>
                  </a:solidFill>
                  <a:latin typeface="Times New Roman" pitchFamily="18" charset="0"/>
                </a:rPr>
                <a:t>        </a:t>
              </a:r>
              <a:r>
                <a:rPr lang="zh-CN" altLang="en-US" sz="3200" b="1" dirty="0">
                  <a:solidFill>
                    <a:srgbClr val="000000"/>
                  </a:solidFill>
                  <a:latin typeface="Times New Roman" pitchFamily="18" charset="0"/>
                </a:rPr>
                <a:t>表示在温度为     的平衡状态下，速率在</a:t>
              </a:r>
              <a:r>
                <a:rPr lang="zh-CN" altLang="en-US" sz="3200" b="1" dirty="0">
                  <a:solidFill>
                    <a:srgbClr val="1C1C1C"/>
                  </a:solidFill>
                  <a:latin typeface="Times New Roman" pitchFamily="18" charset="0"/>
                </a:rPr>
                <a:t>     </a:t>
              </a:r>
              <a:r>
                <a:rPr lang="zh-CN" altLang="en-US" sz="3200" b="1" dirty="0">
                  <a:solidFill>
                    <a:srgbClr val="000000"/>
                  </a:solidFill>
                  <a:latin typeface="Times New Roman" pitchFamily="18" charset="0"/>
                </a:rPr>
                <a:t>附近</a:t>
              </a:r>
              <a:r>
                <a:rPr lang="zh-CN" altLang="en-US" sz="3200" b="1" dirty="0">
                  <a:solidFill>
                    <a:srgbClr val="FF0000"/>
                  </a:solidFill>
                  <a:latin typeface="Times New Roman" pitchFamily="18" charset="0"/>
                </a:rPr>
                <a:t>单位速率区间</a:t>
              </a:r>
              <a:r>
                <a:rPr lang="zh-CN" altLang="en-US" sz="3200" b="1" dirty="0">
                  <a:solidFill>
                    <a:srgbClr val="000000"/>
                  </a:solidFill>
                  <a:latin typeface="Times New Roman" pitchFamily="18" charset="0"/>
                </a:rPr>
                <a:t> 的分子数占总数的百分比 </a:t>
              </a:r>
              <a:r>
                <a:rPr lang="en-US" altLang="zh-CN" sz="3200" b="1" dirty="0">
                  <a:solidFill>
                    <a:srgbClr val="000000"/>
                  </a:solidFill>
                  <a:latin typeface="Times New Roman" pitchFamily="18" charset="0"/>
                </a:rPr>
                <a:t>.</a:t>
              </a:r>
            </a:p>
          </p:txBody>
        </p:sp>
        <p:graphicFrame>
          <p:nvGraphicFramePr>
            <p:cNvPr id="11268" name="Object 21"/>
            <p:cNvGraphicFramePr>
              <a:graphicFrameLocks noChangeAspect="1"/>
            </p:cNvGraphicFramePr>
            <p:nvPr/>
          </p:nvGraphicFramePr>
          <p:xfrm>
            <a:off x="1111" y="1640"/>
            <a:ext cx="224" cy="232"/>
          </p:xfrm>
          <a:graphic>
            <a:graphicData uri="http://schemas.openxmlformats.org/presentationml/2006/ole">
              <p:oleObj spid="_x0000_s63491" name="Equation" r:id="rId4" imgW="177646" imgH="190335" progId="Equation.3">
                <p:embed/>
              </p:oleObj>
            </a:graphicData>
          </a:graphic>
        </p:graphicFrame>
        <p:graphicFrame>
          <p:nvGraphicFramePr>
            <p:cNvPr id="11269" name="Object 23"/>
            <p:cNvGraphicFramePr>
              <a:graphicFrameLocks noChangeAspect="1"/>
            </p:cNvGraphicFramePr>
            <p:nvPr/>
          </p:nvGraphicFramePr>
          <p:xfrm>
            <a:off x="2708" y="1298"/>
            <a:ext cx="178" cy="227"/>
          </p:xfrm>
          <a:graphic>
            <a:graphicData uri="http://schemas.openxmlformats.org/presentationml/2006/ole">
              <p:oleObj spid="_x0000_s63492" name="Equation" r:id="rId5" imgW="203112" imgH="228501" progId="Equation.3">
                <p:embed/>
              </p:oleObj>
            </a:graphicData>
          </a:graphic>
        </p:graphicFrame>
      </p:grpSp>
      <p:graphicFrame>
        <p:nvGraphicFramePr>
          <p:cNvPr id="11267" name="Object 40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xmlns="" val="2513093466"/>
              </p:ext>
            </p:extLst>
          </p:nvPr>
        </p:nvGraphicFramePr>
        <p:xfrm>
          <a:off x="875085" y="426676"/>
          <a:ext cx="815975" cy="533400"/>
        </p:xfrm>
        <a:graphic>
          <a:graphicData uri="http://schemas.openxmlformats.org/presentationml/2006/ole">
            <p:oleObj spid="_x0000_s63493" name="公式" r:id="rId6" imgW="330057" imgH="215806" progId="Equation.3">
              <p:embed/>
            </p:oleObj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865423436"/>
              </p:ext>
            </p:extLst>
          </p:nvPr>
        </p:nvGraphicFramePr>
        <p:xfrm>
          <a:off x="2733992" y="5303202"/>
          <a:ext cx="2427287" cy="1044499"/>
        </p:xfrm>
        <a:graphic>
          <a:graphicData uri="http://schemas.openxmlformats.org/presentationml/2006/ole">
            <p:oleObj spid="_x0000_s63494" name="Equation" r:id="rId7" imgW="876240" imgH="393480" progId="Equation.DSMT4">
              <p:embed/>
            </p:oleObj>
          </a:graphicData>
        </a:graphic>
      </p:graphicFrame>
      <p:graphicFrame>
        <p:nvGraphicFramePr>
          <p:cNvPr id="51229" name="Object 29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xmlns="" val="1911702716"/>
              </p:ext>
            </p:extLst>
          </p:nvPr>
        </p:nvGraphicFramePr>
        <p:xfrm>
          <a:off x="900113" y="3279363"/>
          <a:ext cx="1225550" cy="547687"/>
        </p:xfrm>
        <a:graphic>
          <a:graphicData uri="http://schemas.openxmlformats.org/presentationml/2006/ole">
            <p:oleObj spid="_x0000_s63495" name="Equation" r:id="rId8" imgW="482400" imgH="21564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5411153" y="1513840"/>
            <a:ext cx="3505200" cy="2133600"/>
            <a:chOff x="288" y="672"/>
            <a:chExt cx="2208" cy="1344"/>
          </a:xfrm>
        </p:grpSpPr>
        <p:sp>
          <p:nvSpPr>
            <p:cNvPr id="12313" name="Line 4"/>
            <p:cNvSpPr>
              <a:spLocks noChangeShapeType="1"/>
            </p:cNvSpPr>
            <p:nvPr/>
          </p:nvSpPr>
          <p:spPr bwMode="auto">
            <a:xfrm>
              <a:off x="460" y="1728"/>
              <a:ext cx="2036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 b="1">
                <a:solidFill>
                  <a:srgbClr val="000000"/>
                </a:solidFill>
              </a:endParaRPr>
            </a:p>
          </p:txBody>
        </p:sp>
        <p:graphicFrame>
          <p:nvGraphicFramePr>
            <p:cNvPr id="12299" name="Object 5"/>
            <p:cNvGraphicFramePr>
              <a:graphicFrameLocks noChangeAspect="1"/>
            </p:cNvGraphicFramePr>
            <p:nvPr/>
          </p:nvGraphicFramePr>
          <p:xfrm>
            <a:off x="2208" y="1776"/>
            <a:ext cx="196" cy="240"/>
          </p:xfrm>
          <a:graphic>
            <a:graphicData uri="http://schemas.openxmlformats.org/presentationml/2006/ole">
              <p:oleObj spid="_x0000_s64514" name="Equation" r:id="rId3" imgW="177646" imgH="190335" progId="Equation.3">
                <p:embed/>
              </p:oleObj>
            </a:graphicData>
          </a:graphic>
        </p:graphicFrame>
        <p:graphicFrame>
          <p:nvGraphicFramePr>
            <p:cNvPr id="12300" name="Object 6"/>
            <p:cNvGraphicFramePr>
              <a:graphicFrameLocks noChangeAspect="1"/>
            </p:cNvGraphicFramePr>
            <p:nvPr/>
          </p:nvGraphicFramePr>
          <p:xfrm>
            <a:off x="528" y="672"/>
            <a:ext cx="394" cy="251"/>
          </p:xfrm>
          <a:graphic>
            <a:graphicData uri="http://schemas.openxmlformats.org/presentationml/2006/ole">
              <p:oleObj spid="_x0000_s64515" name="Equation" r:id="rId4" imgW="533169" imgH="304668" progId="Equation.3">
                <p:embed/>
              </p:oleObj>
            </a:graphicData>
          </a:graphic>
        </p:graphicFrame>
        <p:graphicFrame>
          <p:nvGraphicFramePr>
            <p:cNvPr id="12301" name="Object 7"/>
            <p:cNvGraphicFramePr>
              <a:graphicFrameLocks noChangeAspect="1"/>
            </p:cNvGraphicFramePr>
            <p:nvPr/>
          </p:nvGraphicFramePr>
          <p:xfrm>
            <a:off x="288" y="1750"/>
            <a:ext cx="241" cy="266"/>
          </p:xfrm>
          <a:graphic>
            <a:graphicData uri="http://schemas.openxmlformats.org/presentationml/2006/ole">
              <p:oleObj spid="_x0000_s64516" name="Equation" r:id="rId5" imgW="126835" imgH="139518" progId="Equation.3">
                <p:embed/>
              </p:oleObj>
            </a:graphicData>
          </a:graphic>
        </p:graphicFrame>
        <p:sp>
          <p:nvSpPr>
            <p:cNvPr id="12314" name="Line 8"/>
            <p:cNvSpPr>
              <a:spLocks noChangeShapeType="1"/>
            </p:cNvSpPr>
            <p:nvPr/>
          </p:nvSpPr>
          <p:spPr bwMode="auto">
            <a:xfrm flipV="1">
              <a:off x="480" y="672"/>
              <a:ext cx="0" cy="105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sm" len="lg"/>
            </a:ln>
          </p:spPr>
          <p:txBody>
            <a:bodyPr wrap="none"/>
            <a:lstStyle/>
            <a:p>
              <a:endParaRPr lang="zh-CN" altLang="en-US" b="1">
                <a:solidFill>
                  <a:srgbClr val="000000"/>
                </a:solidFill>
              </a:endParaRPr>
            </a:p>
          </p:txBody>
        </p:sp>
      </p:grp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6797040" y="1771015"/>
            <a:ext cx="1055688" cy="1927225"/>
            <a:chOff x="1152" y="850"/>
            <a:chExt cx="665" cy="1214"/>
          </a:xfrm>
        </p:grpSpPr>
        <p:sp>
          <p:nvSpPr>
            <p:cNvPr id="12311" name="Freeform 10" descr="宽下对角线"/>
            <p:cNvSpPr>
              <a:spLocks/>
            </p:cNvSpPr>
            <p:nvPr/>
          </p:nvSpPr>
          <p:spPr bwMode="auto">
            <a:xfrm>
              <a:off x="1296" y="850"/>
              <a:ext cx="378" cy="878"/>
            </a:xfrm>
            <a:custGeom>
              <a:avLst/>
              <a:gdLst>
                <a:gd name="T0" fmla="*/ 0 w 378"/>
                <a:gd name="T1" fmla="*/ 878 h 878"/>
                <a:gd name="T2" fmla="*/ 4 w 378"/>
                <a:gd name="T3" fmla="*/ 0 h 878"/>
                <a:gd name="T4" fmla="*/ 97 w 378"/>
                <a:gd name="T5" fmla="*/ 103 h 878"/>
                <a:gd name="T6" fmla="*/ 172 w 378"/>
                <a:gd name="T7" fmla="*/ 239 h 878"/>
                <a:gd name="T8" fmla="*/ 284 w 378"/>
                <a:gd name="T9" fmla="*/ 407 h 878"/>
                <a:gd name="T10" fmla="*/ 369 w 378"/>
                <a:gd name="T11" fmla="*/ 513 h 878"/>
                <a:gd name="T12" fmla="*/ 378 w 378"/>
                <a:gd name="T13" fmla="*/ 878 h 878"/>
                <a:gd name="T14" fmla="*/ 0 w 378"/>
                <a:gd name="T15" fmla="*/ 878 h 87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378"/>
                <a:gd name="T25" fmla="*/ 0 h 878"/>
                <a:gd name="T26" fmla="*/ 378 w 378"/>
                <a:gd name="T27" fmla="*/ 878 h 878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378" h="878">
                  <a:moveTo>
                    <a:pt x="0" y="878"/>
                  </a:moveTo>
                  <a:lnTo>
                    <a:pt x="4" y="0"/>
                  </a:lnTo>
                  <a:lnTo>
                    <a:pt x="97" y="103"/>
                  </a:lnTo>
                  <a:lnTo>
                    <a:pt x="172" y="239"/>
                  </a:lnTo>
                  <a:lnTo>
                    <a:pt x="284" y="407"/>
                  </a:lnTo>
                  <a:lnTo>
                    <a:pt x="369" y="513"/>
                  </a:lnTo>
                  <a:lnTo>
                    <a:pt x="378" y="878"/>
                  </a:lnTo>
                  <a:lnTo>
                    <a:pt x="0" y="878"/>
                  </a:lnTo>
                  <a:close/>
                </a:path>
              </a:pathLst>
            </a:custGeom>
            <a:blipFill>
              <a:blip r:embed="rId6" cstate="print"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b="1">
                <a:solidFill>
                  <a:srgbClr val="000000"/>
                </a:solidFill>
              </a:endParaRPr>
            </a:p>
          </p:txBody>
        </p:sp>
        <p:graphicFrame>
          <p:nvGraphicFramePr>
            <p:cNvPr id="12296" name="Object 11"/>
            <p:cNvGraphicFramePr>
              <a:graphicFrameLocks noChangeAspect="1"/>
            </p:cNvGraphicFramePr>
            <p:nvPr/>
          </p:nvGraphicFramePr>
          <p:xfrm>
            <a:off x="1152" y="1680"/>
            <a:ext cx="272" cy="384"/>
          </p:xfrm>
          <a:graphic>
            <a:graphicData uri="http://schemas.openxmlformats.org/presentationml/2006/ole">
              <p:oleObj spid="_x0000_s64517" name="Equation" r:id="rId7" imgW="228501" imgH="317362" progId="Equation.3">
                <p:embed/>
              </p:oleObj>
            </a:graphicData>
          </a:graphic>
        </p:graphicFrame>
        <p:graphicFrame>
          <p:nvGraphicFramePr>
            <p:cNvPr id="12297" name="Object 12"/>
            <p:cNvGraphicFramePr>
              <a:graphicFrameLocks noChangeAspect="1"/>
            </p:cNvGraphicFramePr>
            <p:nvPr/>
          </p:nvGraphicFramePr>
          <p:xfrm>
            <a:off x="1296" y="1398"/>
            <a:ext cx="336" cy="234"/>
          </p:xfrm>
          <a:graphic>
            <a:graphicData uri="http://schemas.openxmlformats.org/presentationml/2006/ole">
              <p:oleObj spid="_x0000_s64518" name="公式" r:id="rId8" imgW="342751" imgH="241195" progId="Equation.3">
                <p:embed/>
              </p:oleObj>
            </a:graphicData>
          </a:graphic>
        </p:graphicFrame>
        <p:graphicFrame>
          <p:nvGraphicFramePr>
            <p:cNvPr id="12298" name="Object 13"/>
            <p:cNvGraphicFramePr>
              <a:graphicFrameLocks noChangeAspect="1"/>
            </p:cNvGraphicFramePr>
            <p:nvPr/>
          </p:nvGraphicFramePr>
          <p:xfrm>
            <a:off x="1584" y="1776"/>
            <a:ext cx="233" cy="271"/>
          </p:xfrm>
          <a:graphic>
            <a:graphicData uri="http://schemas.openxmlformats.org/presentationml/2006/ole">
              <p:oleObj spid="_x0000_s64519" name="Equation" r:id="rId9" imgW="355446" imgH="368140" progId="Equation.3">
                <p:embed/>
              </p:oleObj>
            </a:graphicData>
          </a:graphic>
        </p:graphicFrame>
      </p:grpSp>
      <p:graphicFrame>
        <p:nvGraphicFramePr>
          <p:cNvPr id="40979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551194220"/>
              </p:ext>
            </p:extLst>
          </p:nvPr>
        </p:nvGraphicFramePr>
        <p:xfrm>
          <a:off x="889292" y="2126298"/>
          <a:ext cx="2954998" cy="1013142"/>
        </p:xfrm>
        <a:graphic>
          <a:graphicData uri="http://schemas.openxmlformats.org/presentationml/2006/ole">
            <p:oleObj spid="_x0000_s64520" name="Equation" r:id="rId10" imgW="1091880" imgH="393480" progId="Equation.DSMT4">
              <p:embed/>
            </p:oleObj>
          </a:graphicData>
        </a:graphic>
      </p:graphicFrame>
      <p:grpSp>
        <p:nvGrpSpPr>
          <p:cNvPr id="4" name="Group 54"/>
          <p:cNvGrpSpPr>
            <a:grpSpLocks/>
          </p:cNvGrpSpPr>
          <p:nvPr/>
        </p:nvGrpSpPr>
        <p:grpSpPr bwMode="auto">
          <a:xfrm>
            <a:off x="556260" y="290197"/>
            <a:ext cx="8282940" cy="1274764"/>
            <a:chOff x="2744" y="1298"/>
            <a:chExt cx="2903" cy="803"/>
          </a:xfrm>
        </p:grpSpPr>
        <p:sp>
          <p:nvSpPr>
            <p:cNvPr id="12309" name="Text Box 21"/>
            <p:cNvSpPr txBox="1">
              <a:spLocks noChangeArrowheads="1"/>
            </p:cNvSpPr>
            <p:nvPr/>
          </p:nvSpPr>
          <p:spPr bwMode="auto">
            <a:xfrm>
              <a:off x="2744" y="1298"/>
              <a:ext cx="2903" cy="8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Bef>
                  <a:spcPct val="50000"/>
                </a:spcBef>
              </a:pPr>
              <a:r>
                <a:rPr lang="zh-CN" altLang="en-US" sz="3200" b="1" dirty="0">
                  <a:solidFill>
                    <a:srgbClr val="000000"/>
                  </a:solidFill>
                  <a:latin typeface="Times New Roman" pitchFamily="18" charset="0"/>
                </a:rPr>
                <a:t>速率位于           </a:t>
              </a:r>
              <a:r>
                <a:rPr lang="zh-CN" altLang="en-US" sz="3200" b="1" dirty="0" smtClean="0">
                  <a:solidFill>
                    <a:srgbClr val="000000"/>
                  </a:solidFill>
                  <a:latin typeface="Times New Roman" pitchFamily="18" charset="0"/>
                </a:rPr>
                <a:t>      区</a:t>
              </a:r>
              <a:r>
                <a:rPr lang="zh-CN" altLang="en-US" sz="3200" b="1" dirty="0">
                  <a:solidFill>
                    <a:srgbClr val="000000"/>
                  </a:solidFill>
                  <a:latin typeface="Times New Roman" pitchFamily="18" charset="0"/>
                </a:rPr>
                <a:t>间的分子</a:t>
              </a:r>
              <a:r>
                <a:rPr lang="zh-CN" altLang="en-US" sz="3200" b="1" dirty="0" smtClean="0">
                  <a:solidFill>
                    <a:srgbClr val="000000"/>
                  </a:solidFill>
                  <a:latin typeface="Times New Roman" pitchFamily="18" charset="0"/>
                </a:rPr>
                <a:t>数，占总</a:t>
              </a:r>
              <a:r>
                <a:rPr lang="zh-CN" altLang="en-US" sz="3200" b="1" dirty="0">
                  <a:solidFill>
                    <a:srgbClr val="000000"/>
                  </a:solidFill>
                  <a:latin typeface="Times New Roman" pitchFamily="18" charset="0"/>
                </a:rPr>
                <a:t>分子</a:t>
              </a:r>
              <a:r>
                <a:rPr lang="zh-CN" altLang="en-US" sz="3200" b="1" dirty="0" smtClean="0">
                  <a:solidFill>
                    <a:srgbClr val="000000"/>
                  </a:solidFill>
                  <a:latin typeface="Times New Roman" pitchFamily="18" charset="0"/>
                </a:rPr>
                <a:t>数的百分比：</a:t>
              </a:r>
              <a:endParaRPr lang="zh-CN" altLang="en-US" sz="3200" b="1" dirty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graphicFrame>
          <p:nvGraphicFramePr>
            <p:cNvPr id="12294" name="Object 2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xmlns="" val="3603301258"/>
                </p:ext>
              </p:extLst>
            </p:nvPr>
          </p:nvGraphicFramePr>
          <p:xfrm>
            <a:off x="3357" y="1304"/>
            <a:ext cx="596" cy="343"/>
          </p:xfrm>
          <a:graphic>
            <a:graphicData uri="http://schemas.openxmlformats.org/presentationml/2006/ole">
              <p:oleObj spid="_x0000_s64521" name="Equation" r:id="rId11" imgW="850531" imgH="317362" progId="Equation.3">
                <p:embed/>
              </p:oleObj>
            </a:graphicData>
          </a:graphic>
        </p:graphicFrame>
      </p:grpSp>
      <p:sp>
        <p:nvSpPr>
          <p:cNvPr id="12307" name="Freeform 27"/>
          <p:cNvSpPr>
            <a:spLocks/>
          </p:cNvSpPr>
          <p:nvPr/>
        </p:nvSpPr>
        <p:spPr bwMode="auto">
          <a:xfrm>
            <a:off x="5730240" y="1640840"/>
            <a:ext cx="2971800" cy="1549400"/>
          </a:xfrm>
          <a:custGeom>
            <a:avLst/>
            <a:gdLst>
              <a:gd name="T0" fmla="*/ 0 w 2136"/>
              <a:gd name="T1" fmla="*/ 2147483647 h 1023"/>
              <a:gd name="T2" fmla="*/ 2147483647 w 2136"/>
              <a:gd name="T3" fmla="*/ 2147483647 h 1023"/>
              <a:gd name="T4" fmla="*/ 2147483647 w 2136"/>
              <a:gd name="T5" fmla="*/ 2147483647 h 1023"/>
              <a:gd name="T6" fmla="*/ 2147483647 w 2136"/>
              <a:gd name="T7" fmla="*/ 2147483647 h 1023"/>
              <a:gd name="T8" fmla="*/ 2147483647 w 2136"/>
              <a:gd name="T9" fmla="*/ 2147483647 h 1023"/>
              <a:gd name="T10" fmla="*/ 2147483647 w 2136"/>
              <a:gd name="T11" fmla="*/ 2147483647 h 1023"/>
              <a:gd name="T12" fmla="*/ 2147483647 w 2136"/>
              <a:gd name="T13" fmla="*/ 2147483647 h 1023"/>
              <a:gd name="T14" fmla="*/ 2147483647 w 2136"/>
              <a:gd name="T15" fmla="*/ 2147483647 h 1023"/>
              <a:gd name="T16" fmla="*/ 2147483647 w 2136"/>
              <a:gd name="T17" fmla="*/ 2147483647 h 1023"/>
              <a:gd name="T18" fmla="*/ 2147483647 w 2136"/>
              <a:gd name="T19" fmla="*/ 2147483647 h 1023"/>
              <a:gd name="T20" fmla="*/ 2147483647 w 2136"/>
              <a:gd name="T21" fmla="*/ 2147483647 h 1023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136"/>
              <a:gd name="T34" fmla="*/ 0 h 1023"/>
              <a:gd name="T35" fmla="*/ 2136 w 2136"/>
              <a:gd name="T36" fmla="*/ 1023 h 1023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136" h="1023">
                <a:moveTo>
                  <a:pt x="0" y="1023"/>
                </a:moveTo>
                <a:cubicBezTo>
                  <a:pt x="40" y="982"/>
                  <a:pt x="164" y="880"/>
                  <a:pt x="237" y="781"/>
                </a:cubicBezTo>
                <a:cubicBezTo>
                  <a:pt x="310" y="682"/>
                  <a:pt x="369" y="547"/>
                  <a:pt x="435" y="431"/>
                </a:cubicBezTo>
                <a:cubicBezTo>
                  <a:pt x="501" y="315"/>
                  <a:pt x="566" y="157"/>
                  <a:pt x="634" y="88"/>
                </a:cubicBezTo>
                <a:cubicBezTo>
                  <a:pt x="702" y="19"/>
                  <a:pt x="772" y="0"/>
                  <a:pt x="840" y="18"/>
                </a:cubicBezTo>
                <a:cubicBezTo>
                  <a:pt x="908" y="36"/>
                  <a:pt x="972" y="115"/>
                  <a:pt x="1045" y="198"/>
                </a:cubicBezTo>
                <a:cubicBezTo>
                  <a:pt x="1118" y="281"/>
                  <a:pt x="1203" y="429"/>
                  <a:pt x="1279" y="516"/>
                </a:cubicBezTo>
                <a:cubicBezTo>
                  <a:pt x="1355" y="603"/>
                  <a:pt x="1405" y="654"/>
                  <a:pt x="1500" y="720"/>
                </a:cubicBezTo>
                <a:cubicBezTo>
                  <a:pt x="1595" y="786"/>
                  <a:pt x="1747" y="870"/>
                  <a:pt x="1848" y="913"/>
                </a:cubicBezTo>
                <a:cubicBezTo>
                  <a:pt x="1949" y="955"/>
                  <a:pt x="2082" y="968"/>
                  <a:pt x="2109" y="976"/>
                </a:cubicBezTo>
                <a:cubicBezTo>
                  <a:pt x="2136" y="983"/>
                  <a:pt x="2033" y="960"/>
                  <a:pt x="2013" y="956"/>
                </a:cubicBezTo>
              </a:path>
            </a:pathLst>
          </a:custGeom>
          <a:noFill/>
          <a:ln w="38100" cmpd="sng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b="1">
              <a:solidFill>
                <a:srgbClr val="000000"/>
              </a:solidFill>
            </a:endParaRPr>
          </a:p>
        </p:txBody>
      </p:sp>
      <p:graphicFrame>
        <p:nvGraphicFramePr>
          <p:cNvPr id="27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839897851"/>
              </p:ext>
            </p:extLst>
          </p:nvPr>
        </p:nvGraphicFramePr>
        <p:xfrm>
          <a:off x="977265" y="5468620"/>
          <a:ext cx="3273425" cy="774700"/>
        </p:xfrm>
        <a:graphic>
          <a:graphicData uri="http://schemas.openxmlformats.org/presentationml/2006/ole">
            <p:oleObj spid="_x0000_s64522" name="Equation" r:id="rId12" imgW="1892300" imgH="469900" progId="Equation.3">
              <p:embed/>
            </p:oleObj>
          </a:graphicData>
        </a:graphic>
      </p:graphicFrame>
      <p:grpSp>
        <p:nvGrpSpPr>
          <p:cNvPr id="5" name="Group 54"/>
          <p:cNvGrpSpPr>
            <a:grpSpLocks/>
          </p:cNvGrpSpPr>
          <p:nvPr/>
        </p:nvGrpSpPr>
        <p:grpSpPr bwMode="auto">
          <a:xfrm>
            <a:off x="556260" y="4412139"/>
            <a:ext cx="8282940" cy="682626"/>
            <a:chOff x="2744" y="1298"/>
            <a:chExt cx="2903" cy="430"/>
          </a:xfrm>
        </p:grpSpPr>
        <p:sp>
          <p:nvSpPr>
            <p:cNvPr id="30" name="Text Box 21"/>
            <p:cNvSpPr txBox="1">
              <a:spLocks noChangeArrowheads="1"/>
            </p:cNvSpPr>
            <p:nvPr/>
          </p:nvSpPr>
          <p:spPr bwMode="auto">
            <a:xfrm>
              <a:off x="2744" y="1298"/>
              <a:ext cx="2903" cy="4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Bef>
                  <a:spcPct val="50000"/>
                </a:spcBef>
              </a:pPr>
              <a:r>
                <a:rPr lang="zh-CN" altLang="en-US" sz="3200" b="1" dirty="0">
                  <a:solidFill>
                    <a:srgbClr val="000000"/>
                  </a:solidFill>
                  <a:latin typeface="Times New Roman" pitchFamily="18" charset="0"/>
                </a:rPr>
                <a:t>速率位于           </a:t>
              </a:r>
              <a:r>
                <a:rPr lang="zh-CN" altLang="en-US" sz="3200" b="1" dirty="0" smtClean="0">
                  <a:solidFill>
                    <a:srgbClr val="000000"/>
                  </a:solidFill>
                  <a:latin typeface="Times New Roman" pitchFamily="18" charset="0"/>
                </a:rPr>
                <a:t>      区</a:t>
              </a:r>
              <a:r>
                <a:rPr lang="zh-CN" altLang="en-US" sz="3200" b="1" dirty="0">
                  <a:solidFill>
                    <a:srgbClr val="000000"/>
                  </a:solidFill>
                  <a:latin typeface="Times New Roman" pitchFamily="18" charset="0"/>
                </a:rPr>
                <a:t>间的分子</a:t>
              </a:r>
              <a:r>
                <a:rPr lang="zh-CN" altLang="en-US" sz="3200" b="1" dirty="0" smtClean="0">
                  <a:solidFill>
                    <a:srgbClr val="000000"/>
                  </a:solidFill>
                  <a:latin typeface="Times New Roman" pitchFamily="18" charset="0"/>
                </a:rPr>
                <a:t>数：</a:t>
              </a:r>
              <a:endParaRPr lang="zh-CN" altLang="en-US" sz="3200" b="1" dirty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graphicFrame>
          <p:nvGraphicFramePr>
            <p:cNvPr id="31" name="Object 2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xmlns="" val="3603301258"/>
                </p:ext>
              </p:extLst>
            </p:nvPr>
          </p:nvGraphicFramePr>
          <p:xfrm>
            <a:off x="3357" y="1304"/>
            <a:ext cx="596" cy="343"/>
          </p:xfrm>
          <a:graphic>
            <a:graphicData uri="http://schemas.openxmlformats.org/presentationml/2006/ole">
              <p:oleObj spid="_x0000_s64523" name="Equation" r:id="rId13" imgW="850531" imgH="317362" progId="Equation.3">
                <p:embed/>
              </p:oleObj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0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7"/>
          <p:cNvGrpSpPr>
            <a:grpSpLocks/>
          </p:cNvGrpSpPr>
          <p:nvPr/>
        </p:nvGrpSpPr>
        <p:grpSpPr bwMode="auto">
          <a:xfrm>
            <a:off x="1331913" y="1268758"/>
            <a:ext cx="6684962" cy="1944685"/>
            <a:chOff x="839" y="1207"/>
            <a:chExt cx="4211" cy="1225"/>
          </a:xfrm>
        </p:grpSpPr>
        <p:graphicFrame>
          <p:nvGraphicFramePr>
            <p:cNvPr id="13317" name="Object 4"/>
            <p:cNvGraphicFramePr>
              <a:graphicFrameLocks noChangeAspect="1"/>
            </p:cNvGraphicFramePr>
            <p:nvPr/>
          </p:nvGraphicFramePr>
          <p:xfrm>
            <a:off x="1202" y="1639"/>
            <a:ext cx="3848" cy="793"/>
          </p:xfrm>
          <a:graphic>
            <a:graphicData uri="http://schemas.openxmlformats.org/presentationml/2006/ole">
              <p:oleObj spid="_x0000_s65538" name="Equation" r:id="rId3" imgW="3289300" imgH="812800" progId="Equation.3">
                <p:embed/>
              </p:oleObj>
            </a:graphicData>
          </a:graphic>
        </p:graphicFrame>
        <p:sp>
          <p:nvSpPr>
            <p:cNvPr id="13327" name="Rectangle 5"/>
            <p:cNvSpPr>
              <a:spLocks noChangeArrowheads="1"/>
            </p:cNvSpPr>
            <p:nvPr/>
          </p:nvSpPr>
          <p:spPr bwMode="auto">
            <a:xfrm>
              <a:off x="839" y="1207"/>
              <a:ext cx="1824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altLang="zh-CN" sz="3200" b="1" dirty="0">
                  <a:solidFill>
                    <a:srgbClr val="1C1C1C"/>
                  </a:solidFill>
                  <a:latin typeface="Times New Roman" pitchFamily="18" charset="0"/>
                </a:rPr>
                <a:t>麦氏</a:t>
              </a:r>
              <a:r>
                <a:rPr lang="zh-CN" altLang="en-US" sz="3200" b="1" dirty="0">
                  <a:solidFill>
                    <a:srgbClr val="1C1C1C"/>
                  </a:solidFill>
                  <a:latin typeface="Times New Roman" pitchFamily="18" charset="0"/>
                </a:rPr>
                <a:t>分布函数</a:t>
              </a:r>
            </a:p>
          </p:txBody>
        </p:sp>
      </p:grpSp>
      <p:sp>
        <p:nvSpPr>
          <p:cNvPr id="13319" name="Rectangle 6"/>
          <p:cNvSpPr>
            <a:spLocks noChangeArrowheads="1"/>
          </p:cNvSpPr>
          <p:nvPr/>
        </p:nvSpPr>
        <p:spPr bwMode="auto">
          <a:xfrm>
            <a:off x="683568" y="476672"/>
            <a:ext cx="770572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3600" b="1" dirty="0">
                <a:solidFill>
                  <a:srgbClr val="CC0000"/>
                </a:solidFill>
                <a:latin typeface="Times New Roman" pitchFamily="18" charset="0"/>
              </a:rPr>
              <a:t>二   麦克斯韦气体分子速率分布定律</a:t>
            </a:r>
          </a:p>
        </p:txBody>
      </p:sp>
      <p:grpSp>
        <p:nvGrpSpPr>
          <p:cNvPr id="3" name="Group 36"/>
          <p:cNvGrpSpPr>
            <a:grpSpLocks/>
          </p:cNvGrpSpPr>
          <p:nvPr/>
        </p:nvGrpSpPr>
        <p:grpSpPr bwMode="auto">
          <a:xfrm>
            <a:off x="3093566" y="3825876"/>
            <a:ext cx="3124200" cy="2195513"/>
            <a:chOff x="1156" y="2410"/>
            <a:chExt cx="1968" cy="1383"/>
          </a:xfrm>
        </p:grpSpPr>
        <p:sp>
          <p:nvSpPr>
            <p:cNvPr id="13324" name="Line 21"/>
            <p:cNvSpPr>
              <a:spLocks noChangeShapeType="1"/>
            </p:cNvSpPr>
            <p:nvPr/>
          </p:nvSpPr>
          <p:spPr bwMode="auto">
            <a:xfrm>
              <a:off x="1297" y="3499"/>
              <a:ext cx="1827" cy="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 b="1">
                <a:solidFill>
                  <a:srgbClr val="000000"/>
                </a:solidFill>
              </a:endParaRPr>
            </a:p>
          </p:txBody>
        </p:sp>
        <p:graphicFrame>
          <p:nvGraphicFramePr>
            <p:cNvPr id="13314" name="Object 22"/>
            <p:cNvGraphicFramePr>
              <a:graphicFrameLocks noChangeAspect="1"/>
            </p:cNvGraphicFramePr>
            <p:nvPr/>
          </p:nvGraphicFramePr>
          <p:xfrm>
            <a:off x="2836" y="3553"/>
            <a:ext cx="195" cy="240"/>
          </p:xfrm>
          <a:graphic>
            <a:graphicData uri="http://schemas.openxmlformats.org/presentationml/2006/ole">
              <p:oleObj spid="_x0000_s65539" name="Equation" r:id="rId4" imgW="177646" imgH="190335" progId="Equation.3">
                <p:embed/>
              </p:oleObj>
            </a:graphicData>
          </a:graphic>
        </p:graphicFrame>
        <p:graphicFrame>
          <p:nvGraphicFramePr>
            <p:cNvPr id="13315" name="Object 23"/>
            <p:cNvGraphicFramePr>
              <a:graphicFrameLocks noChangeAspect="1"/>
            </p:cNvGraphicFramePr>
            <p:nvPr/>
          </p:nvGraphicFramePr>
          <p:xfrm>
            <a:off x="1365" y="2410"/>
            <a:ext cx="336" cy="249"/>
          </p:xfrm>
          <a:graphic>
            <a:graphicData uri="http://schemas.openxmlformats.org/presentationml/2006/ole">
              <p:oleObj spid="_x0000_s65540" name="Equation" r:id="rId5" imgW="533169" imgH="304668" progId="Equation.3">
                <p:embed/>
              </p:oleObj>
            </a:graphicData>
          </a:graphic>
        </p:graphicFrame>
        <p:graphicFrame>
          <p:nvGraphicFramePr>
            <p:cNvPr id="13316" name="Object 26"/>
            <p:cNvGraphicFramePr>
              <a:graphicFrameLocks noChangeAspect="1"/>
            </p:cNvGraphicFramePr>
            <p:nvPr/>
          </p:nvGraphicFramePr>
          <p:xfrm>
            <a:off x="1156" y="3457"/>
            <a:ext cx="261" cy="288"/>
          </p:xfrm>
          <a:graphic>
            <a:graphicData uri="http://schemas.openxmlformats.org/presentationml/2006/ole">
              <p:oleObj spid="_x0000_s65541" name="Equation" r:id="rId6" imgW="126835" imgH="139518" progId="Equation.3">
                <p:embed/>
              </p:oleObj>
            </a:graphicData>
          </a:graphic>
        </p:graphicFrame>
        <p:sp>
          <p:nvSpPr>
            <p:cNvPr id="13325" name="Freeform 34"/>
            <p:cNvSpPr>
              <a:spLocks/>
            </p:cNvSpPr>
            <p:nvPr/>
          </p:nvSpPr>
          <p:spPr bwMode="auto">
            <a:xfrm>
              <a:off x="1287" y="2644"/>
              <a:ext cx="1707" cy="840"/>
            </a:xfrm>
            <a:custGeom>
              <a:avLst/>
              <a:gdLst>
                <a:gd name="T0" fmla="*/ 0 w 1824"/>
                <a:gd name="T1" fmla="*/ 840 h 840"/>
                <a:gd name="T2" fmla="*/ 157 w 1824"/>
                <a:gd name="T3" fmla="*/ 648 h 840"/>
                <a:gd name="T4" fmla="*/ 432 w 1824"/>
                <a:gd name="T5" fmla="*/ 120 h 840"/>
                <a:gd name="T6" fmla="*/ 630 w 1824"/>
                <a:gd name="T7" fmla="*/ 24 h 840"/>
                <a:gd name="T8" fmla="*/ 866 w 1824"/>
                <a:gd name="T9" fmla="*/ 264 h 840"/>
                <a:gd name="T10" fmla="*/ 1062 w 1824"/>
                <a:gd name="T11" fmla="*/ 456 h 840"/>
                <a:gd name="T12" fmla="*/ 1298 w 1824"/>
                <a:gd name="T13" fmla="*/ 648 h 840"/>
                <a:gd name="T14" fmla="*/ 1495 w 1824"/>
                <a:gd name="T15" fmla="*/ 744 h 8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824"/>
                <a:gd name="T25" fmla="*/ 0 h 840"/>
                <a:gd name="T26" fmla="*/ 1824 w 1824"/>
                <a:gd name="T27" fmla="*/ 840 h 84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824" h="840">
                  <a:moveTo>
                    <a:pt x="0" y="840"/>
                  </a:moveTo>
                  <a:cubicBezTo>
                    <a:pt x="52" y="804"/>
                    <a:pt x="104" y="768"/>
                    <a:pt x="192" y="648"/>
                  </a:cubicBezTo>
                  <a:cubicBezTo>
                    <a:pt x="280" y="528"/>
                    <a:pt x="432" y="224"/>
                    <a:pt x="528" y="120"/>
                  </a:cubicBezTo>
                  <a:cubicBezTo>
                    <a:pt x="624" y="16"/>
                    <a:pt x="680" y="0"/>
                    <a:pt x="768" y="24"/>
                  </a:cubicBezTo>
                  <a:cubicBezTo>
                    <a:pt x="856" y="48"/>
                    <a:pt x="968" y="192"/>
                    <a:pt x="1056" y="264"/>
                  </a:cubicBezTo>
                  <a:cubicBezTo>
                    <a:pt x="1144" y="336"/>
                    <a:pt x="1208" y="392"/>
                    <a:pt x="1296" y="456"/>
                  </a:cubicBezTo>
                  <a:cubicBezTo>
                    <a:pt x="1384" y="520"/>
                    <a:pt x="1496" y="600"/>
                    <a:pt x="1584" y="648"/>
                  </a:cubicBezTo>
                  <a:cubicBezTo>
                    <a:pt x="1672" y="696"/>
                    <a:pt x="1784" y="728"/>
                    <a:pt x="1824" y="744"/>
                  </a:cubicBezTo>
                </a:path>
              </a:pathLst>
            </a:custGeom>
            <a:noFill/>
            <a:ln w="28575" cmpd="sng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b="1">
                <a:solidFill>
                  <a:srgbClr val="000000"/>
                </a:solidFill>
              </a:endParaRPr>
            </a:p>
          </p:txBody>
        </p:sp>
        <p:sp>
          <p:nvSpPr>
            <p:cNvPr id="13326" name="Line 35"/>
            <p:cNvSpPr>
              <a:spLocks noChangeShapeType="1"/>
            </p:cNvSpPr>
            <p:nvPr/>
          </p:nvSpPr>
          <p:spPr bwMode="auto">
            <a:xfrm flipV="1">
              <a:off x="1287" y="2497"/>
              <a:ext cx="0" cy="100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 b="1">
                <a:solidFill>
                  <a:srgbClr val="00000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6" name="Text Box 2"/>
          <p:cNvSpPr txBox="1">
            <a:spLocks noChangeArrowheads="1"/>
          </p:cNvSpPr>
          <p:nvPr/>
        </p:nvSpPr>
        <p:spPr bwMode="auto">
          <a:xfrm>
            <a:off x="684212" y="476672"/>
            <a:ext cx="5327947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600" b="1" dirty="0" smtClean="0">
                <a:solidFill>
                  <a:srgbClr val="CC0000"/>
                </a:solidFill>
                <a:latin typeface="Times New Roman" pitchFamily="18" charset="0"/>
              </a:rPr>
              <a:t>三、   </a:t>
            </a:r>
            <a:r>
              <a:rPr lang="zh-CN" altLang="en-US" sz="3600" b="1" dirty="0">
                <a:solidFill>
                  <a:srgbClr val="CC0000"/>
                </a:solidFill>
                <a:latin typeface="Times New Roman" pitchFamily="18" charset="0"/>
              </a:rPr>
              <a:t>三种统计速率</a:t>
            </a:r>
          </a:p>
        </p:txBody>
      </p:sp>
      <p:graphicFrame>
        <p:nvGraphicFramePr>
          <p:cNvPr id="14338" name="Object 4"/>
          <p:cNvGraphicFramePr>
            <a:graphicFrameLocks noChangeAspect="1"/>
          </p:cNvGraphicFramePr>
          <p:nvPr/>
        </p:nvGraphicFramePr>
        <p:xfrm>
          <a:off x="3914775" y="1413169"/>
          <a:ext cx="513209" cy="791695"/>
        </p:xfrm>
        <a:graphic>
          <a:graphicData uri="http://schemas.openxmlformats.org/presentationml/2006/ole">
            <p:oleObj spid="_x0000_s66562" name="公式" r:id="rId3" imgW="177646" imgH="241091" progId="Equation.3">
              <p:embed/>
            </p:oleObj>
          </a:graphicData>
        </a:graphic>
      </p:graphicFrame>
      <p:sp>
        <p:nvSpPr>
          <p:cNvPr id="14347" name="Text Box 5"/>
          <p:cNvSpPr txBox="1">
            <a:spLocks noChangeArrowheads="1"/>
          </p:cNvSpPr>
          <p:nvPr/>
        </p:nvSpPr>
        <p:spPr bwMode="auto">
          <a:xfrm>
            <a:off x="684213" y="1484784"/>
            <a:ext cx="35814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CC0000"/>
                </a:solidFill>
                <a:latin typeface="Times New Roman" pitchFamily="18" charset="0"/>
              </a:rPr>
              <a:t>（</a:t>
            </a:r>
            <a:r>
              <a:rPr lang="en-US" altLang="zh-CN" sz="3200" b="1" dirty="0">
                <a:solidFill>
                  <a:srgbClr val="CC0000"/>
                </a:solidFill>
                <a:latin typeface="Times New Roman" pitchFamily="18" charset="0"/>
              </a:rPr>
              <a:t>1</a:t>
            </a:r>
            <a:r>
              <a:rPr lang="zh-CN" altLang="en-US" sz="3200" b="1" dirty="0">
                <a:solidFill>
                  <a:srgbClr val="CC0000"/>
                </a:solidFill>
                <a:latin typeface="Times New Roman" pitchFamily="18" charset="0"/>
              </a:rPr>
              <a:t>）</a:t>
            </a:r>
            <a:r>
              <a:rPr lang="zh-CN" altLang="en-US" sz="3200" b="1" dirty="0">
                <a:solidFill>
                  <a:srgbClr val="1C1C1C"/>
                </a:solidFill>
                <a:latin typeface="Times New Roman" pitchFamily="18" charset="0"/>
              </a:rPr>
              <a:t>最概然速率</a:t>
            </a:r>
          </a:p>
        </p:txBody>
      </p:sp>
      <p:graphicFrame>
        <p:nvGraphicFramePr>
          <p:cNvPr id="43014" name="Object 6"/>
          <p:cNvGraphicFramePr>
            <a:graphicFrameLocks noChangeAspect="1"/>
          </p:cNvGraphicFramePr>
          <p:nvPr/>
        </p:nvGraphicFramePr>
        <p:xfrm>
          <a:off x="1495425" y="2420888"/>
          <a:ext cx="2428875" cy="1285875"/>
        </p:xfrm>
        <a:graphic>
          <a:graphicData uri="http://schemas.openxmlformats.org/presentationml/2006/ole">
            <p:oleObj spid="_x0000_s66563" name="Equation" r:id="rId4" imgW="1651000" imgH="863600" progId="Equation.3">
              <p:embed/>
            </p:oleObj>
          </a:graphicData>
        </a:graphic>
      </p:graphicFrame>
      <p:graphicFrame>
        <p:nvGraphicFramePr>
          <p:cNvPr id="43015" name="Object 7"/>
          <p:cNvGraphicFramePr>
            <a:graphicFrameLocks noChangeAspect="1"/>
          </p:cNvGraphicFramePr>
          <p:nvPr/>
        </p:nvGraphicFramePr>
        <p:xfrm>
          <a:off x="1476375" y="5013796"/>
          <a:ext cx="3886200" cy="1079500"/>
        </p:xfrm>
        <a:graphic>
          <a:graphicData uri="http://schemas.openxmlformats.org/presentationml/2006/ole">
            <p:oleObj spid="_x0000_s66564" name="Equation" r:id="rId5" imgW="2755900" imgH="762000" progId="Equation.3">
              <p:embed/>
            </p:oleObj>
          </a:graphicData>
        </a:graphic>
      </p:graphicFrame>
      <p:grpSp>
        <p:nvGrpSpPr>
          <p:cNvPr id="2" name="Group 83"/>
          <p:cNvGrpSpPr>
            <a:grpSpLocks/>
          </p:cNvGrpSpPr>
          <p:nvPr/>
        </p:nvGrpSpPr>
        <p:grpSpPr bwMode="auto">
          <a:xfrm>
            <a:off x="5159251" y="2002904"/>
            <a:ext cx="3652838" cy="2355850"/>
            <a:chOff x="2928" y="532"/>
            <a:chExt cx="2301" cy="1484"/>
          </a:xfrm>
        </p:grpSpPr>
        <p:grpSp>
          <p:nvGrpSpPr>
            <p:cNvPr id="3" name="Group 10"/>
            <p:cNvGrpSpPr>
              <a:grpSpLocks/>
            </p:cNvGrpSpPr>
            <p:nvPr/>
          </p:nvGrpSpPr>
          <p:grpSpPr bwMode="auto">
            <a:xfrm>
              <a:off x="3261" y="532"/>
              <a:ext cx="1968" cy="1440"/>
              <a:chOff x="3360" y="480"/>
              <a:chExt cx="1968" cy="1440"/>
            </a:xfrm>
          </p:grpSpPr>
          <p:sp>
            <p:nvSpPr>
              <p:cNvPr id="14355" name="Line 12"/>
              <p:cNvSpPr>
                <a:spLocks noChangeShapeType="1"/>
              </p:cNvSpPr>
              <p:nvPr/>
            </p:nvSpPr>
            <p:spPr bwMode="auto">
              <a:xfrm>
                <a:off x="3501" y="1626"/>
                <a:ext cx="1827" cy="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triangle" w="sm" len="lg"/>
              </a:ln>
            </p:spPr>
            <p:txBody>
              <a:bodyPr wrap="none" anchor="ctr"/>
              <a:lstStyle/>
              <a:p>
                <a:endParaRPr lang="zh-CN" altLang="en-US" b="1">
                  <a:solidFill>
                    <a:srgbClr val="000000"/>
                  </a:solidFill>
                </a:endParaRPr>
              </a:p>
            </p:txBody>
          </p:sp>
          <p:graphicFrame>
            <p:nvGraphicFramePr>
              <p:cNvPr id="14343" name="Object 13"/>
              <p:cNvGraphicFramePr>
                <a:graphicFrameLocks noChangeAspect="1"/>
              </p:cNvGraphicFramePr>
              <p:nvPr/>
            </p:nvGraphicFramePr>
            <p:xfrm>
              <a:off x="5040" y="1680"/>
              <a:ext cx="195" cy="240"/>
            </p:xfrm>
            <a:graphic>
              <a:graphicData uri="http://schemas.openxmlformats.org/presentationml/2006/ole">
                <p:oleObj spid="_x0000_s66565" name="Equation" r:id="rId6" imgW="177646" imgH="190335" progId="Equation.3">
                  <p:embed/>
                </p:oleObj>
              </a:graphicData>
            </a:graphic>
          </p:graphicFrame>
          <p:graphicFrame>
            <p:nvGraphicFramePr>
              <p:cNvPr id="14344" name="Object 14"/>
              <p:cNvGraphicFramePr>
                <a:graphicFrameLocks noChangeAspect="1"/>
              </p:cNvGraphicFramePr>
              <p:nvPr/>
            </p:nvGraphicFramePr>
            <p:xfrm>
              <a:off x="3600" y="492"/>
              <a:ext cx="384" cy="285"/>
            </p:xfrm>
            <a:graphic>
              <a:graphicData uri="http://schemas.openxmlformats.org/presentationml/2006/ole">
                <p:oleObj spid="_x0000_s66566" name="Equation" r:id="rId7" imgW="533169" imgH="304668" progId="Equation.3">
                  <p:embed/>
                </p:oleObj>
              </a:graphicData>
            </a:graphic>
          </p:graphicFrame>
          <p:sp>
            <p:nvSpPr>
              <p:cNvPr id="14356" name="Freeform 15"/>
              <p:cNvSpPr>
                <a:spLocks/>
              </p:cNvSpPr>
              <p:nvPr/>
            </p:nvSpPr>
            <p:spPr bwMode="auto">
              <a:xfrm>
                <a:off x="3504" y="794"/>
                <a:ext cx="1707" cy="838"/>
              </a:xfrm>
              <a:custGeom>
                <a:avLst/>
                <a:gdLst>
                  <a:gd name="T0" fmla="*/ 0 w 1707"/>
                  <a:gd name="T1" fmla="*/ 838 h 838"/>
                  <a:gd name="T2" fmla="*/ 213 w 1707"/>
                  <a:gd name="T3" fmla="*/ 605 h 838"/>
                  <a:gd name="T4" fmla="*/ 480 w 1707"/>
                  <a:gd name="T5" fmla="*/ 145 h 838"/>
                  <a:gd name="T6" fmla="*/ 719 w 1707"/>
                  <a:gd name="T7" fmla="*/ 22 h 838"/>
                  <a:gd name="T8" fmla="*/ 967 w 1707"/>
                  <a:gd name="T9" fmla="*/ 276 h 838"/>
                  <a:gd name="T10" fmla="*/ 1179 w 1707"/>
                  <a:gd name="T11" fmla="*/ 468 h 838"/>
                  <a:gd name="T12" fmla="*/ 1482 w 1707"/>
                  <a:gd name="T13" fmla="*/ 646 h 838"/>
                  <a:gd name="T14" fmla="*/ 1707 w 1707"/>
                  <a:gd name="T15" fmla="*/ 742 h 83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707"/>
                  <a:gd name="T25" fmla="*/ 0 h 838"/>
                  <a:gd name="T26" fmla="*/ 1707 w 1707"/>
                  <a:gd name="T27" fmla="*/ 838 h 838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707" h="838">
                    <a:moveTo>
                      <a:pt x="0" y="838"/>
                    </a:moveTo>
                    <a:cubicBezTo>
                      <a:pt x="35" y="799"/>
                      <a:pt x="133" y="720"/>
                      <a:pt x="213" y="605"/>
                    </a:cubicBezTo>
                    <a:cubicBezTo>
                      <a:pt x="293" y="490"/>
                      <a:pt x="396" y="242"/>
                      <a:pt x="480" y="145"/>
                    </a:cubicBezTo>
                    <a:cubicBezTo>
                      <a:pt x="564" y="48"/>
                      <a:pt x="638" y="0"/>
                      <a:pt x="719" y="22"/>
                    </a:cubicBezTo>
                    <a:cubicBezTo>
                      <a:pt x="800" y="44"/>
                      <a:pt x="890" y="202"/>
                      <a:pt x="967" y="276"/>
                    </a:cubicBezTo>
                    <a:cubicBezTo>
                      <a:pt x="1044" y="350"/>
                      <a:pt x="1093" y="406"/>
                      <a:pt x="1179" y="468"/>
                    </a:cubicBezTo>
                    <a:cubicBezTo>
                      <a:pt x="1265" y="530"/>
                      <a:pt x="1394" y="600"/>
                      <a:pt x="1482" y="646"/>
                    </a:cubicBezTo>
                    <a:cubicBezTo>
                      <a:pt x="1570" y="692"/>
                      <a:pt x="1670" y="726"/>
                      <a:pt x="1707" y="742"/>
                    </a:cubicBezTo>
                  </a:path>
                </a:pathLst>
              </a:custGeom>
              <a:noFill/>
              <a:ln w="28575" cmpd="sng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b="1">
                  <a:solidFill>
                    <a:srgbClr val="000000"/>
                  </a:solidFill>
                </a:endParaRPr>
              </a:p>
            </p:txBody>
          </p:sp>
          <p:sp>
            <p:nvSpPr>
              <p:cNvPr id="14357" name="Line 16"/>
              <p:cNvSpPr>
                <a:spLocks noChangeShapeType="1"/>
              </p:cNvSpPr>
              <p:nvPr/>
            </p:nvSpPr>
            <p:spPr bwMode="auto">
              <a:xfrm flipV="1">
                <a:off x="3504" y="480"/>
                <a:ext cx="0" cy="115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triangle" w="sm" len="lg"/>
              </a:ln>
            </p:spPr>
            <p:txBody>
              <a:bodyPr wrap="none" anchor="ctr"/>
              <a:lstStyle/>
              <a:p>
                <a:endParaRPr lang="zh-CN" altLang="en-US" b="1">
                  <a:solidFill>
                    <a:srgbClr val="000000"/>
                  </a:solidFill>
                </a:endParaRPr>
              </a:p>
            </p:txBody>
          </p:sp>
          <p:graphicFrame>
            <p:nvGraphicFramePr>
              <p:cNvPr id="14345" name="Object 17"/>
              <p:cNvGraphicFramePr>
                <a:graphicFrameLocks noChangeAspect="1"/>
              </p:cNvGraphicFramePr>
              <p:nvPr/>
            </p:nvGraphicFramePr>
            <p:xfrm>
              <a:off x="3360" y="1584"/>
              <a:ext cx="261" cy="288"/>
            </p:xfrm>
            <a:graphic>
              <a:graphicData uri="http://schemas.openxmlformats.org/presentationml/2006/ole">
                <p:oleObj spid="_x0000_s66567" name="Equation" r:id="rId8" imgW="126835" imgH="139518" progId="Equation.3">
                  <p:embed/>
                </p:oleObj>
              </a:graphicData>
            </a:graphic>
          </p:graphicFrame>
        </p:grpSp>
        <p:grpSp>
          <p:nvGrpSpPr>
            <p:cNvPr id="4" name="Group 18"/>
            <p:cNvGrpSpPr>
              <a:grpSpLocks/>
            </p:cNvGrpSpPr>
            <p:nvPr/>
          </p:nvGrpSpPr>
          <p:grpSpPr bwMode="auto">
            <a:xfrm>
              <a:off x="2928" y="720"/>
              <a:ext cx="1401" cy="1296"/>
              <a:chOff x="3024" y="672"/>
              <a:chExt cx="1401" cy="1296"/>
            </a:xfrm>
          </p:grpSpPr>
          <p:sp>
            <p:nvSpPr>
              <p:cNvPr id="14352" name="Line 19"/>
              <p:cNvSpPr>
                <a:spLocks noChangeShapeType="1"/>
              </p:cNvSpPr>
              <p:nvPr/>
            </p:nvSpPr>
            <p:spPr bwMode="auto">
              <a:xfrm>
                <a:off x="4224" y="816"/>
                <a:ext cx="0" cy="81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prstDash val="dash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b="1">
                  <a:solidFill>
                    <a:srgbClr val="000000"/>
                  </a:solidFill>
                </a:endParaRPr>
              </a:p>
            </p:txBody>
          </p:sp>
          <p:graphicFrame>
            <p:nvGraphicFramePr>
              <p:cNvPr id="14341" name="Object 20"/>
              <p:cNvGraphicFramePr>
                <a:graphicFrameLocks noChangeAspect="1"/>
              </p:cNvGraphicFramePr>
              <p:nvPr/>
            </p:nvGraphicFramePr>
            <p:xfrm>
              <a:off x="4128" y="1584"/>
              <a:ext cx="297" cy="384"/>
            </p:xfrm>
            <a:graphic>
              <a:graphicData uri="http://schemas.openxmlformats.org/presentationml/2006/ole">
                <p:oleObj spid="_x0000_s66568" name="Equation" r:id="rId9" imgW="291973" imgH="368140" progId="Equation.3">
                  <p:embed/>
                </p:oleObj>
              </a:graphicData>
            </a:graphic>
          </p:graphicFrame>
          <p:sp>
            <p:nvSpPr>
              <p:cNvPr id="14353" name="Line 21"/>
              <p:cNvSpPr>
                <a:spLocks noChangeShapeType="1"/>
              </p:cNvSpPr>
              <p:nvPr/>
            </p:nvSpPr>
            <p:spPr bwMode="auto">
              <a:xfrm flipH="1">
                <a:off x="3504" y="816"/>
                <a:ext cx="72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prstDash val="dash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b="1">
                  <a:solidFill>
                    <a:srgbClr val="000000"/>
                  </a:solidFill>
                </a:endParaRPr>
              </a:p>
            </p:txBody>
          </p:sp>
          <p:graphicFrame>
            <p:nvGraphicFramePr>
              <p:cNvPr id="14342" name="Object 22"/>
              <p:cNvGraphicFramePr>
                <a:graphicFrameLocks noChangeAspect="1"/>
              </p:cNvGraphicFramePr>
              <p:nvPr/>
            </p:nvGraphicFramePr>
            <p:xfrm>
              <a:off x="3024" y="672"/>
              <a:ext cx="459" cy="384"/>
            </p:xfrm>
            <a:graphic>
              <a:graphicData uri="http://schemas.openxmlformats.org/presentationml/2006/ole">
                <p:oleObj spid="_x0000_s66569" name="公式" r:id="rId10" imgW="406224" imgH="330057" progId="Equation.3">
                  <p:embed/>
                </p:oleObj>
              </a:graphicData>
            </a:graphic>
          </p:graphicFrame>
        </p:grpSp>
      </p:grpSp>
      <p:sp>
        <p:nvSpPr>
          <p:cNvPr id="43031" name="Text Box 23"/>
          <p:cNvSpPr txBox="1">
            <a:spLocks noChangeArrowheads="1"/>
          </p:cNvSpPr>
          <p:nvPr/>
        </p:nvSpPr>
        <p:spPr bwMode="auto">
          <a:xfrm>
            <a:off x="1066800" y="4073698"/>
            <a:ext cx="35052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>
                <a:solidFill>
                  <a:srgbClr val="1C1C1C"/>
                </a:solidFill>
                <a:latin typeface="Times New Roman" pitchFamily="18" charset="0"/>
              </a:rPr>
              <a:t>根据分布函数求得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43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3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43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31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362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136227232"/>
              </p:ext>
            </p:extLst>
          </p:nvPr>
        </p:nvGraphicFramePr>
        <p:xfrm>
          <a:off x="6208713" y="659765"/>
          <a:ext cx="2395537" cy="1055688"/>
        </p:xfrm>
        <a:graphic>
          <a:graphicData uri="http://schemas.openxmlformats.org/presentationml/2006/ole">
            <p:oleObj spid="_x0000_s67586" name="Equation" r:id="rId3" imgW="1143000" imgH="431640" progId="Equation.DSMT4">
              <p:embed/>
            </p:oleObj>
          </a:graphicData>
        </a:graphic>
      </p:graphicFrame>
      <p:grpSp>
        <p:nvGrpSpPr>
          <p:cNvPr id="2" name="Group 70"/>
          <p:cNvGrpSpPr>
            <a:grpSpLocks/>
          </p:cNvGrpSpPr>
          <p:nvPr/>
        </p:nvGrpSpPr>
        <p:grpSpPr bwMode="auto">
          <a:xfrm>
            <a:off x="539552" y="3835361"/>
            <a:ext cx="8208912" cy="1989138"/>
            <a:chOff x="566" y="2173"/>
            <a:chExt cx="4701" cy="1253"/>
          </a:xfrm>
        </p:grpSpPr>
        <p:grpSp>
          <p:nvGrpSpPr>
            <p:cNvPr id="3" name="Group 69"/>
            <p:cNvGrpSpPr>
              <a:grpSpLocks/>
            </p:cNvGrpSpPr>
            <p:nvPr/>
          </p:nvGrpSpPr>
          <p:grpSpPr bwMode="auto">
            <a:xfrm>
              <a:off x="612" y="2627"/>
              <a:ext cx="4655" cy="799"/>
              <a:chOff x="612" y="2627"/>
              <a:chExt cx="4655" cy="799"/>
            </a:xfrm>
          </p:grpSpPr>
          <p:sp>
            <p:nvSpPr>
              <p:cNvPr id="15371" name="Text Box 25"/>
              <p:cNvSpPr txBox="1">
                <a:spLocks noChangeArrowheads="1"/>
              </p:cNvSpPr>
              <p:nvPr/>
            </p:nvSpPr>
            <p:spPr bwMode="auto">
              <a:xfrm>
                <a:off x="612" y="2659"/>
                <a:ext cx="4655" cy="7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lnSpc>
                    <a:spcPct val="120000"/>
                  </a:lnSpc>
                  <a:spcBef>
                    <a:spcPct val="50000"/>
                  </a:spcBef>
                </a:pPr>
                <a:r>
                  <a:rPr lang="en-US" altLang="zh-CN" sz="3200" b="1" dirty="0">
                    <a:solidFill>
                      <a:srgbClr val="1C1C1C"/>
                    </a:solidFill>
                    <a:latin typeface="Times New Roman" pitchFamily="18" charset="0"/>
                  </a:rPr>
                  <a:t>        </a:t>
                </a:r>
                <a:r>
                  <a:rPr lang="zh-CN" altLang="en-US" sz="3200" b="1" dirty="0">
                    <a:solidFill>
                      <a:srgbClr val="1C1C1C"/>
                    </a:solidFill>
                    <a:latin typeface="Times New Roman" pitchFamily="18" charset="0"/>
                  </a:rPr>
                  <a:t>气体在一定温度下分布在最概然速率      附近单位速率间隔内的</a:t>
                </a:r>
                <a:r>
                  <a:rPr lang="zh-CN" altLang="en-US" sz="3200" b="1" dirty="0">
                    <a:solidFill>
                      <a:srgbClr val="FF0000"/>
                    </a:solidFill>
                    <a:latin typeface="Times New Roman" pitchFamily="18" charset="0"/>
                  </a:rPr>
                  <a:t>相对分子</a:t>
                </a:r>
                <a:r>
                  <a:rPr lang="zh-CN" altLang="en-US" sz="3200" b="1" dirty="0">
                    <a:solidFill>
                      <a:srgbClr val="1C1C1C"/>
                    </a:solidFill>
                    <a:latin typeface="Times New Roman" pitchFamily="18" charset="0"/>
                  </a:rPr>
                  <a:t>数最多</a:t>
                </a:r>
                <a:r>
                  <a:rPr lang="en-US" altLang="zh-CN" sz="3200" b="1" dirty="0">
                    <a:solidFill>
                      <a:srgbClr val="1C1C1C"/>
                    </a:solidFill>
                    <a:latin typeface="Times New Roman" pitchFamily="18" charset="0"/>
                  </a:rPr>
                  <a:t>.</a:t>
                </a:r>
              </a:p>
            </p:txBody>
          </p:sp>
          <p:graphicFrame>
            <p:nvGraphicFramePr>
              <p:cNvPr id="15366" name="Object 26"/>
              <p:cNvGraphicFramePr>
                <a:graphicFrameLocks noChangeAspect="1"/>
              </p:cNvGraphicFramePr>
              <p:nvPr/>
            </p:nvGraphicFramePr>
            <p:xfrm>
              <a:off x="4889" y="2627"/>
              <a:ext cx="296" cy="452"/>
            </p:xfrm>
            <a:graphic>
              <a:graphicData uri="http://schemas.openxmlformats.org/presentationml/2006/ole">
                <p:oleObj spid="_x0000_s67587" name="公式" r:id="rId4" imgW="177646" imgH="241091" progId="Equation.3">
                  <p:embed/>
                </p:oleObj>
              </a:graphicData>
            </a:graphic>
          </p:graphicFrame>
        </p:grpSp>
        <p:sp>
          <p:nvSpPr>
            <p:cNvPr id="52251" name="AutoShape 27"/>
            <p:cNvSpPr>
              <a:spLocks noChangeArrowheads="1"/>
            </p:cNvSpPr>
            <p:nvPr/>
          </p:nvSpPr>
          <p:spPr bwMode="auto">
            <a:xfrm>
              <a:off x="566" y="2173"/>
              <a:ext cx="1233" cy="486"/>
            </a:xfrm>
            <a:prstGeom prst="horizontalScroll">
              <a:avLst>
                <a:gd name="adj" fmla="val 8853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107763" dir="13500000" algn="ctr" rotWithShape="0">
                <a:srgbClr val="006600"/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 b="1">
                <a:solidFill>
                  <a:srgbClr val="000000"/>
                </a:solidFill>
              </a:endParaRPr>
            </a:p>
          </p:txBody>
        </p:sp>
        <p:sp>
          <p:nvSpPr>
            <p:cNvPr id="15370" name="Rectangle 28"/>
            <p:cNvSpPr>
              <a:spLocks noChangeArrowheads="1"/>
            </p:cNvSpPr>
            <p:nvPr/>
          </p:nvSpPr>
          <p:spPr bwMode="auto">
            <a:xfrm>
              <a:off x="595" y="2249"/>
              <a:ext cx="2018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altLang="en-US" sz="3200" b="1" dirty="0">
                  <a:solidFill>
                    <a:srgbClr val="CC0000"/>
                  </a:solidFill>
                  <a:latin typeface="Times New Roman" pitchFamily="18" charset="0"/>
                </a:rPr>
                <a:t>物理意义</a:t>
              </a:r>
            </a:p>
          </p:txBody>
        </p:sp>
      </p:grpSp>
      <p:graphicFrame>
        <p:nvGraphicFramePr>
          <p:cNvPr id="52290" name="Object 66"/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xmlns="" val="3767592767"/>
              </p:ext>
            </p:extLst>
          </p:nvPr>
        </p:nvGraphicFramePr>
        <p:xfrm>
          <a:off x="1043608" y="2226379"/>
          <a:ext cx="3499481" cy="1056829"/>
        </p:xfrm>
        <a:graphic>
          <a:graphicData uri="http://schemas.openxmlformats.org/presentationml/2006/ole">
            <p:oleObj spid="_x0000_s67588" name="公式" r:id="rId5" imgW="1473200" imgH="444500" progId="Equation.3">
              <p:embed/>
            </p:oleObj>
          </a:graphicData>
        </a:graphic>
      </p:graphicFrame>
      <p:graphicFrame>
        <p:nvGraphicFramePr>
          <p:cNvPr id="4301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209241138"/>
              </p:ext>
            </p:extLst>
          </p:nvPr>
        </p:nvGraphicFramePr>
        <p:xfrm>
          <a:off x="971600" y="619532"/>
          <a:ext cx="3886200" cy="1079500"/>
        </p:xfrm>
        <a:graphic>
          <a:graphicData uri="http://schemas.openxmlformats.org/presentationml/2006/ole">
            <p:oleObj spid="_x0000_s67589" name="Equation" r:id="rId6" imgW="2755900" imgH="7620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52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034" name="Object 2"/>
          <p:cNvGraphicFramePr>
            <a:graphicFrameLocks noChangeAspect="1"/>
          </p:cNvGraphicFramePr>
          <p:nvPr/>
        </p:nvGraphicFramePr>
        <p:xfrm>
          <a:off x="323528" y="989286"/>
          <a:ext cx="7391400" cy="1071562"/>
        </p:xfrm>
        <a:graphic>
          <a:graphicData uri="http://schemas.openxmlformats.org/presentationml/2006/ole">
            <p:oleObj spid="_x0000_s68610" name="Equation" r:id="rId3" imgW="4546600" imgH="609600" progId="Equation.3">
              <p:embed/>
            </p:oleObj>
          </a:graphicData>
        </a:graphic>
      </p:graphicFrame>
      <p:grpSp>
        <p:nvGrpSpPr>
          <p:cNvPr id="2" name="Group 38"/>
          <p:cNvGrpSpPr>
            <a:grpSpLocks/>
          </p:cNvGrpSpPr>
          <p:nvPr/>
        </p:nvGrpSpPr>
        <p:grpSpPr bwMode="auto">
          <a:xfrm>
            <a:off x="395536" y="113258"/>
            <a:ext cx="3384550" cy="579438"/>
            <a:chOff x="204" y="752"/>
            <a:chExt cx="2132" cy="365"/>
          </a:xfrm>
        </p:grpSpPr>
        <p:sp>
          <p:nvSpPr>
            <p:cNvPr id="16426" name="Text Box 4"/>
            <p:cNvSpPr txBox="1">
              <a:spLocks noChangeArrowheads="1"/>
            </p:cNvSpPr>
            <p:nvPr/>
          </p:nvSpPr>
          <p:spPr bwMode="auto">
            <a:xfrm>
              <a:off x="204" y="752"/>
              <a:ext cx="2132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3200" b="1" dirty="0">
                  <a:solidFill>
                    <a:srgbClr val="CC0000"/>
                  </a:solidFill>
                  <a:latin typeface="Times New Roman" pitchFamily="18" charset="0"/>
                </a:rPr>
                <a:t>（</a:t>
              </a:r>
              <a:r>
                <a:rPr lang="en-US" altLang="zh-CN" sz="3200" b="1" dirty="0">
                  <a:solidFill>
                    <a:srgbClr val="CC0000"/>
                  </a:solidFill>
                  <a:latin typeface="Times New Roman" pitchFamily="18" charset="0"/>
                </a:rPr>
                <a:t>2</a:t>
              </a:r>
              <a:r>
                <a:rPr lang="zh-CN" altLang="en-US" sz="3200" b="1" dirty="0">
                  <a:solidFill>
                    <a:srgbClr val="CC0000"/>
                  </a:solidFill>
                  <a:latin typeface="Times New Roman" pitchFamily="18" charset="0"/>
                </a:rPr>
                <a:t>）</a:t>
              </a:r>
              <a:r>
                <a:rPr lang="zh-CN" altLang="en-US" sz="3200" b="1" dirty="0">
                  <a:solidFill>
                    <a:srgbClr val="1C1C1C"/>
                  </a:solidFill>
                  <a:latin typeface="Times New Roman" pitchFamily="18" charset="0"/>
                </a:rPr>
                <a:t>平均速率</a:t>
              </a:r>
            </a:p>
          </p:txBody>
        </p:sp>
        <p:graphicFrame>
          <p:nvGraphicFramePr>
            <p:cNvPr id="16393" name="Object 5"/>
            <p:cNvGraphicFramePr>
              <a:graphicFrameLocks noChangeAspect="1"/>
            </p:cNvGraphicFramePr>
            <p:nvPr/>
          </p:nvGraphicFramePr>
          <p:xfrm>
            <a:off x="1951" y="783"/>
            <a:ext cx="249" cy="288"/>
          </p:xfrm>
          <a:graphic>
            <a:graphicData uri="http://schemas.openxmlformats.org/presentationml/2006/ole">
              <p:oleObj spid="_x0000_s68611" name="Equation" r:id="rId4" imgW="190335" imgH="215713" progId="Equation.3">
                <p:embed/>
              </p:oleObj>
            </a:graphicData>
          </a:graphic>
        </p:graphicFrame>
      </p:grpSp>
      <p:graphicFrame>
        <p:nvGraphicFramePr>
          <p:cNvPr id="44038" name="Object 6"/>
          <p:cNvGraphicFramePr>
            <a:graphicFrameLocks noChangeAspect="1"/>
          </p:cNvGraphicFramePr>
          <p:nvPr/>
        </p:nvGraphicFramePr>
        <p:xfrm>
          <a:off x="395536" y="2060848"/>
          <a:ext cx="4392612" cy="1366837"/>
        </p:xfrm>
        <a:graphic>
          <a:graphicData uri="http://schemas.openxmlformats.org/presentationml/2006/ole">
            <p:oleObj spid="_x0000_s68612" name="Equation" r:id="rId5" imgW="3263900" imgH="939800" progId="Equation.3">
              <p:embed/>
            </p:oleObj>
          </a:graphicData>
        </a:graphic>
      </p:graphicFrame>
      <p:sp>
        <p:nvSpPr>
          <p:cNvPr id="16395" name="Rectangle 10"/>
          <p:cNvSpPr>
            <a:spLocks noChangeArrowheads="1"/>
          </p:cNvSpPr>
          <p:nvPr/>
        </p:nvSpPr>
        <p:spPr bwMode="auto">
          <a:xfrm>
            <a:off x="5291138" y="3327176"/>
            <a:ext cx="3744912" cy="2550095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b="1">
              <a:solidFill>
                <a:srgbClr val="000000"/>
              </a:solidFill>
            </a:endParaRPr>
          </a:p>
        </p:txBody>
      </p:sp>
      <p:graphicFrame>
        <p:nvGraphicFramePr>
          <p:cNvPr id="44071" name="Object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444008921"/>
              </p:ext>
            </p:extLst>
          </p:nvPr>
        </p:nvGraphicFramePr>
        <p:xfrm>
          <a:off x="754063" y="3790950"/>
          <a:ext cx="2814637" cy="1077913"/>
        </p:xfrm>
        <a:graphic>
          <a:graphicData uri="http://schemas.openxmlformats.org/presentationml/2006/ole">
            <p:oleObj spid="_x0000_s68613" name="Equation" r:id="rId6" imgW="863280" imgH="330120" progId="Equation.DSMT4">
              <p:embed/>
            </p:oleObj>
          </a:graphicData>
        </a:graphic>
      </p:graphicFrame>
      <p:graphicFrame>
        <p:nvGraphicFramePr>
          <p:cNvPr id="44072" name="Object 40"/>
          <p:cNvGraphicFramePr>
            <a:graphicFrameLocks noChangeAspect="1"/>
          </p:cNvGraphicFramePr>
          <p:nvPr/>
        </p:nvGraphicFramePr>
        <p:xfrm>
          <a:off x="538609" y="5237311"/>
          <a:ext cx="3889375" cy="1216025"/>
        </p:xfrm>
        <a:graphic>
          <a:graphicData uri="http://schemas.openxmlformats.org/presentationml/2006/ole">
            <p:oleObj spid="_x0000_s68614" name="公式" r:id="rId7" imgW="1422400" imgH="444500" progId="Equation.3">
              <p:embed/>
            </p:oleObj>
          </a:graphicData>
        </a:graphic>
      </p:graphicFrame>
      <p:grpSp>
        <p:nvGrpSpPr>
          <p:cNvPr id="3" name="Group 81"/>
          <p:cNvGrpSpPr>
            <a:grpSpLocks/>
          </p:cNvGrpSpPr>
          <p:nvPr/>
        </p:nvGrpSpPr>
        <p:grpSpPr bwMode="auto">
          <a:xfrm>
            <a:off x="5349277" y="3427189"/>
            <a:ext cx="3687076" cy="2449704"/>
            <a:chOff x="703" y="1071"/>
            <a:chExt cx="4163" cy="2565"/>
          </a:xfrm>
        </p:grpSpPr>
        <p:sp>
          <p:nvSpPr>
            <p:cNvPr id="16397" name="Freeform 82"/>
            <p:cNvSpPr>
              <a:spLocks/>
            </p:cNvSpPr>
            <p:nvPr/>
          </p:nvSpPr>
          <p:spPr bwMode="auto">
            <a:xfrm>
              <a:off x="1060" y="1586"/>
              <a:ext cx="3387" cy="1530"/>
            </a:xfrm>
            <a:custGeom>
              <a:avLst/>
              <a:gdLst>
                <a:gd name="T0" fmla="*/ 0 w 3387"/>
                <a:gd name="T1" fmla="*/ 1168 h 1674"/>
                <a:gd name="T2" fmla="*/ 240 w 3387"/>
                <a:gd name="T3" fmla="*/ 869 h 1674"/>
                <a:gd name="T4" fmla="*/ 528 w 3387"/>
                <a:gd name="T5" fmla="*/ 466 h 1674"/>
                <a:gd name="T6" fmla="*/ 768 w 3387"/>
                <a:gd name="T7" fmla="*/ 184 h 1674"/>
                <a:gd name="T8" fmla="*/ 1056 w 3387"/>
                <a:gd name="T9" fmla="*/ 26 h 1674"/>
                <a:gd name="T10" fmla="*/ 1344 w 3387"/>
                <a:gd name="T11" fmla="*/ 26 h 1674"/>
                <a:gd name="T12" fmla="*/ 1584 w 3387"/>
                <a:gd name="T13" fmla="*/ 173 h 1674"/>
                <a:gd name="T14" fmla="*/ 1824 w 3387"/>
                <a:gd name="T15" fmla="*/ 430 h 1674"/>
                <a:gd name="T16" fmla="*/ 2112 w 3387"/>
                <a:gd name="T17" fmla="*/ 723 h 1674"/>
                <a:gd name="T18" fmla="*/ 2489 w 3387"/>
                <a:gd name="T19" fmla="*/ 974 h 1674"/>
                <a:gd name="T20" fmla="*/ 2825 w 3387"/>
                <a:gd name="T21" fmla="*/ 1126 h 1674"/>
                <a:gd name="T22" fmla="*/ 3387 w 3387"/>
                <a:gd name="T23" fmla="*/ 1278 h 167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3387"/>
                <a:gd name="T37" fmla="*/ 0 h 1674"/>
                <a:gd name="T38" fmla="*/ 3387 w 3387"/>
                <a:gd name="T39" fmla="*/ 1674 h 1674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3387" h="1674">
                  <a:moveTo>
                    <a:pt x="0" y="1530"/>
                  </a:moveTo>
                  <a:cubicBezTo>
                    <a:pt x="39" y="1465"/>
                    <a:pt x="152" y="1291"/>
                    <a:pt x="240" y="1138"/>
                  </a:cubicBezTo>
                  <a:cubicBezTo>
                    <a:pt x="328" y="985"/>
                    <a:pt x="440" y="759"/>
                    <a:pt x="528" y="610"/>
                  </a:cubicBezTo>
                  <a:cubicBezTo>
                    <a:pt x="616" y="461"/>
                    <a:pt x="680" y="337"/>
                    <a:pt x="768" y="241"/>
                  </a:cubicBezTo>
                  <a:cubicBezTo>
                    <a:pt x="856" y="145"/>
                    <a:pt x="960" y="68"/>
                    <a:pt x="1056" y="34"/>
                  </a:cubicBezTo>
                  <a:cubicBezTo>
                    <a:pt x="1152" y="0"/>
                    <a:pt x="1256" y="2"/>
                    <a:pt x="1344" y="34"/>
                  </a:cubicBezTo>
                  <a:cubicBezTo>
                    <a:pt x="1432" y="66"/>
                    <a:pt x="1504" y="138"/>
                    <a:pt x="1584" y="226"/>
                  </a:cubicBezTo>
                  <a:cubicBezTo>
                    <a:pt x="1664" y="314"/>
                    <a:pt x="1736" y="442"/>
                    <a:pt x="1824" y="562"/>
                  </a:cubicBezTo>
                  <a:cubicBezTo>
                    <a:pt x="1912" y="682"/>
                    <a:pt x="2001" y="827"/>
                    <a:pt x="2112" y="946"/>
                  </a:cubicBezTo>
                  <a:cubicBezTo>
                    <a:pt x="2223" y="1065"/>
                    <a:pt x="2370" y="1188"/>
                    <a:pt x="2489" y="1276"/>
                  </a:cubicBezTo>
                  <a:cubicBezTo>
                    <a:pt x="2608" y="1364"/>
                    <a:pt x="2675" y="1409"/>
                    <a:pt x="2825" y="1475"/>
                  </a:cubicBezTo>
                  <a:cubicBezTo>
                    <a:pt x="2975" y="1541"/>
                    <a:pt x="3270" y="1633"/>
                    <a:pt x="3387" y="1674"/>
                  </a:cubicBez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dash"/>
              <a:round/>
              <a:headEnd/>
              <a:tailEnd/>
            </a:ln>
          </p:spPr>
          <p:txBody>
            <a:bodyPr wrap="none"/>
            <a:lstStyle/>
            <a:p>
              <a:endParaRPr lang="zh-CN" altLang="en-US" b="1">
                <a:solidFill>
                  <a:srgbClr val="000000"/>
                </a:solidFill>
              </a:endParaRPr>
            </a:p>
          </p:txBody>
        </p:sp>
        <p:grpSp>
          <p:nvGrpSpPr>
            <p:cNvPr id="4" name="Group 83"/>
            <p:cNvGrpSpPr>
              <a:grpSpLocks/>
            </p:cNvGrpSpPr>
            <p:nvPr/>
          </p:nvGrpSpPr>
          <p:grpSpPr bwMode="auto">
            <a:xfrm>
              <a:off x="703" y="1071"/>
              <a:ext cx="4163" cy="2565"/>
              <a:chOff x="703" y="1076"/>
              <a:chExt cx="4163" cy="2565"/>
            </a:xfrm>
          </p:grpSpPr>
          <p:grpSp>
            <p:nvGrpSpPr>
              <p:cNvPr id="5" name="Group 84"/>
              <p:cNvGrpSpPr>
                <a:grpSpLocks/>
              </p:cNvGrpSpPr>
              <p:nvPr/>
            </p:nvGrpSpPr>
            <p:grpSpPr bwMode="auto">
              <a:xfrm>
                <a:off x="1060" y="1586"/>
                <a:ext cx="3312" cy="1632"/>
                <a:chOff x="1296" y="1152"/>
                <a:chExt cx="3312" cy="1776"/>
              </a:xfrm>
            </p:grpSpPr>
            <p:sp>
              <p:nvSpPr>
                <p:cNvPr id="16403" name="Rectangle 85"/>
                <p:cNvSpPr>
                  <a:spLocks noChangeArrowheads="1"/>
                </p:cNvSpPr>
                <p:nvPr/>
              </p:nvSpPr>
              <p:spPr bwMode="auto">
                <a:xfrm>
                  <a:off x="1296" y="2592"/>
                  <a:ext cx="144" cy="336"/>
                </a:xfrm>
                <a:prstGeom prst="rect">
                  <a:avLst/>
                </a:prstGeom>
                <a:noFill/>
                <a:ln w="28575">
                  <a:solidFill>
                    <a:srgbClr val="0000CC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6404" name="Rectangle 86"/>
                <p:cNvSpPr>
                  <a:spLocks noChangeArrowheads="1"/>
                </p:cNvSpPr>
                <p:nvPr/>
              </p:nvSpPr>
              <p:spPr bwMode="auto">
                <a:xfrm>
                  <a:off x="1440" y="2256"/>
                  <a:ext cx="144" cy="672"/>
                </a:xfrm>
                <a:prstGeom prst="rect">
                  <a:avLst/>
                </a:prstGeom>
                <a:noFill/>
                <a:ln w="28575">
                  <a:solidFill>
                    <a:srgbClr val="0000CC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6405" name="Rectangle 87"/>
                <p:cNvSpPr>
                  <a:spLocks noChangeArrowheads="1"/>
                </p:cNvSpPr>
                <p:nvPr/>
              </p:nvSpPr>
              <p:spPr bwMode="auto">
                <a:xfrm>
                  <a:off x="1584" y="1968"/>
                  <a:ext cx="144" cy="960"/>
                </a:xfrm>
                <a:prstGeom prst="rect">
                  <a:avLst/>
                </a:prstGeom>
                <a:noFill/>
                <a:ln w="28575">
                  <a:solidFill>
                    <a:srgbClr val="0000CC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6406" name="Rectangle 88"/>
                <p:cNvSpPr>
                  <a:spLocks noChangeArrowheads="1"/>
                </p:cNvSpPr>
                <p:nvPr/>
              </p:nvSpPr>
              <p:spPr bwMode="auto">
                <a:xfrm>
                  <a:off x="1728" y="1728"/>
                  <a:ext cx="144" cy="1200"/>
                </a:xfrm>
                <a:prstGeom prst="rect">
                  <a:avLst/>
                </a:prstGeom>
                <a:noFill/>
                <a:ln w="28575">
                  <a:solidFill>
                    <a:srgbClr val="0000CC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6407" name="Rectangle 89"/>
                <p:cNvSpPr>
                  <a:spLocks noChangeArrowheads="1"/>
                </p:cNvSpPr>
                <p:nvPr/>
              </p:nvSpPr>
              <p:spPr bwMode="auto">
                <a:xfrm>
                  <a:off x="1872" y="1536"/>
                  <a:ext cx="144" cy="1392"/>
                </a:xfrm>
                <a:prstGeom prst="rect">
                  <a:avLst/>
                </a:prstGeom>
                <a:noFill/>
                <a:ln w="28575">
                  <a:solidFill>
                    <a:srgbClr val="0000CC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6408" name="Rectangle 90"/>
                <p:cNvSpPr>
                  <a:spLocks noChangeArrowheads="1"/>
                </p:cNvSpPr>
                <p:nvPr/>
              </p:nvSpPr>
              <p:spPr bwMode="auto">
                <a:xfrm>
                  <a:off x="2016" y="1344"/>
                  <a:ext cx="144" cy="1584"/>
                </a:xfrm>
                <a:prstGeom prst="rect">
                  <a:avLst/>
                </a:prstGeom>
                <a:noFill/>
                <a:ln w="28575">
                  <a:solidFill>
                    <a:srgbClr val="0000CC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6409" name="Rectangle 91"/>
                <p:cNvSpPr>
                  <a:spLocks noChangeArrowheads="1"/>
                </p:cNvSpPr>
                <p:nvPr/>
              </p:nvSpPr>
              <p:spPr bwMode="auto">
                <a:xfrm>
                  <a:off x="2160" y="1248"/>
                  <a:ext cx="144" cy="1680"/>
                </a:xfrm>
                <a:prstGeom prst="rect">
                  <a:avLst/>
                </a:prstGeom>
                <a:noFill/>
                <a:ln w="28575">
                  <a:solidFill>
                    <a:srgbClr val="0000CC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6410" name="Rectangle 92"/>
                <p:cNvSpPr>
                  <a:spLocks noChangeArrowheads="1"/>
                </p:cNvSpPr>
                <p:nvPr/>
              </p:nvSpPr>
              <p:spPr bwMode="auto">
                <a:xfrm>
                  <a:off x="2304" y="1200"/>
                  <a:ext cx="144" cy="1728"/>
                </a:xfrm>
                <a:prstGeom prst="rect">
                  <a:avLst/>
                </a:prstGeom>
                <a:noFill/>
                <a:ln w="28575">
                  <a:solidFill>
                    <a:srgbClr val="0000CC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6411" name="Rectangle 93"/>
                <p:cNvSpPr>
                  <a:spLocks noChangeArrowheads="1"/>
                </p:cNvSpPr>
                <p:nvPr/>
              </p:nvSpPr>
              <p:spPr bwMode="auto">
                <a:xfrm>
                  <a:off x="2448" y="1152"/>
                  <a:ext cx="144" cy="1776"/>
                </a:xfrm>
                <a:prstGeom prst="rect">
                  <a:avLst/>
                </a:prstGeom>
                <a:noFill/>
                <a:ln w="28575">
                  <a:solidFill>
                    <a:srgbClr val="0000CC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6412" name="Rectangle 94"/>
                <p:cNvSpPr>
                  <a:spLocks noChangeArrowheads="1"/>
                </p:cNvSpPr>
                <p:nvPr/>
              </p:nvSpPr>
              <p:spPr bwMode="auto">
                <a:xfrm>
                  <a:off x="2592" y="1200"/>
                  <a:ext cx="144" cy="1728"/>
                </a:xfrm>
                <a:prstGeom prst="rect">
                  <a:avLst/>
                </a:prstGeom>
                <a:noFill/>
                <a:ln w="28575">
                  <a:solidFill>
                    <a:srgbClr val="0000CC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6413" name="Rectangle 95"/>
                <p:cNvSpPr>
                  <a:spLocks noChangeArrowheads="1"/>
                </p:cNvSpPr>
                <p:nvPr/>
              </p:nvSpPr>
              <p:spPr bwMode="auto">
                <a:xfrm>
                  <a:off x="2736" y="1296"/>
                  <a:ext cx="144" cy="1632"/>
                </a:xfrm>
                <a:prstGeom prst="rect">
                  <a:avLst/>
                </a:prstGeom>
                <a:noFill/>
                <a:ln w="28575">
                  <a:solidFill>
                    <a:srgbClr val="0000CC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6414" name="Rectangle 96"/>
                <p:cNvSpPr>
                  <a:spLocks noChangeArrowheads="1"/>
                </p:cNvSpPr>
                <p:nvPr/>
              </p:nvSpPr>
              <p:spPr bwMode="auto">
                <a:xfrm>
                  <a:off x="2880" y="1440"/>
                  <a:ext cx="144" cy="1488"/>
                </a:xfrm>
                <a:prstGeom prst="rect">
                  <a:avLst/>
                </a:prstGeom>
                <a:noFill/>
                <a:ln w="28575">
                  <a:solidFill>
                    <a:srgbClr val="0000CC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6415" name="Rectangle 97"/>
                <p:cNvSpPr>
                  <a:spLocks noChangeArrowheads="1"/>
                </p:cNvSpPr>
                <p:nvPr/>
              </p:nvSpPr>
              <p:spPr bwMode="auto">
                <a:xfrm>
                  <a:off x="3024" y="1632"/>
                  <a:ext cx="144" cy="1296"/>
                </a:xfrm>
                <a:prstGeom prst="rect">
                  <a:avLst/>
                </a:prstGeom>
                <a:noFill/>
                <a:ln w="28575">
                  <a:solidFill>
                    <a:srgbClr val="0000CC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6416" name="Rectangle 98"/>
                <p:cNvSpPr>
                  <a:spLocks noChangeArrowheads="1"/>
                </p:cNvSpPr>
                <p:nvPr/>
              </p:nvSpPr>
              <p:spPr bwMode="auto">
                <a:xfrm>
                  <a:off x="3312" y="2016"/>
                  <a:ext cx="144" cy="912"/>
                </a:xfrm>
                <a:prstGeom prst="rect">
                  <a:avLst/>
                </a:prstGeom>
                <a:noFill/>
                <a:ln w="28575">
                  <a:solidFill>
                    <a:srgbClr val="0000CC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6417" name="Rectangle 99"/>
                <p:cNvSpPr>
                  <a:spLocks noChangeArrowheads="1"/>
                </p:cNvSpPr>
                <p:nvPr/>
              </p:nvSpPr>
              <p:spPr bwMode="auto">
                <a:xfrm>
                  <a:off x="3456" y="2160"/>
                  <a:ext cx="144" cy="768"/>
                </a:xfrm>
                <a:prstGeom prst="rect">
                  <a:avLst/>
                </a:prstGeom>
                <a:noFill/>
                <a:ln w="28575">
                  <a:solidFill>
                    <a:srgbClr val="0000CC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6418" name="Rectangle 100"/>
                <p:cNvSpPr>
                  <a:spLocks noChangeArrowheads="1"/>
                </p:cNvSpPr>
                <p:nvPr/>
              </p:nvSpPr>
              <p:spPr bwMode="auto">
                <a:xfrm>
                  <a:off x="3600" y="2304"/>
                  <a:ext cx="144" cy="624"/>
                </a:xfrm>
                <a:prstGeom prst="rect">
                  <a:avLst/>
                </a:prstGeom>
                <a:noFill/>
                <a:ln w="28575">
                  <a:solidFill>
                    <a:srgbClr val="0000CC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6419" name="Rectangle 101"/>
                <p:cNvSpPr>
                  <a:spLocks noChangeArrowheads="1"/>
                </p:cNvSpPr>
                <p:nvPr/>
              </p:nvSpPr>
              <p:spPr bwMode="auto">
                <a:xfrm>
                  <a:off x="3744" y="2448"/>
                  <a:ext cx="144" cy="480"/>
                </a:xfrm>
                <a:prstGeom prst="rect">
                  <a:avLst/>
                </a:prstGeom>
                <a:noFill/>
                <a:ln w="28575">
                  <a:solidFill>
                    <a:srgbClr val="0000CC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6420" name="Rectangle 102"/>
                <p:cNvSpPr>
                  <a:spLocks noChangeArrowheads="1"/>
                </p:cNvSpPr>
                <p:nvPr/>
              </p:nvSpPr>
              <p:spPr bwMode="auto">
                <a:xfrm>
                  <a:off x="3888" y="2496"/>
                  <a:ext cx="144" cy="432"/>
                </a:xfrm>
                <a:prstGeom prst="rect">
                  <a:avLst/>
                </a:prstGeom>
                <a:noFill/>
                <a:ln w="28575">
                  <a:solidFill>
                    <a:srgbClr val="0000CC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6421" name="Rectangle 103"/>
                <p:cNvSpPr>
                  <a:spLocks noChangeArrowheads="1"/>
                </p:cNvSpPr>
                <p:nvPr/>
              </p:nvSpPr>
              <p:spPr bwMode="auto">
                <a:xfrm>
                  <a:off x="4032" y="2592"/>
                  <a:ext cx="144" cy="336"/>
                </a:xfrm>
                <a:prstGeom prst="rect">
                  <a:avLst/>
                </a:prstGeom>
                <a:noFill/>
                <a:ln w="28575">
                  <a:solidFill>
                    <a:srgbClr val="0000CC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6422" name="Rectangle 104"/>
                <p:cNvSpPr>
                  <a:spLocks noChangeArrowheads="1"/>
                </p:cNvSpPr>
                <p:nvPr/>
              </p:nvSpPr>
              <p:spPr bwMode="auto">
                <a:xfrm>
                  <a:off x="4176" y="2640"/>
                  <a:ext cx="144" cy="288"/>
                </a:xfrm>
                <a:prstGeom prst="rect">
                  <a:avLst/>
                </a:prstGeom>
                <a:noFill/>
                <a:ln w="28575">
                  <a:solidFill>
                    <a:srgbClr val="0000CC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6423" name="Rectangle 105"/>
                <p:cNvSpPr>
                  <a:spLocks noChangeArrowheads="1"/>
                </p:cNvSpPr>
                <p:nvPr/>
              </p:nvSpPr>
              <p:spPr bwMode="auto">
                <a:xfrm>
                  <a:off x="4320" y="2688"/>
                  <a:ext cx="144" cy="240"/>
                </a:xfrm>
                <a:prstGeom prst="rect">
                  <a:avLst/>
                </a:prstGeom>
                <a:noFill/>
                <a:ln w="28575">
                  <a:solidFill>
                    <a:srgbClr val="0000CC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6424" name="Rectangle 106"/>
                <p:cNvSpPr>
                  <a:spLocks noChangeArrowheads="1"/>
                </p:cNvSpPr>
                <p:nvPr/>
              </p:nvSpPr>
              <p:spPr bwMode="auto">
                <a:xfrm>
                  <a:off x="4464" y="2784"/>
                  <a:ext cx="144" cy="144"/>
                </a:xfrm>
                <a:prstGeom prst="rect">
                  <a:avLst/>
                </a:prstGeom>
                <a:noFill/>
                <a:ln w="28575">
                  <a:solidFill>
                    <a:srgbClr val="0000CC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6425" name="Rectangle 107"/>
                <p:cNvSpPr>
                  <a:spLocks noChangeArrowheads="1"/>
                </p:cNvSpPr>
                <p:nvPr/>
              </p:nvSpPr>
              <p:spPr bwMode="auto">
                <a:xfrm>
                  <a:off x="3168" y="1824"/>
                  <a:ext cx="144" cy="1104"/>
                </a:xfrm>
                <a:prstGeom prst="rect">
                  <a:avLst/>
                </a:prstGeom>
                <a:solidFill>
                  <a:srgbClr val="FFFFFF"/>
                </a:solidFill>
                <a:ln w="28575">
                  <a:solidFill>
                    <a:srgbClr val="0000CC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b="1">
                    <a:solidFill>
                      <a:srgbClr val="000000"/>
                    </a:solidFill>
                  </a:endParaRPr>
                </a:p>
              </p:txBody>
            </p:sp>
          </p:grpSp>
          <p:grpSp>
            <p:nvGrpSpPr>
              <p:cNvPr id="6" name="Group 108"/>
              <p:cNvGrpSpPr>
                <a:grpSpLocks/>
              </p:cNvGrpSpPr>
              <p:nvPr/>
            </p:nvGrpSpPr>
            <p:grpSpPr bwMode="auto">
              <a:xfrm>
                <a:off x="703" y="1298"/>
                <a:ext cx="4163" cy="2343"/>
                <a:chOff x="703" y="1298"/>
                <a:chExt cx="4163" cy="2343"/>
              </a:xfrm>
            </p:grpSpPr>
            <p:sp>
              <p:nvSpPr>
                <p:cNvPr id="16401" name="Line 109"/>
                <p:cNvSpPr>
                  <a:spLocks noChangeShapeType="1"/>
                </p:cNvSpPr>
                <p:nvPr/>
              </p:nvSpPr>
              <p:spPr bwMode="auto">
                <a:xfrm>
                  <a:off x="820" y="3218"/>
                  <a:ext cx="3840" cy="0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 type="triangle" w="sm" len="lg"/>
                </a:ln>
              </p:spPr>
              <p:txBody>
                <a:bodyPr wrap="none" anchor="ctr"/>
                <a:lstStyle/>
                <a:p>
                  <a:endParaRPr lang="zh-CN" altLang="en-US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6402" name="Line 110"/>
                <p:cNvSpPr>
                  <a:spLocks noChangeShapeType="1"/>
                </p:cNvSpPr>
                <p:nvPr/>
              </p:nvSpPr>
              <p:spPr bwMode="auto">
                <a:xfrm flipV="1">
                  <a:off x="820" y="1298"/>
                  <a:ext cx="0" cy="1920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 type="triangle" w="sm" len="lg"/>
                </a:ln>
              </p:spPr>
              <p:txBody>
                <a:bodyPr wrap="none" anchor="ctr"/>
                <a:lstStyle/>
                <a:p>
                  <a:endParaRPr lang="zh-CN" altLang="en-US" b="1">
                    <a:solidFill>
                      <a:srgbClr val="000000"/>
                    </a:solidFill>
                  </a:endParaRPr>
                </a:p>
              </p:txBody>
            </p:sp>
            <p:graphicFrame>
              <p:nvGraphicFramePr>
                <p:cNvPr id="16391" name="Object 111"/>
                <p:cNvGraphicFramePr>
                  <a:graphicFrameLocks noChangeAspect="1"/>
                </p:cNvGraphicFramePr>
                <p:nvPr/>
              </p:nvGraphicFramePr>
              <p:xfrm>
                <a:off x="703" y="3278"/>
                <a:ext cx="261" cy="288"/>
              </p:xfrm>
              <a:graphic>
                <a:graphicData uri="http://schemas.openxmlformats.org/presentationml/2006/ole">
                  <p:oleObj spid="_x0000_s68615" name="Equation" r:id="rId8" imgW="126835" imgH="139518" progId="Equation.3">
                    <p:embed/>
                  </p:oleObj>
                </a:graphicData>
              </a:graphic>
            </p:graphicFrame>
            <p:graphicFrame>
              <p:nvGraphicFramePr>
                <p:cNvPr id="16392" name="Object 112"/>
                <p:cNvGraphicFramePr>
                  <a:graphicFrameLocks noChangeAspect="1"/>
                </p:cNvGraphicFramePr>
                <p:nvPr/>
              </p:nvGraphicFramePr>
              <p:xfrm>
                <a:off x="4580" y="3323"/>
                <a:ext cx="286" cy="318"/>
              </p:xfrm>
              <a:graphic>
                <a:graphicData uri="http://schemas.openxmlformats.org/presentationml/2006/ole">
                  <p:oleObj spid="_x0000_s68616" name="公式" r:id="rId9" imgW="126835" imgH="139518" progId="Equation.3">
                    <p:embed/>
                  </p:oleObj>
                </a:graphicData>
              </a:graphic>
            </p:graphicFrame>
          </p:grpSp>
          <p:graphicFrame>
            <p:nvGraphicFramePr>
              <p:cNvPr id="16390" name="Object 113"/>
              <p:cNvGraphicFramePr>
                <a:graphicFrameLocks noChangeAspect="1"/>
              </p:cNvGraphicFramePr>
              <p:nvPr/>
            </p:nvGraphicFramePr>
            <p:xfrm>
              <a:off x="857" y="1076"/>
              <a:ext cx="594" cy="443"/>
            </p:xfrm>
            <a:graphic>
              <a:graphicData uri="http://schemas.openxmlformats.org/presentationml/2006/ole">
                <p:oleObj spid="_x0000_s68617" name="公式" r:id="rId10" imgW="291847" imgH="215713" progId="Equation.3">
                  <p:embed/>
                </p:oleObj>
              </a:graphicData>
            </a:graphic>
          </p:graphicFrame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4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4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4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44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4" name="Text Box 3"/>
          <p:cNvSpPr txBox="1">
            <a:spLocks noChangeArrowheads="1"/>
          </p:cNvSpPr>
          <p:nvPr/>
        </p:nvSpPr>
        <p:spPr bwMode="auto">
          <a:xfrm>
            <a:off x="539552" y="552872"/>
            <a:ext cx="33528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CC0000"/>
                </a:solidFill>
                <a:latin typeface="Times New Roman" pitchFamily="18" charset="0"/>
              </a:rPr>
              <a:t>（</a:t>
            </a:r>
            <a:r>
              <a:rPr lang="en-US" altLang="zh-CN" sz="3200" b="1" dirty="0">
                <a:solidFill>
                  <a:srgbClr val="CC0000"/>
                </a:solidFill>
                <a:latin typeface="Times New Roman" pitchFamily="18" charset="0"/>
              </a:rPr>
              <a:t>3</a:t>
            </a:r>
            <a:r>
              <a:rPr lang="zh-CN" altLang="en-US" sz="3200" b="1" dirty="0">
                <a:solidFill>
                  <a:srgbClr val="CC0000"/>
                </a:solidFill>
                <a:latin typeface="Times New Roman" pitchFamily="18" charset="0"/>
              </a:rPr>
              <a:t>）</a:t>
            </a:r>
            <a:r>
              <a:rPr lang="zh-CN" altLang="en-US" sz="3200" b="1" dirty="0">
                <a:solidFill>
                  <a:srgbClr val="1C1C1C"/>
                </a:solidFill>
                <a:latin typeface="Times New Roman" pitchFamily="18" charset="0"/>
              </a:rPr>
              <a:t>方均根速率</a:t>
            </a:r>
          </a:p>
        </p:txBody>
      </p:sp>
      <p:graphicFrame>
        <p:nvGraphicFramePr>
          <p:cNvPr id="17410" name="Object 1024"/>
          <p:cNvGraphicFramePr>
            <a:graphicFrameLocks noChangeAspect="1"/>
          </p:cNvGraphicFramePr>
          <p:nvPr/>
        </p:nvGraphicFramePr>
        <p:xfrm>
          <a:off x="3652640" y="476672"/>
          <a:ext cx="990600" cy="663575"/>
        </p:xfrm>
        <a:graphic>
          <a:graphicData uri="http://schemas.openxmlformats.org/presentationml/2006/ole">
            <p:oleObj spid="_x0000_s69634" name="Equation" r:id="rId3" imgW="558800" imgH="419100" progId="Equation.3">
              <p:embed/>
            </p:oleObj>
          </a:graphicData>
        </a:graphic>
      </p:graphicFrame>
      <p:graphicFrame>
        <p:nvGraphicFramePr>
          <p:cNvPr id="82945" name="Object 1025"/>
          <p:cNvGraphicFramePr>
            <a:graphicFrameLocks noChangeAspect="1"/>
          </p:cNvGraphicFramePr>
          <p:nvPr/>
        </p:nvGraphicFramePr>
        <p:xfrm>
          <a:off x="899592" y="4480718"/>
          <a:ext cx="4672013" cy="1252538"/>
        </p:xfrm>
        <a:graphic>
          <a:graphicData uri="http://schemas.openxmlformats.org/presentationml/2006/ole">
            <p:oleObj spid="_x0000_s69635" name="公式" r:id="rId4" imgW="1586811" imgH="444307" progId="Equation.3">
              <p:embed/>
            </p:oleObj>
          </a:graphicData>
        </a:graphic>
      </p:graphicFrame>
      <p:graphicFrame>
        <p:nvGraphicFramePr>
          <p:cNvPr id="82946" name="Object 1026"/>
          <p:cNvGraphicFramePr>
            <a:graphicFrameLocks noChangeAspect="1"/>
          </p:cNvGraphicFramePr>
          <p:nvPr/>
        </p:nvGraphicFramePr>
        <p:xfrm>
          <a:off x="899592" y="1484784"/>
          <a:ext cx="4606925" cy="1292225"/>
        </p:xfrm>
        <a:graphic>
          <a:graphicData uri="http://schemas.openxmlformats.org/presentationml/2006/ole">
            <p:oleObj spid="_x0000_s69636" name="Equation" r:id="rId5" imgW="3632200" imgH="939800" progId="Equation.3">
              <p:embed/>
            </p:oleObj>
          </a:graphicData>
        </a:graphic>
      </p:graphicFrame>
      <p:graphicFrame>
        <p:nvGraphicFramePr>
          <p:cNvPr id="82947" name="Object 1027"/>
          <p:cNvGraphicFramePr>
            <a:graphicFrameLocks noChangeAspect="1"/>
          </p:cNvGraphicFramePr>
          <p:nvPr/>
        </p:nvGraphicFramePr>
        <p:xfrm>
          <a:off x="899592" y="3212976"/>
          <a:ext cx="2376488" cy="669925"/>
        </p:xfrm>
        <a:graphic>
          <a:graphicData uri="http://schemas.openxmlformats.org/presentationml/2006/ole">
            <p:oleObj spid="_x0000_s69637" name="公式" r:id="rId6" imgW="723586" imgH="228501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82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2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82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633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64850825"/>
              </p:ext>
            </p:extLst>
          </p:nvPr>
        </p:nvGraphicFramePr>
        <p:xfrm>
          <a:off x="1908175" y="908720"/>
          <a:ext cx="4876800" cy="987425"/>
        </p:xfrm>
        <a:graphic>
          <a:graphicData uri="http://schemas.openxmlformats.org/presentationml/2006/ole">
            <p:oleObj spid="_x0000_s70658" name="Equation" r:id="rId3" imgW="2959100" imgH="660400" progId="Equation.DSMT4">
              <p:embed/>
            </p:oleObj>
          </a:graphicData>
        </a:graphic>
      </p:graphicFrame>
      <p:graphicFrame>
        <p:nvGraphicFramePr>
          <p:cNvPr id="56331" name="Object 11"/>
          <p:cNvGraphicFramePr>
            <a:graphicFrameLocks noChangeAspect="1"/>
          </p:cNvGraphicFramePr>
          <p:nvPr/>
        </p:nvGraphicFramePr>
        <p:xfrm>
          <a:off x="2411760" y="5419749"/>
          <a:ext cx="2474913" cy="817563"/>
        </p:xfrm>
        <a:graphic>
          <a:graphicData uri="http://schemas.openxmlformats.org/presentationml/2006/ole">
            <p:oleObj spid="_x0000_s70659" name="Equation" r:id="rId4" imgW="1625600" imgH="520700" progId="Equation.3">
              <p:embed/>
            </p:oleObj>
          </a:graphicData>
        </a:graphic>
      </p:graphicFrame>
      <p:graphicFrame>
        <p:nvGraphicFramePr>
          <p:cNvPr id="56332" name="Object 12"/>
          <p:cNvGraphicFramePr>
            <a:graphicFrameLocks noChangeAspect="1"/>
          </p:cNvGraphicFramePr>
          <p:nvPr/>
        </p:nvGraphicFramePr>
        <p:xfrm>
          <a:off x="1908175" y="2349128"/>
          <a:ext cx="4267200" cy="1008063"/>
        </p:xfrm>
        <a:graphic>
          <a:graphicData uri="http://schemas.openxmlformats.org/presentationml/2006/ole">
            <p:oleObj spid="_x0000_s70660" name="Equation" r:id="rId5" imgW="2578100" imgH="660400" progId="Equation.3">
              <p:embed/>
            </p:oleObj>
          </a:graphicData>
        </a:graphic>
      </p:graphicFrame>
      <p:graphicFrame>
        <p:nvGraphicFramePr>
          <p:cNvPr id="56333" name="Object 13"/>
          <p:cNvGraphicFramePr>
            <a:graphicFrameLocks noChangeAspect="1"/>
          </p:cNvGraphicFramePr>
          <p:nvPr/>
        </p:nvGraphicFramePr>
        <p:xfrm>
          <a:off x="1994272" y="4020988"/>
          <a:ext cx="3225800" cy="992188"/>
        </p:xfrm>
        <a:graphic>
          <a:graphicData uri="http://schemas.openxmlformats.org/presentationml/2006/ole">
            <p:oleObj spid="_x0000_s70661" name="Equation" r:id="rId6" imgW="2489200" imgH="762000" progId="Equation.3">
              <p:embed/>
            </p:oleObj>
          </a:graphicData>
        </a:graphic>
      </p:graphicFrame>
      <p:sp>
        <p:nvSpPr>
          <p:cNvPr id="56334" name="AutoShape 14"/>
          <p:cNvSpPr>
            <a:spLocks/>
          </p:cNvSpPr>
          <p:nvPr/>
        </p:nvSpPr>
        <p:spPr bwMode="auto">
          <a:xfrm>
            <a:off x="1475656" y="1484263"/>
            <a:ext cx="381000" cy="3096865"/>
          </a:xfrm>
          <a:prstGeom prst="leftBrace">
            <a:avLst>
              <a:gd name="adj1" fmla="val 50000"/>
              <a:gd name="adj2" fmla="val 50000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18439" name="Text Box 15"/>
          <p:cNvSpPr txBox="1">
            <a:spLocks noChangeArrowheads="1"/>
          </p:cNvSpPr>
          <p:nvPr/>
        </p:nvSpPr>
        <p:spPr bwMode="auto">
          <a:xfrm>
            <a:off x="611560" y="260648"/>
            <a:ext cx="4119563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Wingdings" pitchFamily="2" charset="2"/>
              <a:buChar char="u"/>
            </a:pPr>
            <a:r>
              <a:rPr lang="zh-CN" altLang="en-US" sz="3200" b="1" dirty="0">
                <a:solidFill>
                  <a:srgbClr val="FF0000"/>
                </a:solidFill>
              </a:rPr>
              <a:t>三种速率的比较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6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6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56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56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63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63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3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3"/>
          <p:cNvGrpSpPr>
            <a:grpSpLocks/>
          </p:cNvGrpSpPr>
          <p:nvPr/>
        </p:nvGrpSpPr>
        <p:grpSpPr bwMode="auto">
          <a:xfrm>
            <a:off x="4859338" y="1557338"/>
            <a:ext cx="3741737" cy="4291012"/>
            <a:chOff x="3061" y="981"/>
            <a:chExt cx="2357" cy="2703"/>
          </a:xfrm>
        </p:grpSpPr>
        <p:sp>
          <p:nvSpPr>
            <p:cNvPr id="19484" name="Text Box 7"/>
            <p:cNvSpPr txBox="1">
              <a:spLocks noChangeArrowheads="1"/>
            </p:cNvSpPr>
            <p:nvPr/>
          </p:nvSpPr>
          <p:spPr bwMode="auto">
            <a:xfrm>
              <a:off x="3061" y="2886"/>
              <a:ext cx="2357" cy="798"/>
            </a:xfrm>
            <a:prstGeom prst="rect">
              <a:avLst/>
            </a:prstGeom>
            <a:gradFill flip="none" rotWithShape="1">
              <a:gsLst>
                <a:gs pos="88000">
                  <a:srgbClr val="FFFFFF">
                    <a:alpha val="41000"/>
                  </a:srgbClr>
                </a:gs>
                <a:gs pos="100000">
                  <a:schemeClr val="accent1"/>
                </a:gs>
              </a:gsLst>
              <a:lin ang="8100000" scaled="1"/>
              <a:tileRect/>
            </a:gradFill>
            <a:ln w="6350">
              <a:solidFill>
                <a:schemeClr val="tx2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Bef>
                  <a:spcPct val="50000"/>
                </a:spcBef>
                <a:defRPr/>
              </a:pPr>
              <a:r>
                <a:rPr lang="en-US" altLang="zh-CN" sz="3200" b="1" dirty="0">
                  <a:solidFill>
                    <a:srgbClr val="1C1C1C"/>
                  </a:solidFill>
                  <a:latin typeface="Times New Roman" pitchFamily="18" charset="0"/>
                </a:rPr>
                <a:t>        </a:t>
              </a:r>
              <a:r>
                <a:rPr lang="zh-CN" altLang="en-US" sz="3200" b="1" dirty="0">
                  <a:solidFill>
                    <a:srgbClr val="1C1C1C"/>
                  </a:solidFill>
                  <a:latin typeface="Times New Roman" pitchFamily="18" charset="0"/>
                </a:rPr>
                <a:t>同一温度下不同气体的速率分布</a:t>
              </a:r>
            </a:p>
          </p:txBody>
        </p:sp>
        <p:sp>
          <p:nvSpPr>
            <p:cNvPr id="43044" name="Rectangle 8"/>
            <p:cNvSpPr>
              <a:spLocks noChangeArrowheads="1"/>
            </p:cNvSpPr>
            <p:nvPr/>
          </p:nvSpPr>
          <p:spPr bwMode="auto">
            <a:xfrm>
              <a:off x="3061" y="981"/>
              <a:ext cx="2352" cy="182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b="1" smtClean="0">
                <a:solidFill>
                  <a:srgbClr val="000000"/>
                </a:solidFill>
                <a:ea typeface="宋体" charset="-122"/>
              </a:endParaRPr>
            </a:p>
          </p:txBody>
        </p:sp>
        <p:grpSp>
          <p:nvGrpSpPr>
            <p:cNvPr id="3" name="Group 9"/>
            <p:cNvGrpSpPr>
              <a:grpSpLocks/>
            </p:cNvGrpSpPr>
            <p:nvPr/>
          </p:nvGrpSpPr>
          <p:grpSpPr bwMode="auto">
            <a:xfrm>
              <a:off x="3253" y="1509"/>
              <a:ext cx="2016" cy="1286"/>
              <a:chOff x="3264" y="1968"/>
              <a:chExt cx="2016" cy="1286"/>
            </a:xfrm>
          </p:grpSpPr>
          <p:sp>
            <p:nvSpPr>
              <p:cNvPr id="43049" name="Freeform 10"/>
              <p:cNvSpPr>
                <a:spLocks/>
              </p:cNvSpPr>
              <p:nvPr/>
            </p:nvSpPr>
            <p:spPr bwMode="auto">
              <a:xfrm>
                <a:off x="3264" y="1968"/>
                <a:ext cx="1578" cy="952"/>
              </a:xfrm>
              <a:custGeom>
                <a:avLst/>
                <a:gdLst>
                  <a:gd name="T0" fmla="*/ 0 w 1824"/>
                  <a:gd name="T1" fmla="*/ 1571 h 840"/>
                  <a:gd name="T2" fmla="*/ 93 w 1824"/>
                  <a:gd name="T3" fmla="*/ 1212 h 840"/>
                  <a:gd name="T4" fmla="*/ 256 w 1824"/>
                  <a:gd name="T5" fmla="*/ 224 h 840"/>
                  <a:gd name="T6" fmla="*/ 372 w 1824"/>
                  <a:gd name="T7" fmla="*/ 45 h 840"/>
                  <a:gd name="T8" fmla="*/ 512 w 1824"/>
                  <a:gd name="T9" fmla="*/ 493 h 840"/>
                  <a:gd name="T10" fmla="*/ 628 w 1824"/>
                  <a:gd name="T11" fmla="*/ 853 h 840"/>
                  <a:gd name="T12" fmla="*/ 767 w 1824"/>
                  <a:gd name="T13" fmla="*/ 1212 h 840"/>
                  <a:gd name="T14" fmla="*/ 884 w 1824"/>
                  <a:gd name="T15" fmla="*/ 1389 h 84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824"/>
                  <a:gd name="T25" fmla="*/ 0 h 840"/>
                  <a:gd name="T26" fmla="*/ 1824 w 1824"/>
                  <a:gd name="T27" fmla="*/ 840 h 84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824" h="840">
                    <a:moveTo>
                      <a:pt x="0" y="840"/>
                    </a:moveTo>
                    <a:cubicBezTo>
                      <a:pt x="52" y="804"/>
                      <a:pt x="104" y="768"/>
                      <a:pt x="192" y="648"/>
                    </a:cubicBezTo>
                    <a:cubicBezTo>
                      <a:pt x="280" y="528"/>
                      <a:pt x="432" y="224"/>
                      <a:pt x="528" y="120"/>
                    </a:cubicBezTo>
                    <a:cubicBezTo>
                      <a:pt x="624" y="16"/>
                      <a:pt x="680" y="0"/>
                      <a:pt x="768" y="24"/>
                    </a:cubicBezTo>
                    <a:cubicBezTo>
                      <a:pt x="856" y="48"/>
                      <a:pt x="968" y="192"/>
                      <a:pt x="1056" y="264"/>
                    </a:cubicBezTo>
                    <a:cubicBezTo>
                      <a:pt x="1144" y="336"/>
                      <a:pt x="1208" y="392"/>
                      <a:pt x="1296" y="456"/>
                    </a:cubicBezTo>
                    <a:cubicBezTo>
                      <a:pt x="1384" y="520"/>
                      <a:pt x="1496" y="600"/>
                      <a:pt x="1584" y="648"/>
                    </a:cubicBezTo>
                    <a:cubicBezTo>
                      <a:pt x="1672" y="696"/>
                      <a:pt x="1784" y="728"/>
                      <a:pt x="1824" y="744"/>
                    </a:cubicBezTo>
                  </a:path>
                </a:pathLst>
              </a:custGeom>
              <a:noFill/>
              <a:ln w="28575" cmpd="sng">
                <a:solidFill>
                  <a:srgbClr val="D60093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kumimoji="1" lang="zh-CN" altLang="en-US" sz="2400" baseline="-25000" smtClean="0">
                  <a:solidFill>
                    <a:srgbClr val="000000"/>
                  </a:solidFill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43050" name="Freeform 11"/>
              <p:cNvSpPr>
                <a:spLocks/>
              </p:cNvSpPr>
              <p:nvPr/>
            </p:nvSpPr>
            <p:spPr bwMode="auto">
              <a:xfrm>
                <a:off x="3264" y="2160"/>
                <a:ext cx="2016" cy="760"/>
              </a:xfrm>
              <a:custGeom>
                <a:avLst/>
                <a:gdLst>
                  <a:gd name="T0" fmla="*/ 0 w 1824"/>
                  <a:gd name="T1" fmla="*/ 509 h 840"/>
                  <a:gd name="T2" fmla="*/ 316 w 1824"/>
                  <a:gd name="T3" fmla="*/ 393 h 840"/>
                  <a:gd name="T4" fmla="*/ 871 w 1824"/>
                  <a:gd name="T5" fmla="*/ 73 h 840"/>
                  <a:gd name="T6" fmla="*/ 1267 w 1824"/>
                  <a:gd name="T7" fmla="*/ 14 h 840"/>
                  <a:gd name="T8" fmla="*/ 1742 w 1824"/>
                  <a:gd name="T9" fmla="*/ 159 h 840"/>
                  <a:gd name="T10" fmla="*/ 2138 w 1824"/>
                  <a:gd name="T11" fmla="*/ 277 h 840"/>
                  <a:gd name="T12" fmla="*/ 2613 w 1824"/>
                  <a:gd name="T13" fmla="*/ 393 h 840"/>
                  <a:gd name="T14" fmla="*/ 3009 w 1824"/>
                  <a:gd name="T15" fmla="*/ 451 h 84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824"/>
                  <a:gd name="T25" fmla="*/ 0 h 840"/>
                  <a:gd name="T26" fmla="*/ 1824 w 1824"/>
                  <a:gd name="T27" fmla="*/ 840 h 84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824" h="840">
                    <a:moveTo>
                      <a:pt x="0" y="840"/>
                    </a:moveTo>
                    <a:cubicBezTo>
                      <a:pt x="52" y="804"/>
                      <a:pt x="104" y="768"/>
                      <a:pt x="192" y="648"/>
                    </a:cubicBezTo>
                    <a:cubicBezTo>
                      <a:pt x="280" y="528"/>
                      <a:pt x="432" y="224"/>
                      <a:pt x="528" y="120"/>
                    </a:cubicBezTo>
                    <a:cubicBezTo>
                      <a:pt x="624" y="16"/>
                      <a:pt x="680" y="0"/>
                      <a:pt x="768" y="24"/>
                    </a:cubicBezTo>
                    <a:cubicBezTo>
                      <a:pt x="856" y="48"/>
                      <a:pt x="968" y="192"/>
                      <a:pt x="1056" y="264"/>
                    </a:cubicBezTo>
                    <a:cubicBezTo>
                      <a:pt x="1144" y="336"/>
                      <a:pt x="1208" y="392"/>
                      <a:pt x="1296" y="456"/>
                    </a:cubicBezTo>
                    <a:cubicBezTo>
                      <a:pt x="1384" y="520"/>
                      <a:pt x="1496" y="600"/>
                      <a:pt x="1584" y="648"/>
                    </a:cubicBezTo>
                    <a:cubicBezTo>
                      <a:pt x="1672" y="696"/>
                      <a:pt x="1784" y="728"/>
                      <a:pt x="1824" y="744"/>
                    </a:cubicBezTo>
                  </a:path>
                </a:pathLst>
              </a:custGeom>
              <a:noFill/>
              <a:ln w="28575" cmpd="sng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kumimoji="1" lang="zh-CN" altLang="en-US" sz="2400" baseline="-25000" smtClean="0">
                  <a:solidFill>
                    <a:srgbClr val="000000"/>
                  </a:solidFill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43051" name="Line 12"/>
              <p:cNvSpPr>
                <a:spLocks noChangeShapeType="1"/>
              </p:cNvSpPr>
              <p:nvPr/>
            </p:nvSpPr>
            <p:spPr bwMode="auto">
              <a:xfrm>
                <a:off x="3888" y="2016"/>
                <a:ext cx="0" cy="912"/>
              </a:xfrm>
              <a:prstGeom prst="line">
                <a:avLst/>
              </a:prstGeom>
              <a:noFill/>
              <a:ln w="19050">
                <a:solidFill>
                  <a:srgbClr val="1C1C1C"/>
                </a:solidFill>
                <a:prstDash val="dash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kumimoji="1" lang="zh-CN" altLang="en-US" sz="2400" baseline="-25000" smtClean="0">
                  <a:solidFill>
                    <a:srgbClr val="000000"/>
                  </a:solidFill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43052" name="Line 13"/>
              <p:cNvSpPr>
                <a:spLocks noChangeShapeType="1"/>
              </p:cNvSpPr>
              <p:nvPr/>
            </p:nvSpPr>
            <p:spPr bwMode="auto">
              <a:xfrm>
                <a:off x="4080" y="2160"/>
                <a:ext cx="0" cy="768"/>
              </a:xfrm>
              <a:prstGeom prst="line">
                <a:avLst/>
              </a:prstGeom>
              <a:noFill/>
              <a:ln w="19050">
                <a:solidFill>
                  <a:srgbClr val="1C1C1C"/>
                </a:solidFill>
                <a:prstDash val="dash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kumimoji="1" lang="zh-CN" altLang="en-US" sz="2400" baseline="-25000" smtClean="0">
                  <a:solidFill>
                    <a:srgbClr val="000000"/>
                  </a:solidFill>
                  <a:latin typeface="Times New Roman" pitchFamily="18" charset="0"/>
                  <a:ea typeface="宋体" charset="-122"/>
                </a:endParaRPr>
              </a:p>
            </p:txBody>
          </p:sp>
          <p:graphicFrame>
            <p:nvGraphicFramePr>
              <p:cNvPr id="43022" name="Object 12"/>
              <p:cNvGraphicFramePr>
                <a:graphicFrameLocks noChangeAspect="1"/>
              </p:cNvGraphicFramePr>
              <p:nvPr/>
            </p:nvGraphicFramePr>
            <p:xfrm>
              <a:off x="3662" y="2846"/>
              <a:ext cx="365" cy="368"/>
            </p:xfrm>
            <a:graphic>
              <a:graphicData uri="http://schemas.openxmlformats.org/presentationml/2006/ole">
                <p:oleObj spid="_x0000_s71682" name="公式" r:id="rId3" imgW="241195" imgH="241195" progId="Equation.DSMT4">
                  <p:embed/>
                </p:oleObj>
              </a:graphicData>
            </a:graphic>
          </p:graphicFrame>
          <p:graphicFrame>
            <p:nvGraphicFramePr>
              <p:cNvPr id="43023" name="Object 13"/>
              <p:cNvGraphicFramePr>
                <a:graphicFrameLocks noChangeAspect="1"/>
              </p:cNvGraphicFramePr>
              <p:nvPr/>
            </p:nvGraphicFramePr>
            <p:xfrm>
              <a:off x="4025" y="2870"/>
              <a:ext cx="344" cy="384"/>
            </p:xfrm>
            <a:graphic>
              <a:graphicData uri="http://schemas.openxmlformats.org/presentationml/2006/ole">
                <p:oleObj spid="_x0000_s71683" name="公式" r:id="rId4" imgW="215713" imgH="241091" progId="Equation.DSMT4">
                  <p:embed/>
                </p:oleObj>
              </a:graphicData>
            </a:graphic>
          </p:graphicFrame>
        </p:grpSp>
        <p:grpSp>
          <p:nvGrpSpPr>
            <p:cNvPr id="4" name="Group 18"/>
            <p:cNvGrpSpPr>
              <a:grpSpLocks/>
            </p:cNvGrpSpPr>
            <p:nvPr/>
          </p:nvGrpSpPr>
          <p:grpSpPr bwMode="auto">
            <a:xfrm>
              <a:off x="3152" y="1221"/>
              <a:ext cx="2199" cy="1488"/>
              <a:chOff x="3163" y="1680"/>
              <a:chExt cx="2199" cy="1488"/>
            </a:xfrm>
          </p:grpSpPr>
          <p:sp>
            <p:nvSpPr>
              <p:cNvPr id="43047" name="Line 19"/>
              <p:cNvSpPr>
                <a:spLocks noChangeShapeType="1"/>
              </p:cNvSpPr>
              <p:nvPr/>
            </p:nvSpPr>
            <p:spPr bwMode="auto">
              <a:xfrm>
                <a:off x="3245" y="2924"/>
                <a:ext cx="2117" cy="7"/>
              </a:xfrm>
              <a:prstGeom prst="line">
                <a:avLst/>
              </a:prstGeom>
              <a:noFill/>
              <a:ln w="19050">
                <a:solidFill>
                  <a:srgbClr val="1C1C1C"/>
                </a:solidFill>
                <a:round/>
                <a:headEnd/>
                <a:tailEnd type="triangle" w="sm" len="lg"/>
              </a:ln>
            </p:spPr>
            <p:txBody>
              <a:bodyPr wrap="none" anchor="ctr"/>
              <a:lstStyle/>
              <a:p>
                <a:endParaRPr kumimoji="1" lang="zh-CN" altLang="en-US" sz="2400" baseline="-25000" smtClean="0">
                  <a:solidFill>
                    <a:srgbClr val="000000"/>
                  </a:solidFill>
                  <a:latin typeface="Times New Roman" pitchFamily="18" charset="0"/>
                  <a:ea typeface="宋体" charset="-122"/>
                </a:endParaRPr>
              </a:p>
            </p:txBody>
          </p:sp>
          <p:graphicFrame>
            <p:nvGraphicFramePr>
              <p:cNvPr id="43017" name="Object 7"/>
              <p:cNvGraphicFramePr>
                <a:graphicFrameLocks noChangeAspect="1"/>
              </p:cNvGraphicFramePr>
              <p:nvPr/>
            </p:nvGraphicFramePr>
            <p:xfrm>
              <a:off x="5041" y="2976"/>
              <a:ext cx="146" cy="192"/>
            </p:xfrm>
            <a:graphic>
              <a:graphicData uri="http://schemas.openxmlformats.org/presentationml/2006/ole">
                <p:oleObj spid="_x0000_s71684" name="Equation" r:id="rId5" imgW="177646" imgH="190335" progId="Equation.3">
                  <p:embed/>
                </p:oleObj>
              </a:graphicData>
            </a:graphic>
          </p:graphicFrame>
          <p:graphicFrame>
            <p:nvGraphicFramePr>
              <p:cNvPr id="43018" name="Object 8"/>
              <p:cNvGraphicFramePr>
                <a:graphicFrameLocks noChangeAspect="1"/>
              </p:cNvGraphicFramePr>
              <p:nvPr/>
            </p:nvGraphicFramePr>
            <p:xfrm>
              <a:off x="3312" y="1680"/>
              <a:ext cx="328" cy="248"/>
            </p:xfrm>
            <a:graphic>
              <a:graphicData uri="http://schemas.openxmlformats.org/presentationml/2006/ole">
                <p:oleObj spid="_x0000_s71685" name="Equation" r:id="rId6" imgW="533169" imgH="304668" progId="Equation.3">
                  <p:embed/>
                </p:oleObj>
              </a:graphicData>
            </a:graphic>
          </p:graphicFrame>
          <p:sp>
            <p:nvSpPr>
              <p:cNvPr id="43048" name="Line 22"/>
              <p:cNvSpPr>
                <a:spLocks noChangeShapeType="1"/>
              </p:cNvSpPr>
              <p:nvPr/>
            </p:nvSpPr>
            <p:spPr bwMode="auto">
              <a:xfrm flipV="1">
                <a:off x="3270" y="1680"/>
                <a:ext cx="0" cy="1251"/>
              </a:xfrm>
              <a:prstGeom prst="line">
                <a:avLst/>
              </a:prstGeom>
              <a:noFill/>
              <a:ln w="19050">
                <a:solidFill>
                  <a:srgbClr val="1C1C1C"/>
                </a:solidFill>
                <a:round/>
                <a:headEnd/>
                <a:tailEnd type="triangle" w="sm" len="lg"/>
              </a:ln>
            </p:spPr>
            <p:txBody>
              <a:bodyPr wrap="none" anchor="ctr"/>
              <a:lstStyle/>
              <a:p>
                <a:endParaRPr kumimoji="1" lang="zh-CN" altLang="en-US" sz="2400" baseline="-25000" smtClean="0">
                  <a:solidFill>
                    <a:srgbClr val="000000"/>
                  </a:solidFill>
                  <a:latin typeface="Times New Roman" pitchFamily="18" charset="0"/>
                  <a:ea typeface="宋体" charset="-122"/>
                </a:endParaRPr>
              </a:p>
            </p:txBody>
          </p:sp>
          <p:graphicFrame>
            <p:nvGraphicFramePr>
              <p:cNvPr id="43019" name="Object 9"/>
              <p:cNvGraphicFramePr>
                <a:graphicFrameLocks noChangeAspect="1"/>
              </p:cNvGraphicFramePr>
              <p:nvPr/>
            </p:nvGraphicFramePr>
            <p:xfrm>
              <a:off x="3163" y="2928"/>
              <a:ext cx="218" cy="240"/>
            </p:xfrm>
            <a:graphic>
              <a:graphicData uri="http://schemas.openxmlformats.org/presentationml/2006/ole">
                <p:oleObj spid="_x0000_s71686" name="Equation" r:id="rId7" imgW="126835" imgH="139518" progId="Equation.3">
                  <p:embed/>
                </p:oleObj>
              </a:graphicData>
            </a:graphic>
          </p:graphicFrame>
        </p:grpSp>
      </p:grpSp>
      <p:grpSp>
        <p:nvGrpSpPr>
          <p:cNvPr id="5" name="Group 47"/>
          <p:cNvGrpSpPr>
            <a:grpSpLocks/>
          </p:cNvGrpSpPr>
          <p:nvPr/>
        </p:nvGrpSpPr>
        <p:grpSpPr bwMode="auto">
          <a:xfrm>
            <a:off x="611188" y="1557338"/>
            <a:ext cx="3962400" cy="4291012"/>
            <a:chOff x="385" y="981"/>
            <a:chExt cx="2496" cy="2703"/>
          </a:xfrm>
        </p:grpSpPr>
        <p:sp>
          <p:nvSpPr>
            <p:cNvPr id="19474" name="Text Box 25"/>
            <p:cNvSpPr txBox="1">
              <a:spLocks noChangeArrowheads="1"/>
            </p:cNvSpPr>
            <p:nvPr/>
          </p:nvSpPr>
          <p:spPr bwMode="auto">
            <a:xfrm>
              <a:off x="385" y="2886"/>
              <a:ext cx="2493" cy="798"/>
            </a:xfrm>
            <a:prstGeom prst="rect">
              <a:avLst/>
            </a:prstGeom>
            <a:gradFill flip="none" rotWithShape="1">
              <a:gsLst>
                <a:gs pos="83000">
                  <a:srgbClr val="FFFFFF">
                    <a:alpha val="50000"/>
                  </a:srgbClr>
                </a:gs>
                <a:gs pos="100000">
                  <a:schemeClr val="accent1"/>
                </a:gs>
              </a:gsLst>
              <a:lin ang="2700000" scaled="1"/>
              <a:tileRect/>
            </a:gradFill>
            <a:ln w="6350">
              <a:solidFill>
                <a:schemeClr val="tx2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Bef>
                  <a:spcPct val="50000"/>
                </a:spcBef>
                <a:defRPr/>
              </a:pPr>
              <a:r>
                <a:rPr lang="en-US" altLang="zh-CN" sz="3200" b="1" dirty="0">
                  <a:solidFill>
                    <a:srgbClr val="1C1C1C"/>
                  </a:solidFill>
                  <a:latin typeface="Times New Roman" pitchFamily="18" charset="0"/>
                </a:rPr>
                <a:t>      N</a:t>
              </a:r>
              <a:r>
                <a:rPr lang="en-US" altLang="zh-CN" sz="3200" b="1" baseline="-25000" dirty="0">
                  <a:solidFill>
                    <a:srgbClr val="1C1C1C"/>
                  </a:solidFill>
                  <a:latin typeface="Times New Roman" pitchFamily="18" charset="0"/>
                </a:rPr>
                <a:t>2 </a:t>
              </a:r>
              <a:r>
                <a:rPr lang="zh-CN" altLang="en-US" sz="3200" b="1" dirty="0">
                  <a:solidFill>
                    <a:srgbClr val="1C1C1C"/>
                  </a:solidFill>
                  <a:latin typeface="Times New Roman" pitchFamily="18" charset="0"/>
                </a:rPr>
                <a:t>分子在不同温度下的速率分布</a:t>
              </a:r>
            </a:p>
          </p:txBody>
        </p:sp>
        <p:grpSp>
          <p:nvGrpSpPr>
            <p:cNvPr id="6" name="Group 46"/>
            <p:cNvGrpSpPr>
              <a:grpSpLocks/>
            </p:cNvGrpSpPr>
            <p:nvPr/>
          </p:nvGrpSpPr>
          <p:grpSpPr bwMode="auto">
            <a:xfrm>
              <a:off x="385" y="981"/>
              <a:ext cx="2496" cy="1824"/>
              <a:chOff x="385" y="981"/>
              <a:chExt cx="2496" cy="1824"/>
            </a:xfrm>
          </p:grpSpPr>
          <p:sp>
            <p:nvSpPr>
              <p:cNvPr id="43033" name="Rectangle 27"/>
              <p:cNvSpPr>
                <a:spLocks noChangeArrowheads="1"/>
              </p:cNvSpPr>
              <p:nvPr/>
            </p:nvSpPr>
            <p:spPr bwMode="auto">
              <a:xfrm>
                <a:off x="385" y="981"/>
                <a:ext cx="2496" cy="1824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b="1" smtClean="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43034" name="Freeform 28"/>
              <p:cNvSpPr>
                <a:spLocks/>
              </p:cNvSpPr>
              <p:nvPr/>
            </p:nvSpPr>
            <p:spPr bwMode="auto">
              <a:xfrm>
                <a:off x="585" y="1758"/>
                <a:ext cx="2104" cy="666"/>
              </a:xfrm>
              <a:custGeom>
                <a:avLst/>
                <a:gdLst>
                  <a:gd name="T0" fmla="*/ 0 w 2104"/>
                  <a:gd name="T1" fmla="*/ 666 h 666"/>
                  <a:gd name="T2" fmla="*/ 221 w 2104"/>
                  <a:gd name="T3" fmla="*/ 512 h 666"/>
                  <a:gd name="T4" fmla="*/ 643 w 2104"/>
                  <a:gd name="T5" fmla="*/ 108 h 666"/>
                  <a:gd name="T6" fmla="*/ 945 w 2104"/>
                  <a:gd name="T7" fmla="*/ 18 h 666"/>
                  <a:gd name="T8" fmla="*/ 1233 w 2104"/>
                  <a:gd name="T9" fmla="*/ 217 h 666"/>
                  <a:gd name="T10" fmla="*/ 1487 w 2104"/>
                  <a:gd name="T11" fmla="*/ 375 h 666"/>
                  <a:gd name="T12" fmla="*/ 1775 w 2104"/>
                  <a:gd name="T13" fmla="*/ 505 h 666"/>
                  <a:gd name="T14" fmla="*/ 2104 w 2104"/>
                  <a:gd name="T15" fmla="*/ 589 h 66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2104"/>
                  <a:gd name="T25" fmla="*/ 0 h 666"/>
                  <a:gd name="T26" fmla="*/ 2104 w 2104"/>
                  <a:gd name="T27" fmla="*/ 666 h 66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04" h="666">
                    <a:moveTo>
                      <a:pt x="0" y="666"/>
                    </a:moveTo>
                    <a:cubicBezTo>
                      <a:pt x="60" y="637"/>
                      <a:pt x="114" y="605"/>
                      <a:pt x="221" y="512"/>
                    </a:cubicBezTo>
                    <a:cubicBezTo>
                      <a:pt x="328" y="419"/>
                      <a:pt x="522" y="190"/>
                      <a:pt x="643" y="108"/>
                    </a:cubicBezTo>
                    <a:cubicBezTo>
                      <a:pt x="764" y="26"/>
                      <a:pt x="847" y="0"/>
                      <a:pt x="945" y="18"/>
                    </a:cubicBezTo>
                    <a:cubicBezTo>
                      <a:pt x="1043" y="36"/>
                      <a:pt x="1143" y="158"/>
                      <a:pt x="1233" y="217"/>
                    </a:cubicBezTo>
                    <a:cubicBezTo>
                      <a:pt x="1323" y="276"/>
                      <a:pt x="1397" y="327"/>
                      <a:pt x="1487" y="375"/>
                    </a:cubicBezTo>
                    <a:cubicBezTo>
                      <a:pt x="1577" y="423"/>
                      <a:pt x="1672" y="469"/>
                      <a:pt x="1775" y="505"/>
                    </a:cubicBezTo>
                    <a:cubicBezTo>
                      <a:pt x="1878" y="541"/>
                      <a:pt x="2036" y="572"/>
                      <a:pt x="2104" y="589"/>
                    </a:cubicBezTo>
                  </a:path>
                </a:pathLst>
              </a:custGeom>
              <a:noFill/>
              <a:ln w="28575" cmpd="sng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kumimoji="1" lang="zh-CN" altLang="en-US" sz="2400" baseline="-25000" smtClean="0">
                  <a:solidFill>
                    <a:srgbClr val="000000"/>
                  </a:solidFill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43035" name="Freeform 29"/>
              <p:cNvSpPr>
                <a:spLocks/>
              </p:cNvSpPr>
              <p:nvPr/>
            </p:nvSpPr>
            <p:spPr bwMode="auto">
              <a:xfrm>
                <a:off x="577" y="1267"/>
                <a:ext cx="1323" cy="1157"/>
              </a:xfrm>
              <a:custGeom>
                <a:avLst/>
                <a:gdLst>
                  <a:gd name="T0" fmla="*/ 0 w 1323"/>
                  <a:gd name="T1" fmla="*/ 1157 h 1157"/>
                  <a:gd name="T2" fmla="*/ 141 w 1323"/>
                  <a:gd name="T3" fmla="*/ 915 h 1157"/>
                  <a:gd name="T4" fmla="*/ 322 w 1323"/>
                  <a:gd name="T5" fmla="*/ 441 h 1157"/>
                  <a:gd name="T6" fmla="*/ 411 w 1323"/>
                  <a:gd name="T7" fmla="*/ 187 h 1157"/>
                  <a:gd name="T8" fmla="*/ 459 w 1323"/>
                  <a:gd name="T9" fmla="*/ 71 h 1157"/>
                  <a:gd name="T10" fmla="*/ 528 w 1323"/>
                  <a:gd name="T11" fmla="*/ 2 h 1157"/>
                  <a:gd name="T12" fmla="*/ 597 w 1323"/>
                  <a:gd name="T13" fmla="*/ 57 h 1157"/>
                  <a:gd name="T14" fmla="*/ 651 w 1323"/>
                  <a:gd name="T15" fmla="*/ 153 h 1157"/>
                  <a:gd name="T16" fmla="*/ 727 w 1323"/>
                  <a:gd name="T17" fmla="*/ 372 h 1157"/>
                  <a:gd name="T18" fmla="*/ 871 w 1323"/>
                  <a:gd name="T19" fmla="*/ 743 h 1157"/>
                  <a:gd name="T20" fmla="*/ 1090 w 1323"/>
                  <a:gd name="T21" fmla="*/ 996 h 1157"/>
                  <a:gd name="T22" fmla="*/ 1323 w 1323"/>
                  <a:gd name="T23" fmla="*/ 1079 h 1157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323"/>
                  <a:gd name="T37" fmla="*/ 0 h 1157"/>
                  <a:gd name="T38" fmla="*/ 1323 w 1323"/>
                  <a:gd name="T39" fmla="*/ 1157 h 1157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323" h="1157">
                    <a:moveTo>
                      <a:pt x="0" y="1157"/>
                    </a:moveTo>
                    <a:cubicBezTo>
                      <a:pt x="38" y="1112"/>
                      <a:pt x="87" y="1034"/>
                      <a:pt x="141" y="915"/>
                    </a:cubicBezTo>
                    <a:cubicBezTo>
                      <a:pt x="195" y="796"/>
                      <a:pt x="277" y="562"/>
                      <a:pt x="322" y="441"/>
                    </a:cubicBezTo>
                    <a:cubicBezTo>
                      <a:pt x="367" y="320"/>
                      <a:pt x="388" y="249"/>
                      <a:pt x="411" y="187"/>
                    </a:cubicBezTo>
                    <a:cubicBezTo>
                      <a:pt x="434" y="125"/>
                      <a:pt x="440" y="102"/>
                      <a:pt x="459" y="71"/>
                    </a:cubicBezTo>
                    <a:cubicBezTo>
                      <a:pt x="478" y="40"/>
                      <a:pt x="505" y="4"/>
                      <a:pt x="528" y="2"/>
                    </a:cubicBezTo>
                    <a:cubicBezTo>
                      <a:pt x="551" y="0"/>
                      <a:pt x="576" y="32"/>
                      <a:pt x="597" y="57"/>
                    </a:cubicBezTo>
                    <a:cubicBezTo>
                      <a:pt x="618" y="82"/>
                      <a:pt x="629" y="100"/>
                      <a:pt x="651" y="153"/>
                    </a:cubicBezTo>
                    <a:cubicBezTo>
                      <a:pt x="673" y="206"/>
                      <a:pt x="690" y="274"/>
                      <a:pt x="727" y="372"/>
                    </a:cubicBezTo>
                    <a:cubicBezTo>
                      <a:pt x="764" y="470"/>
                      <a:pt x="811" y="639"/>
                      <a:pt x="871" y="743"/>
                    </a:cubicBezTo>
                    <a:cubicBezTo>
                      <a:pt x="931" y="847"/>
                      <a:pt x="1015" y="940"/>
                      <a:pt x="1090" y="996"/>
                    </a:cubicBezTo>
                    <a:cubicBezTo>
                      <a:pt x="1165" y="1052"/>
                      <a:pt x="1275" y="1062"/>
                      <a:pt x="1323" y="1079"/>
                    </a:cubicBezTo>
                  </a:path>
                </a:pathLst>
              </a:custGeom>
              <a:noFill/>
              <a:ln w="28575" cmpd="sng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kumimoji="1" lang="zh-CN" altLang="en-US" sz="2400" baseline="-25000" smtClean="0">
                  <a:solidFill>
                    <a:srgbClr val="000000"/>
                  </a:solidFill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43036" name="Freeform 30"/>
              <p:cNvSpPr>
                <a:spLocks/>
              </p:cNvSpPr>
              <p:nvPr/>
            </p:nvSpPr>
            <p:spPr bwMode="auto">
              <a:xfrm>
                <a:off x="1105" y="1276"/>
                <a:ext cx="1" cy="1145"/>
              </a:xfrm>
              <a:custGeom>
                <a:avLst/>
                <a:gdLst>
                  <a:gd name="T0" fmla="*/ 0 w 1"/>
                  <a:gd name="T1" fmla="*/ 0 h 1145"/>
                  <a:gd name="T2" fmla="*/ 0 w 1"/>
                  <a:gd name="T3" fmla="*/ 1145 h 1145"/>
                  <a:gd name="T4" fmla="*/ 0 60000 65536"/>
                  <a:gd name="T5" fmla="*/ 0 60000 65536"/>
                  <a:gd name="T6" fmla="*/ 0 w 1"/>
                  <a:gd name="T7" fmla="*/ 0 h 1145"/>
                  <a:gd name="T8" fmla="*/ 1 w 1"/>
                  <a:gd name="T9" fmla="*/ 1145 h 1145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1145">
                    <a:moveTo>
                      <a:pt x="0" y="0"/>
                    </a:moveTo>
                    <a:lnTo>
                      <a:pt x="0" y="1145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prstDash val="dash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kumimoji="1" lang="zh-CN" altLang="en-US" sz="2400" baseline="-25000" smtClean="0">
                  <a:solidFill>
                    <a:srgbClr val="000000"/>
                  </a:solidFill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43037" name="Line 31"/>
              <p:cNvSpPr>
                <a:spLocks noChangeShapeType="1"/>
              </p:cNvSpPr>
              <p:nvPr/>
            </p:nvSpPr>
            <p:spPr bwMode="auto">
              <a:xfrm>
                <a:off x="1489" y="1797"/>
                <a:ext cx="0" cy="624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prstDash val="dash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kumimoji="1" lang="zh-CN" altLang="en-US" sz="2400" baseline="-25000" smtClean="0">
                  <a:solidFill>
                    <a:srgbClr val="000000"/>
                  </a:solidFill>
                  <a:latin typeface="Times New Roman" pitchFamily="18" charset="0"/>
                  <a:ea typeface="宋体" charset="-122"/>
                </a:endParaRPr>
              </a:p>
            </p:txBody>
          </p:sp>
          <p:graphicFrame>
            <p:nvGraphicFramePr>
              <p:cNvPr id="43011" name="Object 1"/>
              <p:cNvGraphicFramePr>
                <a:graphicFrameLocks noChangeAspect="1"/>
              </p:cNvGraphicFramePr>
              <p:nvPr/>
            </p:nvGraphicFramePr>
            <p:xfrm>
              <a:off x="976" y="2368"/>
              <a:ext cx="298" cy="334"/>
            </p:xfrm>
            <a:graphic>
              <a:graphicData uri="http://schemas.openxmlformats.org/presentationml/2006/ole">
                <p:oleObj spid="_x0000_s71687" name="公式" r:id="rId8" imgW="330200" imgH="368300" progId="Equation.3">
                  <p:embed/>
                </p:oleObj>
              </a:graphicData>
            </a:graphic>
          </p:graphicFrame>
          <p:graphicFrame>
            <p:nvGraphicFramePr>
              <p:cNvPr id="43012" name="Object 2"/>
              <p:cNvGraphicFramePr>
                <a:graphicFrameLocks noChangeAspect="1"/>
              </p:cNvGraphicFramePr>
              <p:nvPr/>
            </p:nvGraphicFramePr>
            <p:xfrm>
              <a:off x="1413" y="2367"/>
              <a:ext cx="257" cy="335"/>
            </p:xfrm>
            <a:graphic>
              <a:graphicData uri="http://schemas.openxmlformats.org/presentationml/2006/ole">
                <p:oleObj spid="_x0000_s71688" name="公式" r:id="rId9" imgW="342751" imgH="368140" progId="Equation.3">
                  <p:embed/>
                </p:oleObj>
              </a:graphicData>
            </a:graphic>
          </p:graphicFrame>
          <p:grpSp>
            <p:nvGrpSpPr>
              <p:cNvPr id="7" name="Group 36"/>
              <p:cNvGrpSpPr>
                <a:grpSpLocks/>
              </p:cNvGrpSpPr>
              <p:nvPr/>
            </p:nvGrpSpPr>
            <p:grpSpPr bwMode="auto">
              <a:xfrm>
                <a:off x="481" y="1173"/>
                <a:ext cx="2199" cy="1488"/>
                <a:chOff x="3163" y="2592"/>
                <a:chExt cx="2199" cy="1488"/>
              </a:xfrm>
            </p:grpSpPr>
            <p:sp>
              <p:nvSpPr>
                <p:cNvPr id="43039" name="Line 37"/>
                <p:cNvSpPr>
                  <a:spLocks noChangeShapeType="1"/>
                </p:cNvSpPr>
                <p:nvPr/>
              </p:nvSpPr>
              <p:spPr bwMode="auto">
                <a:xfrm>
                  <a:off x="3245" y="3836"/>
                  <a:ext cx="2117" cy="7"/>
                </a:xfrm>
                <a:prstGeom prst="line">
                  <a:avLst/>
                </a:prstGeom>
                <a:noFill/>
                <a:ln w="19050">
                  <a:solidFill>
                    <a:srgbClr val="1C1C1C"/>
                  </a:solidFill>
                  <a:round/>
                  <a:headEnd/>
                  <a:tailEnd type="triangle" w="sm" len="lg"/>
                </a:ln>
              </p:spPr>
              <p:txBody>
                <a:bodyPr wrap="none" anchor="ctr"/>
                <a:lstStyle/>
                <a:p>
                  <a:endParaRPr kumimoji="1" lang="zh-CN" altLang="en-US" sz="2400" baseline="-25000" smtClean="0">
                    <a:solidFill>
                      <a:srgbClr val="000000"/>
                    </a:solidFill>
                    <a:latin typeface="Times New Roman" pitchFamily="18" charset="0"/>
                    <a:ea typeface="宋体" charset="-122"/>
                  </a:endParaRPr>
                </a:p>
              </p:txBody>
            </p:sp>
            <p:graphicFrame>
              <p:nvGraphicFramePr>
                <p:cNvPr id="43014" name="Object 4"/>
                <p:cNvGraphicFramePr>
                  <a:graphicFrameLocks noChangeAspect="1"/>
                </p:cNvGraphicFramePr>
                <p:nvPr/>
              </p:nvGraphicFramePr>
              <p:xfrm>
                <a:off x="5041" y="3888"/>
                <a:ext cx="146" cy="192"/>
              </p:xfrm>
              <a:graphic>
                <a:graphicData uri="http://schemas.openxmlformats.org/presentationml/2006/ole">
                  <p:oleObj spid="_x0000_s71689" name="Equation" r:id="rId10" imgW="177646" imgH="190335" progId="Equation.3">
                    <p:embed/>
                  </p:oleObj>
                </a:graphicData>
              </a:graphic>
            </p:graphicFrame>
            <p:graphicFrame>
              <p:nvGraphicFramePr>
                <p:cNvPr id="43015" name="Object 5"/>
                <p:cNvGraphicFramePr>
                  <a:graphicFrameLocks noChangeAspect="1"/>
                </p:cNvGraphicFramePr>
                <p:nvPr/>
              </p:nvGraphicFramePr>
              <p:xfrm>
                <a:off x="3312" y="2592"/>
                <a:ext cx="328" cy="248"/>
              </p:xfrm>
              <a:graphic>
                <a:graphicData uri="http://schemas.openxmlformats.org/presentationml/2006/ole">
                  <p:oleObj spid="_x0000_s71690" name="Equation" r:id="rId11" imgW="533169" imgH="304668" progId="Equation.3">
                    <p:embed/>
                  </p:oleObj>
                </a:graphicData>
              </a:graphic>
            </p:graphicFrame>
            <p:sp>
              <p:nvSpPr>
                <p:cNvPr id="43040" name="Line 40"/>
                <p:cNvSpPr>
                  <a:spLocks noChangeShapeType="1"/>
                </p:cNvSpPr>
                <p:nvPr/>
              </p:nvSpPr>
              <p:spPr bwMode="auto">
                <a:xfrm flipV="1">
                  <a:off x="3270" y="2592"/>
                  <a:ext cx="0" cy="1251"/>
                </a:xfrm>
                <a:prstGeom prst="line">
                  <a:avLst/>
                </a:prstGeom>
                <a:noFill/>
                <a:ln w="19050">
                  <a:solidFill>
                    <a:srgbClr val="1C1C1C"/>
                  </a:solidFill>
                  <a:round/>
                  <a:headEnd/>
                  <a:tailEnd type="triangle" w="sm" len="lg"/>
                </a:ln>
              </p:spPr>
              <p:txBody>
                <a:bodyPr wrap="none" anchor="ctr"/>
                <a:lstStyle/>
                <a:p>
                  <a:endParaRPr kumimoji="1" lang="zh-CN" altLang="en-US" sz="2400" baseline="-25000" smtClean="0">
                    <a:solidFill>
                      <a:srgbClr val="000000"/>
                    </a:solidFill>
                    <a:latin typeface="Times New Roman" pitchFamily="18" charset="0"/>
                    <a:ea typeface="宋体" charset="-122"/>
                  </a:endParaRPr>
                </a:p>
              </p:txBody>
            </p:sp>
            <p:graphicFrame>
              <p:nvGraphicFramePr>
                <p:cNvPr id="43016" name="Object 6"/>
                <p:cNvGraphicFramePr>
                  <a:graphicFrameLocks noChangeAspect="1"/>
                </p:cNvGraphicFramePr>
                <p:nvPr/>
              </p:nvGraphicFramePr>
              <p:xfrm>
                <a:off x="3163" y="3840"/>
                <a:ext cx="218" cy="240"/>
              </p:xfrm>
              <a:graphic>
                <a:graphicData uri="http://schemas.openxmlformats.org/presentationml/2006/ole">
                  <p:oleObj spid="_x0000_s71691" name="Equation" r:id="rId12" imgW="126835" imgH="139518" progId="Equation.3">
                    <p:embed/>
                  </p:oleObj>
                </a:graphicData>
              </a:graphic>
            </p:graphicFrame>
          </p:grpSp>
        </p:grpSp>
      </p:grpSp>
      <p:grpSp>
        <p:nvGrpSpPr>
          <p:cNvPr id="8" name="Group 7"/>
          <p:cNvGrpSpPr>
            <a:grpSpLocks/>
          </p:cNvGrpSpPr>
          <p:nvPr/>
        </p:nvGrpSpPr>
        <p:grpSpPr bwMode="auto">
          <a:xfrm>
            <a:off x="295275" y="244475"/>
            <a:ext cx="1841500" cy="871538"/>
            <a:chOff x="384" y="528"/>
            <a:chExt cx="912" cy="432"/>
          </a:xfrm>
        </p:grpSpPr>
        <p:sp>
          <p:nvSpPr>
            <p:cNvPr id="39" name="AutoShape 8"/>
            <p:cNvSpPr>
              <a:spLocks noChangeArrowheads="1"/>
            </p:cNvSpPr>
            <p:nvPr/>
          </p:nvSpPr>
          <p:spPr bwMode="auto">
            <a:xfrm>
              <a:off x="384" y="528"/>
              <a:ext cx="816" cy="432"/>
            </a:xfrm>
            <a:prstGeom prst="horizontalScroll">
              <a:avLst>
                <a:gd name="adj" fmla="val 12500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107763" dir="13500000" algn="ctr" rotWithShape="0">
                <a:srgbClr val="669900"/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aseline="-250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43028" name="Text Box 9"/>
            <p:cNvSpPr txBox="1">
              <a:spLocks noChangeArrowheads="1"/>
            </p:cNvSpPr>
            <p:nvPr/>
          </p:nvSpPr>
          <p:spPr bwMode="auto">
            <a:xfrm>
              <a:off x="528" y="613"/>
              <a:ext cx="76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 smtClean="0">
                  <a:solidFill>
                    <a:srgbClr val="CC0000"/>
                  </a:solidFill>
                  <a:latin typeface="Times New Roman" pitchFamily="18" charset="0"/>
                  <a:ea typeface="宋体" charset="-122"/>
                </a:rPr>
                <a:t>讨论</a:t>
              </a:r>
            </a:p>
          </p:txBody>
        </p:sp>
      </p:grpSp>
      <p:graphicFrame>
        <p:nvGraphicFramePr>
          <p:cNvPr id="41" name="Object 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491986381"/>
              </p:ext>
            </p:extLst>
          </p:nvPr>
        </p:nvGraphicFramePr>
        <p:xfrm>
          <a:off x="1951991" y="1756411"/>
          <a:ext cx="1368425" cy="430213"/>
        </p:xfrm>
        <a:graphic>
          <a:graphicData uri="http://schemas.openxmlformats.org/presentationml/2006/ole">
            <p:oleObj spid="_x0000_s71692" name="公式" r:id="rId13" imgW="685502" imgH="215806" progId="Equation.3">
              <p:embed/>
            </p:oleObj>
          </a:graphicData>
        </a:graphic>
      </p:graphicFrame>
      <p:graphicFrame>
        <p:nvGraphicFramePr>
          <p:cNvPr id="4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411522913"/>
              </p:ext>
            </p:extLst>
          </p:nvPr>
        </p:nvGraphicFramePr>
        <p:xfrm>
          <a:off x="2653031" y="2576196"/>
          <a:ext cx="1522413" cy="417513"/>
        </p:xfrm>
        <a:graphic>
          <a:graphicData uri="http://schemas.openxmlformats.org/presentationml/2006/ole">
            <p:oleObj spid="_x0000_s71693" name="公式" r:id="rId14" imgW="787058" imgH="215806" progId="Equation.3">
              <p:embed/>
            </p:oleObj>
          </a:graphicData>
        </a:graphic>
      </p:graphicFrame>
      <p:graphicFrame>
        <p:nvGraphicFramePr>
          <p:cNvPr id="43" name="Object 10"/>
          <p:cNvGraphicFramePr>
            <a:graphicFrameLocks noChangeAspect="1"/>
          </p:cNvGraphicFramePr>
          <p:nvPr/>
        </p:nvGraphicFramePr>
        <p:xfrm>
          <a:off x="7373938" y="2928938"/>
          <a:ext cx="406400" cy="388938"/>
        </p:xfrm>
        <a:graphic>
          <a:graphicData uri="http://schemas.openxmlformats.org/presentationml/2006/ole">
            <p:oleObj spid="_x0000_s71694" name="Equation" r:id="rId15" imgW="330057" imgH="317362" progId="Equation.3">
              <p:embed/>
            </p:oleObj>
          </a:graphicData>
        </a:graphic>
      </p:graphicFrame>
      <p:graphicFrame>
        <p:nvGraphicFramePr>
          <p:cNvPr id="44" name="Object 11"/>
          <p:cNvGraphicFramePr>
            <a:graphicFrameLocks noChangeAspect="1"/>
          </p:cNvGraphicFramePr>
          <p:nvPr/>
        </p:nvGraphicFramePr>
        <p:xfrm>
          <a:off x="5284788" y="2624138"/>
          <a:ext cx="406400" cy="388938"/>
        </p:xfrm>
        <a:graphic>
          <a:graphicData uri="http://schemas.openxmlformats.org/presentationml/2006/ole">
            <p:oleObj spid="_x0000_s71695" name="Equation" r:id="rId16" imgW="330057" imgH="317362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5"/>
          <p:cNvGrpSpPr>
            <a:grpSpLocks/>
          </p:cNvGrpSpPr>
          <p:nvPr/>
        </p:nvGrpSpPr>
        <p:grpSpPr bwMode="auto">
          <a:xfrm>
            <a:off x="1619250" y="3041650"/>
            <a:ext cx="5083175" cy="1357313"/>
            <a:chOff x="1020" y="2733"/>
            <a:chExt cx="2121" cy="567"/>
          </a:xfrm>
        </p:grpSpPr>
        <p:graphicFrame>
          <p:nvGraphicFramePr>
            <p:cNvPr id="44040" name="Object 3"/>
            <p:cNvGraphicFramePr>
              <a:graphicFrameLocks noChangeAspect="1"/>
            </p:cNvGraphicFramePr>
            <p:nvPr/>
          </p:nvGraphicFramePr>
          <p:xfrm>
            <a:off x="1522" y="2733"/>
            <a:ext cx="1619" cy="567"/>
          </p:xfrm>
          <a:graphic>
            <a:graphicData uri="http://schemas.openxmlformats.org/presentationml/2006/ole">
              <p:oleObj spid="_x0000_s72706" name="公式" r:id="rId3" imgW="736600" imgH="368300" progId="Equation.3">
                <p:embed/>
              </p:oleObj>
            </a:graphicData>
          </a:graphic>
        </p:graphicFrame>
        <p:sp>
          <p:nvSpPr>
            <p:cNvPr id="44047" name="Text Box 4"/>
            <p:cNvSpPr txBox="1">
              <a:spLocks noChangeArrowheads="1"/>
            </p:cNvSpPr>
            <p:nvPr/>
          </p:nvSpPr>
          <p:spPr bwMode="auto">
            <a:xfrm>
              <a:off x="1020" y="2878"/>
              <a:ext cx="758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3200" b="1" smtClean="0">
                  <a:solidFill>
                    <a:srgbClr val="CC0000"/>
                  </a:solidFill>
                  <a:latin typeface="Times New Roman" pitchFamily="18" charset="0"/>
                  <a:ea typeface="宋体" charset="-122"/>
                </a:rPr>
                <a:t>（</a:t>
              </a:r>
              <a:r>
                <a:rPr lang="en-US" altLang="zh-CN" sz="3200" b="1" smtClean="0">
                  <a:solidFill>
                    <a:srgbClr val="CC0000"/>
                  </a:solidFill>
                  <a:latin typeface="Times New Roman" pitchFamily="18" charset="0"/>
                  <a:ea typeface="宋体" charset="-122"/>
                </a:rPr>
                <a:t>1</a:t>
              </a:r>
              <a:r>
                <a:rPr lang="zh-CN" altLang="en-US" sz="3200" b="1" smtClean="0">
                  <a:solidFill>
                    <a:srgbClr val="CC0000"/>
                  </a:solidFill>
                  <a:latin typeface="Times New Roman" pitchFamily="18" charset="0"/>
                  <a:ea typeface="宋体" charset="-122"/>
                </a:rPr>
                <a:t>）</a:t>
              </a:r>
            </a:p>
          </p:txBody>
        </p:sp>
      </p:grpSp>
      <p:grpSp>
        <p:nvGrpSpPr>
          <p:cNvPr id="3" name="Group 5"/>
          <p:cNvGrpSpPr>
            <a:grpSpLocks/>
          </p:cNvGrpSpPr>
          <p:nvPr/>
        </p:nvGrpSpPr>
        <p:grpSpPr bwMode="auto">
          <a:xfrm>
            <a:off x="1725613" y="4806950"/>
            <a:ext cx="6430962" cy="1425575"/>
            <a:chOff x="1078" y="3169"/>
            <a:chExt cx="4226" cy="1001"/>
          </a:xfrm>
        </p:grpSpPr>
        <p:graphicFrame>
          <p:nvGraphicFramePr>
            <p:cNvPr id="44039" name="Object 6"/>
            <p:cNvGraphicFramePr>
              <a:graphicFrameLocks noChangeAspect="1"/>
            </p:cNvGraphicFramePr>
            <p:nvPr/>
          </p:nvGraphicFramePr>
          <p:xfrm>
            <a:off x="1864" y="3169"/>
            <a:ext cx="3440" cy="1001"/>
          </p:xfrm>
          <a:graphic>
            <a:graphicData uri="http://schemas.openxmlformats.org/presentationml/2006/ole">
              <p:oleObj spid="_x0000_s72707" name="Equation" r:id="rId4" imgW="2095500" imgH="723900" progId="Equation.3">
                <p:embed/>
              </p:oleObj>
            </a:graphicData>
          </a:graphic>
        </p:graphicFrame>
        <p:sp>
          <p:nvSpPr>
            <p:cNvPr id="44046" name="Text Box 7"/>
            <p:cNvSpPr txBox="1">
              <a:spLocks noChangeArrowheads="1"/>
            </p:cNvSpPr>
            <p:nvPr/>
          </p:nvSpPr>
          <p:spPr bwMode="auto">
            <a:xfrm>
              <a:off x="1078" y="3504"/>
              <a:ext cx="791" cy="4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3200" b="1" smtClean="0">
                  <a:solidFill>
                    <a:srgbClr val="CC0000"/>
                  </a:solidFill>
                  <a:latin typeface="Times New Roman" pitchFamily="18" charset="0"/>
                  <a:ea typeface="宋体" charset="-122"/>
                </a:rPr>
                <a:t>（</a:t>
              </a:r>
              <a:r>
                <a:rPr lang="en-US" altLang="zh-CN" sz="3200" b="1" smtClean="0">
                  <a:solidFill>
                    <a:srgbClr val="CC0000"/>
                  </a:solidFill>
                  <a:latin typeface="Times New Roman" pitchFamily="18" charset="0"/>
                  <a:ea typeface="宋体" charset="-122"/>
                </a:rPr>
                <a:t>2</a:t>
              </a:r>
              <a:r>
                <a:rPr lang="zh-CN" altLang="en-US" sz="3200" b="1" smtClean="0">
                  <a:solidFill>
                    <a:srgbClr val="CC0000"/>
                  </a:solidFill>
                  <a:latin typeface="Times New Roman" pitchFamily="18" charset="0"/>
                  <a:ea typeface="宋体" charset="-122"/>
                </a:rPr>
                <a:t>）</a:t>
              </a:r>
            </a:p>
          </p:txBody>
        </p:sp>
      </p:grpSp>
      <p:grpSp>
        <p:nvGrpSpPr>
          <p:cNvPr id="4" name="Group 24"/>
          <p:cNvGrpSpPr>
            <a:grpSpLocks/>
          </p:cNvGrpSpPr>
          <p:nvPr/>
        </p:nvGrpSpPr>
        <p:grpSpPr bwMode="auto">
          <a:xfrm>
            <a:off x="295275" y="409575"/>
            <a:ext cx="8540750" cy="2308226"/>
            <a:chOff x="362" y="528"/>
            <a:chExt cx="5058" cy="1454"/>
          </a:xfrm>
        </p:grpSpPr>
        <p:sp>
          <p:nvSpPr>
            <p:cNvPr id="44045" name="Text Box 9"/>
            <p:cNvSpPr txBox="1">
              <a:spLocks noChangeArrowheads="1"/>
            </p:cNvSpPr>
            <p:nvPr/>
          </p:nvSpPr>
          <p:spPr bwMode="auto">
            <a:xfrm>
              <a:off x="362" y="528"/>
              <a:ext cx="5058" cy="14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lnSpc>
                  <a:spcPct val="150000"/>
                </a:lnSpc>
                <a:spcBef>
                  <a:spcPct val="50000"/>
                </a:spcBef>
              </a:pPr>
              <a:r>
                <a:rPr lang="en-US" altLang="zh-CN" sz="3200" b="1" dirty="0" smtClean="0">
                  <a:solidFill>
                    <a:srgbClr val="CC0000"/>
                  </a:solidFill>
                  <a:latin typeface="Times New Roman" pitchFamily="18" charset="0"/>
                  <a:ea typeface="宋体" charset="-122"/>
                </a:rPr>
                <a:t> </a:t>
              </a:r>
              <a:r>
                <a:rPr lang="zh-CN" altLang="en-US" sz="3200" b="1" dirty="0" smtClean="0">
                  <a:solidFill>
                    <a:srgbClr val="CC0000"/>
                  </a:solidFill>
                  <a:latin typeface="Times New Roman" pitchFamily="18" charset="0"/>
                  <a:ea typeface="宋体" charset="-122"/>
                </a:rPr>
                <a:t>例</a:t>
              </a:r>
              <a:r>
                <a:rPr lang="en-US" altLang="zh-CN" sz="3200" b="1" dirty="0" smtClean="0">
                  <a:solidFill>
                    <a:srgbClr val="CC0000"/>
                  </a:solidFill>
                  <a:latin typeface="Times New Roman" pitchFamily="18" charset="0"/>
                  <a:ea typeface="宋体" charset="-122"/>
                </a:rPr>
                <a:t>1</a:t>
              </a:r>
              <a:r>
                <a:rPr lang="en-US" altLang="zh-CN" sz="3200" b="1" dirty="0" smtClean="0">
                  <a:solidFill>
                    <a:srgbClr val="000000"/>
                  </a:solidFill>
                  <a:latin typeface="Times New Roman" pitchFamily="18" charset="0"/>
                  <a:ea typeface="宋体" charset="-122"/>
                </a:rPr>
                <a:t>   </a:t>
              </a:r>
              <a:r>
                <a:rPr lang="zh-CN" altLang="en-US" sz="3200" b="1" dirty="0" smtClean="0">
                  <a:solidFill>
                    <a:srgbClr val="000000"/>
                  </a:solidFill>
                  <a:latin typeface="Times New Roman" pitchFamily="18" charset="0"/>
                  <a:ea typeface="宋体" charset="-122"/>
                </a:rPr>
                <a:t>已知分子数      ，分子质量     ，分布函数        </a:t>
              </a:r>
              <a:r>
                <a:rPr lang="en-US" altLang="zh-CN" sz="3200" b="1" dirty="0" smtClean="0">
                  <a:solidFill>
                    <a:srgbClr val="000000"/>
                  </a:solidFill>
                  <a:latin typeface="Times New Roman" pitchFamily="18" charset="0"/>
                  <a:ea typeface="宋体" charset="-122"/>
                </a:rPr>
                <a:t>.  </a:t>
              </a:r>
              <a:r>
                <a:rPr lang="zh-CN" altLang="en-US" sz="3200" b="1" dirty="0" smtClean="0">
                  <a:solidFill>
                    <a:srgbClr val="FF0000"/>
                  </a:solidFill>
                  <a:latin typeface="Times New Roman" pitchFamily="18" charset="0"/>
                  <a:ea typeface="宋体" charset="-122"/>
                </a:rPr>
                <a:t>求</a:t>
              </a:r>
              <a:r>
                <a:rPr lang="zh-CN" altLang="en-US" sz="3200" b="1" dirty="0" smtClean="0">
                  <a:solidFill>
                    <a:srgbClr val="1F497D"/>
                  </a:solidFill>
                  <a:latin typeface="Times New Roman" pitchFamily="18" charset="0"/>
                  <a:ea typeface="宋体" charset="-122"/>
                </a:rPr>
                <a:t>（</a:t>
              </a:r>
              <a:r>
                <a:rPr lang="en-US" altLang="zh-CN" sz="3200" b="1" dirty="0" smtClean="0">
                  <a:solidFill>
                    <a:srgbClr val="1F497D"/>
                  </a:solidFill>
                  <a:latin typeface="Times New Roman" pitchFamily="18" charset="0"/>
                  <a:ea typeface="宋体" charset="-122"/>
                </a:rPr>
                <a:t>1</a:t>
              </a:r>
              <a:r>
                <a:rPr lang="zh-CN" altLang="en-US" sz="3200" b="1" dirty="0" smtClean="0">
                  <a:solidFill>
                    <a:srgbClr val="1F497D"/>
                  </a:solidFill>
                  <a:latin typeface="Times New Roman" pitchFamily="18" charset="0"/>
                  <a:ea typeface="宋体" charset="-122"/>
                </a:rPr>
                <a:t>）</a:t>
              </a:r>
              <a:r>
                <a:rPr lang="zh-CN" altLang="en-US" sz="3200" b="1" dirty="0" smtClean="0">
                  <a:solidFill>
                    <a:srgbClr val="000000"/>
                  </a:solidFill>
                  <a:latin typeface="Times New Roman" pitchFamily="18" charset="0"/>
                  <a:ea typeface="宋体" charset="-122"/>
                </a:rPr>
                <a:t>速率在              区间的分子数；</a:t>
              </a:r>
              <a:r>
                <a:rPr lang="zh-CN" altLang="en-US" sz="3200" b="1" dirty="0" smtClean="0">
                  <a:solidFill>
                    <a:srgbClr val="1F497D"/>
                  </a:solidFill>
                  <a:latin typeface="Times New Roman" pitchFamily="18" charset="0"/>
                  <a:ea typeface="宋体" charset="-122"/>
                </a:rPr>
                <a:t>（</a:t>
              </a:r>
              <a:r>
                <a:rPr lang="en-US" altLang="zh-CN" sz="3200" b="1" dirty="0" smtClean="0">
                  <a:solidFill>
                    <a:srgbClr val="1F497D"/>
                  </a:solidFill>
                  <a:latin typeface="Times New Roman" pitchFamily="18" charset="0"/>
                  <a:ea typeface="宋体" charset="-122"/>
                </a:rPr>
                <a:t>2</a:t>
              </a:r>
              <a:r>
                <a:rPr lang="zh-CN" altLang="en-US" sz="3200" b="1" dirty="0" smtClean="0">
                  <a:solidFill>
                    <a:srgbClr val="1F497D"/>
                  </a:solidFill>
                  <a:latin typeface="Times New Roman" pitchFamily="18" charset="0"/>
                  <a:ea typeface="宋体" charset="-122"/>
                </a:rPr>
                <a:t>）</a:t>
              </a:r>
              <a:r>
                <a:rPr lang="zh-CN" altLang="en-US" sz="3200" b="1" dirty="0" smtClean="0">
                  <a:solidFill>
                    <a:srgbClr val="000000"/>
                  </a:solidFill>
                  <a:latin typeface="Times New Roman" pitchFamily="18" charset="0"/>
                  <a:ea typeface="宋体" charset="-122"/>
                </a:rPr>
                <a:t>速率在              区</a:t>
              </a:r>
              <a:r>
                <a:rPr lang="zh-CN" altLang="en-US" sz="3200" b="1" dirty="0">
                  <a:solidFill>
                    <a:srgbClr val="000000"/>
                  </a:solidFill>
                  <a:latin typeface="Times New Roman" pitchFamily="18" charset="0"/>
                  <a:ea typeface="宋体" charset="-122"/>
                </a:rPr>
                <a:t>间</a:t>
              </a:r>
              <a:r>
                <a:rPr lang="zh-CN" altLang="en-US" sz="3200" b="1" dirty="0" smtClean="0">
                  <a:solidFill>
                    <a:srgbClr val="000000"/>
                  </a:solidFill>
                  <a:latin typeface="Times New Roman" pitchFamily="18" charset="0"/>
                  <a:ea typeface="宋体" charset="-122"/>
                </a:rPr>
                <a:t>所有分子动能之和 </a:t>
              </a:r>
              <a:r>
                <a:rPr lang="en-US" altLang="zh-CN" sz="3200" b="1" dirty="0" smtClean="0">
                  <a:solidFill>
                    <a:srgbClr val="000000"/>
                  </a:solidFill>
                  <a:latin typeface="Times New Roman" pitchFamily="18" charset="0"/>
                  <a:ea typeface="宋体" charset="-122"/>
                </a:rPr>
                <a:t>.                             </a:t>
              </a:r>
            </a:p>
          </p:txBody>
        </p:sp>
        <p:graphicFrame>
          <p:nvGraphicFramePr>
            <p:cNvPr id="44034" name="Object 10"/>
            <p:cNvGraphicFramePr>
              <a:graphicFrameLocks noChangeAspect="1"/>
            </p:cNvGraphicFramePr>
            <p:nvPr/>
          </p:nvGraphicFramePr>
          <p:xfrm>
            <a:off x="2949" y="1050"/>
            <a:ext cx="665" cy="464"/>
          </p:xfrm>
          <a:graphic>
            <a:graphicData uri="http://schemas.openxmlformats.org/presentationml/2006/ole">
              <p:oleObj spid="_x0000_s72708" name="Equation" r:id="rId5" imgW="812447" imgH="418918" progId="Equation.3">
                <p:embed/>
              </p:oleObj>
            </a:graphicData>
          </a:graphic>
        </p:graphicFrame>
        <p:graphicFrame>
          <p:nvGraphicFramePr>
            <p:cNvPr id="44035" name="Object 11"/>
            <p:cNvGraphicFramePr>
              <a:graphicFrameLocks noChangeAspect="1"/>
            </p:cNvGraphicFramePr>
            <p:nvPr/>
          </p:nvGraphicFramePr>
          <p:xfrm>
            <a:off x="693" y="1116"/>
            <a:ext cx="411" cy="310"/>
          </p:xfrm>
          <a:graphic>
            <a:graphicData uri="http://schemas.openxmlformats.org/presentationml/2006/ole">
              <p:oleObj spid="_x0000_s72709" name="Equation" r:id="rId6" imgW="533169" imgH="304668" progId="Equation.3">
                <p:embed/>
              </p:oleObj>
            </a:graphicData>
          </a:graphic>
        </p:graphicFrame>
        <p:graphicFrame>
          <p:nvGraphicFramePr>
            <p:cNvPr id="44036" name="Object 12"/>
            <p:cNvGraphicFramePr>
              <a:graphicFrameLocks noChangeAspect="1"/>
            </p:cNvGraphicFramePr>
            <p:nvPr/>
          </p:nvGraphicFramePr>
          <p:xfrm>
            <a:off x="2261" y="692"/>
            <a:ext cx="253" cy="258"/>
          </p:xfrm>
          <a:graphic>
            <a:graphicData uri="http://schemas.openxmlformats.org/presentationml/2006/ole">
              <p:oleObj spid="_x0000_s72710" name="Equation" r:id="rId7" imgW="253890" imgH="241195" progId="Equation.3">
                <p:embed/>
              </p:oleObj>
            </a:graphicData>
          </a:graphic>
        </p:graphicFrame>
        <p:graphicFrame>
          <p:nvGraphicFramePr>
            <p:cNvPr id="44037" name="Object 13"/>
            <p:cNvGraphicFramePr>
              <a:graphicFrameLocks noChangeAspect="1"/>
            </p:cNvGraphicFramePr>
            <p:nvPr/>
          </p:nvGraphicFramePr>
          <p:xfrm>
            <a:off x="3831" y="703"/>
            <a:ext cx="245" cy="220"/>
          </p:xfrm>
          <a:graphic>
            <a:graphicData uri="http://schemas.openxmlformats.org/presentationml/2006/ole">
              <p:oleObj spid="_x0000_s72711" name="Equation" r:id="rId8" imgW="228600" imgH="190500" progId="Equation.3">
                <p:embed/>
              </p:oleObj>
            </a:graphicData>
          </a:graphic>
        </p:graphicFrame>
        <p:graphicFrame>
          <p:nvGraphicFramePr>
            <p:cNvPr id="44038" name="Object 14"/>
            <p:cNvGraphicFramePr>
              <a:graphicFrameLocks noChangeAspect="1"/>
            </p:cNvGraphicFramePr>
            <p:nvPr/>
          </p:nvGraphicFramePr>
          <p:xfrm>
            <a:off x="1775" y="1513"/>
            <a:ext cx="758" cy="444"/>
          </p:xfrm>
          <a:graphic>
            <a:graphicData uri="http://schemas.openxmlformats.org/presentationml/2006/ole">
              <p:oleObj spid="_x0000_s72712" name="Equation" r:id="rId9" imgW="850531" imgH="418918" progId="Equation.3">
                <p:embed/>
              </p:oleObj>
            </a:graphicData>
          </a:graphic>
        </p:graphicFrame>
      </p:grpSp>
      <p:sp>
        <p:nvSpPr>
          <p:cNvPr id="44044" name="Text Box 26"/>
          <p:cNvSpPr txBox="1">
            <a:spLocks noChangeArrowheads="1"/>
          </p:cNvSpPr>
          <p:nvPr/>
        </p:nvSpPr>
        <p:spPr bwMode="auto">
          <a:xfrm>
            <a:off x="763588" y="3378200"/>
            <a:ext cx="59055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3200" b="1" smtClean="0">
                <a:solidFill>
                  <a:srgbClr val="CC0000"/>
                </a:solidFill>
                <a:ea typeface="宋体" charset="-122"/>
              </a:rPr>
              <a:t>解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3"/>
          <p:cNvGrpSpPr>
            <a:grpSpLocks/>
          </p:cNvGrpSpPr>
          <p:nvPr/>
        </p:nvGrpSpPr>
        <p:grpSpPr bwMode="auto">
          <a:xfrm>
            <a:off x="327025" y="414338"/>
            <a:ext cx="8064500" cy="1865313"/>
            <a:chOff x="431" y="572"/>
            <a:chExt cx="5080" cy="1175"/>
          </a:xfrm>
        </p:grpSpPr>
        <p:sp>
          <p:nvSpPr>
            <p:cNvPr id="45072" name="Text Box 3"/>
            <p:cNvSpPr txBox="1">
              <a:spLocks noChangeArrowheads="1"/>
            </p:cNvSpPr>
            <p:nvPr/>
          </p:nvSpPr>
          <p:spPr bwMode="auto">
            <a:xfrm>
              <a:off x="431" y="572"/>
              <a:ext cx="5080" cy="11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Bef>
                  <a:spcPct val="50000"/>
                </a:spcBef>
              </a:pPr>
              <a:r>
                <a:rPr lang="zh-CN" altLang="en-US" sz="3200" b="1" dirty="0" smtClean="0">
                  <a:solidFill>
                    <a:srgbClr val="CC0000"/>
                  </a:solidFill>
                  <a:latin typeface="Times New Roman" pitchFamily="18" charset="0"/>
                  <a:ea typeface="宋体" charset="-122"/>
                </a:rPr>
                <a:t>例</a:t>
              </a:r>
              <a:r>
                <a:rPr lang="en-US" altLang="zh-CN" sz="3200" b="1" dirty="0" smtClean="0">
                  <a:solidFill>
                    <a:srgbClr val="CC0000"/>
                  </a:solidFill>
                  <a:latin typeface="Times New Roman" pitchFamily="18" charset="0"/>
                  <a:ea typeface="宋体" charset="-122"/>
                </a:rPr>
                <a:t>2 </a:t>
              </a:r>
              <a:r>
                <a:rPr lang="en-US" altLang="zh-CN" sz="3200" b="1" dirty="0" smtClean="0">
                  <a:solidFill>
                    <a:srgbClr val="A50021"/>
                  </a:solidFill>
                  <a:latin typeface="Times New Roman" pitchFamily="18" charset="0"/>
                  <a:ea typeface="宋体" charset="-122"/>
                </a:rPr>
                <a:t>  </a:t>
              </a:r>
              <a:r>
                <a:rPr lang="zh-CN" altLang="en-US" sz="3200" b="1" dirty="0" smtClean="0">
                  <a:solidFill>
                    <a:srgbClr val="1C1C1C"/>
                  </a:solidFill>
                  <a:latin typeface="Times New Roman" pitchFamily="18" charset="0"/>
                  <a:ea typeface="宋体" charset="-122"/>
                </a:rPr>
                <a:t>如图示两条                曲线分别表示</a:t>
              </a:r>
              <a:r>
                <a:rPr lang="zh-CN" altLang="en-US" sz="3200" b="1" dirty="0" smtClean="0">
                  <a:solidFill>
                    <a:srgbClr val="FF0000"/>
                  </a:solidFill>
                  <a:latin typeface="Times New Roman" pitchFamily="18" charset="0"/>
                  <a:ea typeface="宋体" charset="-122"/>
                </a:rPr>
                <a:t>氢气</a:t>
              </a:r>
              <a:r>
                <a:rPr lang="zh-CN" altLang="en-US" sz="3200" b="1" dirty="0" smtClean="0">
                  <a:solidFill>
                    <a:srgbClr val="1C1C1C"/>
                  </a:solidFill>
                  <a:latin typeface="Times New Roman" pitchFamily="18" charset="0"/>
                  <a:ea typeface="宋体" charset="-122"/>
                </a:rPr>
                <a:t>和</a:t>
              </a:r>
              <a:r>
                <a:rPr lang="zh-CN" altLang="en-US" sz="3200" b="1" dirty="0" smtClean="0">
                  <a:solidFill>
                    <a:srgbClr val="FF0000"/>
                  </a:solidFill>
                  <a:latin typeface="Times New Roman" pitchFamily="18" charset="0"/>
                  <a:ea typeface="宋体" charset="-122"/>
                </a:rPr>
                <a:t>氧气</a:t>
              </a:r>
              <a:r>
                <a:rPr lang="zh-CN" altLang="en-US" sz="3200" b="1" dirty="0" smtClean="0">
                  <a:solidFill>
                    <a:srgbClr val="1C1C1C"/>
                  </a:solidFill>
                  <a:latin typeface="Times New Roman" pitchFamily="18" charset="0"/>
                  <a:ea typeface="宋体" charset="-122"/>
                </a:rPr>
                <a:t>在</a:t>
              </a:r>
              <a:r>
                <a:rPr lang="zh-CN" altLang="en-US" sz="3200" b="1" dirty="0" smtClean="0">
                  <a:solidFill>
                    <a:srgbClr val="FF0000"/>
                  </a:solidFill>
                  <a:latin typeface="Times New Roman" pitchFamily="18" charset="0"/>
                  <a:ea typeface="宋体" charset="-122"/>
                </a:rPr>
                <a:t>同一温度</a:t>
              </a:r>
              <a:r>
                <a:rPr lang="zh-CN" altLang="en-US" sz="3200" b="1" dirty="0" smtClean="0">
                  <a:solidFill>
                    <a:srgbClr val="1C1C1C"/>
                  </a:solidFill>
                  <a:latin typeface="Times New Roman" pitchFamily="18" charset="0"/>
                  <a:ea typeface="宋体" charset="-122"/>
                </a:rPr>
                <a:t>下的麦克斯韦速率分布曲线， 从图上数据求出</a:t>
              </a:r>
              <a:r>
                <a:rPr lang="zh-CN" altLang="en-US" sz="3200" b="1" dirty="0" smtClean="0">
                  <a:solidFill>
                    <a:srgbClr val="FF0000"/>
                  </a:solidFill>
                  <a:latin typeface="Times New Roman" pitchFamily="18" charset="0"/>
                  <a:ea typeface="宋体" charset="-122"/>
                </a:rPr>
                <a:t>两种</a:t>
              </a:r>
              <a:r>
                <a:rPr lang="zh-CN" altLang="en-US" sz="3200" b="1" dirty="0" smtClean="0">
                  <a:solidFill>
                    <a:srgbClr val="1C1C1C"/>
                  </a:solidFill>
                  <a:latin typeface="Times New Roman" pitchFamily="18" charset="0"/>
                  <a:ea typeface="宋体" charset="-122"/>
                </a:rPr>
                <a:t>气体</a:t>
              </a:r>
              <a:r>
                <a:rPr lang="zh-CN" altLang="en-US" sz="3200" b="1" dirty="0" smtClean="0">
                  <a:solidFill>
                    <a:srgbClr val="FF0000"/>
                  </a:solidFill>
                  <a:latin typeface="Times New Roman" pitchFamily="18" charset="0"/>
                  <a:ea typeface="宋体" charset="-122"/>
                </a:rPr>
                <a:t>最概然速率</a:t>
              </a:r>
              <a:r>
                <a:rPr lang="en-US" altLang="zh-CN" sz="3200" b="1" dirty="0" smtClean="0">
                  <a:solidFill>
                    <a:srgbClr val="1C1C1C"/>
                  </a:solidFill>
                  <a:latin typeface="Times New Roman" pitchFamily="18" charset="0"/>
                  <a:ea typeface="宋体" charset="-122"/>
                </a:rPr>
                <a:t>.</a:t>
              </a:r>
            </a:p>
          </p:txBody>
        </p:sp>
        <p:graphicFrame>
          <p:nvGraphicFramePr>
            <p:cNvPr id="45061" name="Object 4"/>
            <p:cNvGraphicFramePr>
              <a:graphicFrameLocks noChangeAspect="1"/>
            </p:cNvGraphicFramePr>
            <p:nvPr/>
          </p:nvGraphicFramePr>
          <p:xfrm>
            <a:off x="2416" y="626"/>
            <a:ext cx="863" cy="318"/>
          </p:xfrm>
          <a:graphic>
            <a:graphicData uri="http://schemas.openxmlformats.org/presentationml/2006/ole">
              <p:oleObj spid="_x0000_s73730" name="Equation" r:id="rId3" imgW="926698" imgH="304668" progId="Equation.3">
                <p:embed/>
              </p:oleObj>
            </a:graphicData>
          </a:graphic>
        </p:graphicFrame>
      </p:grpSp>
      <p:grpSp>
        <p:nvGrpSpPr>
          <p:cNvPr id="3" name="Group 11"/>
          <p:cNvGrpSpPr>
            <a:grpSpLocks/>
          </p:cNvGrpSpPr>
          <p:nvPr/>
        </p:nvGrpSpPr>
        <p:grpSpPr bwMode="auto">
          <a:xfrm>
            <a:off x="1292320" y="2479631"/>
            <a:ext cx="6968467" cy="3848683"/>
            <a:chOff x="313" y="1544"/>
            <a:chExt cx="2940" cy="1624"/>
          </a:xfrm>
        </p:grpSpPr>
        <p:sp>
          <p:nvSpPr>
            <p:cNvPr id="45065" name="Line 13"/>
            <p:cNvSpPr>
              <a:spLocks noChangeShapeType="1"/>
            </p:cNvSpPr>
            <p:nvPr/>
          </p:nvSpPr>
          <p:spPr bwMode="auto">
            <a:xfrm>
              <a:off x="480" y="2880"/>
              <a:ext cx="2544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kumimoji="1" lang="zh-CN" altLang="en-US" sz="2400" baseline="-25000" smtClean="0">
                <a:solidFill>
                  <a:srgbClr val="000000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45066" name="Line 14"/>
            <p:cNvSpPr>
              <a:spLocks noChangeShapeType="1"/>
            </p:cNvSpPr>
            <p:nvPr/>
          </p:nvSpPr>
          <p:spPr bwMode="auto">
            <a:xfrm flipV="1">
              <a:off x="480" y="1776"/>
              <a:ext cx="0" cy="10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kumimoji="1" lang="zh-CN" altLang="en-US" sz="2400" baseline="-25000" smtClean="0">
                <a:solidFill>
                  <a:srgbClr val="000000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45067" name="Freeform 15"/>
            <p:cNvSpPr>
              <a:spLocks/>
            </p:cNvSpPr>
            <p:nvPr/>
          </p:nvSpPr>
          <p:spPr bwMode="auto">
            <a:xfrm>
              <a:off x="470" y="2044"/>
              <a:ext cx="1639" cy="836"/>
            </a:xfrm>
            <a:custGeom>
              <a:avLst/>
              <a:gdLst>
                <a:gd name="T0" fmla="*/ 0 w 1639"/>
                <a:gd name="T1" fmla="*/ 836 h 836"/>
                <a:gd name="T2" fmla="*/ 133 w 1639"/>
                <a:gd name="T3" fmla="*/ 620 h 836"/>
                <a:gd name="T4" fmla="*/ 243 w 1639"/>
                <a:gd name="T5" fmla="*/ 339 h 836"/>
                <a:gd name="T6" fmla="*/ 332 w 1639"/>
                <a:gd name="T7" fmla="*/ 119 h 836"/>
                <a:gd name="T8" fmla="*/ 449 w 1639"/>
                <a:gd name="T9" fmla="*/ 3 h 836"/>
                <a:gd name="T10" fmla="*/ 620 w 1639"/>
                <a:gd name="T11" fmla="*/ 99 h 836"/>
                <a:gd name="T12" fmla="*/ 805 w 1639"/>
                <a:gd name="T13" fmla="*/ 318 h 836"/>
                <a:gd name="T14" fmla="*/ 1032 w 1639"/>
                <a:gd name="T15" fmla="*/ 530 h 836"/>
                <a:gd name="T16" fmla="*/ 1285 w 1639"/>
                <a:gd name="T17" fmla="*/ 702 h 836"/>
                <a:gd name="T18" fmla="*/ 1639 w 1639"/>
                <a:gd name="T19" fmla="*/ 791 h 8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639"/>
                <a:gd name="T31" fmla="*/ 0 h 836"/>
                <a:gd name="T32" fmla="*/ 1639 w 1639"/>
                <a:gd name="T33" fmla="*/ 836 h 8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639" h="836">
                  <a:moveTo>
                    <a:pt x="0" y="836"/>
                  </a:moveTo>
                  <a:cubicBezTo>
                    <a:pt x="22" y="800"/>
                    <a:pt x="93" y="703"/>
                    <a:pt x="133" y="620"/>
                  </a:cubicBezTo>
                  <a:cubicBezTo>
                    <a:pt x="173" y="537"/>
                    <a:pt x="210" y="422"/>
                    <a:pt x="243" y="339"/>
                  </a:cubicBezTo>
                  <a:cubicBezTo>
                    <a:pt x="276" y="256"/>
                    <a:pt x="298" y="175"/>
                    <a:pt x="332" y="119"/>
                  </a:cubicBezTo>
                  <a:cubicBezTo>
                    <a:pt x="366" y="63"/>
                    <a:pt x="401" y="6"/>
                    <a:pt x="449" y="3"/>
                  </a:cubicBezTo>
                  <a:cubicBezTo>
                    <a:pt x="497" y="0"/>
                    <a:pt x="561" y="47"/>
                    <a:pt x="620" y="99"/>
                  </a:cubicBezTo>
                  <a:cubicBezTo>
                    <a:pt x="679" y="151"/>
                    <a:pt x="736" y="246"/>
                    <a:pt x="805" y="318"/>
                  </a:cubicBezTo>
                  <a:cubicBezTo>
                    <a:pt x="874" y="390"/>
                    <a:pt x="952" y="466"/>
                    <a:pt x="1032" y="530"/>
                  </a:cubicBezTo>
                  <a:cubicBezTo>
                    <a:pt x="1112" y="594"/>
                    <a:pt x="1184" y="659"/>
                    <a:pt x="1285" y="702"/>
                  </a:cubicBezTo>
                  <a:cubicBezTo>
                    <a:pt x="1386" y="746"/>
                    <a:pt x="1566" y="773"/>
                    <a:pt x="1639" y="791"/>
                  </a:cubicBezTo>
                </a:path>
              </a:pathLst>
            </a:custGeom>
            <a:noFill/>
            <a:ln w="28575" cmpd="sng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kumimoji="1" lang="zh-CN" altLang="en-US" sz="2400" baseline="-25000" smtClean="0">
                <a:solidFill>
                  <a:srgbClr val="000000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45068" name="Freeform 16"/>
            <p:cNvSpPr>
              <a:spLocks/>
            </p:cNvSpPr>
            <p:nvPr/>
          </p:nvSpPr>
          <p:spPr bwMode="auto">
            <a:xfrm>
              <a:off x="480" y="2292"/>
              <a:ext cx="2496" cy="588"/>
            </a:xfrm>
            <a:custGeom>
              <a:avLst/>
              <a:gdLst>
                <a:gd name="T0" fmla="*/ 0 w 2496"/>
                <a:gd name="T1" fmla="*/ 588 h 588"/>
                <a:gd name="T2" fmla="*/ 590 w 2496"/>
                <a:gd name="T3" fmla="*/ 437 h 588"/>
                <a:gd name="T4" fmla="*/ 1063 w 2496"/>
                <a:gd name="T5" fmla="*/ 245 h 588"/>
                <a:gd name="T6" fmla="*/ 1539 w 2496"/>
                <a:gd name="T7" fmla="*/ 1 h 588"/>
                <a:gd name="T8" fmla="*/ 1923 w 2496"/>
                <a:gd name="T9" fmla="*/ 241 h 588"/>
                <a:gd name="T10" fmla="*/ 2209 w 2496"/>
                <a:gd name="T11" fmla="*/ 385 h 588"/>
                <a:gd name="T12" fmla="*/ 2496 w 2496"/>
                <a:gd name="T13" fmla="*/ 474 h 58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496"/>
                <a:gd name="T22" fmla="*/ 0 h 588"/>
                <a:gd name="T23" fmla="*/ 2496 w 2496"/>
                <a:gd name="T24" fmla="*/ 588 h 58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496" h="588">
                  <a:moveTo>
                    <a:pt x="0" y="588"/>
                  </a:moveTo>
                  <a:cubicBezTo>
                    <a:pt x="98" y="563"/>
                    <a:pt x="413" y="494"/>
                    <a:pt x="590" y="437"/>
                  </a:cubicBezTo>
                  <a:cubicBezTo>
                    <a:pt x="767" y="380"/>
                    <a:pt x="905" y="318"/>
                    <a:pt x="1063" y="245"/>
                  </a:cubicBezTo>
                  <a:cubicBezTo>
                    <a:pt x="1221" y="172"/>
                    <a:pt x="1396" y="2"/>
                    <a:pt x="1539" y="1"/>
                  </a:cubicBezTo>
                  <a:cubicBezTo>
                    <a:pt x="1682" y="0"/>
                    <a:pt x="1811" y="177"/>
                    <a:pt x="1923" y="241"/>
                  </a:cubicBezTo>
                  <a:cubicBezTo>
                    <a:pt x="2034" y="305"/>
                    <a:pt x="2113" y="346"/>
                    <a:pt x="2209" y="385"/>
                  </a:cubicBezTo>
                  <a:cubicBezTo>
                    <a:pt x="2304" y="424"/>
                    <a:pt x="2437" y="455"/>
                    <a:pt x="2496" y="474"/>
                  </a:cubicBezTo>
                </a:path>
              </a:pathLst>
            </a:custGeom>
            <a:noFill/>
            <a:ln w="28575" cmpd="sng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kumimoji="1" lang="zh-CN" altLang="en-US" sz="2400" baseline="-25000" smtClean="0">
                <a:solidFill>
                  <a:srgbClr val="000000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45069" name="Line 17"/>
            <p:cNvSpPr>
              <a:spLocks noChangeShapeType="1"/>
            </p:cNvSpPr>
            <p:nvPr/>
          </p:nvSpPr>
          <p:spPr bwMode="auto">
            <a:xfrm>
              <a:off x="2016" y="2304"/>
              <a:ext cx="0" cy="55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kumimoji="1" lang="zh-CN" altLang="en-US" sz="2400" baseline="-25000" smtClean="0">
                <a:solidFill>
                  <a:srgbClr val="000000"/>
                </a:solidFill>
                <a:latin typeface="Times New Roman" pitchFamily="18" charset="0"/>
                <a:ea typeface="宋体" charset="-122"/>
              </a:endParaRPr>
            </a:p>
          </p:txBody>
        </p:sp>
        <p:graphicFrame>
          <p:nvGraphicFramePr>
            <p:cNvPr id="45058" name="Object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xmlns="" val="2992055219"/>
                </p:ext>
              </p:extLst>
            </p:nvPr>
          </p:nvGraphicFramePr>
          <p:xfrm>
            <a:off x="313" y="1544"/>
            <a:ext cx="273" cy="203"/>
          </p:xfrm>
          <a:graphic>
            <a:graphicData uri="http://schemas.openxmlformats.org/presentationml/2006/ole">
              <p:oleObj spid="_x0000_s73731" name="Equation" r:id="rId4" imgW="533169" imgH="304668" progId="Equation.3">
                <p:embed/>
              </p:oleObj>
            </a:graphicData>
          </a:graphic>
        </p:graphicFrame>
        <p:graphicFrame>
          <p:nvGraphicFramePr>
            <p:cNvPr id="45059" name="Object 1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xmlns="" val="2791241644"/>
                </p:ext>
              </p:extLst>
            </p:nvPr>
          </p:nvGraphicFramePr>
          <p:xfrm>
            <a:off x="3082" y="2851"/>
            <a:ext cx="171" cy="171"/>
          </p:xfrm>
          <a:graphic>
            <a:graphicData uri="http://schemas.openxmlformats.org/presentationml/2006/ole">
              <p:oleObj spid="_x0000_s73732" name="Equation" r:id="rId5" imgW="126720" imgH="139680" progId="Equation.DSMT4">
                <p:embed/>
              </p:oleObj>
            </a:graphicData>
          </a:graphic>
        </p:graphicFrame>
        <p:sp>
          <p:nvSpPr>
            <p:cNvPr id="45070" name="Text Box 20"/>
            <p:cNvSpPr txBox="1">
              <a:spLocks noChangeArrowheads="1"/>
            </p:cNvSpPr>
            <p:nvPr/>
          </p:nvSpPr>
          <p:spPr bwMode="auto">
            <a:xfrm>
              <a:off x="1776" y="2880"/>
              <a:ext cx="54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smtClean="0">
                  <a:solidFill>
                    <a:srgbClr val="1C1C1C"/>
                  </a:solidFill>
                  <a:latin typeface="Times New Roman" pitchFamily="18" charset="0"/>
                  <a:ea typeface="宋体" charset="-122"/>
                </a:rPr>
                <a:t>2 000</a:t>
              </a:r>
            </a:p>
          </p:txBody>
        </p:sp>
        <p:sp>
          <p:nvSpPr>
            <p:cNvPr id="45071" name="Line 21"/>
            <p:cNvSpPr>
              <a:spLocks noChangeShapeType="1"/>
            </p:cNvSpPr>
            <p:nvPr/>
          </p:nvSpPr>
          <p:spPr bwMode="auto">
            <a:xfrm flipH="1">
              <a:off x="912" y="2064"/>
              <a:ext cx="0" cy="86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kumimoji="1" lang="zh-CN" altLang="en-US" sz="2400" baseline="-25000" smtClean="0">
                <a:solidFill>
                  <a:srgbClr val="000000"/>
                </a:solidFill>
                <a:latin typeface="Times New Roman" pitchFamily="18" charset="0"/>
                <a:ea typeface="宋体" charset="-122"/>
              </a:endParaRPr>
            </a:p>
          </p:txBody>
        </p:sp>
        <p:graphicFrame>
          <p:nvGraphicFramePr>
            <p:cNvPr id="45060" name="Object 2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xmlns="" val="1122493449"/>
                </p:ext>
              </p:extLst>
            </p:nvPr>
          </p:nvGraphicFramePr>
          <p:xfrm>
            <a:off x="378" y="2891"/>
            <a:ext cx="129" cy="149"/>
          </p:xfrm>
          <a:graphic>
            <a:graphicData uri="http://schemas.openxmlformats.org/presentationml/2006/ole">
              <p:oleObj spid="_x0000_s73733" name="Equation" r:id="rId6" imgW="164957" imgH="190335" progId="Equation.3">
                <p:embed/>
              </p:oleObj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08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942078119"/>
              </p:ext>
            </p:extLst>
          </p:nvPr>
        </p:nvGraphicFramePr>
        <p:xfrm>
          <a:off x="1603058" y="436352"/>
          <a:ext cx="1912302" cy="1082870"/>
        </p:xfrm>
        <a:graphic>
          <a:graphicData uri="http://schemas.openxmlformats.org/presentationml/2006/ole">
            <p:oleObj spid="_x0000_s74754" name="Equation" r:id="rId3" imgW="761760" imgH="444240" progId="Equation.DSMT4">
              <p:embed/>
            </p:oleObj>
          </a:graphicData>
        </a:graphic>
      </p:graphicFrame>
      <p:graphicFrame>
        <p:nvGraphicFramePr>
          <p:cNvPr id="5734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68236311"/>
              </p:ext>
            </p:extLst>
          </p:nvPr>
        </p:nvGraphicFramePr>
        <p:xfrm>
          <a:off x="1063307" y="1890394"/>
          <a:ext cx="3175952" cy="577661"/>
        </p:xfrm>
        <a:graphic>
          <a:graphicData uri="http://schemas.openxmlformats.org/presentationml/2006/ole">
            <p:oleObj spid="_x0000_s74755" name="Equation" r:id="rId4" imgW="1206360" imgH="228600" progId="Equation.DSMT4">
              <p:embed/>
            </p:oleObj>
          </a:graphicData>
        </a:graphic>
      </p:graphicFrame>
      <p:graphicFrame>
        <p:nvGraphicFramePr>
          <p:cNvPr id="5735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572505136"/>
              </p:ext>
            </p:extLst>
          </p:nvPr>
        </p:nvGraphicFramePr>
        <p:xfrm>
          <a:off x="4562475" y="1854835"/>
          <a:ext cx="2959100" cy="611188"/>
        </p:xfrm>
        <a:graphic>
          <a:graphicData uri="http://schemas.openxmlformats.org/presentationml/2006/ole">
            <p:oleObj spid="_x0000_s74756" name="Equation" r:id="rId5" imgW="2311400" imgH="419100" progId="Equation.3">
              <p:embed/>
            </p:oleObj>
          </a:graphicData>
        </a:graphic>
      </p:graphicFrame>
      <p:graphicFrame>
        <p:nvGraphicFramePr>
          <p:cNvPr id="5735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468754663"/>
              </p:ext>
            </p:extLst>
          </p:nvPr>
        </p:nvGraphicFramePr>
        <p:xfrm>
          <a:off x="1076643" y="2865438"/>
          <a:ext cx="4118958" cy="690562"/>
        </p:xfrm>
        <a:graphic>
          <a:graphicData uri="http://schemas.openxmlformats.org/presentationml/2006/ole">
            <p:oleObj spid="_x0000_s74757" name="Equation" r:id="rId6" imgW="1549080" imgH="253800" progId="Equation.DSMT4">
              <p:embed/>
            </p:oleObj>
          </a:graphicData>
        </a:graphic>
      </p:graphicFrame>
      <p:graphicFrame>
        <p:nvGraphicFramePr>
          <p:cNvPr id="5735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477657206"/>
              </p:ext>
            </p:extLst>
          </p:nvPr>
        </p:nvGraphicFramePr>
        <p:xfrm>
          <a:off x="1336993" y="4054792"/>
          <a:ext cx="4075524" cy="1076008"/>
        </p:xfrm>
        <a:graphic>
          <a:graphicData uri="http://schemas.openxmlformats.org/presentationml/2006/ole">
            <p:oleObj spid="_x0000_s74758" name="Equation" r:id="rId7" imgW="1917360" imgH="482400" progId="Equation.DSMT4">
              <p:embed/>
            </p:oleObj>
          </a:graphicData>
        </a:graphic>
      </p:graphicFrame>
      <p:graphicFrame>
        <p:nvGraphicFramePr>
          <p:cNvPr id="5735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583322531"/>
              </p:ext>
            </p:extLst>
          </p:nvPr>
        </p:nvGraphicFramePr>
        <p:xfrm>
          <a:off x="1333500" y="5527358"/>
          <a:ext cx="3563938" cy="631825"/>
        </p:xfrm>
        <a:graphic>
          <a:graphicData uri="http://schemas.openxmlformats.org/presentationml/2006/ole">
            <p:oleObj spid="_x0000_s74759" name="Equation" r:id="rId8" imgW="1409400" imgH="253800" progId="Equation.DSMT4">
              <p:embed/>
            </p:oleObj>
          </a:graphicData>
        </a:graphic>
      </p:graphicFrame>
      <p:sp>
        <p:nvSpPr>
          <p:cNvPr id="46088" name="Text Box 10"/>
          <p:cNvSpPr txBox="1">
            <a:spLocks noChangeArrowheads="1"/>
          </p:cNvSpPr>
          <p:nvPr/>
        </p:nvSpPr>
        <p:spPr bwMode="auto">
          <a:xfrm>
            <a:off x="511175" y="633413"/>
            <a:ext cx="1104265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3200" b="1" dirty="0" smtClean="0">
                <a:solidFill>
                  <a:srgbClr val="CC0000"/>
                </a:solidFill>
                <a:ea typeface="宋体" charset="-122"/>
              </a:rPr>
              <a:t>解</a:t>
            </a:r>
            <a:r>
              <a:rPr lang="en-US" altLang="zh-CN" sz="3200" b="1" dirty="0" smtClean="0">
                <a:solidFill>
                  <a:srgbClr val="CC0000"/>
                </a:solidFill>
                <a:ea typeface="宋体" charset="-122"/>
              </a:rPr>
              <a:t>:</a:t>
            </a:r>
            <a:endParaRPr lang="zh-CN" altLang="en-US" sz="3200" b="1" dirty="0" smtClean="0">
              <a:solidFill>
                <a:srgbClr val="CC0000"/>
              </a:solidFill>
              <a:ea typeface="宋体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57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57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57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57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7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4"/>
          <p:cNvSpPr>
            <a:spLocks noChangeArrowheads="1"/>
          </p:cNvSpPr>
          <p:nvPr/>
        </p:nvSpPr>
        <p:spPr bwMode="auto">
          <a:xfrm>
            <a:off x="108520" y="980728"/>
            <a:ext cx="9144000" cy="683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 smtClean="0">
                <a:solidFill>
                  <a:srgbClr val="CC0000"/>
                </a:solidFill>
              </a:rPr>
              <a:t>自</a:t>
            </a:r>
            <a:r>
              <a:rPr lang="zh-CN" altLang="en-US" sz="3200" b="1" dirty="0">
                <a:solidFill>
                  <a:srgbClr val="CC0000"/>
                </a:solidFill>
              </a:rPr>
              <a:t>由</a:t>
            </a:r>
            <a:r>
              <a:rPr lang="zh-CN" altLang="en-US" sz="3200" b="1" dirty="0" smtClean="0">
                <a:solidFill>
                  <a:srgbClr val="CC0000"/>
                </a:solidFill>
              </a:rPr>
              <a:t>程：</a:t>
            </a:r>
            <a:r>
              <a:rPr lang="zh-CN" altLang="en-US" sz="3200" b="1" dirty="0" smtClean="0">
                <a:solidFill>
                  <a:srgbClr val="000000"/>
                </a:solidFill>
              </a:rPr>
              <a:t>分</a:t>
            </a:r>
            <a:r>
              <a:rPr lang="zh-CN" altLang="en-US" sz="3200" b="1" dirty="0">
                <a:solidFill>
                  <a:srgbClr val="000000"/>
                </a:solidFill>
              </a:rPr>
              <a:t>子两次相邻碰撞之间自由通过的路程 </a:t>
            </a:r>
            <a:r>
              <a:rPr lang="en-US" altLang="zh-CN" sz="3200" b="1" dirty="0">
                <a:solidFill>
                  <a:srgbClr val="000000"/>
                </a:solidFill>
                <a:latin typeface="Times New Roman" pitchFamily="18" charset="0"/>
              </a:rPr>
              <a:t>.</a:t>
            </a:r>
          </a:p>
        </p:txBody>
      </p:sp>
      <p:sp>
        <p:nvSpPr>
          <p:cNvPr id="4" name="TextBox 2"/>
          <p:cNvSpPr txBox="1">
            <a:spLocks noChangeArrowheads="1"/>
          </p:cNvSpPr>
          <p:nvPr/>
        </p:nvSpPr>
        <p:spPr bwMode="auto">
          <a:xfrm>
            <a:off x="1403350" y="324520"/>
            <a:ext cx="6224588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b="1" dirty="0"/>
              <a:t>§5-4 </a:t>
            </a:r>
            <a:r>
              <a:rPr lang="zh-CN" altLang="en-US" sz="3200" b="1" dirty="0"/>
              <a:t>平均碰撞次数和平均自由程</a:t>
            </a:r>
          </a:p>
        </p:txBody>
      </p:sp>
    </p:spTree>
    <p:controls>
      <p:control spid="81922" name="ShockwaveFlash1" r:id="rId2" imgW="7632610" imgH="4941550"/>
    </p:controls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611560" y="2996952"/>
            <a:ext cx="8243887" cy="3365500"/>
            <a:chOff x="431" y="799"/>
            <a:chExt cx="5193" cy="2120"/>
          </a:xfrm>
        </p:grpSpPr>
        <p:grpSp>
          <p:nvGrpSpPr>
            <p:cNvPr id="3" name="Group 3"/>
            <p:cNvGrpSpPr>
              <a:grpSpLocks/>
            </p:cNvGrpSpPr>
            <p:nvPr/>
          </p:nvGrpSpPr>
          <p:grpSpPr bwMode="auto">
            <a:xfrm>
              <a:off x="431" y="799"/>
              <a:ext cx="5193" cy="2120"/>
              <a:chOff x="431" y="799"/>
              <a:chExt cx="5193" cy="2120"/>
            </a:xfrm>
          </p:grpSpPr>
          <p:grpSp>
            <p:nvGrpSpPr>
              <p:cNvPr id="4" name="Group 4"/>
              <p:cNvGrpSpPr>
                <a:grpSpLocks/>
              </p:cNvGrpSpPr>
              <p:nvPr/>
            </p:nvGrpSpPr>
            <p:grpSpPr bwMode="auto">
              <a:xfrm>
                <a:off x="466" y="799"/>
                <a:ext cx="1734" cy="528"/>
                <a:chOff x="768" y="1872"/>
                <a:chExt cx="1488" cy="528"/>
              </a:xfrm>
            </p:grpSpPr>
            <p:sp>
              <p:nvSpPr>
                <p:cNvPr id="71685" name="AutoShape 5"/>
                <p:cNvSpPr>
                  <a:spLocks noChangeArrowheads="1"/>
                </p:cNvSpPr>
                <p:nvPr/>
              </p:nvSpPr>
              <p:spPr bwMode="auto">
                <a:xfrm>
                  <a:off x="768" y="1872"/>
                  <a:ext cx="1200" cy="528"/>
                </a:xfrm>
                <a:prstGeom prst="horizontalScroll">
                  <a:avLst>
                    <a:gd name="adj" fmla="val 15106"/>
                  </a:avLst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>
                  <a:outerShdw dist="107763" dir="13500000" algn="ctr" rotWithShape="0">
                    <a:srgbClr val="336600"/>
                  </a:outerShdw>
                </a:effectLst>
              </p:spPr>
              <p:txBody>
                <a:bodyPr anchor="ctr">
                  <a:spAutoFit/>
                </a:bodyPr>
                <a:lstStyle/>
                <a:p>
                  <a:pPr>
                    <a:defRPr/>
                  </a:pPr>
                  <a:endParaRPr lang="zh-CN" altLang="en-US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4585" name="Rectangle 6"/>
                <p:cNvSpPr>
                  <a:spLocks noChangeArrowheads="1"/>
                </p:cNvSpPr>
                <p:nvPr/>
              </p:nvSpPr>
              <p:spPr bwMode="auto">
                <a:xfrm>
                  <a:off x="864" y="1968"/>
                  <a:ext cx="1392" cy="36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r>
                    <a:rPr lang="zh-CN" altLang="en-US" sz="3200" b="1" dirty="0">
                      <a:solidFill>
                        <a:srgbClr val="000000"/>
                      </a:solidFill>
                    </a:rPr>
                    <a:t>简化模型</a:t>
                  </a:r>
                </a:p>
              </p:txBody>
            </p:sp>
          </p:grpSp>
          <p:sp>
            <p:nvSpPr>
              <p:cNvPr id="24583" name="Text Box 7"/>
              <p:cNvSpPr txBox="1">
                <a:spLocks noChangeArrowheads="1"/>
              </p:cNvSpPr>
              <p:nvPr/>
            </p:nvSpPr>
            <p:spPr bwMode="auto">
              <a:xfrm>
                <a:off x="431" y="1389"/>
                <a:ext cx="5193" cy="15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3200" b="1" dirty="0">
                    <a:solidFill>
                      <a:srgbClr val="CC0000"/>
                    </a:solidFill>
                  </a:rPr>
                  <a:t> </a:t>
                </a:r>
                <a:r>
                  <a:rPr lang="en-US" altLang="zh-CN" sz="3200" b="1" dirty="0">
                    <a:solidFill>
                      <a:srgbClr val="CC0000"/>
                    </a:solidFill>
                    <a:latin typeface="宋体" pitchFamily="2" charset="-122"/>
                  </a:rPr>
                  <a:t>(</a:t>
                </a:r>
                <a:r>
                  <a:rPr lang="en-US" altLang="zh-CN" sz="3200" b="1" dirty="0">
                    <a:solidFill>
                      <a:srgbClr val="CC0000"/>
                    </a:solidFill>
                    <a:latin typeface="Times New Roman" pitchFamily="18" charset="0"/>
                  </a:rPr>
                  <a:t>1</a:t>
                </a:r>
                <a:r>
                  <a:rPr lang="en-US" altLang="zh-CN" sz="3200" b="1" dirty="0">
                    <a:solidFill>
                      <a:srgbClr val="CC0000"/>
                    </a:solidFill>
                    <a:latin typeface="宋体" pitchFamily="2" charset="-122"/>
                  </a:rPr>
                  <a:t>)</a:t>
                </a:r>
                <a:r>
                  <a:rPr lang="en-US" altLang="zh-CN" sz="3200" b="1" dirty="0">
                    <a:solidFill>
                      <a:srgbClr val="000000"/>
                    </a:solidFill>
                  </a:rPr>
                  <a:t> </a:t>
                </a:r>
                <a:r>
                  <a:rPr lang="zh-CN" altLang="en-US" sz="3200" b="1" dirty="0">
                    <a:solidFill>
                      <a:srgbClr val="000000"/>
                    </a:solidFill>
                  </a:rPr>
                  <a:t>分子为刚性小球 </a:t>
                </a:r>
                <a:r>
                  <a:rPr lang="en-US" altLang="zh-CN" sz="3200" b="1" dirty="0">
                    <a:solidFill>
                      <a:srgbClr val="000000"/>
                    </a:solidFill>
                    <a:latin typeface="Times New Roman" pitchFamily="18" charset="0"/>
                  </a:rPr>
                  <a:t>.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altLang="zh-CN" sz="3200" b="1" dirty="0">
                    <a:solidFill>
                      <a:srgbClr val="CC0000"/>
                    </a:solidFill>
                  </a:rPr>
                  <a:t> </a:t>
                </a:r>
                <a:r>
                  <a:rPr lang="en-US" altLang="zh-CN" sz="3200" b="1" dirty="0">
                    <a:solidFill>
                      <a:srgbClr val="CC0000"/>
                    </a:solidFill>
                    <a:latin typeface="宋体" pitchFamily="2" charset="-122"/>
                  </a:rPr>
                  <a:t>(</a:t>
                </a:r>
                <a:r>
                  <a:rPr lang="en-US" altLang="zh-CN" sz="3200" b="1" dirty="0">
                    <a:solidFill>
                      <a:srgbClr val="CC0000"/>
                    </a:solidFill>
                    <a:latin typeface="Times New Roman" pitchFamily="18" charset="0"/>
                  </a:rPr>
                  <a:t>2</a:t>
                </a:r>
                <a:r>
                  <a:rPr lang="en-US" altLang="zh-CN" sz="3200" b="1" dirty="0">
                    <a:solidFill>
                      <a:srgbClr val="CC0000"/>
                    </a:solidFill>
                    <a:latin typeface="宋体" pitchFamily="2" charset="-122"/>
                  </a:rPr>
                  <a:t>)</a:t>
                </a:r>
                <a:r>
                  <a:rPr lang="en-US" altLang="zh-CN" sz="3200" b="1" dirty="0">
                    <a:solidFill>
                      <a:srgbClr val="000000"/>
                    </a:solidFill>
                  </a:rPr>
                  <a:t> </a:t>
                </a:r>
                <a:r>
                  <a:rPr lang="zh-CN" altLang="en-US" sz="3200" b="1" dirty="0">
                    <a:solidFill>
                      <a:srgbClr val="000000"/>
                    </a:solidFill>
                  </a:rPr>
                  <a:t>分子有效直径</a:t>
                </a:r>
                <a:r>
                  <a:rPr lang="zh-CN" altLang="en-US" sz="3200" b="1" dirty="0" smtClean="0">
                    <a:solidFill>
                      <a:srgbClr val="000000"/>
                    </a:solidFill>
                  </a:rPr>
                  <a:t>为    </a:t>
                </a:r>
                <a:r>
                  <a:rPr lang="en-US" altLang="zh-CN" sz="3200" b="1" dirty="0" smtClean="0">
                    <a:solidFill>
                      <a:srgbClr val="000000"/>
                    </a:solidFill>
                    <a:latin typeface="Times New Roman" pitchFamily="18" charset="0"/>
                  </a:rPr>
                  <a:t>.</a:t>
                </a:r>
                <a:endParaRPr lang="en-US" altLang="zh-CN" sz="3200" b="1" dirty="0">
                  <a:solidFill>
                    <a:srgbClr val="000000"/>
                  </a:solidFill>
                  <a:latin typeface="Times New Roman" pitchFamily="18" charset="0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en-US" altLang="zh-CN" sz="3200" b="1" dirty="0">
                    <a:solidFill>
                      <a:srgbClr val="CC0000"/>
                    </a:solidFill>
                    <a:latin typeface="Times New Roman" pitchFamily="18" charset="0"/>
                  </a:rPr>
                  <a:t> </a:t>
                </a:r>
                <a:r>
                  <a:rPr lang="en-US" altLang="zh-CN" sz="3200" b="1" dirty="0">
                    <a:solidFill>
                      <a:srgbClr val="CC0000"/>
                    </a:solidFill>
                    <a:latin typeface="宋体" pitchFamily="2" charset="-122"/>
                  </a:rPr>
                  <a:t>(</a:t>
                </a:r>
                <a:r>
                  <a:rPr lang="en-US" altLang="zh-CN" sz="3200" b="1" dirty="0">
                    <a:solidFill>
                      <a:srgbClr val="CC0000"/>
                    </a:solidFill>
                    <a:latin typeface="Times New Roman" pitchFamily="18" charset="0"/>
                  </a:rPr>
                  <a:t>3</a:t>
                </a:r>
                <a:r>
                  <a:rPr lang="en-US" altLang="zh-CN" sz="3200" b="1" dirty="0">
                    <a:solidFill>
                      <a:srgbClr val="CC0000"/>
                    </a:solidFill>
                    <a:latin typeface="宋体" pitchFamily="2" charset="-122"/>
                  </a:rPr>
                  <a:t>)</a:t>
                </a:r>
                <a:r>
                  <a:rPr lang="en-US" altLang="zh-CN" sz="3200" b="1" dirty="0">
                    <a:solidFill>
                      <a:srgbClr val="000000"/>
                    </a:solidFill>
                  </a:rPr>
                  <a:t> </a:t>
                </a:r>
                <a:r>
                  <a:rPr lang="zh-CN" altLang="en-US" sz="3200" b="1" dirty="0">
                    <a:solidFill>
                      <a:srgbClr val="000000"/>
                    </a:solidFill>
                  </a:rPr>
                  <a:t>其它分子皆静止，某分子以平均速率        </a:t>
                </a:r>
                <a:r>
                  <a:rPr lang="zh-CN" altLang="en-US" sz="3200" b="1" dirty="0" smtClean="0">
                    <a:solidFill>
                      <a:srgbClr val="000000"/>
                    </a:solidFill>
                  </a:rPr>
                  <a:t>  </a:t>
                </a:r>
                <a:endParaRPr lang="en-US" altLang="zh-CN" sz="3200" b="1" dirty="0" smtClean="0">
                  <a:solidFill>
                    <a:srgbClr val="000000"/>
                  </a:solidFill>
                </a:endParaRPr>
              </a:p>
              <a:p>
                <a:pPr>
                  <a:lnSpc>
                    <a:spcPct val="120000"/>
                  </a:lnSpc>
                </a:pPr>
                <a:r>
                  <a:rPr lang="en-US" altLang="zh-CN" sz="3200" b="1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CN" sz="3200" b="1" dirty="0" smtClean="0">
                    <a:solidFill>
                      <a:srgbClr val="000000"/>
                    </a:solidFill>
                  </a:rPr>
                  <a:t>      </a:t>
                </a:r>
                <a:r>
                  <a:rPr lang="zh-CN" altLang="en-US" sz="3200" b="1" dirty="0" smtClean="0">
                    <a:solidFill>
                      <a:srgbClr val="000000"/>
                    </a:solidFill>
                  </a:rPr>
                  <a:t>相</a:t>
                </a:r>
                <a:r>
                  <a:rPr lang="zh-CN" altLang="en-US" sz="3200" b="1" dirty="0">
                    <a:solidFill>
                      <a:srgbClr val="000000"/>
                    </a:solidFill>
                  </a:rPr>
                  <a:t>对其他分子运动 </a:t>
                </a:r>
                <a:r>
                  <a:rPr lang="en-US" altLang="zh-CN" sz="3200" b="1" dirty="0">
                    <a:solidFill>
                      <a:srgbClr val="000000"/>
                    </a:solidFill>
                    <a:latin typeface="Times New Roman" pitchFamily="18" charset="0"/>
                  </a:rPr>
                  <a:t>.</a:t>
                </a:r>
              </a:p>
            </p:txBody>
          </p:sp>
          <p:graphicFrame>
            <p:nvGraphicFramePr>
              <p:cNvPr id="24579" name="Object 3"/>
              <p:cNvGraphicFramePr>
                <a:graphicFrameLocks noChangeAspect="1"/>
              </p:cNvGraphicFramePr>
              <p:nvPr/>
            </p:nvGraphicFramePr>
            <p:xfrm>
              <a:off x="2880" y="1842"/>
              <a:ext cx="200" cy="273"/>
            </p:xfrm>
            <a:graphic>
              <a:graphicData uri="http://schemas.openxmlformats.org/presentationml/2006/ole">
                <p:oleObj spid="_x0000_s82946" name="Equation" r:id="rId3" imgW="190417" imgH="253890" progId="Equation.3">
                  <p:embed/>
                </p:oleObj>
              </a:graphicData>
            </a:graphic>
          </p:graphicFrame>
        </p:grpSp>
        <p:graphicFrame>
          <p:nvGraphicFramePr>
            <p:cNvPr id="24578" name="Object 2"/>
            <p:cNvGraphicFramePr>
              <a:graphicFrameLocks noChangeAspect="1"/>
            </p:cNvGraphicFramePr>
            <p:nvPr/>
          </p:nvGraphicFramePr>
          <p:xfrm>
            <a:off x="5103" y="2160"/>
            <a:ext cx="243" cy="372"/>
          </p:xfrm>
          <a:graphic>
            <a:graphicData uri="http://schemas.openxmlformats.org/presentationml/2006/ole">
              <p:oleObj spid="_x0000_s82947" name="公式" r:id="rId4" imgW="139579" imgH="215713" progId="Equation.3">
                <p:embed/>
              </p:oleObj>
            </a:graphicData>
          </a:graphic>
        </p:graphicFrame>
      </p:grpSp>
      <p:sp>
        <p:nvSpPr>
          <p:cNvPr id="10" name="Text Box 2"/>
          <p:cNvSpPr txBox="1">
            <a:spLocks noChangeArrowheads="1"/>
          </p:cNvSpPr>
          <p:nvPr/>
        </p:nvSpPr>
        <p:spPr bwMode="auto">
          <a:xfrm>
            <a:off x="755724" y="1628800"/>
            <a:ext cx="7567613" cy="126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  <a:buFontTx/>
              <a:buBlip>
                <a:blip r:embed="rId5"/>
              </a:buBlip>
            </a:pPr>
            <a:r>
              <a:rPr lang="en-US" altLang="zh-CN" sz="3200" b="1" dirty="0">
                <a:solidFill>
                  <a:srgbClr val="000000"/>
                </a:solidFill>
              </a:rPr>
              <a:t>     </a:t>
            </a:r>
            <a:r>
              <a:rPr lang="zh-CN" altLang="en-US" sz="3200" b="1" dirty="0">
                <a:solidFill>
                  <a:srgbClr val="000000"/>
                </a:solidFill>
              </a:rPr>
              <a:t>分子</a:t>
            </a:r>
            <a:r>
              <a:rPr lang="zh-CN" altLang="en-US" sz="3200" b="1" dirty="0">
                <a:solidFill>
                  <a:srgbClr val="CC0000"/>
                </a:solidFill>
              </a:rPr>
              <a:t>平均碰撞次数</a:t>
            </a:r>
            <a:r>
              <a:rPr lang="zh-CN" altLang="en-US" sz="3200" b="1" dirty="0">
                <a:solidFill>
                  <a:srgbClr val="000000"/>
                </a:solidFill>
              </a:rPr>
              <a:t>：单位时间内一个分子和其它分子碰撞的平均次数</a:t>
            </a:r>
            <a:r>
              <a:rPr lang="en-US" altLang="zh-CN" sz="3200" b="1" dirty="0">
                <a:solidFill>
                  <a:srgbClr val="000000"/>
                </a:solidFill>
                <a:latin typeface="Times New Roman" pitchFamily="18" charset="0"/>
              </a:rPr>
              <a:t>.</a:t>
            </a:r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755724" y="225301"/>
            <a:ext cx="7632700" cy="126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  <a:buFontTx/>
              <a:buBlip>
                <a:blip r:embed="rId5"/>
              </a:buBlip>
            </a:pPr>
            <a:r>
              <a:rPr lang="en-US" altLang="zh-CN" sz="3200" b="1" dirty="0">
                <a:solidFill>
                  <a:srgbClr val="1C1C1C"/>
                </a:solidFill>
              </a:rPr>
              <a:t>     </a:t>
            </a:r>
            <a:r>
              <a:rPr lang="zh-CN" altLang="en-US" sz="3200" b="1" dirty="0">
                <a:solidFill>
                  <a:srgbClr val="000000"/>
                </a:solidFill>
              </a:rPr>
              <a:t>分子</a:t>
            </a:r>
            <a:r>
              <a:rPr lang="zh-CN" altLang="en-US" sz="3200" b="1" dirty="0">
                <a:solidFill>
                  <a:srgbClr val="CC0000"/>
                </a:solidFill>
              </a:rPr>
              <a:t>平均自由程</a:t>
            </a:r>
            <a:r>
              <a:rPr lang="zh-CN" altLang="en-US" sz="3200" b="1" dirty="0">
                <a:solidFill>
                  <a:srgbClr val="000000"/>
                </a:solidFill>
              </a:rPr>
              <a:t>：每两次连续碰撞之间，一个分子自由运动的平均路程</a:t>
            </a:r>
            <a:r>
              <a:rPr lang="en-US" altLang="zh-CN" sz="3200" b="1" dirty="0">
                <a:solidFill>
                  <a:srgbClr val="000000"/>
                </a:solidFill>
                <a:latin typeface="Times New Roman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Text Box 3"/>
          <p:cNvSpPr txBox="1">
            <a:spLocks noChangeArrowheads="1"/>
          </p:cNvSpPr>
          <p:nvPr/>
        </p:nvSpPr>
        <p:spPr bwMode="auto">
          <a:xfrm>
            <a:off x="971550" y="5301357"/>
            <a:ext cx="5113338" cy="6245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3200" b="1" dirty="0">
                <a:solidFill>
                  <a:srgbClr val="0000FF"/>
                </a:solidFill>
              </a:rPr>
              <a:t>单位时间</a:t>
            </a:r>
            <a:r>
              <a:rPr lang="zh-CN" altLang="en-US" sz="3200" b="1" dirty="0">
                <a:solidFill>
                  <a:srgbClr val="000000"/>
                </a:solidFill>
              </a:rPr>
              <a:t>内平均碰撞次数：</a:t>
            </a:r>
          </a:p>
        </p:txBody>
      </p:sp>
      <p:graphicFrame>
        <p:nvGraphicFramePr>
          <p:cNvPr id="60420" name="Object 2"/>
          <p:cNvGraphicFramePr>
            <a:graphicFrameLocks noChangeAspect="1"/>
          </p:cNvGraphicFramePr>
          <p:nvPr/>
        </p:nvGraphicFramePr>
        <p:xfrm>
          <a:off x="5867400" y="5378351"/>
          <a:ext cx="2305050" cy="642937"/>
        </p:xfrm>
        <a:graphic>
          <a:graphicData uri="http://schemas.openxmlformats.org/presentationml/2006/ole">
            <p:oleObj spid="_x0000_s83971" name="公式" r:id="rId4" imgW="761669" imgH="228501" progId="Equation.3">
              <p:embed/>
            </p:oleObj>
          </a:graphicData>
        </a:graphic>
      </p:graphicFrame>
    </p:spTree>
    <p:controls>
      <p:control spid="83970" name="ShockwaveFlash1" r:id="rId2" imgW="7314286" imgH="4265538"/>
    </p:controls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0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0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1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0658" name="Object 2"/>
          <p:cNvGraphicFramePr>
            <a:graphicFrameLocks noGrp="1" noChangeAspect="1"/>
          </p:cNvGraphicFramePr>
          <p:nvPr>
            <p:ph sz="half" idx="1"/>
          </p:nvPr>
        </p:nvGraphicFramePr>
        <p:xfrm>
          <a:off x="2290762" y="5375275"/>
          <a:ext cx="3001317" cy="760135"/>
        </p:xfrm>
        <a:graphic>
          <a:graphicData uri="http://schemas.openxmlformats.org/presentationml/2006/ole">
            <p:oleObj spid="_x0000_s84995" name="Equation" r:id="rId4" imgW="952087" imgH="241195" progId="Equation.DSMT4">
              <p:embed/>
            </p:oleObj>
          </a:graphicData>
        </a:graphic>
      </p:graphicFrame>
      <p:sp>
        <p:nvSpPr>
          <p:cNvPr id="70660" name="Text Box 4"/>
          <p:cNvSpPr txBox="1">
            <a:spLocks noChangeArrowheads="1"/>
          </p:cNvSpPr>
          <p:nvPr/>
        </p:nvSpPr>
        <p:spPr bwMode="auto">
          <a:xfrm>
            <a:off x="538361" y="4436963"/>
            <a:ext cx="8066087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Blip>
                <a:blip r:embed="rId5"/>
              </a:buBlip>
            </a:pPr>
            <a:r>
              <a:rPr lang="en-US" altLang="zh-CN" sz="3200" b="1">
                <a:solidFill>
                  <a:srgbClr val="000000"/>
                </a:solidFill>
              </a:rPr>
              <a:t> </a:t>
            </a:r>
            <a:r>
              <a:rPr lang="zh-CN" altLang="en-US" sz="3200" b="1">
                <a:solidFill>
                  <a:srgbClr val="000000"/>
                </a:solidFill>
              </a:rPr>
              <a:t>考虑其它分子的运动</a:t>
            </a:r>
            <a:r>
              <a:rPr lang="zh-CN" altLang="en-US" sz="3200" b="1">
                <a:solidFill>
                  <a:srgbClr val="000000"/>
                </a:solidFill>
                <a:latin typeface="Times New Roman" pitchFamily="18" charset="0"/>
              </a:rPr>
              <a:t>，</a:t>
            </a:r>
            <a:r>
              <a:rPr lang="zh-CN" altLang="en-US" sz="3200" b="1">
                <a:solidFill>
                  <a:srgbClr val="000000"/>
                </a:solidFill>
              </a:rPr>
              <a:t>分子平均碰撞次数</a:t>
            </a:r>
          </a:p>
        </p:txBody>
      </p:sp>
    </p:spTree>
    <p:controls>
      <p:control spid="84994" name="ShockwaveFlash1" r:id="rId2" imgW="6119142" imgH="4192695"/>
    </p:controls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0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70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6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323528" y="573559"/>
            <a:ext cx="6355747" cy="1275610"/>
            <a:chOff x="240" y="2411"/>
            <a:chExt cx="4081" cy="816"/>
          </a:xfrm>
        </p:grpSpPr>
        <p:sp>
          <p:nvSpPr>
            <p:cNvPr id="27659" name="Text Box 6"/>
            <p:cNvSpPr txBox="1">
              <a:spLocks noChangeArrowheads="1"/>
            </p:cNvSpPr>
            <p:nvPr/>
          </p:nvSpPr>
          <p:spPr bwMode="auto">
            <a:xfrm>
              <a:off x="240" y="2544"/>
              <a:ext cx="2736" cy="3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FontTx/>
                <a:buBlip>
                  <a:blip r:embed="rId3"/>
                </a:buBlip>
              </a:pPr>
              <a:r>
                <a:rPr lang="en-US" altLang="zh-CN" sz="3200" b="1" dirty="0">
                  <a:solidFill>
                    <a:srgbClr val="000000"/>
                  </a:solidFill>
                </a:rPr>
                <a:t>    </a:t>
              </a:r>
              <a:r>
                <a:rPr lang="zh-CN" altLang="en-US" sz="3200" b="1" dirty="0">
                  <a:solidFill>
                    <a:srgbClr val="000000"/>
                  </a:solidFill>
                </a:rPr>
                <a:t>平均自由程</a:t>
              </a:r>
              <a:r>
                <a:rPr lang="zh-CN" altLang="en-US" sz="3200" b="1" dirty="0">
                  <a:solidFill>
                    <a:srgbClr val="1C1C1C"/>
                  </a:solidFill>
                </a:rPr>
                <a:t> </a:t>
              </a:r>
            </a:p>
          </p:txBody>
        </p:sp>
        <p:graphicFrame>
          <p:nvGraphicFramePr>
            <p:cNvPr id="27654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xmlns="" val="2137705662"/>
                </p:ext>
              </p:extLst>
            </p:nvPr>
          </p:nvGraphicFramePr>
          <p:xfrm>
            <a:off x="2263" y="2411"/>
            <a:ext cx="2058" cy="816"/>
          </p:xfrm>
          <a:graphic>
            <a:graphicData uri="http://schemas.openxmlformats.org/presentationml/2006/ole">
              <p:oleObj spid="_x0000_s86018" name="Equation" r:id="rId4" imgW="1155600" imgH="431640" progId="Equation.DSMT4">
                <p:embed/>
              </p:oleObj>
            </a:graphicData>
          </a:graphic>
        </p:graphicFrame>
      </p:grpSp>
      <p:graphicFrame>
        <p:nvGraphicFramePr>
          <p:cNvPr id="61448" name="Object 2"/>
          <p:cNvGraphicFramePr>
            <a:graphicFrameLocks noChangeAspect="1"/>
          </p:cNvGraphicFramePr>
          <p:nvPr/>
        </p:nvGraphicFramePr>
        <p:xfrm>
          <a:off x="1115616" y="2229743"/>
          <a:ext cx="2403982" cy="695201"/>
        </p:xfrm>
        <a:graphic>
          <a:graphicData uri="http://schemas.openxmlformats.org/presentationml/2006/ole">
            <p:oleObj spid="_x0000_s86019" name="公式" r:id="rId5" imgW="545626" imgH="203024" progId="Equation.3">
              <p:embed/>
            </p:oleObj>
          </a:graphicData>
        </a:graphic>
      </p:graphicFrame>
      <p:graphicFrame>
        <p:nvGraphicFramePr>
          <p:cNvPr id="6144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792452806"/>
              </p:ext>
            </p:extLst>
          </p:nvPr>
        </p:nvGraphicFramePr>
        <p:xfrm>
          <a:off x="1043608" y="4149080"/>
          <a:ext cx="3317903" cy="1266674"/>
        </p:xfrm>
        <a:graphic>
          <a:graphicData uri="http://schemas.openxmlformats.org/presentationml/2006/ole">
            <p:oleObj spid="_x0000_s86020" name="Equation" r:id="rId6" imgW="1447800" imgH="685800" progId="Equation.3">
              <p:embed/>
            </p:oleObj>
          </a:graphicData>
        </a:graphic>
      </p:graphicFrame>
      <p:grpSp>
        <p:nvGrpSpPr>
          <p:cNvPr id="3" name="Group 19"/>
          <p:cNvGrpSpPr>
            <a:grpSpLocks/>
          </p:cNvGrpSpPr>
          <p:nvPr/>
        </p:nvGrpSpPr>
        <p:grpSpPr bwMode="auto">
          <a:xfrm>
            <a:off x="5004048" y="3831029"/>
            <a:ext cx="3392487" cy="1800627"/>
            <a:chOff x="3107" y="2069"/>
            <a:chExt cx="1950" cy="1035"/>
          </a:xfrm>
        </p:grpSpPr>
        <p:sp>
          <p:nvSpPr>
            <p:cNvPr id="27657" name="Text Box 11"/>
            <p:cNvSpPr txBox="1">
              <a:spLocks noChangeArrowheads="1"/>
            </p:cNvSpPr>
            <p:nvPr/>
          </p:nvSpPr>
          <p:spPr bwMode="auto">
            <a:xfrm>
              <a:off x="3107" y="2211"/>
              <a:ext cx="1392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1">
                  <a:solidFill>
                    <a:srgbClr val="000000"/>
                  </a:solidFill>
                  <a:latin typeface="Times New Roman" pitchFamily="18" charset="0"/>
                </a:rPr>
                <a:t>   </a:t>
              </a:r>
              <a:r>
                <a:rPr lang="en-US" altLang="zh-CN" sz="3200" b="1" i="1">
                  <a:solidFill>
                    <a:srgbClr val="000000"/>
                  </a:solidFill>
                  <a:latin typeface="Times New Roman" pitchFamily="18" charset="0"/>
                </a:rPr>
                <a:t>T </a:t>
              </a:r>
              <a:r>
                <a:rPr lang="zh-CN" altLang="en-US" sz="3200" b="1">
                  <a:solidFill>
                    <a:srgbClr val="000000"/>
                  </a:solidFill>
                </a:rPr>
                <a:t>一定时</a:t>
              </a:r>
            </a:p>
          </p:txBody>
        </p:sp>
        <p:graphicFrame>
          <p:nvGraphicFramePr>
            <p:cNvPr id="27652" name="Object 4"/>
            <p:cNvGraphicFramePr>
              <a:graphicFrameLocks noChangeAspect="1"/>
            </p:cNvGraphicFramePr>
            <p:nvPr/>
          </p:nvGraphicFramePr>
          <p:xfrm>
            <a:off x="4313" y="2069"/>
            <a:ext cx="744" cy="538"/>
          </p:xfrm>
          <a:graphic>
            <a:graphicData uri="http://schemas.openxmlformats.org/presentationml/2006/ole">
              <p:oleObj spid="_x0000_s86021" name="Equation" r:id="rId7" imgW="698500" imgH="660400" progId="Equation.3">
                <p:embed/>
              </p:oleObj>
            </a:graphicData>
          </a:graphic>
        </p:graphicFrame>
        <p:sp>
          <p:nvSpPr>
            <p:cNvPr id="27658" name="Text Box 13"/>
            <p:cNvSpPr txBox="1">
              <a:spLocks noChangeArrowheads="1"/>
            </p:cNvSpPr>
            <p:nvPr/>
          </p:nvSpPr>
          <p:spPr bwMode="auto">
            <a:xfrm>
              <a:off x="3107" y="2739"/>
              <a:ext cx="1488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1">
                  <a:solidFill>
                    <a:srgbClr val="000000"/>
                  </a:solidFill>
                  <a:latin typeface="Times New Roman" pitchFamily="18" charset="0"/>
                </a:rPr>
                <a:t>   </a:t>
              </a:r>
              <a:r>
                <a:rPr lang="en-US" altLang="zh-CN" sz="3200" b="1" i="1">
                  <a:solidFill>
                    <a:srgbClr val="000000"/>
                  </a:solidFill>
                  <a:latin typeface="Times New Roman" pitchFamily="18" charset="0"/>
                </a:rPr>
                <a:t>p </a:t>
              </a:r>
              <a:r>
                <a:rPr lang="zh-CN" altLang="en-US" sz="3200" b="1">
                  <a:solidFill>
                    <a:srgbClr val="000000"/>
                  </a:solidFill>
                </a:rPr>
                <a:t>一定时</a:t>
              </a:r>
            </a:p>
          </p:txBody>
        </p:sp>
        <p:graphicFrame>
          <p:nvGraphicFramePr>
            <p:cNvPr id="27653" name="Object 5"/>
            <p:cNvGraphicFramePr>
              <a:graphicFrameLocks noChangeAspect="1"/>
            </p:cNvGraphicFramePr>
            <p:nvPr/>
          </p:nvGraphicFramePr>
          <p:xfrm>
            <a:off x="4315" y="2797"/>
            <a:ext cx="652" cy="270"/>
          </p:xfrm>
          <a:graphic>
            <a:graphicData uri="http://schemas.openxmlformats.org/presentationml/2006/ole">
              <p:oleObj spid="_x0000_s86022" name="公式" r:id="rId8" imgW="418918" imgH="203112" progId="Equation.3">
                <p:embed/>
              </p:oleObj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61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61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8" name="Text Box 7"/>
          <p:cNvSpPr txBox="1">
            <a:spLocks noChangeArrowheads="1"/>
          </p:cNvSpPr>
          <p:nvPr/>
        </p:nvSpPr>
        <p:spPr bwMode="auto">
          <a:xfrm>
            <a:off x="323528" y="116632"/>
            <a:ext cx="8243887" cy="18651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3200" b="1" dirty="0" smtClean="0">
                <a:solidFill>
                  <a:srgbClr val="CC0000"/>
                </a:solidFill>
              </a:rPr>
              <a:t>例</a:t>
            </a:r>
            <a:r>
              <a:rPr lang="en-US" altLang="zh-CN" sz="3200" b="1" dirty="0" smtClean="0">
                <a:solidFill>
                  <a:srgbClr val="CC0000"/>
                </a:solidFill>
              </a:rPr>
              <a:t>3</a:t>
            </a:r>
            <a:r>
              <a:rPr lang="zh-CN" altLang="en-US" sz="3200" b="1" dirty="0" smtClean="0">
                <a:solidFill>
                  <a:srgbClr val="A50021"/>
                </a:solidFill>
              </a:rPr>
              <a:t>   </a:t>
            </a:r>
            <a:r>
              <a:rPr lang="zh-CN" altLang="en-US" sz="3200" b="1" dirty="0">
                <a:solidFill>
                  <a:srgbClr val="000000"/>
                </a:solidFill>
              </a:rPr>
              <a:t>试估计下列两种情况下空气分子的平均自由程</a:t>
            </a:r>
            <a:r>
              <a:rPr lang="en-US" altLang="zh-CN" sz="3200" b="1" dirty="0">
                <a:solidFill>
                  <a:srgbClr val="000000"/>
                </a:solidFill>
                <a:latin typeface="Times New Roman" pitchFamily="18" charset="0"/>
              </a:rPr>
              <a:t>:</a:t>
            </a:r>
            <a:r>
              <a:rPr lang="zh-CN" altLang="en-US" sz="3200" b="1" dirty="0">
                <a:solidFill>
                  <a:srgbClr val="CC0000"/>
                </a:solidFill>
                <a:latin typeface="Times New Roman" pitchFamily="18" charset="0"/>
              </a:rPr>
              <a:t>（</a:t>
            </a:r>
            <a:r>
              <a:rPr lang="en-US" altLang="zh-CN" sz="3200" b="1" dirty="0">
                <a:solidFill>
                  <a:srgbClr val="CC0000"/>
                </a:solidFill>
                <a:latin typeface="Times New Roman" pitchFamily="18" charset="0"/>
              </a:rPr>
              <a:t>1</a:t>
            </a:r>
            <a:r>
              <a:rPr lang="zh-CN" altLang="en-US" sz="3200" b="1" dirty="0" smtClean="0">
                <a:solidFill>
                  <a:srgbClr val="CC0000"/>
                </a:solidFill>
                <a:latin typeface="Times New Roman" pitchFamily="18" charset="0"/>
              </a:rPr>
              <a:t>）                                 </a:t>
            </a:r>
            <a:r>
              <a:rPr lang="zh-CN" altLang="en-US" sz="3200" b="1" dirty="0" smtClean="0">
                <a:solidFill>
                  <a:srgbClr val="000000"/>
                </a:solidFill>
              </a:rPr>
              <a:t>时</a:t>
            </a:r>
            <a:r>
              <a:rPr lang="zh-CN" altLang="en-US" sz="3200" b="1" dirty="0">
                <a:solidFill>
                  <a:srgbClr val="000000"/>
                </a:solidFill>
                <a:latin typeface="Times New Roman" pitchFamily="18" charset="0"/>
              </a:rPr>
              <a:t>；</a:t>
            </a:r>
            <a:r>
              <a:rPr lang="zh-CN" altLang="en-US" sz="3200" b="1" dirty="0">
                <a:solidFill>
                  <a:srgbClr val="000000"/>
                </a:solidFill>
              </a:rPr>
              <a:t> </a:t>
            </a:r>
            <a:r>
              <a:rPr lang="en-US" altLang="zh-CN" sz="3200" b="1" dirty="0" smtClean="0">
                <a:solidFill>
                  <a:srgbClr val="000000"/>
                </a:solidFill>
              </a:rPr>
              <a:t/>
            </a:r>
            <a:br>
              <a:rPr lang="en-US" altLang="zh-CN" sz="3200" b="1" dirty="0" smtClean="0">
                <a:solidFill>
                  <a:srgbClr val="000000"/>
                </a:solidFill>
              </a:rPr>
            </a:br>
            <a:r>
              <a:rPr lang="en-US" altLang="zh-CN" sz="3200" b="1" dirty="0" smtClean="0">
                <a:solidFill>
                  <a:srgbClr val="000000"/>
                </a:solidFill>
              </a:rPr>
              <a:t>            </a:t>
            </a:r>
            <a:r>
              <a:rPr lang="zh-CN" altLang="en-US" sz="3200" b="1" dirty="0" smtClean="0">
                <a:solidFill>
                  <a:srgbClr val="CC0000"/>
                </a:solidFill>
              </a:rPr>
              <a:t>（</a:t>
            </a:r>
            <a:r>
              <a:rPr lang="en-US" altLang="zh-CN" sz="3200" b="1" dirty="0" smtClean="0">
                <a:solidFill>
                  <a:srgbClr val="CC0000"/>
                </a:solidFill>
                <a:latin typeface="Times New Roman" pitchFamily="18" charset="0"/>
              </a:rPr>
              <a:t>2</a:t>
            </a:r>
            <a:r>
              <a:rPr lang="zh-CN" altLang="en-US" sz="3200" b="1" dirty="0" smtClean="0">
                <a:solidFill>
                  <a:srgbClr val="CC0000"/>
                </a:solidFill>
              </a:rPr>
              <a:t>）</a:t>
            </a:r>
            <a:r>
              <a:rPr lang="zh-CN" altLang="en-US" b="1" dirty="0" smtClean="0">
                <a:solidFill>
                  <a:srgbClr val="000000"/>
                </a:solidFill>
              </a:rPr>
              <a:t> </a:t>
            </a:r>
            <a:r>
              <a:rPr lang="en-US" altLang="zh-CN" sz="3200" b="1" dirty="0" smtClean="0">
                <a:solidFill>
                  <a:srgbClr val="000000"/>
                </a:solidFill>
                <a:latin typeface="Times New Roman" pitchFamily="18" charset="0"/>
              </a:rPr>
              <a:t>                                  </a:t>
            </a:r>
            <a:r>
              <a:rPr lang="zh-CN" altLang="en-US" sz="3200" b="1" dirty="0" smtClean="0">
                <a:solidFill>
                  <a:srgbClr val="000000"/>
                </a:solidFill>
              </a:rPr>
              <a:t>时</a:t>
            </a:r>
            <a:r>
              <a:rPr lang="en-US" altLang="zh-CN" sz="3200" b="1" dirty="0">
                <a:solidFill>
                  <a:srgbClr val="000000"/>
                </a:solidFill>
                <a:latin typeface="Times New Roman" pitchFamily="18" charset="0"/>
              </a:rPr>
              <a:t>. </a:t>
            </a:r>
          </a:p>
        </p:txBody>
      </p:sp>
      <p:graphicFrame>
        <p:nvGraphicFramePr>
          <p:cNvPr id="2867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008493735"/>
              </p:ext>
            </p:extLst>
          </p:nvPr>
        </p:nvGraphicFramePr>
        <p:xfrm>
          <a:off x="2626360" y="725488"/>
          <a:ext cx="3482975" cy="574675"/>
        </p:xfrm>
        <a:graphic>
          <a:graphicData uri="http://schemas.openxmlformats.org/presentationml/2006/ole">
            <p:oleObj spid="_x0000_s87042" name="Equation" r:id="rId3" imgW="1307880" imgH="215640" progId="Equation.DSMT4">
              <p:embed/>
            </p:oleObj>
          </a:graphicData>
        </a:graphic>
      </p:graphicFrame>
      <p:grpSp>
        <p:nvGrpSpPr>
          <p:cNvPr id="3" name="Group 21"/>
          <p:cNvGrpSpPr>
            <a:grpSpLocks/>
          </p:cNvGrpSpPr>
          <p:nvPr/>
        </p:nvGrpSpPr>
        <p:grpSpPr bwMode="auto">
          <a:xfrm>
            <a:off x="251520" y="1892821"/>
            <a:ext cx="7551737" cy="600075"/>
            <a:chOff x="703" y="1752"/>
            <a:chExt cx="4757" cy="378"/>
          </a:xfrm>
        </p:grpSpPr>
        <p:sp>
          <p:nvSpPr>
            <p:cNvPr id="28681" name="Text Box 11"/>
            <p:cNvSpPr txBox="1">
              <a:spLocks noChangeArrowheads="1"/>
            </p:cNvSpPr>
            <p:nvPr/>
          </p:nvSpPr>
          <p:spPr bwMode="auto">
            <a:xfrm>
              <a:off x="703" y="1765"/>
              <a:ext cx="4757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3200" b="1">
                  <a:solidFill>
                    <a:srgbClr val="000000"/>
                  </a:solidFill>
                </a:rPr>
                <a:t>（空气分子有效直径  </a:t>
              </a:r>
              <a:r>
                <a:rPr lang="zh-CN" altLang="en-US" sz="3200" b="1">
                  <a:solidFill>
                    <a:srgbClr val="1C1C1C"/>
                  </a:solidFill>
                </a:rPr>
                <a:t>                        ）</a:t>
              </a:r>
            </a:p>
          </p:txBody>
        </p:sp>
        <p:graphicFrame>
          <p:nvGraphicFramePr>
            <p:cNvPr id="28677" name="Object 5"/>
            <p:cNvGraphicFramePr>
              <a:graphicFrameLocks noChangeAspect="1"/>
            </p:cNvGraphicFramePr>
            <p:nvPr/>
          </p:nvGraphicFramePr>
          <p:xfrm>
            <a:off x="3096" y="1752"/>
            <a:ext cx="1801" cy="349"/>
          </p:xfrm>
          <a:graphic>
            <a:graphicData uri="http://schemas.openxmlformats.org/presentationml/2006/ole">
              <p:oleObj spid="_x0000_s87043" name="公式" r:id="rId4" imgW="1117115" imgH="203112" progId="Equation.3">
                <p:embed/>
              </p:oleObj>
            </a:graphicData>
          </a:graphic>
        </p:graphicFrame>
      </p:grpSp>
      <p:graphicFrame>
        <p:nvGraphicFramePr>
          <p:cNvPr id="62480" name="Object 4"/>
          <p:cNvGraphicFramePr>
            <a:graphicFrameLocks noChangeAspect="1"/>
          </p:cNvGraphicFramePr>
          <p:nvPr/>
        </p:nvGraphicFramePr>
        <p:xfrm>
          <a:off x="970881" y="2614915"/>
          <a:ext cx="2160959" cy="1030109"/>
        </p:xfrm>
        <a:graphic>
          <a:graphicData uri="http://schemas.openxmlformats.org/presentationml/2006/ole">
            <p:oleObj spid="_x0000_s87044" name="公式" r:id="rId5" imgW="901309" imgH="431613" progId="Equation.3">
              <p:embed/>
            </p:oleObj>
          </a:graphicData>
        </a:graphic>
      </p:graphicFrame>
      <p:sp>
        <p:nvSpPr>
          <p:cNvPr id="62481" name="Text Box 17"/>
          <p:cNvSpPr txBox="1">
            <a:spLocks noChangeArrowheads="1"/>
          </p:cNvSpPr>
          <p:nvPr/>
        </p:nvSpPr>
        <p:spPr bwMode="auto">
          <a:xfrm>
            <a:off x="251520" y="2710086"/>
            <a:ext cx="69532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CC0000"/>
                </a:solidFill>
              </a:rPr>
              <a:t>解</a:t>
            </a:r>
          </a:p>
        </p:txBody>
      </p:sp>
      <p:graphicFrame>
        <p:nvGraphicFramePr>
          <p:cNvPr id="2" name="Object 2"/>
          <p:cNvGraphicFramePr>
            <a:graphicFrameLocks noChangeAspect="1"/>
          </p:cNvGraphicFramePr>
          <p:nvPr/>
        </p:nvGraphicFramePr>
        <p:xfrm>
          <a:off x="634255" y="3861048"/>
          <a:ext cx="7034089" cy="1763527"/>
        </p:xfrm>
        <a:graphic>
          <a:graphicData uri="http://schemas.openxmlformats.org/presentationml/2006/ole">
            <p:oleObj spid="_x0000_s87045" name="公式" r:id="rId6" imgW="2489200" imgH="660400" progId="Equation.3">
              <p:embed/>
            </p:oleObj>
          </a:graphicData>
        </a:graphic>
      </p:graphicFrame>
      <p:graphicFrame>
        <p:nvGraphicFramePr>
          <p:cNvPr id="67591" name="Object 3"/>
          <p:cNvGraphicFramePr>
            <a:graphicFrameLocks noChangeAspect="1"/>
          </p:cNvGraphicFramePr>
          <p:nvPr/>
        </p:nvGraphicFramePr>
        <p:xfrm>
          <a:off x="703734" y="6021288"/>
          <a:ext cx="1924050" cy="598487"/>
        </p:xfrm>
        <a:graphic>
          <a:graphicData uri="http://schemas.openxmlformats.org/presentationml/2006/ole">
            <p:oleObj spid="_x0000_s87046" name="Equation" r:id="rId7" imgW="774364" imgH="241195" progId="Equation.DSMT4">
              <p:embed/>
            </p:oleObj>
          </a:graphicData>
        </a:graphic>
      </p:graphicFrame>
      <p:graphicFrame>
        <p:nvGraphicFramePr>
          <p:cNvPr id="1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215353147"/>
              </p:ext>
            </p:extLst>
          </p:nvPr>
        </p:nvGraphicFramePr>
        <p:xfrm>
          <a:off x="2597150" y="1318464"/>
          <a:ext cx="3617913" cy="574675"/>
        </p:xfrm>
        <a:graphic>
          <a:graphicData uri="http://schemas.openxmlformats.org/presentationml/2006/ole">
            <p:oleObj spid="_x0000_s87047" name="Equation" r:id="rId8" imgW="1358640" imgH="21564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2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67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42" name="Text Box 3"/>
          <p:cNvSpPr txBox="1">
            <a:spLocks noChangeArrowheads="1"/>
          </p:cNvSpPr>
          <p:nvPr/>
        </p:nvSpPr>
        <p:spPr bwMode="auto">
          <a:xfrm>
            <a:off x="228600" y="1315194"/>
            <a:ext cx="8534400" cy="525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  <a:spcBef>
                <a:spcPct val="50000"/>
              </a:spcBef>
            </a:pPr>
            <a:r>
              <a:rPr lang="en-US" altLang="zh-CN" sz="2800" b="1">
                <a:solidFill>
                  <a:srgbClr val="3333CC"/>
                </a:solidFill>
              </a:rPr>
              <a:t>1. </a:t>
            </a:r>
            <a:r>
              <a:rPr lang="zh-CN" altLang="en-US" sz="2800" b="1">
                <a:solidFill>
                  <a:srgbClr val="3333CC"/>
                </a:solidFill>
              </a:rPr>
              <a:t>自由度</a:t>
            </a:r>
            <a:endParaRPr kumimoji="1" lang="zh-CN" altLang="en-US" sz="2800" b="1">
              <a:solidFill>
                <a:srgbClr val="040000"/>
              </a:solidFill>
              <a:latin typeface="Century Schoolbook" pitchFamily="18" charset="0"/>
            </a:endParaRPr>
          </a:p>
        </p:txBody>
      </p:sp>
      <p:graphicFrame>
        <p:nvGraphicFramePr>
          <p:cNvPr id="245764" name="Object 4"/>
          <p:cNvGraphicFramePr>
            <a:graphicFrameLocks noChangeAspect="1"/>
          </p:cNvGraphicFramePr>
          <p:nvPr/>
        </p:nvGraphicFramePr>
        <p:xfrm>
          <a:off x="1403350" y="3474570"/>
          <a:ext cx="1944514" cy="576928"/>
        </p:xfrm>
        <a:graphic>
          <a:graphicData uri="http://schemas.openxmlformats.org/presentationml/2006/ole">
            <p:oleObj spid="_x0000_s99330" name="Equation" r:id="rId3" imgW="507960" imgH="164880" progId="Equation.3">
              <p:embed/>
            </p:oleObj>
          </a:graphicData>
        </a:graphic>
      </p:graphicFrame>
      <p:sp>
        <p:nvSpPr>
          <p:cNvPr id="245765" name="Text Box 5"/>
          <p:cNvSpPr txBox="1">
            <a:spLocks noChangeArrowheads="1"/>
          </p:cNvSpPr>
          <p:nvPr/>
        </p:nvSpPr>
        <p:spPr bwMode="auto">
          <a:xfrm>
            <a:off x="273050" y="2395314"/>
            <a:ext cx="5181600" cy="5191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>
                <a:solidFill>
                  <a:srgbClr val="3333CC"/>
                </a:solidFill>
              </a:rPr>
              <a:t>2. </a:t>
            </a:r>
            <a:r>
              <a:rPr lang="zh-CN" altLang="en-US" sz="2800" b="1">
                <a:solidFill>
                  <a:srgbClr val="3333CC"/>
                </a:solidFill>
              </a:rPr>
              <a:t>气体分子的自由度数目</a:t>
            </a:r>
          </a:p>
        </p:txBody>
      </p:sp>
      <p:sp>
        <p:nvSpPr>
          <p:cNvPr id="245766" name="Rectangle 6"/>
          <p:cNvSpPr>
            <a:spLocks noChangeArrowheads="1"/>
          </p:cNvSpPr>
          <p:nvPr/>
        </p:nvSpPr>
        <p:spPr bwMode="auto">
          <a:xfrm>
            <a:off x="304800" y="2939755"/>
            <a:ext cx="79121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zh-CN" altLang="en-US" sz="2800" b="1" dirty="0">
                <a:solidFill>
                  <a:srgbClr val="FF0000"/>
                </a:solidFill>
                <a:latin typeface="Century Schoolbook" pitchFamily="18" charset="0"/>
              </a:rPr>
              <a:t>刚性</a:t>
            </a:r>
            <a:r>
              <a:rPr kumimoji="1" lang="zh-CN" altLang="en-US" sz="2800" b="1" dirty="0">
                <a:solidFill>
                  <a:srgbClr val="040000"/>
                </a:solidFill>
                <a:latin typeface="Century Schoolbook" pitchFamily="18" charset="0"/>
              </a:rPr>
              <a:t>气体分子的</a:t>
            </a:r>
            <a:r>
              <a:rPr kumimoji="1" lang="zh-CN" altLang="en-US" sz="2800" b="1" dirty="0">
                <a:solidFill>
                  <a:srgbClr val="FF0000"/>
                </a:solidFill>
                <a:latin typeface="Century Schoolbook" pitchFamily="18" charset="0"/>
              </a:rPr>
              <a:t>自由度</a:t>
            </a:r>
            <a:r>
              <a:rPr kumimoji="1" lang="en-US" altLang="zh-CN" sz="2800" b="1" dirty="0">
                <a:solidFill>
                  <a:srgbClr val="040000"/>
                </a:solidFill>
                <a:latin typeface="Century Schoolbook" pitchFamily="18" charset="0"/>
              </a:rPr>
              <a:t>=</a:t>
            </a:r>
            <a:r>
              <a:rPr kumimoji="1" lang="zh-CN" altLang="en-US" sz="2800" b="1" dirty="0">
                <a:solidFill>
                  <a:srgbClr val="FF0000"/>
                </a:solidFill>
                <a:latin typeface="Century Schoolbook" pitchFamily="18" charset="0"/>
              </a:rPr>
              <a:t>平动</a:t>
            </a:r>
            <a:r>
              <a:rPr kumimoji="1" lang="zh-CN" altLang="en-US" sz="2800" b="1" dirty="0">
                <a:solidFill>
                  <a:srgbClr val="040000"/>
                </a:solidFill>
                <a:latin typeface="Century Schoolbook" pitchFamily="18" charset="0"/>
              </a:rPr>
              <a:t>自由度</a:t>
            </a:r>
            <a:r>
              <a:rPr kumimoji="1" lang="en-US" altLang="zh-CN" sz="2800" b="1" dirty="0">
                <a:solidFill>
                  <a:srgbClr val="040000"/>
                </a:solidFill>
                <a:latin typeface="Century Schoolbook" pitchFamily="18" charset="0"/>
              </a:rPr>
              <a:t>+</a:t>
            </a:r>
            <a:r>
              <a:rPr kumimoji="1" lang="zh-CN" altLang="en-US" sz="2800" b="1" dirty="0">
                <a:solidFill>
                  <a:srgbClr val="FF0000"/>
                </a:solidFill>
                <a:latin typeface="Century Schoolbook" pitchFamily="18" charset="0"/>
              </a:rPr>
              <a:t>转动</a:t>
            </a:r>
            <a:r>
              <a:rPr kumimoji="1" lang="zh-CN" altLang="en-US" sz="2800" b="1" dirty="0">
                <a:solidFill>
                  <a:srgbClr val="040000"/>
                </a:solidFill>
                <a:latin typeface="Century Schoolbook" pitchFamily="18" charset="0"/>
              </a:rPr>
              <a:t>自由度</a:t>
            </a:r>
          </a:p>
        </p:txBody>
      </p:sp>
      <p:sp>
        <p:nvSpPr>
          <p:cNvPr id="245767" name="Text Box 7"/>
          <p:cNvSpPr txBox="1">
            <a:spLocks noChangeArrowheads="1"/>
          </p:cNvSpPr>
          <p:nvPr/>
        </p:nvSpPr>
        <p:spPr bwMode="auto">
          <a:xfrm>
            <a:off x="107950" y="4123506"/>
            <a:ext cx="3810000" cy="519112"/>
          </a:xfrm>
          <a:prstGeom prst="rect">
            <a:avLst/>
          </a:prstGeom>
          <a:noFill/>
          <a:ln w="19050">
            <a:noFill/>
            <a:miter lim="800000"/>
            <a:headEnd/>
            <a:tailEnd type="none" w="med" len="lg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rgbClr val="C00000"/>
                </a:solidFill>
                <a:latin typeface="Century Schoolbook" pitchFamily="18" charset="0"/>
              </a:rPr>
              <a:t>（</a:t>
            </a:r>
            <a:r>
              <a:rPr kumimoji="1" lang="en-US" altLang="zh-CN" sz="2800" b="1">
                <a:solidFill>
                  <a:srgbClr val="C00000"/>
                </a:solidFill>
                <a:latin typeface="Century Schoolbook" pitchFamily="18" charset="0"/>
              </a:rPr>
              <a:t>1</a:t>
            </a:r>
            <a:r>
              <a:rPr kumimoji="1" lang="zh-CN" altLang="en-US" sz="2800" b="1">
                <a:solidFill>
                  <a:srgbClr val="C00000"/>
                </a:solidFill>
                <a:latin typeface="Century Schoolbook" pitchFamily="18" charset="0"/>
              </a:rPr>
              <a:t>）单原子分子气体</a:t>
            </a:r>
          </a:p>
        </p:txBody>
      </p:sp>
      <p:sp>
        <p:nvSpPr>
          <p:cNvPr id="245769" name="Text Box 9"/>
          <p:cNvSpPr txBox="1">
            <a:spLocks noChangeArrowheads="1"/>
          </p:cNvSpPr>
          <p:nvPr/>
        </p:nvSpPr>
        <p:spPr bwMode="auto">
          <a:xfrm>
            <a:off x="355600" y="4756522"/>
            <a:ext cx="3124200" cy="519112"/>
          </a:xfrm>
          <a:prstGeom prst="rect">
            <a:avLst/>
          </a:prstGeom>
          <a:noFill/>
          <a:ln w="19050">
            <a:noFill/>
            <a:miter lim="800000"/>
            <a:headEnd/>
            <a:tailEnd type="none" w="med" len="lg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rgbClr val="040000"/>
                </a:solidFill>
                <a:latin typeface="Century Schoolbook" pitchFamily="18" charset="0"/>
              </a:rPr>
              <a:t>平动自由度</a:t>
            </a:r>
          </a:p>
        </p:txBody>
      </p:sp>
      <p:graphicFrame>
        <p:nvGraphicFramePr>
          <p:cNvPr id="245770" name="Object 10"/>
          <p:cNvGraphicFramePr>
            <a:graphicFrameLocks noChangeAspect="1"/>
          </p:cNvGraphicFramePr>
          <p:nvPr/>
        </p:nvGraphicFramePr>
        <p:xfrm>
          <a:off x="2308225" y="4832722"/>
          <a:ext cx="901700" cy="381000"/>
        </p:xfrm>
        <a:graphic>
          <a:graphicData uri="http://schemas.openxmlformats.org/presentationml/2006/ole">
            <p:oleObj spid="_x0000_s99331" name="公式" r:id="rId4" imgW="901440" imgH="380880" progId="Equation.3">
              <p:embed/>
            </p:oleObj>
          </a:graphicData>
        </a:graphic>
      </p:graphicFrame>
      <p:sp>
        <p:nvSpPr>
          <p:cNvPr id="245771" name="Text Box 11"/>
          <p:cNvSpPr txBox="1">
            <a:spLocks noChangeArrowheads="1"/>
          </p:cNvSpPr>
          <p:nvPr/>
        </p:nvSpPr>
        <p:spPr bwMode="auto">
          <a:xfrm>
            <a:off x="393700" y="5347642"/>
            <a:ext cx="2057400" cy="519112"/>
          </a:xfrm>
          <a:prstGeom prst="rect">
            <a:avLst/>
          </a:prstGeom>
          <a:noFill/>
          <a:ln w="19050">
            <a:noFill/>
            <a:miter lim="800000"/>
            <a:headEnd/>
            <a:tailEnd type="none" w="med" len="lg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rgbClr val="040000"/>
                </a:solidFill>
                <a:latin typeface="Century Schoolbook" pitchFamily="18" charset="0"/>
              </a:rPr>
              <a:t>转动自由度</a:t>
            </a:r>
          </a:p>
        </p:txBody>
      </p:sp>
      <p:graphicFrame>
        <p:nvGraphicFramePr>
          <p:cNvPr id="245772" name="Object 12"/>
          <p:cNvGraphicFramePr>
            <a:graphicFrameLocks noChangeAspect="1"/>
          </p:cNvGraphicFramePr>
          <p:nvPr/>
        </p:nvGraphicFramePr>
        <p:xfrm>
          <a:off x="2336800" y="5423842"/>
          <a:ext cx="965200" cy="381000"/>
        </p:xfrm>
        <a:graphic>
          <a:graphicData uri="http://schemas.openxmlformats.org/presentationml/2006/ole">
            <p:oleObj spid="_x0000_s99332" name="公式" r:id="rId5" imgW="965160" imgH="380880" progId="Equation.3">
              <p:embed/>
            </p:oleObj>
          </a:graphicData>
        </a:graphic>
      </p:graphicFrame>
      <p:graphicFrame>
        <p:nvGraphicFramePr>
          <p:cNvPr id="245773" name="Object 13"/>
          <p:cNvGraphicFramePr>
            <a:graphicFrameLocks noChangeAspect="1"/>
          </p:cNvGraphicFramePr>
          <p:nvPr/>
        </p:nvGraphicFramePr>
        <p:xfrm>
          <a:off x="2011363" y="5995044"/>
          <a:ext cx="3280717" cy="372146"/>
        </p:xfrm>
        <a:graphic>
          <a:graphicData uri="http://schemas.openxmlformats.org/presentationml/2006/ole">
            <p:oleObj spid="_x0000_s99333" name="公式" r:id="rId6" imgW="3568680" imgH="406080" progId="Equation.3">
              <p:embed/>
            </p:oleObj>
          </a:graphicData>
        </a:graphic>
      </p:graphicFrame>
      <p:sp>
        <p:nvSpPr>
          <p:cNvPr id="245774" name="Text Box 14"/>
          <p:cNvSpPr txBox="1">
            <a:spLocks noChangeArrowheads="1"/>
          </p:cNvSpPr>
          <p:nvPr/>
        </p:nvSpPr>
        <p:spPr bwMode="auto">
          <a:xfrm>
            <a:off x="373063" y="5923706"/>
            <a:ext cx="2590800" cy="519113"/>
          </a:xfrm>
          <a:prstGeom prst="rect">
            <a:avLst/>
          </a:prstGeom>
          <a:noFill/>
          <a:ln w="19050">
            <a:noFill/>
            <a:miter lim="800000"/>
            <a:headEnd/>
            <a:tailEnd type="none" w="med" len="lg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rgbClr val="040000"/>
                </a:solidFill>
                <a:latin typeface="Century Schoolbook" pitchFamily="18" charset="0"/>
              </a:rPr>
              <a:t>总自由度</a:t>
            </a:r>
          </a:p>
        </p:txBody>
      </p:sp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6682655" y="6192936"/>
            <a:ext cx="990600" cy="450850"/>
            <a:chOff x="3792" y="3482"/>
            <a:chExt cx="624" cy="284"/>
          </a:xfrm>
        </p:grpSpPr>
        <p:graphicFrame>
          <p:nvGraphicFramePr>
            <p:cNvPr id="22540" name="Object 16"/>
            <p:cNvGraphicFramePr>
              <a:graphicFrameLocks noChangeAspect="1"/>
            </p:cNvGraphicFramePr>
            <p:nvPr/>
          </p:nvGraphicFramePr>
          <p:xfrm>
            <a:off x="3926" y="3482"/>
            <a:ext cx="233" cy="284"/>
          </p:xfrm>
          <a:graphic>
            <a:graphicData uri="http://schemas.openxmlformats.org/presentationml/2006/ole">
              <p:oleObj spid="_x0000_s99340" name="公式" r:id="rId7" imgW="139680" imgH="164880" progId="Equation.3">
                <p:embed/>
              </p:oleObj>
            </a:graphicData>
          </a:graphic>
        </p:graphicFrame>
        <p:sp>
          <p:nvSpPr>
            <p:cNvPr id="22562" name="Line 17"/>
            <p:cNvSpPr>
              <a:spLocks noChangeShapeType="1"/>
            </p:cNvSpPr>
            <p:nvPr/>
          </p:nvSpPr>
          <p:spPr bwMode="auto">
            <a:xfrm>
              <a:off x="3792" y="3504"/>
              <a:ext cx="62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miter lim="800000"/>
              <a:headEnd/>
              <a:tailEnd/>
            </a:ln>
          </p:spPr>
          <p:txBody>
            <a:bodyPr wrap="none"/>
            <a:lstStyle/>
            <a:p>
              <a:endParaRPr kumimoji="1" lang="zh-CN" altLang="en-US" sz="2400" baseline="-25000">
                <a:solidFill>
                  <a:srgbClr val="545472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3" name="Group 18"/>
          <p:cNvGrpSpPr>
            <a:grpSpLocks/>
          </p:cNvGrpSpPr>
          <p:nvPr/>
        </p:nvGrpSpPr>
        <p:grpSpPr bwMode="auto">
          <a:xfrm>
            <a:off x="7597055" y="5770661"/>
            <a:ext cx="661988" cy="574675"/>
            <a:chOff x="4368" y="3216"/>
            <a:chExt cx="417" cy="362"/>
          </a:xfrm>
        </p:grpSpPr>
        <p:graphicFrame>
          <p:nvGraphicFramePr>
            <p:cNvPr id="22539" name="Object 19"/>
            <p:cNvGraphicFramePr>
              <a:graphicFrameLocks noChangeAspect="1"/>
            </p:cNvGraphicFramePr>
            <p:nvPr/>
          </p:nvGraphicFramePr>
          <p:xfrm>
            <a:off x="4570" y="3334"/>
            <a:ext cx="215" cy="244"/>
          </p:xfrm>
          <a:graphic>
            <a:graphicData uri="http://schemas.openxmlformats.org/presentationml/2006/ole">
              <p:oleObj spid="_x0000_s99339" name="公式" r:id="rId8" imgW="126720" imgH="139680" progId="Equation.3">
                <p:embed/>
              </p:oleObj>
            </a:graphicData>
          </a:graphic>
        </p:graphicFrame>
        <p:sp>
          <p:nvSpPr>
            <p:cNvPr id="22561" name="Line 20"/>
            <p:cNvSpPr>
              <a:spLocks noChangeShapeType="1"/>
            </p:cNvSpPr>
            <p:nvPr/>
          </p:nvSpPr>
          <p:spPr bwMode="auto">
            <a:xfrm flipV="1">
              <a:off x="4368" y="3216"/>
              <a:ext cx="384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miter lim="800000"/>
              <a:headEnd/>
              <a:tailEnd/>
            </a:ln>
          </p:spPr>
          <p:txBody>
            <a:bodyPr wrap="none"/>
            <a:lstStyle/>
            <a:p>
              <a:endParaRPr kumimoji="1" lang="zh-CN" altLang="en-US" sz="2400" baseline="-25000">
                <a:solidFill>
                  <a:srgbClr val="545472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4" name="Group 21"/>
          <p:cNvGrpSpPr>
            <a:grpSpLocks/>
          </p:cNvGrpSpPr>
          <p:nvPr/>
        </p:nvGrpSpPr>
        <p:grpSpPr bwMode="auto">
          <a:xfrm>
            <a:off x="7597055" y="5084861"/>
            <a:ext cx="333375" cy="1143000"/>
            <a:chOff x="4368" y="2784"/>
            <a:chExt cx="210" cy="720"/>
          </a:xfrm>
        </p:grpSpPr>
        <p:graphicFrame>
          <p:nvGraphicFramePr>
            <p:cNvPr id="22538" name="Object 22"/>
            <p:cNvGraphicFramePr>
              <a:graphicFrameLocks noChangeAspect="1"/>
            </p:cNvGraphicFramePr>
            <p:nvPr/>
          </p:nvGraphicFramePr>
          <p:xfrm>
            <a:off x="4368" y="2928"/>
            <a:ext cx="210" cy="217"/>
          </p:xfrm>
          <a:graphic>
            <a:graphicData uri="http://schemas.openxmlformats.org/presentationml/2006/ole">
              <p:oleObj spid="_x0000_s99338" name="Equation" r:id="rId9" imgW="126720" imgH="126720" progId="Equation.3">
                <p:embed/>
              </p:oleObj>
            </a:graphicData>
          </a:graphic>
        </p:graphicFrame>
        <p:sp>
          <p:nvSpPr>
            <p:cNvPr id="22560" name="Line 23"/>
            <p:cNvSpPr>
              <a:spLocks noChangeShapeType="1"/>
            </p:cNvSpPr>
            <p:nvPr/>
          </p:nvSpPr>
          <p:spPr bwMode="auto">
            <a:xfrm flipV="1">
              <a:off x="4368" y="2784"/>
              <a:ext cx="0" cy="72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miter lim="800000"/>
              <a:headEnd/>
              <a:tailEnd/>
            </a:ln>
          </p:spPr>
          <p:txBody>
            <a:bodyPr wrap="none"/>
            <a:lstStyle/>
            <a:p>
              <a:endParaRPr kumimoji="1" lang="zh-CN" altLang="en-US" sz="2400" baseline="-25000">
                <a:solidFill>
                  <a:srgbClr val="545472"/>
                </a:solidFill>
                <a:latin typeface="Times New Roman" pitchFamily="18" charset="0"/>
              </a:endParaRPr>
            </a:p>
          </p:txBody>
        </p:sp>
      </p:grpSp>
      <p:sp>
        <p:nvSpPr>
          <p:cNvPr id="245784" name="Oval 24"/>
          <p:cNvSpPr>
            <a:spLocks noChangeArrowheads="1"/>
          </p:cNvSpPr>
          <p:nvPr/>
        </p:nvSpPr>
        <p:spPr bwMode="auto">
          <a:xfrm>
            <a:off x="7481168" y="4932461"/>
            <a:ext cx="228600" cy="228600"/>
          </a:xfrm>
          <a:prstGeom prst="ellipse">
            <a:avLst/>
          </a:prstGeom>
          <a:gradFill rotWithShape="0">
            <a:gsLst>
              <a:gs pos="0">
                <a:srgbClr val="FF0000"/>
              </a:gs>
              <a:gs pos="100000">
                <a:srgbClr val="8F00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kumimoji="1" lang="zh-CN" altLang="en-US" sz="2400" b="1" baseline="-25000">
              <a:solidFill>
                <a:srgbClr val="545472"/>
              </a:solidFill>
              <a:latin typeface="Times New Roman" pitchFamily="18" charset="0"/>
            </a:endParaRPr>
          </a:p>
        </p:txBody>
      </p:sp>
      <p:grpSp>
        <p:nvGrpSpPr>
          <p:cNvPr id="5" name="Group 25"/>
          <p:cNvGrpSpPr>
            <a:grpSpLocks/>
          </p:cNvGrpSpPr>
          <p:nvPr/>
        </p:nvGrpSpPr>
        <p:grpSpPr bwMode="auto">
          <a:xfrm>
            <a:off x="6084168" y="4127599"/>
            <a:ext cx="3076575" cy="2487612"/>
            <a:chOff x="3415" y="2181"/>
            <a:chExt cx="1938" cy="1567"/>
          </a:xfrm>
        </p:grpSpPr>
        <p:graphicFrame>
          <p:nvGraphicFramePr>
            <p:cNvPr id="22534" name="Object 26"/>
            <p:cNvGraphicFramePr>
              <a:graphicFrameLocks noChangeAspect="1"/>
            </p:cNvGraphicFramePr>
            <p:nvPr/>
          </p:nvGraphicFramePr>
          <p:xfrm>
            <a:off x="3989" y="3048"/>
            <a:ext cx="187" cy="216"/>
          </p:xfrm>
          <a:graphic>
            <a:graphicData uri="http://schemas.openxmlformats.org/presentationml/2006/ole">
              <p:oleObj spid="_x0000_s99334" name="Equation" r:id="rId10" imgW="164880" imgH="190440" progId="Equation.3">
                <p:embed/>
              </p:oleObj>
            </a:graphicData>
          </a:graphic>
        </p:graphicFrame>
        <p:grpSp>
          <p:nvGrpSpPr>
            <p:cNvPr id="6" name="Group 27"/>
            <p:cNvGrpSpPr>
              <a:grpSpLocks/>
            </p:cNvGrpSpPr>
            <p:nvPr/>
          </p:nvGrpSpPr>
          <p:grpSpPr bwMode="auto">
            <a:xfrm>
              <a:off x="3415" y="2181"/>
              <a:ext cx="1938" cy="1567"/>
              <a:chOff x="3415" y="2181"/>
              <a:chExt cx="1938" cy="1567"/>
            </a:xfrm>
          </p:grpSpPr>
          <p:sp>
            <p:nvSpPr>
              <p:cNvPr id="22557" name="Line 28"/>
              <p:cNvSpPr>
                <a:spLocks noChangeShapeType="1"/>
              </p:cNvSpPr>
              <p:nvPr/>
            </p:nvSpPr>
            <p:spPr bwMode="auto">
              <a:xfrm>
                <a:off x="4224" y="2400"/>
                <a:ext cx="0" cy="81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 type="triangle" w="sm" len="lg"/>
                <a:tailEnd/>
              </a:ln>
            </p:spPr>
            <p:txBody>
              <a:bodyPr wrap="none" anchor="ctr"/>
              <a:lstStyle/>
              <a:p>
                <a:endParaRPr kumimoji="1" lang="zh-CN" altLang="en-US" sz="2400" baseline="-25000">
                  <a:solidFill>
                    <a:srgbClr val="545472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22558" name="Line 29"/>
              <p:cNvSpPr>
                <a:spLocks noChangeShapeType="1"/>
              </p:cNvSpPr>
              <p:nvPr/>
            </p:nvSpPr>
            <p:spPr bwMode="auto">
              <a:xfrm flipH="1">
                <a:off x="4224" y="3216"/>
                <a:ext cx="864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 type="triangle" w="sm" len="lg"/>
                <a:tailEnd/>
              </a:ln>
            </p:spPr>
            <p:txBody>
              <a:bodyPr wrap="none" anchor="ctr"/>
              <a:lstStyle/>
              <a:p>
                <a:endParaRPr kumimoji="1" lang="zh-CN" altLang="en-US" sz="2400" baseline="-25000">
                  <a:solidFill>
                    <a:srgbClr val="545472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22559" name="Line 30"/>
              <p:cNvSpPr>
                <a:spLocks noChangeShapeType="1"/>
              </p:cNvSpPr>
              <p:nvPr/>
            </p:nvSpPr>
            <p:spPr bwMode="auto">
              <a:xfrm flipV="1">
                <a:off x="3552" y="3216"/>
                <a:ext cx="672" cy="43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 type="triangle" w="sm" len="lg"/>
                <a:tailEnd/>
              </a:ln>
            </p:spPr>
            <p:txBody>
              <a:bodyPr wrap="none" anchor="ctr"/>
              <a:lstStyle/>
              <a:p>
                <a:endParaRPr kumimoji="1" lang="zh-CN" altLang="en-US" sz="2400" baseline="-25000">
                  <a:solidFill>
                    <a:srgbClr val="545472"/>
                  </a:solidFill>
                  <a:latin typeface="Times New Roman" pitchFamily="18" charset="0"/>
                </a:endParaRPr>
              </a:p>
            </p:txBody>
          </p:sp>
          <p:graphicFrame>
            <p:nvGraphicFramePr>
              <p:cNvPr id="22535" name="Object 31"/>
              <p:cNvGraphicFramePr>
                <a:graphicFrameLocks noChangeAspect="1"/>
              </p:cNvGraphicFramePr>
              <p:nvPr/>
            </p:nvGraphicFramePr>
            <p:xfrm>
              <a:off x="5120" y="3109"/>
              <a:ext cx="233" cy="275"/>
            </p:xfrm>
            <a:graphic>
              <a:graphicData uri="http://schemas.openxmlformats.org/presentationml/2006/ole">
                <p:oleObj spid="_x0000_s99335" name="公式" r:id="rId11" imgW="139680" imgH="164880" progId="Equation.3">
                  <p:embed/>
                </p:oleObj>
              </a:graphicData>
            </a:graphic>
          </p:graphicFrame>
          <p:graphicFrame>
            <p:nvGraphicFramePr>
              <p:cNvPr id="22536" name="Object 32"/>
              <p:cNvGraphicFramePr>
                <a:graphicFrameLocks noChangeAspect="1"/>
              </p:cNvGraphicFramePr>
              <p:nvPr/>
            </p:nvGraphicFramePr>
            <p:xfrm>
              <a:off x="3415" y="3515"/>
              <a:ext cx="211" cy="233"/>
            </p:xfrm>
            <a:graphic>
              <a:graphicData uri="http://schemas.openxmlformats.org/presentationml/2006/ole">
                <p:oleObj spid="_x0000_s99336" name="公式" r:id="rId12" imgW="126720" imgH="139680" progId="Equation.3">
                  <p:embed/>
                </p:oleObj>
              </a:graphicData>
            </a:graphic>
          </p:graphicFrame>
          <p:graphicFrame>
            <p:nvGraphicFramePr>
              <p:cNvPr id="22537" name="Object 33"/>
              <p:cNvGraphicFramePr>
                <a:graphicFrameLocks noChangeAspect="1"/>
              </p:cNvGraphicFramePr>
              <p:nvPr/>
            </p:nvGraphicFramePr>
            <p:xfrm>
              <a:off x="4053" y="2181"/>
              <a:ext cx="212" cy="212"/>
            </p:xfrm>
            <a:graphic>
              <a:graphicData uri="http://schemas.openxmlformats.org/presentationml/2006/ole">
                <p:oleObj spid="_x0000_s99337" name="公式" r:id="rId13" imgW="126720" imgH="126720" progId="Equation.3">
                  <p:embed/>
                </p:oleObj>
              </a:graphicData>
            </a:graphic>
          </p:graphicFrame>
        </p:grpSp>
      </p:grpSp>
      <p:sp>
        <p:nvSpPr>
          <p:cNvPr id="22554" name="Text Box 35"/>
          <p:cNvSpPr txBox="1">
            <a:spLocks noChangeArrowheads="1"/>
          </p:cNvSpPr>
          <p:nvPr/>
        </p:nvSpPr>
        <p:spPr bwMode="auto">
          <a:xfrm>
            <a:off x="620713" y="1826369"/>
            <a:ext cx="8534400" cy="50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  <a:spcBef>
                <a:spcPct val="50000"/>
              </a:spcBef>
            </a:pPr>
            <a:r>
              <a:rPr kumimoji="1" lang="zh-CN" altLang="en-US" sz="2800" b="1">
                <a:solidFill>
                  <a:srgbClr val="040000"/>
                </a:solidFill>
                <a:latin typeface="Century Schoolbook" pitchFamily="18" charset="0"/>
              </a:rPr>
              <a:t>自由度是描写物体在空间位置所需的</a:t>
            </a:r>
            <a:r>
              <a:rPr kumimoji="1" lang="zh-CN" altLang="en-US" sz="2800" b="1">
                <a:solidFill>
                  <a:srgbClr val="FF0000"/>
                </a:solidFill>
                <a:latin typeface="Century Schoolbook" pitchFamily="18" charset="0"/>
              </a:rPr>
              <a:t>独立坐标数</a:t>
            </a:r>
            <a:r>
              <a:rPr kumimoji="1" lang="en-US" altLang="zh-CN" sz="2800" b="1">
                <a:solidFill>
                  <a:srgbClr val="040000"/>
                </a:solidFill>
                <a:latin typeface="Century Schoolbook" pitchFamily="18" charset="0"/>
              </a:rPr>
              <a:t>.</a:t>
            </a:r>
          </a:p>
        </p:txBody>
      </p:sp>
      <p:sp>
        <p:nvSpPr>
          <p:cNvPr id="35" name="TextBox 53"/>
          <p:cNvSpPr txBox="1">
            <a:spLocks noChangeArrowheads="1"/>
          </p:cNvSpPr>
          <p:nvPr/>
        </p:nvSpPr>
        <p:spPr bwMode="auto">
          <a:xfrm>
            <a:off x="432048" y="91058"/>
            <a:ext cx="846043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3000" b="1" dirty="0" smtClean="0"/>
              <a:t>§5-5 </a:t>
            </a:r>
            <a:r>
              <a:rPr lang="zh-CN" altLang="en-US" sz="3000" b="1" dirty="0" smtClean="0"/>
              <a:t>能量均分定理与理想气体的内能</a:t>
            </a:r>
            <a:endParaRPr lang="zh-CN" altLang="en-US" sz="3000" b="1" dirty="0"/>
          </a:p>
        </p:txBody>
      </p:sp>
      <p:sp>
        <p:nvSpPr>
          <p:cNvPr id="36" name="矩形 35"/>
          <p:cNvSpPr/>
          <p:nvPr/>
        </p:nvSpPr>
        <p:spPr>
          <a:xfrm>
            <a:off x="179512" y="791974"/>
            <a:ext cx="417646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一、气体分子的自由度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5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5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45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45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45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45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45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45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245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45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65" grpId="0" autoUpdateAnimBg="0"/>
      <p:bldP spid="245766" grpId="0" autoUpdateAnimBg="0"/>
      <p:bldP spid="245767" grpId="0" autoUpdateAnimBg="0"/>
      <p:bldP spid="245769" grpId="0" autoUpdateAnimBg="0"/>
      <p:bldP spid="245771" grpId="0" autoUpdateAnimBg="0"/>
      <p:bldP spid="245774" grpId="0" autoUpdateAnimBg="0"/>
      <p:bldP spid="24578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69" name="Text Box 2"/>
          <p:cNvSpPr txBox="1">
            <a:spLocks noChangeArrowheads="1"/>
          </p:cNvSpPr>
          <p:nvPr/>
        </p:nvSpPr>
        <p:spPr bwMode="auto">
          <a:xfrm>
            <a:off x="34925" y="333375"/>
            <a:ext cx="3810000" cy="519113"/>
          </a:xfrm>
          <a:prstGeom prst="rect">
            <a:avLst/>
          </a:prstGeom>
          <a:noFill/>
          <a:ln w="19050">
            <a:noFill/>
            <a:miter lim="800000"/>
            <a:headEnd/>
            <a:tailEnd type="none" w="med" len="lg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rgbClr val="C00000"/>
                </a:solidFill>
                <a:latin typeface="Century Schoolbook" pitchFamily="18" charset="0"/>
              </a:rPr>
              <a:t>（</a:t>
            </a:r>
            <a:r>
              <a:rPr kumimoji="1" lang="en-US" altLang="zh-CN" sz="2800" b="1">
                <a:solidFill>
                  <a:srgbClr val="C00000"/>
                </a:solidFill>
                <a:latin typeface="Century Schoolbook" pitchFamily="18" charset="0"/>
              </a:rPr>
              <a:t>2</a:t>
            </a:r>
            <a:r>
              <a:rPr kumimoji="1" lang="zh-CN" altLang="en-US" sz="2800" b="1">
                <a:solidFill>
                  <a:srgbClr val="C00000"/>
                </a:solidFill>
                <a:latin typeface="Century Schoolbook" pitchFamily="18" charset="0"/>
              </a:rPr>
              <a:t>）双原子分子气体</a:t>
            </a:r>
          </a:p>
        </p:txBody>
      </p:sp>
      <p:sp>
        <p:nvSpPr>
          <p:cNvPr id="23570" name="Text Box 4"/>
          <p:cNvSpPr txBox="1">
            <a:spLocks noChangeArrowheads="1"/>
          </p:cNvSpPr>
          <p:nvPr/>
        </p:nvSpPr>
        <p:spPr bwMode="auto">
          <a:xfrm>
            <a:off x="304800" y="1196975"/>
            <a:ext cx="3124200" cy="519113"/>
          </a:xfrm>
          <a:prstGeom prst="rect">
            <a:avLst/>
          </a:prstGeom>
          <a:noFill/>
          <a:ln w="19050">
            <a:noFill/>
            <a:miter lim="800000"/>
            <a:headEnd/>
            <a:tailEnd type="none" w="med" len="lg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rgbClr val="040000"/>
                </a:solidFill>
                <a:latin typeface="Century Schoolbook" pitchFamily="18" charset="0"/>
              </a:rPr>
              <a:t>平动自由度</a:t>
            </a:r>
          </a:p>
        </p:txBody>
      </p:sp>
      <p:graphicFrame>
        <p:nvGraphicFramePr>
          <p:cNvPr id="246789" name="Object 5"/>
          <p:cNvGraphicFramePr>
            <a:graphicFrameLocks noChangeAspect="1"/>
          </p:cNvGraphicFramePr>
          <p:nvPr/>
        </p:nvGraphicFramePr>
        <p:xfrm>
          <a:off x="2514600" y="1273175"/>
          <a:ext cx="901700" cy="381000"/>
        </p:xfrm>
        <a:graphic>
          <a:graphicData uri="http://schemas.openxmlformats.org/presentationml/2006/ole">
            <p:oleObj spid="_x0000_s100354" name="公式" r:id="rId4" imgW="901440" imgH="380880" progId="Equation.3">
              <p:embed/>
            </p:oleObj>
          </a:graphicData>
        </a:graphic>
      </p:graphicFrame>
      <p:sp>
        <p:nvSpPr>
          <p:cNvPr id="246790" name="Text Box 6"/>
          <p:cNvSpPr txBox="1">
            <a:spLocks noChangeArrowheads="1"/>
          </p:cNvSpPr>
          <p:nvPr/>
        </p:nvSpPr>
        <p:spPr bwMode="auto">
          <a:xfrm>
            <a:off x="304800" y="1989138"/>
            <a:ext cx="3124200" cy="519112"/>
          </a:xfrm>
          <a:prstGeom prst="rect">
            <a:avLst/>
          </a:prstGeom>
          <a:noFill/>
          <a:ln w="19050">
            <a:noFill/>
            <a:miter lim="800000"/>
            <a:headEnd/>
            <a:tailEnd type="none" w="med" len="lg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rgbClr val="040000"/>
                </a:solidFill>
                <a:latin typeface="Century Schoolbook" pitchFamily="18" charset="0"/>
              </a:rPr>
              <a:t>转动自由度</a:t>
            </a:r>
          </a:p>
        </p:txBody>
      </p:sp>
      <p:graphicFrame>
        <p:nvGraphicFramePr>
          <p:cNvPr id="246791" name="Object 7"/>
          <p:cNvGraphicFramePr>
            <a:graphicFrameLocks noChangeAspect="1"/>
          </p:cNvGraphicFramePr>
          <p:nvPr/>
        </p:nvGraphicFramePr>
        <p:xfrm>
          <a:off x="2514600" y="2065338"/>
          <a:ext cx="965200" cy="368300"/>
        </p:xfrm>
        <a:graphic>
          <a:graphicData uri="http://schemas.openxmlformats.org/presentationml/2006/ole">
            <p:oleObj spid="_x0000_s100355" name="公式" r:id="rId5" imgW="965160" imgH="368280" progId="Equation.3">
              <p:embed/>
            </p:oleObj>
          </a:graphicData>
        </a:graphic>
      </p:graphicFrame>
      <p:graphicFrame>
        <p:nvGraphicFramePr>
          <p:cNvPr id="246792" name="Object 8"/>
          <p:cNvGraphicFramePr>
            <a:graphicFrameLocks noChangeAspect="1"/>
          </p:cNvGraphicFramePr>
          <p:nvPr/>
        </p:nvGraphicFramePr>
        <p:xfrm>
          <a:off x="1979613" y="2881313"/>
          <a:ext cx="3568700" cy="404812"/>
        </p:xfrm>
        <a:graphic>
          <a:graphicData uri="http://schemas.openxmlformats.org/presentationml/2006/ole">
            <p:oleObj spid="_x0000_s100356" name="公式" r:id="rId6" imgW="3568680" imgH="406080" progId="Equation.3">
              <p:embed/>
            </p:oleObj>
          </a:graphicData>
        </a:graphic>
      </p:graphicFrame>
      <p:sp>
        <p:nvSpPr>
          <p:cNvPr id="246793" name="Text Box 9"/>
          <p:cNvSpPr txBox="1">
            <a:spLocks noChangeArrowheads="1"/>
          </p:cNvSpPr>
          <p:nvPr/>
        </p:nvSpPr>
        <p:spPr bwMode="auto">
          <a:xfrm>
            <a:off x="304800" y="2838450"/>
            <a:ext cx="2590800" cy="519113"/>
          </a:xfrm>
          <a:prstGeom prst="rect">
            <a:avLst/>
          </a:prstGeom>
          <a:noFill/>
          <a:ln w="19050">
            <a:noFill/>
            <a:miter lim="800000"/>
            <a:headEnd/>
            <a:tailEnd type="none" w="med" len="lg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rgbClr val="040000"/>
                </a:solidFill>
                <a:latin typeface="Century Schoolbook" pitchFamily="18" charset="0"/>
              </a:rPr>
              <a:t>总自由度</a:t>
            </a:r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 rot="-8089462">
            <a:off x="7753350" y="3219450"/>
            <a:ext cx="152400" cy="838200"/>
            <a:chOff x="3616" y="1584"/>
            <a:chExt cx="152" cy="912"/>
          </a:xfrm>
        </p:grpSpPr>
        <p:sp>
          <p:nvSpPr>
            <p:cNvPr id="23592" name="Oval 11"/>
            <p:cNvSpPr>
              <a:spLocks noChangeArrowheads="1"/>
            </p:cNvSpPr>
            <p:nvPr/>
          </p:nvSpPr>
          <p:spPr bwMode="auto">
            <a:xfrm>
              <a:off x="3624" y="1584"/>
              <a:ext cx="144" cy="144"/>
            </a:xfrm>
            <a:prstGeom prst="ellipse">
              <a:avLst/>
            </a:prstGeom>
            <a:gradFill rotWithShape="0">
              <a:gsLst>
                <a:gs pos="0">
                  <a:srgbClr val="FFFF00"/>
                </a:gs>
                <a:gs pos="100000">
                  <a:srgbClr val="767600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wrap="none" anchor="ctr"/>
            <a:lstStyle/>
            <a:p>
              <a:endParaRPr kumimoji="1" lang="zh-CN" altLang="en-US" sz="2400" baseline="-25000">
                <a:solidFill>
                  <a:srgbClr val="545472"/>
                </a:solidFill>
                <a:latin typeface="Times New Roman" pitchFamily="18" charset="0"/>
              </a:endParaRPr>
            </a:p>
          </p:txBody>
        </p:sp>
        <p:sp>
          <p:nvSpPr>
            <p:cNvPr id="23593" name="Oval 12"/>
            <p:cNvSpPr>
              <a:spLocks noChangeArrowheads="1"/>
            </p:cNvSpPr>
            <p:nvPr/>
          </p:nvSpPr>
          <p:spPr bwMode="auto">
            <a:xfrm>
              <a:off x="3616" y="2352"/>
              <a:ext cx="144" cy="144"/>
            </a:xfrm>
            <a:prstGeom prst="ellipse">
              <a:avLst/>
            </a:prstGeom>
            <a:gradFill rotWithShape="0">
              <a:gsLst>
                <a:gs pos="0">
                  <a:srgbClr val="FFFF00"/>
                </a:gs>
                <a:gs pos="100000">
                  <a:srgbClr val="767600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wrap="none" anchor="ctr"/>
            <a:lstStyle/>
            <a:p>
              <a:endParaRPr kumimoji="1" lang="zh-CN" altLang="en-US" sz="2400" baseline="-25000">
                <a:solidFill>
                  <a:srgbClr val="545472"/>
                </a:solidFill>
                <a:latin typeface="Times New Roman" pitchFamily="18" charset="0"/>
              </a:endParaRPr>
            </a:p>
          </p:txBody>
        </p:sp>
        <p:sp>
          <p:nvSpPr>
            <p:cNvPr id="23594" name="Line 13"/>
            <p:cNvSpPr>
              <a:spLocks noChangeShapeType="1"/>
            </p:cNvSpPr>
            <p:nvPr/>
          </p:nvSpPr>
          <p:spPr bwMode="auto">
            <a:xfrm>
              <a:off x="3688" y="1728"/>
              <a:ext cx="0" cy="624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none" w="med" len="lg"/>
            </a:ln>
          </p:spPr>
          <p:txBody>
            <a:bodyPr wrap="none" anchor="ctr"/>
            <a:lstStyle/>
            <a:p>
              <a:endParaRPr kumimoji="1" lang="zh-CN" altLang="en-US" sz="2400" baseline="-25000">
                <a:solidFill>
                  <a:srgbClr val="545472"/>
                </a:solidFill>
                <a:latin typeface="Times New Roman" pitchFamily="18" charset="0"/>
              </a:endParaRPr>
            </a:p>
          </p:txBody>
        </p:sp>
      </p:grpSp>
      <p:sp>
        <p:nvSpPr>
          <p:cNvPr id="246798" name="Text Box 14"/>
          <p:cNvSpPr txBox="1">
            <a:spLocks noChangeArrowheads="1"/>
          </p:cNvSpPr>
          <p:nvPr/>
        </p:nvSpPr>
        <p:spPr bwMode="auto">
          <a:xfrm>
            <a:off x="34925" y="3768725"/>
            <a:ext cx="3810000" cy="519113"/>
          </a:xfrm>
          <a:prstGeom prst="rect">
            <a:avLst/>
          </a:prstGeom>
          <a:noFill/>
          <a:ln w="19050">
            <a:noFill/>
            <a:miter lim="800000"/>
            <a:headEnd/>
            <a:tailEnd type="none" w="med" len="lg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solidFill>
                  <a:srgbClr val="040000"/>
                </a:solidFill>
                <a:latin typeface="Century Schoolbook" pitchFamily="18" charset="0"/>
              </a:rPr>
              <a:t>（</a:t>
            </a:r>
            <a:r>
              <a:rPr kumimoji="1" lang="en-US" altLang="zh-CN" sz="2800">
                <a:solidFill>
                  <a:srgbClr val="040000"/>
                </a:solidFill>
                <a:latin typeface="Century Schoolbook" pitchFamily="18" charset="0"/>
              </a:rPr>
              <a:t>3</a:t>
            </a:r>
            <a:r>
              <a:rPr kumimoji="1" lang="zh-CN" altLang="en-US" sz="2800" b="1">
                <a:solidFill>
                  <a:srgbClr val="040000"/>
                </a:solidFill>
                <a:latin typeface="Century Schoolbook" pitchFamily="18" charset="0"/>
              </a:rPr>
              <a:t>）</a:t>
            </a:r>
            <a:r>
              <a:rPr kumimoji="1" lang="zh-CN" altLang="en-US" sz="2800" b="1">
                <a:solidFill>
                  <a:srgbClr val="FF0000"/>
                </a:solidFill>
                <a:latin typeface="Century Schoolbook" pitchFamily="18" charset="0"/>
              </a:rPr>
              <a:t>多</a:t>
            </a:r>
            <a:r>
              <a:rPr kumimoji="1" lang="zh-CN" altLang="en-US" sz="2800" b="1">
                <a:solidFill>
                  <a:srgbClr val="040000"/>
                </a:solidFill>
                <a:latin typeface="Century Schoolbook" pitchFamily="18" charset="0"/>
              </a:rPr>
              <a:t>原子分子气体</a:t>
            </a:r>
          </a:p>
        </p:txBody>
      </p:sp>
      <p:sp>
        <p:nvSpPr>
          <p:cNvPr id="246800" name="Text Box 16"/>
          <p:cNvSpPr txBox="1">
            <a:spLocks noChangeArrowheads="1"/>
          </p:cNvSpPr>
          <p:nvPr/>
        </p:nvSpPr>
        <p:spPr bwMode="auto">
          <a:xfrm>
            <a:off x="381000" y="4508500"/>
            <a:ext cx="3124200" cy="519113"/>
          </a:xfrm>
          <a:prstGeom prst="rect">
            <a:avLst/>
          </a:prstGeom>
          <a:noFill/>
          <a:ln w="19050">
            <a:noFill/>
            <a:miter lim="800000"/>
            <a:headEnd/>
            <a:tailEnd type="none" w="med" len="lg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rgbClr val="040000"/>
                </a:solidFill>
                <a:latin typeface="Century Schoolbook" pitchFamily="18" charset="0"/>
              </a:rPr>
              <a:t>平动自由度</a:t>
            </a:r>
          </a:p>
        </p:txBody>
      </p:sp>
      <p:graphicFrame>
        <p:nvGraphicFramePr>
          <p:cNvPr id="246801" name="Object 17"/>
          <p:cNvGraphicFramePr>
            <a:graphicFrameLocks noChangeAspect="1"/>
          </p:cNvGraphicFramePr>
          <p:nvPr/>
        </p:nvGraphicFramePr>
        <p:xfrm>
          <a:off x="2667000" y="4610100"/>
          <a:ext cx="901700" cy="381000"/>
        </p:xfrm>
        <a:graphic>
          <a:graphicData uri="http://schemas.openxmlformats.org/presentationml/2006/ole">
            <p:oleObj spid="_x0000_s100357" name="公式" r:id="rId7" imgW="901440" imgH="380880" progId="Equation.3">
              <p:embed/>
            </p:oleObj>
          </a:graphicData>
        </a:graphic>
      </p:graphicFrame>
      <p:sp>
        <p:nvSpPr>
          <p:cNvPr id="246802" name="Text Box 18"/>
          <p:cNvSpPr txBox="1">
            <a:spLocks noChangeArrowheads="1"/>
          </p:cNvSpPr>
          <p:nvPr/>
        </p:nvSpPr>
        <p:spPr bwMode="auto">
          <a:xfrm>
            <a:off x="381000" y="5300663"/>
            <a:ext cx="3124200" cy="519112"/>
          </a:xfrm>
          <a:prstGeom prst="rect">
            <a:avLst/>
          </a:prstGeom>
          <a:noFill/>
          <a:ln w="19050">
            <a:noFill/>
            <a:miter lim="800000"/>
            <a:headEnd/>
            <a:tailEnd type="none" w="med" len="lg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rgbClr val="040000"/>
                </a:solidFill>
                <a:latin typeface="Century Schoolbook" pitchFamily="18" charset="0"/>
              </a:rPr>
              <a:t>转动自由度</a:t>
            </a:r>
          </a:p>
        </p:txBody>
      </p:sp>
      <p:graphicFrame>
        <p:nvGraphicFramePr>
          <p:cNvPr id="246803" name="Object 19"/>
          <p:cNvGraphicFramePr>
            <a:graphicFrameLocks noChangeAspect="1"/>
          </p:cNvGraphicFramePr>
          <p:nvPr/>
        </p:nvGraphicFramePr>
        <p:xfrm>
          <a:off x="2628900" y="5376863"/>
          <a:ext cx="952500" cy="381000"/>
        </p:xfrm>
        <a:graphic>
          <a:graphicData uri="http://schemas.openxmlformats.org/presentationml/2006/ole">
            <p:oleObj spid="_x0000_s100358" name="公式" r:id="rId8" imgW="952200" imgH="380880" progId="Equation.3">
              <p:embed/>
            </p:oleObj>
          </a:graphicData>
        </a:graphic>
      </p:graphicFrame>
      <p:graphicFrame>
        <p:nvGraphicFramePr>
          <p:cNvPr id="246804" name="Object 20"/>
          <p:cNvGraphicFramePr>
            <a:graphicFrameLocks noChangeAspect="1"/>
          </p:cNvGraphicFramePr>
          <p:nvPr/>
        </p:nvGraphicFramePr>
        <p:xfrm>
          <a:off x="2555875" y="6081713"/>
          <a:ext cx="3568700" cy="404812"/>
        </p:xfrm>
        <a:graphic>
          <a:graphicData uri="http://schemas.openxmlformats.org/presentationml/2006/ole">
            <p:oleObj spid="_x0000_s100359" name="公式" r:id="rId9" imgW="3568680" imgH="406080" progId="Equation.3">
              <p:embed/>
            </p:oleObj>
          </a:graphicData>
        </a:graphic>
      </p:graphicFrame>
      <p:sp>
        <p:nvSpPr>
          <p:cNvPr id="246805" name="Text Box 21"/>
          <p:cNvSpPr txBox="1">
            <a:spLocks noChangeArrowheads="1"/>
          </p:cNvSpPr>
          <p:nvPr/>
        </p:nvSpPr>
        <p:spPr bwMode="auto">
          <a:xfrm>
            <a:off x="381000" y="6005513"/>
            <a:ext cx="2590800" cy="519112"/>
          </a:xfrm>
          <a:prstGeom prst="rect">
            <a:avLst/>
          </a:prstGeom>
          <a:noFill/>
          <a:ln w="19050">
            <a:noFill/>
            <a:miter lim="800000"/>
            <a:headEnd/>
            <a:tailEnd type="none" w="med" len="lg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rgbClr val="040000"/>
                </a:solidFill>
                <a:latin typeface="Century Schoolbook" pitchFamily="18" charset="0"/>
              </a:rPr>
              <a:t>总自由度</a:t>
            </a:r>
          </a:p>
        </p:txBody>
      </p:sp>
      <p:grpSp>
        <p:nvGrpSpPr>
          <p:cNvPr id="3" name="Group 22"/>
          <p:cNvGrpSpPr>
            <a:grpSpLocks/>
          </p:cNvGrpSpPr>
          <p:nvPr/>
        </p:nvGrpSpPr>
        <p:grpSpPr bwMode="auto">
          <a:xfrm>
            <a:off x="6677025" y="3651250"/>
            <a:ext cx="1852613" cy="1582738"/>
            <a:chOff x="4098" y="801"/>
            <a:chExt cx="1167" cy="997"/>
          </a:xfrm>
        </p:grpSpPr>
        <p:graphicFrame>
          <p:nvGraphicFramePr>
            <p:cNvPr id="23566" name="Object 23"/>
            <p:cNvGraphicFramePr>
              <a:graphicFrameLocks noChangeAspect="1"/>
            </p:cNvGraphicFramePr>
            <p:nvPr/>
          </p:nvGraphicFramePr>
          <p:xfrm>
            <a:off x="5051" y="1366"/>
            <a:ext cx="214" cy="244"/>
          </p:xfrm>
          <a:graphic>
            <a:graphicData uri="http://schemas.openxmlformats.org/presentationml/2006/ole">
              <p:oleObj spid="_x0000_s100366" name="公式" r:id="rId10" imgW="126720" imgH="139680" progId="Equation.3">
                <p:embed/>
              </p:oleObj>
            </a:graphicData>
          </a:graphic>
        </p:graphicFrame>
        <p:graphicFrame>
          <p:nvGraphicFramePr>
            <p:cNvPr id="23567" name="Object 24"/>
            <p:cNvGraphicFramePr>
              <a:graphicFrameLocks noChangeAspect="1"/>
            </p:cNvGraphicFramePr>
            <p:nvPr/>
          </p:nvGraphicFramePr>
          <p:xfrm>
            <a:off x="4896" y="1008"/>
            <a:ext cx="210" cy="217"/>
          </p:xfrm>
          <a:graphic>
            <a:graphicData uri="http://schemas.openxmlformats.org/presentationml/2006/ole">
              <p:oleObj spid="_x0000_s100367" name="Equation" r:id="rId11" imgW="126720" imgH="126720" progId="Equation.3">
                <p:embed/>
              </p:oleObj>
            </a:graphicData>
          </a:graphic>
        </p:graphicFrame>
        <p:graphicFrame>
          <p:nvGraphicFramePr>
            <p:cNvPr id="23568" name="Object 25"/>
            <p:cNvGraphicFramePr>
              <a:graphicFrameLocks noChangeAspect="1"/>
            </p:cNvGraphicFramePr>
            <p:nvPr/>
          </p:nvGraphicFramePr>
          <p:xfrm>
            <a:off x="4166" y="1514"/>
            <a:ext cx="233" cy="284"/>
          </p:xfrm>
          <a:graphic>
            <a:graphicData uri="http://schemas.openxmlformats.org/presentationml/2006/ole">
              <p:oleObj spid="_x0000_s100368" name="公式" r:id="rId12" imgW="139680" imgH="164880" progId="Equation.3">
                <p:embed/>
              </p:oleObj>
            </a:graphicData>
          </a:graphic>
        </p:graphicFrame>
        <p:sp>
          <p:nvSpPr>
            <p:cNvPr id="23589" name="Line 26"/>
            <p:cNvSpPr>
              <a:spLocks noChangeShapeType="1"/>
            </p:cNvSpPr>
            <p:nvPr/>
          </p:nvSpPr>
          <p:spPr bwMode="auto">
            <a:xfrm>
              <a:off x="4098" y="1536"/>
              <a:ext cx="72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miter lim="800000"/>
              <a:headEnd/>
              <a:tailEnd/>
            </a:ln>
          </p:spPr>
          <p:txBody>
            <a:bodyPr wrap="none"/>
            <a:lstStyle/>
            <a:p>
              <a:endParaRPr kumimoji="1" lang="zh-CN" altLang="en-US" sz="2400" baseline="-25000">
                <a:solidFill>
                  <a:srgbClr val="545472"/>
                </a:solidFill>
                <a:latin typeface="Times New Roman" pitchFamily="18" charset="0"/>
              </a:endParaRPr>
            </a:p>
          </p:txBody>
        </p:sp>
        <p:sp>
          <p:nvSpPr>
            <p:cNvPr id="23590" name="Line 27"/>
            <p:cNvSpPr>
              <a:spLocks noChangeShapeType="1"/>
            </p:cNvSpPr>
            <p:nvPr/>
          </p:nvSpPr>
          <p:spPr bwMode="auto">
            <a:xfrm flipV="1">
              <a:off x="4848" y="1248"/>
              <a:ext cx="384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miter lim="800000"/>
              <a:headEnd/>
              <a:tailEnd/>
            </a:ln>
          </p:spPr>
          <p:txBody>
            <a:bodyPr wrap="none"/>
            <a:lstStyle/>
            <a:p>
              <a:endParaRPr kumimoji="1" lang="zh-CN" altLang="en-US" sz="2400" baseline="-25000">
                <a:solidFill>
                  <a:srgbClr val="545472"/>
                </a:solidFill>
                <a:latin typeface="Times New Roman" pitchFamily="18" charset="0"/>
              </a:endParaRPr>
            </a:p>
          </p:txBody>
        </p:sp>
        <p:sp>
          <p:nvSpPr>
            <p:cNvPr id="23591" name="Line 28"/>
            <p:cNvSpPr>
              <a:spLocks noChangeShapeType="1"/>
            </p:cNvSpPr>
            <p:nvPr/>
          </p:nvSpPr>
          <p:spPr bwMode="auto">
            <a:xfrm flipV="1">
              <a:off x="4848" y="801"/>
              <a:ext cx="0" cy="72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miter lim="800000"/>
              <a:headEnd/>
              <a:tailEnd/>
            </a:ln>
          </p:spPr>
          <p:txBody>
            <a:bodyPr wrap="none"/>
            <a:lstStyle/>
            <a:p>
              <a:endParaRPr kumimoji="1" lang="zh-CN" altLang="en-US" sz="2400" baseline="-25000">
                <a:solidFill>
                  <a:srgbClr val="545472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4" name="Group 29"/>
          <p:cNvGrpSpPr>
            <a:grpSpLocks/>
          </p:cNvGrpSpPr>
          <p:nvPr/>
        </p:nvGrpSpPr>
        <p:grpSpPr bwMode="auto">
          <a:xfrm>
            <a:off x="6953250" y="3979863"/>
            <a:ext cx="781050" cy="806450"/>
            <a:chOff x="4272" y="1008"/>
            <a:chExt cx="492" cy="508"/>
          </a:xfrm>
        </p:grpSpPr>
        <p:graphicFrame>
          <p:nvGraphicFramePr>
            <p:cNvPr id="23564" name="Object 30"/>
            <p:cNvGraphicFramePr>
              <a:graphicFrameLocks noChangeAspect="1"/>
            </p:cNvGraphicFramePr>
            <p:nvPr/>
          </p:nvGraphicFramePr>
          <p:xfrm>
            <a:off x="4368" y="1296"/>
            <a:ext cx="240" cy="220"/>
          </p:xfrm>
          <a:graphic>
            <a:graphicData uri="http://schemas.openxmlformats.org/presentationml/2006/ole">
              <p:oleObj spid="_x0000_s100364" name="Equation" r:id="rId13" imgW="152280" imgH="139680" progId="Equation.3">
                <p:embed/>
              </p:oleObj>
            </a:graphicData>
          </a:graphic>
        </p:graphicFrame>
        <p:grpSp>
          <p:nvGrpSpPr>
            <p:cNvPr id="5" name="Group 31"/>
            <p:cNvGrpSpPr>
              <a:grpSpLocks/>
            </p:cNvGrpSpPr>
            <p:nvPr/>
          </p:nvGrpSpPr>
          <p:grpSpPr bwMode="auto">
            <a:xfrm>
              <a:off x="4272" y="1008"/>
              <a:ext cx="492" cy="352"/>
              <a:chOff x="4272" y="1008"/>
              <a:chExt cx="492" cy="352"/>
            </a:xfrm>
          </p:grpSpPr>
          <p:sp>
            <p:nvSpPr>
              <p:cNvPr id="23586" name="Line 32"/>
              <p:cNvSpPr>
                <a:spLocks noChangeShapeType="1"/>
              </p:cNvSpPr>
              <p:nvPr/>
            </p:nvSpPr>
            <p:spPr bwMode="auto">
              <a:xfrm flipH="1">
                <a:off x="4368" y="1008"/>
                <a:ext cx="24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dash"/>
                <a:miter lim="800000"/>
                <a:headEnd/>
                <a:tailEnd/>
              </a:ln>
            </p:spPr>
            <p:txBody>
              <a:bodyPr wrap="none"/>
              <a:lstStyle/>
              <a:p>
                <a:endParaRPr kumimoji="1" lang="zh-CN" altLang="en-US" sz="2400" baseline="-25000">
                  <a:solidFill>
                    <a:srgbClr val="545472"/>
                  </a:solidFill>
                  <a:latin typeface="Times New Roman" pitchFamily="18" charset="0"/>
                </a:endParaRPr>
              </a:p>
            </p:txBody>
          </p:sp>
          <p:graphicFrame>
            <p:nvGraphicFramePr>
              <p:cNvPr id="23565" name="Object 33"/>
              <p:cNvGraphicFramePr>
                <a:graphicFrameLocks noChangeAspect="1"/>
              </p:cNvGraphicFramePr>
              <p:nvPr/>
            </p:nvGraphicFramePr>
            <p:xfrm>
              <a:off x="4560" y="1008"/>
              <a:ext cx="204" cy="272"/>
            </p:xfrm>
            <a:graphic>
              <a:graphicData uri="http://schemas.openxmlformats.org/presentationml/2006/ole">
                <p:oleObj spid="_x0000_s100365" name="Equation" r:id="rId14" imgW="152280" imgH="203040" progId="Equation.3">
                  <p:embed/>
                </p:oleObj>
              </a:graphicData>
            </a:graphic>
          </p:graphicFrame>
          <p:sp>
            <p:nvSpPr>
              <p:cNvPr id="23587" name="Freeform 34"/>
              <p:cNvSpPr>
                <a:spLocks/>
              </p:cNvSpPr>
              <p:nvPr/>
            </p:nvSpPr>
            <p:spPr bwMode="auto">
              <a:xfrm>
                <a:off x="4272" y="1104"/>
                <a:ext cx="264" cy="256"/>
              </a:xfrm>
              <a:custGeom>
                <a:avLst/>
                <a:gdLst>
                  <a:gd name="T0" fmla="*/ 0 w 264"/>
                  <a:gd name="T1" fmla="*/ 240 h 256"/>
                  <a:gd name="T2" fmla="*/ 96 w 264"/>
                  <a:gd name="T3" fmla="*/ 240 h 256"/>
                  <a:gd name="T4" fmla="*/ 240 w 264"/>
                  <a:gd name="T5" fmla="*/ 144 h 256"/>
                  <a:gd name="T6" fmla="*/ 240 w 264"/>
                  <a:gd name="T7" fmla="*/ 0 h 25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64"/>
                  <a:gd name="T13" fmla="*/ 0 h 256"/>
                  <a:gd name="T14" fmla="*/ 264 w 264"/>
                  <a:gd name="T15" fmla="*/ 256 h 25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64" h="256">
                    <a:moveTo>
                      <a:pt x="0" y="240"/>
                    </a:moveTo>
                    <a:cubicBezTo>
                      <a:pt x="28" y="248"/>
                      <a:pt x="56" y="256"/>
                      <a:pt x="96" y="240"/>
                    </a:cubicBezTo>
                    <a:cubicBezTo>
                      <a:pt x="136" y="224"/>
                      <a:pt x="216" y="184"/>
                      <a:pt x="240" y="144"/>
                    </a:cubicBezTo>
                    <a:cubicBezTo>
                      <a:pt x="264" y="104"/>
                      <a:pt x="252" y="52"/>
                      <a:pt x="240" y="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wrap="none"/>
              <a:lstStyle/>
              <a:p>
                <a:endParaRPr kumimoji="1" lang="zh-CN" altLang="en-US" sz="2400" baseline="-25000">
                  <a:solidFill>
                    <a:srgbClr val="545472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23588" name="Freeform 35"/>
              <p:cNvSpPr>
                <a:spLocks/>
              </p:cNvSpPr>
              <p:nvPr/>
            </p:nvSpPr>
            <p:spPr bwMode="auto">
              <a:xfrm>
                <a:off x="4535" y="1086"/>
                <a:ext cx="56" cy="144"/>
              </a:xfrm>
              <a:custGeom>
                <a:avLst/>
                <a:gdLst>
                  <a:gd name="T0" fmla="*/ 0 w 56"/>
                  <a:gd name="T1" fmla="*/ 144 h 144"/>
                  <a:gd name="T2" fmla="*/ 48 w 56"/>
                  <a:gd name="T3" fmla="*/ 96 h 144"/>
                  <a:gd name="T4" fmla="*/ 48 w 56"/>
                  <a:gd name="T5" fmla="*/ 48 h 144"/>
                  <a:gd name="T6" fmla="*/ 0 w 56"/>
                  <a:gd name="T7" fmla="*/ 0 h 14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6"/>
                  <a:gd name="T13" fmla="*/ 0 h 144"/>
                  <a:gd name="T14" fmla="*/ 56 w 56"/>
                  <a:gd name="T15" fmla="*/ 144 h 14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6" h="144">
                    <a:moveTo>
                      <a:pt x="0" y="144"/>
                    </a:moveTo>
                    <a:cubicBezTo>
                      <a:pt x="20" y="128"/>
                      <a:pt x="40" y="112"/>
                      <a:pt x="48" y="96"/>
                    </a:cubicBezTo>
                    <a:cubicBezTo>
                      <a:pt x="56" y="80"/>
                      <a:pt x="56" y="64"/>
                      <a:pt x="48" y="48"/>
                    </a:cubicBezTo>
                    <a:cubicBezTo>
                      <a:pt x="40" y="32"/>
                      <a:pt x="8" y="8"/>
                      <a:pt x="0" y="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wrap="none"/>
              <a:lstStyle/>
              <a:p>
                <a:endParaRPr kumimoji="1" lang="zh-CN" altLang="en-US" sz="2400" baseline="-25000">
                  <a:solidFill>
                    <a:srgbClr val="545472"/>
                  </a:solidFill>
                  <a:latin typeface="Times New Roman" pitchFamily="18" charset="0"/>
                </a:endParaRPr>
              </a:p>
            </p:txBody>
          </p:sp>
        </p:grpSp>
      </p:grpSp>
      <p:grpSp>
        <p:nvGrpSpPr>
          <p:cNvPr id="6" name="Group 36"/>
          <p:cNvGrpSpPr>
            <a:grpSpLocks/>
          </p:cNvGrpSpPr>
          <p:nvPr/>
        </p:nvGrpSpPr>
        <p:grpSpPr bwMode="auto">
          <a:xfrm>
            <a:off x="5962650" y="2565400"/>
            <a:ext cx="3073400" cy="2790825"/>
            <a:chOff x="3648" y="117"/>
            <a:chExt cx="1936" cy="1758"/>
          </a:xfrm>
        </p:grpSpPr>
        <p:sp>
          <p:nvSpPr>
            <p:cNvPr id="23582" name="Line 37"/>
            <p:cNvSpPr>
              <a:spLocks noChangeShapeType="1"/>
            </p:cNvSpPr>
            <p:nvPr/>
          </p:nvSpPr>
          <p:spPr bwMode="auto">
            <a:xfrm>
              <a:off x="4377" y="1248"/>
              <a:ext cx="115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lg"/>
            </a:ln>
          </p:spPr>
          <p:txBody>
            <a:bodyPr wrap="none" anchor="ctr"/>
            <a:lstStyle/>
            <a:p>
              <a:endParaRPr kumimoji="1" lang="zh-CN" altLang="en-US" sz="2400" baseline="-25000">
                <a:solidFill>
                  <a:srgbClr val="545472"/>
                </a:solidFill>
                <a:latin typeface="Times New Roman" pitchFamily="18" charset="0"/>
              </a:endParaRPr>
            </a:p>
          </p:txBody>
        </p:sp>
        <p:sp>
          <p:nvSpPr>
            <p:cNvPr id="23583" name="Line 38"/>
            <p:cNvSpPr>
              <a:spLocks noChangeShapeType="1"/>
            </p:cNvSpPr>
            <p:nvPr/>
          </p:nvSpPr>
          <p:spPr bwMode="auto">
            <a:xfrm flipV="1">
              <a:off x="4377" y="336"/>
              <a:ext cx="0" cy="91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lg"/>
            </a:ln>
          </p:spPr>
          <p:txBody>
            <a:bodyPr wrap="none" anchor="ctr"/>
            <a:lstStyle/>
            <a:p>
              <a:endParaRPr kumimoji="1" lang="zh-CN" altLang="en-US" sz="2400" baseline="-25000">
                <a:solidFill>
                  <a:srgbClr val="545472"/>
                </a:solidFill>
                <a:latin typeface="Times New Roman" pitchFamily="18" charset="0"/>
              </a:endParaRPr>
            </a:p>
          </p:txBody>
        </p:sp>
        <p:sp>
          <p:nvSpPr>
            <p:cNvPr id="23584" name="Line 39"/>
            <p:cNvSpPr>
              <a:spLocks noChangeShapeType="1"/>
            </p:cNvSpPr>
            <p:nvPr/>
          </p:nvSpPr>
          <p:spPr bwMode="auto">
            <a:xfrm flipH="1">
              <a:off x="3801" y="1248"/>
              <a:ext cx="576" cy="52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lg"/>
            </a:ln>
          </p:spPr>
          <p:txBody>
            <a:bodyPr wrap="none" anchor="ctr"/>
            <a:lstStyle/>
            <a:p>
              <a:endParaRPr kumimoji="1" lang="zh-CN" altLang="en-US" sz="2400" baseline="-25000">
                <a:solidFill>
                  <a:srgbClr val="545472"/>
                </a:solidFill>
                <a:latin typeface="Times New Roman" pitchFamily="18" charset="0"/>
              </a:endParaRPr>
            </a:p>
          </p:txBody>
        </p:sp>
        <p:graphicFrame>
          <p:nvGraphicFramePr>
            <p:cNvPr id="23560" name="Object 40"/>
            <p:cNvGraphicFramePr>
              <a:graphicFrameLocks noChangeAspect="1"/>
            </p:cNvGraphicFramePr>
            <p:nvPr/>
          </p:nvGraphicFramePr>
          <p:xfrm>
            <a:off x="4161" y="1104"/>
            <a:ext cx="159" cy="183"/>
          </p:xfrm>
          <a:graphic>
            <a:graphicData uri="http://schemas.openxmlformats.org/presentationml/2006/ole">
              <p:oleObj spid="_x0000_s100360" name="公式" r:id="rId15" imgW="253800" imgH="291960" progId="Equation.3">
                <p:embed/>
              </p:oleObj>
            </a:graphicData>
          </a:graphic>
        </p:graphicFrame>
        <p:graphicFrame>
          <p:nvGraphicFramePr>
            <p:cNvPr id="23561" name="Object 41"/>
            <p:cNvGraphicFramePr>
              <a:graphicFrameLocks noChangeAspect="1"/>
            </p:cNvGraphicFramePr>
            <p:nvPr/>
          </p:nvGraphicFramePr>
          <p:xfrm>
            <a:off x="5351" y="1238"/>
            <a:ext cx="233" cy="275"/>
          </p:xfrm>
          <a:graphic>
            <a:graphicData uri="http://schemas.openxmlformats.org/presentationml/2006/ole">
              <p:oleObj spid="_x0000_s100361" name="公式" r:id="rId16" imgW="139680" imgH="164880" progId="Equation.3">
                <p:embed/>
              </p:oleObj>
            </a:graphicData>
          </a:graphic>
        </p:graphicFrame>
        <p:graphicFrame>
          <p:nvGraphicFramePr>
            <p:cNvPr id="23562" name="Object 42"/>
            <p:cNvGraphicFramePr>
              <a:graphicFrameLocks noChangeAspect="1"/>
            </p:cNvGraphicFramePr>
            <p:nvPr/>
          </p:nvGraphicFramePr>
          <p:xfrm>
            <a:off x="3648" y="1642"/>
            <a:ext cx="210" cy="233"/>
          </p:xfrm>
          <a:graphic>
            <a:graphicData uri="http://schemas.openxmlformats.org/presentationml/2006/ole">
              <p:oleObj spid="_x0000_s100362" name="公式" r:id="rId17" imgW="126720" imgH="139680" progId="Equation.3">
                <p:embed/>
              </p:oleObj>
            </a:graphicData>
          </a:graphic>
        </p:graphicFrame>
        <p:graphicFrame>
          <p:nvGraphicFramePr>
            <p:cNvPr id="23563" name="Object 43"/>
            <p:cNvGraphicFramePr>
              <a:graphicFrameLocks noChangeAspect="1"/>
            </p:cNvGraphicFramePr>
            <p:nvPr/>
          </p:nvGraphicFramePr>
          <p:xfrm>
            <a:off x="4327" y="117"/>
            <a:ext cx="212" cy="212"/>
          </p:xfrm>
          <a:graphic>
            <a:graphicData uri="http://schemas.openxmlformats.org/presentationml/2006/ole">
              <p:oleObj spid="_x0000_s100363" name="公式" r:id="rId18" imgW="126720" imgH="126720" progId="Equation.3">
                <p:embed/>
              </p:oleObj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46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6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46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46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46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46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46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46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46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46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46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6790" grpId="0" autoUpdateAnimBg="0"/>
      <p:bldP spid="246793" grpId="0" autoUpdateAnimBg="0"/>
      <p:bldP spid="246798" grpId="0" autoUpdateAnimBg="0"/>
      <p:bldP spid="246800" grpId="0" autoUpdateAnimBg="0"/>
      <p:bldP spid="246802" grpId="0" autoUpdateAnimBg="0"/>
      <p:bldP spid="246805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395288" y="836613"/>
            <a:ext cx="8515350" cy="4894262"/>
            <a:chOff x="720" y="443"/>
            <a:chExt cx="4311" cy="1974"/>
          </a:xfrm>
        </p:grpSpPr>
        <p:sp>
          <p:nvSpPr>
            <p:cNvPr id="24583" name="Text Box 3"/>
            <p:cNvSpPr txBox="1">
              <a:spLocks noChangeArrowheads="1"/>
            </p:cNvSpPr>
            <p:nvPr/>
          </p:nvSpPr>
          <p:spPr bwMode="auto">
            <a:xfrm>
              <a:off x="759" y="1219"/>
              <a:ext cx="4272" cy="1198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lnSpc>
                  <a:spcPct val="150000"/>
                </a:lnSpc>
                <a:spcBef>
                  <a:spcPct val="50000"/>
                </a:spcBef>
              </a:pPr>
              <a:r>
                <a:rPr lang="zh-CN" altLang="en-US" sz="2800" b="1">
                  <a:solidFill>
                    <a:srgbClr val="CC0000"/>
                  </a:solidFill>
                </a:rPr>
                <a:t>单</a:t>
              </a:r>
              <a:r>
                <a:rPr lang="zh-CN" altLang="en-US" sz="2800" b="1">
                  <a:solidFill>
                    <a:srgbClr val="1C1C1C"/>
                  </a:solidFill>
                </a:rPr>
                <a:t>原子分子</a:t>
              </a:r>
              <a:r>
                <a:rPr lang="zh-CN" altLang="en-US" sz="2800" b="1">
                  <a:solidFill>
                    <a:srgbClr val="545472"/>
                  </a:solidFill>
                </a:rPr>
                <a:t>          </a:t>
              </a:r>
              <a:r>
                <a:rPr lang="en-US" altLang="zh-CN" sz="3200" b="1">
                  <a:solidFill>
                    <a:srgbClr val="1C1C1C"/>
                  </a:solidFill>
                </a:rPr>
                <a:t>3               0                3</a:t>
              </a:r>
            </a:p>
            <a:p>
              <a:pPr>
                <a:lnSpc>
                  <a:spcPct val="150000"/>
                </a:lnSpc>
                <a:spcBef>
                  <a:spcPct val="50000"/>
                </a:spcBef>
              </a:pPr>
              <a:r>
                <a:rPr lang="zh-CN" altLang="en-US" sz="2800" b="1">
                  <a:solidFill>
                    <a:srgbClr val="CC0000"/>
                  </a:solidFill>
                </a:rPr>
                <a:t>双</a:t>
              </a:r>
              <a:r>
                <a:rPr lang="zh-CN" altLang="en-US" sz="2800" b="1">
                  <a:solidFill>
                    <a:srgbClr val="1C1C1C"/>
                  </a:solidFill>
                </a:rPr>
                <a:t>原子分子          </a:t>
              </a:r>
              <a:r>
                <a:rPr lang="en-US" altLang="zh-CN" sz="3200" b="1">
                  <a:solidFill>
                    <a:srgbClr val="1C1C1C"/>
                  </a:solidFill>
                </a:rPr>
                <a:t>3               2                5</a:t>
              </a:r>
            </a:p>
            <a:p>
              <a:pPr>
                <a:lnSpc>
                  <a:spcPct val="150000"/>
                </a:lnSpc>
                <a:spcBef>
                  <a:spcPct val="50000"/>
                </a:spcBef>
              </a:pPr>
              <a:r>
                <a:rPr lang="zh-CN" altLang="en-US" sz="2800" b="1">
                  <a:solidFill>
                    <a:srgbClr val="CC0000"/>
                  </a:solidFill>
                </a:rPr>
                <a:t>多</a:t>
              </a:r>
              <a:r>
                <a:rPr lang="zh-CN" altLang="en-US" sz="2800" b="1">
                  <a:solidFill>
                    <a:srgbClr val="1C1C1C"/>
                  </a:solidFill>
                </a:rPr>
                <a:t>原子分子          </a:t>
              </a:r>
              <a:r>
                <a:rPr lang="en-US" altLang="zh-CN" sz="3200" b="1">
                  <a:solidFill>
                    <a:srgbClr val="1C1C1C"/>
                  </a:solidFill>
                </a:rPr>
                <a:t>3               3                6</a:t>
              </a:r>
            </a:p>
          </p:txBody>
        </p:sp>
        <p:sp>
          <p:nvSpPr>
            <p:cNvPr id="24584" name="Text Box 4"/>
            <p:cNvSpPr txBox="1">
              <a:spLocks noChangeArrowheads="1"/>
            </p:cNvSpPr>
            <p:nvPr/>
          </p:nvSpPr>
          <p:spPr bwMode="auto">
            <a:xfrm>
              <a:off x="1814" y="443"/>
              <a:ext cx="2400" cy="261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3600" b="1">
                  <a:solidFill>
                    <a:srgbClr val="CC0000"/>
                  </a:solidFill>
                </a:rPr>
                <a:t>刚性</a:t>
              </a:r>
              <a:r>
                <a:rPr lang="zh-CN" altLang="en-US" sz="3600" b="1">
                  <a:solidFill>
                    <a:srgbClr val="1C1C1C"/>
                  </a:solidFill>
                </a:rPr>
                <a:t>分子能量自由度</a:t>
              </a:r>
            </a:p>
          </p:txBody>
        </p:sp>
        <p:graphicFrame>
          <p:nvGraphicFramePr>
            <p:cNvPr id="24578" name="Object 5"/>
            <p:cNvGraphicFramePr>
              <a:graphicFrameLocks noChangeAspect="1"/>
            </p:cNvGraphicFramePr>
            <p:nvPr/>
          </p:nvGraphicFramePr>
          <p:xfrm>
            <a:off x="2073" y="896"/>
            <a:ext cx="180" cy="262"/>
          </p:xfrm>
          <a:graphic>
            <a:graphicData uri="http://schemas.openxmlformats.org/presentationml/2006/ole">
              <p:oleObj spid="_x0000_s101378" name="公式" r:id="rId3" imgW="88560" imgH="152280" progId="Equation.3">
                <p:embed/>
              </p:oleObj>
            </a:graphicData>
          </a:graphic>
        </p:graphicFrame>
        <p:graphicFrame>
          <p:nvGraphicFramePr>
            <p:cNvPr id="24579" name="Object 6"/>
            <p:cNvGraphicFramePr>
              <a:graphicFrameLocks noChangeAspect="1"/>
            </p:cNvGraphicFramePr>
            <p:nvPr/>
          </p:nvGraphicFramePr>
          <p:xfrm>
            <a:off x="2928" y="896"/>
            <a:ext cx="235" cy="262"/>
          </p:xfrm>
          <a:graphic>
            <a:graphicData uri="http://schemas.openxmlformats.org/presentationml/2006/ole">
              <p:oleObj spid="_x0000_s101379" name="公式" r:id="rId4" imgW="114120" imgH="126720" progId="Equation.3">
                <p:embed/>
              </p:oleObj>
            </a:graphicData>
          </a:graphic>
        </p:graphicFrame>
        <p:graphicFrame>
          <p:nvGraphicFramePr>
            <p:cNvPr id="24580" name="Object 7"/>
            <p:cNvGraphicFramePr>
              <a:graphicFrameLocks noChangeAspect="1"/>
            </p:cNvGraphicFramePr>
            <p:nvPr/>
          </p:nvGraphicFramePr>
          <p:xfrm>
            <a:off x="4113" y="896"/>
            <a:ext cx="140" cy="262"/>
          </p:xfrm>
          <a:graphic>
            <a:graphicData uri="http://schemas.openxmlformats.org/presentationml/2006/ole">
              <p:oleObj spid="_x0000_s101380" name="公式" r:id="rId5" imgW="88560" imgH="164880" progId="Equation.3">
                <p:embed/>
              </p:oleObj>
            </a:graphicData>
          </a:graphic>
        </p:graphicFrame>
        <p:sp>
          <p:nvSpPr>
            <p:cNvPr id="24585" name="Line 8"/>
            <p:cNvSpPr>
              <a:spLocks noChangeShapeType="1"/>
            </p:cNvSpPr>
            <p:nvPr/>
          </p:nvSpPr>
          <p:spPr bwMode="auto">
            <a:xfrm>
              <a:off x="720" y="1248"/>
              <a:ext cx="4128" cy="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kumimoji="1" lang="zh-CN" altLang="en-US" sz="2400" baseline="-25000">
                <a:solidFill>
                  <a:srgbClr val="545472"/>
                </a:solidFill>
                <a:latin typeface="Times New Roman" pitchFamily="18" charset="0"/>
              </a:endParaRPr>
            </a:p>
          </p:txBody>
        </p:sp>
        <p:sp>
          <p:nvSpPr>
            <p:cNvPr id="24586" name="Line 9"/>
            <p:cNvSpPr>
              <a:spLocks noChangeShapeType="1"/>
            </p:cNvSpPr>
            <p:nvPr/>
          </p:nvSpPr>
          <p:spPr bwMode="auto">
            <a:xfrm>
              <a:off x="720" y="864"/>
              <a:ext cx="4128" cy="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kumimoji="1" lang="zh-CN" altLang="en-US" sz="2400" baseline="-25000">
                <a:solidFill>
                  <a:srgbClr val="545472"/>
                </a:solidFill>
                <a:latin typeface="Times New Roman" pitchFamily="18" charset="0"/>
              </a:endParaRPr>
            </a:p>
          </p:txBody>
        </p:sp>
        <p:sp>
          <p:nvSpPr>
            <p:cNvPr id="24587" name="Line 10"/>
            <p:cNvSpPr>
              <a:spLocks noChangeShapeType="1"/>
            </p:cNvSpPr>
            <p:nvPr/>
          </p:nvSpPr>
          <p:spPr bwMode="auto">
            <a:xfrm>
              <a:off x="720" y="2352"/>
              <a:ext cx="4128" cy="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kumimoji="1" lang="zh-CN" altLang="en-US" sz="2400" baseline="-25000">
                <a:solidFill>
                  <a:srgbClr val="545472"/>
                </a:solidFill>
                <a:latin typeface="Times New Roman" pitchFamily="18" charset="0"/>
              </a:endParaRPr>
            </a:p>
          </p:txBody>
        </p:sp>
        <p:sp>
          <p:nvSpPr>
            <p:cNvPr id="24588" name="Line 11"/>
            <p:cNvSpPr>
              <a:spLocks noChangeShapeType="1"/>
            </p:cNvSpPr>
            <p:nvPr/>
          </p:nvSpPr>
          <p:spPr bwMode="auto">
            <a:xfrm>
              <a:off x="720" y="1968"/>
              <a:ext cx="4128" cy="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kumimoji="1" lang="zh-CN" altLang="en-US" sz="2400" baseline="-25000">
                <a:solidFill>
                  <a:srgbClr val="545472"/>
                </a:solidFill>
                <a:latin typeface="Times New Roman" pitchFamily="18" charset="0"/>
              </a:endParaRPr>
            </a:p>
          </p:txBody>
        </p:sp>
        <p:sp>
          <p:nvSpPr>
            <p:cNvPr id="24589" name="Line 12"/>
            <p:cNvSpPr>
              <a:spLocks noChangeShapeType="1"/>
            </p:cNvSpPr>
            <p:nvPr/>
          </p:nvSpPr>
          <p:spPr bwMode="auto">
            <a:xfrm>
              <a:off x="720" y="1632"/>
              <a:ext cx="4128" cy="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kumimoji="1" lang="zh-CN" altLang="en-US" sz="2400" baseline="-25000">
                <a:solidFill>
                  <a:srgbClr val="545472"/>
                </a:solidFill>
                <a:latin typeface="Times New Roman" pitchFamily="18" charset="0"/>
              </a:endParaRPr>
            </a:p>
          </p:txBody>
        </p:sp>
        <p:sp>
          <p:nvSpPr>
            <p:cNvPr id="24590" name="Line 13"/>
            <p:cNvSpPr>
              <a:spLocks noChangeShapeType="1"/>
            </p:cNvSpPr>
            <p:nvPr/>
          </p:nvSpPr>
          <p:spPr bwMode="auto">
            <a:xfrm>
              <a:off x="720" y="864"/>
              <a:ext cx="0" cy="1488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kumimoji="1" lang="zh-CN" altLang="en-US" sz="2400" baseline="-25000">
                <a:solidFill>
                  <a:srgbClr val="545472"/>
                </a:solidFill>
                <a:latin typeface="Times New Roman" pitchFamily="18" charset="0"/>
              </a:endParaRPr>
            </a:p>
          </p:txBody>
        </p:sp>
        <p:sp>
          <p:nvSpPr>
            <p:cNvPr id="24591" name="Line 14"/>
            <p:cNvSpPr>
              <a:spLocks noChangeShapeType="1"/>
            </p:cNvSpPr>
            <p:nvPr/>
          </p:nvSpPr>
          <p:spPr bwMode="auto">
            <a:xfrm>
              <a:off x="1872" y="864"/>
              <a:ext cx="0" cy="1488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kumimoji="1" lang="zh-CN" altLang="en-US" sz="2400" baseline="-25000">
                <a:solidFill>
                  <a:srgbClr val="545472"/>
                </a:solidFill>
                <a:latin typeface="Times New Roman" pitchFamily="18" charset="0"/>
              </a:endParaRPr>
            </a:p>
          </p:txBody>
        </p:sp>
        <p:sp>
          <p:nvSpPr>
            <p:cNvPr id="24592" name="Line 15"/>
            <p:cNvSpPr>
              <a:spLocks noChangeShapeType="1"/>
            </p:cNvSpPr>
            <p:nvPr/>
          </p:nvSpPr>
          <p:spPr bwMode="auto">
            <a:xfrm>
              <a:off x="2832" y="864"/>
              <a:ext cx="0" cy="1488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kumimoji="1" lang="zh-CN" altLang="en-US" sz="2400" baseline="-25000">
                <a:solidFill>
                  <a:srgbClr val="545472"/>
                </a:solidFill>
                <a:latin typeface="Times New Roman" pitchFamily="18" charset="0"/>
              </a:endParaRPr>
            </a:p>
          </p:txBody>
        </p:sp>
        <p:sp>
          <p:nvSpPr>
            <p:cNvPr id="24593" name="Line 16"/>
            <p:cNvSpPr>
              <a:spLocks noChangeShapeType="1"/>
            </p:cNvSpPr>
            <p:nvPr/>
          </p:nvSpPr>
          <p:spPr bwMode="auto">
            <a:xfrm>
              <a:off x="3840" y="864"/>
              <a:ext cx="0" cy="1488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kumimoji="1" lang="zh-CN" altLang="en-US" sz="2400" baseline="-25000">
                <a:solidFill>
                  <a:srgbClr val="545472"/>
                </a:solidFill>
                <a:latin typeface="Times New Roman" pitchFamily="18" charset="0"/>
              </a:endParaRPr>
            </a:p>
          </p:txBody>
        </p:sp>
        <p:sp>
          <p:nvSpPr>
            <p:cNvPr id="24594" name="Line 17"/>
            <p:cNvSpPr>
              <a:spLocks noChangeShapeType="1"/>
            </p:cNvSpPr>
            <p:nvPr/>
          </p:nvSpPr>
          <p:spPr bwMode="auto">
            <a:xfrm>
              <a:off x="4848" y="864"/>
              <a:ext cx="0" cy="1488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kumimoji="1" lang="zh-CN" altLang="en-US" sz="2400" baseline="-25000">
                <a:solidFill>
                  <a:srgbClr val="545472"/>
                </a:solidFill>
                <a:latin typeface="Times New Roman" pitchFamily="18" charset="0"/>
              </a:endParaRPr>
            </a:p>
          </p:txBody>
        </p:sp>
        <p:sp>
          <p:nvSpPr>
            <p:cNvPr id="24595" name="Line 18"/>
            <p:cNvSpPr>
              <a:spLocks noChangeShapeType="1"/>
            </p:cNvSpPr>
            <p:nvPr/>
          </p:nvSpPr>
          <p:spPr bwMode="auto">
            <a:xfrm>
              <a:off x="720" y="864"/>
              <a:ext cx="1104" cy="384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kumimoji="1" lang="zh-CN" altLang="en-US" sz="2400" baseline="-25000">
                <a:solidFill>
                  <a:srgbClr val="545472"/>
                </a:solidFill>
                <a:latin typeface="Times New Roman" pitchFamily="18" charset="0"/>
              </a:endParaRPr>
            </a:p>
          </p:txBody>
        </p:sp>
        <p:sp>
          <p:nvSpPr>
            <p:cNvPr id="24596" name="Text Box 19"/>
            <p:cNvSpPr txBox="1">
              <a:spLocks noChangeArrowheads="1"/>
            </p:cNvSpPr>
            <p:nvPr/>
          </p:nvSpPr>
          <p:spPr bwMode="auto">
            <a:xfrm>
              <a:off x="768" y="1008"/>
              <a:ext cx="624" cy="324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>
                  <a:solidFill>
                    <a:srgbClr val="1C1C1C"/>
                  </a:solidFill>
                </a:rPr>
                <a:t>分子</a:t>
              </a:r>
            </a:p>
          </p:txBody>
        </p:sp>
        <p:sp>
          <p:nvSpPr>
            <p:cNvPr id="24597" name="Text Box 20"/>
            <p:cNvSpPr txBox="1">
              <a:spLocks noChangeArrowheads="1"/>
            </p:cNvSpPr>
            <p:nvPr/>
          </p:nvSpPr>
          <p:spPr bwMode="auto">
            <a:xfrm>
              <a:off x="1223" y="864"/>
              <a:ext cx="1056" cy="211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600" b="1">
                  <a:solidFill>
                    <a:srgbClr val="1C1C1C"/>
                  </a:solidFill>
                </a:rPr>
                <a:t>自由度</a:t>
              </a:r>
            </a:p>
          </p:txBody>
        </p:sp>
        <p:sp>
          <p:nvSpPr>
            <p:cNvPr id="24598" name="Text Box 21"/>
            <p:cNvSpPr txBox="1">
              <a:spLocks noChangeArrowheads="1"/>
            </p:cNvSpPr>
            <p:nvPr/>
          </p:nvSpPr>
          <p:spPr bwMode="auto">
            <a:xfrm>
              <a:off x="2208" y="912"/>
              <a:ext cx="672" cy="3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>
                  <a:solidFill>
                    <a:srgbClr val="1C1C1C"/>
                  </a:solidFill>
                  <a:latin typeface="Times New Roman" pitchFamily="18" charset="0"/>
                </a:rPr>
                <a:t>平动</a:t>
              </a:r>
            </a:p>
          </p:txBody>
        </p:sp>
        <p:sp>
          <p:nvSpPr>
            <p:cNvPr id="24599" name="Text Box 22"/>
            <p:cNvSpPr txBox="1">
              <a:spLocks noChangeArrowheads="1"/>
            </p:cNvSpPr>
            <p:nvPr/>
          </p:nvSpPr>
          <p:spPr bwMode="auto">
            <a:xfrm>
              <a:off x="3216" y="912"/>
              <a:ext cx="672" cy="3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>
                  <a:solidFill>
                    <a:srgbClr val="1C1C1C"/>
                  </a:solidFill>
                  <a:latin typeface="Times New Roman" pitchFamily="18" charset="0"/>
                </a:rPr>
                <a:t>转动</a:t>
              </a:r>
            </a:p>
          </p:txBody>
        </p:sp>
        <p:sp>
          <p:nvSpPr>
            <p:cNvPr id="24600" name="Text Box 23"/>
            <p:cNvSpPr txBox="1">
              <a:spLocks noChangeArrowheads="1"/>
            </p:cNvSpPr>
            <p:nvPr/>
          </p:nvSpPr>
          <p:spPr bwMode="auto">
            <a:xfrm>
              <a:off x="4272" y="912"/>
              <a:ext cx="336" cy="3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>
                  <a:solidFill>
                    <a:srgbClr val="1C1C1C"/>
                  </a:solidFill>
                  <a:latin typeface="Times New Roman" pitchFamily="18" charset="0"/>
                </a:rPr>
                <a:t>总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07950" y="260350"/>
            <a:ext cx="5788025" cy="685800"/>
          </a:xfrm>
        </p:spPr>
        <p:txBody>
          <a:bodyPr/>
          <a:lstStyle/>
          <a:p>
            <a:pPr algn="l" eaLnBrk="1" hangingPunct="1">
              <a:defRPr/>
            </a:pPr>
            <a:r>
              <a:rPr lang="zh-CN" alt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二、能量按自由度均分定理</a:t>
            </a:r>
          </a:p>
        </p:txBody>
      </p:sp>
      <p:graphicFrame>
        <p:nvGraphicFramePr>
          <p:cNvPr id="248835" name="Object 3"/>
          <p:cNvGraphicFramePr>
            <a:graphicFrameLocks noChangeAspect="1"/>
          </p:cNvGraphicFramePr>
          <p:nvPr/>
        </p:nvGraphicFramePr>
        <p:xfrm>
          <a:off x="1403350" y="1196975"/>
          <a:ext cx="3048000" cy="1038225"/>
        </p:xfrm>
        <a:graphic>
          <a:graphicData uri="http://schemas.openxmlformats.org/presentationml/2006/ole">
            <p:oleObj spid="_x0000_s102402" name="Equation" r:id="rId3" imgW="1892160" imgH="609480" progId="Equation.3">
              <p:embed/>
            </p:oleObj>
          </a:graphicData>
        </a:graphic>
      </p:graphicFrame>
      <p:graphicFrame>
        <p:nvGraphicFramePr>
          <p:cNvPr id="248836" name="Object 4"/>
          <p:cNvGraphicFramePr>
            <a:graphicFrameLocks noChangeAspect="1"/>
          </p:cNvGraphicFramePr>
          <p:nvPr/>
        </p:nvGraphicFramePr>
        <p:xfrm>
          <a:off x="1411288" y="2420938"/>
          <a:ext cx="3160712" cy="1025525"/>
        </p:xfrm>
        <a:graphic>
          <a:graphicData uri="http://schemas.openxmlformats.org/presentationml/2006/ole">
            <p:oleObj spid="_x0000_s102403" name="Equation" r:id="rId4" imgW="1193760" imgH="393480" progId="Equation.3">
              <p:embed/>
            </p:oleObj>
          </a:graphicData>
        </a:graphic>
      </p:graphicFrame>
      <p:graphicFrame>
        <p:nvGraphicFramePr>
          <p:cNvPr id="248837" name="Object 5"/>
          <p:cNvGraphicFramePr>
            <a:graphicFrameLocks noChangeAspect="1"/>
          </p:cNvGraphicFramePr>
          <p:nvPr/>
        </p:nvGraphicFramePr>
        <p:xfrm>
          <a:off x="1333012" y="3840163"/>
          <a:ext cx="4872037" cy="1050925"/>
        </p:xfrm>
        <a:graphic>
          <a:graphicData uri="http://schemas.openxmlformats.org/presentationml/2006/ole">
            <p:oleObj spid="_x0000_s102404" name="Equation" r:id="rId5" imgW="1930320" imgH="393480" progId="Equation.DSMT4">
              <p:embed/>
            </p:oleObj>
          </a:graphicData>
        </a:graphic>
      </p:graphicFrame>
      <p:sp>
        <p:nvSpPr>
          <p:cNvPr id="248838" name="Text Box 6"/>
          <p:cNvSpPr txBox="1">
            <a:spLocks noChangeArrowheads="1"/>
          </p:cNvSpPr>
          <p:nvPr/>
        </p:nvSpPr>
        <p:spPr bwMode="auto">
          <a:xfrm>
            <a:off x="323850" y="5084763"/>
            <a:ext cx="8458200" cy="1228725"/>
          </a:xfrm>
          <a:prstGeom prst="rect">
            <a:avLst/>
          </a:prstGeom>
          <a:noFill/>
          <a:ln w="19050">
            <a:noFill/>
            <a:miter lim="800000"/>
            <a:headEnd/>
            <a:tailEnd type="none" w="med" len="lg"/>
          </a:ln>
        </p:spPr>
        <p:txBody>
          <a:bodyPr>
            <a:spAutoFit/>
          </a:bodyPr>
          <a:lstStyle/>
          <a:p>
            <a:pPr>
              <a:lnSpc>
                <a:spcPct val="140000"/>
              </a:lnSpc>
              <a:spcBef>
                <a:spcPct val="50000"/>
              </a:spcBef>
            </a:pPr>
            <a:r>
              <a:rPr kumimoji="1" lang="en-US" altLang="zh-CN" sz="2800" b="1">
                <a:solidFill>
                  <a:srgbClr val="040000"/>
                </a:solidFill>
                <a:latin typeface="Century Schoolbook" pitchFamily="18" charset="0"/>
              </a:rPr>
              <a:t>        </a:t>
            </a:r>
            <a:r>
              <a:rPr kumimoji="1" lang="zh-CN" altLang="en-US" sz="2800" b="1">
                <a:solidFill>
                  <a:srgbClr val="040000"/>
                </a:solidFill>
                <a:latin typeface="Century Schoolbook" pitchFamily="18" charset="0"/>
              </a:rPr>
              <a:t>可见，在温度为 </a:t>
            </a:r>
            <a:r>
              <a:rPr kumimoji="1" lang="en-US" altLang="zh-CN" sz="2800" i="1">
                <a:solidFill>
                  <a:srgbClr val="040000"/>
                </a:solidFill>
                <a:latin typeface="Times New Roman" pitchFamily="18" charset="0"/>
              </a:rPr>
              <a:t>T </a:t>
            </a:r>
            <a:r>
              <a:rPr kumimoji="1" lang="zh-CN" altLang="en-US" sz="2800" b="1">
                <a:solidFill>
                  <a:srgbClr val="040000"/>
                </a:solidFill>
                <a:latin typeface="Century Schoolbook" pitchFamily="18" charset="0"/>
              </a:rPr>
              <a:t>的平衡态下，气体分子每个</a:t>
            </a:r>
            <a:r>
              <a:rPr kumimoji="1" lang="zh-CN" altLang="en-US" sz="2800" b="1">
                <a:solidFill>
                  <a:srgbClr val="0000FF"/>
                </a:solidFill>
                <a:latin typeface="Century Schoolbook" pitchFamily="18" charset="0"/>
              </a:rPr>
              <a:t>自由度</a:t>
            </a:r>
            <a:r>
              <a:rPr kumimoji="1" lang="zh-CN" altLang="en-US" sz="2800" b="1">
                <a:solidFill>
                  <a:srgbClr val="040000"/>
                </a:solidFill>
                <a:latin typeface="Century Schoolbook" pitchFamily="18" charset="0"/>
              </a:rPr>
              <a:t>的</a:t>
            </a:r>
            <a:r>
              <a:rPr kumimoji="1" lang="zh-CN" altLang="en-US" sz="2800" b="1">
                <a:solidFill>
                  <a:srgbClr val="0000FF"/>
                </a:solidFill>
                <a:latin typeface="Century Schoolbook" pitchFamily="18" charset="0"/>
              </a:rPr>
              <a:t>平均动能</a:t>
            </a:r>
            <a:r>
              <a:rPr kumimoji="1" lang="zh-CN" altLang="en-US" sz="2800" b="1">
                <a:solidFill>
                  <a:srgbClr val="040000"/>
                </a:solidFill>
                <a:latin typeface="Century Schoolbook" pitchFamily="18" charset="0"/>
              </a:rPr>
              <a:t>都相等，而且等于</a:t>
            </a:r>
            <a:r>
              <a:rPr kumimoji="1" lang="en-US" altLang="zh-CN" sz="2800" b="1" i="1">
                <a:solidFill>
                  <a:srgbClr val="0000FF"/>
                </a:solidFill>
                <a:latin typeface="Times New Roman" pitchFamily="18" charset="0"/>
              </a:rPr>
              <a:t>kT/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itchFamily="18" charset="0"/>
              </a:rPr>
              <a:t>2</a:t>
            </a:r>
            <a:r>
              <a:rPr kumimoji="1" lang="en-US" altLang="zh-CN" sz="2800" b="1">
                <a:solidFill>
                  <a:srgbClr val="040000"/>
                </a:solidFill>
                <a:latin typeface="Times New Roman" pitchFamily="18" charset="0"/>
              </a:rPr>
              <a:t>.</a:t>
            </a:r>
            <a:endParaRPr kumimoji="1" lang="en-US" altLang="zh-CN" sz="2800" b="1">
              <a:solidFill>
                <a:srgbClr val="040000"/>
              </a:solidFill>
              <a:latin typeface="Century Schoolbook" pitchFamily="18" charset="0"/>
            </a:endParaRPr>
          </a:p>
        </p:txBody>
      </p:sp>
      <p:sp>
        <p:nvSpPr>
          <p:cNvPr id="25607" name="Rectangle 7"/>
          <p:cNvSpPr>
            <a:spLocks noChangeArrowheads="1"/>
          </p:cNvSpPr>
          <p:nvPr/>
        </p:nvSpPr>
        <p:spPr bwMode="auto">
          <a:xfrm>
            <a:off x="717550" y="1425575"/>
            <a:ext cx="54133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zh-CN" altLang="en-US" sz="2800" b="1">
                <a:solidFill>
                  <a:srgbClr val="040000"/>
                </a:solidFill>
                <a:latin typeface="Century Schoolbook" pitchFamily="18" charset="0"/>
              </a:rPr>
              <a:t>由</a:t>
            </a:r>
          </a:p>
        </p:txBody>
      </p:sp>
      <p:sp>
        <p:nvSpPr>
          <p:cNvPr id="248840" name="Rectangle 8"/>
          <p:cNvSpPr>
            <a:spLocks noChangeArrowheads="1"/>
          </p:cNvSpPr>
          <p:nvPr/>
        </p:nvSpPr>
        <p:spPr bwMode="auto">
          <a:xfrm>
            <a:off x="646113" y="4062413"/>
            <a:ext cx="54133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zh-CN" altLang="en-US" sz="2800" b="1">
                <a:solidFill>
                  <a:srgbClr val="040000"/>
                </a:solidFill>
                <a:latin typeface="Century Schoolbook" pitchFamily="18" charset="0"/>
              </a:rPr>
              <a:t>得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8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8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48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48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8838" grpId="0" autoUpdateAnimBg="0"/>
      <p:bldP spid="248840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304800" y="2276475"/>
            <a:ext cx="8458200" cy="2468563"/>
            <a:chOff x="192" y="144"/>
            <a:chExt cx="5328" cy="1555"/>
          </a:xfrm>
        </p:grpSpPr>
        <p:sp>
          <p:nvSpPr>
            <p:cNvPr id="26631" name="Text Box 3"/>
            <p:cNvSpPr txBox="1">
              <a:spLocks noChangeArrowheads="1"/>
            </p:cNvSpPr>
            <p:nvPr/>
          </p:nvSpPr>
          <p:spPr bwMode="auto">
            <a:xfrm>
              <a:off x="192" y="144"/>
              <a:ext cx="5328" cy="145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med" len="lg"/>
            </a:ln>
          </p:spPr>
          <p:txBody>
            <a:bodyPr>
              <a:spAutoFit/>
            </a:bodyPr>
            <a:lstStyle/>
            <a:p>
              <a:pPr algn="just">
                <a:lnSpc>
                  <a:spcPct val="180000"/>
                </a:lnSpc>
                <a:spcBef>
                  <a:spcPct val="50000"/>
                </a:spcBef>
              </a:pPr>
              <a:r>
                <a:rPr kumimoji="1" lang="zh-CN" altLang="en-US" sz="2800" b="1" dirty="0">
                  <a:solidFill>
                    <a:srgbClr val="FF0000"/>
                  </a:solidFill>
                  <a:latin typeface="Century Schoolbook" pitchFamily="18" charset="0"/>
                </a:rPr>
                <a:t>能量均分定理：</a:t>
              </a:r>
              <a:r>
                <a:rPr kumimoji="1" lang="zh-CN" altLang="en-US" sz="2800" b="1" dirty="0">
                  <a:solidFill>
                    <a:srgbClr val="040000"/>
                  </a:solidFill>
                  <a:latin typeface="Century Schoolbook" pitchFamily="18" charset="0"/>
                </a:rPr>
                <a:t>在温度为 </a:t>
              </a:r>
              <a:r>
                <a:rPr kumimoji="1" lang="en-US" altLang="zh-CN" sz="2800" i="1" dirty="0">
                  <a:solidFill>
                    <a:srgbClr val="040000"/>
                  </a:solidFill>
                  <a:latin typeface="Times New Roman" pitchFamily="18" charset="0"/>
                </a:rPr>
                <a:t>T </a:t>
              </a:r>
              <a:r>
                <a:rPr kumimoji="1" lang="zh-CN" altLang="en-US" sz="2800" b="1" dirty="0">
                  <a:solidFill>
                    <a:srgbClr val="040000"/>
                  </a:solidFill>
                  <a:latin typeface="Century Schoolbook" pitchFamily="18" charset="0"/>
                </a:rPr>
                <a:t>的平衡态下，物质分子的</a:t>
              </a:r>
              <a:r>
                <a:rPr kumimoji="1" lang="zh-CN" altLang="en-US" sz="2800" b="1" dirty="0">
                  <a:solidFill>
                    <a:srgbClr val="0000FF"/>
                  </a:solidFill>
                  <a:latin typeface="Century Schoolbook" pitchFamily="18" charset="0"/>
                </a:rPr>
                <a:t>任何一个自由度</a:t>
              </a:r>
              <a:r>
                <a:rPr kumimoji="1" lang="zh-CN" altLang="en-US" sz="2800" b="1" dirty="0">
                  <a:solidFill>
                    <a:srgbClr val="040000"/>
                  </a:solidFill>
                  <a:latin typeface="Century Schoolbook" pitchFamily="18" charset="0"/>
                </a:rPr>
                <a:t>上分配有</a:t>
              </a:r>
              <a:r>
                <a:rPr kumimoji="1" lang="en-US" altLang="zh-CN" sz="2800" b="1" i="1" dirty="0">
                  <a:solidFill>
                    <a:srgbClr val="0000FF"/>
                  </a:solidFill>
                  <a:latin typeface="Times New Roman" pitchFamily="18" charset="0"/>
                </a:rPr>
                <a:t>kT/</a:t>
              </a:r>
              <a:r>
                <a:rPr kumimoji="1" lang="en-US" altLang="zh-CN" sz="2800" b="1" dirty="0">
                  <a:solidFill>
                    <a:srgbClr val="0000FF"/>
                  </a:solidFill>
                  <a:latin typeface="Times New Roman" pitchFamily="18" charset="0"/>
                </a:rPr>
                <a:t>2</a:t>
              </a:r>
              <a:r>
                <a:rPr kumimoji="1" lang="zh-CN" altLang="en-US" sz="2800" b="1" dirty="0">
                  <a:solidFill>
                    <a:srgbClr val="040000"/>
                  </a:solidFill>
                  <a:latin typeface="Century Schoolbook" pitchFamily="18" charset="0"/>
                </a:rPr>
                <a:t>的平均动能，对有</a:t>
              </a:r>
              <a:r>
                <a:rPr kumimoji="1" lang="en-US" altLang="zh-CN" sz="2800" b="1" i="1" dirty="0" err="1">
                  <a:solidFill>
                    <a:srgbClr val="040000"/>
                  </a:solidFill>
                  <a:latin typeface="Book Antiqua" pitchFamily="18" charset="0"/>
                </a:rPr>
                <a:t>i</a:t>
              </a:r>
              <a:r>
                <a:rPr kumimoji="1" lang="zh-CN" altLang="en-US" sz="2800" b="1" dirty="0">
                  <a:solidFill>
                    <a:srgbClr val="040000"/>
                  </a:solidFill>
                  <a:latin typeface="Century Schoolbook" pitchFamily="18" charset="0"/>
                </a:rPr>
                <a:t>个自由度的气体分子，其平均动能为</a:t>
              </a:r>
              <a:r>
                <a:rPr kumimoji="1" lang="zh-CN" altLang="en-US" sz="2800" b="1" dirty="0">
                  <a:solidFill>
                    <a:srgbClr val="000066"/>
                  </a:solidFill>
                  <a:latin typeface="Century Schoolbook" pitchFamily="18" charset="0"/>
                </a:rPr>
                <a:t>           </a:t>
              </a:r>
              <a:r>
                <a:rPr kumimoji="1" lang="en-US" altLang="zh-CN" sz="2800" b="1" dirty="0">
                  <a:solidFill>
                    <a:srgbClr val="040000"/>
                  </a:solidFill>
                  <a:latin typeface="Times New Roman" pitchFamily="18" charset="0"/>
                </a:rPr>
                <a:t>.</a:t>
              </a:r>
            </a:p>
          </p:txBody>
        </p:sp>
        <p:graphicFrame>
          <p:nvGraphicFramePr>
            <p:cNvPr id="26626" name="Object 4"/>
            <p:cNvGraphicFramePr>
              <a:graphicFrameLocks noChangeAspect="1"/>
            </p:cNvGraphicFramePr>
            <p:nvPr/>
          </p:nvGraphicFramePr>
          <p:xfrm>
            <a:off x="3724" y="1142"/>
            <a:ext cx="517" cy="557"/>
          </p:xfrm>
          <a:graphic>
            <a:graphicData uri="http://schemas.openxmlformats.org/presentationml/2006/ole">
              <p:oleObj spid="_x0000_s103426" name="公式" r:id="rId3" imgW="977760" imgH="1054080" progId="Equation.3">
                <p:embed/>
              </p:oleObj>
            </a:graphicData>
          </a:graphic>
        </p:graphicFrame>
      </p:grpSp>
      <p:sp>
        <p:nvSpPr>
          <p:cNvPr id="26629" name="Rectangle 9"/>
          <p:cNvSpPr>
            <a:spLocks noChangeArrowheads="1"/>
          </p:cNvSpPr>
          <p:nvPr/>
        </p:nvSpPr>
        <p:spPr bwMode="auto">
          <a:xfrm>
            <a:off x="323850" y="549275"/>
            <a:ext cx="8588375" cy="1384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2800" b="1">
                <a:solidFill>
                  <a:srgbClr val="040000"/>
                </a:solidFill>
                <a:latin typeface="Century Schoolbook" pitchFamily="18" charset="0"/>
              </a:rPr>
              <a:t>        </a:t>
            </a:r>
            <a:r>
              <a:rPr kumimoji="1" lang="zh-CN" altLang="en-US" sz="2800" b="1">
                <a:solidFill>
                  <a:srgbClr val="040000"/>
                </a:solidFill>
                <a:latin typeface="Century Schoolbook" pitchFamily="18" charset="0"/>
              </a:rPr>
              <a:t>由于气体分子频繁碰撞，在平衡态下，</a:t>
            </a:r>
            <a:r>
              <a:rPr kumimoji="1" lang="zh-CN" altLang="en-US" sz="2800" b="1">
                <a:solidFill>
                  <a:srgbClr val="0000FF"/>
                </a:solidFill>
                <a:latin typeface="Century Schoolbook" pitchFamily="18" charset="0"/>
              </a:rPr>
              <a:t>不可能</a:t>
            </a:r>
            <a:r>
              <a:rPr kumimoji="1" lang="zh-CN" altLang="en-US" sz="2800" b="1">
                <a:solidFill>
                  <a:srgbClr val="040000"/>
                </a:solidFill>
                <a:latin typeface="Century Schoolbook" pitchFamily="18" charset="0"/>
              </a:rPr>
              <a:t>有哪种运动形式和在</a:t>
            </a:r>
            <a:r>
              <a:rPr kumimoji="1" lang="zh-CN" altLang="en-US" sz="2800" b="1">
                <a:solidFill>
                  <a:srgbClr val="0000FF"/>
                </a:solidFill>
                <a:latin typeface="Century Schoolbook" pitchFamily="18" charset="0"/>
              </a:rPr>
              <a:t>哪个</a:t>
            </a:r>
            <a:r>
              <a:rPr kumimoji="1" lang="zh-CN" altLang="en-US" sz="2800" b="1">
                <a:solidFill>
                  <a:srgbClr val="040000"/>
                </a:solidFill>
                <a:latin typeface="Century Schoolbook" pitchFamily="18" charset="0"/>
              </a:rPr>
              <a:t>自由度上运动</a:t>
            </a:r>
            <a:r>
              <a:rPr kumimoji="1" lang="zh-CN" altLang="en-US" sz="2800" b="1">
                <a:solidFill>
                  <a:srgbClr val="0000FF"/>
                </a:solidFill>
                <a:latin typeface="Century Schoolbook" pitchFamily="18" charset="0"/>
              </a:rPr>
              <a:t>占优势</a:t>
            </a:r>
            <a:r>
              <a:rPr kumimoji="1" lang="en-US" altLang="zh-CN" sz="2800" b="1">
                <a:solidFill>
                  <a:srgbClr val="040000"/>
                </a:solidFill>
                <a:latin typeface="Century Schoolbook" pitchFamily="18" charset="0"/>
              </a:rPr>
              <a:t>.</a:t>
            </a:r>
          </a:p>
        </p:txBody>
      </p: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1619250" y="5300663"/>
            <a:ext cx="612140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en-US" altLang="zh-CN" sz="3600" b="1" i="1">
                <a:solidFill>
                  <a:srgbClr val="C00000"/>
                </a:solidFill>
                <a:latin typeface="Times New Roman" pitchFamily="18" charset="0"/>
              </a:rPr>
              <a:t>i</a:t>
            </a:r>
            <a:r>
              <a:rPr kumimoji="1" lang="zh-CN" altLang="en-US" sz="3600" b="1">
                <a:solidFill>
                  <a:srgbClr val="C00000"/>
                </a:solidFill>
                <a:latin typeface="Times New Roman" pitchFamily="18" charset="0"/>
              </a:rPr>
              <a:t>包括： 平动、转动、</a:t>
            </a:r>
            <a:r>
              <a:rPr kumimoji="1" lang="zh-CN" altLang="en-US" sz="3600" b="1">
                <a:solidFill>
                  <a:srgbClr val="000000"/>
                </a:solidFill>
                <a:latin typeface="Times New Roman" pitchFamily="18" charset="0"/>
              </a:rPr>
              <a:t>振动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52400" y="279400"/>
            <a:ext cx="4275138" cy="685800"/>
          </a:xfrm>
        </p:spPr>
        <p:txBody>
          <a:bodyPr/>
          <a:lstStyle/>
          <a:p>
            <a:pPr algn="l" eaLnBrk="1" hangingPunct="1">
              <a:defRPr/>
            </a:pPr>
            <a:r>
              <a:rPr lang="zh-CN" alt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三、理想气体的内能</a:t>
            </a:r>
          </a:p>
        </p:txBody>
      </p:sp>
      <p:sp>
        <p:nvSpPr>
          <p:cNvPr id="250883" name="Text Box 3"/>
          <p:cNvSpPr txBox="1">
            <a:spLocks noChangeArrowheads="1"/>
          </p:cNvSpPr>
          <p:nvPr/>
        </p:nvSpPr>
        <p:spPr bwMode="auto">
          <a:xfrm>
            <a:off x="381000" y="2874963"/>
            <a:ext cx="5029200" cy="519112"/>
          </a:xfrm>
          <a:prstGeom prst="rect">
            <a:avLst/>
          </a:prstGeom>
          <a:noFill/>
          <a:ln w="19050">
            <a:noFill/>
            <a:miter lim="800000"/>
            <a:headEnd/>
            <a:tailEnd type="none" w="med" len="lg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rgbClr val="FF0000"/>
                </a:solidFill>
                <a:latin typeface="Century Schoolbook" pitchFamily="18" charset="0"/>
              </a:rPr>
              <a:t>一个</a:t>
            </a:r>
            <a:r>
              <a:rPr kumimoji="1" lang="zh-CN" altLang="en-US" sz="2800" b="1">
                <a:solidFill>
                  <a:srgbClr val="040000"/>
                </a:solidFill>
                <a:latin typeface="Century Schoolbook" pitchFamily="18" charset="0"/>
              </a:rPr>
              <a:t>分子的能量为</a:t>
            </a:r>
          </a:p>
        </p:txBody>
      </p:sp>
      <p:graphicFrame>
        <p:nvGraphicFramePr>
          <p:cNvPr id="250884" name="Object 4"/>
          <p:cNvGraphicFramePr>
            <a:graphicFrameLocks noChangeAspect="1"/>
          </p:cNvGraphicFramePr>
          <p:nvPr/>
        </p:nvGraphicFramePr>
        <p:xfrm>
          <a:off x="3486150" y="2681288"/>
          <a:ext cx="860425" cy="927100"/>
        </p:xfrm>
        <a:graphic>
          <a:graphicData uri="http://schemas.openxmlformats.org/presentationml/2006/ole">
            <p:oleObj spid="_x0000_s104450" name="公式" r:id="rId3" imgW="977760" imgH="1054080" progId="Equation.3">
              <p:embed/>
            </p:oleObj>
          </a:graphicData>
        </a:graphic>
      </p:graphicFrame>
      <p:sp>
        <p:nvSpPr>
          <p:cNvPr id="250885" name="Text Box 5"/>
          <p:cNvSpPr txBox="1">
            <a:spLocks noChangeArrowheads="1"/>
          </p:cNvSpPr>
          <p:nvPr/>
        </p:nvSpPr>
        <p:spPr bwMode="auto">
          <a:xfrm>
            <a:off x="381000" y="4176713"/>
            <a:ext cx="6096000" cy="519112"/>
          </a:xfrm>
          <a:prstGeom prst="rect">
            <a:avLst/>
          </a:prstGeom>
          <a:noFill/>
          <a:ln w="19050">
            <a:noFill/>
            <a:miter lim="800000"/>
            <a:headEnd/>
            <a:tailEnd type="none" w="med" len="lg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>
                <a:solidFill>
                  <a:srgbClr val="FF0000"/>
                </a:solidFill>
                <a:latin typeface="Century Schoolbook" pitchFamily="18" charset="0"/>
              </a:rPr>
              <a:t>1 mol</a:t>
            </a:r>
            <a:r>
              <a:rPr kumimoji="1" lang="zh-CN" altLang="en-US" sz="2800" b="1">
                <a:solidFill>
                  <a:srgbClr val="040000"/>
                </a:solidFill>
                <a:latin typeface="Century Schoolbook" pitchFamily="18" charset="0"/>
              </a:rPr>
              <a:t>气体分子的能量为</a:t>
            </a:r>
          </a:p>
        </p:txBody>
      </p:sp>
      <p:sp>
        <p:nvSpPr>
          <p:cNvPr id="27657" name="Text Box 6"/>
          <p:cNvSpPr txBox="1">
            <a:spLocks noChangeArrowheads="1"/>
          </p:cNvSpPr>
          <p:nvPr/>
        </p:nvSpPr>
        <p:spPr bwMode="auto">
          <a:xfrm>
            <a:off x="304800" y="974725"/>
            <a:ext cx="8382000" cy="1284288"/>
          </a:xfrm>
          <a:prstGeom prst="rect">
            <a:avLst/>
          </a:prstGeom>
          <a:noFill/>
          <a:ln w="19050">
            <a:noFill/>
            <a:miter lim="800000"/>
            <a:headEnd/>
            <a:tailEnd type="none" w="med" len="lg"/>
          </a:ln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spcBef>
                <a:spcPct val="50000"/>
              </a:spcBef>
            </a:pPr>
            <a:r>
              <a:rPr kumimoji="1" lang="zh-CN" altLang="en-US" sz="2800" b="1">
                <a:solidFill>
                  <a:srgbClr val="0033CC"/>
                </a:solidFill>
                <a:latin typeface="Century Schoolbook" pitchFamily="18" charset="0"/>
              </a:rPr>
              <a:t>定义：</a:t>
            </a:r>
            <a:r>
              <a:rPr kumimoji="1" lang="zh-CN" altLang="en-US" sz="2800" b="1">
                <a:solidFill>
                  <a:srgbClr val="040000"/>
                </a:solidFill>
                <a:latin typeface="Century Schoolbook" pitchFamily="18" charset="0"/>
              </a:rPr>
              <a:t>气体内部所有分子的</a:t>
            </a:r>
            <a:r>
              <a:rPr kumimoji="1" lang="zh-CN" altLang="en-US" sz="2800" b="1">
                <a:solidFill>
                  <a:srgbClr val="FF0000"/>
                </a:solidFill>
                <a:latin typeface="Century Schoolbook" pitchFamily="18" charset="0"/>
              </a:rPr>
              <a:t>动能</a:t>
            </a:r>
            <a:r>
              <a:rPr kumimoji="1" lang="zh-CN" altLang="en-US" sz="2800" b="1">
                <a:solidFill>
                  <a:srgbClr val="040000"/>
                </a:solidFill>
                <a:latin typeface="Century Schoolbook" pitchFamily="18" charset="0"/>
              </a:rPr>
              <a:t>和分子间的相互作用</a:t>
            </a:r>
            <a:r>
              <a:rPr kumimoji="1" lang="zh-CN" altLang="en-US" sz="2800" b="1">
                <a:solidFill>
                  <a:srgbClr val="FF0000"/>
                </a:solidFill>
                <a:latin typeface="Century Schoolbook" pitchFamily="18" charset="0"/>
              </a:rPr>
              <a:t>势能</a:t>
            </a:r>
            <a:r>
              <a:rPr kumimoji="1" lang="zh-CN" altLang="en-US" sz="2800" b="1">
                <a:solidFill>
                  <a:srgbClr val="040000"/>
                </a:solidFill>
                <a:latin typeface="Century Schoolbook" pitchFamily="18" charset="0"/>
              </a:rPr>
              <a:t>的</a:t>
            </a:r>
            <a:r>
              <a:rPr kumimoji="1" lang="zh-CN" altLang="en-US" sz="2800" b="1">
                <a:solidFill>
                  <a:srgbClr val="FF0000"/>
                </a:solidFill>
                <a:latin typeface="Century Schoolbook" pitchFamily="18" charset="0"/>
              </a:rPr>
              <a:t>总和</a:t>
            </a:r>
            <a:r>
              <a:rPr kumimoji="1" lang="zh-CN" altLang="en-US" sz="2800" b="1">
                <a:solidFill>
                  <a:srgbClr val="040000"/>
                </a:solidFill>
                <a:latin typeface="Century Schoolbook" pitchFamily="18" charset="0"/>
              </a:rPr>
              <a:t>称为气体的</a:t>
            </a:r>
            <a:r>
              <a:rPr kumimoji="1" lang="zh-CN" altLang="en-US" sz="2800" b="1">
                <a:solidFill>
                  <a:srgbClr val="FF0000"/>
                </a:solidFill>
                <a:latin typeface="Century Schoolbook" pitchFamily="18" charset="0"/>
              </a:rPr>
              <a:t>内能</a:t>
            </a:r>
            <a:r>
              <a:rPr kumimoji="1" lang="en-US" altLang="zh-CN" sz="2800" b="1">
                <a:solidFill>
                  <a:srgbClr val="040000"/>
                </a:solidFill>
                <a:latin typeface="Century Schoolbook" pitchFamily="18" charset="0"/>
              </a:rPr>
              <a:t>.</a:t>
            </a:r>
          </a:p>
        </p:txBody>
      </p:sp>
      <p:graphicFrame>
        <p:nvGraphicFramePr>
          <p:cNvPr id="250888" name="Object 8"/>
          <p:cNvGraphicFramePr>
            <a:graphicFrameLocks noChangeAspect="1"/>
          </p:cNvGraphicFramePr>
          <p:nvPr/>
        </p:nvGraphicFramePr>
        <p:xfrm>
          <a:off x="4402138" y="3968750"/>
          <a:ext cx="1295400" cy="979488"/>
        </p:xfrm>
        <a:graphic>
          <a:graphicData uri="http://schemas.openxmlformats.org/presentationml/2006/ole">
            <p:oleObj spid="_x0000_s104451" name="公式" r:id="rId4" imgW="520560" imgH="393480" progId="Equation.3">
              <p:embed/>
            </p:oleObj>
          </a:graphicData>
        </a:graphic>
      </p:graphicFrame>
      <p:graphicFrame>
        <p:nvGraphicFramePr>
          <p:cNvPr id="250889" name="Object 9"/>
          <p:cNvGraphicFramePr>
            <a:graphicFrameLocks noChangeAspect="1"/>
          </p:cNvGraphicFramePr>
          <p:nvPr/>
        </p:nvGraphicFramePr>
        <p:xfrm>
          <a:off x="5668963" y="3968750"/>
          <a:ext cx="1289050" cy="946150"/>
        </p:xfrm>
        <a:graphic>
          <a:graphicData uri="http://schemas.openxmlformats.org/presentationml/2006/ole">
            <p:oleObj spid="_x0000_s104452" name="公式" r:id="rId5" imgW="1434960" imgH="1054080" progId="Equation.3">
              <p:embed/>
            </p:oleObj>
          </a:graphicData>
        </a:graphic>
      </p:graphicFrame>
      <p:sp>
        <p:nvSpPr>
          <p:cNvPr id="250890" name="Text Box 10"/>
          <p:cNvSpPr txBox="1">
            <a:spLocks noChangeArrowheads="1"/>
          </p:cNvSpPr>
          <p:nvPr/>
        </p:nvSpPr>
        <p:spPr bwMode="auto">
          <a:xfrm>
            <a:off x="395288" y="5519738"/>
            <a:ext cx="5410200" cy="519112"/>
          </a:xfrm>
          <a:prstGeom prst="rect">
            <a:avLst/>
          </a:prstGeom>
          <a:noFill/>
          <a:ln w="19050">
            <a:noFill/>
            <a:miter lim="800000"/>
            <a:headEnd/>
            <a:tailEnd type="none" w="med" len="lg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Century Schoolbook" pitchFamily="18" charset="0"/>
              </a:rPr>
              <a:t>质量为</a:t>
            </a:r>
            <a:r>
              <a:rPr kumimoji="1" lang="en-US" altLang="zh-CN" sz="28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kumimoji="1" lang="en-US" altLang="zh-CN" sz="2800" b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kumimoji="1" lang="en-US" altLang="zh-CN" sz="2800" b="1" i="1" dirty="0" smtClean="0">
                <a:solidFill>
                  <a:srgbClr val="04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1" lang="zh-CN" altLang="en-US" sz="2800" b="1" dirty="0">
                <a:solidFill>
                  <a:srgbClr val="040000"/>
                </a:solidFill>
                <a:latin typeface="Century Schoolbook" pitchFamily="18" charset="0"/>
              </a:rPr>
              <a:t>的</a:t>
            </a:r>
            <a:r>
              <a:rPr kumimoji="1" lang="zh-CN" altLang="zh-CN" sz="2800" b="1" dirty="0">
                <a:solidFill>
                  <a:srgbClr val="040000"/>
                </a:solidFill>
                <a:latin typeface="Century Schoolbook" pitchFamily="18" charset="0"/>
              </a:rPr>
              <a:t>气体的能量为</a:t>
            </a:r>
            <a:endParaRPr kumimoji="1" lang="zh-CN" altLang="en-US" sz="2800" b="1" dirty="0">
              <a:solidFill>
                <a:srgbClr val="040000"/>
              </a:solidFill>
              <a:latin typeface="Century Schoolbook" pitchFamily="18" charset="0"/>
            </a:endParaRPr>
          </a:p>
        </p:txBody>
      </p:sp>
      <p:graphicFrame>
        <p:nvGraphicFramePr>
          <p:cNvPr id="250891" name="Object 11"/>
          <p:cNvGraphicFramePr>
            <a:graphicFrameLocks noChangeAspect="1"/>
          </p:cNvGraphicFramePr>
          <p:nvPr/>
        </p:nvGraphicFramePr>
        <p:xfrm>
          <a:off x="4676551" y="5273675"/>
          <a:ext cx="2271713" cy="1068388"/>
        </p:xfrm>
        <a:graphic>
          <a:graphicData uri="http://schemas.openxmlformats.org/presentationml/2006/ole">
            <p:oleObj spid="_x0000_s104453" name="Equation" r:id="rId6" imgW="838080" imgH="393480" progId="Equation.3">
              <p:embed/>
            </p:oleObj>
          </a:graphicData>
        </a:graphic>
      </p:graphicFrame>
      <p:cxnSp>
        <p:nvCxnSpPr>
          <p:cNvPr id="27660" name="直接连接符 15"/>
          <p:cNvCxnSpPr>
            <a:cxnSpLocks noChangeShapeType="1"/>
          </p:cNvCxnSpPr>
          <p:nvPr/>
        </p:nvCxnSpPr>
        <p:spPr bwMode="auto">
          <a:xfrm>
            <a:off x="755650" y="1800225"/>
            <a:ext cx="720725" cy="431800"/>
          </a:xfrm>
          <a:prstGeom prst="line">
            <a:avLst/>
          </a:prstGeom>
          <a:noFill/>
          <a:ln w="76200" algn="ctr">
            <a:solidFill>
              <a:schemeClr val="tx1"/>
            </a:solidFill>
            <a:miter lim="800000"/>
            <a:headEnd/>
            <a:tailEnd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50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50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50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50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50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50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50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883" grpId="0" autoUpdateAnimBg="0"/>
      <p:bldP spid="250885" grpId="0" autoUpdateAnimBg="0"/>
      <p:bldP spid="250890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6" name="Rectangle 2"/>
          <p:cNvSpPr>
            <a:spLocks noChangeArrowheads="1"/>
          </p:cNvSpPr>
          <p:nvPr/>
        </p:nvSpPr>
        <p:spPr bwMode="auto">
          <a:xfrm>
            <a:off x="304800" y="368300"/>
            <a:ext cx="8534400" cy="1289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lnSpc>
                <a:spcPct val="140000"/>
              </a:lnSpc>
            </a:pPr>
            <a:r>
              <a:rPr kumimoji="1" lang="en-US" altLang="zh-CN" sz="2800" b="1">
                <a:solidFill>
                  <a:srgbClr val="040000"/>
                </a:solidFill>
                <a:latin typeface="Century Schoolbook" pitchFamily="18" charset="0"/>
              </a:rPr>
              <a:t>        </a:t>
            </a:r>
            <a:r>
              <a:rPr kumimoji="1" lang="zh-CN" altLang="en-US" sz="2800" b="1">
                <a:solidFill>
                  <a:srgbClr val="040000"/>
                </a:solidFill>
                <a:latin typeface="Century Schoolbook" pitchFamily="18" charset="0"/>
              </a:rPr>
              <a:t>理想气体的</a:t>
            </a:r>
            <a:r>
              <a:rPr kumimoji="1" lang="zh-CN" altLang="en-US" sz="2800" b="1">
                <a:solidFill>
                  <a:srgbClr val="FF0000"/>
                </a:solidFill>
                <a:latin typeface="Century Schoolbook" pitchFamily="18" charset="0"/>
              </a:rPr>
              <a:t>内能</a:t>
            </a:r>
            <a:r>
              <a:rPr kumimoji="1" lang="zh-CN" altLang="en-US" sz="2800" b="1">
                <a:solidFill>
                  <a:srgbClr val="040000"/>
                </a:solidFill>
                <a:latin typeface="Century Schoolbook" pitchFamily="18" charset="0"/>
              </a:rPr>
              <a:t>只是</a:t>
            </a:r>
            <a:r>
              <a:rPr kumimoji="1" lang="zh-CN" altLang="en-US" sz="2800" b="1">
                <a:solidFill>
                  <a:srgbClr val="FF0000"/>
                </a:solidFill>
                <a:latin typeface="Century Schoolbook" pitchFamily="18" charset="0"/>
              </a:rPr>
              <a:t>温度的单值函数</a:t>
            </a:r>
            <a:r>
              <a:rPr kumimoji="1" lang="zh-CN" altLang="en-US" sz="2800" b="1">
                <a:solidFill>
                  <a:srgbClr val="040000"/>
                </a:solidFill>
                <a:latin typeface="Century Schoolbook" pitchFamily="18" charset="0"/>
              </a:rPr>
              <a:t>，而且和热力学温度成</a:t>
            </a:r>
            <a:r>
              <a:rPr kumimoji="1" lang="zh-CN" altLang="en-US" sz="2800" b="1">
                <a:solidFill>
                  <a:srgbClr val="FF0000"/>
                </a:solidFill>
                <a:latin typeface="Century Schoolbook" pitchFamily="18" charset="0"/>
              </a:rPr>
              <a:t>正比，也是状态函数</a:t>
            </a:r>
            <a:r>
              <a:rPr kumimoji="1" lang="en-US" altLang="zh-CN" sz="2800" b="1">
                <a:solidFill>
                  <a:srgbClr val="040000"/>
                </a:solidFill>
                <a:latin typeface="Century Schoolbook" pitchFamily="18" charset="0"/>
              </a:rPr>
              <a:t>.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381000" y="1898650"/>
            <a:ext cx="8458200" cy="1203325"/>
            <a:chOff x="240" y="912"/>
            <a:chExt cx="5328" cy="758"/>
          </a:xfrm>
        </p:grpSpPr>
        <p:sp>
          <p:nvSpPr>
            <p:cNvPr id="28680" name="Rectangle 4"/>
            <p:cNvSpPr>
              <a:spLocks noChangeArrowheads="1"/>
            </p:cNvSpPr>
            <p:nvPr/>
          </p:nvSpPr>
          <p:spPr bwMode="auto">
            <a:xfrm>
              <a:off x="240" y="912"/>
              <a:ext cx="5328" cy="7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kumimoji="1" lang="en-US" altLang="zh-CN" sz="2800" b="1">
                  <a:solidFill>
                    <a:srgbClr val="040000"/>
                  </a:solidFill>
                  <a:latin typeface="Century Schoolbook" pitchFamily="18" charset="0"/>
                </a:rPr>
                <a:t>        </a:t>
              </a:r>
              <a:r>
                <a:rPr kumimoji="1" lang="zh-CN" altLang="en-US" sz="2800" b="1">
                  <a:solidFill>
                    <a:srgbClr val="040000"/>
                  </a:solidFill>
                  <a:latin typeface="Century Schoolbook" pitchFamily="18" charset="0"/>
                </a:rPr>
                <a:t>对于一定量的理想气体，当温度改变        时，内能的改变量为    </a:t>
              </a:r>
            </a:p>
          </p:txBody>
        </p:sp>
        <p:graphicFrame>
          <p:nvGraphicFramePr>
            <p:cNvPr id="28675" name="Object 5"/>
            <p:cNvGraphicFramePr>
              <a:graphicFrameLocks noChangeAspect="1"/>
            </p:cNvGraphicFramePr>
            <p:nvPr/>
          </p:nvGraphicFramePr>
          <p:xfrm>
            <a:off x="4623" y="969"/>
            <a:ext cx="412" cy="282"/>
          </p:xfrm>
          <a:graphic>
            <a:graphicData uri="http://schemas.openxmlformats.org/presentationml/2006/ole">
              <p:oleObj spid="_x0000_s105475" name="Equation" r:id="rId3" imgW="241200" imgH="164880" progId="Equation.3">
                <p:embed/>
              </p:oleObj>
            </a:graphicData>
          </a:graphic>
        </p:graphicFrame>
      </p:grpSp>
      <p:graphicFrame>
        <p:nvGraphicFramePr>
          <p:cNvPr id="251910" name="Object 6"/>
          <p:cNvGraphicFramePr>
            <a:graphicFrameLocks noChangeAspect="1"/>
          </p:cNvGraphicFramePr>
          <p:nvPr/>
        </p:nvGraphicFramePr>
        <p:xfrm>
          <a:off x="1773238" y="3335338"/>
          <a:ext cx="3014786" cy="1136913"/>
        </p:xfrm>
        <a:graphic>
          <a:graphicData uri="http://schemas.openxmlformats.org/presentationml/2006/ole">
            <p:oleObj spid="_x0000_s105474" name="Equation" r:id="rId4" imgW="1079280" imgH="406080" progId="Equation.DSMT4">
              <p:embed/>
            </p:oleObj>
          </a:graphicData>
        </a:graphic>
      </p:graphicFrame>
      <p:sp>
        <p:nvSpPr>
          <p:cNvPr id="251911" name="Rectangle 7"/>
          <p:cNvSpPr>
            <a:spLocks noChangeArrowheads="1"/>
          </p:cNvSpPr>
          <p:nvPr/>
        </p:nvSpPr>
        <p:spPr bwMode="auto">
          <a:xfrm>
            <a:off x="381000" y="4924425"/>
            <a:ext cx="8534400" cy="1384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kumimoji="1" lang="en-US" altLang="zh-CN" sz="2800" b="1">
                <a:solidFill>
                  <a:srgbClr val="040000"/>
                </a:solidFill>
                <a:latin typeface="Century Schoolbook" pitchFamily="18" charset="0"/>
              </a:rPr>
              <a:t>        </a:t>
            </a:r>
            <a:r>
              <a:rPr kumimoji="1" lang="zh-CN" altLang="en-US" sz="2800" b="1">
                <a:solidFill>
                  <a:srgbClr val="040000"/>
                </a:solidFill>
                <a:latin typeface="Century Schoolbook" pitchFamily="18" charset="0"/>
              </a:rPr>
              <a:t>无论经由什么过程，</a:t>
            </a:r>
            <a:r>
              <a:rPr kumimoji="1" lang="zh-CN" altLang="en-US" sz="2800" b="1">
                <a:solidFill>
                  <a:srgbClr val="FF0000"/>
                </a:solidFill>
                <a:latin typeface="Century Schoolbook" pitchFamily="18" charset="0"/>
              </a:rPr>
              <a:t>只要温度变化相同</a:t>
            </a:r>
            <a:r>
              <a:rPr kumimoji="1" lang="zh-CN" altLang="en-US" sz="2800" b="1">
                <a:solidFill>
                  <a:srgbClr val="040000"/>
                </a:solidFill>
                <a:latin typeface="Century Schoolbook" pitchFamily="18" charset="0"/>
              </a:rPr>
              <a:t>，一定量的理想气体的</a:t>
            </a:r>
            <a:r>
              <a:rPr kumimoji="1" lang="zh-CN" altLang="en-US" sz="2800" b="1">
                <a:solidFill>
                  <a:srgbClr val="FF0000"/>
                </a:solidFill>
                <a:latin typeface="Century Schoolbook" pitchFamily="18" charset="0"/>
              </a:rPr>
              <a:t>内能变化就相同</a:t>
            </a:r>
            <a:r>
              <a:rPr kumimoji="1" lang="en-US" altLang="zh-CN" sz="2800" b="1">
                <a:solidFill>
                  <a:srgbClr val="040000"/>
                </a:solidFill>
                <a:latin typeface="Century Schoolbook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51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51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1911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1" name="Rectangle 2"/>
          <p:cNvSpPr>
            <a:spLocks noChangeArrowheads="1"/>
          </p:cNvSpPr>
          <p:nvPr/>
        </p:nvSpPr>
        <p:spPr bwMode="auto">
          <a:xfrm>
            <a:off x="827088" y="401638"/>
            <a:ext cx="7791450" cy="1016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lIns="12700" tIns="12700" rIns="12700" bIns="12700">
            <a:spAutoFit/>
          </a:bodyPr>
          <a:lstStyle/>
          <a:p>
            <a:pPr algn="just">
              <a:lnSpc>
                <a:spcPct val="115000"/>
              </a:lnSpc>
            </a:pPr>
            <a:r>
              <a:rPr kumimoji="1" lang="zh-CN" altLang="en-US" sz="2800" b="1">
                <a:solidFill>
                  <a:srgbClr val="000000"/>
                </a:solidFill>
                <a:latin typeface="Times New Roman" pitchFamily="18" charset="0"/>
              </a:rPr>
              <a:t>一容器内某理想气体的温度为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itchFamily="18" charset="0"/>
              </a:rPr>
              <a:t>T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itchFamily="18" charset="0"/>
              </a:rPr>
              <a:t>=273 K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itchFamily="18" charset="0"/>
              </a:rPr>
              <a:t>，密度为             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itchFamily="18" charset="0"/>
              </a:rPr>
              <a:t>ρ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itchFamily="18" charset="0"/>
              </a:rPr>
              <a:t>= 1.25 g/m</a:t>
            </a:r>
            <a:r>
              <a:rPr kumimoji="1" lang="en-US" altLang="zh-CN" sz="2800" b="1" baseline="30000">
                <a:solidFill>
                  <a:srgbClr val="000000"/>
                </a:solidFill>
                <a:latin typeface="Times New Roman" pitchFamily="18" charset="0"/>
              </a:rPr>
              <a:t>3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itchFamily="18" charset="0"/>
              </a:rPr>
              <a:t>，压强为</a:t>
            </a:r>
            <a:r>
              <a:rPr kumimoji="1" lang="zh-CN" altLang="en-US" sz="2800" b="1" i="1">
                <a:solidFill>
                  <a:srgbClr val="000000"/>
                </a:solidFill>
                <a:latin typeface="Times New Roman" pitchFamily="18" charset="0"/>
              </a:rPr>
              <a:t>  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itchFamily="18" charset="0"/>
              </a:rPr>
              <a:t>p 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itchFamily="18" charset="0"/>
              </a:rPr>
              <a:t>= 100 Pa</a:t>
            </a:r>
          </a:p>
        </p:txBody>
      </p:sp>
      <p:sp>
        <p:nvSpPr>
          <p:cNvPr id="29702" name="Rectangle 3"/>
          <p:cNvSpPr>
            <a:spLocks noChangeArrowheads="1"/>
          </p:cNvSpPr>
          <p:nvPr/>
        </p:nvSpPr>
        <p:spPr bwMode="auto">
          <a:xfrm>
            <a:off x="623888" y="1431925"/>
            <a:ext cx="7813675" cy="1941513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lIns="12700" tIns="12700" rIns="12700" bIns="12700">
            <a:spAutoFit/>
          </a:bodyPr>
          <a:lstStyle/>
          <a:p>
            <a:pPr algn="just" eaLnBrk="0" hangingPunct="0">
              <a:lnSpc>
                <a:spcPct val="155000"/>
              </a:lnSpc>
            </a:pPr>
            <a:r>
              <a:rPr kumimoji="1" lang="en-US" altLang="zh-CN" sz="2800" b="1">
                <a:solidFill>
                  <a:srgbClr val="000000"/>
                </a:solidFill>
                <a:latin typeface="Times New Roman" pitchFamily="18" charset="0"/>
              </a:rPr>
              <a:t>(1) 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itchFamily="18" charset="0"/>
              </a:rPr>
              <a:t>气体的摩尔质量，是何种气体？</a:t>
            </a:r>
          </a:p>
          <a:p>
            <a:pPr algn="just" eaLnBrk="0" hangingPunct="0">
              <a:lnSpc>
                <a:spcPct val="155000"/>
              </a:lnSpc>
            </a:pPr>
            <a:r>
              <a:rPr kumimoji="1" lang="en-US" altLang="zh-CN" sz="2800" b="1">
                <a:solidFill>
                  <a:srgbClr val="000000"/>
                </a:solidFill>
                <a:latin typeface="Times New Roman" pitchFamily="18" charset="0"/>
              </a:rPr>
              <a:t>(2) 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itchFamily="18" charset="0"/>
              </a:rPr>
              <a:t>气体分子的平均平动动能和平均转动动能？</a:t>
            </a:r>
          </a:p>
          <a:p>
            <a:pPr algn="just" eaLnBrk="0" hangingPunct="0">
              <a:lnSpc>
                <a:spcPct val="155000"/>
              </a:lnSpc>
            </a:pPr>
            <a:r>
              <a:rPr kumimoji="1" lang="en-US" altLang="zh-CN" sz="2800" b="1">
                <a:solidFill>
                  <a:srgbClr val="000000"/>
                </a:solidFill>
                <a:latin typeface="Times New Roman" pitchFamily="18" charset="0"/>
              </a:rPr>
              <a:t>(3) 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itchFamily="18" charset="0"/>
              </a:rPr>
              <a:t>设该气体有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itchFamily="18" charset="0"/>
              </a:rPr>
              <a:t>0.3 mol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itchFamily="18" charset="0"/>
              </a:rPr>
              <a:t>，气体的内能？</a:t>
            </a:r>
            <a:endParaRPr kumimoji="1" lang="zh-CN" altLang="en-US" sz="28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9703" name="Text Box 4"/>
          <p:cNvSpPr txBox="1">
            <a:spLocks noChangeArrowheads="1"/>
          </p:cNvSpPr>
          <p:nvPr/>
        </p:nvSpPr>
        <p:spPr bwMode="auto">
          <a:xfrm>
            <a:off x="206375" y="4019550"/>
            <a:ext cx="5461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800" b="1">
                <a:solidFill>
                  <a:srgbClr val="FF0000"/>
                </a:solidFill>
                <a:latin typeface="Times New Roman" pitchFamily="18" charset="0"/>
              </a:rPr>
              <a:t>解</a:t>
            </a:r>
          </a:p>
        </p:txBody>
      </p:sp>
      <p:sp>
        <p:nvSpPr>
          <p:cNvPr id="29704" name="Text Box 5"/>
          <p:cNvSpPr txBox="1">
            <a:spLocks noChangeArrowheads="1"/>
          </p:cNvSpPr>
          <p:nvPr/>
        </p:nvSpPr>
        <p:spPr bwMode="auto">
          <a:xfrm>
            <a:off x="104775" y="388938"/>
            <a:ext cx="2592388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  <a:latin typeface="Times New Roman" pitchFamily="18" charset="0"/>
              </a:rPr>
              <a:t>例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itchFamily="18" charset="0"/>
              </a:rPr>
              <a:t>4</a:t>
            </a:r>
            <a:endParaRPr lang="en-US" altLang="zh-CN" sz="2800" b="1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sp>
        <p:nvSpPr>
          <p:cNvPr id="29705" name="Text Box 6"/>
          <p:cNvSpPr txBox="1">
            <a:spLocks noChangeArrowheads="1"/>
          </p:cNvSpPr>
          <p:nvPr/>
        </p:nvSpPr>
        <p:spPr bwMode="auto">
          <a:xfrm>
            <a:off x="142875" y="1576388"/>
            <a:ext cx="5461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800" b="1">
                <a:solidFill>
                  <a:srgbClr val="FF0000"/>
                </a:solidFill>
                <a:latin typeface="Times New Roman" pitchFamily="18" charset="0"/>
              </a:rPr>
              <a:t>求</a:t>
            </a:r>
          </a:p>
        </p:txBody>
      </p:sp>
      <p:graphicFrame>
        <p:nvGraphicFramePr>
          <p:cNvPr id="156679" name="Object 2"/>
          <p:cNvGraphicFramePr>
            <a:graphicFrameLocks/>
          </p:cNvGraphicFramePr>
          <p:nvPr/>
        </p:nvGraphicFramePr>
        <p:xfrm>
          <a:off x="4791075" y="3775075"/>
          <a:ext cx="3613150" cy="969963"/>
        </p:xfrm>
        <a:graphic>
          <a:graphicData uri="http://schemas.openxmlformats.org/presentationml/2006/ole">
            <p:oleObj spid="_x0000_s106498" name="Equation" r:id="rId3" imgW="1562040" imgH="419040" progId="Equation.DSMT4">
              <p:embed/>
            </p:oleObj>
          </a:graphicData>
        </a:graphic>
      </p:graphicFrame>
      <p:sp>
        <p:nvSpPr>
          <p:cNvPr id="156680" name="Rectangle 8"/>
          <p:cNvSpPr>
            <a:spLocks noChangeArrowheads="1"/>
          </p:cNvSpPr>
          <p:nvPr/>
        </p:nvSpPr>
        <p:spPr bwMode="auto">
          <a:xfrm flipH="1">
            <a:off x="1293813" y="4872038"/>
            <a:ext cx="7097712" cy="452437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lIns="12700" tIns="12700" rIns="12700" bIns="12700">
            <a:spAutoFit/>
          </a:bodyPr>
          <a:lstStyle/>
          <a:p>
            <a:pPr algn="just"/>
            <a:r>
              <a:rPr kumimoji="1" lang="zh-CN" altLang="en-US" sz="2800" b="1">
                <a:solidFill>
                  <a:srgbClr val="000000"/>
                </a:solidFill>
                <a:latin typeface="Times New Roman" pitchFamily="18" charset="0"/>
              </a:rPr>
              <a:t>由结果可知，这是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itchFamily="18" charset="0"/>
              </a:rPr>
              <a:t>N</a:t>
            </a:r>
            <a:r>
              <a:rPr kumimoji="1" lang="en-US" altLang="zh-CN" sz="2800" b="1" baseline="-25000">
                <a:solidFill>
                  <a:srgbClr val="000000"/>
                </a:solidFill>
                <a:latin typeface="Times New Roman" pitchFamily="18" charset="0"/>
              </a:rPr>
              <a:t>2 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itchFamily="18" charset="0"/>
              </a:rPr>
              <a:t>或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itchFamily="18" charset="0"/>
              </a:rPr>
              <a:t>CO 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itchFamily="18" charset="0"/>
              </a:rPr>
              <a:t>气体</a:t>
            </a:r>
          </a:p>
        </p:txBody>
      </p:sp>
      <p:sp>
        <p:nvSpPr>
          <p:cNvPr id="156681" name="Rectangle 9"/>
          <p:cNvSpPr>
            <a:spLocks noChangeArrowheads="1"/>
          </p:cNvSpPr>
          <p:nvPr/>
        </p:nvSpPr>
        <p:spPr bwMode="auto">
          <a:xfrm>
            <a:off x="719138" y="3960813"/>
            <a:ext cx="411162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kumimoji="1" lang="en-US" altLang="zh-CN" sz="2800" b="1">
                <a:solidFill>
                  <a:srgbClr val="000000"/>
                </a:solidFill>
                <a:latin typeface="Times New Roman" pitchFamily="18" charset="0"/>
              </a:rPr>
              <a:t>(1) 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itchFamily="18" charset="0"/>
              </a:rPr>
              <a:t>由                         ，有 </a:t>
            </a:r>
          </a:p>
        </p:txBody>
      </p:sp>
      <p:graphicFrame>
        <p:nvGraphicFramePr>
          <p:cNvPr id="156682" name="Object 3"/>
          <p:cNvGraphicFramePr>
            <a:graphicFrameLocks/>
          </p:cNvGraphicFramePr>
          <p:nvPr/>
        </p:nvGraphicFramePr>
        <p:xfrm>
          <a:off x="1743075" y="3700463"/>
          <a:ext cx="2098675" cy="1001712"/>
        </p:xfrm>
        <a:graphic>
          <a:graphicData uri="http://schemas.openxmlformats.org/presentationml/2006/ole">
            <p:oleObj spid="_x0000_s106499" name="公式" r:id="rId4" imgW="825480" imgH="39348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6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56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56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56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680" grpId="0" autoUpdateAnimBg="0"/>
      <p:bldP spid="15668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6" name="Rectangle 11"/>
          <p:cNvSpPr>
            <a:spLocks noChangeArrowheads="1"/>
          </p:cNvSpPr>
          <p:nvPr/>
        </p:nvSpPr>
        <p:spPr bwMode="auto">
          <a:xfrm>
            <a:off x="381000" y="446088"/>
            <a:ext cx="7504113" cy="4572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lIns="12700" tIns="12700" rIns="12700" bIns="12700">
            <a:spAutoFit/>
          </a:bodyPr>
          <a:lstStyle/>
          <a:p>
            <a:pPr algn="just"/>
            <a:r>
              <a:rPr kumimoji="1" lang="en-US" altLang="zh-CN" sz="2800" b="1">
                <a:solidFill>
                  <a:srgbClr val="000000"/>
                </a:solidFill>
                <a:latin typeface="Times New Roman" pitchFamily="18" charset="0"/>
              </a:rPr>
              <a:t>(2)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itchFamily="18" charset="0"/>
              </a:rPr>
              <a:t>分子的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itchFamily="18" charset="0"/>
              </a:rPr>
              <a:t>平均平动动能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itchFamily="18" charset="0"/>
              </a:rPr>
              <a:t>和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itchFamily="18" charset="0"/>
              </a:rPr>
              <a:t>平均转动动能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itchFamily="18" charset="0"/>
              </a:rPr>
              <a:t>为 </a:t>
            </a:r>
          </a:p>
        </p:txBody>
      </p:sp>
      <p:graphicFrame>
        <p:nvGraphicFramePr>
          <p:cNvPr id="4" name="Object 2"/>
          <p:cNvGraphicFramePr>
            <a:graphicFrameLocks/>
          </p:cNvGraphicFramePr>
          <p:nvPr/>
        </p:nvGraphicFramePr>
        <p:xfrm>
          <a:off x="1116013" y="1111250"/>
          <a:ext cx="5264150" cy="1225550"/>
        </p:xfrm>
        <a:graphic>
          <a:graphicData uri="http://schemas.openxmlformats.org/presentationml/2006/ole">
            <p:oleObj spid="_x0000_s107522" name="公式" r:id="rId3" imgW="1790640" imgH="393480" progId="Equation.3">
              <p:embed/>
            </p:oleObj>
          </a:graphicData>
        </a:graphic>
      </p:graphicFrame>
      <p:graphicFrame>
        <p:nvGraphicFramePr>
          <p:cNvPr id="5" name="Object 3"/>
          <p:cNvGraphicFramePr>
            <a:graphicFrameLocks/>
          </p:cNvGraphicFramePr>
          <p:nvPr/>
        </p:nvGraphicFramePr>
        <p:xfrm>
          <a:off x="1042988" y="2520950"/>
          <a:ext cx="5081587" cy="1244600"/>
        </p:xfrm>
        <a:graphic>
          <a:graphicData uri="http://schemas.openxmlformats.org/presentationml/2006/ole">
            <p:oleObj spid="_x0000_s107523" name="公式" r:id="rId4" imgW="1752480" imgH="393480" progId="Equation.3">
              <p:embed/>
            </p:oleObj>
          </a:graphicData>
        </a:graphic>
      </p:graphicFrame>
      <p:graphicFrame>
        <p:nvGraphicFramePr>
          <p:cNvPr id="6" name="Object 4"/>
          <p:cNvGraphicFramePr>
            <a:graphicFrameLocks/>
          </p:cNvGraphicFramePr>
          <p:nvPr/>
        </p:nvGraphicFramePr>
        <p:xfrm>
          <a:off x="796925" y="4962525"/>
          <a:ext cx="7250113" cy="792163"/>
        </p:xfrm>
        <a:graphic>
          <a:graphicData uri="http://schemas.openxmlformats.org/presentationml/2006/ole">
            <p:oleObj spid="_x0000_s107524" name="Equation" r:id="rId5" imgW="2323800" imgH="253800" progId="Equation.DSMT4">
              <p:embed/>
            </p:oleObj>
          </a:graphicData>
        </a:graphic>
      </p:graphicFrame>
      <p:sp>
        <p:nvSpPr>
          <p:cNvPr id="7" name="Rectangle 15"/>
          <p:cNvSpPr>
            <a:spLocks noChangeArrowheads="1"/>
          </p:cNvSpPr>
          <p:nvPr/>
        </p:nvSpPr>
        <p:spPr bwMode="auto">
          <a:xfrm>
            <a:off x="381000" y="3946525"/>
            <a:ext cx="7064375" cy="455613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lIns="12700" tIns="12700" rIns="12700" bIns="12700">
            <a:spAutoFit/>
          </a:bodyPr>
          <a:lstStyle/>
          <a:p>
            <a:pPr eaLnBrk="0" hangingPunct="0"/>
            <a:r>
              <a:rPr kumimoji="1" lang="en-US" altLang="zh-CN" sz="2800" b="1">
                <a:solidFill>
                  <a:srgbClr val="000000"/>
                </a:solidFill>
                <a:latin typeface="Times New Roman" pitchFamily="18" charset="0"/>
              </a:rPr>
              <a:t>(3) 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itchFamily="18" charset="0"/>
              </a:rPr>
              <a:t>由气体的内能公式，有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55" name="Text Box 2"/>
          <p:cNvSpPr txBox="1">
            <a:spLocks noChangeArrowheads="1"/>
          </p:cNvSpPr>
          <p:nvPr/>
        </p:nvSpPr>
        <p:spPr bwMode="auto">
          <a:xfrm>
            <a:off x="273050" y="365125"/>
            <a:ext cx="651827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zh-CN" altLang="en-US" sz="2800" b="1" dirty="0" smtClean="0">
                <a:solidFill>
                  <a:srgbClr val="980000"/>
                </a:solidFill>
                <a:latin typeface="Times New Roman" pitchFamily="18" charset="0"/>
              </a:rPr>
              <a:t>例</a:t>
            </a:r>
            <a:r>
              <a:rPr kumimoji="1" lang="en-US" altLang="zh-CN" sz="2800" b="1" dirty="0" smtClean="0">
                <a:solidFill>
                  <a:srgbClr val="980000"/>
                </a:solidFill>
                <a:latin typeface="Times New Roman" pitchFamily="18" charset="0"/>
              </a:rPr>
              <a:t>5  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itchFamily="18" charset="0"/>
              </a:rPr>
              <a:t>指出下列各式所表示的物理意义</a:t>
            </a:r>
          </a:p>
        </p:txBody>
      </p:sp>
      <p:graphicFrame>
        <p:nvGraphicFramePr>
          <p:cNvPr id="31746" name="Object 2"/>
          <p:cNvGraphicFramePr>
            <a:graphicFrameLocks noChangeAspect="1"/>
          </p:cNvGraphicFramePr>
          <p:nvPr/>
        </p:nvGraphicFramePr>
        <p:xfrm>
          <a:off x="328613" y="925513"/>
          <a:ext cx="1458912" cy="1014412"/>
        </p:xfrm>
        <a:graphic>
          <a:graphicData uri="http://schemas.openxmlformats.org/presentationml/2006/ole">
            <p:oleObj spid="_x0000_s108546" name="公式" r:id="rId3" imgW="583920" imgH="406080" progId="Equation.3">
              <p:embed/>
            </p:oleObj>
          </a:graphicData>
        </a:graphic>
      </p:graphicFrame>
      <p:graphicFrame>
        <p:nvGraphicFramePr>
          <p:cNvPr id="31747" name="Object 3"/>
          <p:cNvGraphicFramePr>
            <a:graphicFrameLocks noChangeAspect="1"/>
          </p:cNvGraphicFramePr>
          <p:nvPr/>
        </p:nvGraphicFramePr>
        <p:xfrm>
          <a:off x="1882775" y="925513"/>
          <a:ext cx="1520825" cy="1014412"/>
        </p:xfrm>
        <a:graphic>
          <a:graphicData uri="http://schemas.openxmlformats.org/presentationml/2006/ole">
            <p:oleObj spid="_x0000_s108547" name="公式" r:id="rId4" imgW="609480" imgH="406080" progId="Equation.3">
              <p:embed/>
            </p:oleObj>
          </a:graphicData>
        </a:graphic>
      </p:graphicFrame>
      <p:graphicFrame>
        <p:nvGraphicFramePr>
          <p:cNvPr id="31748" name="Object 4"/>
          <p:cNvGraphicFramePr>
            <a:graphicFrameLocks noChangeAspect="1"/>
          </p:cNvGraphicFramePr>
          <p:nvPr/>
        </p:nvGraphicFramePr>
        <p:xfrm>
          <a:off x="3497263" y="925513"/>
          <a:ext cx="1520825" cy="1014412"/>
        </p:xfrm>
        <a:graphic>
          <a:graphicData uri="http://schemas.openxmlformats.org/presentationml/2006/ole">
            <p:oleObj spid="_x0000_s108548" name="公式" r:id="rId5" imgW="609480" imgH="406080" progId="Equation.3">
              <p:embed/>
            </p:oleObj>
          </a:graphicData>
        </a:graphic>
      </p:graphicFrame>
      <p:graphicFrame>
        <p:nvGraphicFramePr>
          <p:cNvPr id="31749" name="Object 5"/>
          <p:cNvGraphicFramePr>
            <a:graphicFrameLocks noChangeAspect="1"/>
          </p:cNvGraphicFramePr>
          <p:nvPr/>
        </p:nvGraphicFramePr>
        <p:xfrm>
          <a:off x="5113338" y="925513"/>
          <a:ext cx="1582737" cy="1014412"/>
        </p:xfrm>
        <a:graphic>
          <a:graphicData uri="http://schemas.openxmlformats.org/presentationml/2006/ole">
            <p:oleObj spid="_x0000_s108549" name="公式" r:id="rId6" imgW="634680" imgH="406080" progId="Equation.3">
              <p:embed/>
            </p:oleObj>
          </a:graphicData>
        </a:graphic>
      </p:graphicFrame>
      <p:graphicFrame>
        <p:nvGraphicFramePr>
          <p:cNvPr id="31750" name="Object 6"/>
          <p:cNvGraphicFramePr>
            <a:graphicFrameLocks noChangeAspect="1"/>
          </p:cNvGraphicFramePr>
          <p:nvPr/>
        </p:nvGraphicFramePr>
        <p:xfrm>
          <a:off x="6775450" y="941388"/>
          <a:ext cx="2122488" cy="982662"/>
        </p:xfrm>
        <a:graphic>
          <a:graphicData uri="http://schemas.openxmlformats.org/presentationml/2006/ole">
            <p:oleObj spid="_x0000_s108550" name="公式" r:id="rId7" imgW="850680" imgH="393480" progId="Equation.3">
              <p:embed/>
            </p:oleObj>
          </a:graphicData>
        </a:graphic>
      </p:graphicFrame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328613" y="2193925"/>
            <a:ext cx="7893050" cy="1816100"/>
            <a:chOff x="404" y="1116"/>
            <a:chExt cx="4972" cy="1144"/>
          </a:xfrm>
        </p:grpSpPr>
        <p:sp>
          <p:nvSpPr>
            <p:cNvPr id="31761" name="Text Box 9"/>
            <p:cNvSpPr txBox="1">
              <a:spLocks noChangeArrowheads="1"/>
            </p:cNvSpPr>
            <p:nvPr/>
          </p:nvSpPr>
          <p:spPr bwMode="auto">
            <a:xfrm>
              <a:off x="404" y="1116"/>
              <a:ext cx="4972" cy="1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zh-CN" altLang="en-US" sz="2800" b="1">
                  <a:solidFill>
                    <a:srgbClr val="980000"/>
                  </a:solidFill>
                  <a:latin typeface="Times New Roman" pitchFamily="18" charset="0"/>
                </a:rPr>
                <a:t>答：                 </a:t>
              </a:r>
              <a:r>
                <a:rPr lang="zh-CN" altLang="en-US" sz="2800" b="1">
                  <a:solidFill>
                    <a:srgbClr val="000000"/>
                  </a:solidFill>
                  <a:latin typeface="Times New Roman" pitchFamily="18" charset="0"/>
                </a:rPr>
                <a:t>表示理想气体分子</a:t>
              </a:r>
              <a:r>
                <a:rPr lang="zh-CN" altLang="en-US" sz="2800" b="1">
                  <a:solidFill>
                    <a:srgbClr val="FF0000"/>
                  </a:solidFill>
                  <a:latin typeface="Times New Roman" pitchFamily="18" charset="0"/>
                </a:rPr>
                <a:t>每一个自由度</a:t>
              </a:r>
              <a:r>
                <a:rPr lang="zh-CN" altLang="en-US" sz="2800" b="1">
                  <a:solidFill>
                    <a:srgbClr val="000000"/>
                  </a:solidFill>
                  <a:latin typeface="Times New Roman" pitchFamily="18" charset="0"/>
                </a:rPr>
                <a:t>所具 有的</a:t>
              </a:r>
              <a:r>
                <a:rPr lang="zh-CN" altLang="en-US" sz="2800" b="1">
                  <a:solidFill>
                    <a:srgbClr val="FF0000"/>
                  </a:solidFill>
                  <a:latin typeface="Times New Roman" pitchFamily="18" charset="0"/>
                </a:rPr>
                <a:t>平均能量</a:t>
              </a:r>
              <a:r>
                <a:rPr lang="zh-CN" altLang="en-US" sz="2800" b="1">
                  <a:solidFill>
                    <a:srgbClr val="000000"/>
                  </a:solidFill>
                  <a:latin typeface="Times New Roman" pitchFamily="18" charset="0"/>
                </a:rPr>
                <a:t>。</a:t>
              </a:r>
              <a:endParaRPr kumimoji="1" lang="zh-CN" altLang="en-US" sz="2800" b="1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graphicFrame>
          <p:nvGraphicFramePr>
            <p:cNvPr id="31753" name="Object 11"/>
            <p:cNvGraphicFramePr>
              <a:graphicFrameLocks noChangeAspect="1"/>
            </p:cNvGraphicFramePr>
            <p:nvPr/>
          </p:nvGraphicFramePr>
          <p:xfrm>
            <a:off x="836" y="1136"/>
            <a:ext cx="934" cy="650"/>
          </p:xfrm>
          <a:graphic>
            <a:graphicData uri="http://schemas.openxmlformats.org/presentationml/2006/ole">
              <p:oleObj spid="_x0000_s108553" name="公式" r:id="rId8" imgW="583920" imgH="406080" progId="Equation.3">
                <p:embed/>
              </p:oleObj>
            </a:graphicData>
          </a:graphic>
        </p:graphicFrame>
      </p:grpSp>
      <p:grpSp>
        <p:nvGrpSpPr>
          <p:cNvPr id="3" name="Group 11"/>
          <p:cNvGrpSpPr>
            <a:grpSpLocks/>
          </p:cNvGrpSpPr>
          <p:nvPr/>
        </p:nvGrpSpPr>
        <p:grpSpPr bwMode="auto">
          <a:xfrm>
            <a:off x="554038" y="3970338"/>
            <a:ext cx="8291512" cy="1093787"/>
            <a:chOff x="412" y="1837"/>
            <a:chExt cx="5223" cy="689"/>
          </a:xfrm>
        </p:grpSpPr>
        <p:sp>
          <p:nvSpPr>
            <p:cNvPr id="31760" name="Text Box 12"/>
            <p:cNvSpPr txBox="1">
              <a:spLocks noChangeArrowheads="1"/>
            </p:cNvSpPr>
            <p:nvPr/>
          </p:nvSpPr>
          <p:spPr bwMode="auto">
            <a:xfrm>
              <a:off x="412" y="1837"/>
              <a:ext cx="5223" cy="6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zh-CN" sz="2800" b="1" dirty="0">
                  <a:solidFill>
                    <a:srgbClr val="980000"/>
                  </a:solidFill>
                  <a:latin typeface="Times New Roman" pitchFamily="18" charset="0"/>
                </a:rPr>
                <a:t>                     </a:t>
              </a:r>
              <a:r>
                <a:rPr lang="zh-CN" altLang="en-US" sz="2800" b="1" dirty="0">
                  <a:solidFill>
                    <a:srgbClr val="000000"/>
                  </a:solidFill>
                  <a:latin typeface="Times New Roman" pitchFamily="18" charset="0"/>
                </a:rPr>
                <a:t>表示</a:t>
              </a:r>
              <a:r>
                <a:rPr lang="zh-CN" altLang="en-US" sz="2800" b="1" dirty="0">
                  <a:solidFill>
                    <a:srgbClr val="FF0000"/>
                  </a:solidFill>
                  <a:latin typeface="Times New Roman" pitchFamily="18" charset="0"/>
                </a:rPr>
                <a:t>单原子分子</a:t>
              </a:r>
              <a:r>
                <a:rPr lang="zh-CN" altLang="en-US" sz="2800" b="1" dirty="0">
                  <a:solidFill>
                    <a:srgbClr val="000000"/>
                  </a:solidFill>
                  <a:latin typeface="Times New Roman" pitchFamily="18" charset="0"/>
                </a:rPr>
                <a:t>的</a:t>
              </a:r>
              <a:r>
                <a:rPr lang="zh-CN" altLang="en-US" sz="2800" b="1" dirty="0">
                  <a:solidFill>
                    <a:srgbClr val="FF0000"/>
                  </a:solidFill>
                  <a:latin typeface="Times New Roman" pitchFamily="18" charset="0"/>
                </a:rPr>
                <a:t>平</a:t>
              </a:r>
              <a:r>
                <a:rPr lang="zh-CN" altLang="en-US" sz="2800" b="1" dirty="0" smtClean="0">
                  <a:solidFill>
                    <a:srgbClr val="FF0000"/>
                  </a:solidFill>
                  <a:latin typeface="Times New Roman" pitchFamily="18" charset="0"/>
                </a:rPr>
                <a:t>均能量</a:t>
              </a:r>
              <a:r>
                <a:rPr lang="zh-CN" altLang="en-US" sz="2800" b="1" dirty="0" smtClean="0">
                  <a:solidFill>
                    <a:srgbClr val="000000"/>
                  </a:solidFill>
                  <a:latin typeface="Times New Roman" pitchFamily="18" charset="0"/>
                </a:rPr>
                <a:t>。</a:t>
              </a:r>
              <a:endParaRPr kumimoji="1" lang="zh-CN" altLang="en-US" sz="2800" b="1" dirty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graphicFrame>
          <p:nvGraphicFramePr>
            <p:cNvPr id="31752" name="Object 10"/>
            <p:cNvGraphicFramePr>
              <a:graphicFrameLocks noChangeAspect="1"/>
            </p:cNvGraphicFramePr>
            <p:nvPr/>
          </p:nvGraphicFramePr>
          <p:xfrm>
            <a:off x="684" y="1879"/>
            <a:ext cx="971" cy="647"/>
          </p:xfrm>
          <a:graphic>
            <a:graphicData uri="http://schemas.openxmlformats.org/presentationml/2006/ole">
              <p:oleObj spid="_x0000_s108552" name="公式" r:id="rId9" imgW="609480" imgH="406080" progId="Equation.3">
                <p:embed/>
              </p:oleObj>
            </a:graphicData>
          </a:graphic>
        </p:graphicFrame>
      </p:grpSp>
      <p:grpSp>
        <p:nvGrpSpPr>
          <p:cNvPr id="4" name="Group 14"/>
          <p:cNvGrpSpPr>
            <a:grpSpLocks/>
          </p:cNvGrpSpPr>
          <p:nvPr/>
        </p:nvGrpSpPr>
        <p:grpSpPr bwMode="auto">
          <a:xfrm>
            <a:off x="717550" y="5422900"/>
            <a:ext cx="8291513" cy="1052513"/>
            <a:chOff x="452" y="1654"/>
            <a:chExt cx="5223" cy="663"/>
          </a:xfrm>
        </p:grpSpPr>
        <p:sp>
          <p:nvSpPr>
            <p:cNvPr id="31759" name="Text Box 15"/>
            <p:cNvSpPr txBox="1">
              <a:spLocks noChangeArrowheads="1"/>
            </p:cNvSpPr>
            <p:nvPr/>
          </p:nvSpPr>
          <p:spPr bwMode="auto">
            <a:xfrm>
              <a:off x="452" y="1810"/>
              <a:ext cx="5223" cy="3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800" b="1">
                  <a:solidFill>
                    <a:srgbClr val="980000"/>
                  </a:solidFill>
                  <a:latin typeface="Times New Roman" pitchFamily="18" charset="0"/>
                </a:rPr>
                <a:t>                     </a:t>
              </a:r>
              <a:r>
                <a:rPr lang="zh-CN" altLang="en-US" sz="2800" b="1">
                  <a:solidFill>
                    <a:srgbClr val="000000"/>
                  </a:solidFill>
                  <a:latin typeface="Times New Roman" pitchFamily="18" charset="0"/>
                </a:rPr>
                <a:t>表示</a:t>
              </a:r>
              <a:r>
                <a:rPr lang="zh-CN" altLang="en-US" sz="2800" b="1">
                  <a:solidFill>
                    <a:srgbClr val="FF0000"/>
                  </a:solidFill>
                  <a:latin typeface="Times New Roman" pitchFamily="18" charset="0"/>
                </a:rPr>
                <a:t>自由度为 </a:t>
              </a:r>
              <a:r>
                <a:rPr lang="en-US" altLang="zh-CN" sz="2800" b="1" i="1">
                  <a:solidFill>
                    <a:srgbClr val="FF0000"/>
                  </a:solidFill>
                  <a:latin typeface="Times New Roman" pitchFamily="18" charset="0"/>
                </a:rPr>
                <a:t>i </a:t>
              </a:r>
              <a:r>
                <a:rPr lang="zh-CN" altLang="en-US" sz="2800" b="1">
                  <a:solidFill>
                    <a:srgbClr val="000000"/>
                  </a:solidFill>
                  <a:latin typeface="Times New Roman" pitchFamily="18" charset="0"/>
                </a:rPr>
                <a:t>的分子的</a:t>
              </a:r>
              <a:r>
                <a:rPr lang="zh-CN" altLang="en-US" sz="2800" b="1">
                  <a:solidFill>
                    <a:srgbClr val="FF0000"/>
                  </a:solidFill>
                  <a:latin typeface="Times New Roman" pitchFamily="18" charset="0"/>
                </a:rPr>
                <a:t>平均能量</a:t>
              </a:r>
              <a:r>
                <a:rPr lang="zh-CN" altLang="en-US" sz="2800" b="1">
                  <a:solidFill>
                    <a:srgbClr val="000000"/>
                  </a:solidFill>
                  <a:latin typeface="Times New Roman" pitchFamily="18" charset="0"/>
                </a:rPr>
                <a:t>。</a:t>
              </a:r>
              <a:endParaRPr kumimoji="1" lang="zh-CN" altLang="en-US" sz="2800" b="1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graphicFrame>
          <p:nvGraphicFramePr>
            <p:cNvPr id="31751" name="Object 12"/>
            <p:cNvGraphicFramePr>
              <a:graphicFrameLocks noChangeAspect="1"/>
            </p:cNvGraphicFramePr>
            <p:nvPr/>
          </p:nvGraphicFramePr>
          <p:xfrm>
            <a:off x="661" y="1654"/>
            <a:ext cx="995" cy="663"/>
          </p:xfrm>
          <a:graphic>
            <a:graphicData uri="http://schemas.openxmlformats.org/presentationml/2006/ole">
              <p:oleObj spid="_x0000_s108551" name="公式" r:id="rId10" imgW="609480" imgH="406080" progId="Equation.3">
                <p:embed/>
              </p:oleObj>
            </a:graphicData>
          </a:graphic>
        </p:graphicFrame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7"/>
          <p:cNvGrpSpPr>
            <a:grpSpLocks/>
          </p:cNvGrpSpPr>
          <p:nvPr/>
        </p:nvGrpSpPr>
        <p:grpSpPr bwMode="auto">
          <a:xfrm>
            <a:off x="458788" y="769938"/>
            <a:ext cx="8291512" cy="1112837"/>
            <a:chOff x="412" y="1770"/>
            <a:chExt cx="5223" cy="701"/>
          </a:xfrm>
        </p:grpSpPr>
        <p:sp>
          <p:nvSpPr>
            <p:cNvPr id="32776" name="Text Box 18"/>
            <p:cNvSpPr txBox="1">
              <a:spLocks noChangeArrowheads="1"/>
            </p:cNvSpPr>
            <p:nvPr/>
          </p:nvSpPr>
          <p:spPr bwMode="auto">
            <a:xfrm>
              <a:off x="412" y="1770"/>
              <a:ext cx="5223" cy="6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zh-CN" sz="2800" b="1">
                  <a:solidFill>
                    <a:srgbClr val="980000"/>
                  </a:solidFill>
                  <a:latin typeface="Times New Roman" pitchFamily="18" charset="0"/>
                </a:rPr>
                <a:t>                     </a:t>
              </a:r>
              <a:r>
                <a:rPr lang="zh-CN" altLang="en-US" sz="2800" b="1">
                  <a:solidFill>
                    <a:srgbClr val="000000"/>
                  </a:solidFill>
                  <a:latin typeface="Times New Roman" pitchFamily="18" charset="0"/>
                </a:rPr>
                <a:t>表示自由度为 </a:t>
              </a:r>
              <a:r>
                <a:rPr lang="en-US" altLang="zh-CN" sz="2800" b="1" i="1">
                  <a:solidFill>
                    <a:srgbClr val="000000"/>
                  </a:solidFill>
                  <a:latin typeface="Times New Roman" pitchFamily="18" charset="0"/>
                </a:rPr>
                <a:t>i </a:t>
              </a:r>
              <a:r>
                <a:rPr lang="zh-CN" altLang="en-US" sz="2800" b="1">
                  <a:solidFill>
                    <a:srgbClr val="000000"/>
                  </a:solidFill>
                  <a:latin typeface="Times New Roman" pitchFamily="18" charset="0"/>
                </a:rPr>
                <a:t>的</a:t>
              </a:r>
              <a:r>
                <a:rPr lang="en-US" altLang="zh-CN" sz="2800" b="1">
                  <a:solidFill>
                    <a:srgbClr val="FF0000"/>
                  </a:solidFill>
                  <a:latin typeface="Times New Roman" pitchFamily="18" charset="0"/>
                </a:rPr>
                <a:t>1mol</a:t>
              </a:r>
              <a:r>
                <a:rPr lang="zh-CN" altLang="en-US" sz="2800" b="1">
                  <a:solidFill>
                    <a:srgbClr val="FF0000"/>
                  </a:solidFill>
                  <a:latin typeface="Times New Roman" pitchFamily="18" charset="0"/>
                </a:rPr>
                <a:t>气体的内能</a:t>
              </a:r>
              <a:r>
                <a:rPr lang="zh-CN" altLang="en-US" sz="2800" b="1">
                  <a:solidFill>
                    <a:srgbClr val="000000"/>
                  </a:solidFill>
                  <a:latin typeface="Times New Roman" pitchFamily="18" charset="0"/>
                </a:rPr>
                <a:t>。</a:t>
              </a:r>
              <a:endParaRPr kumimoji="1" lang="zh-CN" altLang="en-US" sz="2800" b="1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graphicFrame>
          <p:nvGraphicFramePr>
            <p:cNvPr id="32771" name="Object 3"/>
            <p:cNvGraphicFramePr>
              <a:graphicFrameLocks noChangeAspect="1"/>
            </p:cNvGraphicFramePr>
            <p:nvPr/>
          </p:nvGraphicFramePr>
          <p:xfrm>
            <a:off x="492" y="1781"/>
            <a:ext cx="1078" cy="690"/>
          </p:xfrm>
          <a:graphic>
            <a:graphicData uri="http://schemas.openxmlformats.org/presentationml/2006/ole">
              <p:oleObj spid="_x0000_s109571" name="公式" r:id="rId3" imgW="634680" imgH="406080" progId="Equation.3">
                <p:embed/>
              </p:oleObj>
            </a:graphicData>
          </a:graphic>
        </p:graphicFrame>
      </p:grpSp>
      <p:grpSp>
        <p:nvGrpSpPr>
          <p:cNvPr id="3" name="Group 20"/>
          <p:cNvGrpSpPr>
            <a:grpSpLocks/>
          </p:cNvGrpSpPr>
          <p:nvPr/>
        </p:nvGrpSpPr>
        <p:grpSpPr bwMode="auto">
          <a:xfrm>
            <a:off x="552450" y="2413001"/>
            <a:ext cx="8423275" cy="1679575"/>
            <a:chOff x="356" y="1515"/>
            <a:chExt cx="5306" cy="1058"/>
          </a:xfrm>
        </p:grpSpPr>
        <p:sp>
          <p:nvSpPr>
            <p:cNvPr id="32775" name="Text Box 21"/>
            <p:cNvSpPr txBox="1">
              <a:spLocks noChangeArrowheads="1"/>
            </p:cNvSpPr>
            <p:nvPr/>
          </p:nvSpPr>
          <p:spPr bwMode="auto">
            <a:xfrm>
              <a:off x="439" y="1515"/>
              <a:ext cx="5223" cy="10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zh-CN" sz="2800" b="1" dirty="0">
                  <a:solidFill>
                    <a:srgbClr val="980000"/>
                  </a:solidFill>
                  <a:latin typeface="Times New Roman" pitchFamily="18" charset="0"/>
                </a:rPr>
                <a:t>                       </a:t>
              </a:r>
              <a:r>
                <a:rPr lang="zh-CN" altLang="en-US" sz="2800" b="1" dirty="0">
                  <a:solidFill>
                    <a:srgbClr val="000000"/>
                  </a:solidFill>
                  <a:latin typeface="Times New Roman" pitchFamily="18" charset="0"/>
                </a:rPr>
                <a:t>表示</a:t>
              </a:r>
              <a:r>
                <a:rPr lang="zh-CN" altLang="en-US" sz="2800" b="1" dirty="0">
                  <a:solidFill>
                    <a:srgbClr val="FF0000"/>
                  </a:solidFill>
                  <a:latin typeface="Times New Roman" pitchFamily="18" charset="0"/>
                </a:rPr>
                <a:t>质量为</a:t>
              </a:r>
              <a:r>
                <a:rPr lang="en-US" altLang="zh-CN" sz="2800" b="1" i="1" dirty="0" smtClean="0">
                  <a:solidFill>
                    <a:srgbClr val="FF0000"/>
                  </a:solidFill>
                  <a:latin typeface="Times New Roman" pitchFamily="18" charset="0"/>
                </a:rPr>
                <a:t>m</a:t>
              </a:r>
              <a:r>
                <a:rPr lang="en-US" altLang="zh-CN" sz="2800" b="1" baseline="-25000" dirty="0" smtClean="0">
                  <a:solidFill>
                    <a:srgbClr val="FF0000"/>
                  </a:solidFill>
                  <a:latin typeface="Times New Roman" pitchFamily="18" charset="0"/>
                </a:rPr>
                <a:t>0</a:t>
              </a:r>
              <a:r>
                <a:rPr lang="zh-CN" altLang="en-US" sz="2800" b="1" dirty="0" smtClean="0">
                  <a:solidFill>
                    <a:srgbClr val="000000"/>
                  </a:solidFill>
                  <a:latin typeface="Times New Roman" pitchFamily="18" charset="0"/>
                </a:rPr>
                <a:t>，</a:t>
              </a:r>
              <a:r>
                <a:rPr lang="zh-CN" altLang="en-US" sz="2800" b="1" dirty="0">
                  <a:solidFill>
                    <a:srgbClr val="000000"/>
                  </a:solidFill>
                  <a:latin typeface="Times New Roman" pitchFamily="18" charset="0"/>
                </a:rPr>
                <a:t>自由度为 </a:t>
              </a:r>
              <a:r>
                <a:rPr lang="en-US" altLang="zh-CN" sz="2800" b="1" i="1" dirty="0" err="1">
                  <a:solidFill>
                    <a:srgbClr val="FF0000"/>
                  </a:solidFill>
                  <a:latin typeface="Times New Roman" pitchFamily="18" charset="0"/>
                </a:rPr>
                <a:t>i</a:t>
              </a:r>
              <a:r>
                <a:rPr lang="en-US" altLang="zh-CN" sz="2800" b="1" i="1" dirty="0">
                  <a:solidFill>
                    <a:srgbClr val="FF0000"/>
                  </a:solidFill>
                  <a:latin typeface="Times New Roman" pitchFamily="18" charset="0"/>
                </a:rPr>
                <a:t>  </a:t>
              </a:r>
              <a:r>
                <a:rPr lang="zh-CN" altLang="en-US" sz="2800" b="1" dirty="0">
                  <a:solidFill>
                    <a:srgbClr val="000000"/>
                  </a:solidFill>
                  <a:latin typeface="Times New Roman" pitchFamily="18" charset="0"/>
                </a:rPr>
                <a:t>的理想气体的</a:t>
              </a:r>
              <a:r>
                <a:rPr lang="zh-CN" altLang="en-US" sz="2800" b="1" dirty="0">
                  <a:solidFill>
                    <a:srgbClr val="FF0000"/>
                  </a:solidFill>
                  <a:latin typeface="Times New Roman" pitchFamily="18" charset="0"/>
                </a:rPr>
                <a:t>内能</a:t>
              </a:r>
              <a:r>
                <a:rPr lang="zh-CN" altLang="en-US" sz="2800" b="1" dirty="0">
                  <a:solidFill>
                    <a:srgbClr val="000000"/>
                  </a:solidFill>
                  <a:latin typeface="Times New Roman" pitchFamily="18" charset="0"/>
                </a:rPr>
                <a:t>。</a:t>
              </a:r>
              <a:endParaRPr kumimoji="1" lang="zh-CN" altLang="en-US" sz="2800" b="1" dirty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graphicFrame>
          <p:nvGraphicFramePr>
            <p:cNvPr id="32770" name="Object 4"/>
            <p:cNvGraphicFramePr>
              <a:graphicFrameLocks noChangeAspect="1"/>
            </p:cNvGraphicFramePr>
            <p:nvPr/>
          </p:nvGraphicFramePr>
          <p:xfrm>
            <a:off x="356" y="1518"/>
            <a:ext cx="1380" cy="638"/>
          </p:xfrm>
          <a:graphic>
            <a:graphicData uri="http://schemas.openxmlformats.org/presentationml/2006/ole">
              <p:oleObj spid="_x0000_s109570" name="公式" r:id="rId4" imgW="850680" imgH="393480" progId="Equation.3">
                <p:embed/>
              </p:oleObj>
            </a:graphicData>
          </a:graphic>
        </p:graphicFrame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288e79b62aeafff2ef497b38a0c66ebd6fb954b6"/>
</p:tagLst>
</file>

<file path=ppt/theme/theme1.xml><?xml version="1.0" encoding="utf-8"?>
<a:theme xmlns:a="http://schemas.openxmlformats.org/drawingml/2006/main" name="2_第六版母版">
  <a:themeElements>
    <a:clrScheme name="2_第六版母版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2_第六版母版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第六版母版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3_第六版母版">
  <a:themeElements>
    <a:clrScheme name="2_第六版母版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2_第六版母版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2_第六版母版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4_第六版母版">
  <a:themeElements>
    <a:clrScheme name="2_第六版母版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2_第六版母版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2_第六版母版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5_第六版母版">
  <a:themeElements>
    <a:clrScheme name="2_第六版母版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2_第六版母版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2_第六版母版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Sumi Painting">
  <a:themeElements>
    <a:clrScheme name="Sumi Painting 1">
      <a:dk1>
        <a:srgbClr val="545472"/>
      </a:dk1>
      <a:lt1>
        <a:srgbClr val="FFFFFF"/>
      </a:lt1>
      <a:dk2>
        <a:srgbClr val="660066"/>
      </a:dk2>
      <a:lt2>
        <a:srgbClr val="9797B7"/>
      </a:lt2>
      <a:accent1>
        <a:srgbClr val="A7CCD9"/>
      </a:accent1>
      <a:accent2>
        <a:srgbClr val="C7C7DF"/>
      </a:accent2>
      <a:accent3>
        <a:srgbClr val="FFFFFF"/>
      </a:accent3>
      <a:accent4>
        <a:srgbClr val="464660"/>
      </a:accent4>
      <a:accent5>
        <a:srgbClr val="D0E2E9"/>
      </a:accent5>
      <a:accent6>
        <a:srgbClr val="B4B4CA"/>
      </a:accent6>
      <a:hlink>
        <a:srgbClr val="9595FF"/>
      </a:hlink>
      <a:folHlink>
        <a:srgbClr val="8888AE"/>
      </a:folHlink>
    </a:clrScheme>
    <a:fontScheme name="Sumi Painting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-2500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-2500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Sumi Painting 1">
        <a:dk1>
          <a:srgbClr val="545472"/>
        </a:dk1>
        <a:lt1>
          <a:srgbClr val="FFFFFF"/>
        </a:lt1>
        <a:dk2>
          <a:srgbClr val="660066"/>
        </a:dk2>
        <a:lt2>
          <a:srgbClr val="9797B7"/>
        </a:lt2>
        <a:accent1>
          <a:srgbClr val="A7CCD9"/>
        </a:accent1>
        <a:accent2>
          <a:srgbClr val="C7C7DF"/>
        </a:accent2>
        <a:accent3>
          <a:srgbClr val="FFFFFF"/>
        </a:accent3>
        <a:accent4>
          <a:srgbClr val="464660"/>
        </a:accent4>
        <a:accent5>
          <a:srgbClr val="D0E2E9"/>
        </a:accent5>
        <a:accent6>
          <a:srgbClr val="B4B4CA"/>
        </a:accent6>
        <a:hlink>
          <a:srgbClr val="9595FF"/>
        </a:hlink>
        <a:folHlink>
          <a:srgbClr val="8888A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mi Painting 2">
        <a:dk1>
          <a:srgbClr val="545472"/>
        </a:dk1>
        <a:lt1>
          <a:srgbClr val="FFFFFF"/>
        </a:lt1>
        <a:dk2>
          <a:srgbClr val="892D5B"/>
        </a:dk2>
        <a:lt2>
          <a:srgbClr val="68A7BE"/>
        </a:lt2>
        <a:accent1>
          <a:srgbClr val="CAACCC"/>
        </a:accent1>
        <a:accent2>
          <a:srgbClr val="A7CCD9"/>
        </a:accent2>
        <a:accent3>
          <a:srgbClr val="FFFFFF"/>
        </a:accent3>
        <a:accent4>
          <a:srgbClr val="464660"/>
        </a:accent4>
        <a:accent5>
          <a:srgbClr val="E1D2E2"/>
        </a:accent5>
        <a:accent6>
          <a:srgbClr val="97B9C4"/>
        </a:accent6>
        <a:hlink>
          <a:srgbClr val="9595FF"/>
        </a:hlink>
        <a:folHlink>
          <a:srgbClr val="8888A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mi Painting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B2B2B2"/>
        </a:accent1>
        <a:accent2>
          <a:srgbClr val="DDDDDD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C8C8C8"/>
        </a:accent6>
        <a:hlink>
          <a:srgbClr val="4D4D4D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mi Painting 4">
        <a:dk1>
          <a:srgbClr val="545472"/>
        </a:dk1>
        <a:lt1>
          <a:srgbClr val="FFFFFF"/>
        </a:lt1>
        <a:dk2>
          <a:srgbClr val="892D5B"/>
        </a:dk2>
        <a:lt2>
          <a:srgbClr val="AC3872"/>
        </a:lt2>
        <a:accent1>
          <a:srgbClr val="660066"/>
        </a:accent1>
        <a:accent2>
          <a:srgbClr val="E2A6C4"/>
        </a:accent2>
        <a:accent3>
          <a:srgbClr val="FFFFFF"/>
        </a:accent3>
        <a:accent4>
          <a:srgbClr val="464660"/>
        </a:accent4>
        <a:accent5>
          <a:srgbClr val="B8AAB8"/>
        </a:accent5>
        <a:accent6>
          <a:srgbClr val="CD96B1"/>
        </a:accent6>
        <a:hlink>
          <a:srgbClr val="8585FF"/>
        </a:hlink>
        <a:folHlink>
          <a:srgbClr val="563EE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mi Painting 5">
        <a:dk1>
          <a:srgbClr val="545472"/>
        </a:dk1>
        <a:lt1>
          <a:srgbClr val="FFFFFF"/>
        </a:lt1>
        <a:dk2>
          <a:srgbClr val="892D5B"/>
        </a:dk2>
        <a:lt2>
          <a:srgbClr val="515BA7"/>
        </a:lt2>
        <a:accent1>
          <a:srgbClr val="8BD8E7"/>
        </a:accent1>
        <a:accent2>
          <a:srgbClr val="A5AAD3"/>
        </a:accent2>
        <a:accent3>
          <a:srgbClr val="FFFFFF"/>
        </a:accent3>
        <a:accent4>
          <a:srgbClr val="464660"/>
        </a:accent4>
        <a:accent5>
          <a:srgbClr val="C4E9F1"/>
        </a:accent5>
        <a:accent6>
          <a:srgbClr val="959ABF"/>
        </a:accent6>
        <a:hlink>
          <a:srgbClr val="B78AFA"/>
        </a:hlink>
        <a:folHlink>
          <a:srgbClr val="A0A5D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mi Painting 6">
        <a:dk1>
          <a:srgbClr val="545472"/>
        </a:dk1>
        <a:lt1>
          <a:srgbClr val="FFFFFF"/>
        </a:lt1>
        <a:dk2>
          <a:srgbClr val="37467F"/>
        </a:dk2>
        <a:lt2>
          <a:srgbClr val="547A3C"/>
        </a:lt2>
        <a:accent1>
          <a:srgbClr val="8BD8E7"/>
        </a:accent1>
        <a:accent2>
          <a:srgbClr val="B7D3A5"/>
        </a:accent2>
        <a:accent3>
          <a:srgbClr val="FFFFFF"/>
        </a:accent3>
        <a:accent4>
          <a:srgbClr val="464660"/>
        </a:accent4>
        <a:accent5>
          <a:srgbClr val="C4E9F1"/>
        </a:accent5>
        <a:accent6>
          <a:srgbClr val="A6BF95"/>
        </a:accent6>
        <a:hlink>
          <a:srgbClr val="619147"/>
        </a:hlink>
        <a:folHlink>
          <a:srgbClr val="94BE7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mi Painting 7">
        <a:dk1>
          <a:srgbClr val="545472"/>
        </a:dk1>
        <a:lt1>
          <a:srgbClr val="FFFFFF"/>
        </a:lt1>
        <a:dk2>
          <a:srgbClr val="655851"/>
        </a:dk2>
        <a:lt2>
          <a:srgbClr val="B49234"/>
        </a:lt2>
        <a:accent1>
          <a:srgbClr val="F8C684"/>
        </a:accent1>
        <a:accent2>
          <a:srgbClr val="E1CE97"/>
        </a:accent2>
        <a:accent3>
          <a:srgbClr val="FFFFFF"/>
        </a:accent3>
        <a:accent4>
          <a:srgbClr val="464660"/>
        </a:accent4>
        <a:accent5>
          <a:srgbClr val="FBDFC2"/>
        </a:accent5>
        <a:accent6>
          <a:srgbClr val="CCBA88"/>
        </a:accent6>
        <a:hlink>
          <a:srgbClr val="7C6148"/>
        </a:hlink>
        <a:folHlink>
          <a:srgbClr val="8E856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2_默认设计模板">
  <a:themeElements>
    <a:clrScheme name="默认设计模板 8">
      <a:dk1>
        <a:srgbClr val="000000"/>
      </a:dk1>
      <a:lt1>
        <a:srgbClr val="663300"/>
      </a:lt1>
      <a:dk2>
        <a:srgbClr val="000000"/>
      </a:dk2>
      <a:lt2>
        <a:srgbClr val="808080"/>
      </a:lt2>
      <a:accent1>
        <a:srgbClr val="00CC99"/>
      </a:accent1>
      <a:accent2>
        <a:srgbClr val="FFFFCC"/>
      </a:accent2>
      <a:accent3>
        <a:srgbClr val="B8ADAA"/>
      </a:accent3>
      <a:accent4>
        <a:srgbClr val="000000"/>
      </a:accent4>
      <a:accent5>
        <a:srgbClr val="AAE2CA"/>
      </a:accent5>
      <a:accent6>
        <a:srgbClr val="E7E7B9"/>
      </a:accent6>
      <a:hlink>
        <a:srgbClr val="0000FF"/>
      </a:hlink>
      <a:folHlink>
        <a:srgbClr val="FF0000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0000"/>
        </a:dk1>
        <a:lt1>
          <a:srgbClr val="663300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FFFFCC"/>
        </a:accent2>
        <a:accent3>
          <a:srgbClr val="B8ADAA"/>
        </a:accent3>
        <a:accent4>
          <a:srgbClr val="000000"/>
        </a:accent4>
        <a:accent5>
          <a:srgbClr val="AAE2CA"/>
        </a:accent5>
        <a:accent6>
          <a:srgbClr val="E7E7B9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735</TotalTime>
  <Words>1579</Words>
  <Application>Microsoft Office PowerPoint</Application>
  <PresentationFormat>全屏显示(4:3)</PresentationFormat>
  <Paragraphs>122</Paragraphs>
  <Slides>33</Slides>
  <Notes>1</Notes>
  <HiddenSlides>0</HiddenSlides>
  <MMClips>0</MMClips>
  <ScaleCrop>false</ScaleCrop>
  <HeadingPairs>
    <vt:vector size="6" baseType="variant">
      <vt:variant>
        <vt:lpstr>主题</vt:lpstr>
      </vt:variant>
      <vt:variant>
        <vt:i4>6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33</vt:i4>
      </vt:variant>
    </vt:vector>
  </HeadingPairs>
  <TitlesOfParts>
    <vt:vector size="41" baseType="lpstr">
      <vt:lpstr>2_第六版母版</vt:lpstr>
      <vt:lpstr>3_第六版母版</vt:lpstr>
      <vt:lpstr>4_第六版母版</vt:lpstr>
      <vt:lpstr>5_第六版母版</vt:lpstr>
      <vt:lpstr>Sumi Painting</vt:lpstr>
      <vt:lpstr>2_默认设计模板</vt:lpstr>
      <vt:lpstr>Equation</vt:lpstr>
      <vt:lpstr>公式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幻灯片 13</vt:lpstr>
      <vt:lpstr>幻灯片 14</vt:lpstr>
      <vt:lpstr>幻灯片 15</vt:lpstr>
      <vt:lpstr>幻灯片 16</vt:lpstr>
      <vt:lpstr>幻灯片 17</vt:lpstr>
      <vt:lpstr>幻灯片 18</vt:lpstr>
      <vt:lpstr>幻灯片 19</vt:lpstr>
      <vt:lpstr>幻灯片 20</vt:lpstr>
      <vt:lpstr>幻灯片 21</vt:lpstr>
      <vt:lpstr>幻灯片 22</vt:lpstr>
      <vt:lpstr>幻灯片 23</vt:lpstr>
      <vt:lpstr>幻灯片 24</vt:lpstr>
      <vt:lpstr>幻灯片 25</vt:lpstr>
      <vt:lpstr>幻灯片 26</vt:lpstr>
      <vt:lpstr>幻灯片 27</vt:lpstr>
      <vt:lpstr>幻灯片 28</vt:lpstr>
      <vt:lpstr>幻灯片 29</vt:lpstr>
      <vt:lpstr>幻灯片 30</vt:lpstr>
      <vt:lpstr>幻灯片 31</vt:lpstr>
      <vt:lpstr>幻灯片 32</vt:lpstr>
      <vt:lpstr>幻灯片 33</vt:lpstr>
    </vt:vector>
  </TitlesOfParts>
  <Company>江南大学理学院物理系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12-6麦克斯韦气体分子速率分布律</dc:title>
  <dc:creator>何跃娟</dc:creator>
  <cp:lastModifiedBy>Administrator</cp:lastModifiedBy>
  <cp:revision>88</cp:revision>
  <dcterms:created xsi:type="dcterms:W3CDTF">2005-09-11T15:39:18Z</dcterms:created>
  <dcterms:modified xsi:type="dcterms:W3CDTF">2018-10-09T04:31:26Z</dcterms:modified>
</cp:coreProperties>
</file>