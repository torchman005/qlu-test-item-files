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92" r:id="rId3"/>
    <p:sldId id="293" r:id="rId4"/>
    <p:sldId id="294" r:id="rId5"/>
    <p:sldId id="295" r:id="rId6"/>
    <p:sldId id="297" r:id="rId7"/>
    <p:sldId id="298" r:id="rId8"/>
    <p:sldId id="299" r:id="rId9"/>
    <p:sldId id="300" r:id="rId10"/>
    <p:sldId id="317" r:id="rId11"/>
    <p:sldId id="301" r:id="rId12"/>
    <p:sldId id="303" r:id="rId13"/>
    <p:sldId id="304" r:id="rId14"/>
    <p:sldId id="305" r:id="rId15"/>
    <p:sldId id="307" r:id="rId16"/>
    <p:sldId id="309" r:id="rId17"/>
    <p:sldId id="310" r:id="rId18"/>
    <p:sldId id="311" r:id="rId19"/>
    <p:sldId id="280" r:id="rId20"/>
    <p:sldId id="271" r:id="rId21"/>
    <p:sldId id="314" r:id="rId22"/>
    <p:sldId id="316" r:id="rId23"/>
    <p:sldId id="318" r:id="rId24"/>
    <p:sldId id="319" r:id="rId25"/>
    <p:sldId id="320" r:id="rId26"/>
    <p:sldId id="321" r:id="rId27"/>
    <p:sldId id="323" r:id="rId2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66FF"/>
    <a:srgbClr val="FF9900"/>
    <a:srgbClr val="006600"/>
    <a:srgbClr val="52AE66"/>
    <a:srgbClr val="FF66FF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-35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2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2" Type="http://schemas.openxmlformats.org/officeDocument/2006/relationships/image" Target="../media/image1.wmf"/><Relationship Id="rId1" Type="http://schemas.openxmlformats.org/officeDocument/2006/relationships/image" Target="../media/image10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8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0.wmf"/><Relationship Id="rId7" Type="http://schemas.openxmlformats.org/officeDocument/2006/relationships/image" Target="../media/image10.wmf"/><Relationship Id="rId2" Type="http://schemas.openxmlformats.org/officeDocument/2006/relationships/image" Target="../media/image19.wmf"/><Relationship Id="rId1" Type="http://schemas.openxmlformats.org/officeDocument/2006/relationships/image" Target="../media/image6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9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28.wmf"/><Relationship Id="rId7" Type="http://schemas.openxmlformats.org/officeDocument/2006/relationships/image" Target="../media/image29.wmf"/><Relationship Id="rId12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21.wmf"/><Relationship Id="rId11" Type="http://schemas.openxmlformats.org/officeDocument/2006/relationships/image" Target="../media/image6.wmf"/><Relationship Id="rId5" Type="http://schemas.openxmlformats.org/officeDocument/2006/relationships/image" Target="../media/image20.wmf"/><Relationship Id="rId10" Type="http://schemas.openxmlformats.org/officeDocument/2006/relationships/image" Target="../media/image31.wmf"/><Relationship Id="rId4" Type="http://schemas.openxmlformats.org/officeDocument/2006/relationships/image" Target="../media/image19.wmf"/><Relationship Id="rId9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10" Type="http://schemas.openxmlformats.org/officeDocument/2006/relationships/image" Target="../media/image67.wmf"/><Relationship Id="rId4" Type="http://schemas.openxmlformats.org/officeDocument/2006/relationships/image" Target="../media/image61.wmf"/><Relationship Id="rId9" Type="http://schemas.openxmlformats.org/officeDocument/2006/relationships/image" Target="../media/image6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68.wmf"/><Relationship Id="rId4" Type="http://schemas.openxmlformats.org/officeDocument/2006/relationships/image" Target="../media/image6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5.wmf"/><Relationship Id="rId7" Type="http://schemas.openxmlformats.org/officeDocument/2006/relationships/image" Target="../media/image83.wmf"/><Relationship Id="rId12" Type="http://schemas.openxmlformats.org/officeDocument/2006/relationships/image" Target="../media/image88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e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6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48.wmf"/><Relationship Id="rId5" Type="http://schemas.openxmlformats.org/officeDocument/2006/relationships/image" Target="../media/image106.wmf"/><Relationship Id="rId4" Type="http://schemas.openxmlformats.org/officeDocument/2006/relationships/image" Target="../media/image4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image" Target="../media/image107.wmf"/><Relationship Id="rId7" Type="http://schemas.openxmlformats.org/officeDocument/2006/relationships/image" Target="../media/image116.wmf"/><Relationship Id="rId2" Type="http://schemas.openxmlformats.org/officeDocument/2006/relationships/image" Target="../media/image108.wmf"/><Relationship Id="rId1" Type="http://schemas.openxmlformats.org/officeDocument/2006/relationships/image" Target="../media/image109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9" Type="http://schemas.openxmlformats.org/officeDocument/2006/relationships/image" Target="../media/image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7" Type="http://schemas.openxmlformats.org/officeDocument/2006/relationships/image" Target="../media/image116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0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114.wmf"/><Relationship Id="rId7" Type="http://schemas.openxmlformats.org/officeDocument/2006/relationships/image" Target="../media/image121.wmf"/><Relationship Id="rId2" Type="http://schemas.openxmlformats.org/officeDocument/2006/relationships/image" Target="../media/image113.wmf"/><Relationship Id="rId1" Type="http://schemas.openxmlformats.org/officeDocument/2006/relationships/image" Target="../media/image120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8.wmf"/><Relationship Id="rId9" Type="http://schemas.openxmlformats.org/officeDocument/2006/relationships/image" Target="../media/image12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13.wmf"/><Relationship Id="rId7" Type="http://schemas.openxmlformats.org/officeDocument/2006/relationships/image" Target="../media/image121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17.wmf"/><Relationship Id="rId11" Type="http://schemas.openxmlformats.org/officeDocument/2006/relationships/image" Target="../media/image126.wmf"/><Relationship Id="rId5" Type="http://schemas.openxmlformats.org/officeDocument/2006/relationships/image" Target="../media/image8.wmf"/><Relationship Id="rId10" Type="http://schemas.openxmlformats.org/officeDocument/2006/relationships/image" Target="../media/image106.wmf"/><Relationship Id="rId4" Type="http://schemas.openxmlformats.org/officeDocument/2006/relationships/image" Target="../media/image114.wmf"/><Relationship Id="rId9" Type="http://schemas.openxmlformats.org/officeDocument/2006/relationships/image" Target="../media/image1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F3E1FE89-27E6-4C9D-B37B-6954E900B8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9442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CFB5EA-B55C-4793-B645-6A38D90EAF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716378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B3B4A-4960-4050-8214-A8CA8988D2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9426047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2E43D-4EC8-4C3A-8C1A-B935E16F66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031965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D7EE81-39F9-435D-BDD8-C8CF3CB66E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40732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D02CC-E4B7-49D6-8021-A18B3C4D58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5813196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5314C-B67D-4540-81E5-C1341944E9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056328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335B8-C7F2-468C-8308-AABEEF9EE3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463343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35EA7-5C4D-45F5-89DE-0C5DA7733B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9715412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B97DE-B91C-4E1A-BD91-5C0B6F5D3C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844792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1F071-EFDF-4908-BFF3-D586CA4B1B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4009453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433646-D370-480E-A9AF-F52B2B73DC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746634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8DC526CE-0103-4E6D-814E-E02935CF3D5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9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8.wmf"/><Relationship Id="rId4" Type="http://schemas.openxmlformats.org/officeDocument/2006/relationships/image" Target="../media/image1.wmf"/><Relationship Id="rId9" Type="http://schemas.openxmlformats.org/officeDocument/2006/relationships/image" Target="../media/image3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3.bin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15.wmf"/><Relationship Id="rId7" Type="http://schemas.openxmlformats.org/officeDocument/2006/relationships/oleObject" Target="../embeddings/oleObject13.bin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3.wmf"/><Relationship Id="rId25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wmf"/><Relationship Id="rId11" Type="http://schemas.openxmlformats.org/officeDocument/2006/relationships/image" Target="../media/image8.wmf"/><Relationship Id="rId24" Type="http://schemas.openxmlformats.org/officeDocument/2006/relationships/oleObject" Target="../embeddings/oleObject22.bin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14.wmf"/><Relationship Id="rId4" Type="http://schemas.openxmlformats.org/officeDocument/2006/relationships/image" Target="../media/image10.wmf"/><Relationship Id="rId9" Type="http://schemas.openxmlformats.org/officeDocument/2006/relationships/image" Target="../media/image2.wmf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Relationship Id="rId27" Type="http://schemas.openxmlformats.org/officeDocument/2006/relationships/image" Target="../media/image1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.wmf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22.wmf"/><Relationship Id="rId26" Type="http://schemas.openxmlformats.org/officeDocument/2006/relationships/oleObject" Target="../embeddings/oleObject45.bin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40.bin"/><Relationship Id="rId25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7.bin"/><Relationship Id="rId24" Type="http://schemas.openxmlformats.org/officeDocument/2006/relationships/oleObject" Target="../embeddings/oleObject44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image" Target="../media/image31.wmf"/><Relationship Id="rId10" Type="http://schemas.openxmlformats.org/officeDocument/2006/relationships/image" Target="../media/image19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21.wmf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3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38.e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4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4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53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6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5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7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4.wmf"/><Relationship Id="rId20" Type="http://schemas.openxmlformats.org/officeDocument/2006/relationships/image" Target="../media/image6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63.wmf"/><Relationship Id="rId22" Type="http://schemas.openxmlformats.org/officeDocument/2006/relationships/image" Target="../media/image6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60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8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7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96.bin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76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7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1.emf"/><Relationship Id="rId17" Type="http://schemas.openxmlformats.org/officeDocument/2006/relationships/oleObject" Target="../embeddings/oleObject105.bin"/><Relationship Id="rId25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1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00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9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9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61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2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131.bin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47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12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37.bin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35.bin"/><Relationship Id="rId14" Type="http://schemas.openxmlformats.org/officeDocument/2006/relationships/image" Target="../media/image11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17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6.wmf"/><Relationship Id="rId20" Type="http://schemas.openxmlformats.org/officeDocument/2006/relationships/image" Target="../media/image8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1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52.bin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6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09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1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59.bin"/><Relationship Id="rId18" Type="http://schemas.openxmlformats.org/officeDocument/2006/relationships/image" Target="../media/image103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wmf"/><Relationship Id="rId20" Type="http://schemas.openxmlformats.org/officeDocument/2006/relationships/image" Target="../media/image122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62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1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168.bin"/><Relationship Id="rId18" Type="http://schemas.openxmlformats.org/officeDocument/2006/relationships/image" Target="../media/image116.wmf"/><Relationship Id="rId3" Type="http://schemas.openxmlformats.org/officeDocument/2006/relationships/oleObject" Target="../embeddings/oleObject163.bin"/><Relationship Id="rId21" Type="http://schemas.openxmlformats.org/officeDocument/2006/relationships/oleObject" Target="../embeddings/oleObject172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wmf"/><Relationship Id="rId20" Type="http://schemas.openxmlformats.org/officeDocument/2006/relationships/image" Target="../media/image125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67.bin"/><Relationship Id="rId24" Type="http://schemas.openxmlformats.org/officeDocument/2006/relationships/image" Target="../media/image126.wmf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23" Type="http://schemas.openxmlformats.org/officeDocument/2006/relationships/oleObject" Target="../embeddings/oleObject173.bin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71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17.wmf"/><Relationship Id="rId22" Type="http://schemas.openxmlformats.org/officeDocument/2006/relationships/image" Target="../media/image10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2270125" y="846138"/>
            <a:ext cx="44164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0" lang="zh-CN" altLang="en-US" sz="3400" dirty="0" smtClean="0">
                <a:solidFill>
                  <a:srgbClr val="000000"/>
                </a:solidFill>
              </a:rPr>
              <a:t>第十二章   波动光学</a:t>
            </a:r>
            <a:endParaRPr lang="zh-CN" altLang="en-US" sz="3400" dirty="0">
              <a:solidFill>
                <a:srgbClr val="000000"/>
              </a:solidFill>
            </a:endParaRPr>
          </a:p>
        </p:txBody>
      </p:sp>
      <p:sp>
        <p:nvSpPr>
          <p:cNvPr id="3099" name="Text Box 27"/>
          <p:cNvSpPr txBox="1">
            <a:spLocks noChangeArrowheads="1"/>
          </p:cNvSpPr>
          <p:nvPr/>
        </p:nvSpPr>
        <p:spPr bwMode="auto">
          <a:xfrm>
            <a:off x="1827213" y="1947863"/>
            <a:ext cx="5062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§</a:t>
            </a:r>
            <a:r>
              <a:rPr lang="en-US" altLang="zh-CN" dirty="0" smtClean="0">
                <a:solidFill>
                  <a:srgbClr val="000000"/>
                </a:solidFill>
              </a:rPr>
              <a:t>12.2  </a:t>
            </a:r>
            <a:r>
              <a:rPr lang="zh-CN" altLang="en-US" dirty="0" smtClean="0">
                <a:solidFill>
                  <a:srgbClr val="000000"/>
                </a:solidFill>
              </a:rPr>
              <a:t>薄膜干涉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2665413" y="2606675"/>
            <a:ext cx="5062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kumimoji="0" lang="en-US" altLang="zh-CN">
                <a:solidFill>
                  <a:srgbClr val="000000"/>
                </a:solidFill>
              </a:rPr>
              <a:t> </a:t>
            </a:r>
            <a:r>
              <a:rPr kumimoji="0" lang="zh-CN" altLang="en-US">
                <a:solidFill>
                  <a:srgbClr val="000000"/>
                </a:solidFill>
              </a:rPr>
              <a:t>光程</a:t>
            </a:r>
          </a:p>
        </p:txBody>
      </p:sp>
      <p:sp>
        <p:nvSpPr>
          <p:cNvPr id="3106" name="Text Box 34"/>
          <p:cNvSpPr txBox="1">
            <a:spLocks noChangeArrowheads="1"/>
          </p:cNvSpPr>
          <p:nvPr/>
        </p:nvSpPr>
        <p:spPr bwMode="auto">
          <a:xfrm>
            <a:off x="2665413" y="3265488"/>
            <a:ext cx="5545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kumimoji="0" lang="en-US" altLang="zh-CN">
                <a:solidFill>
                  <a:srgbClr val="000000"/>
                </a:solidFill>
              </a:rPr>
              <a:t> </a:t>
            </a:r>
            <a:r>
              <a:rPr kumimoji="0" lang="zh-CN" altLang="en-US">
                <a:solidFill>
                  <a:srgbClr val="000000"/>
                </a:solidFill>
              </a:rPr>
              <a:t>透镜不引起附加的光程差</a:t>
            </a:r>
          </a:p>
        </p:txBody>
      </p:sp>
      <p:sp>
        <p:nvSpPr>
          <p:cNvPr id="3107" name="Rectangle 35"/>
          <p:cNvSpPr>
            <a:spLocks noChangeArrowheads="1"/>
          </p:cNvSpPr>
          <p:nvPr/>
        </p:nvSpPr>
        <p:spPr bwMode="auto">
          <a:xfrm>
            <a:off x="2665413" y="3925888"/>
            <a:ext cx="2914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kumimoji="0" lang="en-US" altLang="zh-CN" dirty="0">
                <a:solidFill>
                  <a:srgbClr val="000000"/>
                </a:solidFill>
              </a:rPr>
              <a:t> </a:t>
            </a:r>
            <a:r>
              <a:rPr kumimoji="0" lang="zh-CN" altLang="en-US" dirty="0">
                <a:solidFill>
                  <a:srgbClr val="000000"/>
                </a:solidFill>
              </a:rPr>
              <a:t>薄膜干涉</a:t>
            </a:r>
          </a:p>
        </p:txBody>
      </p:sp>
      <p:sp>
        <p:nvSpPr>
          <p:cNvPr id="9" name="Rectangle 35"/>
          <p:cNvSpPr>
            <a:spLocks noChangeArrowheads="1"/>
          </p:cNvSpPr>
          <p:nvPr/>
        </p:nvSpPr>
        <p:spPr bwMode="auto">
          <a:xfrm>
            <a:off x="2666812" y="4531293"/>
            <a:ext cx="2914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lang="zh-CN" altLang="en-US" dirty="0" smtClean="0">
                <a:solidFill>
                  <a:srgbClr val="000000"/>
                </a:solidFill>
              </a:rPr>
              <a:t>  劈</a:t>
            </a:r>
            <a:r>
              <a:rPr lang="zh-CN" altLang="en-US" dirty="0">
                <a:solidFill>
                  <a:srgbClr val="000000"/>
                </a:solidFill>
              </a:rPr>
              <a:t>尖   </a:t>
            </a:r>
            <a:r>
              <a:rPr lang="zh-CN" altLang="en-US" dirty="0" smtClean="0">
                <a:solidFill>
                  <a:srgbClr val="000000"/>
                </a:solidFill>
              </a:rPr>
              <a:t>牛顿环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1" name="Rectangle 35"/>
          <p:cNvSpPr>
            <a:spLocks noChangeArrowheads="1"/>
          </p:cNvSpPr>
          <p:nvPr/>
        </p:nvSpPr>
        <p:spPr bwMode="auto">
          <a:xfrm>
            <a:off x="2700367" y="5192771"/>
            <a:ext cx="370882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Wingdings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迈克耳逊干涉仪</a:t>
            </a:r>
          </a:p>
          <a:p>
            <a:pPr eaLnBrk="0" hangingPunct="0">
              <a:buFont typeface="Wingdings" pitchFamily="2" charset="2"/>
              <a:buChar char="l"/>
            </a:pPr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FA7F3-BBDC-4412-837C-DE369E90965E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2056" name="Text Box 72"/>
          <p:cNvSpPr txBox="1">
            <a:spLocks noChangeArrowheads="1"/>
          </p:cNvSpPr>
          <p:nvPr/>
        </p:nvSpPr>
        <p:spPr bwMode="auto">
          <a:xfrm>
            <a:off x="1322902" y="92056"/>
            <a:ext cx="640873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§</a:t>
            </a:r>
            <a:r>
              <a:rPr lang="en-US" altLang="zh-CN" dirty="0" smtClean="0">
                <a:solidFill>
                  <a:srgbClr val="000000"/>
                </a:solidFill>
              </a:rPr>
              <a:t>12.2  </a:t>
            </a:r>
            <a:r>
              <a:rPr lang="zh-CN" altLang="en-US" dirty="0" smtClean="0">
                <a:solidFill>
                  <a:srgbClr val="000000"/>
                </a:solidFill>
              </a:rPr>
              <a:t>薄膜干涉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——</a:t>
            </a:r>
            <a:r>
              <a:rPr lang="zh-CN" altLang="en-US" dirty="0" smtClean="0">
                <a:solidFill>
                  <a:srgbClr val="000000"/>
                </a:solidFill>
              </a:rPr>
              <a:t>劈尖 牛顿环 迈克尔逊干涉仪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42057" name="Group 73"/>
          <p:cNvGrpSpPr>
            <a:grpSpLocks/>
          </p:cNvGrpSpPr>
          <p:nvPr/>
        </p:nvGrpSpPr>
        <p:grpSpPr bwMode="auto">
          <a:xfrm>
            <a:off x="695325" y="1774825"/>
            <a:ext cx="4419600" cy="2362200"/>
            <a:chOff x="2653" y="1111"/>
            <a:chExt cx="2784" cy="1488"/>
          </a:xfrm>
        </p:grpSpPr>
        <p:sp>
          <p:nvSpPr>
            <p:cNvPr id="41987" name="Rectangle 3"/>
            <p:cNvSpPr>
              <a:spLocks noChangeArrowheads="1"/>
            </p:cNvSpPr>
            <p:nvPr/>
          </p:nvSpPr>
          <p:spPr bwMode="auto">
            <a:xfrm>
              <a:off x="2653" y="1111"/>
              <a:ext cx="2784" cy="14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88" name="Rectangle 4"/>
            <p:cNvSpPr>
              <a:spLocks noChangeArrowheads="1"/>
            </p:cNvSpPr>
            <p:nvPr/>
          </p:nvSpPr>
          <p:spPr bwMode="auto">
            <a:xfrm>
              <a:off x="3037" y="2071"/>
              <a:ext cx="2016" cy="28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89" name="Rectangle 5"/>
            <p:cNvSpPr>
              <a:spLocks noChangeArrowheads="1"/>
            </p:cNvSpPr>
            <p:nvPr/>
          </p:nvSpPr>
          <p:spPr bwMode="auto">
            <a:xfrm rot="-316683">
              <a:off x="3014" y="1687"/>
              <a:ext cx="2016" cy="28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0" name="Oval 6"/>
            <p:cNvSpPr>
              <a:spLocks noChangeAspect="1" noChangeArrowheads="1"/>
            </p:cNvSpPr>
            <p:nvPr/>
          </p:nvSpPr>
          <p:spPr bwMode="auto">
            <a:xfrm>
              <a:off x="4843" y="1905"/>
              <a:ext cx="163" cy="163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991" name="Object 7"/>
            <p:cNvGraphicFramePr>
              <a:graphicFrameLocks noChangeAspect="1"/>
            </p:cNvGraphicFramePr>
            <p:nvPr/>
          </p:nvGraphicFramePr>
          <p:xfrm>
            <a:off x="3181" y="1687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0" name="公式" r:id="rId3" imgW="215640" imgH="317160" progId="Equation.3">
                    <p:embed/>
                  </p:oleObj>
                </mc:Choice>
                <mc:Fallback>
                  <p:oleObj name="公式" r:id="rId3" imgW="215640" imgH="317160" progId="Equation.3">
                    <p:embed/>
                    <p:pic>
                      <p:nvPicPr>
                        <p:cNvPr id="0" name="Object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1687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8"/>
            <p:cNvGraphicFramePr>
              <a:graphicFrameLocks noChangeAspect="1"/>
            </p:cNvGraphicFramePr>
            <p:nvPr/>
          </p:nvGraphicFramePr>
          <p:xfrm>
            <a:off x="3181" y="2023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1" name="公式" r:id="rId5" imgW="215640" imgH="317160" progId="Equation.3">
                    <p:embed/>
                  </p:oleObj>
                </mc:Choice>
                <mc:Fallback>
                  <p:oleObj name="公式" r:id="rId5" imgW="215640" imgH="317160" progId="Equation.3">
                    <p:embed/>
                    <p:pic>
                      <p:nvPicPr>
                        <p:cNvPr id="0" name="Object 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2023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993" name="Group 9"/>
          <p:cNvGrpSpPr>
            <a:grpSpLocks/>
          </p:cNvGrpSpPr>
          <p:nvPr/>
        </p:nvGrpSpPr>
        <p:grpSpPr bwMode="auto">
          <a:xfrm>
            <a:off x="4027488" y="2003425"/>
            <a:ext cx="457200" cy="457200"/>
            <a:chOff x="4752" y="672"/>
            <a:chExt cx="288" cy="288"/>
          </a:xfrm>
        </p:grpSpPr>
        <p:sp>
          <p:nvSpPr>
            <p:cNvPr id="41994" name="AutoShape 10"/>
            <p:cNvSpPr>
              <a:spLocks noChangeArrowheads="1"/>
            </p:cNvSpPr>
            <p:nvPr/>
          </p:nvSpPr>
          <p:spPr bwMode="auto">
            <a:xfrm>
              <a:off x="4752" y="672"/>
              <a:ext cx="288" cy="288"/>
            </a:xfrm>
            <a:prstGeom prst="wedgeRectCallout">
              <a:avLst>
                <a:gd name="adj1" fmla="val -51042"/>
                <a:gd name="adj2" fmla="val 211111"/>
              </a:avLst>
            </a:prstGeom>
            <a:gradFill rotWithShape="0">
              <a:gsLst>
                <a:gs pos="0">
                  <a:srgbClr val="FCDCED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0" lang="zh-CN" altLang="zh-CN">
                <a:solidFill>
                  <a:srgbClr val="1C1C1C"/>
                </a:solidFill>
              </a:endParaRPr>
            </a:p>
          </p:txBody>
        </p:sp>
        <p:graphicFrame>
          <p:nvGraphicFramePr>
            <p:cNvPr id="41995" name="Object 11"/>
            <p:cNvGraphicFramePr>
              <a:graphicFrameLocks noChangeAspect="1"/>
            </p:cNvGraphicFramePr>
            <p:nvPr/>
          </p:nvGraphicFramePr>
          <p:xfrm>
            <a:off x="4800" y="719"/>
            <a:ext cx="24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2" name="公式" r:id="rId6" imgW="177480" imgH="190440" progId="Equation.3">
                    <p:embed/>
                  </p:oleObj>
                </mc:Choice>
                <mc:Fallback>
                  <p:oleObj name="公式" r:id="rId6" imgW="177480" imgH="190440" progId="Equation.3">
                    <p:embed/>
                    <p:pic>
                      <p:nvPicPr>
                        <p:cNvPr id="0" name="Object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719"/>
                          <a:ext cx="240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D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30" name="Rectangle 46"/>
          <p:cNvSpPr>
            <a:spLocks noChangeArrowheads="1"/>
          </p:cNvSpPr>
          <p:nvPr/>
        </p:nvSpPr>
        <p:spPr bwMode="auto">
          <a:xfrm>
            <a:off x="3316288" y="4746625"/>
            <a:ext cx="787400" cy="1066800"/>
          </a:xfrm>
          <a:prstGeom prst="rect">
            <a:avLst/>
          </a:prstGeom>
          <a:gradFill rotWithShape="0">
            <a:gsLst>
              <a:gs pos="0">
                <a:srgbClr val="FCDCED"/>
              </a:gs>
              <a:gs pos="50000">
                <a:srgbClr val="FFFFFF"/>
              </a:gs>
              <a:gs pos="100000">
                <a:srgbClr val="FCDCED"/>
              </a:gs>
            </a:gsLst>
            <a:lin ang="5400000" scaled="1"/>
          </a:gradFill>
          <a:ln w="12700">
            <a:solidFill>
              <a:srgbClr val="CC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1" name="Text Box 47"/>
          <p:cNvSpPr txBox="1">
            <a:spLocks noChangeArrowheads="1"/>
          </p:cNvSpPr>
          <p:nvPr/>
        </p:nvSpPr>
        <p:spPr bwMode="auto">
          <a:xfrm>
            <a:off x="566738" y="1046163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FF"/>
                </a:solidFill>
              </a:rPr>
              <a:t>一、劈 尖</a:t>
            </a:r>
          </a:p>
        </p:txBody>
      </p:sp>
      <p:sp>
        <p:nvSpPr>
          <p:cNvPr id="42032" name="Line 48"/>
          <p:cNvSpPr>
            <a:spLocks noChangeShapeType="1"/>
          </p:cNvSpPr>
          <p:nvPr/>
        </p:nvSpPr>
        <p:spPr bwMode="auto">
          <a:xfrm>
            <a:off x="2655888" y="1927225"/>
            <a:ext cx="0" cy="1371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3" name="Line 49"/>
          <p:cNvSpPr>
            <a:spLocks noChangeShapeType="1"/>
          </p:cNvSpPr>
          <p:nvPr/>
        </p:nvSpPr>
        <p:spPr bwMode="auto">
          <a:xfrm flipV="1">
            <a:off x="2855913" y="2003425"/>
            <a:ext cx="0" cy="11430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34" name="Line 50"/>
          <p:cNvSpPr>
            <a:spLocks noChangeShapeType="1"/>
          </p:cNvSpPr>
          <p:nvPr/>
        </p:nvSpPr>
        <p:spPr bwMode="auto">
          <a:xfrm flipV="1">
            <a:off x="2960688" y="2003425"/>
            <a:ext cx="0" cy="1295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059" name="Group 75"/>
          <p:cNvGrpSpPr>
            <a:grpSpLocks/>
          </p:cNvGrpSpPr>
          <p:nvPr/>
        </p:nvGrpSpPr>
        <p:grpSpPr bwMode="auto">
          <a:xfrm>
            <a:off x="5259388" y="1758950"/>
            <a:ext cx="3657600" cy="4267200"/>
            <a:chOff x="439" y="1111"/>
            <a:chExt cx="2304" cy="2688"/>
          </a:xfrm>
        </p:grpSpPr>
        <p:sp>
          <p:nvSpPr>
            <p:cNvPr id="41996" name="Rectangle 12"/>
            <p:cNvSpPr>
              <a:spLocks noChangeArrowheads="1"/>
            </p:cNvSpPr>
            <p:nvPr/>
          </p:nvSpPr>
          <p:spPr bwMode="auto">
            <a:xfrm>
              <a:off x="439" y="1111"/>
              <a:ext cx="2127" cy="26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7" name="Rectangle 13"/>
            <p:cNvSpPr>
              <a:spLocks noChangeArrowheads="1"/>
            </p:cNvSpPr>
            <p:nvPr/>
          </p:nvSpPr>
          <p:spPr bwMode="auto">
            <a:xfrm>
              <a:off x="1547" y="1243"/>
              <a:ext cx="266" cy="221"/>
            </a:xfrm>
            <a:prstGeom prst="rect">
              <a:avLst/>
            </a:prstGeom>
            <a:gradFill rotWithShape="0">
              <a:gsLst>
                <a:gs pos="0">
                  <a:srgbClr val="C0C0C0">
                    <a:gamma/>
                    <a:shade val="36078"/>
                    <a:invGamma/>
                  </a:srgbClr>
                </a:gs>
                <a:gs pos="50000">
                  <a:srgbClr val="C0C0C0">
                    <a:alpha val="57001"/>
                  </a:srgbClr>
                </a:gs>
                <a:gs pos="100000">
                  <a:srgbClr val="C0C0C0">
                    <a:gamma/>
                    <a:shade val="36078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8" name="AutoShape 14"/>
            <p:cNvSpPr>
              <a:spLocks noChangeArrowheads="1"/>
            </p:cNvSpPr>
            <p:nvPr/>
          </p:nvSpPr>
          <p:spPr bwMode="auto">
            <a:xfrm>
              <a:off x="1547" y="1464"/>
              <a:ext cx="266" cy="8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shade val="25490"/>
                    <a:invGamma/>
                  </a:srgbClr>
                </a:gs>
                <a:gs pos="50000">
                  <a:srgbClr val="C0C0C0">
                    <a:alpha val="14999"/>
                  </a:srgbClr>
                </a:gs>
                <a:gs pos="100000">
                  <a:srgbClr val="C0C0C0">
                    <a:gamma/>
                    <a:shade val="25490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9" name="Oval 15"/>
            <p:cNvSpPr>
              <a:spLocks noChangeArrowheads="1"/>
            </p:cNvSpPr>
            <p:nvPr/>
          </p:nvSpPr>
          <p:spPr bwMode="auto">
            <a:xfrm>
              <a:off x="1059" y="1860"/>
              <a:ext cx="89" cy="573"/>
            </a:xfrm>
            <a:prstGeom prst="ellipse">
              <a:avLst/>
            </a:prstGeom>
            <a:solidFill>
              <a:srgbClr val="00FFCC">
                <a:alpha val="50000"/>
              </a:srgbClr>
            </a:solidFill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0" name="Line 16"/>
            <p:cNvSpPr>
              <a:spLocks noChangeShapeType="1"/>
            </p:cNvSpPr>
            <p:nvPr/>
          </p:nvSpPr>
          <p:spPr bwMode="auto">
            <a:xfrm flipV="1">
              <a:off x="749" y="1992"/>
              <a:ext cx="310" cy="177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1" name="Line 17"/>
            <p:cNvSpPr>
              <a:spLocks noChangeShapeType="1"/>
            </p:cNvSpPr>
            <p:nvPr/>
          </p:nvSpPr>
          <p:spPr bwMode="auto">
            <a:xfrm>
              <a:off x="749" y="2169"/>
              <a:ext cx="310" cy="132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2" name="Line 18"/>
            <p:cNvSpPr>
              <a:spLocks noChangeShapeType="1"/>
            </p:cNvSpPr>
            <p:nvPr/>
          </p:nvSpPr>
          <p:spPr bwMode="auto">
            <a:xfrm>
              <a:off x="1059" y="1992"/>
              <a:ext cx="399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3" name="Oval 19"/>
            <p:cNvSpPr>
              <a:spLocks noChangeArrowheads="1"/>
            </p:cNvSpPr>
            <p:nvPr/>
          </p:nvSpPr>
          <p:spPr bwMode="auto">
            <a:xfrm>
              <a:off x="2034" y="2874"/>
              <a:ext cx="177" cy="176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4" name="Line 20"/>
            <p:cNvSpPr>
              <a:spLocks noChangeShapeType="1"/>
            </p:cNvSpPr>
            <p:nvPr/>
          </p:nvSpPr>
          <p:spPr bwMode="auto">
            <a:xfrm>
              <a:off x="1059" y="3050"/>
              <a:ext cx="110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5" name="Line 21"/>
            <p:cNvSpPr>
              <a:spLocks noChangeShapeType="1"/>
            </p:cNvSpPr>
            <p:nvPr/>
          </p:nvSpPr>
          <p:spPr bwMode="auto">
            <a:xfrm flipV="1">
              <a:off x="1059" y="2874"/>
              <a:ext cx="1108" cy="1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6" name="Line 22"/>
            <p:cNvSpPr>
              <a:spLocks noChangeShapeType="1"/>
            </p:cNvSpPr>
            <p:nvPr/>
          </p:nvSpPr>
          <p:spPr bwMode="auto">
            <a:xfrm>
              <a:off x="1901" y="1596"/>
              <a:ext cx="0" cy="145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>
              <a:off x="1458" y="1596"/>
              <a:ext cx="0" cy="145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8" name="Line 24"/>
            <p:cNvSpPr>
              <a:spLocks noChangeShapeType="1"/>
            </p:cNvSpPr>
            <p:nvPr/>
          </p:nvSpPr>
          <p:spPr bwMode="auto">
            <a:xfrm>
              <a:off x="1059" y="2301"/>
              <a:ext cx="842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9" name="Line 25"/>
            <p:cNvSpPr>
              <a:spLocks noChangeShapeType="1"/>
            </p:cNvSpPr>
            <p:nvPr/>
          </p:nvSpPr>
          <p:spPr bwMode="auto">
            <a:xfrm>
              <a:off x="2200" y="2869"/>
              <a:ext cx="25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0" name="Line 26"/>
            <p:cNvSpPr>
              <a:spLocks noChangeShapeType="1"/>
            </p:cNvSpPr>
            <p:nvPr/>
          </p:nvSpPr>
          <p:spPr bwMode="auto">
            <a:xfrm>
              <a:off x="2190" y="3056"/>
              <a:ext cx="208" cy="5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1" name="Line 27"/>
            <p:cNvSpPr>
              <a:spLocks noChangeShapeType="1"/>
            </p:cNvSpPr>
            <p:nvPr/>
          </p:nvSpPr>
          <p:spPr bwMode="auto">
            <a:xfrm>
              <a:off x="2341" y="2670"/>
              <a:ext cx="0" cy="17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2" name="Text Box 28"/>
            <p:cNvSpPr txBox="1">
              <a:spLocks noChangeArrowheads="1"/>
            </p:cNvSpPr>
            <p:nvPr/>
          </p:nvSpPr>
          <p:spPr bwMode="auto">
            <a:xfrm>
              <a:off x="572" y="2036"/>
              <a:ext cx="7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en-US" b="0">
                  <a:solidFill>
                    <a:srgbClr val="C80000"/>
                  </a:solidFill>
                </a:rPr>
                <a:t>S</a:t>
              </a:r>
              <a:endParaRPr kumimoji="0" lang="en-US" altLang="zh-CN" b="0">
                <a:solidFill>
                  <a:srgbClr val="C80000"/>
                </a:solidFill>
              </a:endParaRPr>
            </a:p>
          </p:txBody>
        </p:sp>
        <p:sp>
          <p:nvSpPr>
            <p:cNvPr id="42013" name="Text Box 29"/>
            <p:cNvSpPr txBox="1">
              <a:spLocks noChangeArrowheads="1"/>
            </p:cNvSpPr>
            <p:nvPr/>
          </p:nvSpPr>
          <p:spPr bwMode="auto">
            <a:xfrm>
              <a:off x="1945" y="2259"/>
              <a:ext cx="7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b="0">
                  <a:solidFill>
                    <a:srgbClr val="000000"/>
                  </a:solidFill>
                </a:rPr>
                <a:t>M</a:t>
              </a:r>
            </a:p>
          </p:txBody>
        </p:sp>
        <p:sp>
          <p:nvSpPr>
            <p:cNvPr id="42014" name="Line 30"/>
            <p:cNvSpPr>
              <a:spLocks noChangeShapeType="1"/>
            </p:cNvSpPr>
            <p:nvPr/>
          </p:nvSpPr>
          <p:spPr bwMode="auto">
            <a:xfrm>
              <a:off x="1451" y="2433"/>
              <a:ext cx="0" cy="30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5" name="Line 31"/>
            <p:cNvSpPr>
              <a:spLocks noChangeShapeType="1"/>
            </p:cNvSpPr>
            <p:nvPr/>
          </p:nvSpPr>
          <p:spPr bwMode="auto">
            <a:xfrm>
              <a:off x="1894" y="2477"/>
              <a:ext cx="0" cy="308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6" name="Line 32"/>
            <p:cNvSpPr>
              <a:spLocks noChangeShapeType="1"/>
            </p:cNvSpPr>
            <p:nvPr/>
          </p:nvSpPr>
          <p:spPr bwMode="auto">
            <a:xfrm>
              <a:off x="1237" y="1992"/>
              <a:ext cx="132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7" name="Line 33"/>
            <p:cNvSpPr>
              <a:spLocks noChangeShapeType="1"/>
            </p:cNvSpPr>
            <p:nvPr/>
          </p:nvSpPr>
          <p:spPr bwMode="auto">
            <a:xfrm>
              <a:off x="1237" y="2301"/>
              <a:ext cx="132" cy="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8" name="Freeform 34"/>
            <p:cNvSpPr>
              <a:spLocks/>
            </p:cNvSpPr>
            <p:nvPr/>
          </p:nvSpPr>
          <p:spPr bwMode="auto">
            <a:xfrm>
              <a:off x="1454" y="1654"/>
              <a:ext cx="1" cy="118"/>
            </a:xfrm>
            <a:custGeom>
              <a:avLst/>
              <a:gdLst>
                <a:gd name="T0" fmla="*/ 0 w 1"/>
                <a:gd name="T1" fmla="*/ 128 h 128"/>
                <a:gd name="T2" fmla="*/ 0 w 1"/>
                <a:gd name="T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8">
                  <a:moveTo>
                    <a:pt x="0" y="128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9" name="Freeform 35"/>
            <p:cNvSpPr>
              <a:spLocks/>
            </p:cNvSpPr>
            <p:nvPr/>
          </p:nvSpPr>
          <p:spPr bwMode="auto">
            <a:xfrm>
              <a:off x="1897" y="1651"/>
              <a:ext cx="4" cy="121"/>
            </a:xfrm>
            <a:custGeom>
              <a:avLst/>
              <a:gdLst>
                <a:gd name="T0" fmla="*/ 4 w 4"/>
                <a:gd name="T1" fmla="*/ 132 h 132"/>
                <a:gd name="T2" fmla="*/ 0 w 4"/>
                <a:gd name="T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132">
                  <a:moveTo>
                    <a:pt x="4" y="132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0" name="Line 36"/>
            <p:cNvSpPr>
              <a:spLocks noChangeShapeType="1"/>
            </p:cNvSpPr>
            <p:nvPr/>
          </p:nvSpPr>
          <p:spPr bwMode="auto">
            <a:xfrm flipV="1">
              <a:off x="2344" y="3061"/>
              <a:ext cx="0" cy="176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1" name="Arc 37"/>
            <p:cNvSpPr>
              <a:spLocks/>
            </p:cNvSpPr>
            <p:nvPr/>
          </p:nvSpPr>
          <p:spPr bwMode="auto">
            <a:xfrm rot="18616959" flipV="1">
              <a:off x="1547" y="2965"/>
              <a:ext cx="84" cy="82"/>
            </a:xfrm>
            <a:custGeom>
              <a:avLst/>
              <a:gdLst>
                <a:gd name="G0" fmla="+- 0 0 0"/>
                <a:gd name="G1" fmla="+- 20038 0 0"/>
                <a:gd name="G2" fmla="+- 21600 0 0"/>
                <a:gd name="T0" fmla="*/ 8065 w 20674"/>
                <a:gd name="T1" fmla="*/ 0 h 20038"/>
                <a:gd name="T2" fmla="*/ 20674 w 20674"/>
                <a:gd name="T3" fmla="*/ 13782 h 20038"/>
                <a:gd name="T4" fmla="*/ 0 w 20674"/>
                <a:gd name="T5" fmla="*/ 20038 h 20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674" h="20038" fill="none" extrusionOk="0">
                  <a:moveTo>
                    <a:pt x="8064" y="0"/>
                  </a:moveTo>
                  <a:cubicBezTo>
                    <a:pt x="14139" y="2445"/>
                    <a:pt x="18777" y="7514"/>
                    <a:pt x="20674" y="13781"/>
                  </a:cubicBezTo>
                </a:path>
                <a:path w="20674" h="20038" stroke="0" extrusionOk="0">
                  <a:moveTo>
                    <a:pt x="8064" y="0"/>
                  </a:moveTo>
                  <a:cubicBezTo>
                    <a:pt x="14139" y="2445"/>
                    <a:pt x="18777" y="7514"/>
                    <a:pt x="20674" y="13781"/>
                  </a:cubicBezTo>
                  <a:lnTo>
                    <a:pt x="0" y="20038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2" name="Rectangle 38"/>
            <p:cNvSpPr>
              <a:spLocks noChangeArrowheads="1"/>
            </p:cNvSpPr>
            <p:nvPr/>
          </p:nvSpPr>
          <p:spPr bwMode="auto">
            <a:xfrm rot="-3075295">
              <a:off x="1639" y="1730"/>
              <a:ext cx="57" cy="75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23" name="Object 39"/>
            <p:cNvGraphicFramePr>
              <a:graphicFrameLocks noChangeAspect="1"/>
            </p:cNvGraphicFramePr>
            <p:nvPr/>
          </p:nvGraphicFramePr>
          <p:xfrm>
            <a:off x="2256" y="2869"/>
            <a:ext cx="165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3" name="Equation" r:id="rId8" imgW="241200" imgH="228600" progId="Equation.3">
                    <p:embed/>
                  </p:oleObj>
                </mc:Choice>
                <mc:Fallback>
                  <p:oleObj name="Equation" r:id="rId8" imgW="241200" imgH="228600" progId="Equation.3">
                    <p:embed/>
                    <p:pic>
                      <p:nvPicPr>
                        <p:cNvPr id="0" name="Object 3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869"/>
                          <a:ext cx="165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4" name="Object 40"/>
            <p:cNvGraphicFramePr>
              <a:graphicFrameLocks noChangeAspect="1"/>
            </p:cNvGraphicFramePr>
            <p:nvPr/>
          </p:nvGraphicFramePr>
          <p:xfrm>
            <a:off x="1857" y="1309"/>
            <a:ext cx="177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4" name="Equation" r:id="rId10" imgW="203040" imgH="228600" progId="Equation.3">
                    <p:embed/>
                  </p:oleObj>
                </mc:Choice>
                <mc:Fallback>
                  <p:oleObj name="Equation" r:id="rId10" imgW="203040" imgH="228600" progId="Equation.3">
                    <p:embed/>
                    <p:pic>
                      <p:nvPicPr>
                        <p:cNvPr id="0" name="Object 4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7" y="1309"/>
                          <a:ext cx="177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25" name="Object 41"/>
            <p:cNvGraphicFramePr>
              <a:graphicFrameLocks noChangeAspect="1"/>
            </p:cNvGraphicFramePr>
            <p:nvPr/>
          </p:nvGraphicFramePr>
          <p:xfrm>
            <a:off x="1034" y="1640"/>
            <a:ext cx="158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5" name="Equation" r:id="rId12" imgW="203040" imgH="228600" progId="Equation.3">
                    <p:embed/>
                  </p:oleObj>
                </mc:Choice>
                <mc:Fallback>
                  <p:oleObj name="Equation" r:id="rId12" imgW="203040" imgH="228600" progId="Equation.3">
                    <p:embed/>
                    <p:pic>
                      <p:nvPicPr>
                        <p:cNvPr id="0" name="Object 4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1640"/>
                          <a:ext cx="158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058" name="Group 74"/>
            <p:cNvGrpSpPr>
              <a:grpSpLocks/>
            </p:cNvGrpSpPr>
            <p:nvPr/>
          </p:nvGrpSpPr>
          <p:grpSpPr bwMode="auto">
            <a:xfrm>
              <a:off x="470" y="2443"/>
              <a:ext cx="871" cy="288"/>
              <a:chOff x="470" y="2443"/>
              <a:chExt cx="871" cy="288"/>
            </a:xfrm>
          </p:grpSpPr>
          <p:sp>
            <p:nvSpPr>
              <p:cNvPr id="42027" name="AutoShape 43"/>
              <p:cNvSpPr>
                <a:spLocks noChangeArrowheads="1"/>
              </p:cNvSpPr>
              <p:nvPr/>
            </p:nvSpPr>
            <p:spPr bwMode="auto">
              <a:xfrm>
                <a:off x="470" y="2489"/>
                <a:ext cx="796" cy="206"/>
              </a:xfrm>
              <a:prstGeom prst="wedgeRectCallout">
                <a:avLst>
                  <a:gd name="adj1" fmla="val 73491"/>
                  <a:gd name="adj2" fmla="val 131069"/>
                </a:avLst>
              </a:prstGeom>
              <a:noFill/>
              <a:ln w="9525">
                <a:solidFill>
                  <a:srgbClr val="006666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kumimoji="0" lang="zh-CN" altLang="zh-CN">
                  <a:solidFill>
                    <a:srgbClr val="1C1C1C"/>
                  </a:solidFill>
                </a:endParaRPr>
              </a:p>
            </p:txBody>
          </p:sp>
          <p:sp>
            <p:nvSpPr>
              <p:cNvPr id="42028" name="Text Box 44"/>
              <p:cNvSpPr txBox="1">
                <a:spLocks noChangeArrowheads="1"/>
              </p:cNvSpPr>
              <p:nvPr/>
            </p:nvSpPr>
            <p:spPr bwMode="auto">
              <a:xfrm>
                <a:off x="470" y="2443"/>
                <a:ext cx="8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00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 sz="2400">
                    <a:solidFill>
                      <a:srgbClr val="000000"/>
                    </a:solidFill>
                  </a:rPr>
                  <a:t>劈尖角</a:t>
                </a:r>
              </a:p>
            </p:txBody>
          </p:sp>
          <p:graphicFrame>
            <p:nvGraphicFramePr>
              <p:cNvPr id="42029" name="Object 45"/>
              <p:cNvGraphicFramePr>
                <a:graphicFrameLocks noChangeAspect="1"/>
              </p:cNvGraphicFramePr>
              <p:nvPr/>
            </p:nvGraphicFramePr>
            <p:xfrm>
              <a:off x="1120" y="2489"/>
              <a:ext cx="133" cy="1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86" name="公式" r:id="rId14" imgW="177480" imgH="241200" progId="Equation.3">
                      <p:embed/>
                    </p:oleObj>
                  </mc:Choice>
                  <mc:Fallback>
                    <p:oleObj name="公式" r:id="rId14" imgW="177480" imgH="241200" progId="Equation.3">
                      <p:embed/>
                      <p:pic>
                        <p:nvPicPr>
                          <p:cNvPr id="0" name="Object 4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0" y="2489"/>
                            <a:ext cx="133" cy="1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2035" name="Line 51"/>
            <p:cNvSpPr>
              <a:spLocks noChangeShapeType="1"/>
            </p:cNvSpPr>
            <p:nvPr/>
          </p:nvSpPr>
          <p:spPr bwMode="auto">
            <a:xfrm>
              <a:off x="1491" y="3397"/>
              <a:ext cx="0" cy="30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6" name="Line 52"/>
            <p:cNvSpPr>
              <a:spLocks noChangeShapeType="1"/>
            </p:cNvSpPr>
            <p:nvPr/>
          </p:nvSpPr>
          <p:spPr bwMode="auto">
            <a:xfrm>
              <a:off x="1580" y="3397"/>
              <a:ext cx="0" cy="30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037" name="Group 53"/>
            <p:cNvGrpSpPr>
              <a:grpSpLocks/>
            </p:cNvGrpSpPr>
            <p:nvPr/>
          </p:nvGrpSpPr>
          <p:grpSpPr bwMode="auto">
            <a:xfrm>
              <a:off x="1225" y="3089"/>
              <a:ext cx="798" cy="396"/>
              <a:chOff x="3312" y="3408"/>
              <a:chExt cx="864" cy="432"/>
            </a:xfrm>
          </p:grpSpPr>
          <p:sp>
            <p:nvSpPr>
              <p:cNvPr id="42038" name="Rectangle 54"/>
              <p:cNvSpPr>
                <a:spLocks noChangeArrowheads="1"/>
              </p:cNvSpPr>
              <p:nvPr/>
            </p:nvSpPr>
            <p:spPr bwMode="auto">
              <a:xfrm>
                <a:off x="3312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39" name="Rectangle 55"/>
              <p:cNvSpPr>
                <a:spLocks noChangeArrowheads="1"/>
              </p:cNvSpPr>
              <p:nvPr/>
            </p:nvSpPr>
            <p:spPr bwMode="auto">
              <a:xfrm>
                <a:off x="3408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0" name="Rectangle 56"/>
              <p:cNvSpPr>
                <a:spLocks noChangeArrowheads="1"/>
              </p:cNvSpPr>
              <p:nvPr/>
            </p:nvSpPr>
            <p:spPr bwMode="auto">
              <a:xfrm>
                <a:off x="3504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1" name="Rectangle 57"/>
              <p:cNvSpPr>
                <a:spLocks noChangeArrowheads="1"/>
              </p:cNvSpPr>
              <p:nvPr/>
            </p:nvSpPr>
            <p:spPr bwMode="auto">
              <a:xfrm>
                <a:off x="3600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2" name="Rectangle 58"/>
              <p:cNvSpPr>
                <a:spLocks noChangeArrowheads="1"/>
              </p:cNvSpPr>
              <p:nvPr/>
            </p:nvSpPr>
            <p:spPr bwMode="auto">
              <a:xfrm>
                <a:off x="3696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3" name="Rectangle 59"/>
              <p:cNvSpPr>
                <a:spLocks noChangeArrowheads="1"/>
              </p:cNvSpPr>
              <p:nvPr/>
            </p:nvSpPr>
            <p:spPr bwMode="auto">
              <a:xfrm>
                <a:off x="3792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4" name="Rectangle 60"/>
              <p:cNvSpPr>
                <a:spLocks noChangeArrowheads="1"/>
              </p:cNvSpPr>
              <p:nvPr/>
            </p:nvSpPr>
            <p:spPr bwMode="auto">
              <a:xfrm>
                <a:off x="3888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5" name="Rectangle 61"/>
              <p:cNvSpPr>
                <a:spLocks noChangeArrowheads="1"/>
              </p:cNvSpPr>
              <p:nvPr/>
            </p:nvSpPr>
            <p:spPr bwMode="auto">
              <a:xfrm>
                <a:off x="3984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046" name="Rectangle 62"/>
              <p:cNvSpPr>
                <a:spLocks noChangeArrowheads="1"/>
              </p:cNvSpPr>
              <p:nvPr/>
            </p:nvSpPr>
            <p:spPr bwMode="auto">
              <a:xfrm>
                <a:off x="4080" y="3408"/>
                <a:ext cx="96" cy="432"/>
              </a:xfrm>
              <a:prstGeom prst="rect">
                <a:avLst/>
              </a:prstGeom>
              <a:gradFill rotWithShape="0">
                <a:gsLst>
                  <a:gs pos="0">
                    <a:srgbClr val="FFFF99">
                      <a:gamma/>
                      <a:shade val="26275"/>
                      <a:invGamma/>
                    </a:srgbClr>
                  </a:gs>
                  <a:gs pos="50000">
                    <a:srgbClr val="FFFF99"/>
                  </a:gs>
                  <a:gs pos="100000">
                    <a:srgbClr val="FFFF99">
                      <a:gamma/>
                      <a:shade val="2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2047" name="Line 63"/>
            <p:cNvSpPr>
              <a:spLocks noChangeShapeType="1"/>
            </p:cNvSpPr>
            <p:nvPr/>
          </p:nvSpPr>
          <p:spPr bwMode="auto">
            <a:xfrm>
              <a:off x="1269" y="3574"/>
              <a:ext cx="22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48" name="Line 64"/>
            <p:cNvSpPr>
              <a:spLocks noChangeShapeType="1"/>
            </p:cNvSpPr>
            <p:nvPr/>
          </p:nvSpPr>
          <p:spPr bwMode="auto">
            <a:xfrm flipH="1">
              <a:off x="1580" y="3574"/>
              <a:ext cx="22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49" name="Object 65"/>
            <p:cNvGraphicFramePr>
              <a:graphicFrameLocks noChangeAspect="1"/>
            </p:cNvGraphicFramePr>
            <p:nvPr/>
          </p:nvGraphicFramePr>
          <p:xfrm>
            <a:off x="1757" y="3485"/>
            <a:ext cx="163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7" name="Equation" r:id="rId16" imgW="164880" imgH="253800" progId="Equation.3">
                    <p:embed/>
                  </p:oleObj>
                </mc:Choice>
                <mc:Fallback>
                  <p:oleObj name="Equation" r:id="rId16" imgW="164880" imgH="253800" progId="Equation.3">
                    <p:embed/>
                    <p:pic>
                      <p:nvPicPr>
                        <p:cNvPr id="0" name="Object 6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7" y="3485"/>
                          <a:ext cx="163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50" name="Group 66"/>
          <p:cNvGrpSpPr>
            <a:grpSpLocks/>
          </p:cNvGrpSpPr>
          <p:nvPr/>
        </p:nvGrpSpPr>
        <p:grpSpPr bwMode="auto">
          <a:xfrm>
            <a:off x="2655888" y="2765425"/>
            <a:ext cx="1162050" cy="914400"/>
            <a:chOff x="3888" y="1248"/>
            <a:chExt cx="732" cy="576"/>
          </a:xfrm>
        </p:grpSpPr>
        <p:sp>
          <p:nvSpPr>
            <p:cNvPr id="42051" name="Line 67"/>
            <p:cNvSpPr>
              <a:spLocks noChangeShapeType="1"/>
            </p:cNvSpPr>
            <p:nvPr/>
          </p:nvSpPr>
          <p:spPr bwMode="auto">
            <a:xfrm>
              <a:off x="3888" y="1488"/>
              <a:ext cx="720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2" name="Line 68"/>
            <p:cNvSpPr>
              <a:spLocks noChangeShapeType="1"/>
            </p:cNvSpPr>
            <p:nvPr/>
          </p:nvSpPr>
          <p:spPr bwMode="auto">
            <a:xfrm>
              <a:off x="4416" y="1248"/>
              <a:ext cx="0" cy="24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53" name="Line 69"/>
            <p:cNvSpPr>
              <a:spLocks noChangeShapeType="1"/>
            </p:cNvSpPr>
            <p:nvPr/>
          </p:nvSpPr>
          <p:spPr bwMode="auto">
            <a:xfrm>
              <a:off x="4416" y="1584"/>
              <a:ext cx="0" cy="24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54" name="Object 70"/>
            <p:cNvGraphicFramePr>
              <a:graphicFrameLocks noChangeAspect="1"/>
            </p:cNvGraphicFramePr>
            <p:nvPr/>
          </p:nvGraphicFramePr>
          <p:xfrm>
            <a:off x="4416" y="1536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8" name="Equation" r:id="rId18" imgW="190440" imgH="253800" progId="Equation.3">
                    <p:embed/>
                  </p:oleObj>
                </mc:Choice>
                <mc:Fallback>
                  <p:oleObj name="Equation" r:id="rId18" imgW="190440" imgH="253800" progId="Equation.3">
                    <p:embed/>
                    <p:pic>
                      <p:nvPicPr>
                        <p:cNvPr id="0" name="Object 7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1536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55" name="Object 71"/>
          <p:cNvGraphicFramePr>
            <a:graphicFrameLocks noChangeAspect="1"/>
          </p:cNvGraphicFramePr>
          <p:nvPr/>
        </p:nvGraphicFramePr>
        <p:xfrm>
          <a:off x="1746250" y="4746625"/>
          <a:ext cx="228123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9" name="Equation" r:id="rId20" imgW="1511280" imgH="723600" progId="Equation.3">
                  <p:embed/>
                </p:oleObj>
              </mc:Choice>
              <mc:Fallback>
                <p:oleObj name="Equation" r:id="rId20" imgW="1511280" imgH="723600" progId="Equation.3">
                  <p:embed/>
                  <p:pic>
                    <p:nvPicPr>
                      <p:cNvPr id="0" name="Object 7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4746625"/>
                        <a:ext cx="228123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2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30" grpId="0" animBg="1"/>
      <p:bldP spid="42032" grpId="0" animBg="1"/>
      <p:bldP spid="42033" grpId="0" animBg="1"/>
      <p:bldP spid="420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8711E-BDAB-48B1-9990-9078AEB63E94}" type="slidenum">
              <a:rPr lang="en-US" altLang="zh-CN"/>
              <a:pPr/>
              <a:t>3</a:t>
            </a:fld>
            <a:endParaRPr lang="en-US" altLang="zh-CN"/>
          </a:p>
        </p:txBody>
      </p:sp>
      <p:grpSp>
        <p:nvGrpSpPr>
          <p:cNvPr id="43070" name="Group 62"/>
          <p:cNvGrpSpPr>
            <a:grpSpLocks/>
          </p:cNvGrpSpPr>
          <p:nvPr/>
        </p:nvGrpSpPr>
        <p:grpSpPr bwMode="auto">
          <a:xfrm>
            <a:off x="1016000" y="1733550"/>
            <a:ext cx="2373313" cy="1077913"/>
            <a:chOff x="584" y="1112"/>
            <a:chExt cx="1495" cy="679"/>
          </a:xfrm>
        </p:grpSpPr>
        <p:sp>
          <p:nvSpPr>
            <p:cNvPr id="43036" name="Rectangle 28"/>
            <p:cNvSpPr>
              <a:spLocks noChangeArrowheads="1"/>
            </p:cNvSpPr>
            <p:nvPr/>
          </p:nvSpPr>
          <p:spPr bwMode="auto">
            <a:xfrm>
              <a:off x="1718" y="1183"/>
              <a:ext cx="361" cy="580"/>
            </a:xfrm>
            <a:prstGeom prst="rect">
              <a:avLst/>
            </a:prstGeom>
            <a:gradFill rotWithShape="0">
              <a:gsLst>
                <a:gs pos="0">
                  <a:srgbClr val="FCDCED"/>
                </a:gs>
                <a:gs pos="50000">
                  <a:srgbClr val="FFFFFF"/>
                </a:gs>
                <a:gs pos="100000">
                  <a:srgbClr val="FCDCED"/>
                </a:gs>
              </a:gsLst>
              <a:lin ang="5400000" scaled="1"/>
            </a:gradFill>
            <a:ln w="12700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37" name="Object 29"/>
            <p:cNvGraphicFramePr>
              <a:graphicFrameLocks noChangeAspect="1"/>
            </p:cNvGraphicFramePr>
            <p:nvPr/>
          </p:nvGraphicFramePr>
          <p:xfrm>
            <a:off x="584" y="1112"/>
            <a:ext cx="1474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6" name="公式" r:id="rId3" imgW="812520" imgH="406080" progId="Equation.3">
                    <p:embed/>
                  </p:oleObj>
                </mc:Choice>
                <mc:Fallback>
                  <p:oleObj name="公式" r:id="rId3" imgW="812520" imgH="406080" progId="Equation.3">
                    <p:embed/>
                    <p:pic>
                      <p:nvPicPr>
                        <p:cNvPr id="0" name="Object 2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" y="1112"/>
                          <a:ext cx="1474" cy="6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60" name="Group 52"/>
          <p:cNvGrpSpPr>
            <a:grpSpLocks/>
          </p:cNvGrpSpPr>
          <p:nvPr/>
        </p:nvGrpSpPr>
        <p:grpSpPr bwMode="auto">
          <a:xfrm>
            <a:off x="5111750" y="1147763"/>
            <a:ext cx="2744788" cy="1554162"/>
            <a:chOff x="3071" y="498"/>
            <a:chExt cx="2039" cy="1155"/>
          </a:xfrm>
        </p:grpSpPr>
        <p:sp>
          <p:nvSpPr>
            <p:cNvPr id="43043" name="Rectangle 35"/>
            <p:cNvSpPr>
              <a:spLocks noChangeArrowheads="1"/>
            </p:cNvSpPr>
            <p:nvPr/>
          </p:nvSpPr>
          <p:spPr bwMode="auto">
            <a:xfrm>
              <a:off x="3094" y="1362"/>
              <a:ext cx="2016" cy="28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4" name="Rectangle 36"/>
            <p:cNvSpPr>
              <a:spLocks noChangeArrowheads="1"/>
            </p:cNvSpPr>
            <p:nvPr/>
          </p:nvSpPr>
          <p:spPr bwMode="auto">
            <a:xfrm rot="-316683">
              <a:off x="3071" y="978"/>
              <a:ext cx="2016" cy="28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45" name="Oval 37"/>
            <p:cNvSpPr>
              <a:spLocks noChangeAspect="1" noChangeArrowheads="1"/>
            </p:cNvSpPr>
            <p:nvPr/>
          </p:nvSpPr>
          <p:spPr bwMode="auto">
            <a:xfrm>
              <a:off x="4900" y="1196"/>
              <a:ext cx="163" cy="163"/>
            </a:xfrm>
            <a:prstGeom prst="ellipse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046" name="Object 38"/>
            <p:cNvGraphicFramePr>
              <a:graphicFrameLocks noChangeAspect="1"/>
            </p:cNvGraphicFramePr>
            <p:nvPr/>
          </p:nvGraphicFramePr>
          <p:xfrm>
            <a:off x="3238" y="978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7" name="公式" r:id="rId5" imgW="215640" imgH="317160" progId="Equation.3">
                    <p:embed/>
                  </p:oleObj>
                </mc:Choice>
                <mc:Fallback>
                  <p:oleObj name="公式" r:id="rId5" imgW="215640" imgH="317160" progId="Equation.3">
                    <p:embed/>
                    <p:pic>
                      <p:nvPicPr>
                        <p:cNvPr id="0" name="Object 3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" y="978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7" name="Object 39"/>
            <p:cNvGraphicFramePr>
              <a:graphicFrameLocks noChangeAspect="1"/>
            </p:cNvGraphicFramePr>
            <p:nvPr/>
          </p:nvGraphicFramePr>
          <p:xfrm>
            <a:off x="3238" y="1314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18" name="公式" r:id="rId7" imgW="215640" imgH="317160" progId="Equation.3">
                    <p:embed/>
                  </p:oleObj>
                </mc:Choice>
                <mc:Fallback>
                  <p:oleObj name="公式" r:id="rId7" imgW="215640" imgH="317160" progId="Equation.3">
                    <p:embed/>
                    <p:pic>
                      <p:nvPicPr>
                        <p:cNvPr id="0" name="Object 3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8" y="1314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48" name="Group 40"/>
            <p:cNvGrpSpPr>
              <a:grpSpLocks/>
            </p:cNvGrpSpPr>
            <p:nvPr/>
          </p:nvGrpSpPr>
          <p:grpSpPr bwMode="auto">
            <a:xfrm>
              <a:off x="4809" y="546"/>
              <a:ext cx="288" cy="288"/>
              <a:chOff x="4752" y="672"/>
              <a:chExt cx="288" cy="288"/>
            </a:xfrm>
          </p:grpSpPr>
          <p:sp>
            <p:nvSpPr>
              <p:cNvPr id="43049" name="AutoShape 41"/>
              <p:cNvSpPr>
                <a:spLocks noChangeArrowheads="1"/>
              </p:cNvSpPr>
              <p:nvPr/>
            </p:nvSpPr>
            <p:spPr bwMode="auto">
              <a:xfrm>
                <a:off x="4752" y="672"/>
                <a:ext cx="288" cy="288"/>
              </a:xfrm>
              <a:prstGeom prst="wedgeRectCallout">
                <a:avLst>
                  <a:gd name="adj1" fmla="val -51042"/>
                  <a:gd name="adj2" fmla="val 211111"/>
                </a:avLst>
              </a:prstGeom>
              <a:gradFill rotWithShape="0">
                <a:gsLst>
                  <a:gs pos="0">
                    <a:srgbClr val="FCDCED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CC00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endParaRPr kumimoji="0" lang="zh-CN" altLang="zh-CN">
                  <a:solidFill>
                    <a:srgbClr val="1C1C1C"/>
                  </a:solidFill>
                </a:endParaRPr>
              </a:p>
            </p:txBody>
          </p:sp>
          <p:graphicFrame>
            <p:nvGraphicFramePr>
              <p:cNvPr id="43050" name="Object 42"/>
              <p:cNvGraphicFramePr>
                <a:graphicFrameLocks noChangeAspect="1"/>
              </p:cNvGraphicFramePr>
              <p:nvPr/>
            </p:nvGraphicFramePr>
            <p:xfrm>
              <a:off x="4800" y="719"/>
              <a:ext cx="240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19" name="公式" r:id="rId8" imgW="177480" imgH="190440" progId="Equation.3">
                      <p:embed/>
                    </p:oleObj>
                  </mc:Choice>
                  <mc:Fallback>
                    <p:oleObj name="公式" r:id="rId8" imgW="177480" imgH="190440" progId="Equation.3">
                      <p:embed/>
                      <p:pic>
                        <p:nvPicPr>
                          <p:cNvPr id="0" name="Object 42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719"/>
                            <a:ext cx="240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D9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FF0066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3051" name="Line 43"/>
            <p:cNvSpPr>
              <a:spLocks noChangeShapeType="1"/>
            </p:cNvSpPr>
            <p:nvPr/>
          </p:nvSpPr>
          <p:spPr bwMode="auto">
            <a:xfrm>
              <a:off x="3945" y="498"/>
              <a:ext cx="0" cy="864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2" name="Line 44"/>
            <p:cNvSpPr>
              <a:spLocks noChangeShapeType="1"/>
            </p:cNvSpPr>
            <p:nvPr/>
          </p:nvSpPr>
          <p:spPr bwMode="auto">
            <a:xfrm flipV="1">
              <a:off x="4071" y="546"/>
              <a:ext cx="0" cy="720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53" name="Line 45"/>
            <p:cNvSpPr>
              <a:spLocks noChangeShapeType="1"/>
            </p:cNvSpPr>
            <p:nvPr/>
          </p:nvSpPr>
          <p:spPr bwMode="auto">
            <a:xfrm flipV="1">
              <a:off x="4137" y="546"/>
              <a:ext cx="0" cy="816"/>
            </a:xfrm>
            <a:prstGeom prst="line">
              <a:avLst/>
            </a:prstGeom>
            <a:noFill/>
            <a:ln w="28575">
              <a:solidFill>
                <a:srgbClr val="FF99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054" name="Group 46"/>
            <p:cNvGrpSpPr>
              <a:grpSpLocks/>
            </p:cNvGrpSpPr>
            <p:nvPr/>
          </p:nvGrpSpPr>
          <p:grpSpPr bwMode="auto">
            <a:xfrm>
              <a:off x="3945" y="1026"/>
              <a:ext cx="732" cy="576"/>
              <a:chOff x="3888" y="1248"/>
              <a:chExt cx="732" cy="576"/>
            </a:xfrm>
          </p:grpSpPr>
          <p:sp>
            <p:nvSpPr>
              <p:cNvPr id="43055" name="Line 47"/>
              <p:cNvSpPr>
                <a:spLocks noChangeShapeType="1"/>
              </p:cNvSpPr>
              <p:nvPr/>
            </p:nvSpPr>
            <p:spPr bwMode="auto">
              <a:xfrm>
                <a:off x="3888" y="1488"/>
                <a:ext cx="720" cy="0"/>
              </a:xfrm>
              <a:prstGeom prst="line">
                <a:avLst/>
              </a:prstGeom>
              <a:noFill/>
              <a:ln w="19050">
                <a:solidFill>
                  <a:srgbClr val="CC0099"/>
                </a:solidFill>
                <a:prstDash val="dash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6" name="Line 48"/>
              <p:cNvSpPr>
                <a:spLocks noChangeShapeType="1"/>
              </p:cNvSpPr>
              <p:nvPr/>
            </p:nvSpPr>
            <p:spPr bwMode="auto">
              <a:xfrm>
                <a:off x="4416" y="1248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7" name="Line 49"/>
              <p:cNvSpPr>
                <a:spLocks noChangeShapeType="1"/>
              </p:cNvSpPr>
              <p:nvPr/>
            </p:nvSpPr>
            <p:spPr bwMode="auto">
              <a:xfrm>
                <a:off x="4416" y="1584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3058" name="Object 50"/>
              <p:cNvGraphicFramePr>
                <a:graphicFrameLocks noChangeAspect="1"/>
              </p:cNvGraphicFramePr>
              <p:nvPr/>
            </p:nvGraphicFramePr>
            <p:xfrm>
              <a:off x="4416" y="1536"/>
              <a:ext cx="204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120" name="Equation" r:id="rId10" imgW="190440" imgH="253800" progId="Equation.3">
                      <p:embed/>
                    </p:oleObj>
                  </mc:Choice>
                  <mc:Fallback>
                    <p:oleObj name="Equation" r:id="rId10" imgW="190440" imgH="253800" progId="Equation.3">
                      <p:embed/>
                      <p:pic>
                        <p:nvPicPr>
                          <p:cNvPr id="0" name="Object 5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1536"/>
                            <a:ext cx="204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3086" name="Group 78"/>
          <p:cNvGrpSpPr>
            <a:grpSpLocks/>
          </p:cNvGrpSpPr>
          <p:nvPr/>
        </p:nvGrpSpPr>
        <p:grpSpPr bwMode="auto">
          <a:xfrm>
            <a:off x="611188" y="2901950"/>
            <a:ext cx="7515225" cy="1874838"/>
            <a:chOff x="385" y="1828"/>
            <a:chExt cx="4734" cy="1181"/>
          </a:xfrm>
        </p:grpSpPr>
        <p:grpSp>
          <p:nvGrpSpPr>
            <p:cNvPr id="43078" name="Group 70"/>
            <p:cNvGrpSpPr>
              <a:grpSpLocks/>
            </p:cNvGrpSpPr>
            <p:nvPr/>
          </p:nvGrpSpPr>
          <p:grpSpPr bwMode="auto">
            <a:xfrm>
              <a:off x="555" y="1945"/>
              <a:ext cx="4564" cy="1064"/>
              <a:chOff x="584" y="2075"/>
              <a:chExt cx="4862" cy="1134"/>
            </a:xfrm>
          </p:grpSpPr>
          <p:grpSp>
            <p:nvGrpSpPr>
              <p:cNvPr id="43066" name="Group 58"/>
              <p:cNvGrpSpPr>
                <a:grpSpLocks/>
              </p:cNvGrpSpPr>
              <p:nvPr/>
            </p:nvGrpSpPr>
            <p:grpSpPr bwMode="auto">
              <a:xfrm>
                <a:off x="2370" y="2075"/>
                <a:ext cx="3001" cy="404"/>
                <a:chOff x="2251" y="1706"/>
                <a:chExt cx="3001" cy="404"/>
              </a:xfrm>
            </p:grpSpPr>
            <p:graphicFrame>
              <p:nvGraphicFramePr>
                <p:cNvPr id="43011" name="Object 3"/>
                <p:cNvGraphicFramePr>
                  <a:graphicFrameLocks noChangeAspect="1"/>
                </p:cNvGraphicFramePr>
                <p:nvPr/>
              </p:nvGraphicFramePr>
              <p:xfrm>
                <a:off x="2251" y="1706"/>
                <a:ext cx="1849" cy="4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21" name="公式" r:id="rId12" imgW="977760" imgH="215640" progId="Equation.3">
                        <p:embed/>
                      </p:oleObj>
                    </mc:Choice>
                    <mc:Fallback>
                      <p:oleObj name="公式" r:id="rId12" imgW="977760" imgH="215640" progId="Equation.3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51" y="1706"/>
                              <a:ext cx="1849" cy="4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3012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468" y="1726"/>
                  <a:ext cx="784" cy="3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zh-CN" altLang="zh-CN">
                      <a:solidFill>
                        <a:srgbClr val="000000"/>
                      </a:solidFill>
                    </a:rPr>
                    <a:t>明纹</a:t>
                  </a:r>
                  <a:endParaRPr kumimoji="0"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grpSp>
            <p:nvGrpSpPr>
              <p:cNvPr id="43065" name="Group 57"/>
              <p:cNvGrpSpPr>
                <a:grpSpLocks/>
              </p:cNvGrpSpPr>
              <p:nvPr/>
            </p:nvGrpSpPr>
            <p:grpSpPr bwMode="auto">
              <a:xfrm>
                <a:off x="2398" y="2505"/>
                <a:ext cx="3048" cy="704"/>
                <a:chOff x="2222" y="2091"/>
                <a:chExt cx="3048" cy="704"/>
              </a:xfrm>
            </p:grpSpPr>
            <p:graphicFrame>
              <p:nvGraphicFramePr>
                <p:cNvPr id="43014" name="Object 6"/>
                <p:cNvGraphicFramePr>
                  <a:graphicFrameLocks noChangeAspect="1"/>
                </p:cNvGraphicFramePr>
                <p:nvPr/>
              </p:nvGraphicFramePr>
              <p:xfrm>
                <a:off x="2222" y="2091"/>
                <a:ext cx="2161" cy="7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22" name="公式" r:id="rId14" imgW="1460160" imgH="406080" progId="Equation.3">
                        <p:embed/>
                      </p:oleObj>
                    </mc:Choice>
                    <mc:Fallback>
                      <p:oleObj name="公式" r:id="rId14" imgW="1460160" imgH="406080" progId="Equation.3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22" y="2091"/>
                              <a:ext cx="2161" cy="7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301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468" y="2281"/>
                  <a:ext cx="802" cy="3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zh-CN" altLang="en-US">
                      <a:solidFill>
                        <a:srgbClr val="000000"/>
                      </a:solidFill>
                    </a:rPr>
                    <a:t>暗纹</a:t>
                  </a:r>
                </a:p>
              </p:txBody>
            </p:sp>
          </p:grpSp>
          <p:grpSp>
            <p:nvGrpSpPr>
              <p:cNvPr id="43064" name="Group 56"/>
              <p:cNvGrpSpPr>
                <a:grpSpLocks/>
              </p:cNvGrpSpPr>
              <p:nvPr/>
            </p:nvGrpSpPr>
            <p:grpSpPr bwMode="auto">
              <a:xfrm>
                <a:off x="584" y="2228"/>
                <a:ext cx="1794" cy="697"/>
                <a:chOff x="275" y="1791"/>
                <a:chExt cx="1964" cy="763"/>
              </a:xfrm>
            </p:grpSpPr>
            <p:sp>
              <p:nvSpPr>
                <p:cNvPr id="43040" name="AutoShape 32"/>
                <p:cNvSpPr>
                  <a:spLocks/>
                </p:cNvSpPr>
                <p:nvPr/>
              </p:nvSpPr>
              <p:spPr bwMode="auto">
                <a:xfrm>
                  <a:off x="2143" y="1905"/>
                  <a:ext cx="96" cy="576"/>
                </a:xfrm>
                <a:prstGeom prst="leftBrace">
                  <a:avLst>
                    <a:gd name="adj1" fmla="val 50000"/>
                    <a:gd name="adj2" fmla="val 50000"/>
                  </a:avLst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kumimoji="0" lang="zh-CN" altLang="zh-CN" sz="1800" b="0">
                    <a:latin typeface="Arial" charset="0"/>
                  </a:endParaRPr>
                </a:p>
              </p:txBody>
            </p:sp>
            <p:graphicFrame>
              <p:nvGraphicFramePr>
                <p:cNvPr id="43063" name="Object 55"/>
                <p:cNvGraphicFramePr>
                  <a:graphicFrameLocks noChangeAspect="1"/>
                </p:cNvGraphicFramePr>
                <p:nvPr/>
              </p:nvGraphicFramePr>
              <p:xfrm>
                <a:off x="275" y="1791"/>
                <a:ext cx="1894" cy="7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3123" name="公式" r:id="rId16" imgW="952200" imgH="406080" progId="Equation.3">
                        <p:embed/>
                      </p:oleObj>
                    </mc:Choice>
                    <mc:Fallback>
                      <p:oleObj name="公式" r:id="rId16" imgW="952200" imgH="406080" progId="Equation.3">
                        <p:embed/>
                        <p:pic>
                          <p:nvPicPr>
                            <p:cNvPr id="0" name="Object 55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" y="1791"/>
                              <a:ext cx="1894" cy="76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43067" name="Text Box 59"/>
            <p:cNvSpPr txBox="1">
              <a:spLocks noChangeArrowheads="1"/>
            </p:cNvSpPr>
            <p:nvPr/>
          </p:nvSpPr>
          <p:spPr bwMode="auto">
            <a:xfrm>
              <a:off x="385" y="1828"/>
              <a:ext cx="13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buClr>
                  <a:srgbClr val="0000FF"/>
                </a:buClr>
                <a:buFont typeface="Wingdings" pitchFamily="2" charset="2"/>
                <a:buChar char="Ø"/>
              </a:pPr>
              <a:r>
                <a:rPr lang="zh-CN" altLang="en-US">
                  <a:solidFill>
                    <a:srgbClr val="CC0000"/>
                  </a:solidFill>
                </a:rPr>
                <a:t>干涉条件</a:t>
              </a:r>
            </a:p>
          </p:txBody>
        </p:sp>
      </p:grpSp>
      <p:sp>
        <p:nvSpPr>
          <p:cNvPr id="43068" name="Text Box 60"/>
          <p:cNvSpPr txBox="1">
            <a:spLocks noChangeArrowheads="1"/>
          </p:cNvSpPr>
          <p:nvPr/>
        </p:nvSpPr>
        <p:spPr bwMode="auto">
          <a:xfrm>
            <a:off x="611188" y="336550"/>
            <a:ext cx="810101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rgbClr val="0000FF"/>
              </a:buClr>
              <a:buFont typeface="Wingdings" pitchFamily="2" charset="2"/>
              <a:buChar char="Ø"/>
            </a:pPr>
            <a:r>
              <a:rPr lang="zh-CN" altLang="en-US"/>
              <a:t>膜上厚度相同的位置有相同的光程差对应同一级条纹，固称为薄膜</a:t>
            </a:r>
            <a:r>
              <a:rPr lang="zh-CN" altLang="en-US">
                <a:solidFill>
                  <a:srgbClr val="CC0000"/>
                </a:solidFill>
              </a:rPr>
              <a:t>等厚干涉</a:t>
            </a:r>
            <a:r>
              <a:rPr lang="zh-CN" altLang="en-US"/>
              <a:t>。</a:t>
            </a:r>
          </a:p>
        </p:txBody>
      </p:sp>
      <p:grpSp>
        <p:nvGrpSpPr>
          <p:cNvPr id="43087" name="Group 79"/>
          <p:cNvGrpSpPr>
            <a:grpSpLocks/>
          </p:cNvGrpSpPr>
          <p:nvPr/>
        </p:nvGrpSpPr>
        <p:grpSpPr bwMode="auto">
          <a:xfrm>
            <a:off x="944563" y="5140325"/>
            <a:ext cx="701675" cy="944563"/>
            <a:chOff x="595" y="3238"/>
            <a:chExt cx="442" cy="595"/>
          </a:xfrm>
        </p:grpSpPr>
        <p:graphicFrame>
          <p:nvGraphicFramePr>
            <p:cNvPr id="43072" name="Object 64"/>
            <p:cNvGraphicFramePr>
              <a:graphicFrameLocks noChangeAspect="1"/>
            </p:cNvGraphicFramePr>
            <p:nvPr/>
          </p:nvGraphicFramePr>
          <p:xfrm>
            <a:off x="595" y="3406"/>
            <a:ext cx="38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4" name="公式" r:id="rId18" imgW="266400" imgH="177480" progId="Equation.3">
                    <p:embed/>
                  </p:oleObj>
                </mc:Choice>
                <mc:Fallback>
                  <p:oleObj name="公式" r:id="rId18" imgW="266400" imgH="17748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" y="3406"/>
                          <a:ext cx="38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7" name="AutoShape 69"/>
            <p:cNvSpPr>
              <a:spLocks/>
            </p:cNvSpPr>
            <p:nvPr/>
          </p:nvSpPr>
          <p:spPr bwMode="auto">
            <a:xfrm>
              <a:off x="965" y="3238"/>
              <a:ext cx="72" cy="595"/>
            </a:xfrm>
            <a:prstGeom prst="leftBrace">
              <a:avLst>
                <a:gd name="adj1" fmla="val 6886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88" name="Group 80"/>
          <p:cNvGrpSpPr>
            <a:grpSpLocks/>
          </p:cNvGrpSpPr>
          <p:nvPr/>
        </p:nvGrpSpPr>
        <p:grpSpPr bwMode="auto">
          <a:xfrm>
            <a:off x="1690688" y="4702175"/>
            <a:ext cx="6075362" cy="933450"/>
            <a:chOff x="1065" y="2962"/>
            <a:chExt cx="3827" cy="588"/>
          </a:xfrm>
        </p:grpSpPr>
        <p:graphicFrame>
          <p:nvGraphicFramePr>
            <p:cNvPr id="43073" name="Object 65"/>
            <p:cNvGraphicFramePr>
              <a:graphicFrameLocks noChangeAspect="1"/>
            </p:cNvGraphicFramePr>
            <p:nvPr/>
          </p:nvGraphicFramePr>
          <p:xfrm>
            <a:off x="1065" y="2962"/>
            <a:ext cx="993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5" name="公式" r:id="rId20" imgW="685800" imgH="406080" progId="Equation.3">
                    <p:embed/>
                  </p:oleObj>
                </mc:Choice>
                <mc:Fallback>
                  <p:oleObj name="公式" r:id="rId20" imgW="685800" imgH="40608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2962"/>
                          <a:ext cx="993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5" name="Text Box 67"/>
            <p:cNvSpPr txBox="1">
              <a:spLocks noChangeArrowheads="1"/>
            </p:cNvSpPr>
            <p:nvPr/>
          </p:nvSpPr>
          <p:spPr bwMode="auto">
            <a:xfrm>
              <a:off x="3474" y="3110"/>
              <a:ext cx="14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</a:rPr>
                <a:t>    </a:t>
              </a:r>
              <a:r>
                <a:rPr kumimoji="0" lang="zh-CN" altLang="en-US">
                  <a:solidFill>
                    <a:srgbClr val="000000"/>
                  </a:solidFill>
                </a:rPr>
                <a:t>明纹</a:t>
              </a:r>
            </a:p>
          </p:txBody>
        </p:sp>
        <p:graphicFrame>
          <p:nvGraphicFramePr>
            <p:cNvPr id="43083" name="Object 75"/>
            <p:cNvGraphicFramePr>
              <a:graphicFrameLocks noChangeAspect="1"/>
            </p:cNvGraphicFramePr>
            <p:nvPr/>
          </p:nvGraphicFramePr>
          <p:xfrm>
            <a:off x="2317" y="3125"/>
            <a:ext cx="1129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6" name="公式" r:id="rId22" imgW="622080" imgH="203040" progId="Equation.3">
                    <p:embed/>
                  </p:oleObj>
                </mc:Choice>
                <mc:Fallback>
                  <p:oleObj name="公式" r:id="rId22" imgW="622080" imgH="203040" progId="Equation.3">
                    <p:embed/>
                    <p:pic>
                      <p:nvPicPr>
                        <p:cNvPr id="0" name="Object 7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7" y="3125"/>
                          <a:ext cx="1129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89" name="Group 81"/>
          <p:cNvGrpSpPr>
            <a:grpSpLocks/>
          </p:cNvGrpSpPr>
          <p:nvPr/>
        </p:nvGrpSpPr>
        <p:grpSpPr bwMode="auto">
          <a:xfrm>
            <a:off x="1690688" y="5768975"/>
            <a:ext cx="5829300" cy="585788"/>
            <a:chOff x="1065" y="3634"/>
            <a:chExt cx="3672" cy="369"/>
          </a:xfrm>
        </p:grpSpPr>
        <p:graphicFrame>
          <p:nvGraphicFramePr>
            <p:cNvPr id="43074" name="Object 66"/>
            <p:cNvGraphicFramePr>
              <a:graphicFrameLocks noChangeAspect="1"/>
            </p:cNvGraphicFramePr>
            <p:nvPr/>
          </p:nvGraphicFramePr>
          <p:xfrm>
            <a:off x="1065" y="3663"/>
            <a:ext cx="643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7" name="公式" r:id="rId24" imgW="444240" imgH="215640" progId="Equation.3">
                    <p:embed/>
                  </p:oleObj>
                </mc:Choice>
                <mc:Fallback>
                  <p:oleObj name="公式" r:id="rId24" imgW="444240" imgH="21564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5" y="3663"/>
                          <a:ext cx="643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76" name="Text Box 68"/>
            <p:cNvSpPr txBox="1">
              <a:spLocks noChangeArrowheads="1"/>
            </p:cNvSpPr>
            <p:nvPr/>
          </p:nvSpPr>
          <p:spPr bwMode="auto">
            <a:xfrm>
              <a:off x="3474" y="3634"/>
              <a:ext cx="12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000000"/>
                  </a:solidFill>
                </a:rPr>
                <a:t>     </a:t>
              </a:r>
              <a:r>
                <a:rPr kumimoji="0" lang="zh-CN" altLang="en-US">
                  <a:solidFill>
                    <a:srgbClr val="000000"/>
                  </a:solidFill>
                </a:rPr>
                <a:t>暗纹</a:t>
              </a:r>
            </a:p>
          </p:txBody>
        </p:sp>
        <p:graphicFrame>
          <p:nvGraphicFramePr>
            <p:cNvPr id="43084" name="Object 76"/>
            <p:cNvGraphicFramePr>
              <a:graphicFrameLocks noChangeAspect="1"/>
            </p:cNvGraphicFramePr>
            <p:nvPr/>
          </p:nvGraphicFramePr>
          <p:xfrm>
            <a:off x="2280" y="3663"/>
            <a:ext cx="1336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28" name="公式" r:id="rId26" imgW="736560" imgH="203040" progId="Equation.3">
                    <p:embed/>
                  </p:oleObj>
                </mc:Choice>
                <mc:Fallback>
                  <p:oleObj name="公式" r:id="rId26" imgW="736560" imgH="203040" progId="Equation.3">
                    <p:embed/>
                    <p:pic>
                      <p:nvPicPr>
                        <p:cNvPr id="0" name="Object 7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3663"/>
                          <a:ext cx="1336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44BDE-DA1B-4898-93D0-E3651A2F6609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4638675" y="819150"/>
            <a:ext cx="4038600" cy="5035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5" name="Line 3"/>
          <p:cNvSpPr>
            <a:spLocks noChangeShapeType="1"/>
          </p:cNvSpPr>
          <p:nvPr/>
        </p:nvSpPr>
        <p:spPr bwMode="auto">
          <a:xfrm>
            <a:off x="4992688" y="3736975"/>
            <a:ext cx="2963862" cy="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Line 4"/>
          <p:cNvSpPr>
            <a:spLocks noChangeShapeType="1"/>
          </p:cNvSpPr>
          <p:nvPr/>
        </p:nvSpPr>
        <p:spPr bwMode="auto">
          <a:xfrm flipV="1">
            <a:off x="4992688" y="2143125"/>
            <a:ext cx="2963862" cy="159385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5629275" y="3473450"/>
          <a:ext cx="22542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0" name="公式" r:id="rId3" imgW="177480" imgH="241200" progId="Equation.3">
                  <p:embed/>
                </p:oleObj>
              </mc:Choice>
              <mc:Fallback>
                <p:oleObj name="公式" r:id="rId3" imgW="17748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3473450"/>
                        <a:ext cx="22542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Line 8"/>
          <p:cNvSpPr>
            <a:spLocks noChangeShapeType="1"/>
          </p:cNvSpPr>
          <p:nvPr/>
        </p:nvSpPr>
        <p:spPr bwMode="auto">
          <a:xfrm>
            <a:off x="4992688" y="3736975"/>
            <a:ext cx="0" cy="531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Line 9"/>
          <p:cNvSpPr>
            <a:spLocks noChangeShapeType="1"/>
          </p:cNvSpPr>
          <p:nvPr/>
        </p:nvSpPr>
        <p:spPr bwMode="auto">
          <a:xfrm>
            <a:off x="7956550" y="3736975"/>
            <a:ext cx="0" cy="531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4992688" y="4003675"/>
            <a:ext cx="2963862" cy="0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4043" name="Object 11"/>
          <p:cNvGraphicFramePr>
            <a:graphicFrameLocks noChangeAspect="1"/>
          </p:cNvGraphicFramePr>
          <p:nvPr/>
        </p:nvGraphicFramePr>
        <p:xfrm>
          <a:off x="6294438" y="3813175"/>
          <a:ext cx="2127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1" name="Equation" r:id="rId5" imgW="190440" imgH="228600" progId="Equation.3">
                  <p:embed/>
                </p:oleObj>
              </mc:Choice>
              <mc:Fallback>
                <p:oleObj name="Equation" r:id="rId5" imgW="19044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4438" y="3813175"/>
                        <a:ext cx="21272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7691438" y="2660650"/>
          <a:ext cx="5603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2" name="Equation" r:id="rId7" imgW="126720" imgH="139680" progId="Equation.3">
                  <p:embed/>
                </p:oleObj>
              </mc:Choice>
              <mc:Fallback>
                <p:oleObj name="Equation" r:id="rId7" imgW="126720" imgH="1396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1438" y="2660650"/>
                        <a:ext cx="5603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8029575" y="3467100"/>
          <a:ext cx="363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3" name="Equation" r:id="rId9" imgW="164880" imgH="228600" progId="Equation.3">
                  <p:embed/>
                </p:oleObj>
              </mc:Choice>
              <mc:Fallback>
                <p:oleObj name="Equation" r:id="rId9" imgW="16488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9575" y="3467100"/>
                        <a:ext cx="363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Text Box 16"/>
          <p:cNvSpPr txBox="1">
            <a:spLocks noChangeArrowheads="1"/>
          </p:cNvSpPr>
          <p:nvPr/>
        </p:nvSpPr>
        <p:spPr bwMode="auto">
          <a:xfrm>
            <a:off x="4638675" y="5403850"/>
            <a:ext cx="40386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</a:rPr>
              <a:t>劈尖干涉</a:t>
            </a:r>
          </a:p>
        </p:txBody>
      </p:sp>
      <p:graphicFrame>
        <p:nvGraphicFramePr>
          <p:cNvPr id="44049" name="Object 17"/>
          <p:cNvGraphicFramePr>
            <a:graphicFrameLocks noChangeAspect="1"/>
          </p:cNvGraphicFramePr>
          <p:nvPr/>
        </p:nvGraphicFramePr>
        <p:xfrm>
          <a:off x="7189788" y="1270000"/>
          <a:ext cx="10128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4" name="Equation" r:id="rId11" imgW="431640" imgH="228600" progId="Equation.3">
                  <p:embed/>
                </p:oleObj>
              </mc:Choice>
              <mc:Fallback>
                <p:oleObj name="Equation" r:id="rId11" imgW="43164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9788" y="1270000"/>
                        <a:ext cx="10128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57" name="Group 25"/>
          <p:cNvGrpSpPr>
            <a:grpSpLocks/>
          </p:cNvGrpSpPr>
          <p:nvPr/>
        </p:nvGrpSpPr>
        <p:grpSpPr bwMode="auto">
          <a:xfrm>
            <a:off x="5019675" y="1493838"/>
            <a:ext cx="2024063" cy="2212975"/>
            <a:chOff x="528" y="1074"/>
            <a:chExt cx="1371" cy="1414"/>
          </a:xfrm>
        </p:grpSpPr>
        <p:sp>
          <p:nvSpPr>
            <p:cNvPr id="44058" name="Line 26"/>
            <p:cNvSpPr>
              <a:spLocks noChangeShapeType="1"/>
            </p:cNvSpPr>
            <p:nvPr/>
          </p:nvSpPr>
          <p:spPr bwMode="auto">
            <a:xfrm flipV="1">
              <a:off x="871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9" name="Line 27"/>
            <p:cNvSpPr>
              <a:spLocks noChangeShapeType="1"/>
            </p:cNvSpPr>
            <p:nvPr/>
          </p:nvSpPr>
          <p:spPr bwMode="auto">
            <a:xfrm flipV="1">
              <a:off x="1214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0" name="Line 28"/>
            <p:cNvSpPr>
              <a:spLocks noChangeShapeType="1"/>
            </p:cNvSpPr>
            <p:nvPr/>
          </p:nvSpPr>
          <p:spPr bwMode="auto">
            <a:xfrm flipV="1">
              <a:off x="1557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1" name="Line 29"/>
            <p:cNvSpPr>
              <a:spLocks noChangeShapeType="1"/>
            </p:cNvSpPr>
            <p:nvPr/>
          </p:nvSpPr>
          <p:spPr bwMode="auto">
            <a:xfrm flipV="1">
              <a:off x="1899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2" name="Line 30"/>
            <p:cNvSpPr>
              <a:spLocks noChangeShapeType="1"/>
            </p:cNvSpPr>
            <p:nvPr/>
          </p:nvSpPr>
          <p:spPr bwMode="auto">
            <a:xfrm>
              <a:off x="871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3" name="Line 31"/>
            <p:cNvSpPr>
              <a:spLocks noChangeShapeType="1"/>
            </p:cNvSpPr>
            <p:nvPr/>
          </p:nvSpPr>
          <p:spPr bwMode="auto">
            <a:xfrm>
              <a:off x="1899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4" name="Line 32"/>
            <p:cNvSpPr>
              <a:spLocks noChangeShapeType="1"/>
            </p:cNvSpPr>
            <p:nvPr/>
          </p:nvSpPr>
          <p:spPr bwMode="auto">
            <a:xfrm>
              <a:off x="1557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5" name="Line 33"/>
            <p:cNvSpPr>
              <a:spLocks noChangeShapeType="1"/>
            </p:cNvSpPr>
            <p:nvPr/>
          </p:nvSpPr>
          <p:spPr bwMode="auto">
            <a:xfrm>
              <a:off x="1214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6" name="Line 34"/>
            <p:cNvSpPr>
              <a:spLocks noChangeShapeType="1"/>
            </p:cNvSpPr>
            <p:nvPr/>
          </p:nvSpPr>
          <p:spPr bwMode="auto">
            <a:xfrm flipV="1">
              <a:off x="528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7" name="Line 35"/>
            <p:cNvSpPr>
              <a:spLocks noChangeShapeType="1"/>
            </p:cNvSpPr>
            <p:nvPr/>
          </p:nvSpPr>
          <p:spPr bwMode="auto">
            <a:xfrm>
              <a:off x="528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68" name="Group 36"/>
          <p:cNvGrpSpPr>
            <a:grpSpLocks/>
          </p:cNvGrpSpPr>
          <p:nvPr/>
        </p:nvGrpSpPr>
        <p:grpSpPr bwMode="auto">
          <a:xfrm>
            <a:off x="4986338" y="4162425"/>
            <a:ext cx="3128962" cy="466725"/>
            <a:chOff x="768" y="1968"/>
            <a:chExt cx="2016" cy="384"/>
          </a:xfrm>
        </p:grpSpPr>
        <p:sp>
          <p:nvSpPr>
            <p:cNvPr id="44069" name="Rectangle 37"/>
            <p:cNvSpPr>
              <a:spLocks noChangeArrowheads="1"/>
            </p:cNvSpPr>
            <p:nvPr/>
          </p:nvSpPr>
          <p:spPr bwMode="auto">
            <a:xfrm>
              <a:off x="768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0" name="Rectangle 38"/>
            <p:cNvSpPr>
              <a:spLocks noChangeArrowheads="1"/>
            </p:cNvSpPr>
            <p:nvPr/>
          </p:nvSpPr>
          <p:spPr bwMode="auto">
            <a:xfrm>
              <a:off x="1440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1" name="Rectangle 39"/>
            <p:cNvSpPr>
              <a:spLocks noChangeArrowheads="1"/>
            </p:cNvSpPr>
            <p:nvPr/>
          </p:nvSpPr>
          <p:spPr bwMode="auto">
            <a:xfrm>
              <a:off x="1440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2" name="Rectangle 40"/>
            <p:cNvSpPr>
              <a:spLocks noChangeArrowheads="1"/>
            </p:cNvSpPr>
            <p:nvPr/>
          </p:nvSpPr>
          <p:spPr bwMode="auto">
            <a:xfrm>
              <a:off x="2112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97" name="Group 65"/>
          <p:cNvGrpSpPr>
            <a:grpSpLocks/>
          </p:cNvGrpSpPr>
          <p:nvPr/>
        </p:nvGrpSpPr>
        <p:grpSpPr bwMode="auto">
          <a:xfrm>
            <a:off x="746125" y="817563"/>
            <a:ext cx="1619250" cy="1125537"/>
            <a:chOff x="470" y="261"/>
            <a:chExt cx="1020" cy="709"/>
          </a:xfrm>
        </p:grpSpPr>
        <p:sp>
          <p:nvSpPr>
            <p:cNvPr id="44089" name="AutoShape 57"/>
            <p:cNvSpPr>
              <a:spLocks noChangeArrowheads="1"/>
            </p:cNvSpPr>
            <p:nvPr/>
          </p:nvSpPr>
          <p:spPr bwMode="auto">
            <a:xfrm>
              <a:off x="470" y="261"/>
              <a:ext cx="1020" cy="709"/>
            </a:xfrm>
            <a:prstGeom prst="horizontalScroll">
              <a:avLst>
                <a:gd name="adj" fmla="val 8602"/>
              </a:avLst>
            </a:prstGeom>
            <a:solidFill>
              <a:srgbClr val="FF99CC">
                <a:alpha val="46001"/>
              </a:srgbClr>
            </a:solidFill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8392" dir="17508085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CN" altLang="zh-CN" sz="3200">
                <a:solidFill>
                  <a:srgbClr val="1C1C1C"/>
                </a:solidFill>
              </a:endParaRPr>
            </a:p>
          </p:txBody>
        </p:sp>
        <p:sp>
          <p:nvSpPr>
            <p:cNvPr id="44090" name="Text Box 58"/>
            <p:cNvSpPr txBox="1">
              <a:spLocks noChangeArrowheads="1"/>
            </p:cNvSpPr>
            <p:nvPr/>
          </p:nvSpPr>
          <p:spPr bwMode="auto">
            <a:xfrm>
              <a:off x="697" y="431"/>
              <a:ext cx="6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sz="3200"/>
                <a:t>讨论</a:t>
              </a:r>
            </a:p>
          </p:txBody>
        </p:sp>
      </p:grpSp>
      <p:sp>
        <p:nvSpPr>
          <p:cNvPr id="44094" name="Text Box 62"/>
          <p:cNvSpPr txBox="1">
            <a:spLocks noChangeArrowheads="1"/>
          </p:cNvSpPr>
          <p:nvPr/>
        </p:nvSpPr>
        <p:spPr bwMode="auto">
          <a:xfrm>
            <a:off x="501650" y="2128838"/>
            <a:ext cx="4114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3200">
                <a:solidFill>
                  <a:srgbClr val="CC0000"/>
                </a:solidFill>
              </a:rPr>
              <a:t> (1) </a:t>
            </a:r>
            <a:r>
              <a:rPr kumimoji="0" lang="zh-CN" altLang="en-US" sz="3200">
                <a:solidFill>
                  <a:srgbClr val="000000"/>
                </a:solidFill>
              </a:rPr>
              <a:t>棱边处明</a:t>
            </a:r>
            <a:r>
              <a:rPr kumimoji="0" lang="zh-CN" altLang="en-US" sz="3200">
                <a:solidFill>
                  <a:srgbClr val="0000FF"/>
                </a:solidFill>
              </a:rPr>
              <a:t>暗</a:t>
            </a:r>
            <a:r>
              <a:rPr kumimoji="0" lang="zh-CN" altLang="en-US" sz="3200"/>
              <a:t>纹</a:t>
            </a:r>
            <a:r>
              <a:rPr kumimoji="0" lang="zh-CN" altLang="en-US" sz="3200">
                <a:solidFill>
                  <a:srgbClr val="000000"/>
                </a:solidFill>
              </a:rPr>
              <a:t>？</a:t>
            </a:r>
          </a:p>
        </p:txBody>
      </p:sp>
      <p:grpSp>
        <p:nvGrpSpPr>
          <p:cNvPr id="44098" name="Group 66"/>
          <p:cNvGrpSpPr>
            <a:grpSpLocks/>
          </p:cNvGrpSpPr>
          <p:nvPr/>
        </p:nvGrpSpPr>
        <p:grpSpPr bwMode="auto">
          <a:xfrm>
            <a:off x="827088" y="4881563"/>
            <a:ext cx="3233737" cy="1111250"/>
            <a:chOff x="443" y="2282"/>
            <a:chExt cx="2037" cy="700"/>
          </a:xfrm>
        </p:grpSpPr>
        <p:graphicFrame>
          <p:nvGraphicFramePr>
            <p:cNvPr id="44092" name="Object 60"/>
            <p:cNvGraphicFramePr>
              <a:graphicFrameLocks noChangeAspect="1"/>
            </p:cNvGraphicFramePr>
            <p:nvPr/>
          </p:nvGraphicFramePr>
          <p:xfrm>
            <a:off x="443" y="2282"/>
            <a:ext cx="704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5" name="Equation" r:id="rId13" imgW="419040" imgH="393480" progId="Equation.3">
                    <p:embed/>
                  </p:oleObj>
                </mc:Choice>
                <mc:Fallback>
                  <p:oleObj name="Equation" r:id="rId13" imgW="419040" imgH="39348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" y="2282"/>
                          <a:ext cx="704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96" name="Rectangle 64"/>
            <p:cNvSpPr>
              <a:spLocks noChangeArrowheads="1"/>
            </p:cNvSpPr>
            <p:nvPr/>
          </p:nvSpPr>
          <p:spPr bwMode="auto">
            <a:xfrm>
              <a:off x="1136" y="2415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sz="3200">
                  <a:solidFill>
                    <a:srgbClr val="000000"/>
                  </a:solidFill>
                </a:rPr>
                <a:t>为暗纹</a:t>
              </a:r>
              <a:r>
                <a:rPr kumimoji="0" lang="en-US" altLang="zh-CN" sz="3200">
                  <a:solidFill>
                    <a:srgbClr val="000000"/>
                  </a:solidFill>
                </a:rPr>
                <a:t>.</a:t>
              </a:r>
            </a:p>
          </p:txBody>
        </p:sp>
      </p:grpSp>
      <p:grpSp>
        <p:nvGrpSpPr>
          <p:cNvPr id="44100" name="Group 68"/>
          <p:cNvGrpSpPr>
            <a:grpSpLocks/>
          </p:cNvGrpSpPr>
          <p:nvPr/>
        </p:nvGrpSpPr>
        <p:grpSpPr bwMode="auto">
          <a:xfrm>
            <a:off x="971550" y="2801938"/>
            <a:ext cx="2474913" cy="1169987"/>
            <a:chOff x="584" y="1112"/>
            <a:chExt cx="1495" cy="679"/>
          </a:xfrm>
        </p:grpSpPr>
        <p:sp>
          <p:nvSpPr>
            <p:cNvPr id="44101" name="Rectangle 69"/>
            <p:cNvSpPr>
              <a:spLocks noChangeArrowheads="1"/>
            </p:cNvSpPr>
            <p:nvPr/>
          </p:nvSpPr>
          <p:spPr bwMode="auto">
            <a:xfrm>
              <a:off x="1718" y="1183"/>
              <a:ext cx="361" cy="580"/>
            </a:xfrm>
            <a:prstGeom prst="rect">
              <a:avLst/>
            </a:prstGeom>
            <a:gradFill rotWithShape="0">
              <a:gsLst>
                <a:gs pos="0">
                  <a:srgbClr val="FCDCED"/>
                </a:gs>
                <a:gs pos="50000">
                  <a:srgbClr val="FFFFFF"/>
                </a:gs>
                <a:gs pos="100000">
                  <a:srgbClr val="FCDCED"/>
                </a:gs>
              </a:gsLst>
              <a:lin ang="5400000" scaled="1"/>
            </a:gradFill>
            <a:ln w="12700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02" name="Object 70"/>
            <p:cNvGraphicFramePr>
              <a:graphicFrameLocks noChangeAspect="1"/>
            </p:cNvGraphicFramePr>
            <p:nvPr/>
          </p:nvGraphicFramePr>
          <p:xfrm>
            <a:off x="584" y="1112"/>
            <a:ext cx="1474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6" name="公式" r:id="rId15" imgW="812520" imgH="406080" progId="Equation.3">
                    <p:embed/>
                  </p:oleObj>
                </mc:Choice>
                <mc:Fallback>
                  <p:oleObj name="公式" r:id="rId15" imgW="812520" imgH="406080" progId="Equation.3">
                    <p:embed/>
                    <p:pic>
                      <p:nvPicPr>
                        <p:cNvPr id="0" name="Object 7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" y="1112"/>
                          <a:ext cx="1474" cy="6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106" name="Group 74"/>
          <p:cNvGrpSpPr>
            <a:grpSpLocks/>
          </p:cNvGrpSpPr>
          <p:nvPr/>
        </p:nvGrpSpPr>
        <p:grpSpPr bwMode="auto">
          <a:xfrm>
            <a:off x="796925" y="4068763"/>
            <a:ext cx="2863850" cy="520700"/>
            <a:chOff x="502" y="2475"/>
            <a:chExt cx="1804" cy="328"/>
          </a:xfrm>
        </p:grpSpPr>
        <p:graphicFrame>
          <p:nvGraphicFramePr>
            <p:cNvPr id="44095" name="Object 63"/>
            <p:cNvGraphicFramePr>
              <a:graphicFrameLocks noChangeAspect="1"/>
            </p:cNvGraphicFramePr>
            <p:nvPr/>
          </p:nvGraphicFramePr>
          <p:xfrm>
            <a:off x="867" y="2482"/>
            <a:ext cx="67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37" name="Equation" r:id="rId17" imgW="368280" imgH="177480" progId="Equation.3">
                    <p:embed/>
                  </p:oleObj>
                </mc:Choice>
                <mc:Fallback>
                  <p:oleObj name="Equation" r:id="rId17" imgW="368280" imgH="17748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2482"/>
                          <a:ext cx="67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04" name="Text Box 72"/>
            <p:cNvSpPr txBox="1">
              <a:spLocks noChangeArrowheads="1"/>
            </p:cNvSpPr>
            <p:nvPr/>
          </p:nvSpPr>
          <p:spPr bwMode="auto">
            <a:xfrm>
              <a:off x="502" y="2476"/>
              <a:ext cx="4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令</a:t>
              </a:r>
            </a:p>
          </p:txBody>
        </p:sp>
        <p:sp>
          <p:nvSpPr>
            <p:cNvPr id="44105" name="Text Box 73"/>
            <p:cNvSpPr txBox="1">
              <a:spLocks noChangeArrowheads="1"/>
            </p:cNvSpPr>
            <p:nvPr/>
          </p:nvSpPr>
          <p:spPr bwMode="auto">
            <a:xfrm>
              <a:off x="1555" y="2475"/>
              <a:ext cx="7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得：</a:t>
              </a:r>
            </a:p>
          </p:txBody>
        </p:sp>
      </p:grpSp>
      <p:grpSp>
        <p:nvGrpSpPr>
          <p:cNvPr id="44111" name="Group 79"/>
          <p:cNvGrpSpPr>
            <a:grpSpLocks/>
          </p:cNvGrpSpPr>
          <p:nvPr/>
        </p:nvGrpSpPr>
        <p:grpSpPr bwMode="auto">
          <a:xfrm>
            <a:off x="6061075" y="3187700"/>
            <a:ext cx="1790700" cy="534988"/>
            <a:chOff x="3818" y="2008"/>
            <a:chExt cx="1128" cy="337"/>
          </a:xfrm>
        </p:grpSpPr>
        <p:sp>
          <p:nvSpPr>
            <p:cNvPr id="44107" name="Line 75"/>
            <p:cNvSpPr>
              <a:spLocks noChangeShapeType="1"/>
            </p:cNvSpPr>
            <p:nvPr/>
          </p:nvSpPr>
          <p:spPr bwMode="auto">
            <a:xfrm>
              <a:off x="3818" y="2008"/>
              <a:ext cx="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110" name="Group 78"/>
            <p:cNvGrpSpPr>
              <a:grpSpLocks/>
            </p:cNvGrpSpPr>
            <p:nvPr/>
          </p:nvGrpSpPr>
          <p:grpSpPr bwMode="auto">
            <a:xfrm>
              <a:off x="4558" y="2024"/>
              <a:ext cx="388" cy="321"/>
              <a:chOff x="4558" y="2024"/>
              <a:chExt cx="388" cy="321"/>
            </a:xfrm>
          </p:grpSpPr>
          <p:sp>
            <p:nvSpPr>
              <p:cNvPr id="44108" name="Line 76"/>
              <p:cNvSpPr>
                <a:spLocks noChangeShapeType="1"/>
              </p:cNvSpPr>
              <p:nvPr/>
            </p:nvSpPr>
            <p:spPr bwMode="auto">
              <a:xfrm>
                <a:off x="4567" y="2024"/>
                <a:ext cx="0" cy="3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4109" name="Object 77"/>
              <p:cNvGraphicFramePr>
                <a:graphicFrameLocks noChangeAspect="1"/>
              </p:cNvGraphicFramePr>
              <p:nvPr/>
            </p:nvGraphicFramePr>
            <p:xfrm>
              <a:off x="4558" y="2025"/>
              <a:ext cx="38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138" name="公式" r:id="rId19" imgW="139680" imgH="177480" progId="Equation.3">
                      <p:embed/>
                    </p:oleObj>
                  </mc:Choice>
                  <mc:Fallback>
                    <p:oleObj name="公式" r:id="rId19" imgW="139680" imgH="177480" progId="Equation.3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58" y="2025"/>
                            <a:ext cx="388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64111-1F67-4E55-84F5-A984AA26178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4387850" y="6262688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0" lang="zh-CN" altLang="zh-CN">
              <a:solidFill>
                <a:srgbClr val="000000"/>
              </a:solidFill>
            </a:endParaRP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925513" y="1900238"/>
          <a:ext cx="3078162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5" name="公式" r:id="rId3" imgW="1231560" imgH="406080" progId="Equation.3">
                  <p:embed/>
                </p:oleObj>
              </mc:Choice>
              <mc:Fallback>
                <p:oleObj name="公式" r:id="rId3" imgW="123156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1900238"/>
                        <a:ext cx="3078162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341313" y="733425"/>
            <a:ext cx="41910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en-US" altLang="zh-CN" sz="320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3200">
                <a:solidFill>
                  <a:srgbClr val="CC0000"/>
                </a:solidFill>
              </a:rPr>
              <a:t>2</a:t>
            </a:r>
            <a:r>
              <a:rPr kumimoji="0" lang="en-US" altLang="zh-CN" sz="320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kumimoji="0" lang="zh-CN" altLang="en-US" sz="3200">
                <a:solidFill>
                  <a:srgbClr val="000000"/>
                </a:solidFill>
              </a:rPr>
              <a:t>相邻明纹（暗纹）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kumimoji="0" lang="zh-CN" altLang="en-US" sz="3200">
                <a:solidFill>
                  <a:srgbClr val="000000"/>
                </a:solidFill>
              </a:rPr>
              <a:t>      间的厚度差</a:t>
            </a:r>
          </a:p>
        </p:txBody>
      </p:sp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925513" y="3092450"/>
          <a:ext cx="14271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6" name="公式" r:id="rId5" imgW="571320" imgH="215640" progId="Equation.3">
                  <p:embed/>
                </p:oleObj>
              </mc:Choice>
              <mc:Fallback>
                <p:oleObj name="公式" r:id="rId5" imgW="5713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3092450"/>
                        <a:ext cx="1427162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925513" y="3808413"/>
          <a:ext cx="15240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7" name="公式" r:id="rId7" imgW="609480" imgH="406080" progId="Equation.3">
                  <p:embed/>
                </p:oleObj>
              </mc:Choice>
              <mc:Fallback>
                <p:oleObj name="公式" r:id="rId7" imgW="60948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3808413"/>
                        <a:ext cx="15240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57" name="Rectangle 101"/>
          <p:cNvSpPr>
            <a:spLocks noChangeArrowheads="1"/>
          </p:cNvSpPr>
          <p:nvPr/>
        </p:nvSpPr>
        <p:spPr bwMode="auto">
          <a:xfrm>
            <a:off x="4346575" y="819150"/>
            <a:ext cx="4038600" cy="50355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58" name="Line 102"/>
          <p:cNvSpPr>
            <a:spLocks noChangeShapeType="1"/>
          </p:cNvSpPr>
          <p:nvPr/>
        </p:nvSpPr>
        <p:spPr bwMode="auto">
          <a:xfrm>
            <a:off x="4700588" y="3736975"/>
            <a:ext cx="2963862" cy="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59" name="Line 103"/>
          <p:cNvSpPr>
            <a:spLocks noChangeShapeType="1"/>
          </p:cNvSpPr>
          <p:nvPr/>
        </p:nvSpPr>
        <p:spPr bwMode="auto">
          <a:xfrm flipV="1">
            <a:off x="4700588" y="2143125"/>
            <a:ext cx="2963862" cy="159385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61" name="Line 105"/>
          <p:cNvSpPr>
            <a:spLocks noChangeShapeType="1"/>
          </p:cNvSpPr>
          <p:nvPr/>
        </p:nvSpPr>
        <p:spPr bwMode="auto">
          <a:xfrm>
            <a:off x="7664450" y="3736975"/>
            <a:ext cx="508000" cy="127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62" name="Line 106"/>
          <p:cNvSpPr>
            <a:spLocks noChangeShapeType="1"/>
          </p:cNvSpPr>
          <p:nvPr/>
        </p:nvSpPr>
        <p:spPr bwMode="auto">
          <a:xfrm>
            <a:off x="7677150" y="2171700"/>
            <a:ext cx="495300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63" name="Line 107"/>
          <p:cNvSpPr>
            <a:spLocks noChangeShapeType="1"/>
          </p:cNvSpPr>
          <p:nvPr/>
        </p:nvSpPr>
        <p:spPr bwMode="auto">
          <a:xfrm>
            <a:off x="4700588" y="3736975"/>
            <a:ext cx="0" cy="531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64" name="Line 108"/>
          <p:cNvSpPr>
            <a:spLocks noChangeShapeType="1"/>
          </p:cNvSpPr>
          <p:nvPr/>
        </p:nvSpPr>
        <p:spPr bwMode="auto">
          <a:xfrm>
            <a:off x="7664450" y="3736975"/>
            <a:ext cx="0" cy="531813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165" name="Line 109"/>
          <p:cNvSpPr>
            <a:spLocks noChangeShapeType="1"/>
          </p:cNvSpPr>
          <p:nvPr/>
        </p:nvSpPr>
        <p:spPr bwMode="auto">
          <a:xfrm>
            <a:off x="4700588" y="4003675"/>
            <a:ext cx="2963862" cy="0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166" name="Object 110"/>
          <p:cNvGraphicFramePr>
            <a:graphicFrameLocks noChangeAspect="1"/>
          </p:cNvGraphicFramePr>
          <p:nvPr/>
        </p:nvGraphicFramePr>
        <p:xfrm>
          <a:off x="6002338" y="3813175"/>
          <a:ext cx="2127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8" name="Equation" r:id="rId9" imgW="190440" imgH="228600" progId="Equation.3">
                  <p:embed/>
                </p:oleObj>
              </mc:Choice>
              <mc:Fallback>
                <p:oleObj name="Equation" r:id="rId9" imgW="190440" imgH="22860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3813175"/>
                        <a:ext cx="21272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7" name="Object 111"/>
          <p:cNvGraphicFramePr>
            <a:graphicFrameLocks noChangeAspect="1"/>
          </p:cNvGraphicFramePr>
          <p:nvPr/>
        </p:nvGraphicFramePr>
        <p:xfrm>
          <a:off x="7399338" y="2368550"/>
          <a:ext cx="5603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9" name="Equation" r:id="rId11" imgW="126720" imgH="139680" progId="Equation.3">
                  <p:embed/>
                </p:oleObj>
              </mc:Choice>
              <mc:Fallback>
                <p:oleObj name="Equation" r:id="rId11" imgW="126720" imgH="139680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9338" y="2368550"/>
                        <a:ext cx="5603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68" name="Object 112"/>
          <p:cNvGraphicFramePr>
            <a:graphicFrameLocks noChangeAspect="1"/>
          </p:cNvGraphicFramePr>
          <p:nvPr/>
        </p:nvGraphicFramePr>
        <p:xfrm>
          <a:off x="7737475" y="3648075"/>
          <a:ext cx="363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0" name="Equation" r:id="rId13" imgW="164880" imgH="228600" progId="Equation.3">
                  <p:embed/>
                </p:oleObj>
              </mc:Choice>
              <mc:Fallback>
                <p:oleObj name="Equation" r:id="rId13" imgW="164880" imgH="228600" progId="Equation.3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75" y="3648075"/>
                        <a:ext cx="363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69" name="Line 113"/>
          <p:cNvSpPr>
            <a:spLocks noChangeShapeType="1"/>
          </p:cNvSpPr>
          <p:nvPr/>
        </p:nvSpPr>
        <p:spPr bwMode="auto">
          <a:xfrm>
            <a:off x="7889875" y="2171700"/>
            <a:ext cx="0" cy="1577975"/>
          </a:xfrm>
          <a:prstGeom prst="line">
            <a:avLst/>
          </a:prstGeom>
          <a:noFill/>
          <a:ln w="19050">
            <a:solidFill>
              <a:srgbClr val="CC00CC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170" name="Object 114"/>
          <p:cNvGraphicFramePr>
            <a:graphicFrameLocks noChangeAspect="1"/>
          </p:cNvGraphicFramePr>
          <p:nvPr/>
        </p:nvGraphicFramePr>
        <p:xfrm>
          <a:off x="7916863" y="2876550"/>
          <a:ext cx="3032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1" name="Equation" r:id="rId15" imgW="241200" imgH="228600" progId="Equation.3">
                  <p:embed/>
                </p:oleObj>
              </mc:Choice>
              <mc:Fallback>
                <p:oleObj name="Equation" r:id="rId15" imgW="241200" imgH="228600" progId="Equation.3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863" y="2876550"/>
                        <a:ext cx="3032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171" name="Text Box 115"/>
          <p:cNvSpPr txBox="1">
            <a:spLocks noChangeArrowheads="1"/>
          </p:cNvSpPr>
          <p:nvPr/>
        </p:nvSpPr>
        <p:spPr bwMode="auto">
          <a:xfrm>
            <a:off x="4346575" y="5403850"/>
            <a:ext cx="403860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</a:rPr>
              <a:t>劈尖干涉</a:t>
            </a:r>
          </a:p>
        </p:txBody>
      </p:sp>
      <p:graphicFrame>
        <p:nvGraphicFramePr>
          <p:cNvPr id="45172" name="Object 116"/>
          <p:cNvGraphicFramePr>
            <a:graphicFrameLocks noChangeAspect="1"/>
          </p:cNvGraphicFramePr>
          <p:nvPr/>
        </p:nvGraphicFramePr>
        <p:xfrm>
          <a:off x="6897688" y="1270000"/>
          <a:ext cx="10128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2" name="Equation" r:id="rId17" imgW="431640" imgH="228600" progId="Equation.3">
                  <p:embed/>
                </p:oleObj>
              </mc:Choice>
              <mc:Fallback>
                <p:oleObj name="Equation" r:id="rId17" imgW="431640" imgH="228600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1270000"/>
                        <a:ext cx="101282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173" name="Group 117"/>
          <p:cNvGrpSpPr>
            <a:grpSpLocks/>
          </p:cNvGrpSpPr>
          <p:nvPr/>
        </p:nvGrpSpPr>
        <p:grpSpPr bwMode="auto">
          <a:xfrm>
            <a:off x="4727575" y="1493838"/>
            <a:ext cx="2024063" cy="2212975"/>
            <a:chOff x="528" y="1074"/>
            <a:chExt cx="1371" cy="1414"/>
          </a:xfrm>
        </p:grpSpPr>
        <p:sp>
          <p:nvSpPr>
            <p:cNvPr id="45174" name="Line 118"/>
            <p:cNvSpPr>
              <a:spLocks noChangeShapeType="1"/>
            </p:cNvSpPr>
            <p:nvPr/>
          </p:nvSpPr>
          <p:spPr bwMode="auto">
            <a:xfrm flipV="1">
              <a:off x="871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5" name="Line 119"/>
            <p:cNvSpPr>
              <a:spLocks noChangeShapeType="1"/>
            </p:cNvSpPr>
            <p:nvPr/>
          </p:nvSpPr>
          <p:spPr bwMode="auto">
            <a:xfrm flipV="1">
              <a:off x="1214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6" name="Line 120"/>
            <p:cNvSpPr>
              <a:spLocks noChangeShapeType="1"/>
            </p:cNvSpPr>
            <p:nvPr/>
          </p:nvSpPr>
          <p:spPr bwMode="auto">
            <a:xfrm flipV="1">
              <a:off x="1557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7" name="Line 121"/>
            <p:cNvSpPr>
              <a:spLocks noChangeShapeType="1"/>
            </p:cNvSpPr>
            <p:nvPr/>
          </p:nvSpPr>
          <p:spPr bwMode="auto">
            <a:xfrm flipV="1">
              <a:off x="1899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8" name="Line 122"/>
            <p:cNvSpPr>
              <a:spLocks noChangeShapeType="1"/>
            </p:cNvSpPr>
            <p:nvPr/>
          </p:nvSpPr>
          <p:spPr bwMode="auto">
            <a:xfrm>
              <a:off x="871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79" name="Line 123"/>
            <p:cNvSpPr>
              <a:spLocks noChangeShapeType="1"/>
            </p:cNvSpPr>
            <p:nvPr/>
          </p:nvSpPr>
          <p:spPr bwMode="auto">
            <a:xfrm>
              <a:off x="1899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0" name="Line 124"/>
            <p:cNvSpPr>
              <a:spLocks noChangeShapeType="1"/>
            </p:cNvSpPr>
            <p:nvPr/>
          </p:nvSpPr>
          <p:spPr bwMode="auto">
            <a:xfrm>
              <a:off x="1557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1" name="Line 125"/>
            <p:cNvSpPr>
              <a:spLocks noChangeShapeType="1"/>
            </p:cNvSpPr>
            <p:nvPr/>
          </p:nvSpPr>
          <p:spPr bwMode="auto">
            <a:xfrm>
              <a:off x="1214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2" name="Line 126"/>
            <p:cNvSpPr>
              <a:spLocks noChangeShapeType="1"/>
            </p:cNvSpPr>
            <p:nvPr/>
          </p:nvSpPr>
          <p:spPr bwMode="auto">
            <a:xfrm flipV="1">
              <a:off x="528" y="1074"/>
              <a:ext cx="0" cy="141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3" name="Line 127"/>
            <p:cNvSpPr>
              <a:spLocks noChangeShapeType="1"/>
            </p:cNvSpPr>
            <p:nvPr/>
          </p:nvSpPr>
          <p:spPr bwMode="auto">
            <a:xfrm>
              <a:off x="528" y="1356"/>
              <a:ext cx="0" cy="39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84" name="Group 128"/>
          <p:cNvGrpSpPr>
            <a:grpSpLocks/>
          </p:cNvGrpSpPr>
          <p:nvPr/>
        </p:nvGrpSpPr>
        <p:grpSpPr bwMode="auto">
          <a:xfrm>
            <a:off x="4694238" y="4162425"/>
            <a:ext cx="3128962" cy="466725"/>
            <a:chOff x="768" y="1968"/>
            <a:chExt cx="2016" cy="384"/>
          </a:xfrm>
        </p:grpSpPr>
        <p:sp>
          <p:nvSpPr>
            <p:cNvPr id="45185" name="Rectangle 129"/>
            <p:cNvSpPr>
              <a:spLocks noChangeArrowheads="1"/>
            </p:cNvSpPr>
            <p:nvPr/>
          </p:nvSpPr>
          <p:spPr bwMode="auto">
            <a:xfrm>
              <a:off x="768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6" name="Rectangle 130"/>
            <p:cNvSpPr>
              <a:spLocks noChangeArrowheads="1"/>
            </p:cNvSpPr>
            <p:nvPr/>
          </p:nvSpPr>
          <p:spPr bwMode="auto">
            <a:xfrm>
              <a:off x="1440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7" name="Rectangle 131"/>
            <p:cNvSpPr>
              <a:spLocks noChangeArrowheads="1"/>
            </p:cNvSpPr>
            <p:nvPr/>
          </p:nvSpPr>
          <p:spPr bwMode="auto">
            <a:xfrm>
              <a:off x="1440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88" name="Rectangle 132"/>
            <p:cNvSpPr>
              <a:spLocks noChangeArrowheads="1"/>
            </p:cNvSpPr>
            <p:nvPr/>
          </p:nvSpPr>
          <p:spPr bwMode="auto">
            <a:xfrm>
              <a:off x="2112" y="1968"/>
              <a:ext cx="672" cy="384"/>
            </a:xfrm>
            <a:prstGeom prst="rect">
              <a:avLst/>
            </a:prstGeom>
            <a:gradFill rotWithShape="0">
              <a:gsLst>
                <a:gs pos="0">
                  <a:srgbClr val="CCCC00">
                    <a:gamma/>
                    <a:shade val="0"/>
                    <a:invGamma/>
                  </a:srgbClr>
                </a:gs>
                <a:gs pos="50000">
                  <a:srgbClr val="CCCC00"/>
                </a:gs>
                <a:gs pos="100000">
                  <a:srgbClr val="CCCC00">
                    <a:gamma/>
                    <a:shade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89" name="Group 133"/>
          <p:cNvGrpSpPr>
            <a:grpSpLocks/>
          </p:cNvGrpSpPr>
          <p:nvPr/>
        </p:nvGrpSpPr>
        <p:grpSpPr bwMode="auto">
          <a:xfrm>
            <a:off x="5199063" y="1408113"/>
            <a:ext cx="1052512" cy="3606800"/>
            <a:chOff x="871" y="1008"/>
            <a:chExt cx="713" cy="2304"/>
          </a:xfrm>
        </p:grpSpPr>
        <p:grpSp>
          <p:nvGrpSpPr>
            <p:cNvPr id="45190" name="Group 134"/>
            <p:cNvGrpSpPr>
              <a:grpSpLocks/>
            </p:cNvGrpSpPr>
            <p:nvPr/>
          </p:nvGrpSpPr>
          <p:grpSpPr bwMode="auto">
            <a:xfrm>
              <a:off x="871" y="1008"/>
              <a:ext cx="686" cy="292"/>
              <a:chOff x="871" y="960"/>
              <a:chExt cx="686" cy="340"/>
            </a:xfrm>
          </p:grpSpPr>
          <p:sp>
            <p:nvSpPr>
              <p:cNvPr id="45191" name="Line 135"/>
              <p:cNvSpPr>
                <a:spLocks noChangeShapeType="1"/>
              </p:cNvSpPr>
              <p:nvPr/>
            </p:nvSpPr>
            <p:spPr bwMode="auto">
              <a:xfrm>
                <a:off x="871" y="1300"/>
                <a:ext cx="686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prstDash val="dash"/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5192" name="Object 136"/>
              <p:cNvGraphicFramePr>
                <a:graphicFrameLocks noChangeAspect="1"/>
              </p:cNvGraphicFramePr>
              <p:nvPr/>
            </p:nvGraphicFramePr>
            <p:xfrm>
              <a:off x="1056" y="960"/>
              <a:ext cx="24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243" name="公式" r:id="rId19" imgW="164880" imgH="253800" progId="Equation.3">
                      <p:embed/>
                    </p:oleObj>
                  </mc:Choice>
                  <mc:Fallback>
                    <p:oleObj name="公式" r:id="rId19" imgW="164880" imgH="253800" progId="Equation.3">
                      <p:embed/>
                      <p:pic>
                        <p:nvPicPr>
                          <p:cNvPr id="0" name="Object 1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960"/>
                            <a:ext cx="240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5193" name="Group 137"/>
            <p:cNvGrpSpPr>
              <a:grpSpLocks/>
            </p:cNvGrpSpPr>
            <p:nvPr/>
          </p:nvGrpSpPr>
          <p:grpSpPr bwMode="auto">
            <a:xfrm>
              <a:off x="898" y="2928"/>
              <a:ext cx="686" cy="384"/>
              <a:chOff x="898" y="2928"/>
              <a:chExt cx="686" cy="432"/>
            </a:xfrm>
          </p:grpSpPr>
          <p:sp>
            <p:nvSpPr>
              <p:cNvPr id="45194" name="Line 138"/>
              <p:cNvSpPr>
                <a:spLocks noChangeShapeType="1"/>
              </p:cNvSpPr>
              <p:nvPr/>
            </p:nvSpPr>
            <p:spPr bwMode="auto">
              <a:xfrm>
                <a:off x="898" y="2928"/>
                <a:ext cx="686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prstDash val="dash"/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5195" name="Object 139"/>
              <p:cNvGraphicFramePr>
                <a:graphicFrameLocks noChangeAspect="1"/>
              </p:cNvGraphicFramePr>
              <p:nvPr/>
            </p:nvGraphicFramePr>
            <p:xfrm>
              <a:off x="1152" y="3072"/>
              <a:ext cx="1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244" name="公式" r:id="rId21" imgW="164880" imgH="253800" progId="Equation.3">
                      <p:embed/>
                    </p:oleObj>
                  </mc:Choice>
                  <mc:Fallback>
                    <p:oleObj name="公式" r:id="rId21" imgW="164880" imgH="253800" progId="Equation.3">
                      <p:embed/>
                      <p:pic>
                        <p:nvPicPr>
                          <p:cNvPr id="0" name="Object 1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3072"/>
                            <a:ext cx="18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5196" name="Group 140"/>
          <p:cNvGrpSpPr>
            <a:grpSpLocks/>
          </p:cNvGrpSpPr>
          <p:nvPr/>
        </p:nvGrpSpPr>
        <p:grpSpPr bwMode="auto">
          <a:xfrm>
            <a:off x="7013575" y="2876550"/>
            <a:ext cx="609600" cy="676275"/>
            <a:chOff x="2160" y="1968"/>
            <a:chExt cx="384" cy="426"/>
          </a:xfrm>
        </p:grpSpPr>
        <p:sp>
          <p:nvSpPr>
            <p:cNvPr id="45197" name="Line 141"/>
            <p:cNvSpPr>
              <a:spLocks noChangeShapeType="1"/>
            </p:cNvSpPr>
            <p:nvPr/>
          </p:nvSpPr>
          <p:spPr bwMode="auto">
            <a:xfrm>
              <a:off x="2160" y="1968"/>
              <a:ext cx="0" cy="401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198" name="Object 142"/>
            <p:cNvGraphicFramePr>
              <a:graphicFrameLocks noChangeAspect="1"/>
            </p:cNvGraphicFramePr>
            <p:nvPr/>
          </p:nvGraphicFramePr>
          <p:xfrm>
            <a:off x="2184" y="2079"/>
            <a:ext cx="36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45" name="Equation" r:id="rId22" imgW="380880" imgH="228600" progId="Equation.3">
                    <p:embed/>
                  </p:oleObj>
                </mc:Choice>
                <mc:Fallback>
                  <p:oleObj name="Equation" r:id="rId22" imgW="380880" imgH="228600" progId="Equation.3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4" y="2079"/>
                          <a:ext cx="360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199" name="Group 143"/>
          <p:cNvGrpSpPr>
            <a:grpSpLocks/>
          </p:cNvGrpSpPr>
          <p:nvPr/>
        </p:nvGrpSpPr>
        <p:grpSpPr bwMode="auto">
          <a:xfrm>
            <a:off x="5327650" y="2663825"/>
            <a:ext cx="2500313" cy="788988"/>
            <a:chOff x="1098" y="1834"/>
            <a:chExt cx="1575" cy="497"/>
          </a:xfrm>
        </p:grpSpPr>
        <p:sp>
          <p:nvSpPr>
            <p:cNvPr id="45200" name="Line 144"/>
            <p:cNvSpPr>
              <a:spLocks noChangeShapeType="1"/>
            </p:cNvSpPr>
            <p:nvPr/>
          </p:nvSpPr>
          <p:spPr bwMode="auto">
            <a:xfrm flipV="1">
              <a:off x="1098" y="2331"/>
              <a:ext cx="151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01" name="Line 145"/>
            <p:cNvSpPr>
              <a:spLocks noChangeShapeType="1"/>
            </p:cNvSpPr>
            <p:nvPr/>
          </p:nvSpPr>
          <p:spPr bwMode="auto">
            <a:xfrm>
              <a:off x="1379" y="2154"/>
              <a:ext cx="118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02" name="Line 146"/>
            <p:cNvSpPr>
              <a:spLocks noChangeShapeType="1"/>
            </p:cNvSpPr>
            <p:nvPr/>
          </p:nvSpPr>
          <p:spPr bwMode="auto">
            <a:xfrm>
              <a:off x="1698" y="1987"/>
              <a:ext cx="95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03" name="Line 147"/>
            <p:cNvSpPr>
              <a:spLocks noChangeShapeType="1"/>
            </p:cNvSpPr>
            <p:nvPr/>
          </p:nvSpPr>
          <p:spPr bwMode="auto">
            <a:xfrm>
              <a:off x="2035" y="1834"/>
              <a:ext cx="63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5204" name="Object 148"/>
          <p:cNvGraphicFramePr>
            <a:graphicFrameLocks noChangeAspect="1"/>
          </p:cNvGraphicFramePr>
          <p:nvPr/>
        </p:nvGraphicFramePr>
        <p:xfrm>
          <a:off x="5337175" y="3473450"/>
          <a:ext cx="225425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6" name="公式" r:id="rId24" imgW="177480" imgH="241200" progId="Equation.3">
                  <p:embed/>
                </p:oleObj>
              </mc:Choice>
              <mc:Fallback>
                <p:oleObj name="公式" r:id="rId24" imgW="177480" imgH="241200" progId="Equation.3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3473450"/>
                        <a:ext cx="225425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207" name="Group 151"/>
          <p:cNvGrpSpPr>
            <a:grpSpLocks/>
          </p:cNvGrpSpPr>
          <p:nvPr/>
        </p:nvGrpSpPr>
        <p:grpSpPr bwMode="auto">
          <a:xfrm>
            <a:off x="2544763" y="3271838"/>
            <a:ext cx="765175" cy="1163637"/>
            <a:chOff x="1603" y="2501"/>
            <a:chExt cx="482" cy="733"/>
          </a:xfrm>
        </p:grpSpPr>
        <p:sp>
          <p:nvSpPr>
            <p:cNvPr id="45205" name="AutoShape 149"/>
            <p:cNvSpPr>
              <a:spLocks/>
            </p:cNvSpPr>
            <p:nvPr/>
          </p:nvSpPr>
          <p:spPr bwMode="auto">
            <a:xfrm>
              <a:off x="1603" y="2501"/>
              <a:ext cx="115" cy="733"/>
            </a:xfrm>
            <a:prstGeom prst="rightBrace">
              <a:avLst>
                <a:gd name="adj1" fmla="val 5311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06" name="AutoShape 150"/>
            <p:cNvSpPr>
              <a:spLocks noChangeArrowheads="1"/>
            </p:cNvSpPr>
            <p:nvPr/>
          </p:nvSpPr>
          <p:spPr bwMode="auto">
            <a:xfrm>
              <a:off x="1764" y="2805"/>
              <a:ext cx="321" cy="139"/>
            </a:xfrm>
            <a:prstGeom prst="rightArrow">
              <a:avLst>
                <a:gd name="adj1" fmla="val 50000"/>
                <a:gd name="adj2" fmla="val 57734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5208" name="Object 152"/>
          <p:cNvGraphicFramePr>
            <a:graphicFrameLocks noChangeAspect="1"/>
          </p:cNvGraphicFramePr>
          <p:nvPr/>
        </p:nvGraphicFramePr>
        <p:xfrm>
          <a:off x="950913" y="4948238"/>
          <a:ext cx="27987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7" name="公式" r:id="rId26" imgW="1168200" imgH="406080" progId="Equation.3">
                  <p:embed/>
                </p:oleObj>
              </mc:Choice>
              <mc:Fallback>
                <p:oleObj name="公式" r:id="rId26" imgW="1168200" imgH="406080" progId="Equation.3">
                  <p:embed/>
                  <p:pic>
                    <p:nvPicPr>
                      <p:cNvPr id="0" name="Object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4948238"/>
                        <a:ext cx="27987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4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5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5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6B042-12F5-4AC6-8E16-983DA07DB20A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476250" y="523875"/>
            <a:ext cx="4800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t">
              <a:spcBef>
                <a:spcPct val="50000"/>
              </a:spcBef>
            </a:pPr>
            <a:r>
              <a:rPr kumimoji="0" lang="en-US" altLang="zh-CN" sz="3200">
                <a:solidFill>
                  <a:srgbClr val="070000"/>
                </a:solidFill>
                <a:latin typeface="宋体" pitchFamily="2" charset="-122"/>
              </a:rPr>
              <a:t> </a:t>
            </a:r>
            <a:r>
              <a:rPr kumimoji="0" lang="en-US" altLang="zh-CN" sz="320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kumimoji="0" lang="en-US" altLang="zh-CN" sz="3200">
                <a:solidFill>
                  <a:srgbClr val="CC0000"/>
                </a:solidFill>
              </a:rPr>
              <a:t>3 </a:t>
            </a:r>
            <a:r>
              <a:rPr kumimoji="0" lang="en-US" altLang="zh-CN" sz="3200">
                <a:solidFill>
                  <a:srgbClr val="CC0000"/>
                </a:solidFill>
                <a:latin typeface="宋体" pitchFamily="2" charset="-122"/>
              </a:rPr>
              <a:t>) </a:t>
            </a:r>
            <a:r>
              <a:rPr kumimoji="0" lang="zh-CN" altLang="en-US" sz="3200">
                <a:solidFill>
                  <a:srgbClr val="070000"/>
                </a:solidFill>
              </a:rPr>
              <a:t>干涉条纹的移动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7108" name="ShockwaveFlash1" r:id="rId2" imgW="7470619" imgH="5175536"/>
        </mc:Choice>
        <mc:Fallback>
          <p:control name="ShockwaveFlash1" r:id="rId2" imgW="7470619" imgH="5175536">
            <p:pic>
              <p:nvPicPr>
                <p:cNvPr id="0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92163" y="1133475"/>
                  <a:ext cx="7470775" cy="5175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4F3E6-1AF7-4C8C-8F8A-2F1CCE3F789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600075" y="685800"/>
            <a:ext cx="80676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sz="3200">
                <a:solidFill>
                  <a:srgbClr val="CC0000"/>
                </a:solidFill>
              </a:rPr>
              <a:t>例</a:t>
            </a:r>
            <a:r>
              <a:rPr kumimoji="0" lang="en-US" altLang="zh-CN" sz="3200">
                <a:solidFill>
                  <a:srgbClr val="CC0000"/>
                </a:solidFill>
              </a:rPr>
              <a:t>1</a:t>
            </a:r>
            <a:r>
              <a:rPr kumimoji="0" lang="en-US" altLang="zh-CN" sz="3200">
                <a:solidFill>
                  <a:srgbClr val="1C1C1C"/>
                </a:solidFill>
              </a:rPr>
              <a:t>   </a:t>
            </a:r>
            <a:r>
              <a:rPr kumimoji="0" lang="zh-CN" altLang="en-US" sz="3200">
                <a:solidFill>
                  <a:srgbClr val="1C1C1C"/>
                </a:solidFill>
              </a:rPr>
              <a:t>波长为</a:t>
            </a:r>
            <a:r>
              <a:rPr kumimoji="0" lang="en-US" altLang="zh-CN" sz="3200">
                <a:solidFill>
                  <a:srgbClr val="1C1C1C"/>
                </a:solidFill>
              </a:rPr>
              <a:t>680 nm</a:t>
            </a:r>
            <a:r>
              <a:rPr kumimoji="0" lang="zh-CN" altLang="en-US" sz="3200">
                <a:solidFill>
                  <a:srgbClr val="1C1C1C"/>
                </a:solidFill>
              </a:rPr>
              <a:t>的平行光照射到 </a:t>
            </a:r>
            <a:r>
              <a:rPr kumimoji="0" lang="en-US" altLang="zh-CN" sz="3200" i="1">
                <a:solidFill>
                  <a:srgbClr val="1C1C1C"/>
                </a:solidFill>
              </a:rPr>
              <a:t>L=</a:t>
            </a:r>
            <a:r>
              <a:rPr kumimoji="0" lang="en-US" altLang="zh-CN" sz="3200">
                <a:solidFill>
                  <a:srgbClr val="1C1C1C"/>
                </a:solidFill>
              </a:rPr>
              <a:t>12cm</a:t>
            </a:r>
            <a:r>
              <a:rPr kumimoji="0" lang="zh-CN" altLang="en-US" sz="3200">
                <a:solidFill>
                  <a:srgbClr val="1C1C1C"/>
                </a:solidFill>
              </a:rPr>
              <a:t>长的两块玻璃片上，两玻璃片的一边相互接触 ，另一边被厚度</a:t>
            </a:r>
            <a:r>
              <a:rPr kumimoji="0" lang="en-US" altLang="zh-CN" sz="3200">
                <a:solidFill>
                  <a:srgbClr val="1C1C1C"/>
                </a:solidFill>
              </a:rPr>
              <a:t>D=0.048 mm</a:t>
            </a:r>
            <a:r>
              <a:rPr kumimoji="0" lang="zh-CN" altLang="en-US" sz="3200">
                <a:solidFill>
                  <a:srgbClr val="1C1C1C"/>
                </a:solidFill>
              </a:rPr>
              <a:t>的纸片隔开</a:t>
            </a:r>
            <a:r>
              <a:rPr kumimoji="0" lang="en-US" altLang="zh-CN" sz="3200">
                <a:solidFill>
                  <a:srgbClr val="1C1C1C"/>
                </a:solidFill>
              </a:rPr>
              <a:t>. </a:t>
            </a:r>
            <a:r>
              <a:rPr kumimoji="0" lang="zh-CN" altLang="en-US" sz="3200">
                <a:solidFill>
                  <a:srgbClr val="CC0000"/>
                </a:solidFill>
              </a:rPr>
              <a:t>问</a:t>
            </a:r>
            <a:r>
              <a:rPr kumimoji="0" lang="en-US" altLang="zh-CN" sz="3200">
                <a:solidFill>
                  <a:srgbClr val="CC0000"/>
                </a:solidFill>
              </a:rPr>
              <a:t>:</a:t>
            </a:r>
            <a:r>
              <a:rPr kumimoji="0" lang="zh-CN" altLang="en-US" sz="3200">
                <a:solidFill>
                  <a:srgbClr val="1C1C1C"/>
                </a:solidFill>
              </a:rPr>
              <a:t>在这</a:t>
            </a:r>
            <a:r>
              <a:rPr kumimoji="0" lang="en-US" altLang="zh-CN" sz="3200">
                <a:solidFill>
                  <a:srgbClr val="1C1C1C"/>
                </a:solidFill>
              </a:rPr>
              <a:t>12 cm</a:t>
            </a:r>
            <a:r>
              <a:rPr kumimoji="0" lang="zh-CN" altLang="en-US" sz="3200">
                <a:solidFill>
                  <a:srgbClr val="1C1C1C"/>
                </a:solidFill>
              </a:rPr>
              <a:t>长度内会呈现多少条暗条纹 </a:t>
            </a:r>
            <a:r>
              <a:rPr kumimoji="0" lang="en-US" altLang="zh-CN" sz="3200">
                <a:solidFill>
                  <a:srgbClr val="1C1C1C"/>
                </a:solidFill>
              </a:rPr>
              <a:t>?</a:t>
            </a:r>
          </a:p>
        </p:txBody>
      </p:sp>
      <p:grpSp>
        <p:nvGrpSpPr>
          <p:cNvPr id="48155" name="Group 27"/>
          <p:cNvGrpSpPr>
            <a:grpSpLocks/>
          </p:cNvGrpSpPr>
          <p:nvPr/>
        </p:nvGrpSpPr>
        <p:grpSpPr bwMode="auto">
          <a:xfrm>
            <a:off x="1243013" y="4373563"/>
            <a:ext cx="6704012" cy="1216025"/>
            <a:chOff x="612" y="2670"/>
            <a:chExt cx="4223" cy="766"/>
          </a:xfrm>
        </p:grpSpPr>
        <p:sp>
          <p:nvSpPr>
            <p:cNvPr id="48136" name="Rectangle 8"/>
            <p:cNvSpPr>
              <a:spLocks noChangeArrowheads="1"/>
            </p:cNvSpPr>
            <p:nvPr/>
          </p:nvSpPr>
          <p:spPr bwMode="auto">
            <a:xfrm>
              <a:off x="648" y="3208"/>
              <a:ext cx="4153" cy="228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37" name="Rectangle 9"/>
            <p:cNvSpPr>
              <a:spLocks noChangeArrowheads="1"/>
            </p:cNvSpPr>
            <p:nvPr/>
          </p:nvSpPr>
          <p:spPr bwMode="auto">
            <a:xfrm rot="-447948">
              <a:off x="612" y="2670"/>
              <a:ext cx="4223" cy="257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8140" name="Object 12"/>
            <p:cNvGraphicFramePr>
              <a:graphicFrameLocks noChangeAspect="1"/>
            </p:cNvGraphicFramePr>
            <p:nvPr/>
          </p:nvGraphicFramePr>
          <p:xfrm>
            <a:off x="1053" y="2812"/>
            <a:ext cx="34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60" name="公式" r:id="rId3" imgW="215640" imgH="317160" progId="Equation.3">
                    <p:embed/>
                  </p:oleObj>
                </mc:Choice>
                <mc:Fallback>
                  <p:oleObj name="公式" r:id="rId3" imgW="215640" imgH="317160" progId="Equation.3">
                    <p:embed/>
                    <p:pic>
                      <p:nvPicPr>
                        <p:cNvPr id="0" name="Object 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3" y="2812"/>
                          <a:ext cx="34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2" name="Object 24"/>
            <p:cNvGraphicFramePr>
              <a:graphicFrameLocks noChangeAspect="1"/>
            </p:cNvGraphicFramePr>
            <p:nvPr/>
          </p:nvGraphicFramePr>
          <p:xfrm>
            <a:off x="1124" y="3124"/>
            <a:ext cx="341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61" name="公式" r:id="rId5" imgW="215640" imgH="317160" progId="Equation.3">
                    <p:embed/>
                  </p:oleObj>
                </mc:Choice>
                <mc:Fallback>
                  <p:oleObj name="公式" r:id="rId5" imgW="215640" imgH="317160" progId="Equation.3">
                    <p:embed/>
                    <p:pic>
                      <p:nvPicPr>
                        <p:cNvPr id="0" name="Object 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4" y="3124"/>
                          <a:ext cx="341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3" name="Rectangle 25"/>
            <p:cNvSpPr>
              <a:spLocks noChangeArrowheads="1"/>
            </p:cNvSpPr>
            <p:nvPr/>
          </p:nvSpPr>
          <p:spPr bwMode="auto">
            <a:xfrm>
              <a:off x="4283" y="2727"/>
              <a:ext cx="496" cy="476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4A431-6FC7-4E1B-AF1D-BF07CBE59DA2}" type="slidenum">
              <a:rPr lang="en-US" altLang="zh-CN"/>
              <a:pPr/>
              <a:t>8</a:t>
            </a:fld>
            <a:endParaRPr lang="en-US" altLang="zh-CN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/>
        </p:nvGraphicFramePr>
        <p:xfrm>
          <a:off x="1754188" y="4014788"/>
          <a:ext cx="250983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4" name="公式" r:id="rId3" imgW="1091880" imgH="406080" progId="Equation.3">
                  <p:embed/>
                </p:oleObj>
              </mc:Choice>
              <mc:Fallback>
                <p:oleObj name="公式" r:id="rId3" imgW="109188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188" y="4014788"/>
                        <a:ext cx="250983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319213" y="2657475"/>
          <a:ext cx="35925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5" name="公式" r:id="rId5" imgW="1562040" imgH="406080" progId="Equation.3">
                  <p:embed/>
                </p:oleObj>
              </mc:Choice>
              <mc:Fallback>
                <p:oleObj name="公式" r:id="rId5" imgW="1562040" imgH="406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2657475"/>
                        <a:ext cx="359251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574800" y="5454650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/>
              <a:t>共有</a:t>
            </a:r>
            <a:r>
              <a:rPr kumimoji="0" lang="en-US" altLang="zh-CN"/>
              <a:t>142</a:t>
            </a:r>
            <a:r>
              <a:rPr kumimoji="0" lang="zh-CN" altLang="en-US"/>
              <a:t>条暗纹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746125" y="800100"/>
            <a:ext cx="6818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>
                <a:solidFill>
                  <a:srgbClr val="CC0000"/>
                </a:solidFill>
              </a:rPr>
              <a:t>解</a:t>
            </a:r>
            <a:r>
              <a:rPr kumimoji="0" lang="en-US" altLang="zh-CN">
                <a:solidFill>
                  <a:srgbClr val="CC0000"/>
                </a:solidFill>
              </a:rPr>
              <a:t>: </a:t>
            </a:r>
            <a:r>
              <a:rPr kumimoji="0" lang="zh-CN" altLang="en-US"/>
              <a:t>由题意得</a:t>
            </a:r>
          </a:p>
        </p:txBody>
      </p:sp>
      <p:grpSp>
        <p:nvGrpSpPr>
          <p:cNvPr id="49163" name="Group 11"/>
          <p:cNvGrpSpPr>
            <a:grpSpLocks/>
          </p:cNvGrpSpPr>
          <p:nvPr/>
        </p:nvGrpSpPr>
        <p:grpSpPr bwMode="auto">
          <a:xfrm>
            <a:off x="2949575" y="611188"/>
            <a:ext cx="5278438" cy="933450"/>
            <a:chOff x="1165" y="996"/>
            <a:chExt cx="3325" cy="588"/>
          </a:xfrm>
        </p:grpSpPr>
        <p:graphicFrame>
          <p:nvGraphicFramePr>
            <p:cNvPr id="49159" name="Object 7"/>
            <p:cNvGraphicFramePr>
              <a:graphicFrameLocks noChangeAspect="1"/>
            </p:cNvGraphicFramePr>
            <p:nvPr/>
          </p:nvGraphicFramePr>
          <p:xfrm>
            <a:off x="1165" y="996"/>
            <a:ext cx="1821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6" name="公式" r:id="rId7" imgW="1257120" imgH="406080" progId="Equation.3">
                    <p:embed/>
                  </p:oleObj>
                </mc:Choice>
                <mc:Fallback>
                  <p:oleObj name="公式" r:id="rId7" imgW="1257120" imgH="4060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5" y="996"/>
                          <a:ext cx="1821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0" name="Object 8"/>
            <p:cNvGraphicFramePr>
              <a:graphicFrameLocks noChangeAspect="1"/>
            </p:cNvGraphicFramePr>
            <p:nvPr/>
          </p:nvGraphicFramePr>
          <p:xfrm>
            <a:off x="3368" y="1143"/>
            <a:ext cx="112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7" name="公式" r:id="rId9" imgW="774360" imgH="203040" progId="Equation.3">
                    <p:embed/>
                  </p:oleObj>
                </mc:Choice>
                <mc:Fallback>
                  <p:oleObj name="公式" r:id="rId9" imgW="774360" imgH="203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8" y="1143"/>
                          <a:ext cx="112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71" name="Group 19"/>
          <p:cNvGrpSpPr>
            <a:grpSpLocks/>
          </p:cNvGrpSpPr>
          <p:nvPr/>
        </p:nvGrpSpPr>
        <p:grpSpPr bwMode="auto">
          <a:xfrm>
            <a:off x="1187450" y="1787525"/>
            <a:ext cx="6542088" cy="557213"/>
            <a:chOff x="748" y="1126"/>
            <a:chExt cx="4121" cy="351"/>
          </a:xfrm>
        </p:grpSpPr>
        <p:sp>
          <p:nvSpPr>
            <p:cNvPr id="49164" name="Text Box 12"/>
            <p:cNvSpPr txBox="1">
              <a:spLocks noChangeArrowheads="1"/>
            </p:cNvSpPr>
            <p:nvPr/>
          </p:nvSpPr>
          <p:spPr bwMode="auto">
            <a:xfrm>
              <a:off x="748" y="1150"/>
              <a:ext cx="4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/>
                <a:t>令</a:t>
              </a:r>
            </a:p>
          </p:txBody>
        </p:sp>
        <p:graphicFrame>
          <p:nvGraphicFramePr>
            <p:cNvPr id="49166" name="Object 14"/>
            <p:cNvGraphicFramePr>
              <a:graphicFrameLocks noChangeAspect="1"/>
            </p:cNvGraphicFramePr>
            <p:nvPr/>
          </p:nvGraphicFramePr>
          <p:xfrm>
            <a:off x="1086" y="1185"/>
            <a:ext cx="60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8" name="公式" r:id="rId11" imgW="419040" imgH="177480" progId="Equation.3">
                    <p:embed/>
                  </p:oleObj>
                </mc:Choice>
                <mc:Fallback>
                  <p:oleObj name="公式" r:id="rId11" imgW="41904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6" y="1185"/>
                          <a:ext cx="60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7" name="Text Box 15"/>
            <p:cNvSpPr txBox="1">
              <a:spLocks noChangeArrowheads="1"/>
            </p:cNvSpPr>
            <p:nvPr/>
          </p:nvSpPr>
          <p:spPr bwMode="auto">
            <a:xfrm>
              <a:off x="1699" y="1126"/>
              <a:ext cx="31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/>
                <a:t>, </a:t>
              </a:r>
              <a:r>
                <a:rPr lang="zh-CN" altLang="en-US"/>
                <a:t>对应暗条纹的最大级数</a:t>
              </a:r>
            </a:p>
          </p:txBody>
        </p:sp>
        <p:graphicFrame>
          <p:nvGraphicFramePr>
            <p:cNvPr id="49169" name="Object 17"/>
            <p:cNvGraphicFramePr>
              <a:graphicFrameLocks noChangeAspect="1"/>
            </p:cNvGraphicFramePr>
            <p:nvPr/>
          </p:nvGraphicFramePr>
          <p:xfrm>
            <a:off x="4103" y="1142"/>
            <a:ext cx="29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9" name="公式" r:id="rId13" imgW="203040" imgH="228600" progId="Equation.3">
                    <p:embed/>
                  </p:oleObj>
                </mc:Choice>
                <mc:Fallback>
                  <p:oleObj name="公式" r:id="rId13" imgW="20304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" y="1142"/>
                          <a:ext cx="29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1B01-EE9C-442D-A895-6A3D50C2AF5C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50190" name="Text Box 14"/>
          <p:cNvSpPr txBox="1">
            <a:spLocks noChangeArrowheads="1"/>
          </p:cNvSpPr>
          <p:nvPr/>
        </p:nvSpPr>
        <p:spPr bwMode="auto">
          <a:xfrm>
            <a:off x="703263" y="14239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44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006600"/>
                </a:solidFill>
              </a:rPr>
              <a:t>(1) </a:t>
            </a:r>
            <a:r>
              <a:rPr kumimoji="0" lang="zh-CN" altLang="en-US">
                <a:solidFill>
                  <a:srgbClr val="006600"/>
                </a:solidFill>
              </a:rPr>
              <a:t>干涉膨胀仪</a:t>
            </a:r>
          </a:p>
        </p:txBody>
      </p:sp>
      <p:sp>
        <p:nvSpPr>
          <p:cNvPr id="50191" name="Rectangle 15"/>
          <p:cNvSpPr>
            <a:spLocks noChangeArrowheads="1"/>
          </p:cNvSpPr>
          <p:nvPr/>
        </p:nvSpPr>
        <p:spPr bwMode="auto">
          <a:xfrm>
            <a:off x="3673475" y="1449388"/>
            <a:ext cx="3733800" cy="43481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4283075" y="2098675"/>
            <a:ext cx="2747963" cy="161925"/>
          </a:xfrm>
          <a:prstGeom prst="rect">
            <a:avLst/>
          </a:prstGeom>
          <a:solidFill>
            <a:srgbClr val="00FFCC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3" name="Rectangle 17" descr="深色下对角线"/>
          <p:cNvSpPr>
            <a:spLocks noChangeArrowheads="1"/>
          </p:cNvSpPr>
          <p:nvPr/>
        </p:nvSpPr>
        <p:spPr bwMode="auto">
          <a:xfrm>
            <a:off x="4283075" y="3760788"/>
            <a:ext cx="2747963" cy="160337"/>
          </a:xfrm>
          <a:prstGeom prst="rect">
            <a:avLst/>
          </a:prstGeom>
          <a:pattFill prst="dkDnDiag">
            <a:fgClr>
              <a:srgbClr val="000099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4" name="Rectangle 18" descr="深色下对角线"/>
          <p:cNvSpPr>
            <a:spLocks noChangeArrowheads="1"/>
          </p:cNvSpPr>
          <p:nvPr/>
        </p:nvSpPr>
        <p:spPr bwMode="auto">
          <a:xfrm>
            <a:off x="4494213" y="2260600"/>
            <a:ext cx="317500" cy="1511300"/>
          </a:xfrm>
          <a:prstGeom prst="rect">
            <a:avLst/>
          </a:prstGeom>
          <a:pattFill prst="dkDnDiag">
            <a:fgClr>
              <a:srgbClr val="0000CC"/>
            </a:fgClr>
            <a:bgClr>
              <a:schemeClr val="accent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5" name="Rectangle 19" descr="深色下对角线"/>
          <p:cNvSpPr>
            <a:spLocks noChangeArrowheads="1"/>
          </p:cNvSpPr>
          <p:nvPr/>
        </p:nvSpPr>
        <p:spPr bwMode="auto">
          <a:xfrm>
            <a:off x="6502400" y="2260600"/>
            <a:ext cx="317500" cy="1511300"/>
          </a:xfrm>
          <a:prstGeom prst="rect">
            <a:avLst/>
          </a:prstGeom>
          <a:pattFill prst="dkDnDiag">
            <a:fgClr>
              <a:srgbClr val="0000CC"/>
            </a:fgClr>
            <a:bgClr>
              <a:schemeClr val="accent1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6" name="Freeform 20" descr="深色上对角线"/>
          <p:cNvSpPr>
            <a:spLocks/>
          </p:cNvSpPr>
          <p:nvPr/>
        </p:nvSpPr>
        <p:spPr bwMode="auto">
          <a:xfrm>
            <a:off x="5121275" y="2420938"/>
            <a:ext cx="1055688" cy="1350962"/>
          </a:xfrm>
          <a:custGeom>
            <a:avLst/>
            <a:gdLst>
              <a:gd name="T0" fmla="*/ 0 w 480"/>
              <a:gd name="T1" fmla="*/ 672 h 672"/>
              <a:gd name="T2" fmla="*/ 0 w 480"/>
              <a:gd name="T3" fmla="*/ 0 h 672"/>
              <a:gd name="T4" fmla="*/ 480 w 480"/>
              <a:gd name="T5" fmla="*/ 96 h 672"/>
              <a:gd name="T6" fmla="*/ 480 w 480"/>
              <a:gd name="T7" fmla="*/ 672 h 672"/>
              <a:gd name="T8" fmla="*/ 0 w 480"/>
              <a:gd name="T9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672">
                <a:moveTo>
                  <a:pt x="0" y="672"/>
                </a:moveTo>
                <a:lnTo>
                  <a:pt x="0" y="0"/>
                </a:lnTo>
                <a:lnTo>
                  <a:pt x="480" y="96"/>
                </a:lnTo>
                <a:lnTo>
                  <a:pt x="480" y="672"/>
                </a:lnTo>
                <a:lnTo>
                  <a:pt x="0" y="672"/>
                </a:lnTo>
                <a:close/>
              </a:path>
            </a:pathLst>
          </a:custGeom>
          <a:pattFill prst="dkUpDiag">
            <a:fgClr>
              <a:srgbClr val="CC9900"/>
            </a:fgClr>
            <a:bgClr>
              <a:srgbClr val="FFFF99"/>
            </a:bgClr>
          </a:pattFill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7" name="Line 21"/>
          <p:cNvSpPr>
            <a:spLocks noChangeShapeType="1"/>
          </p:cNvSpPr>
          <p:nvPr/>
        </p:nvSpPr>
        <p:spPr bwMode="auto">
          <a:xfrm flipH="1">
            <a:off x="3965575" y="3771900"/>
            <a:ext cx="1163638" cy="0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 type="none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8" name="Line 22"/>
          <p:cNvSpPr>
            <a:spLocks noChangeShapeType="1"/>
          </p:cNvSpPr>
          <p:nvPr/>
        </p:nvSpPr>
        <p:spPr bwMode="auto">
          <a:xfrm>
            <a:off x="4206875" y="2420938"/>
            <a:ext cx="0" cy="1350962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3813175" y="2827338"/>
          <a:ext cx="4699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公式" r:id="rId3" imgW="177480" imgH="330120" progId="Equation.3">
                  <p:embed/>
                </p:oleObj>
              </mc:Choice>
              <mc:Fallback>
                <p:oleObj name="公式" r:id="rId3" imgW="177480" imgH="330120" progId="Equation.3">
                  <p:embed/>
                  <p:pic>
                    <p:nvPicPr>
                      <p:cNvPr id="0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2827338"/>
                        <a:ext cx="4699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00" name="Group 24"/>
          <p:cNvGrpSpPr>
            <a:grpSpLocks/>
          </p:cNvGrpSpPr>
          <p:nvPr/>
        </p:nvGrpSpPr>
        <p:grpSpPr bwMode="auto">
          <a:xfrm>
            <a:off x="5381625" y="1589088"/>
            <a:ext cx="647700" cy="382587"/>
            <a:chOff x="1200" y="1200"/>
            <a:chExt cx="288" cy="336"/>
          </a:xfrm>
        </p:grpSpPr>
        <p:sp>
          <p:nvSpPr>
            <p:cNvPr id="50201" name="Rectangle 25"/>
            <p:cNvSpPr>
              <a:spLocks noChangeArrowheads="1"/>
            </p:cNvSpPr>
            <p:nvPr/>
          </p:nvSpPr>
          <p:spPr bwMode="auto">
            <a:xfrm>
              <a:off x="1200" y="1200"/>
              <a:ext cx="288" cy="240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shade val="36078"/>
                    <a:invGamma/>
                  </a:schemeClr>
                </a:gs>
                <a:gs pos="50000">
                  <a:schemeClr val="folHlink">
                    <a:alpha val="25000"/>
                  </a:schemeClr>
                </a:gs>
                <a:gs pos="100000">
                  <a:schemeClr val="folHlink">
                    <a:gamma/>
                    <a:shade val="3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2" name="AutoShape 26"/>
            <p:cNvSpPr>
              <a:spLocks noChangeArrowheads="1"/>
            </p:cNvSpPr>
            <p:nvPr/>
          </p:nvSpPr>
          <p:spPr bwMode="auto">
            <a:xfrm>
              <a:off x="1200" y="1440"/>
              <a:ext cx="288" cy="9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26275"/>
                    <a:invGamma/>
                  </a:schemeClr>
                </a:gs>
                <a:gs pos="50000">
                  <a:schemeClr val="folHlink">
                    <a:alpha val="0"/>
                  </a:schemeClr>
                </a:gs>
                <a:gs pos="100000">
                  <a:schemeClr val="folHlink">
                    <a:gamma/>
                    <a:shade val="2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203" name="Line 27"/>
          <p:cNvSpPr>
            <a:spLocks noChangeShapeType="1"/>
          </p:cNvSpPr>
          <p:nvPr/>
        </p:nvSpPr>
        <p:spPr bwMode="auto">
          <a:xfrm flipH="1">
            <a:off x="3978275" y="2444750"/>
            <a:ext cx="1144588" cy="1588"/>
          </a:xfrm>
          <a:prstGeom prst="line">
            <a:avLst/>
          </a:prstGeom>
          <a:noFill/>
          <a:ln w="19050">
            <a:solidFill>
              <a:srgbClr val="FF006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509588" y="523875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kumimoji="0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0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劈尖干涉的应用</a:t>
            </a:r>
          </a:p>
        </p:txBody>
      </p:sp>
      <p:grpSp>
        <p:nvGrpSpPr>
          <p:cNvPr id="50223" name="Group 47"/>
          <p:cNvGrpSpPr>
            <a:grpSpLocks/>
          </p:cNvGrpSpPr>
          <p:nvPr/>
        </p:nvGrpSpPr>
        <p:grpSpPr bwMode="auto">
          <a:xfrm>
            <a:off x="3673475" y="1758950"/>
            <a:ext cx="2514600" cy="2057400"/>
            <a:chOff x="288" y="1488"/>
            <a:chExt cx="1582" cy="1296"/>
          </a:xfrm>
        </p:grpSpPr>
        <p:sp>
          <p:nvSpPr>
            <p:cNvPr id="50224" name="Freeform 48" descr="深色上对角线"/>
            <p:cNvSpPr>
              <a:spLocks/>
            </p:cNvSpPr>
            <p:nvPr/>
          </p:nvSpPr>
          <p:spPr bwMode="auto">
            <a:xfrm>
              <a:off x="1205" y="1882"/>
              <a:ext cx="665" cy="902"/>
            </a:xfrm>
            <a:custGeom>
              <a:avLst/>
              <a:gdLst>
                <a:gd name="T0" fmla="*/ 0 w 480"/>
                <a:gd name="T1" fmla="*/ 672 h 672"/>
                <a:gd name="T2" fmla="*/ 0 w 480"/>
                <a:gd name="T3" fmla="*/ 0 h 672"/>
                <a:gd name="T4" fmla="*/ 480 w 480"/>
                <a:gd name="T5" fmla="*/ 96 h 672"/>
                <a:gd name="T6" fmla="*/ 480 w 480"/>
                <a:gd name="T7" fmla="*/ 672 h 672"/>
                <a:gd name="T8" fmla="*/ 0 w 480"/>
                <a:gd name="T9" fmla="*/ 672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672">
                  <a:moveTo>
                    <a:pt x="0" y="672"/>
                  </a:moveTo>
                  <a:lnTo>
                    <a:pt x="0" y="0"/>
                  </a:lnTo>
                  <a:lnTo>
                    <a:pt x="480" y="96"/>
                  </a:lnTo>
                  <a:lnTo>
                    <a:pt x="480" y="672"/>
                  </a:lnTo>
                  <a:lnTo>
                    <a:pt x="0" y="672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dkUpDiag">
                    <a:fgClr>
                      <a:srgbClr val="CC9900"/>
                    </a:fgClr>
                    <a:bgClr>
                      <a:srgbClr val="FFFF99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5" name="Line 49"/>
            <p:cNvSpPr>
              <a:spLocks noChangeShapeType="1"/>
            </p:cNvSpPr>
            <p:nvPr/>
          </p:nvSpPr>
          <p:spPr bwMode="auto">
            <a:xfrm flipH="1">
              <a:off x="472" y="1920"/>
              <a:ext cx="733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6" name="Line 50"/>
            <p:cNvSpPr>
              <a:spLocks noChangeShapeType="1"/>
            </p:cNvSpPr>
            <p:nvPr/>
          </p:nvSpPr>
          <p:spPr bwMode="auto">
            <a:xfrm flipH="1">
              <a:off x="472" y="1882"/>
              <a:ext cx="733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prstDash val="dash"/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27" name="Line 51"/>
            <p:cNvSpPr>
              <a:spLocks noChangeShapeType="1"/>
            </p:cNvSpPr>
            <p:nvPr/>
          </p:nvSpPr>
          <p:spPr bwMode="auto">
            <a:xfrm>
              <a:off x="624" y="1488"/>
              <a:ext cx="0" cy="394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prstDash val="dash"/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228" name="Object 52"/>
            <p:cNvGraphicFramePr>
              <a:graphicFrameLocks noChangeAspect="1"/>
            </p:cNvGraphicFramePr>
            <p:nvPr/>
          </p:nvGraphicFramePr>
          <p:xfrm>
            <a:off x="288" y="1564"/>
            <a:ext cx="3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56" name="公式" r:id="rId5" imgW="279360" imgH="253800" progId="Equation.3">
                    <p:embed/>
                  </p:oleObj>
                </mc:Choice>
                <mc:Fallback>
                  <p:oleObj name="公式" r:id="rId5" imgW="279360" imgH="253800" progId="Equation.3">
                    <p:embed/>
                    <p:pic>
                      <p:nvPicPr>
                        <p:cNvPr id="0" name="Object 5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564"/>
                          <a:ext cx="3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29" name="Freeform 53"/>
            <p:cNvSpPr>
              <a:spLocks/>
            </p:cNvSpPr>
            <p:nvPr/>
          </p:nvSpPr>
          <p:spPr bwMode="auto">
            <a:xfrm>
              <a:off x="1396" y="1812"/>
              <a:ext cx="1" cy="144"/>
            </a:xfrm>
            <a:custGeom>
              <a:avLst/>
              <a:gdLst>
                <a:gd name="T0" fmla="*/ 0 w 1"/>
                <a:gd name="T1" fmla="*/ 144 h 144"/>
                <a:gd name="T2" fmla="*/ 0 w 1"/>
                <a:gd name="T3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44">
                  <a:moveTo>
                    <a:pt x="0" y="14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30" name="Freeform 54"/>
            <p:cNvSpPr>
              <a:spLocks/>
            </p:cNvSpPr>
            <p:nvPr/>
          </p:nvSpPr>
          <p:spPr bwMode="auto">
            <a:xfrm>
              <a:off x="1731" y="1816"/>
              <a:ext cx="1" cy="167"/>
            </a:xfrm>
            <a:custGeom>
              <a:avLst/>
              <a:gdLst>
                <a:gd name="T0" fmla="*/ 0 w 1"/>
                <a:gd name="T1" fmla="*/ 167 h 167"/>
                <a:gd name="T2" fmla="*/ 1 w 1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7">
                  <a:moveTo>
                    <a:pt x="0" y="167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31" name="Object 55"/>
          <p:cNvGraphicFramePr>
            <a:graphicFrameLocks noChangeAspect="1"/>
          </p:cNvGraphicFramePr>
          <p:nvPr/>
        </p:nvGraphicFramePr>
        <p:xfrm>
          <a:off x="1062038" y="2994025"/>
          <a:ext cx="16764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7" name="公式" r:id="rId7" imgW="952200" imgH="609480" progId="Equation.3">
                  <p:embed/>
                </p:oleObj>
              </mc:Choice>
              <mc:Fallback>
                <p:oleObj name="公式" r:id="rId7" imgW="952200" imgH="60948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2994025"/>
                        <a:ext cx="16764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32" name="Group 56"/>
          <p:cNvGrpSpPr>
            <a:grpSpLocks/>
          </p:cNvGrpSpPr>
          <p:nvPr/>
        </p:nvGrpSpPr>
        <p:grpSpPr bwMode="auto">
          <a:xfrm>
            <a:off x="4664075" y="4044950"/>
            <a:ext cx="1524000" cy="1574800"/>
            <a:chOff x="912" y="2832"/>
            <a:chExt cx="1008" cy="1008"/>
          </a:xfrm>
        </p:grpSpPr>
        <p:sp>
          <p:nvSpPr>
            <p:cNvPr id="50233" name="Line 57"/>
            <p:cNvSpPr>
              <a:spLocks noChangeShapeType="1"/>
            </p:cNvSpPr>
            <p:nvPr/>
          </p:nvSpPr>
          <p:spPr bwMode="auto">
            <a:xfrm>
              <a:off x="1269" y="3840"/>
              <a:ext cx="31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0234" name="Group 58"/>
            <p:cNvGrpSpPr>
              <a:grpSpLocks/>
            </p:cNvGrpSpPr>
            <p:nvPr/>
          </p:nvGrpSpPr>
          <p:grpSpPr bwMode="auto">
            <a:xfrm>
              <a:off x="912" y="2832"/>
              <a:ext cx="1008" cy="960"/>
              <a:chOff x="912" y="2832"/>
              <a:chExt cx="1008" cy="960"/>
            </a:xfrm>
          </p:grpSpPr>
          <p:grpSp>
            <p:nvGrpSpPr>
              <p:cNvPr id="50235" name="Group 59"/>
              <p:cNvGrpSpPr>
                <a:grpSpLocks/>
              </p:cNvGrpSpPr>
              <p:nvPr/>
            </p:nvGrpSpPr>
            <p:grpSpPr bwMode="auto">
              <a:xfrm>
                <a:off x="1038" y="3006"/>
                <a:ext cx="756" cy="611"/>
                <a:chOff x="3312" y="3408"/>
                <a:chExt cx="864" cy="432"/>
              </a:xfrm>
            </p:grpSpPr>
            <p:sp>
              <p:nvSpPr>
                <p:cNvPr id="50236" name="Rectangle 60"/>
                <p:cNvSpPr>
                  <a:spLocks noChangeArrowheads="1"/>
                </p:cNvSpPr>
                <p:nvPr/>
              </p:nvSpPr>
              <p:spPr bwMode="auto">
                <a:xfrm>
                  <a:off x="3312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7" name="Rectangle 61"/>
                <p:cNvSpPr>
                  <a:spLocks noChangeArrowheads="1"/>
                </p:cNvSpPr>
                <p:nvPr/>
              </p:nvSpPr>
              <p:spPr bwMode="auto">
                <a:xfrm>
                  <a:off x="3408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8" name="Rectangle 62"/>
                <p:cNvSpPr>
                  <a:spLocks noChangeArrowheads="1"/>
                </p:cNvSpPr>
                <p:nvPr/>
              </p:nvSpPr>
              <p:spPr bwMode="auto">
                <a:xfrm>
                  <a:off x="3504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39" name="Rectangle 63"/>
                <p:cNvSpPr>
                  <a:spLocks noChangeArrowheads="1"/>
                </p:cNvSpPr>
                <p:nvPr/>
              </p:nvSpPr>
              <p:spPr bwMode="auto">
                <a:xfrm>
                  <a:off x="3600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40" name="Rectangle 64"/>
                <p:cNvSpPr>
                  <a:spLocks noChangeArrowheads="1"/>
                </p:cNvSpPr>
                <p:nvPr/>
              </p:nvSpPr>
              <p:spPr bwMode="auto">
                <a:xfrm>
                  <a:off x="3696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41" name="Rectangle 65"/>
                <p:cNvSpPr>
                  <a:spLocks noChangeArrowheads="1"/>
                </p:cNvSpPr>
                <p:nvPr/>
              </p:nvSpPr>
              <p:spPr bwMode="auto">
                <a:xfrm>
                  <a:off x="3792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42" name="Rectangle 66"/>
                <p:cNvSpPr>
                  <a:spLocks noChangeArrowheads="1"/>
                </p:cNvSpPr>
                <p:nvPr/>
              </p:nvSpPr>
              <p:spPr bwMode="auto">
                <a:xfrm>
                  <a:off x="3888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43" name="Rectangle 67"/>
                <p:cNvSpPr>
                  <a:spLocks noChangeArrowheads="1"/>
                </p:cNvSpPr>
                <p:nvPr/>
              </p:nvSpPr>
              <p:spPr bwMode="auto">
                <a:xfrm>
                  <a:off x="3984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244" name="Rectangle 68"/>
                <p:cNvSpPr>
                  <a:spLocks noChangeArrowheads="1"/>
                </p:cNvSpPr>
                <p:nvPr/>
              </p:nvSpPr>
              <p:spPr bwMode="auto">
                <a:xfrm>
                  <a:off x="4080" y="3408"/>
                  <a:ext cx="96" cy="43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>
                        <a:gamma/>
                        <a:shade val="26275"/>
                        <a:invGamma/>
                      </a:srgbClr>
                    </a:gs>
                    <a:gs pos="50000">
                      <a:srgbClr val="FFFF99"/>
                    </a:gs>
                    <a:gs pos="100000">
                      <a:srgbClr val="FFFF99">
                        <a:gamma/>
                        <a:shade val="26275"/>
                        <a:invGamma/>
                      </a:srgb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245" name="Line 69"/>
              <p:cNvSpPr>
                <a:spLocks noChangeShapeType="1"/>
              </p:cNvSpPr>
              <p:nvPr/>
            </p:nvSpPr>
            <p:spPr bwMode="auto">
              <a:xfrm>
                <a:off x="1133" y="3355"/>
                <a:ext cx="59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46" name="Line 70"/>
              <p:cNvSpPr>
                <a:spLocks noChangeShapeType="1"/>
              </p:cNvSpPr>
              <p:nvPr/>
            </p:nvSpPr>
            <p:spPr bwMode="auto">
              <a:xfrm flipV="1">
                <a:off x="1416" y="3152"/>
                <a:ext cx="0" cy="40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247" name="AutoShape 71"/>
              <p:cNvSpPr>
                <a:spLocks noChangeArrowheads="1"/>
              </p:cNvSpPr>
              <p:nvPr/>
            </p:nvSpPr>
            <p:spPr bwMode="auto">
              <a:xfrm>
                <a:off x="912" y="2832"/>
                <a:ext cx="1008" cy="960"/>
              </a:xfrm>
              <a:custGeom>
                <a:avLst/>
                <a:gdLst>
                  <a:gd name="G0" fmla="+- 4221 0 0"/>
                  <a:gd name="G1" fmla="+- 21600 0 4221"/>
                  <a:gd name="G2" fmla="+- 21600 0 422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221" y="10800"/>
                    </a:moveTo>
                    <a:cubicBezTo>
                      <a:pt x="4221" y="14433"/>
                      <a:pt x="7167" y="17379"/>
                      <a:pt x="10800" y="17379"/>
                    </a:cubicBezTo>
                    <a:cubicBezTo>
                      <a:pt x="14433" y="17379"/>
                      <a:pt x="17379" y="14433"/>
                      <a:pt x="17379" y="10800"/>
                    </a:cubicBezTo>
                    <a:cubicBezTo>
                      <a:pt x="17379" y="7167"/>
                      <a:pt x="14433" y="4221"/>
                      <a:pt x="10800" y="4221"/>
                    </a:cubicBezTo>
                    <a:cubicBezTo>
                      <a:pt x="7167" y="4221"/>
                      <a:pt x="4221" y="7167"/>
                      <a:pt x="4221" y="108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8798B-375F-4F97-A5AB-2759E443A8C1}" type="slidenum">
              <a:rPr lang="en-US" altLang="zh-CN"/>
              <a:pPr/>
              <a:t>10</a:t>
            </a:fld>
            <a:endParaRPr lang="en-US" altLang="zh-CN"/>
          </a:p>
        </p:txBody>
      </p:sp>
      <p:graphicFrame>
        <p:nvGraphicFramePr>
          <p:cNvPr id="68622" name="Object 14"/>
          <p:cNvGraphicFramePr>
            <a:graphicFrameLocks noChangeAspect="1"/>
          </p:cNvGraphicFramePr>
          <p:nvPr/>
        </p:nvGraphicFramePr>
        <p:xfrm>
          <a:off x="3051175" y="5049838"/>
          <a:ext cx="18288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3" name="公式" r:id="rId3" imgW="990360" imgH="672840" progId="Equation.3">
                  <p:embed/>
                </p:oleObj>
              </mc:Choice>
              <mc:Fallback>
                <p:oleObj name="公式" r:id="rId3" imgW="990360" imgH="6728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5049838"/>
                        <a:ext cx="18288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1285875" y="1352550"/>
            <a:ext cx="6375400" cy="3530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3" name="Freeform 5" descr="70%"/>
          <p:cNvSpPr>
            <a:spLocks/>
          </p:cNvSpPr>
          <p:nvPr/>
        </p:nvSpPr>
        <p:spPr bwMode="auto">
          <a:xfrm flipH="1">
            <a:off x="2197100" y="2435225"/>
            <a:ext cx="4868863" cy="504825"/>
          </a:xfrm>
          <a:custGeom>
            <a:avLst/>
            <a:gdLst>
              <a:gd name="T0" fmla="*/ 0 w 2016"/>
              <a:gd name="T1" fmla="*/ 192 h 192"/>
              <a:gd name="T2" fmla="*/ 2016 w 2016"/>
              <a:gd name="T3" fmla="*/ 192 h 192"/>
              <a:gd name="T4" fmla="*/ 672 w 2016"/>
              <a:gd name="T5" fmla="*/ 0 h 192"/>
              <a:gd name="T6" fmla="*/ 0 w 2016"/>
              <a:gd name="T7" fmla="*/ 0 h 192"/>
              <a:gd name="T8" fmla="*/ 0 w 2016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16" h="192">
                <a:moveTo>
                  <a:pt x="0" y="192"/>
                </a:moveTo>
                <a:lnTo>
                  <a:pt x="2016" y="192"/>
                </a:lnTo>
                <a:lnTo>
                  <a:pt x="672" y="0"/>
                </a:lnTo>
                <a:lnTo>
                  <a:pt x="0" y="0"/>
                </a:lnTo>
                <a:lnTo>
                  <a:pt x="0" y="192"/>
                </a:lnTo>
                <a:close/>
              </a:path>
            </a:pathLst>
          </a:custGeom>
          <a:pattFill prst="pct70">
            <a:fgClr>
              <a:srgbClr val="66CCFF"/>
            </a:fgClr>
            <a:bgClr>
              <a:srgbClr val="FFFFFF"/>
            </a:bgClr>
          </a:pattFill>
          <a:ln w="9525" cap="flat" cmpd="sng">
            <a:solidFill>
              <a:srgbClr val="CC00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92163" y="593725"/>
            <a:ext cx="637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41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006600"/>
                </a:solidFill>
              </a:rPr>
              <a:t>(2)  </a:t>
            </a:r>
            <a:r>
              <a:rPr kumimoji="0" lang="zh-CN" altLang="en-US">
                <a:solidFill>
                  <a:srgbClr val="006600"/>
                </a:solidFill>
              </a:rPr>
              <a:t>测膜厚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2197100" y="2940050"/>
            <a:ext cx="4868863" cy="630238"/>
          </a:xfrm>
          <a:prstGeom prst="rect">
            <a:avLst/>
          </a:prstGeom>
          <a:solidFill>
            <a:srgbClr val="ADFFEF">
              <a:alpha val="50000"/>
            </a:srgbClr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3660775" y="3060700"/>
          <a:ext cx="5064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4" name="Equation" r:id="rId5" imgW="190440" imgH="177480" progId="Equation.3">
                  <p:embed/>
                </p:oleObj>
              </mc:Choice>
              <mc:Fallback>
                <p:oleObj name="Equation" r:id="rId5" imgW="190440" imgH="177480" progId="Equation.3">
                  <p:embed/>
                  <p:pic>
                    <p:nvPicPr>
                      <p:cNvPr id="0" name="Object 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3060700"/>
                        <a:ext cx="5064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Line 9"/>
          <p:cNvSpPr>
            <a:spLocks noChangeShapeType="1"/>
          </p:cNvSpPr>
          <p:nvPr/>
        </p:nvSpPr>
        <p:spPr bwMode="auto">
          <a:xfrm>
            <a:off x="6718300" y="2395538"/>
            <a:ext cx="0" cy="5810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6745288" y="2395538"/>
          <a:ext cx="4365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5" name="公式" r:id="rId7" imgW="152280" imgH="190440" progId="Equation.3">
                  <p:embed/>
                </p:oleObj>
              </mc:Choice>
              <mc:Fallback>
                <p:oleObj name="公式" r:id="rId7" imgW="152280" imgH="190440" progId="Equation.3">
                  <p:embed/>
                  <p:pic>
                    <p:nvPicPr>
                      <p:cNvPr id="0" name="Object 1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2395538"/>
                        <a:ext cx="4365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2357438" y="2279650"/>
          <a:ext cx="38258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6" name="公式" r:id="rId9" imgW="215640" imgH="317160" progId="Equation.3">
                  <p:embed/>
                </p:oleObj>
              </mc:Choice>
              <mc:Fallback>
                <p:oleObj name="公式" r:id="rId9" imgW="215640" imgH="317160" progId="Equation.3">
                  <p:embed/>
                  <p:pic>
                    <p:nvPicPr>
                      <p:cNvPr id="0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2279650"/>
                        <a:ext cx="382587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2322513" y="2932113"/>
          <a:ext cx="45402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7" name="公式" r:id="rId11" imgW="241200" imgH="317160" progId="Equation.3">
                  <p:embed/>
                </p:oleObj>
              </mc:Choice>
              <mc:Fallback>
                <p:oleObj name="公式" r:id="rId11" imgW="241200" imgH="317160" progId="Equation.3">
                  <p:embed/>
                  <p:pic>
                    <p:nvPicPr>
                      <p:cNvPr id="0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2932113"/>
                        <a:ext cx="45402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/>
        </p:nvGraphicFramePr>
        <p:xfrm>
          <a:off x="5353050" y="2432050"/>
          <a:ext cx="7858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58" name="Equation" r:id="rId13" imgW="342720" imgH="215640" progId="Equation.3">
                  <p:embed/>
                </p:oleObj>
              </mc:Choice>
              <mc:Fallback>
                <p:oleObj name="Equation" r:id="rId13" imgW="342720" imgH="215640" progId="Equation.3">
                  <p:embed/>
                  <p:pic>
                    <p:nvPicPr>
                      <p:cNvPr id="0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050" y="2432050"/>
                        <a:ext cx="7858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3" name="Line 15"/>
          <p:cNvSpPr>
            <a:spLocks noChangeShapeType="1"/>
          </p:cNvSpPr>
          <p:nvPr/>
        </p:nvSpPr>
        <p:spPr bwMode="auto">
          <a:xfrm>
            <a:off x="4283075" y="1584325"/>
            <a:ext cx="0" cy="13795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24" name="Line 16"/>
          <p:cNvSpPr>
            <a:spLocks noChangeShapeType="1"/>
          </p:cNvSpPr>
          <p:nvPr/>
        </p:nvSpPr>
        <p:spPr bwMode="auto">
          <a:xfrm flipV="1">
            <a:off x="4748213" y="1700213"/>
            <a:ext cx="0" cy="126365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8625" name="Group 17"/>
          <p:cNvGrpSpPr>
            <a:grpSpLocks/>
          </p:cNvGrpSpPr>
          <p:nvPr/>
        </p:nvGrpSpPr>
        <p:grpSpPr bwMode="auto">
          <a:xfrm>
            <a:off x="1943100" y="3903663"/>
            <a:ext cx="5122863" cy="695325"/>
            <a:chOff x="3207" y="2016"/>
            <a:chExt cx="2121" cy="288"/>
          </a:xfrm>
        </p:grpSpPr>
        <p:grpSp>
          <p:nvGrpSpPr>
            <p:cNvPr id="68626" name="Group 18"/>
            <p:cNvGrpSpPr>
              <a:grpSpLocks/>
            </p:cNvGrpSpPr>
            <p:nvPr/>
          </p:nvGrpSpPr>
          <p:grpSpPr bwMode="auto">
            <a:xfrm>
              <a:off x="3207" y="2016"/>
              <a:ext cx="1572" cy="288"/>
              <a:chOff x="3212" y="2016"/>
              <a:chExt cx="1572" cy="288"/>
            </a:xfrm>
          </p:grpSpPr>
          <p:sp>
            <p:nvSpPr>
              <p:cNvPr id="68627" name="Rectangle 19"/>
              <p:cNvSpPr>
                <a:spLocks noChangeArrowheads="1"/>
              </p:cNvSpPr>
              <p:nvPr/>
            </p:nvSpPr>
            <p:spPr bwMode="auto">
              <a:xfrm flipH="1">
                <a:off x="4331" y="2016"/>
                <a:ext cx="152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28" name="Rectangle 20"/>
              <p:cNvSpPr>
                <a:spLocks noChangeArrowheads="1"/>
              </p:cNvSpPr>
              <p:nvPr/>
            </p:nvSpPr>
            <p:spPr bwMode="auto">
              <a:xfrm flipH="1">
                <a:off x="4176" y="2016"/>
                <a:ext cx="155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29" name="Rectangle 21"/>
              <p:cNvSpPr>
                <a:spLocks noChangeArrowheads="1"/>
              </p:cNvSpPr>
              <p:nvPr/>
            </p:nvSpPr>
            <p:spPr bwMode="auto">
              <a:xfrm flipH="1">
                <a:off x="4023" y="2016"/>
                <a:ext cx="153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0" name="Rectangle 22"/>
              <p:cNvSpPr>
                <a:spLocks noChangeArrowheads="1"/>
              </p:cNvSpPr>
              <p:nvPr/>
            </p:nvSpPr>
            <p:spPr bwMode="auto">
              <a:xfrm flipH="1">
                <a:off x="3870" y="2016"/>
                <a:ext cx="153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1" name="Rectangle 23"/>
              <p:cNvSpPr>
                <a:spLocks noChangeArrowheads="1"/>
              </p:cNvSpPr>
              <p:nvPr/>
            </p:nvSpPr>
            <p:spPr bwMode="auto">
              <a:xfrm flipH="1">
                <a:off x="3717" y="2016"/>
                <a:ext cx="153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2" name="Rectangle 24"/>
              <p:cNvSpPr>
                <a:spLocks noChangeArrowheads="1"/>
              </p:cNvSpPr>
              <p:nvPr/>
            </p:nvSpPr>
            <p:spPr bwMode="auto">
              <a:xfrm flipH="1">
                <a:off x="3563" y="2016"/>
                <a:ext cx="154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3" name="Rectangle 25"/>
              <p:cNvSpPr>
                <a:spLocks noChangeArrowheads="1"/>
              </p:cNvSpPr>
              <p:nvPr/>
            </p:nvSpPr>
            <p:spPr bwMode="auto">
              <a:xfrm flipH="1">
                <a:off x="3410" y="2016"/>
                <a:ext cx="153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4" name="Rectangle 26"/>
              <p:cNvSpPr>
                <a:spLocks noChangeArrowheads="1"/>
              </p:cNvSpPr>
              <p:nvPr/>
            </p:nvSpPr>
            <p:spPr bwMode="auto">
              <a:xfrm flipH="1">
                <a:off x="3256" y="2016"/>
                <a:ext cx="154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5" name="Rectangle 27"/>
              <p:cNvSpPr>
                <a:spLocks noChangeArrowheads="1"/>
              </p:cNvSpPr>
              <p:nvPr/>
            </p:nvSpPr>
            <p:spPr bwMode="auto">
              <a:xfrm flipH="1">
                <a:off x="4483" y="2016"/>
                <a:ext cx="154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636" name="Rectangle 28"/>
              <p:cNvSpPr>
                <a:spLocks noChangeArrowheads="1"/>
              </p:cNvSpPr>
              <p:nvPr/>
            </p:nvSpPr>
            <p:spPr bwMode="auto">
              <a:xfrm flipH="1">
                <a:off x="3212" y="2016"/>
                <a:ext cx="100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637" name="Rectangle 29"/>
              <p:cNvSpPr>
                <a:spLocks noChangeArrowheads="1"/>
              </p:cNvSpPr>
              <p:nvPr/>
            </p:nvSpPr>
            <p:spPr bwMode="auto">
              <a:xfrm flipH="1">
                <a:off x="4630" y="2016"/>
                <a:ext cx="154" cy="288"/>
              </a:xfrm>
              <a:prstGeom prst="rect">
                <a:avLst/>
              </a:prstGeom>
              <a:gradFill rotWithShape="0">
                <a:gsLst>
                  <a:gs pos="0">
                    <a:srgbClr val="F2EC00">
                      <a:gamma/>
                      <a:shade val="0"/>
                      <a:invGamma/>
                    </a:srgbClr>
                  </a:gs>
                  <a:gs pos="50000">
                    <a:srgbClr val="F2EC00"/>
                  </a:gs>
                  <a:gs pos="100000">
                    <a:srgbClr val="F2EC00">
                      <a:gamma/>
                      <a:shade val="0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8638" name="Rectangle 30"/>
            <p:cNvSpPr>
              <a:spLocks noChangeArrowheads="1"/>
            </p:cNvSpPr>
            <p:nvPr/>
          </p:nvSpPr>
          <p:spPr bwMode="auto">
            <a:xfrm flipH="1">
              <a:off x="4641" y="2016"/>
              <a:ext cx="687" cy="288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00000">
                    <a:gamma/>
                    <a:tint val="6980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8639" name="Line 31"/>
          <p:cNvSpPr>
            <a:spLocks noChangeShapeType="1"/>
          </p:cNvSpPr>
          <p:nvPr/>
        </p:nvSpPr>
        <p:spPr bwMode="auto">
          <a:xfrm flipV="1">
            <a:off x="4516438" y="1700213"/>
            <a:ext cx="0" cy="915987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71DD9-AEC3-4F5D-AFF9-D209A8CA08A8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476250" y="704850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006600"/>
                </a:solidFill>
                <a:latin typeface="宋体" pitchFamily="2" charset="-122"/>
              </a:rPr>
              <a:t>(</a:t>
            </a:r>
            <a:r>
              <a:rPr kumimoji="0" lang="en-US" altLang="zh-CN">
                <a:solidFill>
                  <a:srgbClr val="006600"/>
                </a:solidFill>
              </a:rPr>
              <a:t>3</a:t>
            </a:r>
            <a:r>
              <a:rPr kumimoji="0" lang="en-US" altLang="zh-CN">
                <a:solidFill>
                  <a:srgbClr val="006600"/>
                </a:solidFill>
                <a:latin typeface="宋体" pitchFamily="2" charset="-122"/>
              </a:rPr>
              <a:t>)</a:t>
            </a:r>
            <a:r>
              <a:rPr kumimoji="0" lang="zh-CN" altLang="en-US">
                <a:solidFill>
                  <a:srgbClr val="006600"/>
                </a:solidFill>
              </a:rPr>
              <a:t>检验光学元件表面的平整度</a:t>
            </a:r>
          </a:p>
        </p:txBody>
      </p:sp>
      <p:graphicFrame>
        <p:nvGraphicFramePr>
          <p:cNvPr id="51217" name="Object 17"/>
          <p:cNvGraphicFramePr>
            <a:graphicFrameLocks noChangeAspect="1"/>
          </p:cNvGraphicFramePr>
          <p:nvPr/>
        </p:nvGraphicFramePr>
        <p:xfrm>
          <a:off x="987425" y="1985963"/>
          <a:ext cx="16287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name="公式" r:id="rId3" imgW="647640" imgH="406080" progId="Equation.3">
                  <p:embed/>
                </p:oleObj>
              </mc:Choice>
              <mc:Fallback>
                <p:oleObj name="公式" r:id="rId3" imgW="647640" imgH="4060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1985963"/>
                        <a:ext cx="16287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/>
        </p:nvGraphicFramePr>
        <p:xfrm>
          <a:off x="971550" y="3533775"/>
          <a:ext cx="188436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name="公式" r:id="rId5" imgW="749160" imgH="406080" progId="Equation.3">
                  <p:embed/>
                </p:oleObj>
              </mc:Choice>
              <mc:Fallback>
                <p:oleObj name="公式" r:id="rId5" imgW="749160" imgH="40608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33775"/>
                        <a:ext cx="188436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3203575" y="1719263"/>
            <a:ext cx="5283200" cy="37798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4" name="Oval 4" descr="深色下对角线"/>
          <p:cNvSpPr>
            <a:spLocks noChangeArrowheads="1"/>
          </p:cNvSpPr>
          <p:nvPr/>
        </p:nvSpPr>
        <p:spPr bwMode="auto">
          <a:xfrm>
            <a:off x="5845175" y="2668588"/>
            <a:ext cx="611188" cy="282575"/>
          </a:xfrm>
          <a:prstGeom prst="ellipse">
            <a:avLst/>
          </a:prstGeom>
          <a:pattFill prst="dkDnDiag">
            <a:fgClr>
              <a:srgbClr val="CC9900"/>
            </a:fgClr>
            <a:bgClr>
              <a:srgbClr val="FFFF99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3581400" y="2762250"/>
            <a:ext cx="4151313" cy="284163"/>
          </a:xfrm>
          <a:prstGeom prst="rect">
            <a:avLst/>
          </a:prstGeom>
          <a:solidFill>
            <a:srgbClr val="ADFFE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 rot="-438106">
            <a:off x="3581400" y="2197100"/>
            <a:ext cx="4151313" cy="282575"/>
          </a:xfrm>
          <a:prstGeom prst="rect">
            <a:avLst/>
          </a:prstGeom>
          <a:solidFill>
            <a:srgbClr val="00FFCC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3581400" y="2762250"/>
            <a:ext cx="22637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>
            <a:off x="3581400" y="2762250"/>
            <a:ext cx="0" cy="284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7732713" y="2762250"/>
            <a:ext cx="0" cy="2841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253" name="Group 53"/>
          <p:cNvGrpSpPr>
            <a:grpSpLocks/>
          </p:cNvGrpSpPr>
          <p:nvPr/>
        </p:nvGrpSpPr>
        <p:grpSpPr bwMode="auto">
          <a:xfrm>
            <a:off x="5938838" y="2197100"/>
            <a:ext cx="1981200" cy="942975"/>
            <a:chOff x="3741" y="1384"/>
            <a:chExt cx="1248" cy="594"/>
          </a:xfrm>
        </p:grpSpPr>
        <p:sp>
          <p:nvSpPr>
            <p:cNvPr id="51210" name="Line 10"/>
            <p:cNvSpPr>
              <a:spLocks noChangeShapeType="1"/>
            </p:cNvSpPr>
            <p:nvPr/>
          </p:nvSpPr>
          <p:spPr bwMode="auto">
            <a:xfrm>
              <a:off x="3979" y="1740"/>
              <a:ext cx="83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>
              <a:off x="3741" y="1740"/>
              <a:ext cx="124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2" name="Line 12"/>
            <p:cNvSpPr>
              <a:spLocks noChangeShapeType="1"/>
            </p:cNvSpPr>
            <p:nvPr/>
          </p:nvSpPr>
          <p:spPr bwMode="auto">
            <a:xfrm>
              <a:off x="3801" y="1681"/>
              <a:ext cx="112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13" name="Line 13"/>
            <p:cNvSpPr>
              <a:spLocks noChangeShapeType="1"/>
            </p:cNvSpPr>
            <p:nvPr/>
          </p:nvSpPr>
          <p:spPr bwMode="auto">
            <a:xfrm>
              <a:off x="4573" y="1443"/>
              <a:ext cx="0" cy="2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14" name="Object 14"/>
            <p:cNvGraphicFramePr>
              <a:graphicFrameLocks noChangeAspect="1"/>
            </p:cNvGraphicFramePr>
            <p:nvPr/>
          </p:nvGraphicFramePr>
          <p:xfrm>
            <a:off x="4573" y="1384"/>
            <a:ext cx="41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9" name="公式" r:id="rId7" imgW="304560" imgH="241200" progId="Equation.3">
                    <p:embed/>
                  </p:oleObj>
                </mc:Choice>
                <mc:Fallback>
                  <p:oleObj name="公式" r:id="rId7" imgW="304560" imgH="241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" y="1384"/>
                          <a:ext cx="41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5" name="Line 15"/>
            <p:cNvSpPr>
              <a:spLocks noChangeShapeType="1"/>
            </p:cNvSpPr>
            <p:nvPr/>
          </p:nvSpPr>
          <p:spPr bwMode="auto">
            <a:xfrm>
              <a:off x="4573" y="1740"/>
              <a:ext cx="0" cy="23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220" name="Rectangle 20"/>
          <p:cNvSpPr>
            <a:spLocks noChangeArrowheads="1"/>
          </p:cNvSpPr>
          <p:nvPr/>
        </p:nvSpPr>
        <p:spPr bwMode="auto">
          <a:xfrm>
            <a:off x="3581400" y="3235325"/>
            <a:ext cx="4151313" cy="1038225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1" name="Rectangle 21"/>
          <p:cNvSpPr>
            <a:spLocks noChangeArrowheads="1"/>
          </p:cNvSpPr>
          <p:nvPr/>
        </p:nvSpPr>
        <p:spPr bwMode="auto">
          <a:xfrm>
            <a:off x="3581400" y="3235325"/>
            <a:ext cx="250825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4084638" y="3235325"/>
            <a:ext cx="250825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4589463" y="3235325"/>
            <a:ext cx="249237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229" name="Group 29"/>
          <p:cNvGrpSpPr>
            <a:grpSpLocks/>
          </p:cNvGrpSpPr>
          <p:nvPr/>
        </p:nvGrpSpPr>
        <p:grpSpPr bwMode="auto">
          <a:xfrm>
            <a:off x="5719763" y="3235325"/>
            <a:ext cx="755650" cy="1038225"/>
            <a:chOff x="1344" y="3552"/>
            <a:chExt cx="288" cy="480"/>
          </a:xfrm>
        </p:grpSpPr>
        <p:sp>
          <p:nvSpPr>
            <p:cNvPr id="51230" name="AutoShape 30"/>
            <p:cNvSpPr>
              <a:spLocks noChangeArrowheads="1"/>
            </p:cNvSpPr>
            <p:nvPr/>
          </p:nvSpPr>
          <p:spPr bwMode="auto">
            <a:xfrm rot="5301541">
              <a:off x="1344" y="3648"/>
              <a:ext cx="288" cy="288"/>
            </a:xfrm>
            <a:custGeom>
              <a:avLst/>
              <a:gdLst>
                <a:gd name="G0" fmla="+- 5400 0 0"/>
                <a:gd name="G1" fmla="+- 11796480 0 0"/>
                <a:gd name="G2" fmla="+- 0 0 11796480"/>
                <a:gd name="T0" fmla="*/ 0 256 1"/>
                <a:gd name="T1" fmla="*/ 180 256 1"/>
                <a:gd name="G3" fmla="+- 11796480 T0 T1"/>
                <a:gd name="T2" fmla="*/ 0 256 1"/>
                <a:gd name="T3" fmla="*/ 90 256 1"/>
                <a:gd name="G4" fmla="+- 11796480 T2 T3"/>
                <a:gd name="G5" fmla="*/ G4 2 1"/>
                <a:gd name="T4" fmla="*/ 90 256 1"/>
                <a:gd name="T5" fmla="*/ 0 256 1"/>
                <a:gd name="G6" fmla="+- 11796480 T4 T5"/>
                <a:gd name="G7" fmla="*/ G6 2 1"/>
                <a:gd name="G8" fmla="abs 11796480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5400"/>
                <a:gd name="G18" fmla="*/ 5400 1 2"/>
                <a:gd name="G19" fmla="+- G18 5400 0"/>
                <a:gd name="G20" fmla="cos G19 11796480"/>
                <a:gd name="G21" fmla="sin G19 11796480"/>
                <a:gd name="G22" fmla="+- G20 10800 0"/>
                <a:gd name="G23" fmla="+- G21 10800 0"/>
                <a:gd name="G24" fmla="+- 10800 0 G20"/>
                <a:gd name="G25" fmla="+- 5400 10800 0"/>
                <a:gd name="G26" fmla="?: G9 G17 G25"/>
                <a:gd name="G27" fmla="?: G9 0 21600"/>
                <a:gd name="G28" fmla="cos 10800 11796480"/>
                <a:gd name="G29" fmla="sin 10800 11796480"/>
                <a:gd name="G30" fmla="sin 5400 11796480"/>
                <a:gd name="G31" fmla="+- G28 10800 0"/>
                <a:gd name="G32" fmla="+- G29 10800 0"/>
                <a:gd name="G33" fmla="+- G30 10800 0"/>
                <a:gd name="G34" fmla="?: G4 0 G31"/>
                <a:gd name="G35" fmla="?: 11796480 G34 0"/>
                <a:gd name="G36" fmla="?: G6 G35 G31"/>
                <a:gd name="G37" fmla="+- 21600 0 G36"/>
                <a:gd name="G38" fmla="?: G4 0 G33"/>
                <a:gd name="G39" fmla="?: 11796480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2700 w 21600"/>
                <a:gd name="T15" fmla="*/ 10800 h 21600"/>
                <a:gd name="T16" fmla="*/ 10800 w 21600"/>
                <a:gd name="T17" fmla="*/ 5400 h 21600"/>
                <a:gd name="T18" fmla="*/ 18900 w 21600"/>
                <a:gd name="T19" fmla="*/ 10800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lose/>
                </a:path>
              </a:pathLst>
            </a:custGeom>
            <a:solidFill>
              <a:srgbClr val="5A58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231" name="Group 31"/>
            <p:cNvGrpSpPr>
              <a:grpSpLocks/>
            </p:cNvGrpSpPr>
            <p:nvPr/>
          </p:nvGrpSpPr>
          <p:grpSpPr bwMode="auto">
            <a:xfrm>
              <a:off x="1488" y="3552"/>
              <a:ext cx="96" cy="480"/>
              <a:chOff x="1488" y="3552"/>
              <a:chExt cx="96" cy="480"/>
            </a:xfrm>
          </p:grpSpPr>
          <p:sp>
            <p:nvSpPr>
              <p:cNvPr id="51232" name="Rectangle 32"/>
              <p:cNvSpPr>
                <a:spLocks noChangeArrowheads="1"/>
              </p:cNvSpPr>
              <p:nvPr/>
            </p:nvSpPr>
            <p:spPr bwMode="auto">
              <a:xfrm>
                <a:off x="1488" y="3888"/>
                <a:ext cx="96" cy="144"/>
              </a:xfrm>
              <a:prstGeom prst="rect">
                <a:avLst/>
              </a:prstGeom>
              <a:solidFill>
                <a:srgbClr val="5A58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33" name="Rectangle 33"/>
              <p:cNvSpPr>
                <a:spLocks noChangeArrowheads="1"/>
              </p:cNvSpPr>
              <p:nvPr/>
            </p:nvSpPr>
            <p:spPr bwMode="auto">
              <a:xfrm>
                <a:off x="1488" y="3552"/>
                <a:ext cx="96" cy="144"/>
              </a:xfrm>
              <a:prstGeom prst="rect">
                <a:avLst/>
              </a:prstGeom>
              <a:solidFill>
                <a:srgbClr val="5A58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1234" name="Rectangle 34"/>
          <p:cNvSpPr>
            <a:spLocks noChangeArrowheads="1"/>
          </p:cNvSpPr>
          <p:nvPr/>
        </p:nvSpPr>
        <p:spPr bwMode="auto">
          <a:xfrm>
            <a:off x="5091113" y="3235325"/>
            <a:ext cx="249237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6610350" y="3235325"/>
            <a:ext cx="223838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6" name="Rectangle 36"/>
          <p:cNvSpPr>
            <a:spLocks noChangeArrowheads="1"/>
          </p:cNvSpPr>
          <p:nvPr/>
        </p:nvSpPr>
        <p:spPr bwMode="auto">
          <a:xfrm>
            <a:off x="7104063" y="3235325"/>
            <a:ext cx="254000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37" name="Rectangle 37"/>
          <p:cNvSpPr>
            <a:spLocks noChangeArrowheads="1"/>
          </p:cNvSpPr>
          <p:nvPr/>
        </p:nvSpPr>
        <p:spPr bwMode="auto">
          <a:xfrm>
            <a:off x="7607300" y="3235325"/>
            <a:ext cx="125413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255" name="Group 55"/>
          <p:cNvGrpSpPr>
            <a:grpSpLocks/>
          </p:cNvGrpSpPr>
          <p:nvPr/>
        </p:nvGrpSpPr>
        <p:grpSpPr bwMode="auto">
          <a:xfrm>
            <a:off x="5468938" y="3235325"/>
            <a:ext cx="2327275" cy="2238375"/>
            <a:chOff x="3445" y="2038"/>
            <a:chExt cx="1466" cy="1410"/>
          </a:xfrm>
        </p:grpSpPr>
        <p:sp>
          <p:nvSpPr>
            <p:cNvPr id="51239" name="Line 39"/>
            <p:cNvSpPr>
              <a:spLocks noChangeShapeType="1"/>
            </p:cNvSpPr>
            <p:nvPr/>
          </p:nvSpPr>
          <p:spPr bwMode="auto">
            <a:xfrm>
              <a:off x="3861" y="2038"/>
              <a:ext cx="0" cy="1308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0" name="Line 40"/>
            <p:cNvSpPr>
              <a:spLocks noChangeShapeType="1"/>
            </p:cNvSpPr>
            <p:nvPr/>
          </p:nvSpPr>
          <p:spPr bwMode="auto">
            <a:xfrm>
              <a:off x="3970" y="2038"/>
              <a:ext cx="0" cy="1308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1" name="Line 41"/>
            <p:cNvSpPr>
              <a:spLocks noChangeShapeType="1"/>
            </p:cNvSpPr>
            <p:nvPr/>
          </p:nvSpPr>
          <p:spPr bwMode="auto">
            <a:xfrm>
              <a:off x="3445" y="3286"/>
              <a:ext cx="405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2" name="Line 42"/>
            <p:cNvSpPr>
              <a:spLocks noChangeShapeType="1"/>
            </p:cNvSpPr>
            <p:nvPr/>
          </p:nvSpPr>
          <p:spPr bwMode="auto">
            <a:xfrm>
              <a:off x="3980" y="3286"/>
              <a:ext cx="403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3" name="Line 43"/>
            <p:cNvSpPr>
              <a:spLocks noChangeShapeType="1"/>
            </p:cNvSpPr>
            <p:nvPr/>
          </p:nvSpPr>
          <p:spPr bwMode="auto">
            <a:xfrm>
              <a:off x="4167" y="2038"/>
              <a:ext cx="0" cy="13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4" name="Line 44"/>
            <p:cNvSpPr>
              <a:spLocks noChangeShapeType="1"/>
            </p:cNvSpPr>
            <p:nvPr/>
          </p:nvSpPr>
          <p:spPr bwMode="auto">
            <a:xfrm>
              <a:off x="3850" y="2038"/>
              <a:ext cx="0" cy="13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5" name="Line 45"/>
            <p:cNvSpPr>
              <a:spLocks noChangeShapeType="1"/>
            </p:cNvSpPr>
            <p:nvPr/>
          </p:nvSpPr>
          <p:spPr bwMode="auto">
            <a:xfrm>
              <a:off x="3445" y="2930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6" name="Line 46"/>
            <p:cNvSpPr>
              <a:spLocks noChangeShapeType="1"/>
            </p:cNvSpPr>
            <p:nvPr/>
          </p:nvSpPr>
          <p:spPr bwMode="auto">
            <a:xfrm>
              <a:off x="4173" y="2930"/>
              <a:ext cx="40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247" name="Object 47"/>
            <p:cNvGraphicFramePr>
              <a:graphicFrameLocks noChangeAspect="1"/>
            </p:cNvGraphicFramePr>
            <p:nvPr/>
          </p:nvGraphicFramePr>
          <p:xfrm>
            <a:off x="4612" y="2801"/>
            <a:ext cx="299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0" name="公式" r:id="rId9" imgW="126720" imgH="177480" progId="Equation.3">
                    <p:embed/>
                  </p:oleObj>
                </mc:Choice>
                <mc:Fallback>
                  <p:oleObj name="公式" r:id="rId9" imgW="126720" imgH="17748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" y="2801"/>
                          <a:ext cx="299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8" name="Object 48"/>
            <p:cNvGraphicFramePr>
              <a:graphicFrameLocks noChangeAspect="1"/>
            </p:cNvGraphicFramePr>
            <p:nvPr/>
          </p:nvGraphicFramePr>
          <p:xfrm>
            <a:off x="4394" y="3151"/>
            <a:ext cx="23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1" name="公式" r:id="rId11" imgW="152280" imgH="177480" progId="Equation.3">
                    <p:embed/>
                  </p:oleObj>
                </mc:Choice>
                <mc:Fallback>
                  <p:oleObj name="公式" r:id="rId11" imgW="152280" imgH="17748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4" y="3151"/>
                          <a:ext cx="23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49" name="Line 49"/>
          <p:cNvSpPr>
            <a:spLocks noChangeShapeType="1"/>
          </p:cNvSpPr>
          <p:nvPr/>
        </p:nvSpPr>
        <p:spPr bwMode="auto">
          <a:xfrm>
            <a:off x="3581400" y="3046413"/>
            <a:ext cx="41513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52" name="Rectangle 52"/>
          <p:cNvSpPr>
            <a:spLocks noChangeArrowheads="1"/>
          </p:cNvSpPr>
          <p:nvPr/>
        </p:nvSpPr>
        <p:spPr bwMode="auto">
          <a:xfrm>
            <a:off x="5602288" y="3235325"/>
            <a:ext cx="249237" cy="1038225"/>
          </a:xfrm>
          <a:prstGeom prst="rect">
            <a:avLst/>
          </a:prstGeom>
          <a:solidFill>
            <a:srgbClr val="5A58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245F3-7738-4899-84A5-FEF1893BEF43}" type="slidenum">
              <a:rPr lang="en-US" altLang="zh-CN"/>
              <a:pPr/>
              <a:t>12</a:t>
            </a:fld>
            <a:endParaRPr lang="en-US" altLang="zh-CN"/>
          </a:p>
        </p:txBody>
      </p:sp>
      <p:grpSp>
        <p:nvGrpSpPr>
          <p:cNvPr id="53277" name="Group 29"/>
          <p:cNvGrpSpPr>
            <a:grpSpLocks/>
          </p:cNvGrpSpPr>
          <p:nvPr/>
        </p:nvGrpSpPr>
        <p:grpSpPr bwMode="auto">
          <a:xfrm>
            <a:off x="492125" y="614363"/>
            <a:ext cx="8489950" cy="519112"/>
            <a:chOff x="291" y="285"/>
            <a:chExt cx="5348" cy="327"/>
          </a:xfrm>
        </p:grpSpPr>
        <p:sp>
          <p:nvSpPr>
            <p:cNvPr id="53250" name="Rectangle 2"/>
            <p:cNvSpPr>
              <a:spLocks noChangeArrowheads="1"/>
            </p:cNvSpPr>
            <p:nvPr/>
          </p:nvSpPr>
          <p:spPr bwMode="auto">
            <a:xfrm>
              <a:off x="291" y="285"/>
              <a:ext cx="2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Bookman Old Style" pitchFamily="18" charset="0"/>
                </a:rPr>
                <a:t>二、牛顿环</a:t>
              </a:r>
            </a:p>
          </p:txBody>
        </p:sp>
        <p:sp>
          <p:nvSpPr>
            <p:cNvPr id="53251" name="Text Box 3"/>
            <p:cNvSpPr txBox="1">
              <a:spLocks noChangeArrowheads="1"/>
            </p:cNvSpPr>
            <p:nvPr/>
          </p:nvSpPr>
          <p:spPr bwMode="auto">
            <a:xfrm>
              <a:off x="1491" y="285"/>
              <a:ext cx="41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8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由一块平板玻璃和一平凸透镜组成</a:t>
              </a:r>
            </a:p>
          </p:txBody>
        </p:sp>
      </p:grpSp>
      <p:grpSp>
        <p:nvGrpSpPr>
          <p:cNvPr id="53252" name="Group 4"/>
          <p:cNvGrpSpPr>
            <a:grpSpLocks/>
          </p:cNvGrpSpPr>
          <p:nvPr/>
        </p:nvGrpSpPr>
        <p:grpSpPr bwMode="auto">
          <a:xfrm>
            <a:off x="977900" y="1493838"/>
            <a:ext cx="7419975" cy="3571875"/>
            <a:chOff x="432" y="1104"/>
            <a:chExt cx="4944" cy="2256"/>
          </a:xfrm>
        </p:grpSpPr>
        <p:sp>
          <p:nvSpPr>
            <p:cNvPr id="53253" name="Rectangle 5"/>
            <p:cNvSpPr>
              <a:spLocks noChangeArrowheads="1"/>
            </p:cNvSpPr>
            <p:nvPr/>
          </p:nvSpPr>
          <p:spPr bwMode="auto">
            <a:xfrm>
              <a:off x="432" y="1104"/>
              <a:ext cx="4944" cy="2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54" name="Rectangle 6"/>
            <p:cNvSpPr>
              <a:spLocks noChangeArrowheads="1"/>
            </p:cNvSpPr>
            <p:nvPr/>
          </p:nvSpPr>
          <p:spPr bwMode="auto">
            <a:xfrm>
              <a:off x="816" y="2880"/>
              <a:ext cx="3936" cy="371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255" name="Group 7"/>
            <p:cNvGrpSpPr>
              <a:grpSpLocks/>
            </p:cNvGrpSpPr>
            <p:nvPr/>
          </p:nvGrpSpPr>
          <p:grpSpPr bwMode="auto">
            <a:xfrm>
              <a:off x="1295" y="1440"/>
              <a:ext cx="3121" cy="890"/>
              <a:chOff x="1295" y="1584"/>
              <a:chExt cx="3073" cy="746"/>
            </a:xfrm>
          </p:grpSpPr>
          <p:sp>
            <p:nvSpPr>
              <p:cNvPr id="53256" name="Line 8"/>
              <p:cNvSpPr>
                <a:spLocks noChangeShapeType="1"/>
              </p:cNvSpPr>
              <p:nvPr/>
            </p:nvSpPr>
            <p:spPr bwMode="auto">
              <a:xfrm>
                <a:off x="1807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7" name="Line 9"/>
              <p:cNvSpPr>
                <a:spLocks noChangeShapeType="1"/>
              </p:cNvSpPr>
              <p:nvPr/>
            </p:nvSpPr>
            <p:spPr bwMode="auto">
              <a:xfrm>
                <a:off x="1295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8" name="Line 10"/>
              <p:cNvSpPr>
                <a:spLocks noChangeShapeType="1"/>
              </p:cNvSpPr>
              <p:nvPr/>
            </p:nvSpPr>
            <p:spPr bwMode="auto">
              <a:xfrm>
                <a:off x="2319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>
                <a:off x="3344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0" name="Line 12"/>
              <p:cNvSpPr>
                <a:spLocks noChangeShapeType="1"/>
              </p:cNvSpPr>
              <p:nvPr/>
            </p:nvSpPr>
            <p:spPr bwMode="auto">
              <a:xfrm>
                <a:off x="4368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1" name="Line 13"/>
              <p:cNvSpPr>
                <a:spLocks noChangeShapeType="1"/>
              </p:cNvSpPr>
              <p:nvPr/>
            </p:nvSpPr>
            <p:spPr bwMode="auto">
              <a:xfrm>
                <a:off x="2832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2" name="Line 14"/>
              <p:cNvSpPr>
                <a:spLocks noChangeShapeType="1"/>
              </p:cNvSpPr>
              <p:nvPr/>
            </p:nvSpPr>
            <p:spPr bwMode="auto">
              <a:xfrm>
                <a:off x="3855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3263" name="Group 15"/>
          <p:cNvGrpSpPr>
            <a:grpSpLocks/>
          </p:cNvGrpSpPr>
          <p:nvPr/>
        </p:nvGrpSpPr>
        <p:grpSpPr bwMode="auto">
          <a:xfrm>
            <a:off x="6389688" y="3656013"/>
            <a:ext cx="1917700" cy="1122362"/>
            <a:chOff x="3840" y="2448"/>
            <a:chExt cx="1408" cy="768"/>
          </a:xfrm>
        </p:grpSpPr>
        <p:sp>
          <p:nvSpPr>
            <p:cNvPr id="53264" name="Line 16"/>
            <p:cNvSpPr>
              <a:spLocks noChangeShapeType="1"/>
            </p:cNvSpPr>
            <p:nvPr/>
          </p:nvSpPr>
          <p:spPr bwMode="auto">
            <a:xfrm>
              <a:off x="3888" y="2880"/>
              <a:ext cx="12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265" name="Group 17"/>
            <p:cNvGrpSpPr>
              <a:grpSpLocks/>
            </p:cNvGrpSpPr>
            <p:nvPr/>
          </p:nvGrpSpPr>
          <p:grpSpPr bwMode="auto">
            <a:xfrm>
              <a:off x="3840" y="2448"/>
              <a:ext cx="1408" cy="768"/>
              <a:chOff x="3840" y="2448"/>
              <a:chExt cx="1408" cy="768"/>
            </a:xfrm>
          </p:grpSpPr>
          <p:sp>
            <p:nvSpPr>
              <p:cNvPr id="53266" name="Line 18"/>
              <p:cNvSpPr>
                <a:spLocks noChangeShapeType="1"/>
              </p:cNvSpPr>
              <p:nvPr/>
            </p:nvSpPr>
            <p:spPr bwMode="auto">
              <a:xfrm>
                <a:off x="3840" y="2784"/>
                <a:ext cx="129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7" name="Line 19"/>
              <p:cNvSpPr>
                <a:spLocks noChangeShapeType="1"/>
              </p:cNvSpPr>
              <p:nvPr/>
            </p:nvSpPr>
            <p:spPr bwMode="auto">
              <a:xfrm>
                <a:off x="4896" y="244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268" name="Line 20"/>
              <p:cNvSpPr>
                <a:spLocks noChangeShapeType="1"/>
              </p:cNvSpPr>
              <p:nvPr/>
            </p:nvSpPr>
            <p:spPr bwMode="auto">
              <a:xfrm flipV="1">
                <a:off x="4896" y="2880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3269" name="Object 21"/>
              <p:cNvGraphicFramePr>
                <a:graphicFrameLocks noChangeAspect="1"/>
              </p:cNvGraphicFramePr>
              <p:nvPr/>
            </p:nvGraphicFramePr>
            <p:xfrm>
              <a:off x="4944" y="2448"/>
              <a:ext cx="304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284" name="公式" r:id="rId3" imgW="139680" imgH="177480" progId="Equation.3">
                      <p:embed/>
                    </p:oleObj>
                  </mc:Choice>
                  <mc:Fallback>
                    <p:oleObj name="公式" r:id="rId3" imgW="139680" imgH="17748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2448"/>
                            <a:ext cx="304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3270" name="Line 22"/>
          <p:cNvSpPr>
            <a:spLocks noChangeShapeType="1"/>
          </p:cNvSpPr>
          <p:nvPr/>
        </p:nvSpPr>
        <p:spPr bwMode="auto">
          <a:xfrm flipH="1">
            <a:off x="6197600" y="2139950"/>
            <a:ext cx="1588" cy="21510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271" name="Group 23"/>
          <p:cNvGrpSpPr>
            <a:grpSpLocks/>
          </p:cNvGrpSpPr>
          <p:nvPr/>
        </p:nvGrpSpPr>
        <p:grpSpPr bwMode="auto">
          <a:xfrm>
            <a:off x="6370638" y="1706563"/>
            <a:ext cx="142875" cy="2579687"/>
            <a:chOff x="3984" y="1152"/>
            <a:chExt cx="96" cy="1728"/>
          </a:xfrm>
        </p:grpSpPr>
        <p:sp>
          <p:nvSpPr>
            <p:cNvPr id="53272" name="Line 24"/>
            <p:cNvSpPr>
              <a:spLocks noChangeShapeType="1"/>
            </p:cNvSpPr>
            <p:nvPr/>
          </p:nvSpPr>
          <p:spPr bwMode="auto">
            <a:xfrm flipV="1">
              <a:off x="3984" y="1152"/>
              <a:ext cx="0" cy="1632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3" name="Line 25"/>
            <p:cNvSpPr>
              <a:spLocks noChangeShapeType="1"/>
            </p:cNvSpPr>
            <p:nvPr/>
          </p:nvSpPr>
          <p:spPr bwMode="auto">
            <a:xfrm flipV="1">
              <a:off x="4080" y="1152"/>
              <a:ext cx="0" cy="1728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3274" name="Object 26"/>
          <p:cNvGraphicFramePr>
            <a:graphicFrameLocks noChangeAspect="1"/>
          </p:cNvGraphicFramePr>
          <p:nvPr/>
        </p:nvGraphicFramePr>
        <p:xfrm>
          <a:off x="4141788" y="5191125"/>
          <a:ext cx="20081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name="Equation" r:id="rId5" imgW="723600" imgH="393480" progId="Equation.3">
                  <p:embed/>
                </p:oleObj>
              </mc:Choice>
              <mc:Fallback>
                <p:oleObj name="Equation" r:id="rId5" imgW="723600" imgH="39348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5191125"/>
                        <a:ext cx="20081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FFFFCC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5" name="Text Box 27"/>
          <p:cNvSpPr txBox="1">
            <a:spLocks noChangeArrowheads="1"/>
          </p:cNvSpPr>
          <p:nvPr/>
        </p:nvSpPr>
        <p:spPr bwMode="auto">
          <a:xfrm>
            <a:off x="2051050" y="5422900"/>
            <a:ext cx="177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0000FF"/>
                </a:solidFill>
              </a:rPr>
              <a:t>光程差</a:t>
            </a:r>
          </a:p>
        </p:txBody>
      </p:sp>
      <p:sp>
        <p:nvSpPr>
          <p:cNvPr id="53276" name="AutoShape 28"/>
          <p:cNvSpPr>
            <a:spLocks noChangeArrowheads="1"/>
          </p:cNvSpPr>
          <p:nvPr/>
        </p:nvSpPr>
        <p:spPr bwMode="auto">
          <a:xfrm>
            <a:off x="1862138" y="3262313"/>
            <a:ext cx="5365750" cy="1035050"/>
          </a:xfrm>
          <a:custGeom>
            <a:avLst/>
            <a:gdLst>
              <a:gd name="G0" fmla="+- 113 0 0"/>
              <a:gd name="G1" fmla="+- 0 0 0"/>
              <a:gd name="G2" fmla="+- 0 0 0"/>
              <a:gd name="T0" fmla="*/ 0 256 1"/>
              <a:gd name="T1" fmla="*/ 180 256 1"/>
              <a:gd name="G3" fmla="+- 0 T0 T1"/>
              <a:gd name="T2" fmla="*/ 0 256 1"/>
              <a:gd name="T3" fmla="*/ 90 256 1"/>
              <a:gd name="G4" fmla="+- 0 T2 T3"/>
              <a:gd name="G5" fmla="*/ G4 2 1"/>
              <a:gd name="T4" fmla="*/ 90 256 1"/>
              <a:gd name="T5" fmla="*/ 0 256 1"/>
              <a:gd name="G6" fmla="+- 0 T4 T5"/>
              <a:gd name="G7" fmla="*/ G6 2 1"/>
              <a:gd name="G8" fmla="abs 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13"/>
              <a:gd name="G18" fmla="*/ 113 1 2"/>
              <a:gd name="G19" fmla="+- G18 5400 0"/>
              <a:gd name="G20" fmla="cos G19 0"/>
              <a:gd name="G21" fmla="sin G19 0"/>
              <a:gd name="G22" fmla="+- G20 10800 0"/>
              <a:gd name="G23" fmla="+- G21 10800 0"/>
              <a:gd name="G24" fmla="+- 10800 0 G20"/>
              <a:gd name="G25" fmla="+- 113 10800 0"/>
              <a:gd name="G26" fmla="?: G9 G17 G25"/>
              <a:gd name="G27" fmla="?: G9 0 21600"/>
              <a:gd name="G28" fmla="cos 10800 0"/>
              <a:gd name="G29" fmla="sin 10800 0"/>
              <a:gd name="G30" fmla="sin 113 0"/>
              <a:gd name="G31" fmla="+- G28 10800 0"/>
              <a:gd name="G32" fmla="+- G29 10800 0"/>
              <a:gd name="G33" fmla="+- G30 10800 0"/>
              <a:gd name="G34" fmla="?: G4 0 G31"/>
              <a:gd name="G35" fmla="?: 0 G34 0"/>
              <a:gd name="G36" fmla="?: G6 G35 G31"/>
              <a:gd name="G37" fmla="+- 21600 0 G36"/>
              <a:gd name="G38" fmla="?: G4 0 G33"/>
              <a:gd name="G39" fmla="?: 0 G38 G32"/>
              <a:gd name="G40" fmla="?: G6 G39 0"/>
              <a:gd name="G41" fmla="?: G4 G32 21600"/>
              <a:gd name="G42" fmla="?: G6 G41 G33"/>
              <a:gd name="T12" fmla="*/ 10800 w 21600"/>
              <a:gd name="T13" fmla="*/ 21600 h 21600"/>
              <a:gd name="T14" fmla="*/ 16257 w 21600"/>
              <a:gd name="T15" fmla="*/ 10800 h 21600"/>
              <a:gd name="T16" fmla="*/ 10800 w 21600"/>
              <a:gd name="T17" fmla="*/ 10913 h 21600"/>
              <a:gd name="T18" fmla="*/ 5343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913" y="10800"/>
                </a:moveTo>
                <a:cubicBezTo>
                  <a:pt x="10913" y="10862"/>
                  <a:pt x="10862" y="10913"/>
                  <a:pt x="10800" y="10913"/>
                </a:cubicBezTo>
                <a:cubicBezTo>
                  <a:pt x="10737" y="10913"/>
                  <a:pt x="10687" y="10862"/>
                  <a:pt x="10687" y="10800"/>
                </a:cubicBezTo>
                <a:lnTo>
                  <a:pt x="0" y="10800"/>
                </a:ln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lose/>
              </a:path>
            </a:pathLst>
          </a:custGeom>
          <a:solidFill>
            <a:srgbClr val="CCFF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5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0" grpId="0" animBg="1"/>
      <p:bldP spid="532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9C27-CEF0-4DD6-9631-B9D4EC6C8A14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522288" y="638175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kumimoji="0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0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牛顿环实验装置</a:t>
            </a:r>
          </a:p>
        </p:txBody>
      </p:sp>
      <p:grpSp>
        <p:nvGrpSpPr>
          <p:cNvPr id="54275" name="Group 3"/>
          <p:cNvGrpSpPr>
            <a:grpSpLocks/>
          </p:cNvGrpSpPr>
          <p:nvPr/>
        </p:nvGrpSpPr>
        <p:grpSpPr bwMode="auto">
          <a:xfrm>
            <a:off x="5638800" y="1493838"/>
            <a:ext cx="2819400" cy="4579937"/>
            <a:chOff x="3696" y="960"/>
            <a:chExt cx="1776" cy="2933"/>
          </a:xfrm>
        </p:grpSpPr>
        <p:sp>
          <p:nvSpPr>
            <p:cNvPr id="54276" name="Rectangle 4"/>
            <p:cNvSpPr>
              <a:spLocks noChangeArrowheads="1"/>
            </p:cNvSpPr>
            <p:nvPr/>
          </p:nvSpPr>
          <p:spPr bwMode="auto">
            <a:xfrm>
              <a:off x="3696" y="960"/>
              <a:ext cx="1776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77" name="Rectangle 5"/>
            <p:cNvSpPr>
              <a:spLocks noChangeArrowheads="1"/>
            </p:cNvSpPr>
            <p:nvPr/>
          </p:nvSpPr>
          <p:spPr bwMode="auto">
            <a:xfrm>
              <a:off x="3696" y="3555"/>
              <a:ext cx="1776" cy="338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alpha val="47000"/>
                  </a:schemeClr>
                </a:gs>
                <a:gs pos="50000">
                  <a:schemeClr val="bg1"/>
                </a:gs>
                <a:gs pos="100000">
                  <a:schemeClr val="accent1">
                    <a:alpha val="47000"/>
                  </a:schemeClr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牛顿环干涉图样</a:t>
              </a:r>
            </a:p>
          </p:txBody>
        </p:sp>
        <p:grpSp>
          <p:nvGrpSpPr>
            <p:cNvPr id="54278" name="Group 6"/>
            <p:cNvGrpSpPr>
              <a:grpSpLocks/>
            </p:cNvGrpSpPr>
            <p:nvPr/>
          </p:nvGrpSpPr>
          <p:grpSpPr bwMode="auto">
            <a:xfrm>
              <a:off x="3840" y="1296"/>
              <a:ext cx="1488" cy="1440"/>
              <a:chOff x="3888" y="1728"/>
              <a:chExt cx="1440" cy="1440"/>
            </a:xfrm>
          </p:grpSpPr>
          <p:sp>
            <p:nvSpPr>
              <p:cNvPr id="54279" name="Oval 7"/>
              <p:cNvSpPr>
                <a:spLocks noChangeArrowheads="1"/>
              </p:cNvSpPr>
              <p:nvPr/>
            </p:nvSpPr>
            <p:spPr bwMode="auto">
              <a:xfrm>
                <a:off x="3888" y="1728"/>
                <a:ext cx="1440" cy="144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0" name="Oval 8"/>
              <p:cNvSpPr>
                <a:spLocks noChangeArrowheads="1"/>
              </p:cNvSpPr>
              <p:nvPr/>
            </p:nvSpPr>
            <p:spPr bwMode="auto">
              <a:xfrm>
                <a:off x="3920" y="1761"/>
                <a:ext cx="1376" cy="137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1" name="Oval 9"/>
              <p:cNvSpPr>
                <a:spLocks noChangeArrowheads="1"/>
              </p:cNvSpPr>
              <p:nvPr/>
            </p:nvSpPr>
            <p:spPr bwMode="auto">
              <a:xfrm>
                <a:off x="3953" y="1793"/>
                <a:ext cx="1310" cy="131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2" name="Oval 10"/>
              <p:cNvSpPr>
                <a:spLocks noChangeArrowheads="1"/>
              </p:cNvSpPr>
              <p:nvPr/>
            </p:nvSpPr>
            <p:spPr bwMode="auto">
              <a:xfrm>
                <a:off x="3985" y="1826"/>
                <a:ext cx="1246" cy="12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3" name="Oval 11"/>
              <p:cNvSpPr>
                <a:spLocks noChangeArrowheads="1"/>
              </p:cNvSpPr>
              <p:nvPr/>
            </p:nvSpPr>
            <p:spPr bwMode="auto">
              <a:xfrm>
                <a:off x="4018" y="1858"/>
                <a:ext cx="1180" cy="11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4" name="Oval 12"/>
              <p:cNvSpPr>
                <a:spLocks noChangeArrowheads="1"/>
              </p:cNvSpPr>
              <p:nvPr/>
            </p:nvSpPr>
            <p:spPr bwMode="auto">
              <a:xfrm>
                <a:off x="4051" y="1891"/>
                <a:ext cx="1114" cy="111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5" name="Oval 13"/>
              <p:cNvSpPr>
                <a:spLocks noChangeArrowheads="1"/>
              </p:cNvSpPr>
              <p:nvPr/>
            </p:nvSpPr>
            <p:spPr bwMode="auto">
              <a:xfrm>
                <a:off x="4085" y="1925"/>
                <a:ext cx="1046" cy="104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6" name="Oval 14"/>
              <p:cNvSpPr>
                <a:spLocks noChangeArrowheads="1"/>
              </p:cNvSpPr>
              <p:nvPr/>
            </p:nvSpPr>
            <p:spPr bwMode="auto">
              <a:xfrm>
                <a:off x="4151" y="1990"/>
                <a:ext cx="914" cy="91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7" name="Oval 15"/>
              <p:cNvSpPr>
                <a:spLocks noChangeArrowheads="1"/>
              </p:cNvSpPr>
              <p:nvPr/>
            </p:nvSpPr>
            <p:spPr bwMode="auto">
              <a:xfrm>
                <a:off x="4118" y="1958"/>
                <a:ext cx="980" cy="98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8" name="Oval 16"/>
              <p:cNvSpPr>
                <a:spLocks noChangeArrowheads="1"/>
              </p:cNvSpPr>
              <p:nvPr/>
            </p:nvSpPr>
            <p:spPr bwMode="auto">
              <a:xfrm>
                <a:off x="4165" y="2006"/>
                <a:ext cx="886" cy="884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89" name="Oval 17"/>
              <p:cNvSpPr>
                <a:spLocks noChangeArrowheads="1"/>
              </p:cNvSpPr>
              <p:nvPr/>
            </p:nvSpPr>
            <p:spPr bwMode="auto">
              <a:xfrm>
                <a:off x="4216" y="2055"/>
                <a:ext cx="784" cy="78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0" name="Oval 18"/>
              <p:cNvSpPr>
                <a:spLocks noChangeArrowheads="1"/>
              </p:cNvSpPr>
              <p:nvPr/>
            </p:nvSpPr>
            <p:spPr bwMode="auto">
              <a:xfrm>
                <a:off x="4280" y="2121"/>
                <a:ext cx="656" cy="654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1" name="Oval 19"/>
              <p:cNvSpPr>
                <a:spLocks noChangeArrowheads="1"/>
              </p:cNvSpPr>
              <p:nvPr/>
            </p:nvSpPr>
            <p:spPr bwMode="auto">
              <a:xfrm>
                <a:off x="4331" y="2170"/>
                <a:ext cx="554" cy="5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2" name="Oval 20"/>
              <p:cNvSpPr>
                <a:spLocks noChangeArrowheads="1"/>
              </p:cNvSpPr>
              <p:nvPr/>
            </p:nvSpPr>
            <p:spPr bwMode="auto">
              <a:xfrm>
                <a:off x="4400" y="2239"/>
                <a:ext cx="416" cy="418"/>
              </a:xfrm>
              <a:prstGeom prst="ellipse">
                <a:avLst/>
              </a:prstGeom>
              <a:solidFill>
                <a:srgbClr val="FFCC00"/>
              </a:solidFill>
              <a:ln w="12700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293" name="Oval 21"/>
              <p:cNvSpPr>
                <a:spLocks noChangeArrowheads="1"/>
              </p:cNvSpPr>
              <p:nvPr/>
            </p:nvSpPr>
            <p:spPr bwMode="auto">
              <a:xfrm>
                <a:off x="4478" y="2318"/>
                <a:ext cx="260" cy="26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294" name="Rectangle 22"/>
          <p:cNvSpPr>
            <a:spLocks noChangeArrowheads="1"/>
          </p:cNvSpPr>
          <p:nvPr/>
        </p:nvSpPr>
        <p:spPr bwMode="auto">
          <a:xfrm>
            <a:off x="681038" y="1493838"/>
            <a:ext cx="4886325" cy="457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0" lang="zh-CN" altLang="zh-CN">
              <a:solidFill>
                <a:srgbClr val="1C1C1C"/>
              </a:solidFill>
            </a:endParaRPr>
          </a:p>
        </p:txBody>
      </p:sp>
      <p:sp>
        <p:nvSpPr>
          <p:cNvPr id="54295" name="Text Box 23"/>
          <p:cNvSpPr txBox="1">
            <a:spLocks noChangeArrowheads="1"/>
          </p:cNvSpPr>
          <p:nvPr/>
        </p:nvSpPr>
        <p:spPr bwMode="auto">
          <a:xfrm>
            <a:off x="1241425" y="1643063"/>
            <a:ext cx="2665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</a:rPr>
              <a:t>显微镜</a:t>
            </a:r>
            <a:endParaRPr kumimoji="0" lang="zh-CN" altLang="zh-CN">
              <a:solidFill>
                <a:srgbClr val="000000"/>
              </a:solidFill>
            </a:endParaRPr>
          </a:p>
        </p:txBody>
      </p:sp>
      <p:sp>
        <p:nvSpPr>
          <p:cNvPr id="54296" name="AutoShape 24"/>
          <p:cNvSpPr>
            <a:spLocks noChangeArrowheads="1"/>
          </p:cNvSpPr>
          <p:nvPr/>
        </p:nvSpPr>
        <p:spPr bwMode="auto">
          <a:xfrm>
            <a:off x="2517775" y="5084763"/>
            <a:ext cx="1814513" cy="587375"/>
          </a:xfrm>
          <a:custGeom>
            <a:avLst/>
            <a:gdLst>
              <a:gd name="G0" fmla="+- 164 0 0"/>
              <a:gd name="G1" fmla="+- 0 0 0"/>
              <a:gd name="G2" fmla="+- 0 0 0"/>
              <a:gd name="T0" fmla="*/ 0 256 1"/>
              <a:gd name="T1" fmla="*/ 180 256 1"/>
              <a:gd name="G3" fmla="+- 0 T0 T1"/>
              <a:gd name="T2" fmla="*/ 0 256 1"/>
              <a:gd name="T3" fmla="*/ 90 256 1"/>
              <a:gd name="G4" fmla="+- 0 T2 T3"/>
              <a:gd name="G5" fmla="*/ G4 2 1"/>
              <a:gd name="T4" fmla="*/ 90 256 1"/>
              <a:gd name="T5" fmla="*/ 0 256 1"/>
              <a:gd name="G6" fmla="+- 0 T4 T5"/>
              <a:gd name="G7" fmla="*/ G6 2 1"/>
              <a:gd name="G8" fmla="abs 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64"/>
              <a:gd name="G18" fmla="*/ 164 1 2"/>
              <a:gd name="G19" fmla="+- G18 5400 0"/>
              <a:gd name="G20" fmla="cos G19 0"/>
              <a:gd name="G21" fmla="sin G19 0"/>
              <a:gd name="G22" fmla="+- G20 10800 0"/>
              <a:gd name="G23" fmla="+- G21 10800 0"/>
              <a:gd name="G24" fmla="+- 10800 0 G20"/>
              <a:gd name="G25" fmla="+- 164 10800 0"/>
              <a:gd name="G26" fmla="?: G9 G17 G25"/>
              <a:gd name="G27" fmla="?: G9 0 21600"/>
              <a:gd name="G28" fmla="cos 10800 0"/>
              <a:gd name="G29" fmla="sin 10800 0"/>
              <a:gd name="G30" fmla="sin 164 0"/>
              <a:gd name="G31" fmla="+- G28 10800 0"/>
              <a:gd name="G32" fmla="+- G29 10800 0"/>
              <a:gd name="G33" fmla="+- G30 10800 0"/>
              <a:gd name="G34" fmla="?: G4 0 G31"/>
              <a:gd name="G35" fmla="?: 0 G34 0"/>
              <a:gd name="G36" fmla="?: G6 G35 G31"/>
              <a:gd name="G37" fmla="+- 21600 0 G36"/>
              <a:gd name="G38" fmla="?: G4 0 G33"/>
              <a:gd name="G39" fmla="?: 0 G38 G32"/>
              <a:gd name="G40" fmla="?: G6 G39 0"/>
              <a:gd name="G41" fmla="?: G4 G32 21600"/>
              <a:gd name="G42" fmla="?: G6 G41 G33"/>
              <a:gd name="T12" fmla="*/ 10800 w 21600"/>
              <a:gd name="T13" fmla="*/ 21600 h 21600"/>
              <a:gd name="T14" fmla="*/ 16282 w 21600"/>
              <a:gd name="T15" fmla="*/ 10800 h 21600"/>
              <a:gd name="T16" fmla="*/ 10800 w 21600"/>
              <a:gd name="T17" fmla="*/ 10964 h 21600"/>
              <a:gd name="T18" fmla="*/ 5318 w 21600"/>
              <a:gd name="T19" fmla="*/ 10800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964" y="10800"/>
                </a:moveTo>
                <a:cubicBezTo>
                  <a:pt x="10964" y="10890"/>
                  <a:pt x="10890" y="10964"/>
                  <a:pt x="10800" y="10964"/>
                </a:cubicBezTo>
                <a:cubicBezTo>
                  <a:pt x="10709" y="10964"/>
                  <a:pt x="10636" y="10890"/>
                  <a:pt x="10636" y="10800"/>
                </a:cubicBezTo>
                <a:lnTo>
                  <a:pt x="0" y="10800"/>
                </a:ln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lose/>
              </a:path>
            </a:pathLst>
          </a:cu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2198688" y="3003550"/>
            <a:ext cx="182562" cy="10668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 flipV="1">
            <a:off x="1565275" y="3197225"/>
            <a:ext cx="633413" cy="3889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1" name="Line 29"/>
          <p:cNvSpPr>
            <a:spLocks noChangeShapeType="1"/>
          </p:cNvSpPr>
          <p:nvPr/>
        </p:nvSpPr>
        <p:spPr bwMode="auto">
          <a:xfrm>
            <a:off x="1565275" y="3586163"/>
            <a:ext cx="633413" cy="290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2" name="Line 30"/>
          <p:cNvSpPr>
            <a:spLocks noChangeShapeType="1"/>
          </p:cNvSpPr>
          <p:nvPr/>
        </p:nvSpPr>
        <p:spPr bwMode="auto">
          <a:xfrm>
            <a:off x="2198688" y="3197225"/>
            <a:ext cx="8191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3" name="Rectangle 31"/>
          <p:cNvSpPr>
            <a:spLocks noChangeArrowheads="1"/>
          </p:cNvSpPr>
          <p:nvPr/>
        </p:nvSpPr>
        <p:spPr bwMode="auto">
          <a:xfrm rot="-3075295">
            <a:off x="3436144" y="2664619"/>
            <a:ext cx="107950" cy="1665288"/>
          </a:xfrm>
          <a:prstGeom prst="rect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4" name="Line 32"/>
          <p:cNvSpPr>
            <a:spLocks noChangeShapeType="1"/>
          </p:cNvSpPr>
          <p:nvPr/>
        </p:nvSpPr>
        <p:spPr bwMode="auto">
          <a:xfrm>
            <a:off x="3927475" y="2324100"/>
            <a:ext cx="0" cy="330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5" name="Line 33"/>
          <p:cNvSpPr>
            <a:spLocks noChangeShapeType="1"/>
          </p:cNvSpPr>
          <p:nvPr/>
        </p:nvSpPr>
        <p:spPr bwMode="auto">
          <a:xfrm>
            <a:off x="3017838" y="2324100"/>
            <a:ext cx="0" cy="330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6" name="Line 34"/>
          <p:cNvSpPr>
            <a:spLocks noChangeShapeType="1"/>
          </p:cNvSpPr>
          <p:nvPr/>
        </p:nvSpPr>
        <p:spPr bwMode="auto">
          <a:xfrm>
            <a:off x="2198688" y="3876675"/>
            <a:ext cx="172878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7" name="Text Box 35"/>
          <p:cNvSpPr txBox="1">
            <a:spLocks noChangeArrowheads="1"/>
          </p:cNvSpPr>
          <p:nvPr/>
        </p:nvSpPr>
        <p:spPr bwMode="auto">
          <a:xfrm>
            <a:off x="1201738" y="3294063"/>
            <a:ext cx="382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en-US">
                <a:solidFill>
                  <a:srgbClr val="000000"/>
                </a:solidFill>
              </a:rPr>
              <a:t>S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4308" name="Text Box 36"/>
          <p:cNvSpPr txBox="1">
            <a:spLocks noChangeArrowheads="1"/>
          </p:cNvSpPr>
          <p:nvPr/>
        </p:nvSpPr>
        <p:spPr bwMode="auto">
          <a:xfrm>
            <a:off x="2106613" y="2482850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54309" name="Line 37"/>
          <p:cNvSpPr>
            <a:spLocks noChangeShapeType="1"/>
          </p:cNvSpPr>
          <p:nvPr/>
        </p:nvSpPr>
        <p:spPr bwMode="auto">
          <a:xfrm>
            <a:off x="3011488" y="4264025"/>
            <a:ext cx="0" cy="6810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0" name="Line 38"/>
          <p:cNvSpPr>
            <a:spLocks noChangeShapeType="1"/>
          </p:cNvSpPr>
          <p:nvPr/>
        </p:nvSpPr>
        <p:spPr bwMode="auto">
          <a:xfrm>
            <a:off x="3916363" y="4264025"/>
            <a:ext cx="0" cy="681038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1" name="Line 39"/>
          <p:cNvSpPr>
            <a:spLocks noChangeShapeType="1"/>
          </p:cNvSpPr>
          <p:nvPr/>
        </p:nvSpPr>
        <p:spPr bwMode="auto">
          <a:xfrm>
            <a:off x="2562225" y="3197225"/>
            <a:ext cx="2730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2" name="Line 40"/>
          <p:cNvSpPr>
            <a:spLocks noChangeShapeType="1"/>
          </p:cNvSpPr>
          <p:nvPr/>
        </p:nvSpPr>
        <p:spPr bwMode="auto">
          <a:xfrm>
            <a:off x="2562225" y="3876675"/>
            <a:ext cx="2730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3" name="Freeform 41"/>
          <p:cNvSpPr>
            <a:spLocks/>
          </p:cNvSpPr>
          <p:nvPr/>
        </p:nvSpPr>
        <p:spPr bwMode="auto">
          <a:xfrm>
            <a:off x="3013075" y="2517775"/>
            <a:ext cx="12700" cy="244475"/>
          </a:xfrm>
          <a:custGeom>
            <a:avLst/>
            <a:gdLst>
              <a:gd name="T0" fmla="*/ 8 w 8"/>
              <a:gd name="T1" fmla="*/ 0 h 156"/>
              <a:gd name="T2" fmla="*/ 0 w 8"/>
              <a:gd name="T3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156">
                <a:moveTo>
                  <a:pt x="8" y="0"/>
                </a:moveTo>
                <a:lnTo>
                  <a:pt x="0" y="156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4" name="Line 42"/>
          <p:cNvSpPr>
            <a:spLocks noChangeShapeType="1"/>
          </p:cNvSpPr>
          <p:nvPr/>
        </p:nvSpPr>
        <p:spPr bwMode="auto">
          <a:xfrm>
            <a:off x="3922713" y="2517775"/>
            <a:ext cx="0" cy="2905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16" name="Rectangle 44"/>
          <p:cNvSpPr>
            <a:spLocks noChangeArrowheads="1"/>
          </p:cNvSpPr>
          <p:nvPr/>
        </p:nvSpPr>
        <p:spPr bwMode="auto">
          <a:xfrm>
            <a:off x="2517775" y="5686425"/>
            <a:ext cx="1814513" cy="166688"/>
          </a:xfrm>
          <a:prstGeom prst="rect">
            <a:avLst/>
          </a:prstGeom>
          <a:solidFill>
            <a:srgbClr val="66CCFF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4320" name="Object 48"/>
          <p:cNvGraphicFramePr>
            <a:graphicFrameLocks noChangeAspect="1"/>
          </p:cNvGraphicFramePr>
          <p:nvPr/>
        </p:nvGraphicFramePr>
        <p:xfrm>
          <a:off x="3552825" y="3932238"/>
          <a:ext cx="333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6" name="公式" r:id="rId3" imgW="215640" imgH="228600" progId="Equation.3">
                  <p:embed/>
                </p:oleObj>
              </mc:Choice>
              <mc:Fallback>
                <p:oleObj name="公式" r:id="rId3" imgW="215640" imgH="228600" progId="Equation.3">
                  <p:embed/>
                  <p:pic>
                    <p:nvPicPr>
                      <p:cNvPr id="0" name="Object 4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3932238"/>
                        <a:ext cx="3333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26" name="Text Box 54"/>
          <p:cNvSpPr txBox="1">
            <a:spLocks noChangeArrowheads="1"/>
          </p:cNvSpPr>
          <p:nvPr/>
        </p:nvSpPr>
        <p:spPr bwMode="auto">
          <a:xfrm>
            <a:off x="4160838" y="3671888"/>
            <a:ext cx="14779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000000"/>
                </a:solidFill>
              </a:rPr>
              <a:t>M </a:t>
            </a:r>
            <a:r>
              <a:rPr kumimoji="0" lang="zh-CN" altLang="en-US">
                <a:solidFill>
                  <a:srgbClr val="000000"/>
                </a:solidFill>
              </a:rPr>
              <a:t>半透半反镜</a:t>
            </a:r>
          </a:p>
        </p:txBody>
      </p:sp>
      <p:sp>
        <p:nvSpPr>
          <p:cNvPr id="54327" name="AutoShape 55"/>
          <p:cNvSpPr>
            <a:spLocks noChangeArrowheads="1"/>
          </p:cNvSpPr>
          <p:nvPr/>
        </p:nvSpPr>
        <p:spPr bwMode="auto">
          <a:xfrm>
            <a:off x="681038" y="5091113"/>
            <a:ext cx="1184275" cy="450850"/>
          </a:xfrm>
          <a:prstGeom prst="wedgeRectCallout">
            <a:avLst>
              <a:gd name="adj1" fmla="val 107551"/>
              <a:gd name="adj2" fmla="val 3958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0" lang="zh-CN" altLang="zh-CN">
              <a:solidFill>
                <a:srgbClr val="1C1C1C"/>
              </a:solidFill>
            </a:endParaRPr>
          </a:p>
        </p:txBody>
      </p:sp>
      <p:sp>
        <p:nvSpPr>
          <p:cNvPr id="54328" name="AutoShape 56"/>
          <p:cNvSpPr>
            <a:spLocks noChangeArrowheads="1"/>
          </p:cNvSpPr>
          <p:nvPr/>
        </p:nvSpPr>
        <p:spPr bwMode="auto">
          <a:xfrm>
            <a:off x="533400" y="4416425"/>
            <a:ext cx="1481138" cy="600075"/>
          </a:xfrm>
          <a:prstGeom prst="wedgeRectCallout">
            <a:avLst>
              <a:gd name="adj1" fmla="val 108750"/>
              <a:gd name="adj2" fmla="val 88801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0" lang="zh-CN" altLang="zh-CN">
              <a:solidFill>
                <a:srgbClr val="1C1C1C"/>
              </a:solidFill>
            </a:endParaRPr>
          </a:p>
        </p:txBody>
      </p:sp>
      <p:sp>
        <p:nvSpPr>
          <p:cNvPr id="54329" name="AutoShape 57"/>
          <p:cNvSpPr>
            <a:spLocks noChangeArrowheads="1"/>
          </p:cNvSpPr>
          <p:nvPr/>
        </p:nvSpPr>
        <p:spPr bwMode="auto">
          <a:xfrm>
            <a:off x="4160838" y="2543175"/>
            <a:ext cx="1554162" cy="974725"/>
          </a:xfrm>
          <a:prstGeom prst="wedgeRectCallout">
            <a:avLst>
              <a:gd name="adj1" fmla="val -58532"/>
              <a:gd name="adj2" fmla="val 85255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endParaRPr kumimoji="0" lang="zh-CN" altLang="zh-CN">
              <a:solidFill>
                <a:srgbClr val="1C1C1C"/>
              </a:solidFill>
            </a:endParaRPr>
          </a:p>
        </p:txBody>
      </p:sp>
      <p:sp>
        <p:nvSpPr>
          <p:cNvPr id="54330" name="Text Box 58"/>
          <p:cNvSpPr txBox="1">
            <a:spLocks noChangeArrowheads="1"/>
          </p:cNvSpPr>
          <p:nvPr/>
        </p:nvSpPr>
        <p:spPr bwMode="auto">
          <a:xfrm>
            <a:off x="2366963" y="1677988"/>
            <a:ext cx="1274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CN">
                <a:solidFill>
                  <a:srgbClr val="1C1C1C"/>
                </a:solidFill>
              </a:rPr>
              <a:t>T</a:t>
            </a:r>
          </a:p>
        </p:txBody>
      </p:sp>
      <p:grpSp>
        <p:nvGrpSpPr>
          <p:cNvPr id="54333" name="Group 61"/>
          <p:cNvGrpSpPr>
            <a:grpSpLocks/>
          </p:cNvGrpSpPr>
          <p:nvPr/>
        </p:nvGrpSpPr>
        <p:grpSpPr bwMode="auto">
          <a:xfrm>
            <a:off x="3175000" y="1712913"/>
            <a:ext cx="711200" cy="614362"/>
            <a:chOff x="2723" y="1222"/>
            <a:chExt cx="346" cy="400"/>
          </a:xfrm>
        </p:grpSpPr>
        <p:sp>
          <p:nvSpPr>
            <p:cNvPr id="54331" name="Rectangle 59"/>
            <p:cNvSpPr>
              <a:spLocks noChangeArrowheads="1"/>
            </p:cNvSpPr>
            <p:nvPr/>
          </p:nvSpPr>
          <p:spPr bwMode="auto">
            <a:xfrm>
              <a:off x="2723" y="1222"/>
              <a:ext cx="346" cy="287"/>
            </a:xfrm>
            <a:prstGeom prst="rect">
              <a:avLst/>
            </a:prstGeom>
            <a:gradFill rotWithShape="0">
              <a:gsLst>
                <a:gs pos="0">
                  <a:srgbClr val="C0C0C0">
                    <a:gamma/>
                    <a:shade val="36078"/>
                    <a:invGamma/>
                  </a:srgbClr>
                </a:gs>
                <a:gs pos="50000">
                  <a:srgbClr val="C0C0C0">
                    <a:alpha val="57001"/>
                  </a:srgbClr>
                </a:gs>
                <a:gs pos="100000">
                  <a:srgbClr val="C0C0C0">
                    <a:gamma/>
                    <a:shade val="36078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32" name="AutoShape 60"/>
            <p:cNvSpPr>
              <a:spLocks noChangeArrowheads="1"/>
            </p:cNvSpPr>
            <p:nvPr/>
          </p:nvSpPr>
          <p:spPr bwMode="auto">
            <a:xfrm>
              <a:off x="2724" y="1508"/>
              <a:ext cx="345" cy="114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shade val="25490"/>
                    <a:invGamma/>
                  </a:srgbClr>
                </a:gs>
                <a:gs pos="50000">
                  <a:srgbClr val="C0C0C0">
                    <a:alpha val="14999"/>
                  </a:srgbClr>
                </a:gs>
                <a:gs pos="100000">
                  <a:srgbClr val="C0C0C0">
                    <a:gamma/>
                    <a:shade val="25490"/>
                    <a:invGamma/>
                  </a:srgb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81" name="Group 85"/>
          <p:cNvGrpSpPr>
            <a:grpSpLocks/>
          </p:cNvGrpSpPr>
          <p:nvPr/>
        </p:nvGrpSpPr>
        <p:grpSpPr bwMode="auto">
          <a:xfrm>
            <a:off x="514350" y="487363"/>
            <a:ext cx="7961313" cy="1428750"/>
            <a:chOff x="324" y="298"/>
            <a:chExt cx="5015" cy="900"/>
          </a:xfrm>
        </p:grpSpPr>
        <p:sp>
          <p:nvSpPr>
            <p:cNvPr id="55332" name="AutoShape 36"/>
            <p:cNvSpPr>
              <a:spLocks/>
            </p:cNvSpPr>
            <p:nvPr/>
          </p:nvSpPr>
          <p:spPr bwMode="auto">
            <a:xfrm>
              <a:off x="2345" y="415"/>
              <a:ext cx="80" cy="570"/>
            </a:xfrm>
            <a:prstGeom prst="leftBrace">
              <a:avLst>
                <a:gd name="adj1" fmla="val 5937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5334" name="Object 38"/>
            <p:cNvGraphicFramePr>
              <a:graphicFrameLocks noChangeAspect="1"/>
            </p:cNvGraphicFramePr>
            <p:nvPr/>
          </p:nvGraphicFramePr>
          <p:xfrm>
            <a:off x="2465" y="305"/>
            <a:ext cx="150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34" name="公式" r:id="rId3" imgW="1041120" imgH="215640" progId="Equation.3">
                    <p:embed/>
                  </p:oleObj>
                </mc:Choice>
                <mc:Fallback>
                  <p:oleObj name="公式" r:id="rId3" imgW="1041120" imgH="2156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" y="305"/>
                          <a:ext cx="150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5" name="Text Box 39"/>
            <p:cNvSpPr txBox="1">
              <a:spLocks noChangeArrowheads="1"/>
            </p:cNvSpPr>
            <p:nvPr/>
          </p:nvSpPr>
          <p:spPr bwMode="auto">
            <a:xfrm>
              <a:off x="4619" y="29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/>
                <a:t>明纹</a:t>
              </a:r>
            </a:p>
          </p:txBody>
        </p:sp>
        <p:graphicFrame>
          <p:nvGraphicFramePr>
            <p:cNvPr id="55337" name="Object 41"/>
            <p:cNvGraphicFramePr>
              <a:graphicFrameLocks noChangeAspect="1"/>
            </p:cNvGraphicFramePr>
            <p:nvPr/>
          </p:nvGraphicFramePr>
          <p:xfrm>
            <a:off x="2437" y="610"/>
            <a:ext cx="2023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35" name="公式" r:id="rId5" imgW="1396800" imgH="406080" progId="Equation.3">
                    <p:embed/>
                  </p:oleObj>
                </mc:Choice>
                <mc:Fallback>
                  <p:oleObj name="公式" r:id="rId5" imgW="1396800" imgH="4060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" y="610"/>
                          <a:ext cx="2023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38" name="Rectangle 42"/>
            <p:cNvSpPr>
              <a:spLocks noChangeArrowheads="1"/>
            </p:cNvSpPr>
            <p:nvPr/>
          </p:nvSpPr>
          <p:spPr bwMode="auto">
            <a:xfrm>
              <a:off x="4619" y="740"/>
              <a:ext cx="7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暗纹</a:t>
              </a:r>
            </a:p>
          </p:txBody>
        </p:sp>
        <p:graphicFrame>
          <p:nvGraphicFramePr>
            <p:cNvPr id="55348" name="Object 52"/>
            <p:cNvGraphicFramePr>
              <a:graphicFrameLocks noChangeAspect="1"/>
            </p:cNvGraphicFramePr>
            <p:nvPr/>
          </p:nvGraphicFramePr>
          <p:xfrm>
            <a:off x="1092" y="391"/>
            <a:ext cx="1251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36" name="公式" r:id="rId7" imgW="863280" imgH="406080" progId="Equation.3">
                    <p:embed/>
                  </p:oleObj>
                </mc:Choice>
                <mc:Fallback>
                  <p:oleObj name="公式" r:id="rId7" imgW="863280" imgH="406080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391"/>
                          <a:ext cx="1251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9" name="Text Box 53"/>
            <p:cNvSpPr txBox="1">
              <a:spLocks noChangeArrowheads="1"/>
            </p:cNvSpPr>
            <p:nvPr/>
          </p:nvSpPr>
          <p:spPr bwMode="auto">
            <a:xfrm>
              <a:off x="324" y="509"/>
              <a:ext cx="1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FF"/>
                  </a:solidFill>
                </a:rPr>
                <a:t>光程差</a:t>
              </a:r>
            </a:p>
          </p:txBody>
        </p:sp>
      </p:grpSp>
      <p:grpSp>
        <p:nvGrpSpPr>
          <p:cNvPr id="55378" name="Group 82"/>
          <p:cNvGrpSpPr>
            <a:grpSpLocks/>
          </p:cNvGrpSpPr>
          <p:nvPr/>
        </p:nvGrpSpPr>
        <p:grpSpPr bwMode="auto">
          <a:xfrm>
            <a:off x="5132388" y="1820863"/>
            <a:ext cx="3703637" cy="2878137"/>
            <a:chOff x="2518" y="588"/>
            <a:chExt cx="2845" cy="2211"/>
          </a:xfrm>
        </p:grpSpPr>
        <p:grpSp>
          <p:nvGrpSpPr>
            <p:cNvPr id="55377" name="Group 81"/>
            <p:cNvGrpSpPr>
              <a:grpSpLocks/>
            </p:cNvGrpSpPr>
            <p:nvPr/>
          </p:nvGrpSpPr>
          <p:grpSpPr bwMode="auto">
            <a:xfrm>
              <a:off x="2518" y="588"/>
              <a:ext cx="2845" cy="2211"/>
              <a:chOff x="2518" y="588"/>
              <a:chExt cx="2845" cy="2211"/>
            </a:xfrm>
          </p:grpSpPr>
          <p:sp>
            <p:nvSpPr>
              <p:cNvPr id="55321" name="Rectangle 25"/>
              <p:cNvSpPr>
                <a:spLocks noChangeArrowheads="1"/>
              </p:cNvSpPr>
              <p:nvPr/>
            </p:nvSpPr>
            <p:spPr bwMode="auto">
              <a:xfrm>
                <a:off x="2518" y="2353"/>
                <a:ext cx="2554" cy="314"/>
              </a:xfrm>
              <a:prstGeom prst="rect">
                <a:avLst/>
              </a:prstGeom>
              <a:solidFill>
                <a:srgbClr val="99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27"/>
              <p:cNvSpPr>
                <a:spLocks noChangeShapeType="1"/>
              </p:cNvSpPr>
              <p:nvPr/>
            </p:nvSpPr>
            <p:spPr bwMode="auto">
              <a:xfrm>
                <a:off x="3206" y="1434"/>
                <a:ext cx="0" cy="45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Line 28"/>
              <p:cNvSpPr>
                <a:spLocks noChangeShapeType="1"/>
              </p:cNvSpPr>
              <p:nvPr/>
            </p:nvSpPr>
            <p:spPr bwMode="auto">
              <a:xfrm>
                <a:off x="2858" y="1434"/>
                <a:ext cx="0" cy="45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5" name="Line 29"/>
              <p:cNvSpPr>
                <a:spLocks noChangeShapeType="1"/>
              </p:cNvSpPr>
              <p:nvPr/>
            </p:nvSpPr>
            <p:spPr bwMode="auto">
              <a:xfrm>
                <a:off x="3553" y="1434"/>
                <a:ext cx="0" cy="455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Line 30"/>
              <p:cNvSpPr>
                <a:spLocks noChangeShapeType="1"/>
              </p:cNvSpPr>
              <p:nvPr/>
            </p:nvSpPr>
            <p:spPr bwMode="auto">
              <a:xfrm>
                <a:off x="3884" y="1427"/>
                <a:ext cx="0" cy="45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7" name="Line 31"/>
              <p:cNvSpPr>
                <a:spLocks noChangeShapeType="1"/>
              </p:cNvSpPr>
              <p:nvPr/>
            </p:nvSpPr>
            <p:spPr bwMode="auto">
              <a:xfrm>
                <a:off x="4189" y="1427"/>
                <a:ext cx="0" cy="45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32"/>
              <p:cNvSpPr>
                <a:spLocks noChangeShapeType="1"/>
              </p:cNvSpPr>
              <p:nvPr/>
            </p:nvSpPr>
            <p:spPr bwMode="auto">
              <a:xfrm>
                <a:off x="4494" y="1427"/>
                <a:ext cx="0" cy="45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9" name="Rectangle 33"/>
              <p:cNvSpPr>
                <a:spLocks noChangeArrowheads="1"/>
              </p:cNvSpPr>
              <p:nvPr/>
            </p:nvSpPr>
            <p:spPr bwMode="auto">
              <a:xfrm>
                <a:off x="4230" y="914"/>
                <a:ext cx="309" cy="3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0" lang="en-US" altLang="zh-CN" b="0" i="1">
                    <a:solidFill>
                      <a:srgbClr val="000000"/>
                    </a:solidFill>
                  </a:rPr>
                  <a:t>R</a:t>
                </a:r>
              </a:p>
            </p:txBody>
          </p:sp>
          <p:sp>
            <p:nvSpPr>
              <p:cNvPr id="55330" name="Line 34"/>
              <p:cNvSpPr>
                <a:spLocks noChangeShapeType="1"/>
              </p:cNvSpPr>
              <p:nvPr/>
            </p:nvSpPr>
            <p:spPr bwMode="auto">
              <a:xfrm>
                <a:off x="4800" y="1427"/>
                <a:ext cx="0" cy="45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5359" name="Group 63"/>
              <p:cNvGrpSpPr>
                <a:grpSpLocks/>
              </p:cNvGrpSpPr>
              <p:nvPr/>
            </p:nvGrpSpPr>
            <p:grpSpPr bwMode="auto">
              <a:xfrm>
                <a:off x="3828" y="1746"/>
                <a:ext cx="1231" cy="405"/>
                <a:chOff x="4425" y="1272"/>
                <a:chExt cx="774" cy="255"/>
              </a:xfrm>
            </p:grpSpPr>
            <p:sp>
              <p:nvSpPr>
                <p:cNvPr id="55340" name="Line 44"/>
                <p:cNvSpPr>
                  <a:spLocks noChangeShapeType="1"/>
                </p:cNvSpPr>
                <p:nvPr/>
              </p:nvSpPr>
              <p:spPr bwMode="auto">
                <a:xfrm>
                  <a:off x="4425" y="1526"/>
                  <a:ext cx="655" cy="1"/>
                </a:xfrm>
                <a:prstGeom prst="line">
                  <a:avLst/>
                </a:prstGeom>
                <a:noFill/>
                <a:ln w="28575">
                  <a:solidFill>
                    <a:srgbClr val="FF6633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41" name="Rectangle 45"/>
                <p:cNvSpPr>
                  <a:spLocks noChangeArrowheads="1"/>
                </p:cNvSpPr>
                <p:nvPr/>
              </p:nvSpPr>
              <p:spPr bwMode="auto">
                <a:xfrm>
                  <a:off x="4604" y="1272"/>
                  <a:ext cx="595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2075" tIns="46038" rIns="92075" bIns="46038">
                  <a:spAutoFit/>
                </a:bodyPr>
                <a:lstStyle/>
                <a:p>
                  <a:pPr eaLnBrk="0" hangingPunct="0"/>
                  <a:r>
                    <a:rPr kumimoji="0" lang="en-US" altLang="zh-CN" b="0" i="1">
                      <a:solidFill>
                        <a:srgbClr val="000000"/>
                      </a:solidFill>
                    </a:rPr>
                    <a:t>r</a:t>
                  </a:r>
                </a:p>
              </p:txBody>
            </p:sp>
          </p:grpSp>
          <p:grpSp>
            <p:nvGrpSpPr>
              <p:cNvPr id="55375" name="Group 79"/>
              <p:cNvGrpSpPr>
                <a:grpSpLocks/>
              </p:cNvGrpSpPr>
              <p:nvPr/>
            </p:nvGrpSpPr>
            <p:grpSpPr bwMode="auto">
              <a:xfrm>
                <a:off x="3898" y="1694"/>
                <a:ext cx="1465" cy="1105"/>
                <a:chOff x="3898" y="1694"/>
                <a:chExt cx="1465" cy="1105"/>
              </a:xfrm>
            </p:grpSpPr>
            <p:sp>
              <p:nvSpPr>
                <p:cNvPr id="55343" name="Line 47"/>
                <p:cNvSpPr>
                  <a:spLocks noChangeShapeType="1"/>
                </p:cNvSpPr>
                <p:nvPr/>
              </p:nvSpPr>
              <p:spPr bwMode="auto">
                <a:xfrm>
                  <a:off x="4951" y="2343"/>
                  <a:ext cx="41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44" name="Line 48"/>
                <p:cNvSpPr>
                  <a:spLocks noChangeShapeType="1"/>
                </p:cNvSpPr>
                <p:nvPr/>
              </p:nvSpPr>
              <p:spPr bwMode="auto">
                <a:xfrm>
                  <a:off x="3898" y="2150"/>
                  <a:ext cx="1457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dash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45" name="Line 49"/>
                <p:cNvSpPr>
                  <a:spLocks noChangeShapeType="1"/>
                </p:cNvSpPr>
                <p:nvPr/>
              </p:nvSpPr>
              <p:spPr bwMode="auto">
                <a:xfrm>
                  <a:off x="5217" y="1694"/>
                  <a:ext cx="0" cy="456"/>
                </a:xfrm>
                <a:prstGeom prst="line">
                  <a:avLst/>
                </a:prstGeom>
                <a:noFill/>
                <a:ln w="12700">
                  <a:solidFill>
                    <a:srgbClr val="FF0066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46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5217" y="2343"/>
                  <a:ext cx="0" cy="456"/>
                </a:xfrm>
                <a:prstGeom prst="line">
                  <a:avLst/>
                </a:prstGeom>
                <a:noFill/>
                <a:ln w="12700">
                  <a:solidFill>
                    <a:srgbClr val="FF0066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5374" name="Group 78"/>
              <p:cNvGrpSpPr>
                <a:grpSpLocks/>
              </p:cNvGrpSpPr>
              <p:nvPr/>
            </p:nvGrpSpPr>
            <p:grpSpPr bwMode="auto">
              <a:xfrm>
                <a:off x="2572" y="1781"/>
                <a:ext cx="2620" cy="564"/>
                <a:chOff x="2572" y="1781"/>
                <a:chExt cx="2620" cy="564"/>
              </a:xfrm>
            </p:grpSpPr>
            <p:sp>
              <p:nvSpPr>
                <p:cNvPr id="55318" name="Arc 22"/>
                <p:cNvSpPr>
                  <a:spLocks/>
                </p:cNvSpPr>
                <p:nvPr/>
              </p:nvSpPr>
              <p:spPr bwMode="auto">
                <a:xfrm>
                  <a:off x="2572" y="1781"/>
                  <a:ext cx="2620" cy="564"/>
                </a:xfrm>
                <a:custGeom>
                  <a:avLst/>
                  <a:gdLst>
                    <a:gd name="G0" fmla="+- 21600 0 0"/>
                    <a:gd name="G1" fmla="+- 163 0 0"/>
                    <a:gd name="G2" fmla="+- 21600 0 0"/>
                    <a:gd name="T0" fmla="*/ 43199 w 43200"/>
                    <a:gd name="T1" fmla="*/ 0 h 21763"/>
                    <a:gd name="T2" fmla="*/ 0 w 43200"/>
                    <a:gd name="T3" fmla="*/ 196 h 21763"/>
                    <a:gd name="T4" fmla="*/ 21600 w 43200"/>
                    <a:gd name="T5" fmla="*/ 163 h 217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3200" h="21763" fill="none" extrusionOk="0">
                      <a:moveTo>
                        <a:pt x="43199" y="-1"/>
                      </a:moveTo>
                      <a:cubicBezTo>
                        <a:pt x="43199" y="54"/>
                        <a:pt x="43200" y="108"/>
                        <a:pt x="43200" y="163"/>
                      </a:cubicBezTo>
                      <a:cubicBezTo>
                        <a:pt x="43200" y="12092"/>
                        <a:pt x="33529" y="21763"/>
                        <a:pt x="21600" y="21763"/>
                      </a:cubicBezTo>
                      <a:cubicBezTo>
                        <a:pt x="9683" y="21763"/>
                        <a:pt x="18" y="12112"/>
                        <a:pt x="0" y="195"/>
                      </a:cubicBezTo>
                    </a:path>
                    <a:path w="43200" h="21763" stroke="0" extrusionOk="0">
                      <a:moveTo>
                        <a:pt x="43199" y="-1"/>
                      </a:moveTo>
                      <a:cubicBezTo>
                        <a:pt x="43199" y="54"/>
                        <a:pt x="43200" y="108"/>
                        <a:pt x="43200" y="163"/>
                      </a:cubicBezTo>
                      <a:cubicBezTo>
                        <a:pt x="43200" y="12092"/>
                        <a:pt x="33529" y="21763"/>
                        <a:pt x="21600" y="21763"/>
                      </a:cubicBezTo>
                      <a:cubicBezTo>
                        <a:pt x="9683" y="21763"/>
                        <a:pt x="18" y="12112"/>
                        <a:pt x="0" y="195"/>
                      </a:cubicBezTo>
                      <a:lnTo>
                        <a:pt x="21600" y="163"/>
                      </a:lnTo>
                      <a:close/>
                    </a:path>
                  </a:pathLst>
                </a:custGeom>
                <a:solidFill>
                  <a:srgbClr val="99CCFF"/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350" name="Line 54"/>
                <p:cNvSpPr>
                  <a:spLocks noChangeShapeType="1"/>
                </p:cNvSpPr>
                <p:nvPr/>
              </p:nvSpPr>
              <p:spPr bwMode="auto">
                <a:xfrm>
                  <a:off x="2578" y="1791"/>
                  <a:ext cx="258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31" name="Line 35"/>
              <p:cNvSpPr>
                <a:spLocks noChangeShapeType="1"/>
              </p:cNvSpPr>
              <p:nvPr/>
            </p:nvSpPr>
            <p:spPr bwMode="auto">
              <a:xfrm flipV="1">
                <a:off x="3879" y="588"/>
                <a:ext cx="0" cy="1753"/>
              </a:xfrm>
              <a:prstGeom prst="line">
                <a:avLst/>
              </a:prstGeom>
              <a:noFill/>
              <a:ln w="19050">
                <a:solidFill>
                  <a:srgbClr val="990099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2" name="Line 26"/>
              <p:cNvSpPr>
                <a:spLocks noChangeShapeType="1"/>
              </p:cNvSpPr>
              <p:nvPr/>
            </p:nvSpPr>
            <p:spPr bwMode="auto">
              <a:xfrm>
                <a:off x="3879" y="588"/>
                <a:ext cx="1061" cy="1561"/>
              </a:xfrm>
              <a:prstGeom prst="line">
                <a:avLst/>
              </a:prstGeom>
              <a:noFill/>
              <a:ln w="19050">
                <a:solidFill>
                  <a:srgbClr val="990099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5371" name="Line 75"/>
            <p:cNvSpPr>
              <a:spLocks noChangeShapeType="1"/>
            </p:cNvSpPr>
            <p:nvPr/>
          </p:nvSpPr>
          <p:spPr bwMode="auto">
            <a:xfrm>
              <a:off x="3875" y="2147"/>
              <a:ext cx="10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5372" name="Object 76"/>
            <p:cNvGraphicFramePr>
              <a:graphicFrameLocks noChangeAspect="1"/>
            </p:cNvGraphicFramePr>
            <p:nvPr/>
          </p:nvGraphicFramePr>
          <p:xfrm>
            <a:off x="5126" y="2122"/>
            <a:ext cx="20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37" name="公式" r:id="rId9" imgW="139680" imgH="177480" progId="Equation.3">
                    <p:embed/>
                  </p:oleObj>
                </mc:Choice>
                <mc:Fallback>
                  <p:oleObj name="公式" r:id="rId9" imgW="139680" imgH="17748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6" y="2122"/>
                          <a:ext cx="20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73" name="Object 77"/>
            <p:cNvGraphicFramePr>
              <a:graphicFrameLocks noChangeAspect="1"/>
            </p:cNvGraphicFramePr>
            <p:nvPr/>
          </p:nvGraphicFramePr>
          <p:xfrm>
            <a:off x="4157" y="1967"/>
            <a:ext cx="166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38" name="公式" r:id="rId11" imgW="114120" imgH="126720" progId="Equation.3">
                    <p:embed/>
                  </p:oleObj>
                </mc:Choice>
                <mc:Fallback>
                  <p:oleObj name="公式" r:id="rId11" imgW="114120" imgH="12672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7" y="1967"/>
                          <a:ext cx="166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382" name="Group 86"/>
          <p:cNvGrpSpPr>
            <a:grpSpLocks/>
          </p:cNvGrpSpPr>
          <p:nvPr/>
        </p:nvGrpSpPr>
        <p:grpSpPr bwMode="auto">
          <a:xfrm>
            <a:off x="5975350" y="4538663"/>
            <a:ext cx="1936750" cy="1936750"/>
            <a:chOff x="3888" y="1728"/>
            <a:chExt cx="1440" cy="1440"/>
          </a:xfrm>
        </p:grpSpPr>
        <p:sp>
          <p:nvSpPr>
            <p:cNvPr id="55383" name="Oval 87"/>
            <p:cNvSpPr>
              <a:spLocks noChangeArrowheads="1"/>
            </p:cNvSpPr>
            <p:nvPr/>
          </p:nvSpPr>
          <p:spPr bwMode="auto">
            <a:xfrm>
              <a:off x="3888" y="1728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4" name="Oval 88"/>
            <p:cNvSpPr>
              <a:spLocks noChangeArrowheads="1"/>
            </p:cNvSpPr>
            <p:nvPr/>
          </p:nvSpPr>
          <p:spPr bwMode="auto">
            <a:xfrm>
              <a:off x="3920" y="1761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5" name="Oval 89"/>
            <p:cNvSpPr>
              <a:spLocks noChangeArrowheads="1"/>
            </p:cNvSpPr>
            <p:nvPr/>
          </p:nvSpPr>
          <p:spPr bwMode="auto">
            <a:xfrm>
              <a:off x="3953" y="1793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6" name="Oval 90"/>
            <p:cNvSpPr>
              <a:spLocks noChangeArrowheads="1"/>
            </p:cNvSpPr>
            <p:nvPr/>
          </p:nvSpPr>
          <p:spPr bwMode="auto">
            <a:xfrm>
              <a:off x="3985" y="1826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7" name="Oval 91"/>
            <p:cNvSpPr>
              <a:spLocks noChangeArrowheads="1"/>
            </p:cNvSpPr>
            <p:nvPr/>
          </p:nvSpPr>
          <p:spPr bwMode="auto">
            <a:xfrm>
              <a:off x="4018" y="1858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8" name="Oval 92"/>
            <p:cNvSpPr>
              <a:spLocks noChangeArrowheads="1"/>
            </p:cNvSpPr>
            <p:nvPr/>
          </p:nvSpPr>
          <p:spPr bwMode="auto">
            <a:xfrm>
              <a:off x="4051" y="1891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89" name="Oval 93"/>
            <p:cNvSpPr>
              <a:spLocks noChangeArrowheads="1"/>
            </p:cNvSpPr>
            <p:nvPr/>
          </p:nvSpPr>
          <p:spPr bwMode="auto">
            <a:xfrm>
              <a:off x="4085" y="1925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0" name="Oval 94"/>
            <p:cNvSpPr>
              <a:spLocks noChangeArrowheads="1"/>
            </p:cNvSpPr>
            <p:nvPr/>
          </p:nvSpPr>
          <p:spPr bwMode="auto">
            <a:xfrm>
              <a:off x="4151" y="1990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1" name="Oval 95"/>
            <p:cNvSpPr>
              <a:spLocks noChangeArrowheads="1"/>
            </p:cNvSpPr>
            <p:nvPr/>
          </p:nvSpPr>
          <p:spPr bwMode="auto">
            <a:xfrm>
              <a:off x="4118" y="1958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2" name="Oval 96"/>
            <p:cNvSpPr>
              <a:spLocks noChangeArrowheads="1"/>
            </p:cNvSpPr>
            <p:nvPr/>
          </p:nvSpPr>
          <p:spPr bwMode="auto">
            <a:xfrm>
              <a:off x="4165" y="2006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3" name="Oval 97"/>
            <p:cNvSpPr>
              <a:spLocks noChangeArrowheads="1"/>
            </p:cNvSpPr>
            <p:nvPr/>
          </p:nvSpPr>
          <p:spPr bwMode="auto">
            <a:xfrm>
              <a:off x="4216" y="2055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4" name="Oval 98"/>
            <p:cNvSpPr>
              <a:spLocks noChangeArrowheads="1"/>
            </p:cNvSpPr>
            <p:nvPr/>
          </p:nvSpPr>
          <p:spPr bwMode="auto">
            <a:xfrm>
              <a:off x="4280" y="2121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5" name="Oval 99"/>
            <p:cNvSpPr>
              <a:spLocks noChangeArrowheads="1"/>
            </p:cNvSpPr>
            <p:nvPr/>
          </p:nvSpPr>
          <p:spPr bwMode="auto">
            <a:xfrm>
              <a:off x="4331" y="2170"/>
              <a:ext cx="554" cy="5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6" name="Oval 100"/>
            <p:cNvSpPr>
              <a:spLocks noChangeArrowheads="1"/>
            </p:cNvSpPr>
            <p:nvPr/>
          </p:nvSpPr>
          <p:spPr bwMode="auto">
            <a:xfrm>
              <a:off x="4400" y="2239"/>
              <a:ext cx="416" cy="418"/>
            </a:xfrm>
            <a:prstGeom prst="ellipse">
              <a:avLst/>
            </a:prstGeom>
            <a:solidFill>
              <a:srgbClr val="FFCC00"/>
            </a:solidFill>
            <a:ln w="127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97" name="Oval 101"/>
            <p:cNvSpPr>
              <a:spLocks noChangeArrowheads="1"/>
            </p:cNvSpPr>
            <p:nvPr/>
          </p:nvSpPr>
          <p:spPr bwMode="auto">
            <a:xfrm>
              <a:off x="4478" y="2318"/>
              <a:ext cx="260" cy="2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5398" name="Object 102"/>
          <p:cNvGraphicFramePr>
            <a:graphicFrameLocks noChangeAspect="1"/>
          </p:cNvGraphicFramePr>
          <p:nvPr/>
        </p:nvGraphicFramePr>
        <p:xfrm>
          <a:off x="785813" y="2022475"/>
          <a:ext cx="4292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9" name="公式" r:id="rId13" imgW="1866600" imgH="228600" progId="Equation.3">
                  <p:embed/>
                </p:oleObj>
              </mc:Choice>
              <mc:Fallback>
                <p:oleObj name="公式" r:id="rId13" imgW="1866600" imgH="22860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022475"/>
                        <a:ext cx="42926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" name="Object 103"/>
          <p:cNvGraphicFramePr>
            <a:graphicFrameLocks noChangeAspect="1"/>
          </p:cNvGraphicFramePr>
          <p:nvPr/>
        </p:nvGraphicFramePr>
        <p:xfrm>
          <a:off x="757238" y="2827338"/>
          <a:ext cx="28622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40" name="公式" r:id="rId15" imgW="1244520" imgH="228600" progId="Equation.3">
                  <p:embed/>
                </p:oleObj>
              </mc:Choice>
              <mc:Fallback>
                <p:oleObj name="公式" r:id="rId15" imgW="1244520" imgH="228600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2827338"/>
                        <a:ext cx="28622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0" name="Object 104"/>
          <p:cNvGraphicFramePr>
            <a:graphicFrameLocks noChangeAspect="1"/>
          </p:cNvGraphicFramePr>
          <p:nvPr/>
        </p:nvGraphicFramePr>
        <p:xfrm>
          <a:off x="757238" y="3451225"/>
          <a:ext cx="344487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41" name="公式" r:id="rId17" imgW="1498320" imgH="444240" progId="Equation.3">
                  <p:embed/>
                </p:oleObj>
              </mc:Choice>
              <mc:Fallback>
                <p:oleObj name="公式" r:id="rId17" imgW="1498320" imgH="444240" progId="Equation.3">
                  <p:embed/>
                  <p:pic>
                    <p:nvPicPr>
                      <p:cNvPr id="0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3451225"/>
                        <a:ext cx="3444875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412" name="Group 116"/>
          <p:cNvGrpSpPr>
            <a:grpSpLocks/>
          </p:cNvGrpSpPr>
          <p:nvPr/>
        </p:nvGrpSpPr>
        <p:grpSpPr bwMode="auto">
          <a:xfrm>
            <a:off x="1285875" y="5748338"/>
            <a:ext cx="5422900" cy="592137"/>
            <a:chOff x="810" y="3621"/>
            <a:chExt cx="3416" cy="373"/>
          </a:xfrm>
        </p:grpSpPr>
        <p:graphicFrame>
          <p:nvGraphicFramePr>
            <p:cNvPr id="55404" name="Object 108"/>
            <p:cNvGraphicFramePr>
              <a:graphicFrameLocks noChangeAspect="1"/>
            </p:cNvGraphicFramePr>
            <p:nvPr/>
          </p:nvGraphicFramePr>
          <p:xfrm>
            <a:off x="810" y="3663"/>
            <a:ext cx="97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42" name="公式" r:id="rId19" imgW="672840" imgH="228600" progId="Equation.3">
                    <p:embed/>
                  </p:oleObj>
                </mc:Choice>
                <mc:Fallback>
                  <p:oleObj name="公式" r:id="rId19" imgW="672840" imgH="228600" progId="Equation.3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3663"/>
                          <a:ext cx="97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405" name="Rectangle 109"/>
            <p:cNvSpPr>
              <a:spLocks noChangeArrowheads="1"/>
            </p:cNvSpPr>
            <p:nvPr/>
          </p:nvSpPr>
          <p:spPr bwMode="auto">
            <a:xfrm>
              <a:off x="2414" y="3621"/>
              <a:ext cx="18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暗环半径</a:t>
              </a:r>
            </a:p>
          </p:txBody>
        </p:sp>
      </p:grpSp>
      <p:grpSp>
        <p:nvGrpSpPr>
          <p:cNvPr id="55413" name="Group 117"/>
          <p:cNvGrpSpPr>
            <a:grpSpLocks/>
          </p:cNvGrpSpPr>
          <p:nvPr/>
        </p:nvGrpSpPr>
        <p:grpSpPr bwMode="auto">
          <a:xfrm>
            <a:off x="727075" y="4648200"/>
            <a:ext cx="5507038" cy="1522413"/>
            <a:chOff x="458" y="2928"/>
            <a:chExt cx="3469" cy="959"/>
          </a:xfrm>
        </p:grpSpPr>
        <p:grpSp>
          <p:nvGrpSpPr>
            <p:cNvPr id="55411" name="Group 115"/>
            <p:cNvGrpSpPr>
              <a:grpSpLocks/>
            </p:cNvGrpSpPr>
            <p:nvPr/>
          </p:nvGrpSpPr>
          <p:grpSpPr bwMode="auto">
            <a:xfrm>
              <a:off x="810" y="2928"/>
              <a:ext cx="3117" cy="643"/>
              <a:chOff x="810" y="2928"/>
              <a:chExt cx="3117" cy="643"/>
            </a:xfrm>
          </p:grpSpPr>
          <p:graphicFrame>
            <p:nvGraphicFramePr>
              <p:cNvPr id="55403" name="Object 107"/>
              <p:cNvGraphicFramePr>
                <a:graphicFrameLocks noChangeAspect="1"/>
              </p:cNvGraphicFramePr>
              <p:nvPr/>
            </p:nvGraphicFramePr>
            <p:xfrm>
              <a:off x="810" y="2928"/>
              <a:ext cx="1508" cy="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443" name="公式" r:id="rId21" imgW="1041120" imgH="444240" progId="Equation.3">
                      <p:embed/>
                    </p:oleObj>
                  </mc:Choice>
                  <mc:Fallback>
                    <p:oleObj name="公式" r:id="rId21" imgW="1041120" imgH="444240" progId="Equation.3">
                      <p:embed/>
                      <p:pic>
                        <p:nvPicPr>
                          <p:cNvPr id="0" name="Object 10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0" y="2928"/>
                            <a:ext cx="1508" cy="6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406" name="Rectangle 110"/>
              <p:cNvSpPr>
                <a:spLocks noChangeArrowheads="1"/>
              </p:cNvSpPr>
              <p:nvPr/>
            </p:nvSpPr>
            <p:spPr bwMode="auto">
              <a:xfrm>
                <a:off x="2414" y="3045"/>
                <a:ext cx="151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00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>
                    <a:solidFill>
                      <a:srgbClr val="000000"/>
                    </a:solidFill>
                  </a:rPr>
                  <a:t>明环半径</a:t>
                </a:r>
              </a:p>
            </p:txBody>
          </p:sp>
        </p:grpSp>
        <p:grpSp>
          <p:nvGrpSpPr>
            <p:cNvPr id="55410" name="Group 114"/>
            <p:cNvGrpSpPr>
              <a:grpSpLocks/>
            </p:cNvGrpSpPr>
            <p:nvPr/>
          </p:nvGrpSpPr>
          <p:grpSpPr bwMode="auto">
            <a:xfrm>
              <a:off x="458" y="3228"/>
              <a:ext cx="338" cy="659"/>
              <a:chOff x="458" y="3228"/>
              <a:chExt cx="338" cy="659"/>
            </a:xfrm>
          </p:grpSpPr>
          <p:sp>
            <p:nvSpPr>
              <p:cNvPr id="55407" name="AutoShape 111"/>
              <p:cNvSpPr>
                <a:spLocks/>
              </p:cNvSpPr>
              <p:nvPr/>
            </p:nvSpPr>
            <p:spPr bwMode="auto">
              <a:xfrm>
                <a:off x="654" y="3228"/>
                <a:ext cx="142" cy="659"/>
              </a:xfrm>
              <a:prstGeom prst="leftBrace">
                <a:avLst>
                  <a:gd name="adj1" fmla="val 38674"/>
                  <a:gd name="adj2" fmla="val 50000"/>
                </a:avLst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08" name="AutoShape 112"/>
              <p:cNvSpPr>
                <a:spLocks noChangeArrowheads="1"/>
              </p:cNvSpPr>
              <p:nvPr/>
            </p:nvSpPr>
            <p:spPr bwMode="auto">
              <a:xfrm>
                <a:off x="458" y="3498"/>
                <a:ext cx="150" cy="124"/>
              </a:xfrm>
              <a:prstGeom prst="rightArrow">
                <a:avLst>
                  <a:gd name="adj1" fmla="val 50000"/>
                  <a:gd name="adj2" fmla="val 30242"/>
                </a:avLst>
              </a:prstGeom>
              <a:solidFill>
                <a:srgbClr val="FFCCFF">
                  <a:alpha val="50000"/>
                </a:srgbClr>
              </a:solidFill>
              <a:ln w="19050">
                <a:solidFill>
                  <a:srgbClr val="CC00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109663" y="419100"/>
            <a:ext cx="7924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0" lang="en-US" altLang="zh-CN">
                <a:solidFill>
                  <a:srgbClr val="CC0000"/>
                </a:solidFill>
              </a:rPr>
              <a:t>(1) </a:t>
            </a:r>
            <a:r>
              <a:rPr kumimoji="0" lang="zh-CN" altLang="en-US">
                <a:solidFill>
                  <a:srgbClr val="000000"/>
                </a:solidFill>
              </a:rPr>
              <a:t>从反射光中观测，中心点是暗点还是亮点？ </a:t>
            </a:r>
          </a:p>
          <a:p>
            <a:pPr eaLnBrk="0" hangingPunct="0">
              <a:lnSpc>
                <a:spcPct val="120000"/>
              </a:lnSpc>
            </a:pPr>
            <a:r>
              <a:rPr kumimoji="0" lang="zh-CN" altLang="en-US">
                <a:solidFill>
                  <a:srgbClr val="000000"/>
                </a:solidFill>
              </a:rPr>
              <a:t>      从透射光中观测，中心点是暗点还是亮点？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684213" y="3236913"/>
            <a:ext cx="792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en-US" altLang="zh-CN">
                <a:solidFill>
                  <a:srgbClr val="CC0000"/>
                </a:solidFill>
              </a:rPr>
              <a:t>(2) </a:t>
            </a:r>
            <a:r>
              <a:rPr kumimoji="0" lang="zh-CN" altLang="en-US">
                <a:solidFill>
                  <a:srgbClr val="000000"/>
                </a:solidFill>
              </a:rPr>
              <a:t>属于等厚干涉，条纹间距不等，为什么？</a:t>
            </a:r>
          </a:p>
        </p:txBody>
      </p:sp>
      <p:grpSp>
        <p:nvGrpSpPr>
          <p:cNvPr id="57359" name="Group 15"/>
          <p:cNvGrpSpPr>
            <a:grpSpLocks/>
          </p:cNvGrpSpPr>
          <p:nvPr/>
        </p:nvGrpSpPr>
        <p:grpSpPr bwMode="auto">
          <a:xfrm>
            <a:off x="347663" y="388938"/>
            <a:ext cx="692150" cy="1212850"/>
            <a:chOff x="478" y="338"/>
            <a:chExt cx="436" cy="764"/>
          </a:xfrm>
        </p:grpSpPr>
        <p:sp>
          <p:nvSpPr>
            <p:cNvPr id="57357" name="AutoShape 13"/>
            <p:cNvSpPr>
              <a:spLocks noChangeArrowheads="1"/>
            </p:cNvSpPr>
            <p:nvPr/>
          </p:nvSpPr>
          <p:spPr bwMode="auto">
            <a:xfrm>
              <a:off x="478" y="338"/>
              <a:ext cx="436" cy="764"/>
            </a:xfrm>
            <a:prstGeom prst="horizontalScroll">
              <a:avLst>
                <a:gd name="adj" fmla="val 11755"/>
              </a:avLst>
            </a:prstGeom>
            <a:solidFill>
              <a:srgbClr val="FF99CC">
                <a:alpha val="3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8392" dir="17508085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CN" altLang="zh-CN">
                <a:solidFill>
                  <a:srgbClr val="1C1C1C"/>
                </a:solidFill>
              </a:endParaRPr>
            </a:p>
          </p:txBody>
        </p:sp>
        <p:sp>
          <p:nvSpPr>
            <p:cNvPr id="57358" name="Text Box 14"/>
            <p:cNvSpPr txBox="1">
              <a:spLocks noChangeArrowheads="1"/>
            </p:cNvSpPr>
            <p:nvPr/>
          </p:nvSpPr>
          <p:spPr bwMode="auto">
            <a:xfrm>
              <a:off x="533" y="422"/>
              <a:ext cx="32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/>
                <a:t>讨论</a:t>
              </a:r>
            </a:p>
          </p:txBody>
        </p:sp>
      </p:grp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684213" y="4354513"/>
            <a:ext cx="410845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0" lang="en-US" altLang="zh-CN">
                <a:solidFill>
                  <a:srgbClr val="CC0000"/>
                </a:solidFill>
              </a:rPr>
              <a:t>(4) </a:t>
            </a:r>
            <a:r>
              <a:rPr kumimoji="0" lang="zh-CN" altLang="en-US">
                <a:solidFill>
                  <a:srgbClr val="000000"/>
                </a:solidFill>
              </a:rPr>
              <a:t>应用例子</a:t>
            </a:r>
            <a:r>
              <a:rPr kumimoji="0" lang="en-US" altLang="zh-CN">
                <a:solidFill>
                  <a:srgbClr val="000000"/>
                </a:solidFill>
              </a:rPr>
              <a:t>:</a:t>
            </a:r>
            <a:r>
              <a:rPr kumimoji="0" lang="zh-CN" altLang="en-US">
                <a:solidFill>
                  <a:srgbClr val="000000"/>
                </a:solidFill>
              </a:rPr>
              <a:t>可以用来测量光波波长，用于检测透镜质量，</a:t>
            </a:r>
            <a:r>
              <a:rPr kumimoji="0" lang="zh-CN" altLang="en-US">
                <a:solidFill>
                  <a:srgbClr val="FF0000"/>
                </a:solidFill>
              </a:rPr>
              <a:t>曲率半径</a:t>
            </a:r>
            <a:r>
              <a:rPr kumimoji="0" lang="zh-CN" altLang="en-US">
                <a:solidFill>
                  <a:srgbClr val="000000"/>
                </a:solidFill>
              </a:rPr>
              <a:t>等</a:t>
            </a:r>
            <a:r>
              <a:rPr kumimoji="0" lang="en-US" altLang="zh-CN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57367" name="Group 23"/>
          <p:cNvGrpSpPr>
            <a:grpSpLocks/>
          </p:cNvGrpSpPr>
          <p:nvPr/>
        </p:nvGrpSpPr>
        <p:grpSpPr bwMode="auto">
          <a:xfrm>
            <a:off x="684213" y="3759200"/>
            <a:ext cx="8313737" cy="604838"/>
            <a:chOff x="215" y="2719"/>
            <a:chExt cx="5237" cy="381"/>
          </a:xfrm>
        </p:grpSpPr>
        <p:sp>
          <p:nvSpPr>
            <p:cNvPr id="57363" name="Rectangle 19"/>
            <p:cNvSpPr>
              <a:spLocks noChangeArrowheads="1"/>
            </p:cNvSpPr>
            <p:nvPr/>
          </p:nvSpPr>
          <p:spPr bwMode="auto">
            <a:xfrm>
              <a:off x="215" y="2719"/>
              <a:ext cx="5237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0" lang="en-US" altLang="zh-CN">
                  <a:solidFill>
                    <a:srgbClr val="CC0000"/>
                  </a:solidFill>
                </a:rPr>
                <a:t>(3) </a:t>
              </a:r>
              <a:r>
                <a:rPr kumimoji="0" lang="zh-CN" altLang="en-US">
                  <a:solidFill>
                    <a:srgbClr val="000000"/>
                  </a:solidFill>
                </a:rPr>
                <a:t>将牛顿环置于         的液体中，条纹如何变？</a:t>
              </a:r>
            </a:p>
          </p:txBody>
        </p:sp>
        <p:graphicFrame>
          <p:nvGraphicFramePr>
            <p:cNvPr id="57364" name="Object 20"/>
            <p:cNvGraphicFramePr>
              <a:graphicFrameLocks noChangeAspect="1"/>
            </p:cNvGraphicFramePr>
            <p:nvPr/>
          </p:nvGraphicFramePr>
          <p:xfrm>
            <a:off x="1947" y="2790"/>
            <a:ext cx="51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04" name="公式" r:id="rId3" imgW="355320" imgH="177480" progId="Equation.3">
                    <p:embed/>
                  </p:oleObj>
                </mc:Choice>
                <mc:Fallback>
                  <p:oleObj name="公式" r:id="rId3" imgW="355320" imgH="1774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7" y="2790"/>
                          <a:ext cx="51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68" name="Group 24"/>
          <p:cNvGrpSpPr>
            <a:grpSpLocks/>
          </p:cNvGrpSpPr>
          <p:nvPr/>
        </p:nvGrpSpPr>
        <p:grpSpPr bwMode="auto">
          <a:xfrm>
            <a:off x="4819650" y="4456113"/>
            <a:ext cx="3352800" cy="1524000"/>
            <a:chOff x="3408" y="3024"/>
            <a:chExt cx="2112" cy="960"/>
          </a:xfrm>
        </p:grpSpPr>
        <p:grpSp>
          <p:nvGrpSpPr>
            <p:cNvPr id="57369" name="Group 25"/>
            <p:cNvGrpSpPr>
              <a:grpSpLocks/>
            </p:cNvGrpSpPr>
            <p:nvPr/>
          </p:nvGrpSpPr>
          <p:grpSpPr bwMode="auto">
            <a:xfrm>
              <a:off x="3408" y="3360"/>
              <a:ext cx="2112" cy="624"/>
              <a:chOff x="3360" y="3264"/>
              <a:chExt cx="2112" cy="624"/>
            </a:xfrm>
          </p:grpSpPr>
          <p:sp>
            <p:nvSpPr>
              <p:cNvPr id="57370" name="Rectangle 26"/>
              <p:cNvSpPr>
                <a:spLocks noChangeArrowheads="1"/>
              </p:cNvSpPr>
              <p:nvPr/>
            </p:nvSpPr>
            <p:spPr bwMode="auto">
              <a:xfrm>
                <a:off x="3552" y="3368"/>
                <a:ext cx="1720" cy="520"/>
              </a:xfrm>
              <a:prstGeom prst="rect">
                <a:avLst/>
              </a:prstGeom>
              <a:solidFill>
                <a:srgbClr val="66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1" name="Arc 27"/>
              <p:cNvSpPr>
                <a:spLocks/>
              </p:cNvSpPr>
              <p:nvPr/>
            </p:nvSpPr>
            <p:spPr bwMode="auto">
              <a:xfrm>
                <a:off x="3360" y="3264"/>
                <a:ext cx="2112" cy="289"/>
              </a:xfrm>
              <a:custGeom>
                <a:avLst/>
                <a:gdLst>
                  <a:gd name="G0" fmla="+- 21600 0 0"/>
                  <a:gd name="G1" fmla="+- 5430 0 0"/>
                  <a:gd name="G2" fmla="+- 21600 0 0"/>
                  <a:gd name="T0" fmla="*/ 42506 w 43200"/>
                  <a:gd name="T1" fmla="*/ 0 h 27030"/>
                  <a:gd name="T2" fmla="*/ 44 w 43200"/>
                  <a:gd name="T3" fmla="*/ 4057 h 27030"/>
                  <a:gd name="T4" fmla="*/ 21600 w 43200"/>
                  <a:gd name="T5" fmla="*/ 5430 h 270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7030" fill="none" extrusionOk="0">
                    <a:moveTo>
                      <a:pt x="42506" y="-1"/>
                    </a:moveTo>
                    <a:cubicBezTo>
                      <a:pt x="42966" y="1773"/>
                      <a:pt x="43200" y="3597"/>
                      <a:pt x="43200" y="5430"/>
                    </a:cubicBezTo>
                    <a:cubicBezTo>
                      <a:pt x="43200" y="17359"/>
                      <a:pt x="33529" y="27030"/>
                      <a:pt x="21600" y="27030"/>
                    </a:cubicBezTo>
                    <a:cubicBezTo>
                      <a:pt x="9670" y="27030"/>
                      <a:pt x="0" y="17359"/>
                      <a:pt x="0" y="5430"/>
                    </a:cubicBezTo>
                    <a:cubicBezTo>
                      <a:pt x="-1" y="4971"/>
                      <a:pt x="14" y="4514"/>
                      <a:pt x="43" y="4056"/>
                    </a:cubicBezTo>
                  </a:path>
                  <a:path w="43200" h="27030" stroke="0" extrusionOk="0">
                    <a:moveTo>
                      <a:pt x="42506" y="-1"/>
                    </a:moveTo>
                    <a:cubicBezTo>
                      <a:pt x="42966" y="1773"/>
                      <a:pt x="43200" y="3597"/>
                      <a:pt x="43200" y="5430"/>
                    </a:cubicBezTo>
                    <a:cubicBezTo>
                      <a:pt x="43200" y="17359"/>
                      <a:pt x="33529" y="27030"/>
                      <a:pt x="21600" y="27030"/>
                    </a:cubicBezTo>
                    <a:cubicBezTo>
                      <a:pt x="9670" y="27030"/>
                      <a:pt x="0" y="17359"/>
                      <a:pt x="0" y="5430"/>
                    </a:cubicBezTo>
                    <a:cubicBezTo>
                      <a:pt x="-1" y="4971"/>
                      <a:pt x="14" y="4514"/>
                      <a:pt x="43" y="4056"/>
                    </a:cubicBezTo>
                    <a:lnTo>
                      <a:pt x="21600" y="54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Arc 28"/>
              <p:cNvSpPr>
                <a:spLocks/>
              </p:cNvSpPr>
              <p:nvPr/>
            </p:nvSpPr>
            <p:spPr bwMode="auto">
              <a:xfrm>
                <a:off x="3543" y="3360"/>
                <a:ext cx="1745" cy="192"/>
              </a:xfrm>
              <a:custGeom>
                <a:avLst/>
                <a:gdLst>
                  <a:gd name="G0" fmla="+- 19361 0 0"/>
                  <a:gd name="G1" fmla="+- 0 0 0"/>
                  <a:gd name="G2" fmla="+- 21600 0 0"/>
                  <a:gd name="T0" fmla="*/ 38235 w 38235"/>
                  <a:gd name="T1" fmla="*/ 10504 h 21600"/>
                  <a:gd name="T2" fmla="*/ 0 w 38235"/>
                  <a:gd name="T3" fmla="*/ 9577 h 21600"/>
                  <a:gd name="T4" fmla="*/ 19361 w 38235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235" h="21600" fill="none" extrusionOk="0">
                    <a:moveTo>
                      <a:pt x="38234" y="10503"/>
                    </a:moveTo>
                    <a:cubicBezTo>
                      <a:pt x="34423" y="17353"/>
                      <a:pt x="27199" y="21599"/>
                      <a:pt x="19361" y="21600"/>
                    </a:cubicBezTo>
                    <a:cubicBezTo>
                      <a:pt x="11146" y="21600"/>
                      <a:pt x="3642" y="16940"/>
                      <a:pt x="0" y="9576"/>
                    </a:cubicBezTo>
                  </a:path>
                  <a:path w="38235" h="21600" stroke="0" extrusionOk="0">
                    <a:moveTo>
                      <a:pt x="38234" y="10503"/>
                    </a:moveTo>
                    <a:cubicBezTo>
                      <a:pt x="34423" y="17353"/>
                      <a:pt x="27199" y="21599"/>
                      <a:pt x="19361" y="21600"/>
                    </a:cubicBezTo>
                    <a:cubicBezTo>
                      <a:pt x="11146" y="21600"/>
                      <a:pt x="3642" y="16940"/>
                      <a:pt x="0" y="9576"/>
                    </a:cubicBezTo>
                    <a:lnTo>
                      <a:pt x="19361" y="0"/>
                    </a:lnTo>
                    <a:close/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7373" name="Line 29"/>
            <p:cNvSpPr>
              <a:spLocks noChangeShapeType="1"/>
            </p:cNvSpPr>
            <p:nvPr/>
          </p:nvSpPr>
          <p:spPr bwMode="auto">
            <a:xfrm>
              <a:off x="3792" y="3312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4" name="Line 30"/>
            <p:cNvSpPr>
              <a:spLocks noChangeShapeType="1"/>
            </p:cNvSpPr>
            <p:nvPr/>
          </p:nvSpPr>
          <p:spPr bwMode="auto">
            <a:xfrm>
              <a:off x="4128" y="3312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5" name="Line 31"/>
            <p:cNvSpPr>
              <a:spLocks noChangeShapeType="1"/>
            </p:cNvSpPr>
            <p:nvPr/>
          </p:nvSpPr>
          <p:spPr bwMode="auto">
            <a:xfrm>
              <a:off x="5136" y="3312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6" name="Line 32"/>
            <p:cNvSpPr>
              <a:spLocks noChangeShapeType="1"/>
            </p:cNvSpPr>
            <p:nvPr/>
          </p:nvSpPr>
          <p:spPr bwMode="auto">
            <a:xfrm>
              <a:off x="4464" y="3312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7" name="Line 33"/>
            <p:cNvSpPr>
              <a:spLocks noChangeShapeType="1"/>
            </p:cNvSpPr>
            <p:nvPr/>
          </p:nvSpPr>
          <p:spPr bwMode="auto">
            <a:xfrm>
              <a:off x="4800" y="3312"/>
              <a:ext cx="0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8" name="Arc 34"/>
            <p:cNvSpPr>
              <a:spLocks/>
            </p:cNvSpPr>
            <p:nvPr/>
          </p:nvSpPr>
          <p:spPr bwMode="auto">
            <a:xfrm>
              <a:off x="3600" y="3312"/>
              <a:ext cx="1752" cy="336"/>
            </a:xfrm>
            <a:custGeom>
              <a:avLst/>
              <a:gdLst>
                <a:gd name="G0" fmla="+- 21084 0 0"/>
                <a:gd name="G1" fmla="+- 0 0 0"/>
                <a:gd name="G2" fmla="+- 21600 0 0"/>
                <a:gd name="T0" fmla="*/ 42336 w 42336"/>
                <a:gd name="T1" fmla="*/ 3860 h 21600"/>
                <a:gd name="T2" fmla="*/ 0 w 42336"/>
                <a:gd name="T3" fmla="*/ 4691 h 21600"/>
                <a:gd name="T4" fmla="*/ 21084 w 4233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336" h="21600" fill="none" extrusionOk="0">
                  <a:moveTo>
                    <a:pt x="42336" y="3860"/>
                  </a:moveTo>
                  <a:cubicBezTo>
                    <a:pt x="40470" y="14132"/>
                    <a:pt x="31524" y="21599"/>
                    <a:pt x="21084" y="21600"/>
                  </a:cubicBezTo>
                  <a:cubicBezTo>
                    <a:pt x="10962" y="21600"/>
                    <a:pt x="2197" y="14571"/>
                    <a:pt x="-1" y="4691"/>
                  </a:cubicBezTo>
                </a:path>
                <a:path w="42336" h="21600" stroke="0" extrusionOk="0">
                  <a:moveTo>
                    <a:pt x="42336" y="3860"/>
                  </a:moveTo>
                  <a:cubicBezTo>
                    <a:pt x="40470" y="14132"/>
                    <a:pt x="31524" y="21599"/>
                    <a:pt x="21084" y="21600"/>
                  </a:cubicBezTo>
                  <a:cubicBezTo>
                    <a:pt x="10962" y="21600"/>
                    <a:pt x="2197" y="14571"/>
                    <a:pt x="-1" y="4691"/>
                  </a:cubicBezTo>
                  <a:lnTo>
                    <a:pt x="21084" y="0"/>
                  </a:lnTo>
                  <a:close/>
                </a:path>
              </a:pathLst>
            </a:custGeom>
            <a:solidFill>
              <a:srgbClr val="66FFFF">
                <a:alpha val="50000"/>
              </a:srgbClr>
            </a:solidFill>
            <a:ln w="12700" cap="rnd">
              <a:solidFill>
                <a:srgbClr val="CC00CC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79" name="Rectangle 35"/>
            <p:cNvSpPr>
              <a:spLocks noChangeArrowheads="1"/>
            </p:cNvSpPr>
            <p:nvPr/>
          </p:nvSpPr>
          <p:spPr bwMode="auto">
            <a:xfrm>
              <a:off x="3607" y="3312"/>
              <a:ext cx="1745" cy="103"/>
            </a:xfrm>
            <a:prstGeom prst="rect">
              <a:avLst/>
            </a:prstGeom>
            <a:solidFill>
              <a:srgbClr val="66FF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0" name="Freeform 36"/>
            <p:cNvSpPr>
              <a:spLocks/>
            </p:cNvSpPr>
            <p:nvPr/>
          </p:nvSpPr>
          <p:spPr bwMode="auto">
            <a:xfrm>
              <a:off x="3607" y="3312"/>
              <a:ext cx="1746" cy="104"/>
            </a:xfrm>
            <a:custGeom>
              <a:avLst/>
              <a:gdLst>
                <a:gd name="T0" fmla="*/ 0 w 1746"/>
                <a:gd name="T1" fmla="*/ 51 h 104"/>
                <a:gd name="T2" fmla="*/ 0 w 1746"/>
                <a:gd name="T3" fmla="*/ 0 h 104"/>
                <a:gd name="T4" fmla="*/ 1745 w 1746"/>
                <a:gd name="T5" fmla="*/ 0 h 104"/>
                <a:gd name="T6" fmla="*/ 1745 w 1746"/>
                <a:gd name="T7" fmla="*/ 10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46" h="104">
                  <a:moveTo>
                    <a:pt x="0" y="51"/>
                  </a:moveTo>
                  <a:lnTo>
                    <a:pt x="0" y="0"/>
                  </a:lnTo>
                  <a:lnTo>
                    <a:pt x="1745" y="0"/>
                  </a:lnTo>
                  <a:lnTo>
                    <a:pt x="1745" y="103"/>
                  </a:lnTo>
                </a:path>
              </a:pathLst>
            </a:custGeom>
            <a:noFill/>
            <a:ln w="12700" cap="rnd" cmpd="sng">
              <a:solidFill>
                <a:srgbClr val="FF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1" name="Rectangle 37"/>
            <p:cNvSpPr>
              <a:spLocks noChangeArrowheads="1"/>
            </p:cNvSpPr>
            <p:nvPr/>
          </p:nvSpPr>
          <p:spPr bwMode="auto">
            <a:xfrm>
              <a:off x="4128" y="3321"/>
              <a:ext cx="1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</a:rPr>
                <a:t>工 件</a:t>
              </a:r>
            </a:p>
          </p:txBody>
        </p:sp>
        <p:sp>
          <p:nvSpPr>
            <p:cNvPr id="57382" name="Rectangle 38"/>
            <p:cNvSpPr>
              <a:spLocks noChangeArrowheads="1"/>
            </p:cNvSpPr>
            <p:nvPr/>
          </p:nvSpPr>
          <p:spPr bwMode="auto">
            <a:xfrm>
              <a:off x="3984" y="3648"/>
              <a:ext cx="13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标 准 件</a:t>
              </a:r>
              <a:endParaRPr kumimoji="0"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endParaRPr>
            </a:p>
          </p:txBody>
        </p:sp>
        <p:sp>
          <p:nvSpPr>
            <p:cNvPr id="57383" name="Line 39"/>
            <p:cNvSpPr>
              <a:spLocks noChangeShapeType="1"/>
            </p:cNvSpPr>
            <p:nvPr/>
          </p:nvSpPr>
          <p:spPr bwMode="auto">
            <a:xfrm>
              <a:off x="3792" y="3024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4" name="Line 40"/>
            <p:cNvSpPr>
              <a:spLocks noChangeShapeType="1"/>
            </p:cNvSpPr>
            <p:nvPr/>
          </p:nvSpPr>
          <p:spPr bwMode="auto">
            <a:xfrm>
              <a:off x="4128" y="3024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5" name="Line 41"/>
            <p:cNvSpPr>
              <a:spLocks noChangeShapeType="1"/>
            </p:cNvSpPr>
            <p:nvPr/>
          </p:nvSpPr>
          <p:spPr bwMode="auto">
            <a:xfrm>
              <a:off x="5136" y="3024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>
              <a:off x="4464" y="3024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87" name="Line 43"/>
            <p:cNvSpPr>
              <a:spLocks noChangeShapeType="1"/>
            </p:cNvSpPr>
            <p:nvPr/>
          </p:nvSpPr>
          <p:spPr bwMode="auto">
            <a:xfrm>
              <a:off x="4800" y="3024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733425" y="1698625"/>
            <a:ext cx="7961313" cy="1428750"/>
            <a:chOff x="324" y="298"/>
            <a:chExt cx="5015" cy="900"/>
          </a:xfrm>
        </p:grpSpPr>
        <p:sp>
          <p:nvSpPr>
            <p:cNvPr id="57389" name="AutoShape 45"/>
            <p:cNvSpPr>
              <a:spLocks/>
            </p:cNvSpPr>
            <p:nvPr/>
          </p:nvSpPr>
          <p:spPr bwMode="auto">
            <a:xfrm>
              <a:off x="2345" y="415"/>
              <a:ext cx="80" cy="570"/>
            </a:xfrm>
            <a:prstGeom prst="leftBrace">
              <a:avLst>
                <a:gd name="adj1" fmla="val 59375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7390" name="Object 46"/>
            <p:cNvGraphicFramePr>
              <a:graphicFrameLocks noChangeAspect="1"/>
            </p:cNvGraphicFramePr>
            <p:nvPr/>
          </p:nvGraphicFramePr>
          <p:xfrm>
            <a:off x="2465" y="305"/>
            <a:ext cx="150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05" name="公式" r:id="rId5" imgW="1041120" imgH="215640" progId="Equation.3">
                    <p:embed/>
                  </p:oleObj>
                </mc:Choice>
                <mc:Fallback>
                  <p:oleObj name="公式" r:id="rId5" imgW="1041120" imgH="21564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5" y="305"/>
                          <a:ext cx="150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91" name="Text Box 47"/>
            <p:cNvSpPr txBox="1">
              <a:spLocks noChangeArrowheads="1"/>
            </p:cNvSpPr>
            <p:nvPr/>
          </p:nvSpPr>
          <p:spPr bwMode="auto">
            <a:xfrm>
              <a:off x="4619" y="29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/>
                <a:t>明纹</a:t>
              </a:r>
            </a:p>
          </p:txBody>
        </p:sp>
        <p:graphicFrame>
          <p:nvGraphicFramePr>
            <p:cNvPr id="57392" name="Object 48"/>
            <p:cNvGraphicFramePr>
              <a:graphicFrameLocks noChangeAspect="1"/>
            </p:cNvGraphicFramePr>
            <p:nvPr/>
          </p:nvGraphicFramePr>
          <p:xfrm>
            <a:off x="2437" y="610"/>
            <a:ext cx="2023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06" name="公式" r:id="rId7" imgW="1396800" imgH="406080" progId="Equation.3">
                    <p:embed/>
                  </p:oleObj>
                </mc:Choice>
                <mc:Fallback>
                  <p:oleObj name="公式" r:id="rId7" imgW="1396800" imgH="40608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7" y="610"/>
                          <a:ext cx="2023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93" name="Rectangle 49"/>
            <p:cNvSpPr>
              <a:spLocks noChangeArrowheads="1"/>
            </p:cNvSpPr>
            <p:nvPr/>
          </p:nvSpPr>
          <p:spPr bwMode="auto">
            <a:xfrm>
              <a:off x="4619" y="740"/>
              <a:ext cx="7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暗纹</a:t>
              </a:r>
            </a:p>
          </p:txBody>
        </p:sp>
        <p:graphicFrame>
          <p:nvGraphicFramePr>
            <p:cNvPr id="57394" name="Object 50"/>
            <p:cNvGraphicFramePr>
              <a:graphicFrameLocks noChangeAspect="1"/>
            </p:cNvGraphicFramePr>
            <p:nvPr/>
          </p:nvGraphicFramePr>
          <p:xfrm>
            <a:off x="1092" y="391"/>
            <a:ext cx="1251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407" name="公式" r:id="rId9" imgW="863280" imgH="406080" progId="Equation.3">
                    <p:embed/>
                  </p:oleObj>
                </mc:Choice>
                <mc:Fallback>
                  <p:oleObj name="公式" r:id="rId9" imgW="863280" imgH="40608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2" y="391"/>
                          <a:ext cx="1251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95" name="Text Box 51"/>
            <p:cNvSpPr txBox="1">
              <a:spLocks noChangeArrowheads="1"/>
            </p:cNvSpPr>
            <p:nvPr/>
          </p:nvSpPr>
          <p:spPr bwMode="auto">
            <a:xfrm>
              <a:off x="324" y="509"/>
              <a:ext cx="1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FF"/>
                  </a:solidFill>
                </a:rPr>
                <a:t>光程差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/>
      <p:bldP spid="57347" grpId="0" autoUpdateAnimBg="0"/>
      <p:bldP spid="5736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1E076-5699-4EC3-8523-228BF18C63FB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4622800" y="698500"/>
            <a:ext cx="3733800" cy="5181600"/>
          </a:xfrm>
          <a:prstGeom prst="rect">
            <a:avLst/>
          </a:prstGeom>
          <a:solidFill>
            <a:schemeClr val="bg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9395" name="Group 3"/>
          <p:cNvGrpSpPr>
            <a:grpSpLocks/>
          </p:cNvGrpSpPr>
          <p:nvPr/>
        </p:nvGrpSpPr>
        <p:grpSpPr bwMode="auto">
          <a:xfrm>
            <a:off x="5651500" y="3659188"/>
            <a:ext cx="1828800" cy="1751012"/>
            <a:chOff x="864" y="2523"/>
            <a:chExt cx="1200" cy="1152"/>
          </a:xfrm>
        </p:grpSpPr>
        <p:sp>
          <p:nvSpPr>
            <p:cNvPr id="59396" name="Oval 4"/>
            <p:cNvSpPr>
              <a:spLocks noChangeArrowheads="1"/>
            </p:cNvSpPr>
            <p:nvPr/>
          </p:nvSpPr>
          <p:spPr bwMode="auto">
            <a:xfrm>
              <a:off x="864" y="2523"/>
              <a:ext cx="1200" cy="1152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7" name="Oval 5"/>
            <p:cNvSpPr>
              <a:spLocks noChangeArrowheads="1"/>
            </p:cNvSpPr>
            <p:nvPr/>
          </p:nvSpPr>
          <p:spPr bwMode="auto">
            <a:xfrm>
              <a:off x="891" y="2549"/>
              <a:ext cx="1146" cy="11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918" y="2575"/>
              <a:ext cx="1092" cy="1048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945" y="2601"/>
              <a:ext cx="1038" cy="99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0" name="Oval 8"/>
            <p:cNvSpPr>
              <a:spLocks noChangeArrowheads="1"/>
            </p:cNvSpPr>
            <p:nvPr/>
          </p:nvSpPr>
          <p:spPr bwMode="auto">
            <a:xfrm>
              <a:off x="972" y="2627"/>
              <a:ext cx="984" cy="9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1" name="Oval 9"/>
            <p:cNvSpPr>
              <a:spLocks noChangeArrowheads="1"/>
            </p:cNvSpPr>
            <p:nvPr/>
          </p:nvSpPr>
          <p:spPr bwMode="auto">
            <a:xfrm>
              <a:off x="1000" y="2653"/>
              <a:ext cx="928" cy="892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2" name="Oval 10"/>
            <p:cNvSpPr>
              <a:spLocks noChangeArrowheads="1"/>
            </p:cNvSpPr>
            <p:nvPr/>
          </p:nvSpPr>
          <p:spPr bwMode="auto">
            <a:xfrm>
              <a:off x="1028" y="2681"/>
              <a:ext cx="872" cy="83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3" name="Oval 11"/>
            <p:cNvSpPr>
              <a:spLocks noChangeArrowheads="1"/>
            </p:cNvSpPr>
            <p:nvPr/>
          </p:nvSpPr>
          <p:spPr bwMode="auto">
            <a:xfrm>
              <a:off x="1083" y="2733"/>
              <a:ext cx="762" cy="7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4" name="Oval 12"/>
            <p:cNvSpPr>
              <a:spLocks noChangeArrowheads="1"/>
            </p:cNvSpPr>
            <p:nvPr/>
          </p:nvSpPr>
          <p:spPr bwMode="auto">
            <a:xfrm>
              <a:off x="1056" y="2707"/>
              <a:ext cx="816" cy="78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5" name="Oval 13"/>
            <p:cNvSpPr>
              <a:spLocks noChangeArrowheads="1"/>
            </p:cNvSpPr>
            <p:nvPr/>
          </p:nvSpPr>
          <p:spPr bwMode="auto">
            <a:xfrm>
              <a:off x="1095" y="2745"/>
              <a:ext cx="738" cy="708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6" name="Oval 14"/>
            <p:cNvSpPr>
              <a:spLocks noChangeArrowheads="1"/>
            </p:cNvSpPr>
            <p:nvPr/>
          </p:nvSpPr>
          <p:spPr bwMode="auto">
            <a:xfrm>
              <a:off x="1137" y="2785"/>
              <a:ext cx="654" cy="6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7" name="Oval 15"/>
            <p:cNvSpPr>
              <a:spLocks noChangeArrowheads="1"/>
            </p:cNvSpPr>
            <p:nvPr/>
          </p:nvSpPr>
          <p:spPr bwMode="auto">
            <a:xfrm>
              <a:off x="1191" y="2837"/>
              <a:ext cx="546" cy="52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8" name="Oval 16"/>
            <p:cNvSpPr>
              <a:spLocks noChangeArrowheads="1"/>
            </p:cNvSpPr>
            <p:nvPr/>
          </p:nvSpPr>
          <p:spPr bwMode="auto">
            <a:xfrm>
              <a:off x="1233" y="2877"/>
              <a:ext cx="462" cy="4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9" name="Oval 17"/>
            <p:cNvSpPr>
              <a:spLocks noChangeArrowheads="1"/>
            </p:cNvSpPr>
            <p:nvPr/>
          </p:nvSpPr>
          <p:spPr bwMode="auto">
            <a:xfrm>
              <a:off x="1291" y="2932"/>
              <a:ext cx="346" cy="334"/>
            </a:xfrm>
            <a:prstGeom prst="ellipse">
              <a:avLst/>
            </a:prstGeom>
            <a:solidFill>
              <a:srgbClr val="FFCC00"/>
            </a:solidFill>
            <a:ln w="127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0" name="Oval 18"/>
            <p:cNvSpPr>
              <a:spLocks noChangeArrowheads="1"/>
            </p:cNvSpPr>
            <p:nvPr/>
          </p:nvSpPr>
          <p:spPr bwMode="auto">
            <a:xfrm>
              <a:off x="1356" y="2995"/>
              <a:ext cx="216" cy="20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9411" name="Group 19"/>
          <p:cNvGrpSpPr>
            <a:grpSpLocks/>
          </p:cNvGrpSpPr>
          <p:nvPr/>
        </p:nvGrpSpPr>
        <p:grpSpPr bwMode="auto">
          <a:xfrm>
            <a:off x="5211763" y="2344738"/>
            <a:ext cx="2635250" cy="803275"/>
            <a:chOff x="3744" y="3072"/>
            <a:chExt cx="1344" cy="288"/>
          </a:xfrm>
        </p:grpSpPr>
        <p:sp>
          <p:nvSpPr>
            <p:cNvPr id="59412" name="Line 20"/>
            <p:cNvSpPr>
              <a:spLocks noChangeShapeType="1"/>
            </p:cNvSpPr>
            <p:nvPr/>
          </p:nvSpPr>
          <p:spPr bwMode="auto">
            <a:xfrm>
              <a:off x="3744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>
              <a:off x="3936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4" name="Line 22"/>
            <p:cNvSpPr>
              <a:spLocks noChangeShapeType="1"/>
            </p:cNvSpPr>
            <p:nvPr/>
          </p:nvSpPr>
          <p:spPr bwMode="auto">
            <a:xfrm>
              <a:off x="4128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5" name="Line 23"/>
            <p:cNvSpPr>
              <a:spLocks noChangeShapeType="1"/>
            </p:cNvSpPr>
            <p:nvPr/>
          </p:nvSpPr>
          <p:spPr bwMode="auto">
            <a:xfrm>
              <a:off x="5088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>
              <a:off x="4320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7" name="Line 25"/>
            <p:cNvSpPr>
              <a:spLocks noChangeShapeType="1"/>
            </p:cNvSpPr>
            <p:nvPr/>
          </p:nvSpPr>
          <p:spPr bwMode="auto">
            <a:xfrm>
              <a:off x="4512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8" name="Line 26"/>
            <p:cNvSpPr>
              <a:spLocks noChangeShapeType="1"/>
            </p:cNvSpPr>
            <p:nvPr/>
          </p:nvSpPr>
          <p:spPr bwMode="auto">
            <a:xfrm>
              <a:off x="4704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9" name="Line 27"/>
            <p:cNvSpPr>
              <a:spLocks noChangeShapeType="1"/>
            </p:cNvSpPr>
            <p:nvPr/>
          </p:nvSpPr>
          <p:spPr bwMode="auto">
            <a:xfrm>
              <a:off x="4896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9420" name="Group 28"/>
          <p:cNvGrpSpPr>
            <a:grpSpLocks/>
          </p:cNvGrpSpPr>
          <p:nvPr/>
        </p:nvGrpSpPr>
        <p:grpSpPr bwMode="auto">
          <a:xfrm>
            <a:off x="5211763" y="1063625"/>
            <a:ext cx="2635250" cy="1281113"/>
            <a:chOff x="3744" y="3072"/>
            <a:chExt cx="1344" cy="288"/>
          </a:xfrm>
        </p:grpSpPr>
        <p:sp>
          <p:nvSpPr>
            <p:cNvPr id="59421" name="Line 29"/>
            <p:cNvSpPr>
              <a:spLocks noChangeShapeType="1"/>
            </p:cNvSpPr>
            <p:nvPr/>
          </p:nvSpPr>
          <p:spPr bwMode="auto">
            <a:xfrm>
              <a:off x="3744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2" name="Line 30"/>
            <p:cNvSpPr>
              <a:spLocks noChangeShapeType="1"/>
            </p:cNvSpPr>
            <p:nvPr/>
          </p:nvSpPr>
          <p:spPr bwMode="auto">
            <a:xfrm>
              <a:off x="3936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3" name="Line 31"/>
            <p:cNvSpPr>
              <a:spLocks noChangeShapeType="1"/>
            </p:cNvSpPr>
            <p:nvPr/>
          </p:nvSpPr>
          <p:spPr bwMode="auto">
            <a:xfrm>
              <a:off x="4128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4" name="Line 32"/>
            <p:cNvSpPr>
              <a:spLocks noChangeShapeType="1"/>
            </p:cNvSpPr>
            <p:nvPr/>
          </p:nvSpPr>
          <p:spPr bwMode="auto">
            <a:xfrm>
              <a:off x="5088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5" name="Line 33"/>
            <p:cNvSpPr>
              <a:spLocks noChangeShapeType="1"/>
            </p:cNvSpPr>
            <p:nvPr/>
          </p:nvSpPr>
          <p:spPr bwMode="auto">
            <a:xfrm>
              <a:off x="4320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6" name="Line 34"/>
            <p:cNvSpPr>
              <a:spLocks noChangeShapeType="1"/>
            </p:cNvSpPr>
            <p:nvPr/>
          </p:nvSpPr>
          <p:spPr bwMode="auto">
            <a:xfrm>
              <a:off x="4512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7" name="Line 35"/>
            <p:cNvSpPr>
              <a:spLocks noChangeShapeType="1"/>
            </p:cNvSpPr>
            <p:nvPr/>
          </p:nvSpPr>
          <p:spPr bwMode="auto">
            <a:xfrm>
              <a:off x="4704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28" name="Line 36"/>
            <p:cNvSpPr>
              <a:spLocks noChangeShapeType="1"/>
            </p:cNvSpPr>
            <p:nvPr/>
          </p:nvSpPr>
          <p:spPr bwMode="auto">
            <a:xfrm>
              <a:off x="4896" y="3072"/>
              <a:ext cx="0" cy="28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9429" name="Object 37"/>
          <p:cNvGraphicFramePr>
            <a:graphicFrameLocks noChangeAspect="1"/>
          </p:cNvGraphicFramePr>
          <p:nvPr/>
        </p:nvGraphicFramePr>
        <p:xfrm>
          <a:off x="6756400" y="1231900"/>
          <a:ext cx="37623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8"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0" name="Object 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231900"/>
                        <a:ext cx="37623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0" name="Arc 38"/>
          <p:cNvSpPr>
            <a:spLocks/>
          </p:cNvSpPr>
          <p:nvPr/>
        </p:nvSpPr>
        <p:spPr bwMode="auto">
          <a:xfrm>
            <a:off x="4883150" y="2362200"/>
            <a:ext cx="3286125" cy="744538"/>
          </a:xfrm>
          <a:custGeom>
            <a:avLst/>
            <a:gdLst>
              <a:gd name="G0" fmla="+- 21600 0 0"/>
              <a:gd name="G1" fmla="+- 465 0 0"/>
              <a:gd name="G2" fmla="+- 21600 0 0"/>
              <a:gd name="T0" fmla="*/ 43195 w 43200"/>
              <a:gd name="T1" fmla="*/ 0 h 22065"/>
              <a:gd name="T2" fmla="*/ 0 w 43200"/>
              <a:gd name="T3" fmla="*/ 553 h 22065"/>
              <a:gd name="T4" fmla="*/ 21600 w 43200"/>
              <a:gd name="T5" fmla="*/ 465 h 220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2065" fill="none" extrusionOk="0">
                <a:moveTo>
                  <a:pt x="43194" y="0"/>
                </a:moveTo>
                <a:cubicBezTo>
                  <a:pt x="43198" y="154"/>
                  <a:pt x="43200" y="309"/>
                  <a:pt x="43200" y="465"/>
                </a:cubicBezTo>
                <a:cubicBezTo>
                  <a:pt x="43200" y="12394"/>
                  <a:pt x="33529" y="22065"/>
                  <a:pt x="21600" y="22065"/>
                </a:cubicBezTo>
                <a:cubicBezTo>
                  <a:pt x="9705" y="22065"/>
                  <a:pt x="48" y="12447"/>
                  <a:pt x="0" y="552"/>
                </a:cubicBezTo>
              </a:path>
              <a:path w="43200" h="22065" stroke="0" extrusionOk="0">
                <a:moveTo>
                  <a:pt x="43194" y="0"/>
                </a:moveTo>
                <a:cubicBezTo>
                  <a:pt x="43198" y="154"/>
                  <a:pt x="43200" y="309"/>
                  <a:pt x="43200" y="465"/>
                </a:cubicBezTo>
                <a:cubicBezTo>
                  <a:pt x="43200" y="12394"/>
                  <a:pt x="33529" y="22065"/>
                  <a:pt x="21600" y="22065"/>
                </a:cubicBezTo>
                <a:cubicBezTo>
                  <a:pt x="9705" y="22065"/>
                  <a:pt x="48" y="12447"/>
                  <a:pt x="0" y="552"/>
                </a:cubicBezTo>
                <a:lnTo>
                  <a:pt x="21600" y="465"/>
                </a:lnTo>
                <a:close/>
              </a:path>
            </a:pathLst>
          </a:custGeom>
          <a:solidFill>
            <a:srgbClr val="66FFFF">
              <a:alpha val="50000"/>
            </a:srgbClr>
          </a:solidFill>
          <a:ln w="12700" cap="rnd">
            <a:solidFill>
              <a:schemeClr val="tx1"/>
            </a:solidFill>
            <a:round/>
            <a:headEnd type="none" w="sm" len="lg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9431" name="Object 39"/>
          <p:cNvGraphicFramePr>
            <a:graphicFrameLocks noChangeAspect="1"/>
          </p:cNvGraphicFramePr>
          <p:nvPr/>
        </p:nvGraphicFramePr>
        <p:xfrm>
          <a:off x="6716713" y="2595563"/>
          <a:ext cx="3143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9" name="Equation" r:id="rId5" imgW="152280" imgH="177480" progId="Equation.3">
                  <p:embed/>
                </p:oleObj>
              </mc:Choice>
              <mc:Fallback>
                <p:oleObj name="Equation" r:id="rId5" imgW="152280" imgH="177480" progId="Equation.3">
                  <p:embed/>
                  <p:pic>
                    <p:nvPicPr>
                      <p:cNvPr id="0" name="Object 3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713" y="2595563"/>
                        <a:ext cx="31432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2" name="Line 40"/>
          <p:cNvSpPr>
            <a:spLocks noChangeShapeType="1"/>
          </p:cNvSpPr>
          <p:nvPr/>
        </p:nvSpPr>
        <p:spPr bwMode="auto">
          <a:xfrm flipH="1">
            <a:off x="6529388" y="2960688"/>
            <a:ext cx="731837" cy="0"/>
          </a:xfrm>
          <a:prstGeom prst="line">
            <a:avLst/>
          </a:prstGeom>
          <a:noFill/>
          <a:ln w="28575">
            <a:solidFill>
              <a:srgbClr val="FF00FF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9433" name="Group 41"/>
          <p:cNvGrpSpPr>
            <a:grpSpLocks/>
          </p:cNvGrpSpPr>
          <p:nvPr/>
        </p:nvGrpSpPr>
        <p:grpSpPr bwMode="auto">
          <a:xfrm>
            <a:off x="4918075" y="917575"/>
            <a:ext cx="3165475" cy="2638425"/>
            <a:chOff x="384" y="720"/>
            <a:chExt cx="2075" cy="1735"/>
          </a:xfrm>
        </p:grpSpPr>
        <p:sp>
          <p:nvSpPr>
            <p:cNvPr id="59434" name="Rectangle 42"/>
            <p:cNvSpPr>
              <a:spLocks noChangeArrowheads="1"/>
            </p:cNvSpPr>
            <p:nvPr/>
          </p:nvSpPr>
          <p:spPr bwMode="auto">
            <a:xfrm>
              <a:off x="384" y="2160"/>
              <a:ext cx="2075" cy="295"/>
            </a:xfrm>
            <a:prstGeom prst="rect">
              <a:avLst/>
            </a:prstGeom>
            <a:solidFill>
              <a:srgbClr val="B8FCFC">
                <a:alpha val="5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5" name="Line 43"/>
            <p:cNvSpPr>
              <a:spLocks noChangeShapeType="1"/>
            </p:cNvSpPr>
            <p:nvPr/>
          </p:nvSpPr>
          <p:spPr bwMode="auto">
            <a:xfrm flipH="1" flipV="1">
              <a:off x="1440" y="720"/>
              <a:ext cx="0" cy="144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6" name="Line 44"/>
            <p:cNvSpPr>
              <a:spLocks noChangeShapeType="1"/>
            </p:cNvSpPr>
            <p:nvPr/>
          </p:nvSpPr>
          <p:spPr bwMode="auto">
            <a:xfrm>
              <a:off x="1440" y="720"/>
              <a:ext cx="480" cy="137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9437" name="Line 45"/>
          <p:cNvSpPr>
            <a:spLocks noChangeShapeType="1"/>
          </p:cNvSpPr>
          <p:nvPr/>
        </p:nvSpPr>
        <p:spPr bwMode="auto">
          <a:xfrm>
            <a:off x="4878388" y="2376488"/>
            <a:ext cx="3295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9438" name="Text Box 46"/>
          <p:cNvSpPr txBox="1">
            <a:spLocks noChangeArrowheads="1"/>
          </p:cNvSpPr>
          <p:nvPr/>
        </p:nvSpPr>
        <p:spPr bwMode="auto">
          <a:xfrm>
            <a:off x="660400" y="973138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rgbClr val="FFFFFF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kumimoji="0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测量透镜的曲率半径</a:t>
            </a:r>
          </a:p>
        </p:txBody>
      </p:sp>
      <p:graphicFrame>
        <p:nvGraphicFramePr>
          <p:cNvPr id="59439" name="Object 47"/>
          <p:cNvGraphicFramePr>
            <a:graphicFrameLocks noChangeAspect="1"/>
          </p:cNvGraphicFramePr>
          <p:nvPr/>
        </p:nvGraphicFramePr>
        <p:xfrm>
          <a:off x="1182688" y="2192338"/>
          <a:ext cx="1554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0" name="公式" r:id="rId7" imgW="622080" imgH="241200" progId="Equation.3">
                  <p:embed/>
                </p:oleObj>
              </mc:Choice>
              <mc:Fallback>
                <p:oleObj name="公式" r:id="rId7" imgW="622080" imgH="2412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2192338"/>
                        <a:ext cx="15541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40" name="Object 48"/>
          <p:cNvGraphicFramePr>
            <a:graphicFrameLocks noChangeAspect="1"/>
          </p:cNvGraphicFramePr>
          <p:nvPr/>
        </p:nvGraphicFramePr>
        <p:xfrm>
          <a:off x="1182688" y="3267075"/>
          <a:ext cx="1681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1" name="公式" r:id="rId9" imgW="672840" imgH="241200" progId="Equation.3">
                  <p:embed/>
                </p:oleObj>
              </mc:Choice>
              <mc:Fallback>
                <p:oleObj name="公式" r:id="rId9" imgW="672840" imgH="2412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3267075"/>
                        <a:ext cx="16811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41" name="Object 49"/>
          <p:cNvGraphicFramePr>
            <a:graphicFrameLocks noChangeAspect="1"/>
          </p:cNvGraphicFramePr>
          <p:nvPr/>
        </p:nvGraphicFramePr>
        <p:xfrm>
          <a:off x="1150938" y="4343400"/>
          <a:ext cx="2252662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2" name="公式" r:id="rId11" imgW="901440" imgH="444240" progId="Equation.3">
                  <p:embed/>
                </p:oleObj>
              </mc:Choice>
              <mc:Fallback>
                <p:oleObj name="公式" r:id="rId11" imgW="901440" imgH="44424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4343400"/>
                        <a:ext cx="2252662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2" name="Line 50"/>
          <p:cNvSpPr>
            <a:spLocks noChangeShapeType="1"/>
          </p:cNvSpPr>
          <p:nvPr/>
        </p:nvSpPr>
        <p:spPr bwMode="auto">
          <a:xfrm>
            <a:off x="5816600" y="3652838"/>
            <a:ext cx="0" cy="204311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43" name="Line 51"/>
          <p:cNvSpPr>
            <a:spLocks noChangeShapeType="1"/>
          </p:cNvSpPr>
          <p:nvPr/>
        </p:nvSpPr>
        <p:spPr bwMode="auto">
          <a:xfrm>
            <a:off x="7224713" y="3652838"/>
            <a:ext cx="0" cy="204311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 type="none" w="sm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44" name="Line 52"/>
          <p:cNvSpPr>
            <a:spLocks noChangeShapeType="1"/>
          </p:cNvSpPr>
          <p:nvPr/>
        </p:nvSpPr>
        <p:spPr bwMode="auto">
          <a:xfrm>
            <a:off x="5822950" y="5508625"/>
            <a:ext cx="1390650" cy="4127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 type="triangl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9445" name="Object 53"/>
          <p:cNvGraphicFramePr>
            <a:graphicFrameLocks noChangeAspect="1"/>
          </p:cNvGraphicFramePr>
          <p:nvPr/>
        </p:nvGraphicFramePr>
        <p:xfrm>
          <a:off x="6262688" y="5535613"/>
          <a:ext cx="4445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63" name="Equation" r:id="rId13" imgW="291960" imgH="228600" progId="Equation.3">
                  <p:embed/>
                </p:oleObj>
              </mc:Choice>
              <mc:Fallback>
                <p:oleObj name="Equation" r:id="rId13" imgW="291960" imgH="228600" progId="Equation.3">
                  <p:embed/>
                  <p:pic>
                    <p:nvPicPr>
                      <p:cNvPr id="0" name="Object 5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88" y="5535613"/>
                        <a:ext cx="44450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D59A-BBD1-46F4-BEF9-E0A77A650976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60479" name="Rectangle 63"/>
          <p:cNvSpPr>
            <a:spLocks noChangeArrowheads="1"/>
          </p:cNvSpPr>
          <p:nvPr/>
        </p:nvSpPr>
        <p:spPr bwMode="auto">
          <a:xfrm>
            <a:off x="523875" y="2479675"/>
            <a:ext cx="4572000" cy="235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>
                <a:solidFill>
                  <a:srgbClr val="000000"/>
                </a:solidFill>
              </a:rPr>
              <a:t>                  </a:t>
            </a:r>
            <a:r>
              <a:rPr kumimoji="0" lang="zh-CN" altLang="en-US">
                <a:solidFill>
                  <a:srgbClr val="000000"/>
                </a:solidFill>
              </a:rPr>
              <a:t>已知玻璃的折射率为：              油膜的折射率为：             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0452" name="Text Box 36"/>
          <p:cNvSpPr txBox="1">
            <a:spLocks noChangeArrowheads="1"/>
          </p:cNvSpPr>
          <p:nvPr/>
        </p:nvSpPr>
        <p:spPr bwMode="auto">
          <a:xfrm>
            <a:off x="508000" y="431800"/>
            <a:ext cx="8286750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dirty="0">
                <a:solidFill>
                  <a:srgbClr val="CC0000"/>
                </a:solidFill>
              </a:rPr>
              <a:t>例</a:t>
            </a:r>
            <a:r>
              <a:rPr kumimoji="0" lang="en-US" altLang="zh-CN" dirty="0">
                <a:solidFill>
                  <a:srgbClr val="CC0000"/>
                </a:solidFill>
              </a:rPr>
              <a:t>2</a:t>
            </a:r>
            <a:r>
              <a:rPr kumimoji="0" lang="en-US" altLang="zh-CN" dirty="0">
                <a:solidFill>
                  <a:srgbClr val="000000"/>
                </a:solidFill>
              </a:rPr>
              <a:t>  </a:t>
            </a:r>
            <a:r>
              <a:rPr kumimoji="0" lang="zh-CN" altLang="en-US" dirty="0">
                <a:solidFill>
                  <a:srgbClr val="000000"/>
                </a:solidFill>
              </a:rPr>
              <a:t>如图所示为测量油膜折射率的实验装置，在平面玻璃片</a:t>
            </a:r>
            <a:r>
              <a:rPr kumimoji="0" lang="en-US" altLang="zh-CN" b="0" dirty="0">
                <a:solidFill>
                  <a:srgbClr val="000000"/>
                </a:solidFill>
              </a:rPr>
              <a:t>G</a:t>
            </a:r>
            <a:r>
              <a:rPr kumimoji="0" lang="zh-CN" altLang="en-US" dirty="0">
                <a:solidFill>
                  <a:srgbClr val="000000"/>
                </a:solidFill>
              </a:rPr>
              <a:t>上放一油滴，并展开成圆形油膜，在波长                   </a:t>
            </a:r>
            <a:r>
              <a:rPr kumimoji="0" lang="zh-CN" altLang="en-US" dirty="0" smtClean="0">
                <a:solidFill>
                  <a:srgbClr val="000000"/>
                </a:solidFill>
              </a:rPr>
              <a:t> 的单色光</a:t>
            </a:r>
            <a:r>
              <a:rPr kumimoji="0" lang="zh-CN" altLang="en-US" dirty="0">
                <a:solidFill>
                  <a:srgbClr val="000000"/>
                </a:solidFill>
              </a:rPr>
              <a:t>垂直入射下，                                                从反射光中可观察到油膜所形成的                            干涉条纹．</a:t>
            </a:r>
          </a:p>
        </p:txBody>
      </p:sp>
      <p:grpSp>
        <p:nvGrpSpPr>
          <p:cNvPr id="60467" name="Group 51"/>
          <p:cNvGrpSpPr>
            <a:grpSpLocks/>
          </p:cNvGrpSpPr>
          <p:nvPr/>
        </p:nvGrpSpPr>
        <p:grpSpPr bwMode="auto">
          <a:xfrm>
            <a:off x="5410200" y="1741488"/>
            <a:ext cx="3419475" cy="3427412"/>
            <a:chOff x="3334" y="1659"/>
            <a:chExt cx="2154" cy="2159"/>
          </a:xfrm>
        </p:grpSpPr>
        <p:grpSp>
          <p:nvGrpSpPr>
            <p:cNvPr id="60463" name="Group 47"/>
            <p:cNvGrpSpPr>
              <a:grpSpLocks/>
            </p:cNvGrpSpPr>
            <p:nvPr/>
          </p:nvGrpSpPr>
          <p:grpSpPr bwMode="auto">
            <a:xfrm>
              <a:off x="3334" y="1659"/>
              <a:ext cx="1872" cy="2112"/>
              <a:chOff x="3406" y="1951"/>
              <a:chExt cx="1872" cy="2112"/>
            </a:xfrm>
          </p:grpSpPr>
          <p:grpSp>
            <p:nvGrpSpPr>
              <p:cNvPr id="60462" name="Group 46"/>
              <p:cNvGrpSpPr>
                <a:grpSpLocks/>
              </p:cNvGrpSpPr>
              <p:nvPr/>
            </p:nvGrpSpPr>
            <p:grpSpPr bwMode="auto">
              <a:xfrm>
                <a:off x="4510" y="1951"/>
                <a:ext cx="288" cy="336"/>
                <a:chOff x="4510" y="1951"/>
                <a:chExt cx="288" cy="336"/>
              </a:xfrm>
            </p:grpSpPr>
            <p:sp>
              <p:nvSpPr>
                <p:cNvPr id="60421" name="Rectangle 5"/>
                <p:cNvSpPr>
                  <a:spLocks noChangeArrowheads="1"/>
                </p:cNvSpPr>
                <p:nvPr/>
              </p:nvSpPr>
              <p:spPr bwMode="auto">
                <a:xfrm>
                  <a:off x="4510" y="1951"/>
                  <a:ext cx="288" cy="240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>
                        <a:gamma/>
                        <a:shade val="36078"/>
                        <a:invGamma/>
                      </a:schemeClr>
                    </a:gs>
                    <a:gs pos="50000">
                      <a:schemeClr val="folHlink">
                        <a:alpha val="17999"/>
                      </a:schemeClr>
                    </a:gs>
                    <a:gs pos="100000">
                      <a:schemeClr val="folHlink">
                        <a:gamma/>
                        <a:shade val="36078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422" name="AutoShape 6"/>
                <p:cNvSpPr>
                  <a:spLocks noChangeArrowheads="1"/>
                </p:cNvSpPr>
                <p:nvPr/>
              </p:nvSpPr>
              <p:spPr bwMode="auto">
                <a:xfrm>
                  <a:off x="4510" y="2191"/>
                  <a:ext cx="288" cy="96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26275"/>
                        <a:invGamma/>
                      </a:schemeClr>
                    </a:gs>
                    <a:gs pos="50000">
                      <a:schemeClr val="folHlink">
                        <a:alpha val="14999"/>
                      </a:schemeClr>
                    </a:gs>
                    <a:gs pos="100000">
                      <a:schemeClr val="folHlink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0423" name="Line 7"/>
              <p:cNvSpPr>
                <a:spLocks noChangeShapeType="1"/>
              </p:cNvSpPr>
              <p:nvPr/>
            </p:nvSpPr>
            <p:spPr bwMode="auto">
              <a:xfrm flipV="1">
                <a:off x="3646" y="2719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4" name="Line 8"/>
              <p:cNvSpPr>
                <a:spLocks noChangeShapeType="1"/>
              </p:cNvSpPr>
              <p:nvPr/>
            </p:nvSpPr>
            <p:spPr bwMode="auto">
              <a:xfrm>
                <a:off x="3646" y="2911"/>
                <a:ext cx="336" cy="144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5" name="Rectangle 9"/>
              <p:cNvSpPr>
                <a:spLocks noChangeArrowheads="1"/>
              </p:cNvSpPr>
              <p:nvPr/>
            </p:nvSpPr>
            <p:spPr bwMode="auto">
              <a:xfrm rot="-3075295">
                <a:off x="4611" y="2436"/>
                <a:ext cx="61" cy="821"/>
              </a:xfrm>
              <a:prstGeom prst="rect">
                <a:avLst/>
              </a:prstGeom>
              <a:solidFill>
                <a:srgbClr val="B8FCEF">
                  <a:alpha val="5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6" name="Line 10"/>
              <p:cNvSpPr>
                <a:spLocks noChangeShapeType="1"/>
              </p:cNvSpPr>
              <p:nvPr/>
            </p:nvSpPr>
            <p:spPr bwMode="auto">
              <a:xfrm>
                <a:off x="4894" y="2287"/>
                <a:ext cx="0" cy="1632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7" name="Line 11"/>
              <p:cNvSpPr>
                <a:spLocks noChangeShapeType="1"/>
              </p:cNvSpPr>
              <p:nvPr/>
            </p:nvSpPr>
            <p:spPr bwMode="auto">
              <a:xfrm>
                <a:off x="4406" y="2287"/>
                <a:ext cx="0" cy="1632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8" name="Line 12"/>
              <p:cNvSpPr>
                <a:spLocks noChangeShapeType="1"/>
              </p:cNvSpPr>
              <p:nvPr/>
            </p:nvSpPr>
            <p:spPr bwMode="auto">
              <a:xfrm>
                <a:off x="3982" y="3055"/>
                <a:ext cx="91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29" name="Text Box 13"/>
              <p:cNvSpPr txBox="1">
                <a:spLocks noChangeArrowheads="1"/>
              </p:cNvSpPr>
              <p:nvPr/>
            </p:nvSpPr>
            <p:spPr bwMode="auto">
              <a:xfrm>
                <a:off x="3406" y="2728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en-US" b="0">
                    <a:solidFill>
                      <a:srgbClr val="000000"/>
                    </a:solidFill>
                  </a:rPr>
                  <a:t>S</a:t>
                </a:r>
                <a:endParaRPr kumimoji="0" lang="en-US" altLang="zh-CN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430" name="Text Box 14"/>
              <p:cNvSpPr txBox="1">
                <a:spLocks noChangeArrowheads="1"/>
              </p:cNvSpPr>
              <p:nvPr/>
            </p:nvSpPr>
            <p:spPr bwMode="auto">
              <a:xfrm>
                <a:off x="3886" y="2335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b="0">
                    <a:solidFill>
                      <a:srgbClr val="000000"/>
                    </a:solidFill>
                  </a:rPr>
                  <a:t>L</a:t>
                </a:r>
              </a:p>
            </p:txBody>
          </p:sp>
          <p:sp>
            <p:nvSpPr>
              <p:cNvPr id="60431" name="Line 15"/>
              <p:cNvSpPr>
                <a:spLocks noChangeShapeType="1"/>
              </p:cNvSpPr>
              <p:nvPr/>
            </p:nvSpPr>
            <p:spPr bwMode="auto">
              <a:xfrm>
                <a:off x="4400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2" name="Line 16"/>
              <p:cNvSpPr>
                <a:spLocks noChangeShapeType="1"/>
              </p:cNvSpPr>
              <p:nvPr/>
            </p:nvSpPr>
            <p:spPr bwMode="auto">
              <a:xfrm>
                <a:off x="4894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3" name="Line 17"/>
              <p:cNvSpPr>
                <a:spLocks noChangeShapeType="1"/>
              </p:cNvSpPr>
              <p:nvPr/>
            </p:nvSpPr>
            <p:spPr bwMode="auto">
              <a:xfrm>
                <a:off x="4174" y="274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4" name="Line 18"/>
              <p:cNvSpPr>
                <a:spLocks noChangeShapeType="1"/>
              </p:cNvSpPr>
              <p:nvPr/>
            </p:nvSpPr>
            <p:spPr bwMode="auto">
              <a:xfrm>
                <a:off x="4174" y="305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5" name="Line 19"/>
              <p:cNvSpPr>
                <a:spLocks noChangeShapeType="1"/>
              </p:cNvSpPr>
              <p:nvPr/>
            </p:nvSpPr>
            <p:spPr bwMode="auto">
              <a:xfrm>
                <a:off x="4894" y="228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6" name="Line 20"/>
              <p:cNvSpPr>
                <a:spLocks noChangeShapeType="1"/>
              </p:cNvSpPr>
              <p:nvPr/>
            </p:nvSpPr>
            <p:spPr bwMode="auto">
              <a:xfrm>
                <a:off x="3646" y="2911"/>
                <a:ext cx="1008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7" name="Line 21"/>
              <p:cNvSpPr>
                <a:spLocks noChangeShapeType="1"/>
              </p:cNvSpPr>
              <p:nvPr/>
            </p:nvSpPr>
            <p:spPr bwMode="auto">
              <a:xfrm>
                <a:off x="4174" y="2911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8" name="Line 22"/>
              <p:cNvSpPr>
                <a:spLocks noChangeShapeType="1"/>
              </p:cNvSpPr>
              <p:nvPr/>
            </p:nvSpPr>
            <p:spPr bwMode="auto">
              <a:xfrm>
                <a:off x="4654" y="2287"/>
                <a:ext cx="0" cy="158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39" name="Line 23"/>
              <p:cNvSpPr>
                <a:spLocks noChangeShapeType="1"/>
              </p:cNvSpPr>
              <p:nvPr/>
            </p:nvSpPr>
            <p:spPr bwMode="auto">
              <a:xfrm>
                <a:off x="4654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40" name="AutoShape 24"/>
              <p:cNvSpPr>
                <a:spLocks noChangeArrowheads="1"/>
              </p:cNvSpPr>
              <p:nvPr/>
            </p:nvSpPr>
            <p:spPr bwMode="auto">
              <a:xfrm rot="5443312">
                <a:off x="4582" y="3366"/>
                <a:ext cx="144" cy="863"/>
              </a:xfrm>
              <a:prstGeom prst="moon">
                <a:avLst>
                  <a:gd name="adj" fmla="val 87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41" name="Rectangle 25"/>
              <p:cNvSpPr>
                <a:spLocks noChangeArrowheads="1"/>
              </p:cNvSpPr>
              <p:nvPr/>
            </p:nvSpPr>
            <p:spPr bwMode="auto">
              <a:xfrm>
                <a:off x="4030" y="3823"/>
                <a:ext cx="1248" cy="24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42" name="Line 26"/>
              <p:cNvSpPr>
                <a:spLocks noChangeShapeType="1"/>
              </p:cNvSpPr>
              <p:nvPr/>
            </p:nvSpPr>
            <p:spPr bwMode="auto">
              <a:xfrm flipH="1">
                <a:off x="3982" y="3727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prstDash val="dash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43" name="Line 27"/>
              <p:cNvSpPr>
                <a:spLocks noChangeShapeType="1"/>
              </p:cNvSpPr>
              <p:nvPr/>
            </p:nvSpPr>
            <p:spPr bwMode="auto">
              <a:xfrm>
                <a:off x="4174" y="3487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44" name="Line 28"/>
              <p:cNvSpPr>
                <a:spLocks noChangeShapeType="1"/>
              </p:cNvSpPr>
              <p:nvPr/>
            </p:nvSpPr>
            <p:spPr bwMode="auto">
              <a:xfrm flipV="1">
                <a:off x="4174" y="382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0445" name="Object 29"/>
              <p:cNvGraphicFramePr>
                <a:graphicFrameLocks noChangeAspect="1"/>
              </p:cNvGraphicFramePr>
              <p:nvPr/>
            </p:nvGraphicFramePr>
            <p:xfrm>
              <a:off x="5050" y="3727"/>
              <a:ext cx="22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498" name="公式" r:id="rId3" imgW="215640" imgH="317160" progId="Equation.3">
                      <p:embed/>
                    </p:oleObj>
                  </mc:Choice>
                  <mc:Fallback>
                    <p:oleObj name="公式" r:id="rId3" imgW="215640" imgH="31716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0" y="3727"/>
                            <a:ext cx="22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46" name="Object 30"/>
              <p:cNvGraphicFramePr>
                <a:graphicFrameLocks noChangeAspect="1"/>
              </p:cNvGraphicFramePr>
              <p:nvPr/>
            </p:nvGraphicFramePr>
            <p:xfrm>
              <a:off x="5050" y="3487"/>
              <a:ext cx="22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499" name="公式" r:id="rId5" imgW="241200" imgH="317160" progId="Equation.3">
                      <p:embed/>
                    </p:oleObj>
                  </mc:Choice>
                  <mc:Fallback>
                    <p:oleObj name="公式" r:id="rId5" imgW="241200" imgH="31716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0" y="3487"/>
                            <a:ext cx="22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47" name="Object 31"/>
              <p:cNvGraphicFramePr>
                <a:graphicFrameLocks noChangeAspect="1"/>
              </p:cNvGraphicFramePr>
              <p:nvPr/>
            </p:nvGraphicFramePr>
            <p:xfrm>
              <a:off x="3802" y="3631"/>
              <a:ext cx="224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500" name="Equation" r:id="rId7" imgW="126720" imgH="190440" progId="Equation.3">
                      <p:embed/>
                    </p:oleObj>
                  </mc:Choice>
                  <mc:Fallback>
                    <p:oleObj name="Equation" r:id="rId7" imgW="126720" imgH="19044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2" y="3631"/>
                            <a:ext cx="224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80008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48" name="Line 32"/>
              <p:cNvSpPr>
                <a:spLocks noChangeShapeType="1"/>
              </p:cNvSpPr>
              <p:nvPr/>
            </p:nvSpPr>
            <p:spPr bwMode="auto">
              <a:xfrm>
                <a:off x="3982" y="2744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0449" name="Oval 33"/>
              <p:cNvSpPr>
                <a:spLocks noChangeArrowheads="1"/>
              </p:cNvSpPr>
              <p:nvPr/>
            </p:nvSpPr>
            <p:spPr bwMode="auto">
              <a:xfrm>
                <a:off x="3934" y="2623"/>
                <a:ext cx="144" cy="576"/>
              </a:xfrm>
              <a:prstGeom prst="ellipse">
                <a:avLst/>
              </a:prstGeom>
              <a:solidFill>
                <a:srgbClr val="00FFCC">
                  <a:alpha val="50000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50" name="Line 34"/>
              <p:cNvSpPr>
                <a:spLocks noChangeShapeType="1"/>
              </p:cNvSpPr>
              <p:nvPr/>
            </p:nvSpPr>
            <p:spPr bwMode="auto">
              <a:xfrm>
                <a:off x="4654" y="228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451" name="Freeform 35"/>
              <p:cNvSpPr>
                <a:spLocks/>
              </p:cNvSpPr>
              <p:nvPr/>
            </p:nvSpPr>
            <p:spPr bwMode="auto">
              <a:xfrm>
                <a:off x="4400" y="2287"/>
                <a:ext cx="1" cy="324"/>
              </a:xfrm>
              <a:custGeom>
                <a:avLst/>
                <a:gdLst>
                  <a:gd name="T0" fmla="*/ 0 w 1"/>
                  <a:gd name="T1" fmla="*/ 0 h 324"/>
                  <a:gd name="T2" fmla="*/ 0 w 1"/>
                  <a:gd name="T3" fmla="*/ 324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4">
                    <a:moveTo>
                      <a:pt x="0" y="0"/>
                    </a:moveTo>
                    <a:lnTo>
                      <a:pt x="0" y="324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0454" name="Text Box 38"/>
            <p:cNvSpPr txBox="1">
              <a:spLocks noChangeArrowheads="1"/>
            </p:cNvSpPr>
            <p:nvPr/>
          </p:nvSpPr>
          <p:spPr bwMode="auto">
            <a:xfrm>
              <a:off x="4854" y="3491"/>
              <a:ext cx="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kumimoji="0" lang="en-US" altLang="zh-CN" b="0">
                  <a:solidFill>
                    <a:srgbClr val="1C1C1C"/>
                  </a:solidFill>
                </a:rPr>
                <a:t>G</a:t>
              </a:r>
            </a:p>
          </p:txBody>
        </p:sp>
      </p:grpSp>
      <p:graphicFrame>
        <p:nvGraphicFramePr>
          <p:cNvPr id="6045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429715"/>
              </p:ext>
            </p:extLst>
          </p:nvPr>
        </p:nvGraphicFramePr>
        <p:xfrm>
          <a:off x="952500" y="1524794"/>
          <a:ext cx="185737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1" name="Equation" r:id="rId9" imgW="761760" imgH="177480" progId="Equation.3">
                  <p:embed/>
                </p:oleObj>
              </mc:Choice>
              <mc:Fallback>
                <p:oleObj name="Equation" r:id="rId9" imgW="761760" imgH="17748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1524794"/>
                        <a:ext cx="185737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8" name="Object 42"/>
          <p:cNvGraphicFramePr>
            <a:graphicFrameLocks noChangeAspect="1"/>
          </p:cNvGraphicFramePr>
          <p:nvPr/>
        </p:nvGraphicFramePr>
        <p:xfrm>
          <a:off x="1558925" y="3092450"/>
          <a:ext cx="1371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2" name="公式" r:id="rId11" imgW="596880" imgH="215640" progId="Equation.3">
                  <p:embed/>
                </p:oleObj>
              </mc:Choice>
              <mc:Fallback>
                <p:oleObj name="公式" r:id="rId11" imgW="596880" imgH="21564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3092450"/>
                        <a:ext cx="13716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76" name="Object 60"/>
          <p:cNvGraphicFramePr>
            <a:graphicFrameLocks noChangeAspect="1"/>
          </p:cNvGraphicFramePr>
          <p:nvPr/>
        </p:nvGraphicFramePr>
        <p:xfrm>
          <a:off x="1501775" y="3590925"/>
          <a:ext cx="14017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3" name="公式" r:id="rId13" imgW="609480" imgH="215640" progId="Equation.3">
                  <p:embed/>
                </p:oleObj>
              </mc:Choice>
              <mc:Fallback>
                <p:oleObj name="公式" r:id="rId13" imgW="609480" imgH="21564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3590925"/>
                        <a:ext cx="14017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81" name="Text Box 65"/>
          <p:cNvSpPr txBox="1">
            <a:spLocks noChangeArrowheads="1"/>
          </p:cNvSpPr>
          <p:nvPr/>
        </p:nvSpPr>
        <p:spPr bwMode="auto">
          <a:xfrm>
            <a:off x="527050" y="4246563"/>
            <a:ext cx="4851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>
                <a:solidFill>
                  <a:srgbClr val="CC0000"/>
                </a:solidFill>
              </a:rPr>
              <a:t>问：</a:t>
            </a:r>
            <a:r>
              <a:rPr kumimoji="0" lang="zh-CN" altLang="en-US">
                <a:solidFill>
                  <a:srgbClr val="000000"/>
                </a:solidFill>
              </a:rPr>
              <a:t>当油膜中心最高点与玻璃片的上表面相距                            </a:t>
            </a:r>
          </a:p>
        </p:txBody>
      </p:sp>
      <p:graphicFrame>
        <p:nvGraphicFramePr>
          <p:cNvPr id="60482" name="Object 66"/>
          <p:cNvGraphicFramePr>
            <a:graphicFrameLocks noChangeAspect="1"/>
          </p:cNvGraphicFramePr>
          <p:nvPr/>
        </p:nvGraphicFramePr>
        <p:xfrm>
          <a:off x="3079750" y="4821238"/>
          <a:ext cx="21780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4" name="公式" r:id="rId15" imgW="1015920" imgH="203040" progId="Equation.3">
                  <p:embed/>
                </p:oleObj>
              </mc:Choice>
              <mc:Fallback>
                <p:oleObj name="公式" r:id="rId15" imgW="1015920" imgH="20304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4821238"/>
                        <a:ext cx="21780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83" name="Rectangle 67"/>
          <p:cNvSpPr>
            <a:spLocks noChangeArrowheads="1"/>
          </p:cNvSpPr>
          <p:nvPr/>
        </p:nvSpPr>
        <p:spPr bwMode="auto">
          <a:xfrm>
            <a:off x="528638" y="5283200"/>
            <a:ext cx="80835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</a:rPr>
              <a:t>时，干涉条纹是如何分布的？可看到几条明纹？ 明纹所在处的油膜厚度为多少 </a:t>
            </a:r>
            <a:r>
              <a:rPr kumimoji="0" lang="en-US" altLang="zh-CN">
                <a:solidFill>
                  <a:srgbClr val="000000"/>
                </a:solidFill>
              </a:rPr>
              <a:t>?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A951-EEF3-4681-ACA9-42A4D88FABF9}" type="slidenum">
              <a:rPr lang="en-US" altLang="zh-CN"/>
              <a:pPr/>
              <a:t>18</a:t>
            </a:fld>
            <a:endParaRPr lang="en-US" altLang="zh-CN"/>
          </a:p>
        </p:txBody>
      </p:sp>
      <p:grpSp>
        <p:nvGrpSpPr>
          <p:cNvPr id="61487" name="Group 47"/>
          <p:cNvGrpSpPr>
            <a:grpSpLocks/>
          </p:cNvGrpSpPr>
          <p:nvPr/>
        </p:nvGrpSpPr>
        <p:grpSpPr bwMode="auto">
          <a:xfrm>
            <a:off x="5376863" y="1858963"/>
            <a:ext cx="3419475" cy="3427412"/>
            <a:chOff x="3334" y="1659"/>
            <a:chExt cx="2154" cy="2159"/>
          </a:xfrm>
        </p:grpSpPr>
        <p:grpSp>
          <p:nvGrpSpPr>
            <p:cNvPr id="61488" name="Group 48"/>
            <p:cNvGrpSpPr>
              <a:grpSpLocks/>
            </p:cNvGrpSpPr>
            <p:nvPr/>
          </p:nvGrpSpPr>
          <p:grpSpPr bwMode="auto">
            <a:xfrm>
              <a:off x="3334" y="1659"/>
              <a:ext cx="1872" cy="2112"/>
              <a:chOff x="3406" y="1951"/>
              <a:chExt cx="1872" cy="2112"/>
            </a:xfrm>
          </p:grpSpPr>
          <p:grpSp>
            <p:nvGrpSpPr>
              <p:cNvPr id="61489" name="Group 49"/>
              <p:cNvGrpSpPr>
                <a:grpSpLocks/>
              </p:cNvGrpSpPr>
              <p:nvPr/>
            </p:nvGrpSpPr>
            <p:grpSpPr bwMode="auto">
              <a:xfrm>
                <a:off x="4510" y="1951"/>
                <a:ext cx="288" cy="336"/>
                <a:chOff x="4510" y="1951"/>
                <a:chExt cx="288" cy="336"/>
              </a:xfrm>
            </p:grpSpPr>
            <p:sp>
              <p:nvSpPr>
                <p:cNvPr id="61490" name="Rectangle 50"/>
                <p:cNvSpPr>
                  <a:spLocks noChangeArrowheads="1"/>
                </p:cNvSpPr>
                <p:nvPr/>
              </p:nvSpPr>
              <p:spPr bwMode="auto">
                <a:xfrm>
                  <a:off x="4510" y="1951"/>
                  <a:ext cx="288" cy="240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>
                        <a:gamma/>
                        <a:shade val="36078"/>
                        <a:invGamma/>
                      </a:schemeClr>
                    </a:gs>
                    <a:gs pos="50000">
                      <a:schemeClr val="folHlink">
                        <a:alpha val="17999"/>
                      </a:schemeClr>
                    </a:gs>
                    <a:gs pos="100000">
                      <a:schemeClr val="folHlink">
                        <a:gamma/>
                        <a:shade val="36078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491" name="AutoShape 51"/>
                <p:cNvSpPr>
                  <a:spLocks noChangeArrowheads="1"/>
                </p:cNvSpPr>
                <p:nvPr/>
              </p:nvSpPr>
              <p:spPr bwMode="auto">
                <a:xfrm>
                  <a:off x="4510" y="2191"/>
                  <a:ext cx="288" cy="96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>
                        <a:gamma/>
                        <a:shade val="26275"/>
                        <a:invGamma/>
                      </a:schemeClr>
                    </a:gs>
                    <a:gs pos="50000">
                      <a:schemeClr val="folHlink">
                        <a:alpha val="14999"/>
                      </a:schemeClr>
                    </a:gs>
                    <a:gs pos="100000">
                      <a:schemeClr val="folHlink">
                        <a:gamma/>
                        <a:shade val="26275"/>
                        <a:invGamma/>
                      </a:schemeClr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1492" name="Line 52"/>
              <p:cNvSpPr>
                <a:spLocks noChangeShapeType="1"/>
              </p:cNvSpPr>
              <p:nvPr/>
            </p:nvSpPr>
            <p:spPr bwMode="auto">
              <a:xfrm flipV="1">
                <a:off x="3646" y="2719"/>
                <a:ext cx="336" cy="192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3" name="Line 53"/>
              <p:cNvSpPr>
                <a:spLocks noChangeShapeType="1"/>
              </p:cNvSpPr>
              <p:nvPr/>
            </p:nvSpPr>
            <p:spPr bwMode="auto">
              <a:xfrm>
                <a:off x="3646" y="2911"/>
                <a:ext cx="336" cy="144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4" name="Rectangle 54"/>
              <p:cNvSpPr>
                <a:spLocks noChangeArrowheads="1"/>
              </p:cNvSpPr>
              <p:nvPr/>
            </p:nvSpPr>
            <p:spPr bwMode="auto">
              <a:xfrm rot="-3075295">
                <a:off x="4611" y="2436"/>
                <a:ext cx="61" cy="821"/>
              </a:xfrm>
              <a:prstGeom prst="rect">
                <a:avLst/>
              </a:prstGeom>
              <a:solidFill>
                <a:srgbClr val="B8FCEF">
                  <a:alpha val="50000"/>
                </a:srgbClr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5" name="Line 55"/>
              <p:cNvSpPr>
                <a:spLocks noChangeShapeType="1"/>
              </p:cNvSpPr>
              <p:nvPr/>
            </p:nvSpPr>
            <p:spPr bwMode="auto">
              <a:xfrm>
                <a:off x="4894" y="2287"/>
                <a:ext cx="0" cy="1632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6" name="Line 56"/>
              <p:cNvSpPr>
                <a:spLocks noChangeShapeType="1"/>
              </p:cNvSpPr>
              <p:nvPr/>
            </p:nvSpPr>
            <p:spPr bwMode="auto">
              <a:xfrm>
                <a:off x="4406" y="2287"/>
                <a:ext cx="0" cy="1632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7" name="Line 57"/>
              <p:cNvSpPr>
                <a:spLocks noChangeShapeType="1"/>
              </p:cNvSpPr>
              <p:nvPr/>
            </p:nvSpPr>
            <p:spPr bwMode="auto">
              <a:xfrm>
                <a:off x="3982" y="3055"/>
                <a:ext cx="91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98" name="Text Box 58"/>
              <p:cNvSpPr txBox="1">
                <a:spLocks noChangeArrowheads="1"/>
              </p:cNvSpPr>
              <p:nvPr/>
            </p:nvSpPr>
            <p:spPr bwMode="auto">
              <a:xfrm>
                <a:off x="3406" y="2728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en-US" b="0">
                    <a:solidFill>
                      <a:srgbClr val="000000"/>
                    </a:solidFill>
                  </a:rPr>
                  <a:t>S</a:t>
                </a:r>
                <a:endParaRPr kumimoji="0" lang="en-US" altLang="zh-CN" b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499" name="Text Box 59"/>
              <p:cNvSpPr txBox="1">
                <a:spLocks noChangeArrowheads="1"/>
              </p:cNvSpPr>
              <p:nvPr/>
            </p:nvSpPr>
            <p:spPr bwMode="auto">
              <a:xfrm>
                <a:off x="3886" y="2335"/>
                <a:ext cx="57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b="0">
                    <a:solidFill>
                      <a:srgbClr val="000000"/>
                    </a:solidFill>
                  </a:rPr>
                  <a:t>L</a:t>
                </a:r>
              </a:p>
            </p:txBody>
          </p:sp>
          <p:sp>
            <p:nvSpPr>
              <p:cNvPr id="61500" name="Line 60"/>
              <p:cNvSpPr>
                <a:spLocks noChangeShapeType="1"/>
              </p:cNvSpPr>
              <p:nvPr/>
            </p:nvSpPr>
            <p:spPr bwMode="auto">
              <a:xfrm>
                <a:off x="4400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1" name="Line 61"/>
              <p:cNvSpPr>
                <a:spLocks noChangeShapeType="1"/>
              </p:cNvSpPr>
              <p:nvPr/>
            </p:nvSpPr>
            <p:spPr bwMode="auto">
              <a:xfrm>
                <a:off x="4894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2" name="Line 62"/>
              <p:cNvSpPr>
                <a:spLocks noChangeShapeType="1"/>
              </p:cNvSpPr>
              <p:nvPr/>
            </p:nvSpPr>
            <p:spPr bwMode="auto">
              <a:xfrm>
                <a:off x="4174" y="2742"/>
                <a:ext cx="144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3" name="Line 63"/>
              <p:cNvSpPr>
                <a:spLocks noChangeShapeType="1"/>
              </p:cNvSpPr>
              <p:nvPr/>
            </p:nvSpPr>
            <p:spPr bwMode="auto">
              <a:xfrm>
                <a:off x="4174" y="3055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4" name="Line 64"/>
              <p:cNvSpPr>
                <a:spLocks noChangeShapeType="1"/>
              </p:cNvSpPr>
              <p:nvPr/>
            </p:nvSpPr>
            <p:spPr bwMode="auto">
              <a:xfrm>
                <a:off x="4894" y="228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5" name="Line 65"/>
              <p:cNvSpPr>
                <a:spLocks noChangeShapeType="1"/>
              </p:cNvSpPr>
              <p:nvPr/>
            </p:nvSpPr>
            <p:spPr bwMode="auto">
              <a:xfrm>
                <a:off x="3646" y="2911"/>
                <a:ext cx="1008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6" name="Line 66"/>
              <p:cNvSpPr>
                <a:spLocks noChangeShapeType="1"/>
              </p:cNvSpPr>
              <p:nvPr/>
            </p:nvSpPr>
            <p:spPr bwMode="auto">
              <a:xfrm>
                <a:off x="4174" y="2911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7" name="Line 67"/>
              <p:cNvSpPr>
                <a:spLocks noChangeShapeType="1"/>
              </p:cNvSpPr>
              <p:nvPr/>
            </p:nvSpPr>
            <p:spPr bwMode="auto">
              <a:xfrm>
                <a:off x="4654" y="2287"/>
                <a:ext cx="0" cy="1584"/>
              </a:xfrm>
              <a:prstGeom prst="line">
                <a:avLst/>
              </a:prstGeom>
              <a:noFill/>
              <a:ln w="19050">
                <a:solidFill>
                  <a:srgbClr val="FF505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8" name="Line 68"/>
              <p:cNvSpPr>
                <a:spLocks noChangeShapeType="1"/>
              </p:cNvSpPr>
              <p:nvPr/>
            </p:nvSpPr>
            <p:spPr bwMode="auto">
              <a:xfrm>
                <a:off x="4654" y="324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09" name="AutoShape 69"/>
              <p:cNvSpPr>
                <a:spLocks noChangeArrowheads="1"/>
              </p:cNvSpPr>
              <p:nvPr/>
            </p:nvSpPr>
            <p:spPr bwMode="auto">
              <a:xfrm rot="5443312">
                <a:off x="4582" y="3366"/>
                <a:ext cx="144" cy="863"/>
              </a:xfrm>
              <a:prstGeom prst="moon">
                <a:avLst>
                  <a:gd name="adj" fmla="val 87500"/>
                </a:avLst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10" name="Rectangle 70"/>
              <p:cNvSpPr>
                <a:spLocks noChangeArrowheads="1"/>
              </p:cNvSpPr>
              <p:nvPr/>
            </p:nvSpPr>
            <p:spPr bwMode="auto">
              <a:xfrm>
                <a:off x="4030" y="3823"/>
                <a:ext cx="1248" cy="240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11" name="Line 71"/>
              <p:cNvSpPr>
                <a:spLocks noChangeShapeType="1"/>
              </p:cNvSpPr>
              <p:nvPr/>
            </p:nvSpPr>
            <p:spPr bwMode="auto">
              <a:xfrm flipH="1">
                <a:off x="3982" y="3727"/>
                <a:ext cx="624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prstDash val="dash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12" name="Line 72"/>
              <p:cNvSpPr>
                <a:spLocks noChangeShapeType="1"/>
              </p:cNvSpPr>
              <p:nvPr/>
            </p:nvSpPr>
            <p:spPr bwMode="auto">
              <a:xfrm>
                <a:off x="4174" y="3487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13" name="Line 73"/>
              <p:cNvSpPr>
                <a:spLocks noChangeShapeType="1"/>
              </p:cNvSpPr>
              <p:nvPr/>
            </p:nvSpPr>
            <p:spPr bwMode="auto">
              <a:xfrm flipV="1">
                <a:off x="4174" y="3823"/>
                <a:ext cx="0" cy="192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1514" name="Object 74"/>
              <p:cNvGraphicFramePr>
                <a:graphicFrameLocks noChangeAspect="1"/>
              </p:cNvGraphicFramePr>
              <p:nvPr/>
            </p:nvGraphicFramePr>
            <p:xfrm>
              <a:off x="5050" y="3727"/>
              <a:ext cx="22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69" name="公式" r:id="rId3" imgW="215640" imgH="317160" progId="Equation.3">
                      <p:embed/>
                    </p:oleObj>
                  </mc:Choice>
                  <mc:Fallback>
                    <p:oleObj name="公式" r:id="rId3" imgW="215640" imgH="317160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0" y="3727"/>
                            <a:ext cx="22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515" name="Object 75"/>
              <p:cNvGraphicFramePr>
                <a:graphicFrameLocks noChangeAspect="1"/>
              </p:cNvGraphicFramePr>
              <p:nvPr/>
            </p:nvGraphicFramePr>
            <p:xfrm>
              <a:off x="5050" y="3487"/>
              <a:ext cx="22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70" name="公式" r:id="rId5" imgW="241200" imgH="317160" progId="Equation.3">
                      <p:embed/>
                    </p:oleObj>
                  </mc:Choice>
                  <mc:Fallback>
                    <p:oleObj name="公式" r:id="rId5" imgW="241200" imgH="317160" progId="Equation.3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50" y="3487"/>
                            <a:ext cx="22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516" name="Object 76"/>
              <p:cNvGraphicFramePr>
                <a:graphicFrameLocks noChangeAspect="1"/>
              </p:cNvGraphicFramePr>
              <p:nvPr/>
            </p:nvGraphicFramePr>
            <p:xfrm>
              <a:off x="3802" y="3631"/>
              <a:ext cx="224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71" name="Equation" r:id="rId7" imgW="126720" imgH="190440" progId="Equation.3">
                      <p:embed/>
                    </p:oleObj>
                  </mc:Choice>
                  <mc:Fallback>
                    <p:oleObj name="Equation" r:id="rId7" imgW="126720" imgH="190440" progId="Equation.3">
                      <p:embed/>
                      <p:pic>
                        <p:nvPicPr>
                          <p:cNvPr id="0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2" y="3631"/>
                            <a:ext cx="224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80008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517" name="Line 77"/>
              <p:cNvSpPr>
                <a:spLocks noChangeShapeType="1"/>
              </p:cNvSpPr>
              <p:nvPr/>
            </p:nvSpPr>
            <p:spPr bwMode="auto">
              <a:xfrm>
                <a:off x="3982" y="2744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518" name="Oval 78"/>
              <p:cNvSpPr>
                <a:spLocks noChangeArrowheads="1"/>
              </p:cNvSpPr>
              <p:nvPr/>
            </p:nvSpPr>
            <p:spPr bwMode="auto">
              <a:xfrm>
                <a:off x="3934" y="2623"/>
                <a:ext cx="144" cy="576"/>
              </a:xfrm>
              <a:prstGeom prst="ellipse">
                <a:avLst/>
              </a:prstGeom>
              <a:solidFill>
                <a:srgbClr val="00FFCC">
                  <a:alpha val="50000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19" name="Line 79"/>
              <p:cNvSpPr>
                <a:spLocks noChangeShapeType="1"/>
              </p:cNvSpPr>
              <p:nvPr/>
            </p:nvSpPr>
            <p:spPr bwMode="auto">
              <a:xfrm>
                <a:off x="4654" y="2287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20" name="Freeform 80"/>
              <p:cNvSpPr>
                <a:spLocks/>
              </p:cNvSpPr>
              <p:nvPr/>
            </p:nvSpPr>
            <p:spPr bwMode="auto">
              <a:xfrm>
                <a:off x="4400" y="2287"/>
                <a:ext cx="1" cy="324"/>
              </a:xfrm>
              <a:custGeom>
                <a:avLst/>
                <a:gdLst>
                  <a:gd name="T0" fmla="*/ 0 w 1"/>
                  <a:gd name="T1" fmla="*/ 0 h 324"/>
                  <a:gd name="T2" fmla="*/ 0 w 1"/>
                  <a:gd name="T3" fmla="*/ 324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24">
                    <a:moveTo>
                      <a:pt x="0" y="0"/>
                    </a:moveTo>
                    <a:lnTo>
                      <a:pt x="0" y="324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521" name="Text Box 81"/>
            <p:cNvSpPr txBox="1">
              <a:spLocks noChangeArrowheads="1"/>
            </p:cNvSpPr>
            <p:nvPr/>
          </p:nvSpPr>
          <p:spPr bwMode="auto">
            <a:xfrm>
              <a:off x="4854" y="3491"/>
              <a:ext cx="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/>
              <a:r>
                <a:rPr kumimoji="0" lang="en-US" altLang="zh-CN" b="0">
                  <a:solidFill>
                    <a:srgbClr val="1C1C1C"/>
                  </a:solidFill>
                </a:rPr>
                <a:t>G</a:t>
              </a:r>
            </a:p>
          </p:txBody>
        </p:sp>
      </p:grpSp>
      <p:grpSp>
        <p:nvGrpSpPr>
          <p:cNvPr id="61544" name="Group 104"/>
          <p:cNvGrpSpPr>
            <a:grpSpLocks/>
          </p:cNvGrpSpPr>
          <p:nvPr/>
        </p:nvGrpSpPr>
        <p:grpSpPr bwMode="auto">
          <a:xfrm>
            <a:off x="500063" y="465138"/>
            <a:ext cx="5424487" cy="1171575"/>
            <a:chOff x="315" y="293"/>
            <a:chExt cx="3417" cy="738"/>
          </a:xfrm>
        </p:grpSpPr>
        <p:sp>
          <p:nvSpPr>
            <p:cNvPr id="61480" name="Text Box 40"/>
            <p:cNvSpPr txBox="1">
              <a:spLocks noChangeArrowheads="1"/>
            </p:cNvSpPr>
            <p:nvPr/>
          </p:nvSpPr>
          <p:spPr bwMode="auto">
            <a:xfrm>
              <a:off x="315" y="293"/>
              <a:ext cx="28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CC0000"/>
                  </a:solidFill>
                </a:rPr>
                <a:t>解：</a:t>
              </a:r>
              <a:r>
                <a:rPr kumimoji="0" lang="zh-CN" altLang="en-US">
                  <a:solidFill>
                    <a:srgbClr val="000000"/>
                  </a:solidFill>
                </a:rPr>
                <a:t>条纹为同心圆</a:t>
              </a:r>
            </a:p>
          </p:txBody>
        </p:sp>
        <p:grpSp>
          <p:nvGrpSpPr>
            <p:cNvPr id="61541" name="Group 101"/>
            <p:cNvGrpSpPr>
              <a:grpSpLocks/>
            </p:cNvGrpSpPr>
            <p:nvPr/>
          </p:nvGrpSpPr>
          <p:grpSpPr bwMode="auto">
            <a:xfrm>
              <a:off x="362" y="675"/>
              <a:ext cx="3370" cy="356"/>
              <a:chOff x="362" y="691"/>
              <a:chExt cx="3370" cy="356"/>
            </a:xfrm>
          </p:grpSpPr>
          <p:graphicFrame>
            <p:nvGraphicFramePr>
              <p:cNvPr id="61482" name="Object 42"/>
              <p:cNvGraphicFramePr>
                <a:graphicFrameLocks noChangeAspect="1"/>
              </p:cNvGraphicFramePr>
              <p:nvPr/>
            </p:nvGraphicFramePr>
            <p:xfrm>
              <a:off x="700" y="716"/>
              <a:ext cx="1453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72" name="公式" r:id="rId9" imgW="1002960" imgH="228600" progId="Equation.3">
                      <p:embed/>
                    </p:oleObj>
                  </mc:Choice>
                  <mc:Fallback>
                    <p:oleObj name="公式" r:id="rId9" imgW="1002960" imgH="22860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0" y="716"/>
                            <a:ext cx="1453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486" name="Text Box 46"/>
              <p:cNvSpPr txBox="1">
                <a:spLocks noChangeArrowheads="1"/>
              </p:cNvSpPr>
              <p:nvPr/>
            </p:nvSpPr>
            <p:spPr bwMode="auto">
              <a:xfrm>
                <a:off x="2196" y="691"/>
                <a:ext cx="15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>
                    <a:solidFill>
                      <a:srgbClr val="000000"/>
                    </a:solidFill>
                  </a:rPr>
                  <a:t>时为明条纹</a:t>
                </a:r>
              </a:p>
            </p:txBody>
          </p:sp>
          <p:sp>
            <p:nvSpPr>
              <p:cNvPr id="61525" name="Text Box 85"/>
              <p:cNvSpPr txBox="1">
                <a:spLocks noChangeArrowheads="1"/>
              </p:cNvSpPr>
              <p:nvPr/>
            </p:nvSpPr>
            <p:spPr bwMode="auto">
              <a:xfrm>
                <a:off x="362" y="699"/>
                <a:ext cx="81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>
                    <a:solidFill>
                      <a:srgbClr val="000000"/>
                    </a:solidFill>
                  </a:rPr>
                  <a:t>当</a:t>
                </a:r>
              </a:p>
            </p:txBody>
          </p:sp>
        </p:grpSp>
      </p:grpSp>
      <p:grpSp>
        <p:nvGrpSpPr>
          <p:cNvPr id="61542" name="Group 102"/>
          <p:cNvGrpSpPr>
            <a:grpSpLocks/>
          </p:cNvGrpSpPr>
          <p:nvPr/>
        </p:nvGrpSpPr>
        <p:grpSpPr bwMode="auto">
          <a:xfrm>
            <a:off x="587375" y="1616075"/>
            <a:ext cx="5192713" cy="1020763"/>
            <a:chOff x="370" y="1098"/>
            <a:chExt cx="3271" cy="643"/>
          </a:xfrm>
        </p:grpSpPr>
        <p:graphicFrame>
          <p:nvGraphicFramePr>
            <p:cNvPr id="61485" name="Object 45"/>
            <p:cNvGraphicFramePr>
              <a:graphicFrameLocks noChangeAspect="1"/>
            </p:cNvGraphicFramePr>
            <p:nvPr/>
          </p:nvGraphicFramePr>
          <p:xfrm>
            <a:off x="2519" y="1243"/>
            <a:ext cx="112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3" name="公式" r:id="rId11" imgW="774360" imgH="203040" progId="Equation.3">
                    <p:embed/>
                  </p:oleObj>
                </mc:Choice>
                <mc:Fallback>
                  <p:oleObj name="公式" r:id="rId11" imgW="774360" imgH="20304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9" y="1243"/>
                          <a:ext cx="112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528" name="Group 88"/>
            <p:cNvGrpSpPr>
              <a:grpSpLocks/>
            </p:cNvGrpSpPr>
            <p:nvPr/>
          </p:nvGrpSpPr>
          <p:grpSpPr bwMode="auto">
            <a:xfrm>
              <a:off x="370" y="1098"/>
              <a:ext cx="1895" cy="643"/>
              <a:chOff x="346" y="1018"/>
              <a:chExt cx="1895" cy="643"/>
            </a:xfrm>
          </p:grpSpPr>
          <p:graphicFrame>
            <p:nvGraphicFramePr>
              <p:cNvPr id="61484" name="Object 44"/>
              <p:cNvGraphicFramePr>
                <a:graphicFrameLocks noChangeAspect="1"/>
              </p:cNvGraphicFramePr>
              <p:nvPr/>
            </p:nvGraphicFramePr>
            <p:xfrm>
              <a:off x="1211" y="1018"/>
              <a:ext cx="1030" cy="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574" name="公式" r:id="rId13" imgW="711000" imgH="444240" progId="Equation.3">
                      <p:embed/>
                    </p:oleObj>
                  </mc:Choice>
                  <mc:Fallback>
                    <p:oleObj name="公式" r:id="rId13" imgW="711000" imgH="44424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1" y="1018"/>
                            <a:ext cx="1030" cy="6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527" name="Text Box 87"/>
              <p:cNvSpPr txBox="1">
                <a:spLocks noChangeArrowheads="1"/>
              </p:cNvSpPr>
              <p:nvPr/>
            </p:nvSpPr>
            <p:spPr bwMode="auto">
              <a:xfrm>
                <a:off x="346" y="1153"/>
                <a:ext cx="124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zh-CN" altLang="en-US">
                    <a:solidFill>
                      <a:srgbClr val="000000"/>
                    </a:solidFill>
                  </a:rPr>
                  <a:t>整理的：</a:t>
                </a:r>
              </a:p>
            </p:txBody>
          </p:sp>
        </p:grpSp>
      </p:grpSp>
      <p:grpSp>
        <p:nvGrpSpPr>
          <p:cNvPr id="61543" name="Group 103"/>
          <p:cNvGrpSpPr>
            <a:grpSpLocks/>
          </p:cNvGrpSpPr>
          <p:nvPr/>
        </p:nvGrpSpPr>
        <p:grpSpPr bwMode="auto">
          <a:xfrm>
            <a:off x="506413" y="2601913"/>
            <a:ext cx="3546475" cy="585787"/>
            <a:chOff x="319" y="1775"/>
            <a:chExt cx="2234" cy="369"/>
          </a:xfrm>
        </p:grpSpPr>
        <p:sp>
          <p:nvSpPr>
            <p:cNvPr id="61529" name="Text Box 89"/>
            <p:cNvSpPr txBox="1">
              <a:spLocks noChangeArrowheads="1"/>
            </p:cNvSpPr>
            <p:nvPr/>
          </p:nvSpPr>
          <p:spPr bwMode="auto">
            <a:xfrm>
              <a:off x="319" y="1775"/>
              <a:ext cx="13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</a:rPr>
                <a:t>油膜边缘：</a:t>
              </a:r>
            </a:p>
          </p:txBody>
        </p:sp>
        <p:graphicFrame>
          <p:nvGraphicFramePr>
            <p:cNvPr id="61530" name="Object 90"/>
            <p:cNvGraphicFramePr>
              <a:graphicFrameLocks noChangeAspect="1"/>
            </p:cNvGraphicFramePr>
            <p:nvPr/>
          </p:nvGraphicFramePr>
          <p:xfrm>
            <a:off x="1394" y="1813"/>
            <a:ext cx="1159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5" name="公式" r:id="rId15" imgW="799920" imgH="228600" progId="Equation.3">
                    <p:embed/>
                  </p:oleObj>
                </mc:Choice>
                <mc:Fallback>
                  <p:oleObj name="公式" r:id="rId15" imgW="799920" imgH="228600" progId="Equation.3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4" y="1813"/>
                          <a:ext cx="1159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533" name="Object 93"/>
          <p:cNvGraphicFramePr>
            <a:graphicFrameLocks noChangeAspect="1"/>
          </p:cNvGraphicFramePr>
          <p:nvPr/>
        </p:nvGraphicFramePr>
        <p:xfrm>
          <a:off x="650875" y="3251200"/>
          <a:ext cx="283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6" name="公式" r:id="rId17" imgW="1231560" imgH="215640" progId="Equation.3">
                  <p:embed/>
                </p:oleObj>
              </mc:Choice>
              <mc:Fallback>
                <p:oleObj name="公式" r:id="rId17" imgW="1231560" imgH="21564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251200"/>
                        <a:ext cx="283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4" name="Object 94"/>
          <p:cNvGraphicFramePr>
            <a:graphicFrameLocks noChangeAspect="1"/>
          </p:cNvGraphicFramePr>
          <p:nvPr/>
        </p:nvGraphicFramePr>
        <p:xfrm>
          <a:off x="650875" y="3898900"/>
          <a:ext cx="28908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7" name="公式" r:id="rId19" imgW="1257120" imgH="215640" progId="Equation.3">
                  <p:embed/>
                </p:oleObj>
              </mc:Choice>
              <mc:Fallback>
                <p:oleObj name="公式" r:id="rId19" imgW="1257120" imgH="21564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898900"/>
                        <a:ext cx="28908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5" name="Object 95"/>
          <p:cNvGraphicFramePr>
            <a:graphicFrameLocks noChangeAspect="1"/>
          </p:cNvGraphicFramePr>
          <p:nvPr/>
        </p:nvGraphicFramePr>
        <p:xfrm>
          <a:off x="650875" y="4546600"/>
          <a:ext cx="289083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8" name="公式" r:id="rId21" imgW="1257120" imgH="228600" progId="Equation.3">
                  <p:embed/>
                </p:oleObj>
              </mc:Choice>
              <mc:Fallback>
                <p:oleObj name="公式" r:id="rId21" imgW="1257120" imgH="22860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4546600"/>
                        <a:ext cx="2890838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6" name="Object 96"/>
          <p:cNvGraphicFramePr>
            <a:graphicFrameLocks noChangeAspect="1"/>
          </p:cNvGraphicFramePr>
          <p:nvPr/>
        </p:nvGraphicFramePr>
        <p:xfrm>
          <a:off x="650875" y="5226050"/>
          <a:ext cx="30368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9" name="公式" r:id="rId23" imgW="1320480" imgH="215640" progId="Equation.3">
                  <p:embed/>
                </p:oleObj>
              </mc:Choice>
              <mc:Fallback>
                <p:oleObj name="公式" r:id="rId23" imgW="1320480" imgH="215640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5226050"/>
                        <a:ext cx="30368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40" name="Group 100"/>
          <p:cNvGrpSpPr>
            <a:grpSpLocks/>
          </p:cNvGrpSpPr>
          <p:nvPr/>
        </p:nvGrpSpPr>
        <p:grpSpPr bwMode="auto">
          <a:xfrm>
            <a:off x="568325" y="5756275"/>
            <a:ext cx="7691438" cy="604838"/>
            <a:chOff x="358" y="3778"/>
            <a:chExt cx="4845" cy="381"/>
          </a:xfrm>
        </p:grpSpPr>
        <p:sp>
          <p:nvSpPr>
            <p:cNvPr id="61538" name="Text Box 98"/>
            <p:cNvSpPr txBox="1">
              <a:spLocks noChangeArrowheads="1"/>
            </p:cNvSpPr>
            <p:nvPr/>
          </p:nvSpPr>
          <p:spPr bwMode="auto">
            <a:xfrm>
              <a:off x="358" y="3778"/>
              <a:ext cx="4845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0" lang="zh-CN" altLang="en-US">
                  <a:solidFill>
                    <a:srgbClr val="1C1C1C"/>
                  </a:solidFill>
                </a:rPr>
                <a:t>由于                            故可观察到</a:t>
              </a:r>
              <a:r>
                <a:rPr kumimoji="0" lang="zh-CN" altLang="en-US">
                  <a:solidFill>
                    <a:srgbClr val="CC0000"/>
                  </a:solidFill>
                </a:rPr>
                <a:t>四条明纹</a:t>
              </a:r>
              <a:r>
                <a:rPr kumimoji="0" lang="zh-CN" altLang="en-US">
                  <a:solidFill>
                    <a:srgbClr val="1C1C1C"/>
                  </a:solidFill>
                </a:rPr>
                <a:t> </a:t>
              </a:r>
              <a:r>
                <a:rPr kumimoji="0" lang="en-US" altLang="zh-CN">
                  <a:solidFill>
                    <a:srgbClr val="1C1C1C"/>
                  </a:solidFill>
                </a:rPr>
                <a:t>.</a:t>
              </a:r>
            </a:p>
          </p:txBody>
        </p:sp>
        <p:graphicFrame>
          <p:nvGraphicFramePr>
            <p:cNvPr id="61539" name="Object 99"/>
            <p:cNvGraphicFramePr>
              <a:graphicFrameLocks noChangeAspect="1"/>
            </p:cNvGraphicFramePr>
            <p:nvPr/>
          </p:nvGraphicFramePr>
          <p:xfrm>
            <a:off x="920" y="3821"/>
            <a:ext cx="147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0" name="公式" r:id="rId25" imgW="1015920" imgH="203040" progId="Equation.3">
                    <p:embed/>
                  </p:oleObj>
                </mc:Choice>
                <mc:Fallback>
                  <p:oleObj name="公式" r:id="rId25" imgW="1015920" imgH="20304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3821"/>
                          <a:ext cx="147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22300" y="495300"/>
            <a:ext cx="7916863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rgbClr val="CC0000"/>
                </a:solidFill>
              </a:rPr>
              <a:t>例</a:t>
            </a:r>
            <a:r>
              <a:rPr lang="en-US" altLang="zh-CN">
                <a:solidFill>
                  <a:srgbClr val="CC0000"/>
                </a:solidFill>
              </a:rPr>
              <a:t>3</a:t>
            </a:r>
            <a:r>
              <a:rPr lang="en-US" altLang="zh-CN"/>
              <a:t>   </a:t>
            </a:r>
            <a:r>
              <a:rPr lang="zh-CN" altLang="en-US"/>
              <a:t>用波长为</a:t>
            </a:r>
            <a:r>
              <a:rPr lang="en-US" altLang="zh-CN"/>
              <a:t>633</a:t>
            </a:r>
            <a:r>
              <a:rPr lang="en-US" altLang="zh-CN" i="1"/>
              <a:t>nm</a:t>
            </a:r>
            <a:r>
              <a:rPr lang="zh-CN" altLang="en-US"/>
              <a:t>的单色光作牛顿环实验，测得第 </a:t>
            </a:r>
            <a:r>
              <a:rPr lang="en-US" altLang="zh-CN" i="1"/>
              <a:t>k </a:t>
            </a:r>
            <a:r>
              <a:rPr lang="zh-CN" altLang="en-US"/>
              <a:t>个暗环的半径为</a:t>
            </a:r>
            <a:r>
              <a:rPr lang="en-US" altLang="zh-CN"/>
              <a:t>5.63</a:t>
            </a:r>
            <a:r>
              <a:rPr lang="en-US" altLang="zh-CN" i="1"/>
              <a:t>mm </a:t>
            </a:r>
            <a:r>
              <a:rPr lang="en-US" altLang="zh-CN"/>
              <a:t>, </a:t>
            </a:r>
            <a:r>
              <a:rPr lang="zh-CN" altLang="en-US"/>
              <a:t>第 </a:t>
            </a:r>
            <a:r>
              <a:rPr lang="en-US" altLang="zh-CN" i="1"/>
              <a:t>k </a:t>
            </a:r>
            <a:r>
              <a:rPr lang="en-US" altLang="zh-CN"/>
              <a:t>+ 5</a:t>
            </a:r>
            <a:r>
              <a:rPr lang="zh-CN" altLang="en-US"/>
              <a:t>个暗环的半径为</a:t>
            </a:r>
            <a:r>
              <a:rPr lang="en-US" altLang="zh-CN"/>
              <a:t>7.96</a:t>
            </a:r>
            <a:r>
              <a:rPr lang="en-US" altLang="zh-CN" i="1"/>
              <a:t>mm </a:t>
            </a:r>
            <a:r>
              <a:rPr lang="en-US" altLang="zh-CN"/>
              <a:t>, </a:t>
            </a:r>
            <a:r>
              <a:rPr lang="zh-CN" altLang="en-US">
                <a:solidFill>
                  <a:srgbClr val="A50021"/>
                </a:solidFill>
              </a:rPr>
              <a:t>求：</a:t>
            </a:r>
            <a:r>
              <a:rPr lang="zh-CN" altLang="en-US"/>
              <a:t>平凸透镜的曲率半径 </a:t>
            </a:r>
            <a:r>
              <a:rPr lang="en-US" altLang="zh-CN" i="1"/>
              <a:t>R</a:t>
            </a:r>
            <a:r>
              <a:rPr lang="zh-CN" altLang="en-US"/>
              <a:t>。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622300" y="2136775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CC0000"/>
                </a:solidFill>
              </a:rPr>
              <a:t>解：</a:t>
            </a:r>
            <a:r>
              <a:rPr lang="zh-CN" altLang="en-US"/>
              <a:t>应用暗环半径公式：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1092200" y="2819400"/>
          <a:ext cx="39703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公式" r:id="rId3" imgW="1726920" imgH="241200" progId="Equation.3">
                  <p:embed/>
                </p:oleObj>
              </mc:Choice>
              <mc:Fallback>
                <p:oleObj name="公式" r:id="rId3" imgW="172692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819400"/>
                        <a:ext cx="397033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1092200" y="3562350"/>
          <a:ext cx="49339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公式" r:id="rId5" imgW="2145960" imgH="253800" progId="Equation.3">
                  <p:embed/>
                </p:oleObj>
              </mc:Choice>
              <mc:Fallback>
                <p:oleObj name="公式" r:id="rId5" imgW="214596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3562350"/>
                        <a:ext cx="49339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1104900" y="5275263"/>
          <a:ext cx="5722938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公式" r:id="rId7" imgW="2489040" imgH="419040" progId="Equation.3">
                  <p:embed/>
                </p:oleObj>
              </mc:Choice>
              <mc:Fallback>
                <p:oleObj name="公式" r:id="rId7" imgW="248904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5275263"/>
                        <a:ext cx="5722938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69" name="Group 21"/>
          <p:cNvGrpSpPr>
            <a:grpSpLocks/>
          </p:cNvGrpSpPr>
          <p:nvPr/>
        </p:nvGrpSpPr>
        <p:grpSpPr bwMode="auto">
          <a:xfrm>
            <a:off x="1092200" y="4432300"/>
            <a:ext cx="3443288" cy="566738"/>
            <a:chOff x="768" y="2968"/>
            <a:chExt cx="2169" cy="357"/>
          </a:xfrm>
        </p:grpSpPr>
        <p:graphicFrame>
          <p:nvGraphicFramePr>
            <p:cNvPr id="27654" name="Object 6"/>
            <p:cNvGraphicFramePr>
              <a:graphicFrameLocks noChangeAspect="1"/>
            </p:cNvGraphicFramePr>
            <p:nvPr/>
          </p:nvGraphicFramePr>
          <p:xfrm>
            <a:off x="1374" y="2976"/>
            <a:ext cx="1563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82" name="公式" r:id="rId9" imgW="1079280" imgH="241200" progId="Equation.3">
                    <p:embed/>
                  </p:oleObj>
                </mc:Choice>
                <mc:Fallback>
                  <p:oleObj name="公式" r:id="rId9" imgW="1079280" imgH="241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4" y="2976"/>
                          <a:ext cx="1563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6" name="Text Box 8"/>
            <p:cNvSpPr txBox="1">
              <a:spLocks noChangeArrowheads="1"/>
            </p:cNvSpPr>
            <p:nvPr/>
          </p:nvSpPr>
          <p:spPr bwMode="auto">
            <a:xfrm>
              <a:off x="768" y="2968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/>
                <a:t>可得：</a:t>
              </a:r>
            </a:p>
          </p:txBody>
        </p:sp>
      </p:grpSp>
      <p:grpSp>
        <p:nvGrpSpPr>
          <p:cNvPr id="27662" name="Group 14"/>
          <p:cNvGrpSpPr>
            <a:grpSpLocks/>
          </p:cNvGrpSpPr>
          <p:nvPr/>
        </p:nvGrpSpPr>
        <p:grpSpPr bwMode="auto">
          <a:xfrm rot="-63900000" flipH="1" flipV="1">
            <a:off x="6548438" y="2667000"/>
            <a:ext cx="1830387" cy="1830388"/>
            <a:chOff x="4176" y="576"/>
            <a:chExt cx="864" cy="864"/>
          </a:xfrm>
        </p:grpSpPr>
        <p:sp>
          <p:nvSpPr>
            <p:cNvPr id="27663" name="Oval 15"/>
            <p:cNvSpPr>
              <a:spLocks noChangeArrowheads="1"/>
            </p:cNvSpPr>
            <p:nvPr/>
          </p:nvSpPr>
          <p:spPr bwMode="auto">
            <a:xfrm>
              <a:off x="4512" y="91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Oval 16"/>
            <p:cNvSpPr>
              <a:spLocks noChangeArrowheads="1"/>
            </p:cNvSpPr>
            <p:nvPr/>
          </p:nvSpPr>
          <p:spPr bwMode="auto">
            <a:xfrm>
              <a:off x="4416" y="816"/>
              <a:ext cx="384" cy="384"/>
            </a:xfrm>
            <a:prstGeom prst="ellipse">
              <a:avLst/>
            </a:prstGeom>
            <a:noFill/>
            <a:ln w="762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Oval 17"/>
            <p:cNvSpPr>
              <a:spLocks noChangeArrowheads="1"/>
            </p:cNvSpPr>
            <p:nvPr/>
          </p:nvSpPr>
          <p:spPr bwMode="auto">
            <a:xfrm>
              <a:off x="4320" y="720"/>
              <a:ext cx="576" cy="576"/>
            </a:xfrm>
            <a:prstGeom prst="ellipse">
              <a:avLst/>
            </a:prstGeom>
            <a:noFill/>
            <a:ln w="5715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Oval 18"/>
            <p:cNvSpPr>
              <a:spLocks noChangeArrowheads="1"/>
            </p:cNvSpPr>
            <p:nvPr/>
          </p:nvSpPr>
          <p:spPr bwMode="auto">
            <a:xfrm>
              <a:off x="4272" y="672"/>
              <a:ext cx="672" cy="672"/>
            </a:xfrm>
            <a:prstGeom prst="ellips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Oval 19"/>
            <p:cNvSpPr>
              <a:spLocks noChangeArrowheads="1"/>
            </p:cNvSpPr>
            <p:nvPr/>
          </p:nvSpPr>
          <p:spPr bwMode="auto">
            <a:xfrm>
              <a:off x="4224" y="624"/>
              <a:ext cx="768" cy="768"/>
            </a:xfrm>
            <a:prstGeom prst="ellips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Oval 20"/>
            <p:cNvSpPr>
              <a:spLocks noChangeArrowheads="1"/>
            </p:cNvSpPr>
            <p:nvPr/>
          </p:nvSpPr>
          <p:spPr bwMode="auto">
            <a:xfrm>
              <a:off x="4176" y="576"/>
              <a:ext cx="864" cy="864"/>
            </a:xfrm>
            <a:prstGeom prst="ellips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34" name="Object 26"/>
          <p:cNvGraphicFramePr>
            <a:graphicFrameLocks noChangeAspect="1"/>
          </p:cNvGraphicFramePr>
          <p:nvPr/>
        </p:nvGraphicFramePr>
        <p:xfrm>
          <a:off x="4083050" y="3446463"/>
          <a:ext cx="3554413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8" name="公式" r:id="rId3" imgW="1777680" imgH="444240" progId="Equation.3">
                  <p:embed/>
                </p:oleObj>
              </mc:Choice>
              <mc:Fallback>
                <p:oleObj name="公式" r:id="rId3" imgW="1777680" imgH="44424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3446463"/>
                        <a:ext cx="3554413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579438" y="2487613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C0000"/>
                </a:solidFill>
              </a:rPr>
              <a:t>求：</a:t>
            </a:r>
            <a:r>
              <a:rPr lang="zh-CN" altLang="en-US"/>
              <a:t>紫光的波长？</a:t>
            </a: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566738" y="3003550"/>
            <a:ext cx="411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C0000"/>
                </a:solidFill>
              </a:rPr>
              <a:t>解：</a:t>
            </a:r>
            <a:r>
              <a:rPr lang="zh-CN" altLang="en-US"/>
              <a:t>根据明环半径公式：</a:t>
            </a:r>
          </a:p>
        </p:txBody>
      </p:sp>
      <p:graphicFrame>
        <p:nvGraphicFramePr>
          <p:cNvPr id="17437" name="Object 29"/>
          <p:cNvGraphicFramePr>
            <a:graphicFrameLocks noChangeAspect="1"/>
          </p:cNvGraphicFramePr>
          <p:nvPr/>
        </p:nvGraphicFramePr>
        <p:xfrm>
          <a:off x="1155700" y="3511550"/>
          <a:ext cx="22860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" name="公式" r:id="rId5" imgW="1143000" imgH="444240" progId="Equation.3">
                  <p:embed/>
                </p:oleObj>
              </mc:Choice>
              <mc:Fallback>
                <p:oleObj name="公式" r:id="rId5" imgW="1143000" imgH="4442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3511550"/>
                        <a:ext cx="22860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8" name="Object 30"/>
          <p:cNvGraphicFramePr>
            <a:graphicFrameLocks noChangeAspect="1"/>
          </p:cNvGraphicFramePr>
          <p:nvPr/>
        </p:nvGraphicFramePr>
        <p:xfrm>
          <a:off x="1285875" y="4721225"/>
          <a:ext cx="22082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0" name="公式" r:id="rId7" imgW="1104840" imgH="241200" progId="Equation.3">
                  <p:embed/>
                </p:oleObj>
              </mc:Choice>
              <mc:Fallback>
                <p:oleObj name="公式" r:id="rId7" imgW="1104840" imgH="241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721225"/>
                        <a:ext cx="22082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Object 39"/>
          <p:cNvGraphicFramePr>
            <a:graphicFrameLocks noChangeAspect="1"/>
          </p:cNvGraphicFramePr>
          <p:nvPr/>
        </p:nvGraphicFramePr>
        <p:xfrm>
          <a:off x="1192213" y="5561013"/>
          <a:ext cx="56372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1" name="公式" r:id="rId9" imgW="2819160" imgH="419040" progId="Equation.3">
                  <p:embed/>
                </p:oleObj>
              </mc:Choice>
              <mc:Fallback>
                <p:oleObj name="公式" r:id="rId9" imgW="2819160" imgH="4190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5561013"/>
                        <a:ext cx="56372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98" name="Group 90"/>
          <p:cNvGrpSpPr>
            <a:grpSpLocks/>
          </p:cNvGrpSpPr>
          <p:nvPr/>
        </p:nvGrpSpPr>
        <p:grpSpPr bwMode="auto">
          <a:xfrm>
            <a:off x="579438" y="328613"/>
            <a:ext cx="8716962" cy="2176462"/>
            <a:chOff x="229" y="215"/>
            <a:chExt cx="5491" cy="1371"/>
          </a:xfrm>
        </p:grpSpPr>
        <p:sp>
          <p:nvSpPr>
            <p:cNvPr id="17410" name="Text Box 2"/>
            <p:cNvSpPr txBox="1">
              <a:spLocks noChangeArrowheads="1"/>
            </p:cNvSpPr>
            <p:nvPr/>
          </p:nvSpPr>
          <p:spPr bwMode="auto">
            <a:xfrm>
              <a:off x="229" y="215"/>
              <a:ext cx="5491" cy="1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>
                  <a:solidFill>
                    <a:srgbClr val="CC0000"/>
                  </a:solidFill>
                </a:rPr>
                <a:t>例</a:t>
              </a:r>
              <a:r>
                <a:rPr lang="en-US" altLang="zh-CN">
                  <a:solidFill>
                    <a:srgbClr val="CC0000"/>
                  </a:solidFill>
                </a:rPr>
                <a:t>4  </a:t>
              </a:r>
              <a:r>
                <a:rPr lang="zh-CN" altLang="en-US"/>
                <a:t>用牛顿环测光波波长已知：用紫光照射，借助    于低倍测量显微镜测得由中心往外数第 </a:t>
              </a:r>
              <a:r>
                <a:rPr lang="en-US" altLang="zh-CN" i="1"/>
                <a:t>k</a:t>
              </a:r>
              <a:r>
                <a:rPr lang="en-US" altLang="zh-CN"/>
                <a:t> </a:t>
              </a:r>
              <a:r>
                <a:rPr lang="zh-CN" altLang="en-US"/>
                <a:t>级明环的     半径</a:t>
              </a:r>
            </a:p>
          </p:txBody>
        </p:sp>
        <p:graphicFrame>
          <p:nvGraphicFramePr>
            <p:cNvPr id="17432" name="Object 24"/>
            <p:cNvGraphicFramePr>
              <a:graphicFrameLocks noChangeAspect="1"/>
            </p:cNvGraphicFramePr>
            <p:nvPr/>
          </p:nvGraphicFramePr>
          <p:xfrm>
            <a:off x="766" y="901"/>
            <a:ext cx="166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22" name="公式" r:id="rId11" imgW="1028520" imgH="241200" progId="Equation.3">
                    <p:embed/>
                  </p:oleObj>
                </mc:Choice>
                <mc:Fallback>
                  <p:oleObj name="公式" r:id="rId11" imgW="1028520" imgH="24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" y="901"/>
                          <a:ext cx="1669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25"/>
            <p:cNvGraphicFramePr>
              <a:graphicFrameLocks noChangeAspect="1"/>
            </p:cNvGraphicFramePr>
            <p:nvPr/>
          </p:nvGraphicFramePr>
          <p:xfrm>
            <a:off x="312" y="1236"/>
            <a:ext cx="168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23" name="公式" r:id="rId13" imgW="1168200" imgH="241200" progId="Equation.3">
                    <p:embed/>
                  </p:oleObj>
                </mc:Choice>
                <mc:Fallback>
                  <p:oleObj name="公式" r:id="rId13" imgW="1168200" imgH="2412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" y="1236"/>
                          <a:ext cx="1687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95" name="Object 87"/>
            <p:cNvGraphicFramePr>
              <a:graphicFrameLocks noChangeAspect="1"/>
            </p:cNvGraphicFramePr>
            <p:nvPr/>
          </p:nvGraphicFramePr>
          <p:xfrm>
            <a:off x="4294" y="1278"/>
            <a:ext cx="92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24" name="公式" r:id="rId15" imgW="634680" imgH="177480" progId="Equation.3">
                    <p:embed/>
                  </p:oleObj>
                </mc:Choice>
                <mc:Fallback>
                  <p:oleObj name="公式" r:id="rId15" imgW="634680" imgH="17748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4" y="1278"/>
                          <a:ext cx="92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96" name="Rectangle 88"/>
            <p:cNvSpPr>
              <a:spLocks noChangeArrowheads="1"/>
            </p:cNvSpPr>
            <p:nvPr/>
          </p:nvSpPr>
          <p:spPr bwMode="auto">
            <a:xfrm>
              <a:off x="2399" y="909"/>
              <a:ext cx="29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,</a:t>
              </a:r>
              <a:r>
                <a:rPr lang="en-US" altLang="zh-CN" i="1"/>
                <a:t> k</a:t>
              </a:r>
              <a:r>
                <a:rPr lang="en-US" altLang="zh-CN"/>
                <a:t> </a:t>
              </a:r>
              <a:r>
                <a:rPr lang="zh-CN" altLang="zh-CN"/>
                <a:t>级往上数第</a:t>
              </a:r>
              <a:r>
                <a:rPr lang="en-US" altLang="zh-CN"/>
                <a:t>16 </a:t>
              </a:r>
              <a:r>
                <a:rPr lang="zh-CN" altLang="en-US"/>
                <a:t>个明环半径</a:t>
              </a:r>
            </a:p>
          </p:txBody>
        </p:sp>
        <p:sp>
          <p:nvSpPr>
            <p:cNvPr id="17497" name="Rectangle 89"/>
            <p:cNvSpPr>
              <a:spLocks noChangeArrowheads="1"/>
            </p:cNvSpPr>
            <p:nvPr/>
          </p:nvSpPr>
          <p:spPr bwMode="auto">
            <a:xfrm>
              <a:off x="1956" y="1223"/>
              <a:ext cx="2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，平凸透镜的曲率半径</a:t>
              </a:r>
            </a:p>
          </p:txBody>
        </p:sp>
      </p:grpSp>
      <p:grpSp>
        <p:nvGrpSpPr>
          <p:cNvPr id="17501" name="Group 93"/>
          <p:cNvGrpSpPr>
            <a:grpSpLocks/>
          </p:cNvGrpSpPr>
          <p:nvPr/>
        </p:nvGrpSpPr>
        <p:grpSpPr bwMode="auto">
          <a:xfrm>
            <a:off x="3802063" y="4570413"/>
            <a:ext cx="2719387" cy="747712"/>
            <a:chOff x="2395" y="2879"/>
            <a:chExt cx="1713" cy="471"/>
          </a:xfrm>
        </p:grpSpPr>
        <p:graphicFrame>
          <p:nvGraphicFramePr>
            <p:cNvPr id="17499" name="Object 91"/>
            <p:cNvGraphicFramePr>
              <a:graphicFrameLocks noChangeAspect="1"/>
            </p:cNvGraphicFramePr>
            <p:nvPr/>
          </p:nvGraphicFramePr>
          <p:xfrm>
            <a:off x="3153" y="2879"/>
            <a:ext cx="955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25" name="公式" r:id="rId17" imgW="850680" imgH="419040" progId="Equation.3">
                    <p:embed/>
                  </p:oleObj>
                </mc:Choice>
                <mc:Fallback>
                  <p:oleObj name="公式" r:id="rId17" imgW="850680" imgH="419040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3" y="2879"/>
                          <a:ext cx="955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500" name="AutoShape 92"/>
            <p:cNvSpPr>
              <a:spLocks noChangeArrowheads="1"/>
            </p:cNvSpPr>
            <p:nvPr/>
          </p:nvSpPr>
          <p:spPr bwMode="auto">
            <a:xfrm>
              <a:off x="2395" y="3060"/>
              <a:ext cx="501" cy="140"/>
            </a:xfrm>
            <a:prstGeom prst="rightArrow">
              <a:avLst>
                <a:gd name="adj1" fmla="val 50000"/>
                <a:gd name="adj2" fmla="val 89464"/>
              </a:avLst>
            </a:prstGeom>
            <a:solidFill>
              <a:srgbClr val="FF99CC">
                <a:alpha val="55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266F9-5AD2-4A95-9C6D-18DBF42132A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525463" y="64293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Ø"/>
            </a:pPr>
            <a:r>
              <a:rPr kumimoji="0" lang="en-US" altLang="zh-CN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0" lang="zh-CN" altLang="en-US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等厚干涉总结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546100" y="1228725"/>
            <a:ext cx="42132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en-US" altLang="zh-CN">
                <a:solidFill>
                  <a:srgbClr val="CC0000"/>
                </a:solidFill>
              </a:rPr>
              <a:t>(1)  </a:t>
            </a:r>
            <a:r>
              <a:rPr kumimoji="0" lang="zh-CN" altLang="en-US">
                <a:solidFill>
                  <a:srgbClr val="000000"/>
                </a:solidFill>
              </a:rPr>
              <a:t>干涉条纹为光程差相同的点的轨迹，即厚度相等的点的轨迹</a:t>
            </a:r>
            <a:r>
              <a:rPr kumimoji="0" lang="en-US" altLang="zh-CN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1106488" y="3208338"/>
          <a:ext cx="10207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0" name="公式" r:id="rId3" imgW="444240" imgH="177480" progId="Equation.3">
                  <p:embed/>
                </p:oleObj>
              </mc:Choice>
              <mc:Fallback>
                <p:oleObj name="公式" r:id="rId3" imgW="444240" imgH="177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3208338"/>
                        <a:ext cx="10207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2501900" y="2944813"/>
          <a:ext cx="13430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1" name="公式" r:id="rId5" imgW="583920" imgH="406080" progId="Equation.3">
                  <p:embed/>
                </p:oleObj>
              </mc:Choice>
              <mc:Fallback>
                <p:oleObj name="公式" r:id="rId5" imgW="58392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944813"/>
                        <a:ext cx="13430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5154613" y="1435100"/>
            <a:ext cx="3263900" cy="222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 rot="21051304">
            <a:off x="5113338" y="930275"/>
            <a:ext cx="3260725" cy="22383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4522" name="Group 10"/>
          <p:cNvGrpSpPr>
            <a:grpSpLocks/>
          </p:cNvGrpSpPr>
          <p:nvPr/>
        </p:nvGrpSpPr>
        <p:grpSpPr bwMode="auto">
          <a:xfrm>
            <a:off x="5154613" y="1771650"/>
            <a:ext cx="3217862" cy="588963"/>
            <a:chOff x="1056" y="3072"/>
            <a:chExt cx="1920" cy="336"/>
          </a:xfrm>
        </p:grpSpPr>
        <p:sp>
          <p:nvSpPr>
            <p:cNvPr id="64523" name="Rectangle 11"/>
            <p:cNvSpPr>
              <a:spLocks noChangeArrowheads="1"/>
            </p:cNvSpPr>
            <p:nvPr/>
          </p:nvSpPr>
          <p:spPr bwMode="auto">
            <a:xfrm>
              <a:off x="1056" y="3072"/>
              <a:ext cx="1885" cy="33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4" name="Rectangle 12"/>
            <p:cNvSpPr>
              <a:spLocks noChangeArrowheads="1"/>
            </p:cNvSpPr>
            <p:nvPr/>
          </p:nvSpPr>
          <p:spPr bwMode="auto">
            <a:xfrm>
              <a:off x="1622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5" name="Rectangle 13"/>
            <p:cNvSpPr>
              <a:spLocks noChangeArrowheads="1"/>
            </p:cNvSpPr>
            <p:nvPr/>
          </p:nvSpPr>
          <p:spPr bwMode="auto">
            <a:xfrm>
              <a:off x="1435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6" name="Rectangle 14"/>
            <p:cNvSpPr>
              <a:spLocks noChangeArrowheads="1"/>
            </p:cNvSpPr>
            <p:nvPr/>
          </p:nvSpPr>
          <p:spPr bwMode="auto">
            <a:xfrm>
              <a:off x="1058" y="3073"/>
              <a:ext cx="90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7" name="Rectangle 15"/>
            <p:cNvSpPr>
              <a:spLocks noChangeArrowheads="1"/>
            </p:cNvSpPr>
            <p:nvPr/>
          </p:nvSpPr>
          <p:spPr bwMode="auto">
            <a:xfrm>
              <a:off x="1810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8" name="Rectangle 16"/>
            <p:cNvSpPr>
              <a:spLocks noChangeArrowheads="1"/>
            </p:cNvSpPr>
            <p:nvPr/>
          </p:nvSpPr>
          <p:spPr bwMode="auto">
            <a:xfrm>
              <a:off x="1246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29" name="Rectangle 17"/>
            <p:cNvSpPr>
              <a:spLocks noChangeArrowheads="1"/>
            </p:cNvSpPr>
            <p:nvPr/>
          </p:nvSpPr>
          <p:spPr bwMode="auto">
            <a:xfrm>
              <a:off x="1998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0" name="Rectangle 18"/>
            <p:cNvSpPr>
              <a:spLocks noChangeArrowheads="1"/>
            </p:cNvSpPr>
            <p:nvPr/>
          </p:nvSpPr>
          <p:spPr bwMode="auto">
            <a:xfrm>
              <a:off x="2186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1" name="Rectangle 19"/>
            <p:cNvSpPr>
              <a:spLocks noChangeArrowheads="1"/>
            </p:cNvSpPr>
            <p:nvPr/>
          </p:nvSpPr>
          <p:spPr bwMode="auto">
            <a:xfrm>
              <a:off x="2374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32" name="Rectangle 20"/>
            <p:cNvSpPr>
              <a:spLocks noChangeArrowheads="1"/>
            </p:cNvSpPr>
            <p:nvPr/>
          </p:nvSpPr>
          <p:spPr bwMode="auto">
            <a:xfrm>
              <a:off x="2561" y="3073"/>
              <a:ext cx="89" cy="33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4533" name="Group 21"/>
            <p:cNvGrpSpPr>
              <a:grpSpLocks/>
            </p:cNvGrpSpPr>
            <p:nvPr/>
          </p:nvGrpSpPr>
          <p:grpSpPr bwMode="auto">
            <a:xfrm>
              <a:off x="2332" y="3072"/>
              <a:ext cx="326" cy="336"/>
              <a:chOff x="192" y="3168"/>
              <a:chExt cx="672" cy="480"/>
            </a:xfrm>
          </p:grpSpPr>
          <p:sp>
            <p:nvSpPr>
              <p:cNvPr id="64534" name="Rectangle 22"/>
              <p:cNvSpPr>
                <a:spLocks noChangeArrowheads="1"/>
              </p:cNvSpPr>
              <p:nvPr/>
            </p:nvSpPr>
            <p:spPr bwMode="auto">
              <a:xfrm>
                <a:off x="192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>
                      <a:gamma/>
                      <a:shade val="16078"/>
                      <a:invGamma/>
                    </a:srgbClr>
                  </a:gs>
                  <a:gs pos="100000">
                    <a:srgbClr val="FFFF6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5" name="Rectangle 23"/>
              <p:cNvSpPr>
                <a:spLocks noChangeArrowheads="1"/>
              </p:cNvSpPr>
              <p:nvPr/>
            </p:nvSpPr>
            <p:spPr bwMode="auto">
              <a:xfrm>
                <a:off x="480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FFFF61">
                      <a:gamma/>
                      <a:shade val="1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6" name="Group 24"/>
            <p:cNvGrpSpPr>
              <a:grpSpLocks/>
            </p:cNvGrpSpPr>
            <p:nvPr/>
          </p:nvGrpSpPr>
          <p:grpSpPr bwMode="auto">
            <a:xfrm>
              <a:off x="1375" y="3072"/>
              <a:ext cx="336" cy="336"/>
              <a:chOff x="192" y="3168"/>
              <a:chExt cx="672" cy="480"/>
            </a:xfrm>
          </p:grpSpPr>
          <p:sp>
            <p:nvSpPr>
              <p:cNvPr id="64537" name="Rectangle 25"/>
              <p:cNvSpPr>
                <a:spLocks noChangeArrowheads="1"/>
              </p:cNvSpPr>
              <p:nvPr/>
            </p:nvSpPr>
            <p:spPr bwMode="auto">
              <a:xfrm>
                <a:off x="192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>
                      <a:gamma/>
                      <a:shade val="16078"/>
                      <a:invGamma/>
                    </a:srgbClr>
                  </a:gs>
                  <a:gs pos="100000">
                    <a:srgbClr val="FFFF6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8" name="Rectangle 26"/>
              <p:cNvSpPr>
                <a:spLocks noChangeArrowheads="1"/>
              </p:cNvSpPr>
              <p:nvPr/>
            </p:nvSpPr>
            <p:spPr bwMode="auto">
              <a:xfrm>
                <a:off x="480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FFFF61">
                      <a:gamma/>
                      <a:shade val="1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39" name="Group 27"/>
            <p:cNvGrpSpPr>
              <a:grpSpLocks/>
            </p:cNvGrpSpPr>
            <p:nvPr/>
          </p:nvGrpSpPr>
          <p:grpSpPr bwMode="auto">
            <a:xfrm>
              <a:off x="1694" y="3072"/>
              <a:ext cx="335" cy="336"/>
              <a:chOff x="192" y="3168"/>
              <a:chExt cx="672" cy="480"/>
            </a:xfrm>
          </p:grpSpPr>
          <p:sp>
            <p:nvSpPr>
              <p:cNvPr id="64540" name="Rectangle 28"/>
              <p:cNvSpPr>
                <a:spLocks noChangeArrowheads="1"/>
              </p:cNvSpPr>
              <p:nvPr/>
            </p:nvSpPr>
            <p:spPr bwMode="auto">
              <a:xfrm>
                <a:off x="192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>
                      <a:gamma/>
                      <a:shade val="16078"/>
                      <a:invGamma/>
                    </a:srgbClr>
                  </a:gs>
                  <a:gs pos="100000">
                    <a:srgbClr val="FFFF6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41" name="Rectangle 29"/>
              <p:cNvSpPr>
                <a:spLocks noChangeArrowheads="1"/>
              </p:cNvSpPr>
              <p:nvPr/>
            </p:nvSpPr>
            <p:spPr bwMode="auto">
              <a:xfrm>
                <a:off x="480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FFFF61">
                      <a:gamma/>
                      <a:shade val="1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542" name="Group 30"/>
            <p:cNvGrpSpPr>
              <a:grpSpLocks/>
            </p:cNvGrpSpPr>
            <p:nvPr/>
          </p:nvGrpSpPr>
          <p:grpSpPr bwMode="auto">
            <a:xfrm>
              <a:off x="2014" y="3072"/>
              <a:ext cx="334" cy="336"/>
              <a:chOff x="192" y="3168"/>
              <a:chExt cx="672" cy="480"/>
            </a:xfrm>
          </p:grpSpPr>
          <p:sp>
            <p:nvSpPr>
              <p:cNvPr id="64543" name="Rectangle 31"/>
              <p:cNvSpPr>
                <a:spLocks noChangeArrowheads="1"/>
              </p:cNvSpPr>
              <p:nvPr/>
            </p:nvSpPr>
            <p:spPr bwMode="auto">
              <a:xfrm>
                <a:off x="192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>
                      <a:gamma/>
                      <a:shade val="16078"/>
                      <a:invGamma/>
                    </a:srgbClr>
                  </a:gs>
                  <a:gs pos="100000">
                    <a:srgbClr val="FFFF6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44" name="Rectangle 32"/>
              <p:cNvSpPr>
                <a:spLocks noChangeArrowheads="1"/>
              </p:cNvSpPr>
              <p:nvPr/>
            </p:nvSpPr>
            <p:spPr bwMode="auto">
              <a:xfrm>
                <a:off x="480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FFFF61">
                      <a:gamma/>
                      <a:shade val="1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4545" name="Rectangle 33"/>
            <p:cNvSpPr>
              <a:spLocks noChangeArrowheads="1"/>
            </p:cNvSpPr>
            <p:nvPr/>
          </p:nvSpPr>
          <p:spPr bwMode="auto">
            <a:xfrm>
              <a:off x="1056" y="3072"/>
              <a:ext cx="192" cy="336"/>
            </a:xfrm>
            <a:prstGeom prst="rect">
              <a:avLst/>
            </a:prstGeom>
            <a:gradFill rotWithShape="0">
              <a:gsLst>
                <a:gs pos="0">
                  <a:srgbClr val="FFFF61">
                    <a:gamma/>
                    <a:shade val="16078"/>
                    <a:invGamma/>
                  </a:srgbClr>
                </a:gs>
                <a:gs pos="100000">
                  <a:srgbClr val="FFFF6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46" name="Rectangle 34"/>
            <p:cNvSpPr>
              <a:spLocks noChangeArrowheads="1"/>
            </p:cNvSpPr>
            <p:nvPr/>
          </p:nvSpPr>
          <p:spPr bwMode="auto">
            <a:xfrm>
              <a:off x="1199" y="3072"/>
              <a:ext cx="192" cy="336"/>
            </a:xfrm>
            <a:prstGeom prst="rect">
              <a:avLst/>
            </a:prstGeom>
            <a:gradFill rotWithShape="0">
              <a:gsLst>
                <a:gs pos="0">
                  <a:srgbClr val="FFFF61"/>
                </a:gs>
                <a:gs pos="100000">
                  <a:srgbClr val="FFFF61">
                    <a:gamma/>
                    <a:shade val="16078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4547" name="Group 35"/>
            <p:cNvGrpSpPr>
              <a:grpSpLocks/>
            </p:cNvGrpSpPr>
            <p:nvPr/>
          </p:nvGrpSpPr>
          <p:grpSpPr bwMode="auto">
            <a:xfrm>
              <a:off x="2640" y="3072"/>
              <a:ext cx="336" cy="336"/>
              <a:chOff x="192" y="3168"/>
              <a:chExt cx="672" cy="480"/>
            </a:xfrm>
          </p:grpSpPr>
          <p:sp>
            <p:nvSpPr>
              <p:cNvPr id="64548" name="Rectangle 36"/>
              <p:cNvSpPr>
                <a:spLocks noChangeArrowheads="1"/>
              </p:cNvSpPr>
              <p:nvPr/>
            </p:nvSpPr>
            <p:spPr bwMode="auto">
              <a:xfrm>
                <a:off x="192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>
                      <a:gamma/>
                      <a:shade val="16078"/>
                      <a:invGamma/>
                    </a:srgbClr>
                  </a:gs>
                  <a:gs pos="100000">
                    <a:srgbClr val="FFFF6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49" name="Rectangle 37"/>
              <p:cNvSpPr>
                <a:spLocks noChangeArrowheads="1"/>
              </p:cNvSpPr>
              <p:nvPr/>
            </p:nvSpPr>
            <p:spPr bwMode="auto">
              <a:xfrm>
                <a:off x="480" y="3168"/>
                <a:ext cx="384" cy="480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FFFF61">
                      <a:gamma/>
                      <a:shade val="16078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4550" name="Group 38"/>
          <p:cNvGrpSpPr>
            <a:grpSpLocks/>
          </p:cNvGrpSpPr>
          <p:nvPr/>
        </p:nvGrpSpPr>
        <p:grpSpPr bwMode="auto">
          <a:xfrm>
            <a:off x="5953125" y="847725"/>
            <a:ext cx="1708150" cy="755650"/>
            <a:chOff x="1428" y="2416"/>
            <a:chExt cx="1076" cy="476"/>
          </a:xfrm>
        </p:grpSpPr>
        <p:sp>
          <p:nvSpPr>
            <p:cNvPr id="64551" name="Freeform 39"/>
            <p:cNvSpPr>
              <a:spLocks/>
            </p:cNvSpPr>
            <p:nvPr/>
          </p:nvSpPr>
          <p:spPr bwMode="auto">
            <a:xfrm>
              <a:off x="1428" y="2688"/>
              <a:ext cx="1" cy="98"/>
            </a:xfrm>
            <a:custGeom>
              <a:avLst/>
              <a:gdLst>
                <a:gd name="T0" fmla="*/ 0 w 1"/>
                <a:gd name="T1" fmla="*/ 0 h 98"/>
                <a:gd name="T2" fmla="*/ 1 w 1"/>
                <a:gd name="T3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98">
                  <a:moveTo>
                    <a:pt x="0" y="0"/>
                  </a:moveTo>
                  <a:lnTo>
                    <a:pt x="1" y="98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2" name="Freeform 40"/>
            <p:cNvSpPr>
              <a:spLocks/>
            </p:cNvSpPr>
            <p:nvPr/>
          </p:nvSpPr>
          <p:spPr bwMode="auto">
            <a:xfrm>
              <a:off x="1764" y="2634"/>
              <a:ext cx="3" cy="159"/>
            </a:xfrm>
            <a:custGeom>
              <a:avLst/>
              <a:gdLst>
                <a:gd name="T0" fmla="*/ 3 w 3"/>
                <a:gd name="T1" fmla="*/ 159 h 159"/>
                <a:gd name="T2" fmla="*/ 0 w 3"/>
                <a:gd name="T3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" h="159">
                  <a:moveTo>
                    <a:pt x="3" y="159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3" name="Line 41"/>
            <p:cNvSpPr>
              <a:spLocks noChangeShapeType="1"/>
            </p:cNvSpPr>
            <p:nvPr/>
          </p:nvSpPr>
          <p:spPr bwMode="auto">
            <a:xfrm>
              <a:off x="1440" y="2693"/>
              <a:ext cx="608" cy="1"/>
            </a:xfrm>
            <a:prstGeom prst="line">
              <a:avLst/>
            </a:prstGeom>
            <a:noFill/>
            <a:ln w="9525">
              <a:solidFill>
                <a:srgbClr val="CC0099"/>
              </a:solidFill>
              <a:prstDash val="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4" name="Line 42"/>
            <p:cNvSpPr>
              <a:spLocks noChangeShapeType="1"/>
            </p:cNvSpPr>
            <p:nvPr/>
          </p:nvSpPr>
          <p:spPr bwMode="auto">
            <a:xfrm>
              <a:off x="1770" y="2636"/>
              <a:ext cx="254" cy="1"/>
            </a:xfrm>
            <a:prstGeom prst="line">
              <a:avLst/>
            </a:prstGeom>
            <a:noFill/>
            <a:ln w="9525">
              <a:solidFill>
                <a:srgbClr val="CC0099"/>
              </a:solidFill>
              <a:prstDash val="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5" name="Line 43"/>
            <p:cNvSpPr>
              <a:spLocks noChangeShapeType="1"/>
            </p:cNvSpPr>
            <p:nvPr/>
          </p:nvSpPr>
          <p:spPr bwMode="auto">
            <a:xfrm>
              <a:off x="1997" y="2416"/>
              <a:ext cx="1" cy="212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56" name="Line 44"/>
            <p:cNvSpPr>
              <a:spLocks noChangeShapeType="1"/>
            </p:cNvSpPr>
            <p:nvPr/>
          </p:nvSpPr>
          <p:spPr bwMode="auto">
            <a:xfrm flipV="1">
              <a:off x="1997" y="2680"/>
              <a:ext cx="1" cy="212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4557" name="Object 45"/>
            <p:cNvGraphicFramePr>
              <a:graphicFrameLocks noChangeAspect="1"/>
            </p:cNvGraphicFramePr>
            <p:nvPr/>
          </p:nvGraphicFramePr>
          <p:xfrm>
            <a:off x="2149" y="2522"/>
            <a:ext cx="35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612" name="公式" r:id="rId7" imgW="355320" imgH="253800" progId="Equation.3">
                    <p:embed/>
                  </p:oleObj>
                </mc:Choice>
                <mc:Fallback>
                  <p:oleObj name="公式" r:id="rId7" imgW="35532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2522"/>
                          <a:ext cx="355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58" name="Text Box 46"/>
          <p:cNvSpPr txBox="1">
            <a:spLocks noChangeArrowheads="1"/>
          </p:cNvSpPr>
          <p:nvPr/>
        </p:nvSpPr>
        <p:spPr bwMode="auto">
          <a:xfrm>
            <a:off x="727075" y="4189413"/>
            <a:ext cx="3697288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0" lang="en-US" altLang="zh-CN">
                <a:solidFill>
                  <a:srgbClr val="CC0000"/>
                </a:solidFill>
              </a:rPr>
              <a:t>(2) </a:t>
            </a:r>
            <a:r>
              <a:rPr kumimoji="0" lang="zh-CN" altLang="en-US">
                <a:solidFill>
                  <a:srgbClr val="000000"/>
                </a:solidFill>
              </a:rPr>
              <a:t>厚度线性增长条纹等间距，厚度非线性增长 条纹不等间距</a:t>
            </a:r>
            <a:r>
              <a:rPr kumimoji="0" lang="en-US" altLang="zh-CN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4561" name="Rectangle 49"/>
          <p:cNvSpPr>
            <a:spLocks noChangeArrowheads="1"/>
          </p:cNvSpPr>
          <p:nvPr/>
        </p:nvSpPr>
        <p:spPr bwMode="auto">
          <a:xfrm>
            <a:off x="5062538" y="4000500"/>
            <a:ext cx="3324225" cy="409575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4570" name="Group 58"/>
          <p:cNvGrpSpPr>
            <a:grpSpLocks/>
          </p:cNvGrpSpPr>
          <p:nvPr/>
        </p:nvGrpSpPr>
        <p:grpSpPr bwMode="auto">
          <a:xfrm>
            <a:off x="6767513" y="3211513"/>
            <a:ext cx="1603375" cy="527050"/>
            <a:chOff x="4425" y="1272"/>
            <a:chExt cx="774" cy="255"/>
          </a:xfrm>
        </p:grpSpPr>
        <p:sp>
          <p:nvSpPr>
            <p:cNvPr id="64571" name="Line 59"/>
            <p:cNvSpPr>
              <a:spLocks noChangeShapeType="1"/>
            </p:cNvSpPr>
            <p:nvPr/>
          </p:nvSpPr>
          <p:spPr bwMode="auto">
            <a:xfrm>
              <a:off x="4425" y="1526"/>
              <a:ext cx="655" cy="1"/>
            </a:xfrm>
            <a:prstGeom prst="line">
              <a:avLst/>
            </a:prstGeom>
            <a:noFill/>
            <a:ln w="28575">
              <a:solidFill>
                <a:srgbClr val="FF6633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2" name="Rectangle 60"/>
            <p:cNvSpPr>
              <a:spLocks noChangeArrowheads="1"/>
            </p:cNvSpPr>
            <p:nvPr/>
          </p:nvSpPr>
          <p:spPr bwMode="auto">
            <a:xfrm>
              <a:off x="4604" y="1272"/>
              <a:ext cx="595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en-US" altLang="zh-CN" b="0" i="1">
                  <a:solidFill>
                    <a:srgbClr val="000000"/>
                  </a:solidFill>
                </a:rPr>
                <a:t>r</a:t>
              </a:r>
            </a:p>
          </p:txBody>
        </p:sp>
      </p:grpSp>
      <p:grpSp>
        <p:nvGrpSpPr>
          <p:cNvPr id="64573" name="Group 61"/>
          <p:cNvGrpSpPr>
            <a:grpSpLocks/>
          </p:cNvGrpSpPr>
          <p:nvPr/>
        </p:nvGrpSpPr>
        <p:grpSpPr bwMode="auto">
          <a:xfrm>
            <a:off x="6859588" y="3143250"/>
            <a:ext cx="1906587" cy="1438275"/>
            <a:chOff x="3898" y="1694"/>
            <a:chExt cx="1465" cy="1105"/>
          </a:xfrm>
        </p:grpSpPr>
        <p:sp>
          <p:nvSpPr>
            <p:cNvPr id="64574" name="Line 62"/>
            <p:cNvSpPr>
              <a:spLocks noChangeShapeType="1"/>
            </p:cNvSpPr>
            <p:nvPr/>
          </p:nvSpPr>
          <p:spPr bwMode="auto">
            <a:xfrm>
              <a:off x="4951" y="2343"/>
              <a:ext cx="4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5" name="Line 63"/>
            <p:cNvSpPr>
              <a:spLocks noChangeShapeType="1"/>
            </p:cNvSpPr>
            <p:nvPr/>
          </p:nvSpPr>
          <p:spPr bwMode="auto">
            <a:xfrm>
              <a:off x="3898" y="2150"/>
              <a:ext cx="145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6" name="Line 64"/>
            <p:cNvSpPr>
              <a:spLocks noChangeShapeType="1"/>
            </p:cNvSpPr>
            <p:nvPr/>
          </p:nvSpPr>
          <p:spPr bwMode="auto">
            <a:xfrm>
              <a:off x="5217" y="1694"/>
              <a:ext cx="0" cy="456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77" name="Line 65"/>
            <p:cNvSpPr>
              <a:spLocks noChangeShapeType="1"/>
            </p:cNvSpPr>
            <p:nvPr/>
          </p:nvSpPr>
          <p:spPr bwMode="auto">
            <a:xfrm flipV="1">
              <a:off x="5217" y="2343"/>
              <a:ext cx="0" cy="456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578" name="Group 66"/>
          <p:cNvGrpSpPr>
            <a:grpSpLocks/>
          </p:cNvGrpSpPr>
          <p:nvPr/>
        </p:nvGrpSpPr>
        <p:grpSpPr bwMode="auto">
          <a:xfrm>
            <a:off x="5132388" y="3255963"/>
            <a:ext cx="3411537" cy="735012"/>
            <a:chOff x="2572" y="1781"/>
            <a:chExt cx="2620" cy="564"/>
          </a:xfrm>
        </p:grpSpPr>
        <p:sp>
          <p:nvSpPr>
            <p:cNvPr id="64579" name="Arc 67"/>
            <p:cNvSpPr>
              <a:spLocks/>
            </p:cNvSpPr>
            <p:nvPr/>
          </p:nvSpPr>
          <p:spPr bwMode="auto">
            <a:xfrm>
              <a:off x="2572" y="1781"/>
              <a:ext cx="2620" cy="564"/>
            </a:xfrm>
            <a:custGeom>
              <a:avLst/>
              <a:gdLst>
                <a:gd name="G0" fmla="+- 21600 0 0"/>
                <a:gd name="G1" fmla="+- 163 0 0"/>
                <a:gd name="G2" fmla="+- 21600 0 0"/>
                <a:gd name="T0" fmla="*/ 43199 w 43200"/>
                <a:gd name="T1" fmla="*/ 0 h 21763"/>
                <a:gd name="T2" fmla="*/ 0 w 43200"/>
                <a:gd name="T3" fmla="*/ 196 h 21763"/>
                <a:gd name="T4" fmla="*/ 21600 w 43200"/>
                <a:gd name="T5" fmla="*/ 163 h 21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763" fill="none" extrusionOk="0">
                  <a:moveTo>
                    <a:pt x="43199" y="-1"/>
                  </a:moveTo>
                  <a:cubicBezTo>
                    <a:pt x="43199" y="54"/>
                    <a:pt x="43200" y="108"/>
                    <a:pt x="43200" y="163"/>
                  </a:cubicBezTo>
                  <a:cubicBezTo>
                    <a:pt x="43200" y="12092"/>
                    <a:pt x="33529" y="21763"/>
                    <a:pt x="21600" y="21763"/>
                  </a:cubicBezTo>
                  <a:cubicBezTo>
                    <a:pt x="9683" y="21763"/>
                    <a:pt x="18" y="12112"/>
                    <a:pt x="0" y="195"/>
                  </a:cubicBezTo>
                </a:path>
                <a:path w="43200" h="21763" stroke="0" extrusionOk="0">
                  <a:moveTo>
                    <a:pt x="43199" y="-1"/>
                  </a:moveTo>
                  <a:cubicBezTo>
                    <a:pt x="43199" y="54"/>
                    <a:pt x="43200" y="108"/>
                    <a:pt x="43200" y="163"/>
                  </a:cubicBezTo>
                  <a:cubicBezTo>
                    <a:pt x="43200" y="12092"/>
                    <a:pt x="33529" y="21763"/>
                    <a:pt x="21600" y="21763"/>
                  </a:cubicBezTo>
                  <a:cubicBezTo>
                    <a:pt x="9683" y="21763"/>
                    <a:pt x="18" y="12112"/>
                    <a:pt x="0" y="195"/>
                  </a:cubicBezTo>
                  <a:lnTo>
                    <a:pt x="21600" y="163"/>
                  </a:lnTo>
                  <a:close/>
                </a:path>
              </a:pathLst>
            </a:custGeom>
            <a:solidFill>
              <a:srgbClr val="99CCFF"/>
            </a:solidFill>
            <a:ln w="12700" cap="rnd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80" name="Line 68"/>
            <p:cNvSpPr>
              <a:spLocks noChangeShapeType="1"/>
            </p:cNvSpPr>
            <p:nvPr/>
          </p:nvSpPr>
          <p:spPr bwMode="auto">
            <a:xfrm>
              <a:off x="2578" y="1791"/>
              <a:ext cx="25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4584" name="Object 72"/>
          <p:cNvGraphicFramePr>
            <a:graphicFrameLocks noChangeAspect="1"/>
          </p:cNvGraphicFramePr>
          <p:nvPr/>
        </p:nvGraphicFramePr>
        <p:xfrm>
          <a:off x="8458200" y="3700463"/>
          <a:ext cx="2651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13" name="公式" r:id="rId9" imgW="139680" imgH="177480" progId="Equation.3">
                  <p:embed/>
                </p:oleObj>
              </mc:Choice>
              <mc:Fallback>
                <p:oleObj name="公式" r:id="rId9" imgW="139680" imgH="17748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700463"/>
                        <a:ext cx="26511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86" name="Group 74"/>
          <p:cNvGrpSpPr>
            <a:grpSpLocks/>
          </p:cNvGrpSpPr>
          <p:nvPr/>
        </p:nvGrpSpPr>
        <p:grpSpPr bwMode="auto">
          <a:xfrm>
            <a:off x="5867400" y="4438650"/>
            <a:ext cx="1936750" cy="1936750"/>
            <a:chOff x="3888" y="1728"/>
            <a:chExt cx="1440" cy="1440"/>
          </a:xfrm>
        </p:grpSpPr>
        <p:sp>
          <p:nvSpPr>
            <p:cNvPr id="64587" name="Oval 75"/>
            <p:cNvSpPr>
              <a:spLocks noChangeArrowheads="1"/>
            </p:cNvSpPr>
            <p:nvPr/>
          </p:nvSpPr>
          <p:spPr bwMode="auto">
            <a:xfrm>
              <a:off x="3888" y="1728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88" name="Oval 76"/>
            <p:cNvSpPr>
              <a:spLocks noChangeArrowheads="1"/>
            </p:cNvSpPr>
            <p:nvPr/>
          </p:nvSpPr>
          <p:spPr bwMode="auto">
            <a:xfrm>
              <a:off x="3920" y="1761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89" name="Oval 77"/>
            <p:cNvSpPr>
              <a:spLocks noChangeArrowheads="1"/>
            </p:cNvSpPr>
            <p:nvPr/>
          </p:nvSpPr>
          <p:spPr bwMode="auto">
            <a:xfrm>
              <a:off x="3953" y="1793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0" name="Oval 78"/>
            <p:cNvSpPr>
              <a:spLocks noChangeArrowheads="1"/>
            </p:cNvSpPr>
            <p:nvPr/>
          </p:nvSpPr>
          <p:spPr bwMode="auto">
            <a:xfrm>
              <a:off x="3985" y="1826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1" name="Oval 79"/>
            <p:cNvSpPr>
              <a:spLocks noChangeArrowheads="1"/>
            </p:cNvSpPr>
            <p:nvPr/>
          </p:nvSpPr>
          <p:spPr bwMode="auto">
            <a:xfrm>
              <a:off x="4018" y="1858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2" name="Oval 80"/>
            <p:cNvSpPr>
              <a:spLocks noChangeArrowheads="1"/>
            </p:cNvSpPr>
            <p:nvPr/>
          </p:nvSpPr>
          <p:spPr bwMode="auto">
            <a:xfrm>
              <a:off x="4051" y="1891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3" name="Oval 81"/>
            <p:cNvSpPr>
              <a:spLocks noChangeArrowheads="1"/>
            </p:cNvSpPr>
            <p:nvPr/>
          </p:nvSpPr>
          <p:spPr bwMode="auto">
            <a:xfrm>
              <a:off x="4085" y="1925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4" name="Oval 82"/>
            <p:cNvSpPr>
              <a:spLocks noChangeArrowheads="1"/>
            </p:cNvSpPr>
            <p:nvPr/>
          </p:nvSpPr>
          <p:spPr bwMode="auto">
            <a:xfrm>
              <a:off x="4151" y="1990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5" name="Oval 83"/>
            <p:cNvSpPr>
              <a:spLocks noChangeArrowheads="1"/>
            </p:cNvSpPr>
            <p:nvPr/>
          </p:nvSpPr>
          <p:spPr bwMode="auto">
            <a:xfrm>
              <a:off x="4118" y="1958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6" name="Oval 84"/>
            <p:cNvSpPr>
              <a:spLocks noChangeArrowheads="1"/>
            </p:cNvSpPr>
            <p:nvPr/>
          </p:nvSpPr>
          <p:spPr bwMode="auto">
            <a:xfrm>
              <a:off x="4165" y="2006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7" name="Oval 85"/>
            <p:cNvSpPr>
              <a:spLocks noChangeArrowheads="1"/>
            </p:cNvSpPr>
            <p:nvPr/>
          </p:nvSpPr>
          <p:spPr bwMode="auto">
            <a:xfrm>
              <a:off x="4216" y="2055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8" name="Oval 86"/>
            <p:cNvSpPr>
              <a:spLocks noChangeArrowheads="1"/>
            </p:cNvSpPr>
            <p:nvPr/>
          </p:nvSpPr>
          <p:spPr bwMode="auto">
            <a:xfrm>
              <a:off x="4280" y="2121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99" name="Oval 87"/>
            <p:cNvSpPr>
              <a:spLocks noChangeArrowheads="1"/>
            </p:cNvSpPr>
            <p:nvPr/>
          </p:nvSpPr>
          <p:spPr bwMode="auto">
            <a:xfrm>
              <a:off x="4331" y="2170"/>
              <a:ext cx="554" cy="5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00" name="Oval 88"/>
            <p:cNvSpPr>
              <a:spLocks noChangeArrowheads="1"/>
            </p:cNvSpPr>
            <p:nvPr/>
          </p:nvSpPr>
          <p:spPr bwMode="auto">
            <a:xfrm>
              <a:off x="4400" y="2239"/>
              <a:ext cx="416" cy="418"/>
            </a:xfrm>
            <a:prstGeom prst="ellipse">
              <a:avLst/>
            </a:prstGeom>
            <a:solidFill>
              <a:srgbClr val="FFCC00"/>
            </a:solidFill>
            <a:ln w="127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01" name="Oval 89"/>
            <p:cNvSpPr>
              <a:spLocks noChangeArrowheads="1"/>
            </p:cNvSpPr>
            <p:nvPr/>
          </p:nvSpPr>
          <p:spPr bwMode="auto">
            <a:xfrm>
              <a:off x="4478" y="2318"/>
              <a:ext cx="260" cy="2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/>
      <p:bldP spid="645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51CDF-427C-40B1-94ED-C7EBB9F8DC54}" type="slidenum">
              <a:rPr lang="en-US" altLang="zh-CN"/>
              <a:pPr/>
              <a:t>22</a:t>
            </a:fld>
            <a:endParaRPr lang="en-US" altLang="zh-CN"/>
          </a:p>
        </p:txBody>
      </p:sp>
      <p:grpSp>
        <p:nvGrpSpPr>
          <p:cNvPr id="66562" name="Group 2"/>
          <p:cNvGrpSpPr>
            <a:grpSpLocks/>
          </p:cNvGrpSpPr>
          <p:nvPr/>
        </p:nvGrpSpPr>
        <p:grpSpPr bwMode="auto">
          <a:xfrm>
            <a:off x="4622800" y="1319213"/>
            <a:ext cx="3886200" cy="4648200"/>
            <a:chOff x="2928" y="1008"/>
            <a:chExt cx="2448" cy="2928"/>
          </a:xfrm>
        </p:grpSpPr>
        <p:sp>
          <p:nvSpPr>
            <p:cNvPr id="66563" name="Rectangle 3"/>
            <p:cNvSpPr>
              <a:spLocks noChangeArrowheads="1"/>
            </p:cNvSpPr>
            <p:nvPr/>
          </p:nvSpPr>
          <p:spPr bwMode="auto">
            <a:xfrm>
              <a:off x="2928" y="1008"/>
              <a:ext cx="2448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64" name="Rectangle 4" descr="20%"/>
            <p:cNvSpPr>
              <a:spLocks noChangeArrowheads="1"/>
            </p:cNvSpPr>
            <p:nvPr/>
          </p:nvSpPr>
          <p:spPr bwMode="auto">
            <a:xfrm>
              <a:off x="3182" y="1536"/>
              <a:ext cx="1954" cy="528"/>
            </a:xfrm>
            <a:prstGeom prst="rect">
              <a:avLst/>
            </a:prstGeom>
            <a:pattFill prst="pct20">
              <a:fgClr>
                <a:srgbClr val="CC9900"/>
              </a:fgClr>
              <a:bgClr>
                <a:schemeClr val="accent1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6565" name="Group 5"/>
            <p:cNvGrpSpPr>
              <a:grpSpLocks/>
            </p:cNvGrpSpPr>
            <p:nvPr/>
          </p:nvGrpSpPr>
          <p:grpSpPr bwMode="auto"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66566" name="Group 6"/>
              <p:cNvGrpSpPr>
                <a:grpSpLocks/>
              </p:cNvGrpSpPr>
              <p:nvPr/>
            </p:nvGrpSpPr>
            <p:grpSpPr bwMode="auto"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66567" name="Arc 7"/>
                <p:cNvSpPr>
                  <a:spLocks/>
                </p:cNvSpPr>
                <p:nvPr/>
              </p:nvSpPr>
              <p:spPr bwMode="auto">
                <a:xfrm>
                  <a:off x="2358" y="768"/>
                  <a:ext cx="2385" cy="528"/>
                </a:xfrm>
                <a:custGeom>
                  <a:avLst/>
                  <a:gdLst>
                    <a:gd name="G0" fmla="+- 21082 0 0"/>
                    <a:gd name="G1" fmla="+- 0 0 0"/>
                    <a:gd name="G2" fmla="+- 21600 0 0"/>
                    <a:gd name="T0" fmla="*/ 42329 w 42329"/>
                    <a:gd name="T1" fmla="*/ 3890 h 21600"/>
                    <a:gd name="T2" fmla="*/ 0 w 42329"/>
                    <a:gd name="T3" fmla="*/ 4704 h 21600"/>
                    <a:gd name="T4" fmla="*/ 21082 w 42329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329" h="21600" fill="none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568" name="Rectangle 8"/>
                <p:cNvSpPr>
                  <a:spLocks noChangeArrowheads="1"/>
                </p:cNvSpPr>
                <p:nvPr/>
              </p:nvSpPr>
              <p:spPr bwMode="auto"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6569" name="Freeform 9"/>
              <p:cNvSpPr>
                <a:spLocks/>
              </p:cNvSpPr>
              <p:nvPr/>
            </p:nvSpPr>
            <p:spPr bwMode="auto">
              <a:xfrm>
                <a:off x="2367" y="768"/>
                <a:ext cx="2378" cy="159"/>
              </a:xfrm>
              <a:custGeom>
                <a:avLst/>
                <a:gdLst>
                  <a:gd name="T0" fmla="*/ 0 w 2378"/>
                  <a:gd name="T1" fmla="*/ 79 h 159"/>
                  <a:gd name="T2" fmla="*/ 0 w 2378"/>
                  <a:gd name="T3" fmla="*/ 0 h 159"/>
                  <a:gd name="T4" fmla="*/ 2377 w 2378"/>
                  <a:gd name="T5" fmla="*/ 0 h 159"/>
                  <a:gd name="T6" fmla="*/ 2377 w 2378"/>
                  <a:gd name="T7" fmla="*/ 15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solidFill>
                <a:srgbClr val="CCFFFF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570" name="Rectangle 10"/>
            <p:cNvSpPr>
              <a:spLocks noChangeArrowheads="1"/>
            </p:cNvSpPr>
            <p:nvPr/>
          </p:nvSpPr>
          <p:spPr bwMode="auto">
            <a:xfrm>
              <a:off x="3168" y="1872"/>
              <a:ext cx="1968" cy="267"/>
            </a:xfrm>
            <a:prstGeom prst="rect">
              <a:avLst/>
            </a:prstGeom>
            <a:solidFill>
              <a:srgbClr val="9FD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6571" name="Object 11"/>
            <p:cNvGraphicFramePr>
              <a:graphicFrameLocks noChangeAspect="1"/>
            </p:cNvGraphicFramePr>
            <p:nvPr/>
          </p:nvGraphicFramePr>
          <p:xfrm>
            <a:off x="4894" y="1536"/>
            <a:ext cx="29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6" name="公式" r:id="rId3" imgW="241200" imgH="317160" progId="Equation.3">
                    <p:embed/>
                  </p:oleObj>
                </mc:Choice>
                <mc:Fallback>
                  <p:oleObj name="公式" r:id="rId3" imgW="241200" imgH="31716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4" y="1536"/>
                          <a:ext cx="29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2" name="Object 12"/>
            <p:cNvGraphicFramePr>
              <a:graphicFrameLocks noChangeAspect="1"/>
            </p:cNvGraphicFramePr>
            <p:nvPr/>
          </p:nvGraphicFramePr>
          <p:xfrm>
            <a:off x="3216" y="1776"/>
            <a:ext cx="272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7" name="Equation" r:id="rId5" imgW="228600" imgH="330120" progId="Equation.3">
                    <p:embed/>
                  </p:oleObj>
                </mc:Choice>
                <mc:Fallback>
                  <p:oleObj name="Equation" r:id="rId5" imgW="228600" imgH="33012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776"/>
                          <a:ext cx="272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73" name="Object 13"/>
            <p:cNvGraphicFramePr>
              <a:graphicFrameLocks noChangeAspect="1"/>
            </p:cNvGraphicFramePr>
            <p:nvPr/>
          </p:nvGraphicFramePr>
          <p:xfrm>
            <a:off x="3456" y="2064"/>
            <a:ext cx="1440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8" name="Equation" r:id="rId7" imgW="723600" imgH="228600" progId="Equation.3">
                    <p:embed/>
                  </p:oleObj>
                </mc:Choice>
                <mc:Fallback>
                  <p:oleObj name="Equation" r:id="rId7" imgW="723600" imgH="228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064"/>
                          <a:ext cx="1440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6574" name="Group 14"/>
            <p:cNvGrpSpPr>
              <a:grpSpLocks/>
            </p:cNvGrpSpPr>
            <p:nvPr/>
          </p:nvGrpSpPr>
          <p:grpSpPr bwMode="auto">
            <a:xfrm>
              <a:off x="3504" y="1104"/>
              <a:ext cx="1200" cy="336"/>
              <a:chOff x="960" y="1008"/>
              <a:chExt cx="1200" cy="480"/>
            </a:xfrm>
          </p:grpSpPr>
          <p:sp>
            <p:nvSpPr>
              <p:cNvPr id="66575" name="Line 15"/>
              <p:cNvSpPr>
                <a:spLocks noChangeShapeType="1"/>
              </p:cNvSpPr>
              <p:nvPr/>
            </p:nvSpPr>
            <p:spPr bwMode="auto">
              <a:xfrm>
                <a:off x="120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6" name="Line 16"/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7" name="Line 17"/>
              <p:cNvSpPr>
                <a:spLocks noChangeShapeType="1"/>
              </p:cNvSpPr>
              <p:nvPr/>
            </p:nvSpPr>
            <p:spPr bwMode="auto">
              <a:xfrm>
                <a:off x="168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8" name="Line 18"/>
              <p:cNvSpPr>
                <a:spLocks noChangeShapeType="1"/>
              </p:cNvSpPr>
              <p:nvPr/>
            </p:nvSpPr>
            <p:spPr bwMode="auto">
              <a:xfrm>
                <a:off x="192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79" name="Line 19"/>
              <p:cNvSpPr>
                <a:spLocks noChangeShapeType="1"/>
              </p:cNvSpPr>
              <p:nvPr/>
            </p:nvSpPr>
            <p:spPr bwMode="auto">
              <a:xfrm>
                <a:off x="21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0" name="Line 20"/>
              <p:cNvSpPr>
                <a:spLocks noChangeShapeType="1"/>
              </p:cNvSpPr>
              <p:nvPr/>
            </p:nvSpPr>
            <p:spPr bwMode="auto">
              <a:xfrm>
                <a:off x="9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6581" name="Group 21"/>
            <p:cNvGrpSpPr>
              <a:grpSpLocks/>
            </p:cNvGrpSpPr>
            <p:nvPr/>
          </p:nvGrpSpPr>
          <p:grpSpPr bwMode="auto">
            <a:xfrm>
              <a:off x="3504" y="1440"/>
              <a:ext cx="1200" cy="432"/>
              <a:chOff x="960" y="1008"/>
              <a:chExt cx="1200" cy="480"/>
            </a:xfrm>
          </p:grpSpPr>
          <p:sp>
            <p:nvSpPr>
              <p:cNvPr id="66582" name="Line 22"/>
              <p:cNvSpPr>
                <a:spLocks noChangeShapeType="1"/>
              </p:cNvSpPr>
              <p:nvPr/>
            </p:nvSpPr>
            <p:spPr bwMode="auto">
              <a:xfrm>
                <a:off x="120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3" name="Line 23"/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4" name="Line 24"/>
              <p:cNvSpPr>
                <a:spLocks noChangeShapeType="1"/>
              </p:cNvSpPr>
              <p:nvPr/>
            </p:nvSpPr>
            <p:spPr bwMode="auto">
              <a:xfrm>
                <a:off x="168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5" name="Line 25"/>
              <p:cNvSpPr>
                <a:spLocks noChangeShapeType="1"/>
              </p:cNvSpPr>
              <p:nvPr/>
            </p:nvSpPr>
            <p:spPr bwMode="auto">
              <a:xfrm>
                <a:off x="192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6" name="Line 26"/>
              <p:cNvSpPr>
                <a:spLocks noChangeShapeType="1"/>
              </p:cNvSpPr>
              <p:nvPr/>
            </p:nvSpPr>
            <p:spPr bwMode="auto">
              <a:xfrm>
                <a:off x="21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587" name="Line 27"/>
              <p:cNvSpPr>
                <a:spLocks noChangeShapeType="1"/>
              </p:cNvSpPr>
              <p:nvPr/>
            </p:nvSpPr>
            <p:spPr bwMode="auto">
              <a:xfrm>
                <a:off x="960" y="1008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6588" name="Group 28"/>
            <p:cNvGrpSpPr>
              <a:grpSpLocks/>
            </p:cNvGrpSpPr>
            <p:nvPr/>
          </p:nvGrpSpPr>
          <p:grpSpPr bwMode="auto"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66589" name="Group 29"/>
              <p:cNvGrpSpPr>
                <a:grpSpLocks/>
              </p:cNvGrpSpPr>
              <p:nvPr/>
            </p:nvGrpSpPr>
            <p:grpSpPr bwMode="auto"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66590" name="Arc 30"/>
                <p:cNvSpPr>
                  <a:spLocks/>
                </p:cNvSpPr>
                <p:nvPr/>
              </p:nvSpPr>
              <p:spPr bwMode="auto">
                <a:xfrm>
                  <a:off x="2358" y="768"/>
                  <a:ext cx="2385" cy="528"/>
                </a:xfrm>
                <a:custGeom>
                  <a:avLst/>
                  <a:gdLst>
                    <a:gd name="G0" fmla="+- 21082 0 0"/>
                    <a:gd name="G1" fmla="+- 0 0 0"/>
                    <a:gd name="G2" fmla="+- 21600 0 0"/>
                    <a:gd name="T0" fmla="*/ 42329 w 42329"/>
                    <a:gd name="T1" fmla="*/ 3890 h 21600"/>
                    <a:gd name="T2" fmla="*/ 0 w 42329"/>
                    <a:gd name="T3" fmla="*/ 4704 h 21600"/>
                    <a:gd name="T4" fmla="*/ 21082 w 42329"/>
                    <a:gd name="T5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329" h="21600" fill="none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 extrusionOk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close/>
                    </a:path>
                  </a:pathLst>
                </a:custGeom>
                <a:solidFill>
                  <a:srgbClr val="66FFFF">
                    <a:alpha val="50000"/>
                  </a:srgbClr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591" name="Rectangle 31"/>
                <p:cNvSpPr>
                  <a:spLocks noChangeArrowheads="1"/>
                </p:cNvSpPr>
                <p:nvPr/>
              </p:nvSpPr>
              <p:spPr bwMode="auto"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66FFFF">
                    <a:alpha val="50000"/>
                  </a:srgb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6592" name="Freeform 32"/>
              <p:cNvSpPr>
                <a:spLocks/>
              </p:cNvSpPr>
              <p:nvPr/>
            </p:nvSpPr>
            <p:spPr bwMode="auto">
              <a:xfrm>
                <a:off x="2367" y="768"/>
                <a:ext cx="2378" cy="159"/>
              </a:xfrm>
              <a:custGeom>
                <a:avLst/>
                <a:gdLst>
                  <a:gd name="T0" fmla="*/ 0 w 2378"/>
                  <a:gd name="T1" fmla="*/ 79 h 159"/>
                  <a:gd name="T2" fmla="*/ 0 w 2378"/>
                  <a:gd name="T3" fmla="*/ 0 h 159"/>
                  <a:gd name="T4" fmla="*/ 2377 w 2378"/>
                  <a:gd name="T5" fmla="*/ 0 h 159"/>
                  <a:gd name="T6" fmla="*/ 2377 w 2378"/>
                  <a:gd name="T7" fmla="*/ 158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000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66593" name="Object 33"/>
            <p:cNvGraphicFramePr>
              <a:graphicFrameLocks noChangeAspect="1"/>
            </p:cNvGraphicFramePr>
            <p:nvPr/>
          </p:nvGraphicFramePr>
          <p:xfrm>
            <a:off x="3197" y="1344"/>
            <a:ext cx="2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69" name="公式" r:id="rId9" imgW="215640" imgH="317160" progId="Equation.3">
                    <p:embed/>
                  </p:oleObj>
                </mc:Choice>
                <mc:Fallback>
                  <p:oleObj name="公式" r:id="rId9" imgW="215640" imgH="31716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" y="1344"/>
                          <a:ext cx="25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594" name="Group 34"/>
          <p:cNvGrpSpPr>
            <a:grpSpLocks/>
          </p:cNvGrpSpPr>
          <p:nvPr/>
        </p:nvGrpSpPr>
        <p:grpSpPr bwMode="auto">
          <a:xfrm>
            <a:off x="736600" y="1319213"/>
            <a:ext cx="3581400" cy="4648200"/>
            <a:chOff x="432" y="1008"/>
            <a:chExt cx="2256" cy="2928"/>
          </a:xfrm>
        </p:grpSpPr>
        <p:sp>
          <p:nvSpPr>
            <p:cNvPr id="66595" name="Rectangle 35"/>
            <p:cNvSpPr>
              <a:spLocks noChangeArrowheads="1"/>
            </p:cNvSpPr>
            <p:nvPr/>
          </p:nvSpPr>
          <p:spPr bwMode="auto">
            <a:xfrm>
              <a:off x="432" y="1008"/>
              <a:ext cx="2256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6596" name="Group 36"/>
            <p:cNvGrpSpPr>
              <a:grpSpLocks/>
            </p:cNvGrpSpPr>
            <p:nvPr/>
          </p:nvGrpSpPr>
          <p:grpSpPr bwMode="auto">
            <a:xfrm>
              <a:off x="672" y="1239"/>
              <a:ext cx="1824" cy="1113"/>
              <a:chOff x="768" y="1008"/>
              <a:chExt cx="1824" cy="1113"/>
            </a:xfrm>
          </p:grpSpPr>
          <p:grpSp>
            <p:nvGrpSpPr>
              <p:cNvPr id="66597" name="Group 37"/>
              <p:cNvGrpSpPr>
                <a:grpSpLocks/>
              </p:cNvGrpSpPr>
              <p:nvPr/>
            </p:nvGrpSpPr>
            <p:grpSpPr bwMode="auto">
              <a:xfrm>
                <a:off x="1056" y="1488"/>
                <a:ext cx="1200" cy="384"/>
                <a:chOff x="960" y="1008"/>
                <a:chExt cx="1200" cy="480"/>
              </a:xfrm>
            </p:grpSpPr>
            <p:sp>
              <p:nvSpPr>
                <p:cNvPr id="66598" name="Line 38"/>
                <p:cNvSpPr>
                  <a:spLocks noChangeShapeType="1"/>
                </p:cNvSpPr>
                <p:nvPr/>
              </p:nvSpPr>
              <p:spPr bwMode="auto">
                <a:xfrm>
                  <a:off x="120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599" name="Line 39"/>
                <p:cNvSpPr>
                  <a:spLocks noChangeShapeType="1"/>
                </p:cNvSpPr>
                <p:nvPr/>
              </p:nvSpPr>
              <p:spPr bwMode="auto">
                <a:xfrm>
                  <a:off x="144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00" name="Line 40"/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01" name="Line 41"/>
                <p:cNvSpPr>
                  <a:spLocks noChangeShapeType="1"/>
                </p:cNvSpPr>
                <p:nvPr/>
              </p:nvSpPr>
              <p:spPr bwMode="auto">
                <a:xfrm>
                  <a:off x="192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02" name="Line 42"/>
                <p:cNvSpPr>
                  <a:spLocks noChangeShapeType="1"/>
                </p:cNvSpPr>
                <p:nvPr/>
              </p:nvSpPr>
              <p:spPr bwMode="auto">
                <a:xfrm>
                  <a:off x="21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03" name="Line 43"/>
                <p:cNvSpPr>
                  <a:spLocks noChangeShapeType="1"/>
                </p:cNvSpPr>
                <p:nvPr/>
              </p:nvSpPr>
              <p:spPr bwMode="auto">
                <a:xfrm>
                  <a:off x="9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66604" name="Rectangle 44"/>
              <p:cNvSpPr>
                <a:spLocks noChangeArrowheads="1"/>
              </p:cNvSpPr>
              <p:nvPr/>
            </p:nvSpPr>
            <p:spPr bwMode="auto">
              <a:xfrm>
                <a:off x="768" y="1861"/>
                <a:ext cx="1824" cy="230"/>
              </a:xfrm>
              <a:prstGeom prst="rect">
                <a:avLst/>
              </a:prstGeom>
              <a:solidFill>
                <a:srgbClr val="66FFFF">
                  <a:alpha val="5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6605" name="Group 45"/>
              <p:cNvGrpSpPr>
                <a:grpSpLocks/>
              </p:cNvGrpSpPr>
              <p:nvPr/>
            </p:nvGrpSpPr>
            <p:grpSpPr bwMode="auto">
              <a:xfrm>
                <a:off x="768" y="1488"/>
                <a:ext cx="1780" cy="365"/>
                <a:chOff x="2358" y="768"/>
                <a:chExt cx="2387" cy="528"/>
              </a:xfrm>
            </p:grpSpPr>
            <p:grpSp>
              <p:nvGrpSpPr>
                <p:cNvPr id="66606" name="Group 46"/>
                <p:cNvGrpSpPr>
                  <a:grpSpLocks/>
                </p:cNvGrpSpPr>
                <p:nvPr/>
              </p:nvGrpSpPr>
              <p:grpSpPr bwMode="auto">
                <a:xfrm>
                  <a:off x="2358" y="768"/>
                  <a:ext cx="2386" cy="528"/>
                  <a:chOff x="2358" y="768"/>
                  <a:chExt cx="2386" cy="528"/>
                </a:xfrm>
              </p:grpSpPr>
              <p:sp>
                <p:nvSpPr>
                  <p:cNvPr id="66607" name="Arc 47"/>
                  <p:cNvSpPr>
                    <a:spLocks/>
                  </p:cNvSpPr>
                  <p:nvPr/>
                </p:nvSpPr>
                <p:spPr bwMode="auto">
                  <a:xfrm>
                    <a:off x="2358" y="768"/>
                    <a:ext cx="2385" cy="528"/>
                  </a:xfrm>
                  <a:custGeom>
                    <a:avLst/>
                    <a:gdLst>
                      <a:gd name="G0" fmla="+- 21082 0 0"/>
                      <a:gd name="G1" fmla="+- 0 0 0"/>
                      <a:gd name="G2" fmla="+- 21600 0 0"/>
                      <a:gd name="T0" fmla="*/ 42329 w 42329"/>
                      <a:gd name="T1" fmla="*/ 3890 h 21600"/>
                      <a:gd name="T2" fmla="*/ 0 w 42329"/>
                      <a:gd name="T3" fmla="*/ 4704 h 21600"/>
                      <a:gd name="T4" fmla="*/ 21082 w 4232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2329" h="21600" fill="none" extrusionOk="0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</a:path>
                      <a:path w="42329" h="21600" stroke="0" extrusionOk="0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  <a:lnTo>
                          <a:pt x="21082" y="0"/>
                        </a:lnTo>
                        <a:close/>
                      </a:path>
                    </a:pathLst>
                  </a:custGeom>
                  <a:solidFill>
                    <a:srgbClr val="66FFFF">
                      <a:alpha val="50000"/>
                    </a:srgbClr>
                  </a:solidFill>
                  <a:ln w="12700" cap="rnd">
                    <a:solidFill>
                      <a:schemeClr val="tx1"/>
                    </a:solidFill>
                    <a:round/>
                    <a:headEnd type="none" w="sm" len="lg"/>
                    <a:tailEnd type="none" w="sm" len="lg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608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2367" y="768"/>
                    <a:ext cx="2377" cy="158"/>
                  </a:xfrm>
                  <a:prstGeom prst="rect">
                    <a:avLst/>
                  </a:prstGeom>
                  <a:solidFill>
                    <a:srgbClr val="66FFFF">
                      <a:alpha val="50000"/>
                    </a:srgbClr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6609" name="Freeform 49"/>
                <p:cNvSpPr>
                  <a:spLocks/>
                </p:cNvSpPr>
                <p:nvPr/>
              </p:nvSpPr>
              <p:spPr bwMode="auto">
                <a:xfrm>
                  <a:off x="2367" y="768"/>
                  <a:ext cx="2378" cy="159"/>
                </a:xfrm>
                <a:custGeom>
                  <a:avLst/>
                  <a:gdLst>
                    <a:gd name="T0" fmla="*/ 0 w 2378"/>
                    <a:gd name="T1" fmla="*/ 79 h 159"/>
                    <a:gd name="T2" fmla="*/ 0 w 2378"/>
                    <a:gd name="T3" fmla="*/ 0 h 159"/>
                    <a:gd name="T4" fmla="*/ 2377 w 2378"/>
                    <a:gd name="T5" fmla="*/ 0 h 159"/>
                    <a:gd name="T6" fmla="*/ 2377 w 2378"/>
                    <a:gd name="T7" fmla="*/ 158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78" h="159">
                      <a:moveTo>
                        <a:pt x="0" y="79"/>
                      </a:moveTo>
                      <a:lnTo>
                        <a:pt x="0" y="0"/>
                      </a:lnTo>
                      <a:lnTo>
                        <a:pt x="2377" y="0"/>
                      </a:lnTo>
                      <a:lnTo>
                        <a:pt x="2377" y="158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66610" name="Object 50"/>
              <p:cNvGraphicFramePr>
                <a:graphicFrameLocks noChangeAspect="1"/>
              </p:cNvGraphicFramePr>
              <p:nvPr/>
            </p:nvGraphicFramePr>
            <p:xfrm>
              <a:off x="1168" y="1529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70" name="公式" r:id="rId11" imgW="177480" imgH="190440" progId="Equation.3">
                      <p:embed/>
                    </p:oleObj>
                  </mc:Choice>
                  <mc:Fallback>
                    <p:oleObj name="公式" r:id="rId11" imgW="177480" imgH="190440" progId="Equation.3">
                      <p:embed/>
                      <p:pic>
                        <p:nvPicPr>
                          <p:cNvPr id="0" name="Object 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8" y="1529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611" name="Object 51"/>
              <p:cNvGraphicFramePr>
                <a:graphicFrameLocks noChangeAspect="1"/>
              </p:cNvGraphicFramePr>
              <p:nvPr/>
            </p:nvGraphicFramePr>
            <p:xfrm>
              <a:off x="1152" y="1872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671" name="公式" r:id="rId13" imgW="177480" imgH="190440" progId="Equation.3">
                      <p:embed/>
                    </p:oleObj>
                  </mc:Choice>
                  <mc:Fallback>
                    <p:oleObj name="公式" r:id="rId13" imgW="177480" imgH="190440" progId="Equation.3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1872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66612" name="Group 52"/>
              <p:cNvGrpSpPr>
                <a:grpSpLocks/>
              </p:cNvGrpSpPr>
              <p:nvPr/>
            </p:nvGrpSpPr>
            <p:grpSpPr bwMode="auto">
              <a:xfrm>
                <a:off x="1056" y="1008"/>
                <a:ext cx="1200" cy="480"/>
                <a:chOff x="960" y="1008"/>
                <a:chExt cx="1200" cy="480"/>
              </a:xfrm>
            </p:grpSpPr>
            <p:sp>
              <p:nvSpPr>
                <p:cNvPr id="66613" name="Line 53"/>
                <p:cNvSpPr>
                  <a:spLocks noChangeShapeType="1"/>
                </p:cNvSpPr>
                <p:nvPr/>
              </p:nvSpPr>
              <p:spPr bwMode="auto">
                <a:xfrm>
                  <a:off x="120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14" name="Line 54"/>
                <p:cNvSpPr>
                  <a:spLocks noChangeShapeType="1"/>
                </p:cNvSpPr>
                <p:nvPr/>
              </p:nvSpPr>
              <p:spPr bwMode="auto">
                <a:xfrm>
                  <a:off x="144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15" name="Line 55"/>
                <p:cNvSpPr>
                  <a:spLocks noChangeShapeType="1"/>
                </p:cNvSpPr>
                <p:nvPr/>
              </p:nvSpPr>
              <p:spPr bwMode="auto">
                <a:xfrm>
                  <a:off x="168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16" name="Line 56"/>
                <p:cNvSpPr>
                  <a:spLocks noChangeShapeType="1"/>
                </p:cNvSpPr>
                <p:nvPr/>
              </p:nvSpPr>
              <p:spPr bwMode="auto">
                <a:xfrm>
                  <a:off x="192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17" name="Line 57"/>
                <p:cNvSpPr>
                  <a:spLocks noChangeShapeType="1"/>
                </p:cNvSpPr>
                <p:nvPr/>
              </p:nvSpPr>
              <p:spPr bwMode="auto">
                <a:xfrm>
                  <a:off x="21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618" name="Line 58"/>
                <p:cNvSpPr>
                  <a:spLocks noChangeShapeType="1"/>
                </p:cNvSpPr>
                <p:nvPr/>
              </p:nvSpPr>
              <p:spPr bwMode="auto">
                <a:xfrm>
                  <a:off x="960" y="1008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rgbClr val="FF6600"/>
                  </a:solidFill>
                  <a:round/>
                  <a:headEnd type="non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6619" name="Text Box 59"/>
          <p:cNvSpPr txBox="1">
            <a:spLocks noChangeArrowheads="1"/>
          </p:cNvSpPr>
          <p:nvPr/>
        </p:nvSpPr>
        <p:spPr bwMode="auto">
          <a:xfrm>
            <a:off x="608013" y="549275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>
                <a:solidFill>
                  <a:srgbClr val="CC0000"/>
                </a:solidFill>
              </a:rPr>
              <a:t>(3)  </a:t>
            </a:r>
            <a:r>
              <a:rPr kumimoji="0" lang="zh-CN" altLang="en-US">
                <a:solidFill>
                  <a:srgbClr val="000000"/>
                </a:solidFill>
              </a:rPr>
              <a:t>半波损失需具体问题具体分析</a:t>
            </a:r>
            <a:r>
              <a:rPr kumimoji="0" lang="en-US" altLang="zh-CN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66620" name="Group 60"/>
          <p:cNvGrpSpPr>
            <a:grpSpLocks/>
          </p:cNvGrpSpPr>
          <p:nvPr/>
        </p:nvGrpSpPr>
        <p:grpSpPr bwMode="auto">
          <a:xfrm>
            <a:off x="1498600" y="3681413"/>
            <a:ext cx="2057400" cy="2057400"/>
            <a:chOff x="960" y="2448"/>
            <a:chExt cx="1440" cy="1440"/>
          </a:xfrm>
        </p:grpSpPr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960" y="2448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992" y="2481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1025" y="2513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1057" y="2546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1090" y="2578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1123" y="2611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1157" y="2645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1223" y="2710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1190" y="2678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1237" y="2726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1288" y="2775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1352" y="2841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3" name="Oval 73"/>
            <p:cNvSpPr>
              <a:spLocks noChangeArrowheads="1"/>
            </p:cNvSpPr>
            <p:nvPr/>
          </p:nvSpPr>
          <p:spPr bwMode="auto">
            <a:xfrm>
              <a:off x="1403" y="2890"/>
              <a:ext cx="554" cy="55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4" name="Oval 74"/>
            <p:cNvSpPr>
              <a:spLocks noChangeArrowheads="1"/>
            </p:cNvSpPr>
            <p:nvPr/>
          </p:nvSpPr>
          <p:spPr bwMode="auto">
            <a:xfrm>
              <a:off x="1472" y="2959"/>
              <a:ext cx="416" cy="418"/>
            </a:xfrm>
            <a:prstGeom prst="ellipse">
              <a:avLst/>
            </a:prstGeom>
            <a:solidFill>
              <a:srgbClr val="FFCC00"/>
            </a:solidFill>
            <a:ln w="12700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5" name="Oval 75"/>
            <p:cNvSpPr>
              <a:spLocks noChangeArrowheads="1"/>
            </p:cNvSpPr>
            <p:nvPr/>
          </p:nvSpPr>
          <p:spPr bwMode="auto">
            <a:xfrm>
              <a:off x="1550" y="3038"/>
              <a:ext cx="260" cy="2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6636" name="Group 76"/>
          <p:cNvGrpSpPr>
            <a:grpSpLocks/>
          </p:cNvGrpSpPr>
          <p:nvPr/>
        </p:nvGrpSpPr>
        <p:grpSpPr bwMode="auto">
          <a:xfrm>
            <a:off x="5537200" y="3833813"/>
            <a:ext cx="2057400" cy="1981200"/>
            <a:chOff x="3504" y="2544"/>
            <a:chExt cx="1440" cy="1440"/>
          </a:xfrm>
        </p:grpSpPr>
        <p:sp>
          <p:nvSpPr>
            <p:cNvPr id="66637" name="Oval 77"/>
            <p:cNvSpPr>
              <a:spLocks noChangeArrowheads="1"/>
            </p:cNvSpPr>
            <p:nvPr/>
          </p:nvSpPr>
          <p:spPr bwMode="auto">
            <a:xfrm>
              <a:off x="3504" y="2544"/>
              <a:ext cx="1440" cy="144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8" name="Oval 78"/>
            <p:cNvSpPr>
              <a:spLocks noChangeArrowheads="1"/>
            </p:cNvSpPr>
            <p:nvPr/>
          </p:nvSpPr>
          <p:spPr bwMode="auto">
            <a:xfrm>
              <a:off x="3536" y="2577"/>
              <a:ext cx="1376" cy="13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39" name="Oval 79"/>
            <p:cNvSpPr>
              <a:spLocks noChangeArrowheads="1"/>
            </p:cNvSpPr>
            <p:nvPr/>
          </p:nvSpPr>
          <p:spPr bwMode="auto">
            <a:xfrm>
              <a:off x="3569" y="2609"/>
              <a:ext cx="1310" cy="131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0" name="Oval 80"/>
            <p:cNvSpPr>
              <a:spLocks noChangeArrowheads="1"/>
            </p:cNvSpPr>
            <p:nvPr/>
          </p:nvSpPr>
          <p:spPr bwMode="auto">
            <a:xfrm>
              <a:off x="3601" y="2642"/>
              <a:ext cx="1246" cy="124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1" name="Oval 81"/>
            <p:cNvSpPr>
              <a:spLocks noChangeArrowheads="1"/>
            </p:cNvSpPr>
            <p:nvPr/>
          </p:nvSpPr>
          <p:spPr bwMode="auto">
            <a:xfrm>
              <a:off x="3634" y="2674"/>
              <a:ext cx="1180" cy="118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2" name="Oval 82"/>
            <p:cNvSpPr>
              <a:spLocks noChangeArrowheads="1"/>
            </p:cNvSpPr>
            <p:nvPr/>
          </p:nvSpPr>
          <p:spPr bwMode="auto">
            <a:xfrm>
              <a:off x="3667" y="2707"/>
              <a:ext cx="1114" cy="111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3" name="Oval 83"/>
            <p:cNvSpPr>
              <a:spLocks noChangeArrowheads="1"/>
            </p:cNvSpPr>
            <p:nvPr/>
          </p:nvSpPr>
          <p:spPr bwMode="auto">
            <a:xfrm>
              <a:off x="3701" y="2741"/>
              <a:ext cx="1046" cy="1046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4" name="Oval 84"/>
            <p:cNvSpPr>
              <a:spLocks noChangeArrowheads="1"/>
            </p:cNvSpPr>
            <p:nvPr/>
          </p:nvSpPr>
          <p:spPr bwMode="auto">
            <a:xfrm>
              <a:off x="3767" y="2806"/>
              <a:ext cx="914" cy="9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5" name="Oval 85"/>
            <p:cNvSpPr>
              <a:spLocks noChangeArrowheads="1"/>
            </p:cNvSpPr>
            <p:nvPr/>
          </p:nvSpPr>
          <p:spPr bwMode="auto">
            <a:xfrm>
              <a:off x="3734" y="2774"/>
              <a:ext cx="980" cy="9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6" name="Oval 86"/>
            <p:cNvSpPr>
              <a:spLocks noChangeArrowheads="1"/>
            </p:cNvSpPr>
            <p:nvPr/>
          </p:nvSpPr>
          <p:spPr bwMode="auto">
            <a:xfrm>
              <a:off x="3781" y="2822"/>
              <a:ext cx="886" cy="8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7" name="Oval 87"/>
            <p:cNvSpPr>
              <a:spLocks noChangeArrowheads="1"/>
            </p:cNvSpPr>
            <p:nvPr/>
          </p:nvSpPr>
          <p:spPr bwMode="auto">
            <a:xfrm>
              <a:off x="3832" y="2871"/>
              <a:ext cx="784" cy="78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8" name="Oval 88"/>
            <p:cNvSpPr>
              <a:spLocks noChangeArrowheads="1"/>
            </p:cNvSpPr>
            <p:nvPr/>
          </p:nvSpPr>
          <p:spPr bwMode="auto">
            <a:xfrm>
              <a:off x="3896" y="2937"/>
              <a:ext cx="656" cy="65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49" name="Oval 89"/>
            <p:cNvSpPr>
              <a:spLocks noChangeArrowheads="1"/>
            </p:cNvSpPr>
            <p:nvPr/>
          </p:nvSpPr>
          <p:spPr bwMode="auto">
            <a:xfrm>
              <a:off x="3947" y="2976"/>
              <a:ext cx="565" cy="56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50" name="Oval 90"/>
            <p:cNvSpPr>
              <a:spLocks noChangeArrowheads="1"/>
            </p:cNvSpPr>
            <p:nvPr/>
          </p:nvSpPr>
          <p:spPr bwMode="auto">
            <a:xfrm>
              <a:off x="4032" y="3072"/>
              <a:ext cx="384" cy="38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66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4843-9BB8-4B07-8C62-375D08793498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69727" name="Rectangle 95"/>
          <p:cNvSpPr>
            <a:spLocks noChangeArrowheads="1"/>
          </p:cNvSpPr>
          <p:nvPr/>
        </p:nvSpPr>
        <p:spPr bwMode="auto">
          <a:xfrm>
            <a:off x="3917950" y="1681163"/>
            <a:ext cx="73025" cy="1255712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530244" y="482958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kumimoji="0" lang="zh-CN" altLang="en-US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三、</a:t>
            </a:r>
            <a:r>
              <a:rPr kumimoji="0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迈克耳孙干涉仪光路及结构</a:t>
            </a: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1003300" y="1579563"/>
            <a:ext cx="7196138" cy="4694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5041900" y="1695450"/>
            <a:ext cx="73025" cy="1255713"/>
          </a:xfrm>
          <a:prstGeom prst="rect">
            <a:avLst/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845300" y="3605213"/>
            <a:ext cx="217488" cy="1023937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Line 7"/>
          <p:cNvSpPr>
            <a:spLocks noChangeShapeType="1"/>
          </p:cNvSpPr>
          <p:nvPr/>
        </p:nvSpPr>
        <p:spPr bwMode="auto">
          <a:xfrm>
            <a:off x="6845300" y="3576638"/>
            <a:ext cx="0" cy="1057275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0" name="AutoShape 8"/>
          <p:cNvSpPr>
            <a:spLocks noChangeArrowheads="1"/>
          </p:cNvSpPr>
          <p:nvPr/>
        </p:nvSpPr>
        <p:spPr bwMode="auto">
          <a:xfrm>
            <a:off x="2222500" y="3530600"/>
            <a:ext cx="342900" cy="822325"/>
          </a:xfrm>
          <a:prstGeom prst="roundRect">
            <a:avLst>
              <a:gd name="adj" fmla="val 49995"/>
            </a:avLst>
          </a:prstGeom>
          <a:gradFill rotWithShape="0">
            <a:gsLst>
              <a:gs pos="0">
                <a:srgbClr val="FFFF66">
                  <a:gamma/>
                  <a:shade val="69804"/>
                  <a:invGamma/>
                </a:srgbClr>
              </a:gs>
              <a:gs pos="50000">
                <a:srgbClr val="FFFF66"/>
              </a:gs>
              <a:gs pos="100000">
                <a:srgbClr val="FFFF66">
                  <a:gamma/>
                  <a:shade val="69804"/>
                  <a:invGamma/>
                </a:srgbClr>
              </a:gs>
            </a:gsLst>
            <a:lin ang="0" scaled="1"/>
          </a:gra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2281238" y="4327525"/>
            <a:ext cx="233362" cy="142875"/>
          </a:xfrm>
          <a:prstGeom prst="rect">
            <a:avLst/>
          </a:prstGeom>
          <a:gradFill rotWithShape="0">
            <a:gsLst>
              <a:gs pos="0">
                <a:srgbClr val="FFFF66">
                  <a:gamma/>
                  <a:shade val="69804"/>
                  <a:invGamma/>
                </a:srgbClr>
              </a:gs>
              <a:gs pos="50000">
                <a:srgbClr val="FFFF66"/>
              </a:gs>
              <a:gs pos="100000">
                <a:srgbClr val="FFFF66">
                  <a:gamma/>
                  <a:shade val="69804"/>
                  <a:invGamma/>
                </a:srgbClr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2281238" y="4419600"/>
            <a:ext cx="233362" cy="1619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3" name="Freeform 11"/>
          <p:cNvSpPr>
            <a:spLocks/>
          </p:cNvSpPr>
          <p:nvPr/>
        </p:nvSpPr>
        <p:spPr bwMode="auto">
          <a:xfrm>
            <a:off x="2376488" y="3665538"/>
            <a:ext cx="77787" cy="677862"/>
          </a:xfrm>
          <a:custGeom>
            <a:avLst/>
            <a:gdLst>
              <a:gd name="T0" fmla="*/ 0 w 51"/>
              <a:gd name="T1" fmla="*/ 455 h 472"/>
              <a:gd name="T2" fmla="*/ 0 w 51"/>
              <a:gd name="T3" fmla="*/ 0 h 472"/>
              <a:gd name="T4" fmla="*/ 16 w 51"/>
              <a:gd name="T5" fmla="*/ 106 h 472"/>
              <a:gd name="T6" fmla="*/ 16 w 51"/>
              <a:gd name="T7" fmla="*/ 0 h 472"/>
              <a:gd name="T8" fmla="*/ 33 w 51"/>
              <a:gd name="T9" fmla="*/ 106 h 472"/>
              <a:gd name="T10" fmla="*/ 33 w 51"/>
              <a:gd name="T11" fmla="*/ 0 h 472"/>
              <a:gd name="T12" fmla="*/ 50 w 51"/>
              <a:gd name="T13" fmla="*/ 106 h 472"/>
              <a:gd name="T14" fmla="*/ 50 w 51"/>
              <a:gd name="T15" fmla="*/ 471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1" h="472">
                <a:moveTo>
                  <a:pt x="0" y="455"/>
                </a:moveTo>
                <a:lnTo>
                  <a:pt x="0" y="0"/>
                </a:lnTo>
                <a:lnTo>
                  <a:pt x="16" y="106"/>
                </a:lnTo>
                <a:lnTo>
                  <a:pt x="16" y="0"/>
                </a:lnTo>
                <a:lnTo>
                  <a:pt x="33" y="106"/>
                </a:lnTo>
                <a:lnTo>
                  <a:pt x="33" y="0"/>
                </a:lnTo>
                <a:lnTo>
                  <a:pt x="50" y="106"/>
                </a:lnTo>
                <a:lnTo>
                  <a:pt x="50" y="471"/>
                </a:lnTo>
              </a:path>
            </a:pathLst>
          </a:custGeom>
          <a:gradFill rotWithShape="0">
            <a:gsLst>
              <a:gs pos="0">
                <a:srgbClr val="FFFF66">
                  <a:gamma/>
                  <a:shade val="69804"/>
                  <a:invGamma/>
                </a:srgbClr>
              </a:gs>
              <a:gs pos="50000">
                <a:srgbClr val="FFFF66"/>
              </a:gs>
              <a:gs pos="100000">
                <a:srgbClr val="FFFF66">
                  <a:gamma/>
                  <a:shade val="69804"/>
                  <a:invGamma/>
                </a:srgbClr>
              </a:gs>
            </a:gsLst>
            <a:lin ang="0" scaled="1"/>
          </a:gra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4" name="Line 12"/>
          <p:cNvSpPr>
            <a:spLocks noChangeShapeType="1"/>
          </p:cNvSpPr>
          <p:nvPr/>
        </p:nvSpPr>
        <p:spPr bwMode="auto">
          <a:xfrm flipV="1">
            <a:off x="2274888" y="4341813"/>
            <a:ext cx="236537" cy="22225"/>
          </a:xfrm>
          <a:prstGeom prst="line">
            <a:avLst/>
          </a:prstGeom>
          <a:noFill/>
          <a:ln w="25400">
            <a:solidFill>
              <a:srgbClr val="FFCC66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V="1">
            <a:off x="2274888" y="4386263"/>
            <a:ext cx="236537" cy="22225"/>
          </a:xfrm>
          <a:prstGeom prst="line">
            <a:avLst/>
          </a:prstGeom>
          <a:noFill/>
          <a:ln w="25400">
            <a:solidFill>
              <a:srgbClr val="FFCC66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 flipV="1">
            <a:off x="2274888" y="4430713"/>
            <a:ext cx="236537" cy="23812"/>
          </a:xfrm>
          <a:prstGeom prst="line">
            <a:avLst/>
          </a:prstGeom>
          <a:noFill/>
          <a:ln w="25400">
            <a:solidFill>
              <a:srgbClr val="FFCC66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7" name="Line 15"/>
          <p:cNvSpPr>
            <a:spLocks noChangeShapeType="1"/>
          </p:cNvSpPr>
          <p:nvPr/>
        </p:nvSpPr>
        <p:spPr bwMode="auto">
          <a:xfrm flipV="1">
            <a:off x="2274888" y="4475163"/>
            <a:ext cx="236537" cy="22225"/>
          </a:xfrm>
          <a:prstGeom prst="line">
            <a:avLst/>
          </a:prstGeom>
          <a:noFill/>
          <a:ln w="25400">
            <a:solidFill>
              <a:srgbClr val="FFCC66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8" name="Rectangle 16"/>
          <p:cNvSpPr>
            <a:spLocks noChangeArrowheads="1"/>
          </p:cNvSpPr>
          <p:nvPr/>
        </p:nvSpPr>
        <p:spPr bwMode="auto">
          <a:xfrm>
            <a:off x="2359025" y="4187825"/>
            <a:ext cx="103188" cy="138113"/>
          </a:xfrm>
          <a:prstGeom prst="rect">
            <a:avLst/>
          </a:prstGeom>
          <a:gradFill rotWithShape="0">
            <a:gsLst>
              <a:gs pos="0">
                <a:srgbClr val="FFFF66">
                  <a:gamma/>
                  <a:shade val="69804"/>
                  <a:invGamma/>
                </a:srgbClr>
              </a:gs>
              <a:gs pos="50000">
                <a:srgbClr val="FFFF66"/>
              </a:gs>
              <a:gs pos="100000">
                <a:srgbClr val="FFFF66">
                  <a:gamma/>
                  <a:shade val="69804"/>
                  <a:invGamma/>
                </a:srgbClr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9649" name="Group 17"/>
          <p:cNvGrpSpPr>
            <a:grpSpLocks/>
          </p:cNvGrpSpPr>
          <p:nvPr/>
        </p:nvGrpSpPr>
        <p:grpSpPr bwMode="auto">
          <a:xfrm>
            <a:off x="7072313" y="3651250"/>
            <a:ext cx="360362" cy="206375"/>
            <a:chOff x="4367" y="2134"/>
            <a:chExt cx="239" cy="144"/>
          </a:xfrm>
        </p:grpSpPr>
        <p:sp>
          <p:nvSpPr>
            <p:cNvPr id="69650" name="Rectangle 18"/>
            <p:cNvSpPr>
              <a:spLocks noChangeArrowheads="1"/>
            </p:cNvSpPr>
            <p:nvPr/>
          </p:nvSpPr>
          <p:spPr bwMode="auto">
            <a:xfrm rot="5392240">
              <a:off x="4510" y="2182"/>
              <a:ext cx="144" cy="48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35686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35686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1" name="Rectangle 19"/>
            <p:cNvSpPr>
              <a:spLocks noChangeArrowheads="1"/>
            </p:cNvSpPr>
            <p:nvPr/>
          </p:nvSpPr>
          <p:spPr bwMode="auto">
            <a:xfrm rot="5392240">
              <a:off x="4439" y="2111"/>
              <a:ext cx="48" cy="192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652" name="Group 20"/>
          <p:cNvGrpSpPr>
            <a:grpSpLocks/>
          </p:cNvGrpSpPr>
          <p:nvPr/>
        </p:nvGrpSpPr>
        <p:grpSpPr bwMode="auto">
          <a:xfrm>
            <a:off x="7073900" y="4003675"/>
            <a:ext cx="360363" cy="206375"/>
            <a:chOff x="4368" y="2374"/>
            <a:chExt cx="239" cy="144"/>
          </a:xfrm>
        </p:grpSpPr>
        <p:sp>
          <p:nvSpPr>
            <p:cNvPr id="69653" name="Rectangle 21"/>
            <p:cNvSpPr>
              <a:spLocks noChangeArrowheads="1"/>
            </p:cNvSpPr>
            <p:nvPr/>
          </p:nvSpPr>
          <p:spPr bwMode="auto">
            <a:xfrm rot="5392240">
              <a:off x="4511" y="2422"/>
              <a:ext cx="144" cy="48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35686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35686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 rot="5392240">
              <a:off x="4440" y="2351"/>
              <a:ext cx="48" cy="192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655" name="Group 23"/>
          <p:cNvGrpSpPr>
            <a:grpSpLocks/>
          </p:cNvGrpSpPr>
          <p:nvPr/>
        </p:nvGrpSpPr>
        <p:grpSpPr bwMode="auto">
          <a:xfrm>
            <a:off x="7073900" y="4356100"/>
            <a:ext cx="360363" cy="204788"/>
            <a:chOff x="4368" y="2613"/>
            <a:chExt cx="239" cy="144"/>
          </a:xfrm>
        </p:grpSpPr>
        <p:sp>
          <p:nvSpPr>
            <p:cNvPr id="69656" name="Rectangle 24"/>
            <p:cNvSpPr>
              <a:spLocks noChangeArrowheads="1"/>
            </p:cNvSpPr>
            <p:nvPr/>
          </p:nvSpPr>
          <p:spPr bwMode="auto">
            <a:xfrm rot="5392240">
              <a:off x="4511" y="2661"/>
              <a:ext cx="144" cy="48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35686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35686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57" name="Rectangle 25"/>
            <p:cNvSpPr>
              <a:spLocks noChangeArrowheads="1"/>
            </p:cNvSpPr>
            <p:nvPr/>
          </p:nvSpPr>
          <p:spPr bwMode="auto">
            <a:xfrm rot="5392240">
              <a:off x="4440" y="2590"/>
              <a:ext cx="48" cy="192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9658" name="Rectangle 26"/>
          <p:cNvSpPr>
            <a:spLocks noChangeArrowheads="1"/>
          </p:cNvSpPr>
          <p:nvPr/>
        </p:nvSpPr>
        <p:spPr bwMode="auto">
          <a:xfrm rot="5392240">
            <a:off x="6747669" y="4087019"/>
            <a:ext cx="1023938" cy="69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9" name="Rectangle 27"/>
          <p:cNvSpPr>
            <a:spLocks noChangeArrowheads="1"/>
          </p:cNvSpPr>
          <p:nvPr/>
        </p:nvSpPr>
        <p:spPr bwMode="auto">
          <a:xfrm rot="18900000">
            <a:off x="4929188" y="3749675"/>
            <a:ext cx="1625600" cy="306388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1" name="Rectangle 29"/>
          <p:cNvSpPr>
            <a:spLocks noChangeArrowheads="1"/>
          </p:cNvSpPr>
          <p:nvPr/>
        </p:nvSpPr>
        <p:spPr bwMode="auto">
          <a:xfrm rot="18900000">
            <a:off x="3681413" y="3659188"/>
            <a:ext cx="1774825" cy="285750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2" name="Line 30"/>
          <p:cNvSpPr>
            <a:spLocks noChangeShapeType="1"/>
          </p:cNvSpPr>
          <p:nvPr/>
        </p:nvSpPr>
        <p:spPr bwMode="auto">
          <a:xfrm rot="21504424" flipV="1">
            <a:off x="4057650" y="3322638"/>
            <a:ext cx="1254125" cy="1189037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3" name="Rectangle 31"/>
          <p:cNvSpPr>
            <a:spLocks noChangeArrowheads="1"/>
          </p:cNvSpPr>
          <p:nvPr/>
        </p:nvSpPr>
        <p:spPr bwMode="auto">
          <a:xfrm>
            <a:off x="3822700" y="2082800"/>
            <a:ext cx="1362075" cy="217488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4" name="Line 32"/>
          <p:cNvSpPr>
            <a:spLocks noChangeShapeType="1"/>
          </p:cNvSpPr>
          <p:nvPr/>
        </p:nvSpPr>
        <p:spPr bwMode="auto">
          <a:xfrm flipV="1">
            <a:off x="3822700" y="2300288"/>
            <a:ext cx="1330325" cy="1587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5" name="Text Box 33"/>
          <p:cNvSpPr txBox="1">
            <a:spLocks noChangeArrowheads="1"/>
          </p:cNvSpPr>
          <p:nvPr/>
        </p:nvSpPr>
        <p:spPr bwMode="auto">
          <a:xfrm>
            <a:off x="1276350" y="3078163"/>
            <a:ext cx="620713" cy="164465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CC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1C1C1C"/>
                </a:solidFill>
              </a:rPr>
              <a:t>单色光源</a:t>
            </a:r>
          </a:p>
        </p:txBody>
      </p:sp>
      <p:graphicFrame>
        <p:nvGraphicFramePr>
          <p:cNvPr id="69666" name="Object 34"/>
          <p:cNvGraphicFramePr>
            <a:graphicFrameLocks noChangeAspect="1"/>
          </p:cNvGraphicFramePr>
          <p:nvPr/>
        </p:nvGraphicFramePr>
        <p:xfrm>
          <a:off x="6072188" y="1990725"/>
          <a:ext cx="145573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40" name="Equation" r:id="rId3" imgW="596880" imgH="215640" progId="Equation.3">
                  <p:embed/>
                </p:oleObj>
              </mc:Choice>
              <mc:Fallback>
                <p:oleObj name="Equation" r:id="rId3" imgW="596880" imgH="215640" progId="Equation.3">
                  <p:embed/>
                  <p:pic>
                    <p:nvPicPr>
                      <p:cNvPr id="0" name="Object 3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1990725"/>
                        <a:ext cx="145573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726" name="Group 94"/>
          <p:cNvGrpSpPr>
            <a:grpSpLocks/>
          </p:cNvGrpSpPr>
          <p:nvPr/>
        </p:nvGrpSpPr>
        <p:grpSpPr bwMode="auto">
          <a:xfrm>
            <a:off x="7531100" y="3414713"/>
            <a:ext cx="560388" cy="1376362"/>
            <a:chOff x="4744" y="2055"/>
            <a:chExt cx="353" cy="867"/>
          </a:xfrm>
        </p:grpSpPr>
        <p:sp>
          <p:nvSpPr>
            <p:cNvPr id="69668" name="Rectangle 36"/>
            <p:cNvSpPr>
              <a:spLocks noChangeArrowheads="1"/>
            </p:cNvSpPr>
            <p:nvPr/>
          </p:nvSpPr>
          <p:spPr bwMode="auto">
            <a:xfrm>
              <a:off x="4744" y="2055"/>
              <a:ext cx="32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</a:pPr>
              <a:r>
                <a:rPr kumimoji="0" lang="zh-CN" altLang="en-US" sz="2400">
                  <a:solidFill>
                    <a:srgbClr val="000000"/>
                  </a:solidFill>
                </a:rPr>
                <a:t>反射镜 </a:t>
              </a:r>
            </a:p>
          </p:txBody>
        </p:sp>
        <p:graphicFrame>
          <p:nvGraphicFramePr>
            <p:cNvPr id="69669" name="Object 37"/>
            <p:cNvGraphicFramePr>
              <a:graphicFrameLocks noChangeAspect="1"/>
            </p:cNvGraphicFramePr>
            <p:nvPr/>
          </p:nvGraphicFramePr>
          <p:xfrm>
            <a:off x="4806" y="2676"/>
            <a:ext cx="291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41" name="Equation" r:id="rId5" imgW="355320" imgH="317160" progId="Equation.3">
                    <p:embed/>
                  </p:oleObj>
                </mc:Choice>
                <mc:Fallback>
                  <p:oleObj name="Equation" r:id="rId5" imgW="355320" imgH="317160" progId="Equation.3">
                    <p:embed/>
                    <p:pic>
                      <p:nvPicPr>
                        <p:cNvPr id="0" name="Object 3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" y="2676"/>
                          <a:ext cx="291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670" name="Group 38"/>
          <p:cNvGrpSpPr>
            <a:grpSpLocks/>
          </p:cNvGrpSpPr>
          <p:nvPr/>
        </p:nvGrpSpPr>
        <p:grpSpPr bwMode="auto">
          <a:xfrm>
            <a:off x="1855788" y="1863725"/>
            <a:ext cx="1736725" cy="519113"/>
            <a:chOff x="1056" y="1104"/>
            <a:chExt cx="1152" cy="364"/>
          </a:xfrm>
        </p:grpSpPr>
        <p:sp>
          <p:nvSpPr>
            <p:cNvPr id="69671" name="Rectangle 39"/>
            <p:cNvSpPr>
              <a:spLocks noChangeArrowheads="1"/>
            </p:cNvSpPr>
            <p:nvPr/>
          </p:nvSpPr>
          <p:spPr bwMode="auto">
            <a:xfrm>
              <a:off x="1056" y="1104"/>
              <a:ext cx="1152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</a:rPr>
                <a:t>反射镜</a:t>
              </a:r>
            </a:p>
          </p:txBody>
        </p:sp>
        <p:graphicFrame>
          <p:nvGraphicFramePr>
            <p:cNvPr id="69672" name="Object 40"/>
            <p:cNvGraphicFramePr>
              <a:graphicFrameLocks noChangeAspect="1"/>
            </p:cNvGraphicFramePr>
            <p:nvPr/>
          </p:nvGraphicFramePr>
          <p:xfrm>
            <a:off x="1824" y="1152"/>
            <a:ext cx="31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742" name="Equation" r:id="rId7" imgW="330120" imgH="317160" progId="Equation.3">
                    <p:embed/>
                  </p:oleObj>
                </mc:Choice>
                <mc:Fallback>
                  <p:oleObj name="Equation" r:id="rId7" imgW="330120" imgH="317160" progId="Equation.3">
                    <p:embed/>
                    <p:pic>
                      <p:nvPicPr>
                        <p:cNvPr id="0" name="Object 4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152"/>
                          <a:ext cx="31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725" name="Group 93"/>
          <p:cNvGrpSpPr>
            <a:grpSpLocks/>
          </p:cNvGrpSpPr>
          <p:nvPr/>
        </p:nvGrpSpPr>
        <p:grpSpPr bwMode="auto">
          <a:xfrm>
            <a:off x="1892300" y="5707063"/>
            <a:ext cx="6440488" cy="576262"/>
            <a:chOff x="920" y="3579"/>
            <a:chExt cx="4057" cy="363"/>
          </a:xfrm>
        </p:grpSpPr>
        <p:sp>
          <p:nvSpPr>
            <p:cNvPr id="69678" name="Text Box 46"/>
            <p:cNvSpPr txBox="1">
              <a:spLocks noChangeArrowheads="1"/>
            </p:cNvSpPr>
            <p:nvPr/>
          </p:nvSpPr>
          <p:spPr bwMode="auto">
            <a:xfrm>
              <a:off x="2060" y="3615"/>
              <a:ext cx="29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zh-CN">
                  <a:solidFill>
                    <a:srgbClr val="000000"/>
                  </a:solidFill>
                </a:rPr>
                <a:t>与              </a:t>
              </a:r>
              <a:r>
                <a:rPr kumimoji="0" lang="zh-CN" altLang="en-US">
                  <a:solidFill>
                    <a:srgbClr val="000000"/>
                  </a:solidFill>
                </a:rPr>
                <a:t> </a:t>
              </a:r>
              <a:r>
                <a:rPr kumimoji="0" lang="zh-CN" altLang="zh-CN">
                  <a:solidFill>
                    <a:srgbClr val="000000"/>
                  </a:solidFill>
                </a:rPr>
                <a:t>成      角</a:t>
              </a:r>
              <a:endParaRPr kumimoji="0"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69724" name="Group 92"/>
            <p:cNvGrpSpPr>
              <a:grpSpLocks/>
            </p:cNvGrpSpPr>
            <p:nvPr/>
          </p:nvGrpSpPr>
          <p:grpSpPr bwMode="auto">
            <a:xfrm>
              <a:off x="920" y="3579"/>
              <a:ext cx="3282" cy="362"/>
              <a:chOff x="920" y="3579"/>
              <a:chExt cx="3282" cy="362"/>
            </a:xfrm>
          </p:grpSpPr>
          <p:graphicFrame>
            <p:nvGraphicFramePr>
              <p:cNvPr id="69674" name="Object 42"/>
              <p:cNvGraphicFramePr>
                <a:graphicFrameLocks noChangeAspect="1"/>
              </p:cNvGraphicFramePr>
              <p:nvPr/>
            </p:nvGraphicFramePr>
            <p:xfrm>
              <a:off x="3439" y="3641"/>
              <a:ext cx="371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743" name="公式" r:id="rId9" imgW="241200" imgH="203040" progId="Equation.3">
                      <p:embed/>
                    </p:oleObj>
                  </mc:Choice>
                  <mc:Fallback>
                    <p:oleObj name="公式" r:id="rId9" imgW="241200" imgH="203040" progId="Equation.3">
                      <p:embed/>
                      <p:pic>
                        <p:nvPicPr>
                          <p:cNvPr id="0" name="Object 42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9" y="3641"/>
                            <a:ext cx="371" cy="2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9676" name="Rectangle 44"/>
              <p:cNvSpPr>
                <a:spLocks noChangeArrowheads="1"/>
              </p:cNvSpPr>
              <p:nvPr/>
            </p:nvSpPr>
            <p:spPr bwMode="auto">
              <a:xfrm>
                <a:off x="920" y="3579"/>
                <a:ext cx="3282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9677" name="Object 45"/>
              <p:cNvGraphicFramePr>
                <a:graphicFrameLocks noChangeAspect="1"/>
              </p:cNvGraphicFramePr>
              <p:nvPr/>
            </p:nvGraphicFramePr>
            <p:xfrm>
              <a:off x="2336" y="3648"/>
              <a:ext cx="863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744" name="公式" r:id="rId11" imgW="507960" imgH="215640" progId="Equation.3">
                      <p:embed/>
                    </p:oleObj>
                  </mc:Choice>
                  <mc:Fallback>
                    <p:oleObj name="公式" r:id="rId11" imgW="507960" imgH="215640" progId="Equation.3">
                      <p:embed/>
                      <p:pic>
                        <p:nvPicPr>
                          <p:cNvPr id="0" name="Object 4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6" y="3648"/>
                            <a:ext cx="863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679" name="Object 47"/>
              <p:cNvGraphicFramePr>
                <a:graphicFrameLocks noChangeAspect="1"/>
              </p:cNvGraphicFramePr>
              <p:nvPr/>
            </p:nvGraphicFramePr>
            <p:xfrm>
              <a:off x="1498" y="3632"/>
              <a:ext cx="645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745" name="公式" r:id="rId13" imgW="482400" imgH="215640" progId="Equation.3">
                      <p:embed/>
                    </p:oleObj>
                  </mc:Choice>
                  <mc:Fallback>
                    <p:oleObj name="公式" r:id="rId13" imgW="482400" imgH="215640" progId="Equation.3">
                      <p:embed/>
                      <p:pic>
                        <p:nvPicPr>
                          <p:cNvPr id="0" name="Object 4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8" y="3632"/>
                            <a:ext cx="645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9680" name="Group 48"/>
          <p:cNvGrpSpPr>
            <a:grpSpLocks/>
          </p:cNvGrpSpPr>
          <p:nvPr/>
        </p:nvGrpSpPr>
        <p:grpSpPr bwMode="auto">
          <a:xfrm>
            <a:off x="4429125" y="2257425"/>
            <a:ext cx="2390775" cy="1944688"/>
            <a:chOff x="2590" y="1380"/>
            <a:chExt cx="1586" cy="1290"/>
          </a:xfrm>
        </p:grpSpPr>
        <p:sp>
          <p:nvSpPr>
            <p:cNvPr id="69681" name="Freeform 49"/>
            <p:cNvSpPr>
              <a:spLocks/>
            </p:cNvSpPr>
            <p:nvPr/>
          </p:nvSpPr>
          <p:spPr bwMode="auto">
            <a:xfrm>
              <a:off x="2670" y="2562"/>
              <a:ext cx="1506" cy="108"/>
            </a:xfrm>
            <a:custGeom>
              <a:avLst/>
              <a:gdLst>
                <a:gd name="T0" fmla="*/ 0 w 1506"/>
                <a:gd name="T1" fmla="*/ 6 h 108"/>
                <a:gd name="T2" fmla="*/ 588 w 1506"/>
                <a:gd name="T3" fmla="*/ 0 h 108"/>
                <a:gd name="T4" fmla="*/ 714 w 1506"/>
                <a:gd name="T5" fmla="*/ 108 h 108"/>
                <a:gd name="T6" fmla="*/ 1506 w 1506"/>
                <a:gd name="T7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6" h="108">
                  <a:moveTo>
                    <a:pt x="0" y="6"/>
                  </a:moveTo>
                  <a:lnTo>
                    <a:pt x="588" y="0"/>
                  </a:lnTo>
                  <a:lnTo>
                    <a:pt x="714" y="108"/>
                  </a:lnTo>
                  <a:lnTo>
                    <a:pt x="1506" y="108"/>
                  </a:lnTo>
                </a:path>
              </a:pathLst>
            </a:custGeom>
            <a:noFill/>
            <a:ln w="28575" cmpd="sng">
              <a:solidFill>
                <a:srgbClr val="990099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2" name="Line 50"/>
            <p:cNvSpPr>
              <a:spLocks noChangeShapeType="1"/>
            </p:cNvSpPr>
            <p:nvPr/>
          </p:nvSpPr>
          <p:spPr bwMode="auto">
            <a:xfrm>
              <a:off x="2976" y="2570"/>
              <a:ext cx="112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3" name="Line 51"/>
            <p:cNvSpPr>
              <a:spLocks noChangeShapeType="1"/>
            </p:cNvSpPr>
            <p:nvPr/>
          </p:nvSpPr>
          <p:spPr bwMode="auto">
            <a:xfrm>
              <a:off x="3888" y="2670"/>
              <a:ext cx="117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4" name="Freeform 52"/>
            <p:cNvSpPr>
              <a:spLocks/>
            </p:cNvSpPr>
            <p:nvPr/>
          </p:nvSpPr>
          <p:spPr bwMode="auto">
            <a:xfrm>
              <a:off x="2592" y="1380"/>
              <a:ext cx="66" cy="1188"/>
            </a:xfrm>
            <a:custGeom>
              <a:avLst/>
              <a:gdLst>
                <a:gd name="T0" fmla="*/ 66 w 66"/>
                <a:gd name="T1" fmla="*/ 1188 h 1188"/>
                <a:gd name="T2" fmla="*/ 0 w 66"/>
                <a:gd name="T3" fmla="*/ 1038 h 1188"/>
                <a:gd name="T4" fmla="*/ 0 w 66"/>
                <a:gd name="T5" fmla="*/ 0 h 1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1188">
                  <a:moveTo>
                    <a:pt x="66" y="1188"/>
                  </a:moveTo>
                  <a:lnTo>
                    <a:pt x="0" y="1038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DC83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85" name="Line 53"/>
            <p:cNvSpPr>
              <a:spLocks noChangeShapeType="1"/>
            </p:cNvSpPr>
            <p:nvPr/>
          </p:nvSpPr>
          <p:spPr bwMode="auto">
            <a:xfrm flipH="1" flipV="1">
              <a:off x="2590" y="1470"/>
              <a:ext cx="2" cy="162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686" name="Group 54"/>
          <p:cNvGrpSpPr>
            <a:grpSpLocks/>
          </p:cNvGrpSpPr>
          <p:nvPr/>
        </p:nvGrpSpPr>
        <p:grpSpPr bwMode="auto">
          <a:xfrm>
            <a:off x="4546600" y="2295525"/>
            <a:ext cx="84138" cy="3603625"/>
            <a:chOff x="2664" y="1374"/>
            <a:chExt cx="56" cy="2451"/>
          </a:xfrm>
        </p:grpSpPr>
        <p:grpSp>
          <p:nvGrpSpPr>
            <p:cNvPr id="69687" name="Group 55"/>
            <p:cNvGrpSpPr>
              <a:grpSpLocks/>
            </p:cNvGrpSpPr>
            <p:nvPr/>
          </p:nvGrpSpPr>
          <p:grpSpPr bwMode="auto">
            <a:xfrm>
              <a:off x="2664" y="1374"/>
              <a:ext cx="54" cy="2388"/>
              <a:chOff x="2664" y="1374"/>
              <a:chExt cx="54" cy="2388"/>
            </a:xfrm>
          </p:grpSpPr>
          <p:sp>
            <p:nvSpPr>
              <p:cNvPr id="69688" name="Freeform 56"/>
              <p:cNvSpPr>
                <a:spLocks/>
              </p:cNvSpPr>
              <p:nvPr/>
            </p:nvSpPr>
            <p:spPr bwMode="auto">
              <a:xfrm>
                <a:off x="2664" y="1374"/>
                <a:ext cx="54" cy="2388"/>
              </a:xfrm>
              <a:custGeom>
                <a:avLst/>
                <a:gdLst>
                  <a:gd name="T0" fmla="*/ 0 w 54"/>
                  <a:gd name="T1" fmla="*/ 0 h 2388"/>
                  <a:gd name="T2" fmla="*/ 0 w 54"/>
                  <a:gd name="T3" fmla="*/ 978 h 2388"/>
                  <a:gd name="T4" fmla="*/ 54 w 54"/>
                  <a:gd name="T5" fmla="*/ 1152 h 2388"/>
                  <a:gd name="T6" fmla="*/ 54 w 54"/>
                  <a:gd name="T7" fmla="*/ 2388 h 2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2388">
                    <a:moveTo>
                      <a:pt x="0" y="0"/>
                    </a:moveTo>
                    <a:lnTo>
                      <a:pt x="0" y="978"/>
                    </a:lnTo>
                    <a:lnTo>
                      <a:pt x="54" y="1152"/>
                    </a:lnTo>
                    <a:lnTo>
                      <a:pt x="54" y="2388"/>
                    </a:lnTo>
                  </a:path>
                </a:pathLst>
              </a:custGeom>
              <a:noFill/>
              <a:ln w="28575" cmpd="sng">
                <a:solidFill>
                  <a:srgbClr val="DC8300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689" name="Line 57"/>
              <p:cNvSpPr>
                <a:spLocks noChangeShapeType="1"/>
              </p:cNvSpPr>
              <p:nvPr/>
            </p:nvSpPr>
            <p:spPr bwMode="auto">
              <a:xfrm>
                <a:off x="2665" y="1598"/>
                <a:ext cx="0" cy="82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9690" name="Line 58"/>
            <p:cNvSpPr>
              <a:spLocks noChangeShapeType="1"/>
            </p:cNvSpPr>
            <p:nvPr/>
          </p:nvSpPr>
          <p:spPr bwMode="auto">
            <a:xfrm>
              <a:off x="2720" y="3670"/>
              <a:ext cx="0" cy="155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9691" name="Group 59"/>
          <p:cNvGrpSpPr>
            <a:grpSpLocks/>
          </p:cNvGrpSpPr>
          <p:nvPr/>
        </p:nvGrpSpPr>
        <p:grpSpPr bwMode="auto">
          <a:xfrm>
            <a:off x="4697413" y="3933825"/>
            <a:ext cx="2146300" cy="1966913"/>
            <a:chOff x="2788" y="2448"/>
            <a:chExt cx="1394" cy="1378"/>
          </a:xfrm>
        </p:grpSpPr>
        <p:sp>
          <p:nvSpPr>
            <p:cNvPr id="69692" name="Freeform 60"/>
            <p:cNvSpPr>
              <a:spLocks/>
            </p:cNvSpPr>
            <p:nvPr/>
          </p:nvSpPr>
          <p:spPr bwMode="auto">
            <a:xfrm>
              <a:off x="2802" y="2454"/>
              <a:ext cx="1380" cy="126"/>
            </a:xfrm>
            <a:custGeom>
              <a:avLst/>
              <a:gdLst>
                <a:gd name="T0" fmla="*/ 1380 w 1380"/>
                <a:gd name="T1" fmla="*/ 126 h 126"/>
                <a:gd name="T2" fmla="*/ 684 w 1380"/>
                <a:gd name="T3" fmla="*/ 126 h 126"/>
                <a:gd name="T4" fmla="*/ 558 w 1380"/>
                <a:gd name="T5" fmla="*/ 0 h 126"/>
                <a:gd name="T6" fmla="*/ 12 w 1380"/>
                <a:gd name="T7" fmla="*/ 0 h 126"/>
                <a:gd name="T8" fmla="*/ 12 w 1380"/>
                <a:gd name="T9" fmla="*/ 0 h 126"/>
                <a:gd name="T10" fmla="*/ 0 w 1380"/>
                <a:gd name="T11" fmla="*/ 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80" h="126">
                  <a:moveTo>
                    <a:pt x="1380" y="126"/>
                  </a:moveTo>
                  <a:lnTo>
                    <a:pt x="684" y="126"/>
                  </a:lnTo>
                  <a:lnTo>
                    <a:pt x="558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0" y="12"/>
                  </a:lnTo>
                </a:path>
              </a:pathLst>
            </a:custGeom>
            <a:noFill/>
            <a:ln w="28575" cmpd="sng">
              <a:solidFill>
                <a:srgbClr val="990099"/>
              </a:solidFill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93" name="Line 61"/>
            <p:cNvSpPr>
              <a:spLocks noChangeShapeType="1"/>
            </p:cNvSpPr>
            <p:nvPr/>
          </p:nvSpPr>
          <p:spPr bwMode="auto">
            <a:xfrm flipH="1">
              <a:off x="3792" y="2579"/>
              <a:ext cx="164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94" name="Line 62"/>
            <p:cNvSpPr>
              <a:spLocks noChangeShapeType="1"/>
            </p:cNvSpPr>
            <p:nvPr/>
          </p:nvSpPr>
          <p:spPr bwMode="auto">
            <a:xfrm flipH="1">
              <a:off x="3081" y="2450"/>
              <a:ext cx="109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695" name="Line 63"/>
            <p:cNvSpPr>
              <a:spLocks noChangeShapeType="1"/>
            </p:cNvSpPr>
            <p:nvPr/>
          </p:nvSpPr>
          <p:spPr bwMode="auto">
            <a:xfrm>
              <a:off x="2788" y="2448"/>
              <a:ext cx="0" cy="1248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696" name="Line 64"/>
            <p:cNvSpPr>
              <a:spLocks noChangeShapeType="1"/>
            </p:cNvSpPr>
            <p:nvPr/>
          </p:nvSpPr>
          <p:spPr bwMode="auto">
            <a:xfrm>
              <a:off x="2788" y="3744"/>
              <a:ext cx="0" cy="82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705" name="Group 73"/>
          <p:cNvGrpSpPr>
            <a:grpSpLocks/>
          </p:cNvGrpSpPr>
          <p:nvPr/>
        </p:nvGrpSpPr>
        <p:grpSpPr bwMode="auto">
          <a:xfrm>
            <a:off x="2619375" y="3890963"/>
            <a:ext cx="1887538" cy="165100"/>
            <a:chOff x="1434" y="2464"/>
            <a:chExt cx="1218" cy="98"/>
          </a:xfrm>
        </p:grpSpPr>
        <p:sp>
          <p:nvSpPr>
            <p:cNvPr id="69706" name="Freeform 74"/>
            <p:cNvSpPr>
              <a:spLocks/>
            </p:cNvSpPr>
            <p:nvPr/>
          </p:nvSpPr>
          <p:spPr bwMode="auto">
            <a:xfrm>
              <a:off x="1434" y="2466"/>
              <a:ext cx="1218" cy="96"/>
            </a:xfrm>
            <a:custGeom>
              <a:avLst/>
              <a:gdLst>
                <a:gd name="T0" fmla="*/ 0 w 1218"/>
                <a:gd name="T1" fmla="*/ 0 h 96"/>
                <a:gd name="T2" fmla="*/ 1092 w 1218"/>
                <a:gd name="T3" fmla="*/ 0 h 96"/>
                <a:gd name="T4" fmla="*/ 1218 w 1218"/>
                <a:gd name="T5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8" h="96">
                  <a:moveTo>
                    <a:pt x="0" y="0"/>
                  </a:moveTo>
                  <a:lnTo>
                    <a:pt x="1092" y="0"/>
                  </a:lnTo>
                  <a:lnTo>
                    <a:pt x="1218" y="96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707" name="Line 75"/>
            <p:cNvSpPr>
              <a:spLocks noChangeShapeType="1"/>
            </p:cNvSpPr>
            <p:nvPr/>
          </p:nvSpPr>
          <p:spPr bwMode="auto">
            <a:xfrm>
              <a:off x="1659" y="2464"/>
              <a:ext cx="2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708" name="Group 76"/>
          <p:cNvGrpSpPr>
            <a:grpSpLocks/>
          </p:cNvGrpSpPr>
          <p:nvPr/>
        </p:nvGrpSpPr>
        <p:grpSpPr bwMode="auto">
          <a:xfrm>
            <a:off x="3898900" y="1733550"/>
            <a:ext cx="1230313" cy="342900"/>
            <a:chOff x="2304" y="887"/>
            <a:chExt cx="816" cy="240"/>
          </a:xfrm>
        </p:grpSpPr>
        <p:grpSp>
          <p:nvGrpSpPr>
            <p:cNvPr id="69709" name="Group 77"/>
            <p:cNvGrpSpPr>
              <a:grpSpLocks/>
            </p:cNvGrpSpPr>
            <p:nvPr/>
          </p:nvGrpSpPr>
          <p:grpSpPr bwMode="auto">
            <a:xfrm>
              <a:off x="2400" y="887"/>
              <a:ext cx="144" cy="240"/>
              <a:chOff x="432" y="3456"/>
              <a:chExt cx="144" cy="240"/>
            </a:xfrm>
          </p:grpSpPr>
          <p:sp>
            <p:nvSpPr>
              <p:cNvPr id="69710" name="Rectangle 78"/>
              <p:cNvSpPr>
                <a:spLocks noChangeArrowheads="1"/>
              </p:cNvSpPr>
              <p:nvPr/>
            </p:nvSpPr>
            <p:spPr bwMode="auto">
              <a:xfrm>
                <a:off x="432" y="3456"/>
                <a:ext cx="14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711" name="Rectangle 79"/>
              <p:cNvSpPr>
                <a:spLocks noChangeArrowheads="1"/>
              </p:cNvSpPr>
              <p:nvPr/>
            </p:nvSpPr>
            <p:spPr bwMode="auto">
              <a:xfrm>
                <a:off x="480" y="3504"/>
                <a:ext cx="48" cy="192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9712" name="Group 80"/>
            <p:cNvGrpSpPr>
              <a:grpSpLocks/>
            </p:cNvGrpSpPr>
            <p:nvPr/>
          </p:nvGrpSpPr>
          <p:grpSpPr bwMode="auto">
            <a:xfrm>
              <a:off x="2640" y="887"/>
              <a:ext cx="144" cy="240"/>
              <a:chOff x="432" y="3456"/>
              <a:chExt cx="144" cy="240"/>
            </a:xfrm>
          </p:grpSpPr>
          <p:sp>
            <p:nvSpPr>
              <p:cNvPr id="69713" name="Rectangle 81"/>
              <p:cNvSpPr>
                <a:spLocks noChangeArrowheads="1"/>
              </p:cNvSpPr>
              <p:nvPr/>
            </p:nvSpPr>
            <p:spPr bwMode="auto">
              <a:xfrm>
                <a:off x="432" y="3456"/>
                <a:ext cx="14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714" name="Rectangle 82"/>
              <p:cNvSpPr>
                <a:spLocks noChangeArrowheads="1"/>
              </p:cNvSpPr>
              <p:nvPr/>
            </p:nvSpPr>
            <p:spPr bwMode="auto">
              <a:xfrm>
                <a:off x="480" y="3504"/>
                <a:ext cx="48" cy="192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9715" name="Group 83"/>
            <p:cNvGrpSpPr>
              <a:grpSpLocks/>
            </p:cNvGrpSpPr>
            <p:nvPr/>
          </p:nvGrpSpPr>
          <p:grpSpPr bwMode="auto">
            <a:xfrm>
              <a:off x="2880" y="887"/>
              <a:ext cx="144" cy="240"/>
              <a:chOff x="432" y="3456"/>
              <a:chExt cx="144" cy="240"/>
            </a:xfrm>
          </p:grpSpPr>
          <p:sp>
            <p:nvSpPr>
              <p:cNvPr id="69716" name="Rectangle 84"/>
              <p:cNvSpPr>
                <a:spLocks noChangeArrowheads="1"/>
              </p:cNvSpPr>
              <p:nvPr/>
            </p:nvSpPr>
            <p:spPr bwMode="auto">
              <a:xfrm>
                <a:off x="432" y="3456"/>
                <a:ext cx="144" cy="48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717" name="Rectangle 85"/>
              <p:cNvSpPr>
                <a:spLocks noChangeArrowheads="1"/>
              </p:cNvSpPr>
              <p:nvPr/>
            </p:nvSpPr>
            <p:spPr bwMode="auto">
              <a:xfrm>
                <a:off x="480" y="3504"/>
                <a:ext cx="48" cy="192"/>
              </a:xfrm>
              <a:prstGeom prst="rect">
                <a:avLst/>
              </a:prstGeom>
              <a:gradFill rotWithShape="0">
                <a:gsLst>
                  <a:gs pos="0">
                    <a:schemeClr val="accent1">
                      <a:gamma/>
                      <a:shade val="36078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36078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9718" name="Rectangle 86"/>
            <p:cNvSpPr>
              <a:spLocks noChangeArrowheads="1"/>
            </p:cNvSpPr>
            <p:nvPr/>
          </p:nvSpPr>
          <p:spPr bwMode="auto">
            <a:xfrm>
              <a:off x="2304" y="983"/>
              <a:ext cx="816" cy="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6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8F5DB-CED3-46DD-B3C7-12B94F60A32B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609600" y="990600"/>
            <a:ext cx="7848600" cy="510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659" name="Group 3"/>
          <p:cNvGrpSpPr>
            <a:grpSpLocks/>
          </p:cNvGrpSpPr>
          <p:nvPr/>
        </p:nvGrpSpPr>
        <p:grpSpPr bwMode="auto">
          <a:xfrm>
            <a:off x="2381250" y="1993900"/>
            <a:ext cx="2038350" cy="520700"/>
            <a:chOff x="714" y="757"/>
            <a:chExt cx="1297" cy="348"/>
          </a:xfrm>
        </p:grpSpPr>
        <p:sp>
          <p:nvSpPr>
            <p:cNvPr id="70660" name="Rectangle 4"/>
            <p:cNvSpPr>
              <a:spLocks noChangeArrowheads="1"/>
            </p:cNvSpPr>
            <p:nvPr/>
          </p:nvSpPr>
          <p:spPr bwMode="auto">
            <a:xfrm>
              <a:off x="714" y="757"/>
              <a:ext cx="1297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latin typeface="楷体_GB2312" pitchFamily="49" charset="-122"/>
                </a:rPr>
                <a:t>反射镜</a:t>
              </a:r>
            </a:p>
          </p:txBody>
        </p:sp>
        <p:graphicFrame>
          <p:nvGraphicFramePr>
            <p:cNvPr id="70661" name="Object 5"/>
            <p:cNvGraphicFramePr>
              <a:graphicFrameLocks noChangeAspect="1"/>
            </p:cNvGraphicFramePr>
            <p:nvPr/>
          </p:nvGraphicFramePr>
          <p:xfrm>
            <a:off x="1488" y="768"/>
            <a:ext cx="35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41" name="Equation" r:id="rId3" imgW="330120" imgH="317160" progId="Equation.3">
                    <p:embed/>
                  </p:oleObj>
                </mc:Choice>
                <mc:Fallback>
                  <p:oleObj name="Equation" r:id="rId3" imgW="330120" imgH="317160" progId="Equation.3">
                    <p:embed/>
                    <p:pic>
                      <p:nvPicPr>
                        <p:cNvPr id="0" name="Object 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768"/>
                          <a:ext cx="351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722" name="Group 66"/>
          <p:cNvGrpSpPr>
            <a:grpSpLocks/>
          </p:cNvGrpSpPr>
          <p:nvPr/>
        </p:nvGrpSpPr>
        <p:grpSpPr bwMode="auto">
          <a:xfrm>
            <a:off x="7704138" y="2860675"/>
            <a:ext cx="628650" cy="1800225"/>
            <a:chOff x="4853" y="1802"/>
            <a:chExt cx="396" cy="1134"/>
          </a:xfrm>
        </p:grpSpPr>
        <p:sp>
          <p:nvSpPr>
            <p:cNvPr id="70663" name="Rectangle 7"/>
            <p:cNvSpPr>
              <a:spLocks noChangeArrowheads="1"/>
            </p:cNvSpPr>
            <p:nvPr/>
          </p:nvSpPr>
          <p:spPr bwMode="auto">
            <a:xfrm>
              <a:off x="4853" y="1802"/>
              <a:ext cx="333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latin typeface="楷体_GB2312" pitchFamily="49" charset="-122"/>
                </a:rPr>
                <a:t>反射镜 </a:t>
              </a:r>
            </a:p>
          </p:txBody>
        </p:sp>
        <p:graphicFrame>
          <p:nvGraphicFramePr>
            <p:cNvPr id="70664" name="Object 8"/>
            <p:cNvGraphicFramePr>
              <a:graphicFrameLocks noChangeAspect="1"/>
            </p:cNvGraphicFramePr>
            <p:nvPr/>
          </p:nvGraphicFramePr>
          <p:xfrm>
            <a:off x="4917" y="2620"/>
            <a:ext cx="33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42" name="Equation" r:id="rId5" imgW="355320" imgH="317160" progId="Equation.3">
                    <p:embed/>
                  </p:oleObj>
                </mc:Choice>
                <mc:Fallback>
                  <p:oleObj name="Equation" r:id="rId5" imgW="355320" imgH="317160" progId="Equation.3">
                    <p:embed/>
                    <p:pic>
                      <p:nvPicPr>
                        <p:cNvPr id="0" name="Object 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7" y="2620"/>
                          <a:ext cx="33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665" name="Rectangle 9"/>
          <p:cNvSpPr>
            <a:spLocks noChangeArrowheads="1"/>
          </p:cNvSpPr>
          <p:nvPr/>
        </p:nvSpPr>
        <p:spPr bwMode="auto">
          <a:xfrm>
            <a:off x="3800475" y="1638300"/>
            <a:ext cx="1600200" cy="255588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0666" name="Object 10"/>
          <p:cNvGraphicFramePr>
            <a:graphicFrameLocks noChangeAspect="1"/>
          </p:cNvGraphicFramePr>
          <p:nvPr/>
        </p:nvGraphicFramePr>
        <p:xfrm>
          <a:off x="6797675" y="2220913"/>
          <a:ext cx="166052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3" name="Equation" r:id="rId7" imgW="596880" imgH="215640" progId="Equation.3">
                  <p:embed/>
                </p:oleObj>
              </mc:Choice>
              <mc:Fallback>
                <p:oleObj name="Equation" r:id="rId7" imgW="596880" imgH="215640" progId="Equation.3">
                  <p:embed/>
                  <p:pic>
                    <p:nvPicPr>
                      <p:cNvPr id="0" name="Object 1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5" y="2220913"/>
                        <a:ext cx="166052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7" name="Text Box 11"/>
          <p:cNvSpPr txBox="1">
            <a:spLocks noChangeArrowheads="1"/>
          </p:cNvSpPr>
          <p:nvPr/>
        </p:nvSpPr>
        <p:spPr bwMode="auto">
          <a:xfrm>
            <a:off x="1046163" y="2860675"/>
            <a:ext cx="620712" cy="1868488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CC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1C1C1C"/>
                </a:solidFill>
              </a:rPr>
              <a:t>单色光源</a:t>
            </a:r>
          </a:p>
        </p:txBody>
      </p:sp>
      <p:grpSp>
        <p:nvGrpSpPr>
          <p:cNvPr id="70668" name="Group 12"/>
          <p:cNvGrpSpPr>
            <a:grpSpLocks/>
          </p:cNvGrpSpPr>
          <p:nvPr/>
        </p:nvGrpSpPr>
        <p:grpSpPr bwMode="auto">
          <a:xfrm>
            <a:off x="4467225" y="1947863"/>
            <a:ext cx="2859088" cy="2093912"/>
            <a:chOff x="2550" y="1242"/>
            <a:chExt cx="1818" cy="1398"/>
          </a:xfrm>
        </p:grpSpPr>
        <p:sp>
          <p:nvSpPr>
            <p:cNvPr id="70669" name="Freeform 13"/>
            <p:cNvSpPr>
              <a:spLocks/>
            </p:cNvSpPr>
            <p:nvPr/>
          </p:nvSpPr>
          <p:spPr bwMode="auto">
            <a:xfrm>
              <a:off x="2682" y="2520"/>
              <a:ext cx="1686" cy="120"/>
            </a:xfrm>
            <a:custGeom>
              <a:avLst/>
              <a:gdLst>
                <a:gd name="T0" fmla="*/ 0 w 1686"/>
                <a:gd name="T1" fmla="*/ 6 h 120"/>
                <a:gd name="T2" fmla="*/ 618 w 1686"/>
                <a:gd name="T3" fmla="*/ 0 h 120"/>
                <a:gd name="T4" fmla="*/ 768 w 1686"/>
                <a:gd name="T5" fmla="*/ 114 h 120"/>
                <a:gd name="T6" fmla="*/ 1686 w 1686"/>
                <a:gd name="T7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6" h="120">
                  <a:moveTo>
                    <a:pt x="0" y="6"/>
                  </a:moveTo>
                  <a:lnTo>
                    <a:pt x="618" y="0"/>
                  </a:lnTo>
                  <a:lnTo>
                    <a:pt x="768" y="114"/>
                  </a:lnTo>
                  <a:lnTo>
                    <a:pt x="1686" y="120"/>
                  </a:lnTo>
                </a:path>
              </a:pathLst>
            </a:custGeom>
            <a:noFill/>
            <a:ln w="28575" cmpd="sng">
              <a:solidFill>
                <a:srgbClr val="990099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972" y="2532"/>
              <a:ext cx="116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1" name="Line 15"/>
            <p:cNvSpPr>
              <a:spLocks noChangeShapeType="1"/>
            </p:cNvSpPr>
            <p:nvPr/>
          </p:nvSpPr>
          <p:spPr bwMode="auto">
            <a:xfrm>
              <a:off x="4077" y="2640"/>
              <a:ext cx="117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2" name="Freeform 16"/>
            <p:cNvSpPr>
              <a:spLocks/>
            </p:cNvSpPr>
            <p:nvPr/>
          </p:nvSpPr>
          <p:spPr bwMode="auto">
            <a:xfrm>
              <a:off x="2556" y="1242"/>
              <a:ext cx="116" cy="1294"/>
            </a:xfrm>
            <a:custGeom>
              <a:avLst/>
              <a:gdLst>
                <a:gd name="T0" fmla="*/ 116 w 116"/>
                <a:gd name="T1" fmla="*/ 1294 h 1294"/>
                <a:gd name="T2" fmla="*/ 0 w 116"/>
                <a:gd name="T3" fmla="*/ 1122 h 1294"/>
                <a:gd name="T4" fmla="*/ 0 w 116"/>
                <a:gd name="T5" fmla="*/ 0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294">
                  <a:moveTo>
                    <a:pt x="116" y="1294"/>
                  </a:moveTo>
                  <a:lnTo>
                    <a:pt x="0" y="1122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DC83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3" name="Line 17"/>
            <p:cNvSpPr>
              <a:spLocks noChangeShapeType="1"/>
            </p:cNvSpPr>
            <p:nvPr/>
          </p:nvSpPr>
          <p:spPr bwMode="auto">
            <a:xfrm flipH="1" flipV="1">
              <a:off x="2550" y="1403"/>
              <a:ext cx="2" cy="162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674" name="Group 18"/>
          <p:cNvGrpSpPr>
            <a:grpSpLocks/>
          </p:cNvGrpSpPr>
          <p:nvPr/>
        </p:nvGrpSpPr>
        <p:grpSpPr bwMode="auto">
          <a:xfrm>
            <a:off x="2327275" y="3771900"/>
            <a:ext cx="2338388" cy="95250"/>
            <a:chOff x="1428" y="2433"/>
            <a:chExt cx="1488" cy="63"/>
          </a:xfrm>
        </p:grpSpPr>
        <p:sp>
          <p:nvSpPr>
            <p:cNvPr id="70675" name="Freeform 19"/>
            <p:cNvSpPr>
              <a:spLocks/>
            </p:cNvSpPr>
            <p:nvPr/>
          </p:nvSpPr>
          <p:spPr bwMode="auto">
            <a:xfrm>
              <a:off x="1428" y="2433"/>
              <a:ext cx="1488" cy="63"/>
            </a:xfrm>
            <a:custGeom>
              <a:avLst/>
              <a:gdLst>
                <a:gd name="T0" fmla="*/ 0 w 1488"/>
                <a:gd name="T1" fmla="*/ 0 h 63"/>
                <a:gd name="T2" fmla="*/ 1278 w 1488"/>
                <a:gd name="T3" fmla="*/ 0 h 63"/>
                <a:gd name="T4" fmla="*/ 1488 w 1488"/>
                <a:gd name="T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88" h="63">
                  <a:moveTo>
                    <a:pt x="0" y="0"/>
                  </a:moveTo>
                  <a:lnTo>
                    <a:pt x="1278" y="0"/>
                  </a:lnTo>
                  <a:lnTo>
                    <a:pt x="1488" y="63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76" name="Line 20"/>
            <p:cNvSpPr>
              <a:spLocks noChangeShapeType="1"/>
            </p:cNvSpPr>
            <p:nvPr/>
          </p:nvSpPr>
          <p:spPr bwMode="auto">
            <a:xfrm>
              <a:off x="1691" y="2434"/>
              <a:ext cx="27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677" name="Line 21"/>
          <p:cNvSpPr>
            <a:spLocks noChangeShapeType="1"/>
          </p:cNvSpPr>
          <p:nvPr/>
        </p:nvSpPr>
        <p:spPr bwMode="auto">
          <a:xfrm flipV="1">
            <a:off x="3800475" y="1925638"/>
            <a:ext cx="1614488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678" name="Group 22"/>
          <p:cNvGrpSpPr>
            <a:grpSpLocks/>
          </p:cNvGrpSpPr>
          <p:nvPr/>
        </p:nvGrpSpPr>
        <p:grpSpPr bwMode="auto">
          <a:xfrm>
            <a:off x="1941513" y="3154363"/>
            <a:ext cx="403225" cy="1233487"/>
            <a:chOff x="1177" y="2167"/>
            <a:chExt cx="228" cy="733"/>
          </a:xfrm>
        </p:grpSpPr>
        <p:sp>
          <p:nvSpPr>
            <p:cNvPr id="70679" name="AutoShape 23"/>
            <p:cNvSpPr>
              <a:spLocks noChangeArrowheads="1"/>
            </p:cNvSpPr>
            <p:nvPr/>
          </p:nvSpPr>
          <p:spPr bwMode="auto">
            <a:xfrm>
              <a:off x="1177" y="2167"/>
              <a:ext cx="228" cy="577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0" name="Rectangle 24"/>
            <p:cNvSpPr>
              <a:spLocks noChangeArrowheads="1"/>
            </p:cNvSpPr>
            <p:nvPr/>
          </p:nvSpPr>
          <p:spPr bwMode="auto">
            <a:xfrm>
              <a:off x="1214" y="2725"/>
              <a:ext cx="154" cy="99"/>
            </a:xfrm>
            <a:prstGeom prst="rect">
              <a:avLst/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1" name="Oval 25"/>
            <p:cNvSpPr>
              <a:spLocks noChangeArrowheads="1"/>
            </p:cNvSpPr>
            <p:nvPr/>
          </p:nvSpPr>
          <p:spPr bwMode="auto">
            <a:xfrm>
              <a:off x="1214" y="2786"/>
              <a:ext cx="154" cy="114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2" name="Freeform 26"/>
            <p:cNvSpPr>
              <a:spLocks/>
            </p:cNvSpPr>
            <p:nvPr/>
          </p:nvSpPr>
          <p:spPr bwMode="auto">
            <a:xfrm>
              <a:off x="1274" y="2266"/>
              <a:ext cx="51" cy="472"/>
            </a:xfrm>
            <a:custGeom>
              <a:avLst/>
              <a:gdLst>
                <a:gd name="T0" fmla="*/ 0 w 51"/>
                <a:gd name="T1" fmla="*/ 455 h 472"/>
                <a:gd name="T2" fmla="*/ 0 w 51"/>
                <a:gd name="T3" fmla="*/ 0 h 472"/>
                <a:gd name="T4" fmla="*/ 16 w 51"/>
                <a:gd name="T5" fmla="*/ 106 h 472"/>
                <a:gd name="T6" fmla="*/ 16 w 51"/>
                <a:gd name="T7" fmla="*/ 0 h 472"/>
                <a:gd name="T8" fmla="*/ 33 w 51"/>
                <a:gd name="T9" fmla="*/ 106 h 472"/>
                <a:gd name="T10" fmla="*/ 33 w 51"/>
                <a:gd name="T11" fmla="*/ 0 h 472"/>
                <a:gd name="T12" fmla="*/ 50 w 51"/>
                <a:gd name="T13" fmla="*/ 106 h 472"/>
                <a:gd name="T14" fmla="*/ 50 w 51"/>
                <a:gd name="T15" fmla="*/ 471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472">
                  <a:moveTo>
                    <a:pt x="0" y="455"/>
                  </a:moveTo>
                  <a:lnTo>
                    <a:pt x="0" y="0"/>
                  </a:lnTo>
                  <a:lnTo>
                    <a:pt x="16" y="106"/>
                  </a:lnTo>
                  <a:lnTo>
                    <a:pt x="16" y="0"/>
                  </a:lnTo>
                  <a:lnTo>
                    <a:pt x="33" y="106"/>
                  </a:lnTo>
                  <a:lnTo>
                    <a:pt x="33" y="0"/>
                  </a:lnTo>
                  <a:lnTo>
                    <a:pt x="50" y="106"/>
                  </a:lnTo>
                  <a:lnTo>
                    <a:pt x="50" y="471"/>
                  </a:lnTo>
                </a:path>
              </a:pathLst>
            </a:cu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83" name="Line 27"/>
            <p:cNvSpPr>
              <a:spLocks noChangeShapeType="1"/>
            </p:cNvSpPr>
            <p:nvPr/>
          </p:nvSpPr>
          <p:spPr bwMode="auto">
            <a:xfrm flipV="1">
              <a:off x="1210" y="2737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4" name="Line 28"/>
            <p:cNvSpPr>
              <a:spLocks noChangeShapeType="1"/>
            </p:cNvSpPr>
            <p:nvPr/>
          </p:nvSpPr>
          <p:spPr bwMode="auto">
            <a:xfrm flipV="1">
              <a:off x="1210" y="2767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5" name="Line 29"/>
            <p:cNvSpPr>
              <a:spLocks noChangeShapeType="1"/>
            </p:cNvSpPr>
            <p:nvPr/>
          </p:nvSpPr>
          <p:spPr bwMode="auto">
            <a:xfrm flipV="1">
              <a:off x="1210" y="2797"/>
              <a:ext cx="162" cy="16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 flipV="1">
              <a:off x="1210" y="2828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87" name="Rectangle 31"/>
            <p:cNvSpPr>
              <a:spLocks noChangeArrowheads="1"/>
            </p:cNvSpPr>
            <p:nvPr/>
          </p:nvSpPr>
          <p:spPr bwMode="auto">
            <a:xfrm>
              <a:off x="1263" y="2629"/>
              <a:ext cx="69" cy="97"/>
            </a:xfrm>
            <a:prstGeom prst="rect">
              <a:avLst/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0688" name="Group 32"/>
          <p:cNvGrpSpPr>
            <a:grpSpLocks/>
          </p:cNvGrpSpPr>
          <p:nvPr/>
        </p:nvGrpSpPr>
        <p:grpSpPr bwMode="auto">
          <a:xfrm>
            <a:off x="4883150" y="3683000"/>
            <a:ext cx="2414588" cy="2157413"/>
            <a:chOff x="2814" y="2400"/>
            <a:chExt cx="1536" cy="1440"/>
          </a:xfrm>
        </p:grpSpPr>
        <p:grpSp>
          <p:nvGrpSpPr>
            <p:cNvPr id="70689" name="Group 33"/>
            <p:cNvGrpSpPr>
              <a:grpSpLocks/>
            </p:cNvGrpSpPr>
            <p:nvPr/>
          </p:nvGrpSpPr>
          <p:grpSpPr bwMode="auto">
            <a:xfrm>
              <a:off x="2814" y="2400"/>
              <a:ext cx="1536" cy="1308"/>
              <a:chOff x="2814" y="2400"/>
              <a:chExt cx="1536" cy="1308"/>
            </a:xfrm>
          </p:grpSpPr>
          <p:sp>
            <p:nvSpPr>
              <p:cNvPr id="70690" name="Freeform 34"/>
              <p:cNvSpPr>
                <a:spLocks/>
              </p:cNvSpPr>
              <p:nvPr/>
            </p:nvSpPr>
            <p:spPr bwMode="auto">
              <a:xfrm>
                <a:off x="2814" y="2400"/>
                <a:ext cx="1536" cy="1308"/>
              </a:xfrm>
              <a:custGeom>
                <a:avLst/>
                <a:gdLst>
                  <a:gd name="T0" fmla="*/ 1536 w 1536"/>
                  <a:gd name="T1" fmla="*/ 138 h 1308"/>
                  <a:gd name="T2" fmla="*/ 738 w 1536"/>
                  <a:gd name="T3" fmla="*/ 132 h 1308"/>
                  <a:gd name="T4" fmla="*/ 582 w 1536"/>
                  <a:gd name="T5" fmla="*/ 12 h 1308"/>
                  <a:gd name="T6" fmla="*/ 0 w 1536"/>
                  <a:gd name="T7" fmla="*/ 0 h 1308"/>
                  <a:gd name="T8" fmla="*/ 0 w 1536"/>
                  <a:gd name="T9" fmla="*/ 1290 h 1308"/>
                  <a:gd name="T10" fmla="*/ 12 w 1536"/>
                  <a:gd name="T11" fmla="*/ 1308 h 1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36" h="1308">
                    <a:moveTo>
                      <a:pt x="1536" y="138"/>
                    </a:moveTo>
                    <a:lnTo>
                      <a:pt x="738" y="132"/>
                    </a:lnTo>
                    <a:lnTo>
                      <a:pt x="582" y="12"/>
                    </a:lnTo>
                    <a:lnTo>
                      <a:pt x="0" y="0"/>
                    </a:lnTo>
                    <a:lnTo>
                      <a:pt x="0" y="1290"/>
                    </a:lnTo>
                    <a:lnTo>
                      <a:pt x="12" y="1308"/>
                    </a:lnTo>
                  </a:path>
                </a:pathLst>
              </a:custGeom>
              <a:noFill/>
              <a:ln w="28575" cmpd="sng">
                <a:solidFill>
                  <a:srgbClr val="990099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691" name="Line 35"/>
              <p:cNvSpPr>
                <a:spLocks noChangeShapeType="1"/>
              </p:cNvSpPr>
              <p:nvPr/>
            </p:nvSpPr>
            <p:spPr bwMode="auto">
              <a:xfrm flipH="1">
                <a:off x="3984" y="2541"/>
                <a:ext cx="164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692" name="Line 36"/>
              <p:cNvSpPr>
                <a:spLocks noChangeShapeType="1"/>
              </p:cNvSpPr>
              <p:nvPr/>
            </p:nvSpPr>
            <p:spPr bwMode="auto">
              <a:xfrm flipH="1">
                <a:off x="3081" y="2412"/>
                <a:ext cx="109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0693" name="Line 37"/>
            <p:cNvSpPr>
              <a:spLocks noChangeShapeType="1"/>
            </p:cNvSpPr>
            <p:nvPr/>
          </p:nvSpPr>
          <p:spPr bwMode="auto">
            <a:xfrm>
              <a:off x="2817" y="3638"/>
              <a:ext cx="0" cy="202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694" name="Group 38"/>
          <p:cNvGrpSpPr>
            <a:grpSpLocks/>
          </p:cNvGrpSpPr>
          <p:nvPr/>
        </p:nvGrpSpPr>
        <p:grpSpPr bwMode="auto">
          <a:xfrm>
            <a:off x="4591050" y="1930400"/>
            <a:ext cx="144463" cy="3886200"/>
            <a:chOff x="2628" y="1230"/>
            <a:chExt cx="92" cy="2595"/>
          </a:xfrm>
        </p:grpSpPr>
        <p:grpSp>
          <p:nvGrpSpPr>
            <p:cNvPr id="70695" name="Group 39"/>
            <p:cNvGrpSpPr>
              <a:grpSpLocks/>
            </p:cNvGrpSpPr>
            <p:nvPr/>
          </p:nvGrpSpPr>
          <p:grpSpPr bwMode="auto">
            <a:xfrm>
              <a:off x="2628" y="1230"/>
              <a:ext cx="90" cy="2532"/>
              <a:chOff x="2628" y="1230"/>
              <a:chExt cx="90" cy="2532"/>
            </a:xfrm>
          </p:grpSpPr>
          <p:sp>
            <p:nvSpPr>
              <p:cNvPr id="70696" name="Freeform 40"/>
              <p:cNvSpPr>
                <a:spLocks/>
              </p:cNvSpPr>
              <p:nvPr/>
            </p:nvSpPr>
            <p:spPr bwMode="auto">
              <a:xfrm>
                <a:off x="2628" y="1230"/>
                <a:ext cx="90" cy="2532"/>
              </a:xfrm>
              <a:custGeom>
                <a:avLst/>
                <a:gdLst>
                  <a:gd name="T0" fmla="*/ 0 w 90"/>
                  <a:gd name="T1" fmla="*/ 0 h 2532"/>
                  <a:gd name="T2" fmla="*/ 0 w 90"/>
                  <a:gd name="T3" fmla="*/ 1062 h 2532"/>
                  <a:gd name="T4" fmla="*/ 90 w 90"/>
                  <a:gd name="T5" fmla="*/ 1236 h 2532"/>
                  <a:gd name="T6" fmla="*/ 90 w 90"/>
                  <a:gd name="T7" fmla="*/ 2532 h 2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2532">
                    <a:moveTo>
                      <a:pt x="0" y="0"/>
                    </a:moveTo>
                    <a:lnTo>
                      <a:pt x="0" y="1062"/>
                    </a:lnTo>
                    <a:lnTo>
                      <a:pt x="90" y="1236"/>
                    </a:lnTo>
                    <a:lnTo>
                      <a:pt x="90" y="2532"/>
                    </a:lnTo>
                  </a:path>
                </a:pathLst>
              </a:custGeom>
              <a:noFill/>
              <a:ln w="28575" cmpd="sng">
                <a:solidFill>
                  <a:srgbClr val="DC8300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697" name="Line 41"/>
              <p:cNvSpPr>
                <a:spLocks noChangeShapeType="1"/>
              </p:cNvSpPr>
              <p:nvPr/>
            </p:nvSpPr>
            <p:spPr bwMode="auto">
              <a:xfrm>
                <a:off x="2629" y="1536"/>
                <a:ext cx="0" cy="82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0698" name="Line 42"/>
            <p:cNvSpPr>
              <a:spLocks noChangeShapeType="1"/>
            </p:cNvSpPr>
            <p:nvPr/>
          </p:nvSpPr>
          <p:spPr bwMode="auto">
            <a:xfrm>
              <a:off x="2720" y="3670"/>
              <a:ext cx="0" cy="155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70699" name="Object 43"/>
          <p:cNvGraphicFramePr>
            <a:graphicFrameLocks noChangeAspect="1"/>
          </p:cNvGraphicFramePr>
          <p:nvPr/>
        </p:nvGraphicFramePr>
        <p:xfrm>
          <a:off x="3411538" y="4257675"/>
          <a:ext cx="6699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4" name="Equation" r:id="rId9" imgW="203040" imgH="215640" progId="Equation.3">
                  <p:embed/>
                </p:oleObj>
              </mc:Choice>
              <mc:Fallback>
                <p:oleObj name="Equation" r:id="rId9" imgW="203040" imgH="215640" progId="Equation.3">
                  <p:embed/>
                  <p:pic>
                    <p:nvPicPr>
                      <p:cNvPr id="0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538" y="4257675"/>
                        <a:ext cx="66992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00" name="Object 44"/>
          <p:cNvGraphicFramePr>
            <a:graphicFrameLocks noChangeAspect="1"/>
          </p:cNvGraphicFramePr>
          <p:nvPr/>
        </p:nvGraphicFramePr>
        <p:xfrm>
          <a:off x="5514975" y="4257675"/>
          <a:ext cx="6794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5" name="Equation" r:id="rId11" imgW="215640" imgH="215640" progId="Equation.3">
                  <p:embed/>
                </p:oleObj>
              </mc:Choice>
              <mc:Fallback>
                <p:oleObj name="Equation" r:id="rId11" imgW="215640" imgH="215640" progId="Equation.3">
                  <p:embed/>
                  <p:pic>
                    <p:nvPicPr>
                      <p:cNvPr id="0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4257675"/>
                        <a:ext cx="6794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01" name="Rectangle 45"/>
          <p:cNvSpPr>
            <a:spLocks noChangeArrowheads="1"/>
          </p:cNvSpPr>
          <p:nvPr/>
        </p:nvSpPr>
        <p:spPr bwMode="auto">
          <a:xfrm rot="18900000">
            <a:off x="3714750" y="3638550"/>
            <a:ext cx="1614488" cy="287338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2" name="Rectangle 46"/>
          <p:cNvSpPr>
            <a:spLocks noChangeArrowheads="1"/>
          </p:cNvSpPr>
          <p:nvPr/>
        </p:nvSpPr>
        <p:spPr bwMode="auto">
          <a:xfrm rot="18900000">
            <a:off x="5103813" y="3702050"/>
            <a:ext cx="1506537" cy="288925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0703" name="Group 47"/>
          <p:cNvGrpSpPr>
            <a:grpSpLocks/>
          </p:cNvGrpSpPr>
          <p:nvPr/>
        </p:nvGrpSpPr>
        <p:grpSpPr bwMode="auto">
          <a:xfrm>
            <a:off x="7250113" y="3219450"/>
            <a:ext cx="255587" cy="1212850"/>
            <a:chOff x="4149" y="2005"/>
            <a:chExt cx="162" cy="809"/>
          </a:xfrm>
        </p:grpSpPr>
        <p:sp>
          <p:nvSpPr>
            <p:cNvPr id="70704" name="Rectangle 48"/>
            <p:cNvSpPr>
              <a:spLocks noChangeArrowheads="1"/>
            </p:cNvSpPr>
            <p:nvPr/>
          </p:nvSpPr>
          <p:spPr bwMode="auto">
            <a:xfrm>
              <a:off x="4149" y="2005"/>
              <a:ext cx="162" cy="806"/>
            </a:xfrm>
            <a:prstGeom prst="rect">
              <a:avLst/>
            </a:prstGeom>
            <a:solidFill>
              <a:srgbClr val="99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705" name="Line 49"/>
            <p:cNvSpPr>
              <a:spLocks noChangeShapeType="1"/>
            </p:cNvSpPr>
            <p:nvPr/>
          </p:nvSpPr>
          <p:spPr bwMode="auto">
            <a:xfrm>
              <a:off x="4149" y="2005"/>
              <a:ext cx="0" cy="809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0706" name="Text Box 50"/>
          <p:cNvSpPr txBox="1">
            <a:spLocks noChangeArrowheads="1"/>
          </p:cNvSpPr>
          <p:nvPr/>
        </p:nvSpPr>
        <p:spPr bwMode="auto">
          <a:xfrm>
            <a:off x="5410200" y="5376863"/>
            <a:ext cx="1584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solidFill>
                  <a:srgbClr val="000000"/>
                </a:solidFill>
              </a:rPr>
              <a:t>光程差</a:t>
            </a:r>
          </a:p>
        </p:txBody>
      </p:sp>
      <p:graphicFrame>
        <p:nvGraphicFramePr>
          <p:cNvPr id="70707" name="Object 51"/>
          <p:cNvGraphicFramePr>
            <a:graphicFrameLocks noChangeAspect="1"/>
          </p:cNvGraphicFramePr>
          <p:nvPr/>
        </p:nvGraphicFramePr>
        <p:xfrm>
          <a:off x="6735763" y="5410200"/>
          <a:ext cx="13319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6" name="Equation" r:id="rId13" imgW="469800" imgH="177480" progId="Equation.3">
                  <p:embed/>
                </p:oleObj>
              </mc:Choice>
              <mc:Fallback>
                <p:oleObj name="Equation" r:id="rId13" imgW="469800" imgH="17748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763" y="5410200"/>
                        <a:ext cx="133191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CCFFFF"/>
                                </a:gs>
                                <a:gs pos="10000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708" name="Group 52"/>
          <p:cNvGrpSpPr>
            <a:grpSpLocks/>
          </p:cNvGrpSpPr>
          <p:nvPr/>
        </p:nvGrpSpPr>
        <p:grpSpPr bwMode="auto">
          <a:xfrm>
            <a:off x="1514475" y="1055688"/>
            <a:ext cx="3867150" cy="549275"/>
            <a:chOff x="912" y="619"/>
            <a:chExt cx="2459" cy="367"/>
          </a:xfrm>
        </p:grpSpPr>
        <p:sp>
          <p:nvSpPr>
            <p:cNvPr id="70709" name="Text Box 53"/>
            <p:cNvSpPr txBox="1">
              <a:spLocks noChangeArrowheads="1"/>
            </p:cNvSpPr>
            <p:nvPr/>
          </p:nvSpPr>
          <p:spPr bwMode="auto">
            <a:xfrm>
              <a:off x="912" y="633"/>
              <a:ext cx="1392" cy="35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>
                  <a:solidFill>
                    <a:srgbClr val="1C1C1C"/>
                  </a:solidFill>
                </a:rPr>
                <a:t>       </a:t>
              </a:r>
              <a:r>
                <a:rPr kumimoji="0" lang="zh-CN" altLang="en-US">
                  <a:solidFill>
                    <a:srgbClr val="1C1C1C"/>
                  </a:solidFill>
                </a:rPr>
                <a:t>的像</a:t>
              </a:r>
            </a:p>
          </p:txBody>
        </p:sp>
        <p:sp>
          <p:nvSpPr>
            <p:cNvPr id="70710" name="Rectangle 54"/>
            <p:cNvSpPr>
              <a:spLocks noChangeArrowheads="1"/>
            </p:cNvSpPr>
            <p:nvPr/>
          </p:nvSpPr>
          <p:spPr bwMode="auto">
            <a:xfrm>
              <a:off x="2363" y="680"/>
              <a:ext cx="1008" cy="192"/>
            </a:xfrm>
            <a:prstGeom prst="rect">
              <a:avLst/>
            </a:prstGeom>
            <a:solidFill>
              <a:srgbClr val="00FFFF">
                <a:alpha val="50000"/>
              </a:srgbClr>
            </a:solidFill>
            <a:ln w="2857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0711" name="Object 55"/>
            <p:cNvGraphicFramePr>
              <a:graphicFrameLocks noChangeAspect="1"/>
            </p:cNvGraphicFramePr>
            <p:nvPr/>
          </p:nvGraphicFramePr>
          <p:xfrm>
            <a:off x="1872" y="619"/>
            <a:ext cx="384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47" name="Equation" r:id="rId15" imgW="457200" imgH="368280" progId="Equation.3">
                    <p:embed/>
                  </p:oleObj>
                </mc:Choice>
                <mc:Fallback>
                  <p:oleObj name="Equation" r:id="rId15" imgW="457200" imgH="36828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619"/>
                          <a:ext cx="384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712" name="Object 56"/>
            <p:cNvGraphicFramePr>
              <a:graphicFrameLocks noChangeAspect="1"/>
            </p:cNvGraphicFramePr>
            <p:nvPr/>
          </p:nvGraphicFramePr>
          <p:xfrm>
            <a:off x="960" y="624"/>
            <a:ext cx="37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0748" name="Equation" r:id="rId17" imgW="419040" imgH="368280" progId="Equation.3">
                    <p:embed/>
                  </p:oleObj>
                </mc:Choice>
                <mc:Fallback>
                  <p:oleObj name="Equation" r:id="rId17" imgW="419040" imgH="36828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624"/>
                          <a:ext cx="37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713" name="Group 57"/>
          <p:cNvGrpSpPr>
            <a:grpSpLocks/>
          </p:cNvGrpSpPr>
          <p:nvPr/>
        </p:nvGrpSpPr>
        <p:grpSpPr bwMode="auto">
          <a:xfrm>
            <a:off x="4457700" y="1409700"/>
            <a:ext cx="2566988" cy="527050"/>
            <a:chOff x="2784" y="856"/>
            <a:chExt cx="1632" cy="352"/>
          </a:xfrm>
        </p:grpSpPr>
        <p:grpSp>
          <p:nvGrpSpPr>
            <p:cNvPr id="70714" name="Group 58"/>
            <p:cNvGrpSpPr>
              <a:grpSpLocks/>
            </p:cNvGrpSpPr>
            <p:nvPr/>
          </p:nvGrpSpPr>
          <p:grpSpPr bwMode="auto">
            <a:xfrm>
              <a:off x="3408" y="856"/>
              <a:ext cx="1008" cy="352"/>
              <a:chOff x="2832" y="800"/>
              <a:chExt cx="1008" cy="352"/>
            </a:xfrm>
          </p:grpSpPr>
          <p:sp>
            <p:nvSpPr>
              <p:cNvPr id="70715" name="Line 59"/>
              <p:cNvSpPr>
                <a:spLocks noChangeShapeType="1"/>
              </p:cNvSpPr>
              <p:nvPr/>
            </p:nvSpPr>
            <p:spPr bwMode="auto">
              <a:xfrm>
                <a:off x="2832" y="816"/>
                <a:ext cx="96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716" name="Line 60"/>
              <p:cNvSpPr>
                <a:spLocks noChangeShapeType="1"/>
              </p:cNvSpPr>
              <p:nvPr/>
            </p:nvSpPr>
            <p:spPr bwMode="auto">
              <a:xfrm>
                <a:off x="2832" y="1138"/>
                <a:ext cx="96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717" name="Line 61"/>
              <p:cNvSpPr>
                <a:spLocks noChangeShapeType="1"/>
              </p:cNvSpPr>
              <p:nvPr/>
            </p:nvSpPr>
            <p:spPr bwMode="auto">
              <a:xfrm>
                <a:off x="3600" y="816"/>
                <a:ext cx="0" cy="336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0718" name="Object 62"/>
              <p:cNvGraphicFramePr>
                <a:graphicFrameLocks noChangeAspect="1"/>
              </p:cNvGraphicFramePr>
              <p:nvPr/>
            </p:nvGraphicFramePr>
            <p:xfrm>
              <a:off x="3612" y="800"/>
              <a:ext cx="228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749" name="Equation" r:id="rId19" imgW="190440" imgH="253800" progId="Equation.3">
                      <p:embed/>
                    </p:oleObj>
                  </mc:Choice>
                  <mc:Fallback>
                    <p:oleObj name="Equation" r:id="rId19" imgW="190440" imgH="253800" progId="Equation.3">
                      <p:embed/>
                      <p:pic>
                        <p:nvPicPr>
                          <p:cNvPr id="0" name="Object 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2" y="800"/>
                            <a:ext cx="228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0719" name="Line 63"/>
            <p:cNvSpPr>
              <a:spLocks noChangeShapeType="1"/>
            </p:cNvSpPr>
            <p:nvPr/>
          </p:nvSpPr>
          <p:spPr bwMode="auto">
            <a:xfrm flipV="1">
              <a:off x="2784" y="864"/>
              <a:ext cx="0" cy="33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720" name="Line 64"/>
            <p:cNvSpPr>
              <a:spLocks noChangeShapeType="1"/>
            </p:cNvSpPr>
            <p:nvPr/>
          </p:nvSpPr>
          <p:spPr bwMode="auto">
            <a:xfrm flipV="1">
              <a:off x="2856" y="864"/>
              <a:ext cx="0" cy="33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721" name="Line 65"/>
          <p:cNvSpPr>
            <a:spLocks noChangeShapeType="1"/>
          </p:cNvSpPr>
          <p:nvPr/>
        </p:nvSpPr>
        <p:spPr bwMode="auto">
          <a:xfrm rot="21139151" flipV="1">
            <a:off x="3986213" y="3373438"/>
            <a:ext cx="1314450" cy="99377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B6C94-DEDD-43A8-84D8-5FD66F05C736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609600" y="1066800"/>
            <a:ext cx="7848600" cy="502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683" name="Group 3"/>
          <p:cNvGrpSpPr>
            <a:grpSpLocks/>
          </p:cNvGrpSpPr>
          <p:nvPr/>
        </p:nvGrpSpPr>
        <p:grpSpPr bwMode="auto">
          <a:xfrm>
            <a:off x="5410200" y="1066800"/>
            <a:ext cx="3048000" cy="1371600"/>
            <a:chOff x="3504" y="576"/>
            <a:chExt cx="1920" cy="895"/>
          </a:xfrm>
        </p:grpSpPr>
        <p:sp>
          <p:nvSpPr>
            <p:cNvPr id="71684" name="Rectangle 4"/>
            <p:cNvSpPr>
              <a:spLocks noChangeArrowheads="1"/>
            </p:cNvSpPr>
            <p:nvPr/>
          </p:nvSpPr>
          <p:spPr bwMode="auto">
            <a:xfrm>
              <a:off x="3504" y="576"/>
              <a:ext cx="1920" cy="864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85" name="Text Box 5"/>
            <p:cNvSpPr txBox="1">
              <a:spLocks noChangeArrowheads="1"/>
            </p:cNvSpPr>
            <p:nvPr/>
          </p:nvSpPr>
          <p:spPr bwMode="auto">
            <a:xfrm>
              <a:off x="3553" y="576"/>
              <a:ext cx="1871" cy="8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>
                  <a:solidFill>
                    <a:srgbClr val="000000"/>
                  </a:solidFill>
                  <a:latin typeface="Arial" charset="0"/>
                </a:rPr>
                <a:t>当     不垂直于       时，可形成劈尖型等厚干涉条纹</a:t>
              </a:r>
              <a:r>
                <a:rPr kumimoji="0" lang="en-US" altLang="zh-CN">
                  <a:solidFill>
                    <a:srgbClr val="000000"/>
                  </a:solidFill>
                </a:rPr>
                <a:t>.</a:t>
              </a:r>
            </a:p>
          </p:txBody>
        </p:sp>
        <p:graphicFrame>
          <p:nvGraphicFramePr>
            <p:cNvPr id="71686" name="Object 6"/>
            <p:cNvGraphicFramePr>
              <a:graphicFrameLocks noChangeAspect="1"/>
            </p:cNvGraphicFramePr>
            <p:nvPr/>
          </p:nvGraphicFramePr>
          <p:xfrm>
            <a:off x="3840" y="589"/>
            <a:ext cx="336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5" name="Equation" r:id="rId3" imgW="330120" imgH="317160" progId="Equation.3">
                    <p:embed/>
                  </p:oleObj>
                </mc:Choice>
                <mc:Fallback>
                  <p:oleObj name="Equation" r:id="rId3" imgW="330120" imgH="3171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589"/>
                          <a:ext cx="336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87" name="Object 7"/>
            <p:cNvGraphicFramePr>
              <a:graphicFrameLocks noChangeAspect="1"/>
            </p:cNvGraphicFramePr>
            <p:nvPr/>
          </p:nvGraphicFramePr>
          <p:xfrm>
            <a:off x="5005" y="576"/>
            <a:ext cx="32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6" name="Equation" r:id="rId5" imgW="355320" imgH="317160" progId="Equation.3">
                    <p:embed/>
                  </p:oleObj>
                </mc:Choice>
                <mc:Fallback>
                  <p:oleObj name="Equation" r:id="rId5" imgW="355320" imgH="31716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5" y="576"/>
                          <a:ext cx="32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688" name="Group 8"/>
          <p:cNvGrpSpPr>
            <a:grpSpLocks/>
          </p:cNvGrpSpPr>
          <p:nvPr/>
        </p:nvGrpSpPr>
        <p:grpSpPr bwMode="auto">
          <a:xfrm>
            <a:off x="7358063" y="2986088"/>
            <a:ext cx="642937" cy="1800225"/>
            <a:chOff x="4683" y="1881"/>
            <a:chExt cx="405" cy="1134"/>
          </a:xfrm>
        </p:grpSpPr>
        <p:sp>
          <p:nvSpPr>
            <p:cNvPr id="71689" name="Rectangle 9"/>
            <p:cNvSpPr>
              <a:spLocks noChangeArrowheads="1"/>
            </p:cNvSpPr>
            <p:nvPr/>
          </p:nvSpPr>
          <p:spPr bwMode="auto">
            <a:xfrm>
              <a:off x="4683" y="1881"/>
              <a:ext cx="324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latin typeface="楷体_GB2312" pitchFamily="49" charset="-122"/>
                </a:rPr>
                <a:t>反射镜 </a:t>
              </a:r>
            </a:p>
          </p:txBody>
        </p:sp>
        <p:graphicFrame>
          <p:nvGraphicFramePr>
            <p:cNvPr id="71690" name="Object 10"/>
            <p:cNvGraphicFramePr>
              <a:graphicFrameLocks noChangeAspect="1"/>
            </p:cNvGraphicFramePr>
            <p:nvPr/>
          </p:nvGraphicFramePr>
          <p:xfrm>
            <a:off x="4764" y="2701"/>
            <a:ext cx="32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7" name="Equation" r:id="rId7" imgW="355320" imgH="317160" progId="Equation.3">
                    <p:embed/>
                  </p:oleObj>
                </mc:Choice>
                <mc:Fallback>
                  <p:oleObj name="Equation" r:id="rId7" imgW="355320" imgH="317160" progId="Equation.3">
                    <p:embed/>
                    <p:pic>
                      <p:nvPicPr>
                        <p:cNvPr id="0" name="Object 1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4" y="2701"/>
                          <a:ext cx="324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691" name="Group 11"/>
          <p:cNvGrpSpPr>
            <a:grpSpLocks/>
          </p:cNvGrpSpPr>
          <p:nvPr/>
        </p:nvGrpSpPr>
        <p:grpSpPr bwMode="auto">
          <a:xfrm>
            <a:off x="4065588" y="2036763"/>
            <a:ext cx="2778125" cy="2033587"/>
            <a:chOff x="2550" y="1242"/>
            <a:chExt cx="1818" cy="1398"/>
          </a:xfrm>
        </p:grpSpPr>
        <p:sp>
          <p:nvSpPr>
            <p:cNvPr id="71692" name="Freeform 12"/>
            <p:cNvSpPr>
              <a:spLocks/>
            </p:cNvSpPr>
            <p:nvPr/>
          </p:nvSpPr>
          <p:spPr bwMode="auto">
            <a:xfrm>
              <a:off x="2682" y="2520"/>
              <a:ext cx="1686" cy="120"/>
            </a:xfrm>
            <a:custGeom>
              <a:avLst/>
              <a:gdLst>
                <a:gd name="T0" fmla="*/ 0 w 1686"/>
                <a:gd name="T1" fmla="*/ 6 h 120"/>
                <a:gd name="T2" fmla="*/ 618 w 1686"/>
                <a:gd name="T3" fmla="*/ 0 h 120"/>
                <a:gd name="T4" fmla="*/ 768 w 1686"/>
                <a:gd name="T5" fmla="*/ 114 h 120"/>
                <a:gd name="T6" fmla="*/ 1686 w 1686"/>
                <a:gd name="T7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86" h="120">
                  <a:moveTo>
                    <a:pt x="0" y="6"/>
                  </a:moveTo>
                  <a:lnTo>
                    <a:pt x="618" y="0"/>
                  </a:lnTo>
                  <a:lnTo>
                    <a:pt x="768" y="114"/>
                  </a:lnTo>
                  <a:lnTo>
                    <a:pt x="1686" y="120"/>
                  </a:lnTo>
                </a:path>
              </a:pathLst>
            </a:custGeom>
            <a:noFill/>
            <a:ln w="28575" cmpd="sng">
              <a:solidFill>
                <a:srgbClr val="990099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3" name="Line 13"/>
            <p:cNvSpPr>
              <a:spLocks noChangeShapeType="1"/>
            </p:cNvSpPr>
            <p:nvPr/>
          </p:nvSpPr>
          <p:spPr bwMode="auto">
            <a:xfrm>
              <a:off x="2972" y="2532"/>
              <a:ext cx="116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4" name="Line 14"/>
            <p:cNvSpPr>
              <a:spLocks noChangeShapeType="1"/>
            </p:cNvSpPr>
            <p:nvPr/>
          </p:nvSpPr>
          <p:spPr bwMode="auto">
            <a:xfrm>
              <a:off x="4077" y="2640"/>
              <a:ext cx="117" cy="0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5" name="Freeform 15"/>
            <p:cNvSpPr>
              <a:spLocks/>
            </p:cNvSpPr>
            <p:nvPr/>
          </p:nvSpPr>
          <p:spPr bwMode="auto">
            <a:xfrm>
              <a:off x="2556" y="1242"/>
              <a:ext cx="116" cy="1294"/>
            </a:xfrm>
            <a:custGeom>
              <a:avLst/>
              <a:gdLst>
                <a:gd name="T0" fmla="*/ 116 w 116"/>
                <a:gd name="T1" fmla="*/ 1294 h 1294"/>
                <a:gd name="T2" fmla="*/ 0 w 116"/>
                <a:gd name="T3" fmla="*/ 1122 h 1294"/>
                <a:gd name="T4" fmla="*/ 0 w 116"/>
                <a:gd name="T5" fmla="*/ 0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294">
                  <a:moveTo>
                    <a:pt x="116" y="1294"/>
                  </a:moveTo>
                  <a:lnTo>
                    <a:pt x="0" y="1122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DC83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6" name="Line 16"/>
            <p:cNvSpPr>
              <a:spLocks noChangeShapeType="1"/>
            </p:cNvSpPr>
            <p:nvPr/>
          </p:nvSpPr>
          <p:spPr bwMode="auto">
            <a:xfrm flipH="1" flipV="1">
              <a:off x="2550" y="1403"/>
              <a:ext cx="2" cy="162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697" name="Group 17"/>
          <p:cNvGrpSpPr>
            <a:grpSpLocks/>
          </p:cNvGrpSpPr>
          <p:nvPr/>
        </p:nvGrpSpPr>
        <p:grpSpPr bwMode="auto">
          <a:xfrm>
            <a:off x="1984375" y="3808413"/>
            <a:ext cx="2284413" cy="104775"/>
            <a:chOff x="1188" y="2460"/>
            <a:chExt cx="1494" cy="72"/>
          </a:xfrm>
        </p:grpSpPr>
        <p:sp>
          <p:nvSpPr>
            <p:cNvPr id="71698" name="Freeform 18"/>
            <p:cNvSpPr>
              <a:spLocks/>
            </p:cNvSpPr>
            <p:nvPr/>
          </p:nvSpPr>
          <p:spPr bwMode="auto">
            <a:xfrm>
              <a:off x="1188" y="2460"/>
              <a:ext cx="1494" cy="72"/>
            </a:xfrm>
            <a:custGeom>
              <a:avLst/>
              <a:gdLst>
                <a:gd name="T0" fmla="*/ 0 w 1494"/>
                <a:gd name="T1" fmla="*/ 0 h 72"/>
                <a:gd name="T2" fmla="*/ 1278 w 1494"/>
                <a:gd name="T3" fmla="*/ 0 h 72"/>
                <a:gd name="T4" fmla="*/ 1494 w 1494"/>
                <a:gd name="T5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94" h="72">
                  <a:moveTo>
                    <a:pt x="0" y="0"/>
                  </a:moveTo>
                  <a:lnTo>
                    <a:pt x="1278" y="0"/>
                  </a:lnTo>
                  <a:lnTo>
                    <a:pt x="1494" y="72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9" name="Line 19"/>
            <p:cNvSpPr>
              <a:spLocks noChangeShapeType="1"/>
            </p:cNvSpPr>
            <p:nvPr/>
          </p:nvSpPr>
          <p:spPr bwMode="auto">
            <a:xfrm>
              <a:off x="1451" y="2461"/>
              <a:ext cx="27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00" name="Line 20"/>
          <p:cNvSpPr>
            <a:spLocks noChangeShapeType="1"/>
          </p:cNvSpPr>
          <p:nvPr/>
        </p:nvSpPr>
        <p:spPr bwMode="auto">
          <a:xfrm flipV="1">
            <a:off x="3417888" y="2014538"/>
            <a:ext cx="1568450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701" name="Group 21"/>
          <p:cNvGrpSpPr>
            <a:grpSpLocks/>
          </p:cNvGrpSpPr>
          <p:nvPr/>
        </p:nvGrpSpPr>
        <p:grpSpPr bwMode="auto">
          <a:xfrm>
            <a:off x="1611313" y="3206750"/>
            <a:ext cx="392112" cy="1200150"/>
            <a:chOff x="1177" y="2167"/>
            <a:chExt cx="228" cy="733"/>
          </a:xfrm>
        </p:grpSpPr>
        <p:sp>
          <p:nvSpPr>
            <p:cNvPr id="71702" name="AutoShape 22"/>
            <p:cNvSpPr>
              <a:spLocks noChangeArrowheads="1"/>
            </p:cNvSpPr>
            <p:nvPr/>
          </p:nvSpPr>
          <p:spPr bwMode="auto">
            <a:xfrm>
              <a:off x="1177" y="2167"/>
              <a:ext cx="228" cy="577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3" name="Rectangle 23"/>
            <p:cNvSpPr>
              <a:spLocks noChangeArrowheads="1"/>
            </p:cNvSpPr>
            <p:nvPr/>
          </p:nvSpPr>
          <p:spPr bwMode="auto">
            <a:xfrm>
              <a:off x="1214" y="2725"/>
              <a:ext cx="154" cy="99"/>
            </a:xfrm>
            <a:prstGeom prst="rect">
              <a:avLst/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4" name="Oval 24"/>
            <p:cNvSpPr>
              <a:spLocks noChangeArrowheads="1"/>
            </p:cNvSpPr>
            <p:nvPr/>
          </p:nvSpPr>
          <p:spPr bwMode="auto">
            <a:xfrm>
              <a:off x="1214" y="2786"/>
              <a:ext cx="154" cy="114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5" name="Freeform 25"/>
            <p:cNvSpPr>
              <a:spLocks/>
            </p:cNvSpPr>
            <p:nvPr/>
          </p:nvSpPr>
          <p:spPr bwMode="auto">
            <a:xfrm>
              <a:off x="1274" y="2266"/>
              <a:ext cx="51" cy="472"/>
            </a:xfrm>
            <a:custGeom>
              <a:avLst/>
              <a:gdLst>
                <a:gd name="T0" fmla="*/ 0 w 51"/>
                <a:gd name="T1" fmla="*/ 455 h 472"/>
                <a:gd name="T2" fmla="*/ 0 w 51"/>
                <a:gd name="T3" fmla="*/ 0 h 472"/>
                <a:gd name="T4" fmla="*/ 16 w 51"/>
                <a:gd name="T5" fmla="*/ 106 h 472"/>
                <a:gd name="T6" fmla="*/ 16 w 51"/>
                <a:gd name="T7" fmla="*/ 0 h 472"/>
                <a:gd name="T8" fmla="*/ 33 w 51"/>
                <a:gd name="T9" fmla="*/ 106 h 472"/>
                <a:gd name="T10" fmla="*/ 33 w 51"/>
                <a:gd name="T11" fmla="*/ 0 h 472"/>
                <a:gd name="T12" fmla="*/ 50 w 51"/>
                <a:gd name="T13" fmla="*/ 106 h 472"/>
                <a:gd name="T14" fmla="*/ 50 w 51"/>
                <a:gd name="T15" fmla="*/ 471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472">
                  <a:moveTo>
                    <a:pt x="0" y="455"/>
                  </a:moveTo>
                  <a:lnTo>
                    <a:pt x="0" y="0"/>
                  </a:lnTo>
                  <a:lnTo>
                    <a:pt x="16" y="106"/>
                  </a:lnTo>
                  <a:lnTo>
                    <a:pt x="16" y="0"/>
                  </a:lnTo>
                  <a:lnTo>
                    <a:pt x="33" y="106"/>
                  </a:lnTo>
                  <a:lnTo>
                    <a:pt x="33" y="0"/>
                  </a:lnTo>
                  <a:lnTo>
                    <a:pt x="50" y="106"/>
                  </a:lnTo>
                  <a:lnTo>
                    <a:pt x="50" y="471"/>
                  </a:lnTo>
                </a:path>
              </a:pathLst>
            </a:cu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26"/>
            <p:cNvSpPr>
              <a:spLocks noChangeShapeType="1"/>
            </p:cNvSpPr>
            <p:nvPr/>
          </p:nvSpPr>
          <p:spPr bwMode="auto">
            <a:xfrm flipV="1">
              <a:off x="1210" y="2737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7" name="Line 27"/>
            <p:cNvSpPr>
              <a:spLocks noChangeShapeType="1"/>
            </p:cNvSpPr>
            <p:nvPr/>
          </p:nvSpPr>
          <p:spPr bwMode="auto">
            <a:xfrm flipV="1">
              <a:off x="1210" y="2767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8" name="Line 28"/>
            <p:cNvSpPr>
              <a:spLocks noChangeShapeType="1"/>
            </p:cNvSpPr>
            <p:nvPr/>
          </p:nvSpPr>
          <p:spPr bwMode="auto">
            <a:xfrm flipV="1">
              <a:off x="1210" y="2797"/>
              <a:ext cx="162" cy="16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9" name="Line 29"/>
            <p:cNvSpPr>
              <a:spLocks noChangeShapeType="1"/>
            </p:cNvSpPr>
            <p:nvPr/>
          </p:nvSpPr>
          <p:spPr bwMode="auto">
            <a:xfrm flipV="1">
              <a:off x="1210" y="2828"/>
              <a:ext cx="162" cy="15"/>
            </a:xfrm>
            <a:prstGeom prst="line">
              <a:avLst/>
            </a:prstGeom>
            <a:noFill/>
            <a:ln w="25400">
              <a:solidFill>
                <a:srgbClr val="FFCC66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10" name="Rectangle 30"/>
            <p:cNvSpPr>
              <a:spLocks noChangeArrowheads="1"/>
            </p:cNvSpPr>
            <p:nvPr/>
          </p:nvSpPr>
          <p:spPr bwMode="auto">
            <a:xfrm>
              <a:off x="1263" y="2629"/>
              <a:ext cx="69" cy="97"/>
            </a:xfrm>
            <a:prstGeom prst="rect">
              <a:avLst/>
            </a:prstGeom>
            <a:gradFill rotWithShape="0">
              <a:gsLst>
                <a:gs pos="0">
                  <a:srgbClr val="FFFF66">
                    <a:gamma/>
                    <a:shade val="69804"/>
                    <a:invGamma/>
                  </a:srgbClr>
                </a:gs>
                <a:gs pos="50000">
                  <a:srgbClr val="FFFF66"/>
                </a:gs>
                <a:gs pos="100000">
                  <a:srgbClr val="FFFF66">
                    <a:gamma/>
                    <a:shade val="69804"/>
                    <a:invGamma/>
                  </a:srgbClr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1711" name="Group 31"/>
          <p:cNvGrpSpPr>
            <a:grpSpLocks/>
          </p:cNvGrpSpPr>
          <p:nvPr/>
        </p:nvGrpSpPr>
        <p:grpSpPr bwMode="auto">
          <a:xfrm>
            <a:off x="1562100" y="1628775"/>
            <a:ext cx="1981200" cy="519113"/>
            <a:chOff x="618" y="757"/>
            <a:chExt cx="1297" cy="357"/>
          </a:xfrm>
        </p:grpSpPr>
        <p:sp>
          <p:nvSpPr>
            <p:cNvPr id="71712" name="Rectangle 32"/>
            <p:cNvSpPr>
              <a:spLocks noChangeArrowheads="1"/>
            </p:cNvSpPr>
            <p:nvPr/>
          </p:nvSpPr>
          <p:spPr bwMode="auto">
            <a:xfrm>
              <a:off x="618" y="757"/>
              <a:ext cx="1297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/>
              <a:r>
                <a:rPr kumimoji="0" lang="zh-CN" altLang="en-US">
                  <a:solidFill>
                    <a:srgbClr val="000000"/>
                  </a:solidFill>
                  <a:latin typeface="楷体_GB2312" pitchFamily="49" charset="-122"/>
                </a:rPr>
                <a:t>反射镜</a:t>
              </a:r>
            </a:p>
          </p:txBody>
        </p:sp>
        <p:graphicFrame>
          <p:nvGraphicFramePr>
            <p:cNvPr id="71713" name="Object 33"/>
            <p:cNvGraphicFramePr>
              <a:graphicFrameLocks noChangeAspect="1"/>
            </p:cNvGraphicFramePr>
            <p:nvPr/>
          </p:nvGraphicFramePr>
          <p:xfrm>
            <a:off x="1392" y="768"/>
            <a:ext cx="336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58" name="Equation" r:id="rId9" imgW="330120" imgH="317160" progId="Equation.3">
                    <p:embed/>
                  </p:oleObj>
                </mc:Choice>
                <mc:Fallback>
                  <p:oleObj name="Equation" r:id="rId9" imgW="330120" imgH="317160" progId="Equation.3">
                    <p:embed/>
                    <p:pic>
                      <p:nvPicPr>
                        <p:cNvPr id="0" name="Object 3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768"/>
                          <a:ext cx="336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714" name="Group 34"/>
          <p:cNvGrpSpPr>
            <a:grpSpLocks/>
          </p:cNvGrpSpPr>
          <p:nvPr/>
        </p:nvGrpSpPr>
        <p:grpSpPr bwMode="auto">
          <a:xfrm>
            <a:off x="4470400" y="3721100"/>
            <a:ext cx="2346325" cy="2095500"/>
            <a:chOff x="2814" y="2400"/>
            <a:chExt cx="1536" cy="1440"/>
          </a:xfrm>
        </p:grpSpPr>
        <p:grpSp>
          <p:nvGrpSpPr>
            <p:cNvPr id="71715" name="Group 35"/>
            <p:cNvGrpSpPr>
              <a:grpSpLocks/>
            </p:cNvGrpSpPr>
            <p:nvPr/>
          </p:nvGrpSpPr>
          <p:grpSpPr bwMode="auto">
            <a:xfrm>
              <a:off x="2814" y="2400"/>
              <a:ext cx="1536" cy="1308"/>
              <a:chOff x="2814" y="2400"/>
              <a:chExt cx="1536" cy="1308"/>
            </a:xfrm>
          </p:grpSpPr>
          <p:sp>
            <p:nvSpPr>
              <p:cNvPr id="71716" name="Freeform 36"/>
              <p:cNvSpPr>
                <a:spLocks/>
              </p:cNvSpPr>
              <p:nvPr/>
            </p:nvSpPr>
            <p:spPr bwMode="auto">
              <a:xfrm>
                <a:off x="2814" y="2400"/>
                <a:ext cx="1536" cy="1308"/>
              </a:xfrm>
              <a:custGeom>
                <a:avLst/>
                <a:gdLst>
                  <a:gd name="T0" fmla="*/ 1536 w 1536"/>
                  <a:gd name="T1" fmla="*/ 138 h 1308"/>
                  <a:gd name="T2" fmla="*/ 738 w 1536"/>
                  <a:gd name="T3" fmla="*/ 132 h 1308"/>
                  <a:gd name="T4" fmla="*/ 582 w 1536"/>
                  <a:gd name="T5" fmla="*/ 12 h 1308"/>
                  <a:gd name="T6" fmla="*/ 0 w 1536"/>
                  <a:gd name="T7" fmla="*/ 0 h 1308"/>
                  <a:gd name="T8" fmla="*/ 0 w 1536"/>
                  <a:gd name="T9" fmla="*/ 1290 h 1308"/>
                  <a:gd name="T10" fmla="*/ 12 w 1536"/>
                  <a:gd name="T11" fmla="*/ 1308 h 1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36" h="1308">
                    <a:moveTo>
                      <a:pt x="1536" y="138"/>
                    </a:moveTo>
                    <a:lnTo>
                      <a:pt x="738" y="132"/>
                    </a:lnTo>
                    <a:lnTo>
                      <a:pt x="582" y="12"/>
                    </a:lnTo>
                    <a:lnTo>
                      <a:pt x="0" y="0"/>
                    </a:lnTo>
                    <a:lnTo>
                      <a:pt x="0" y="1290"/>
                    </a:lnTo>
                    <a:lnTo>
                      <a:pt x="12" y="1308"/>
                    </a:lnTo>
                  </a:path>
                </a:pathLst>
              </a:custGeom>
              <a:noFill/>
              <a:ln w="28575" cmpd="sng">
                <a:solidFill>
                  <a:srgbClr val="990099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7" name="Line 37"/>
              <p:cNvSpPr>
                <a:spLocks noChangeShapeType="1"/>
              </p:cNvSpPr>
              <p:nvPr/>
            </p:nvSpPr>
            <p:spPr bwMode="auto">
              <a:xfrm flipH="1">
                <a:off x="3984" y="2541"/>
                <a:ext cx="164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18" name="Line 38"/>
              <p:cNvSpPr>
                <a:spLocks noChangeShapeType="1"/>
              </p:cNvSpPr>
              <p:nvPr/>
            </p:nvSpPr>
            <p:spPr bwMode="auto">
              <a:xfrm flipH="1">
                <a:off x="3081" y="2412"/>
                <a:ext cx="109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719" name="Line 39"/>
            <p:cNvSpPr>
              <a:spLocks noChangeShapeType="1"/>
            </p:cNvSpPr>
            <p:nvPr/>
          </p:nvSpPr>
          <p:spPr bwMode="auto">
            <a:xfrm>
              <a:off x="2817" y="3638"/>
              <a:ext cx="0" cy="202"/>
            </a:xfrm>
            <a:prstGeom prst="line">
              <a:avLst/>
            </a:prstGeom>
            <a:noFill/>
            <a:ln w="38100">
              <a:solidFill>
                <a:srgbClr val="99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1720" name="Group 40"/>
          <p:cNvGrpSpPr>
            <a:grpSpLocks/>
          </p:cNvGrpSpPr>
          <p:nvPr/>
        </p:nvGrpSpPr>
        <p:grpSpPr bwMode="auto">
          <a:xfrm>
            <a:off x="4186238" y="2019300"/>
            <a:ext cx="139700" cy="3775075"/>
            <a:chOff x="2628" y="1230"/>
            <a:chExt cx="92" cy="2595"/>
          </a:xfrm>
        </p:grpSpPr>
        <p:grpSp>
          <p:nvGrpSpPr>
            <p:cNvPr id="71721" name="Group 41"/>
            <p:cNvGrpSpPr>
              <a:grpSpLocks/>
            </p:cNvGrpSpPr>
            <p:nvPr/>
          </p:nvGrpSpPr>
          <p:grpSpPr bwMode="auto">
            <a:xfrm>
              <a:off x="2628" y="1230"/>
              <a:ext cx="90" cy="2532"/>
              <a:chOff x="2628" y="1230"/>
              <a:chExt cx="90" cy="2532"/>
            </a:xfrm>
          </p:grpSpPr>
          <p:sp>
            <p:nvSpPr>
              <p:cNvPr id="71722" name="Freeform 42"/>
              <p:cNvSpPr>
                <a:spLocks/>
              </p:cNvSpPr>
              <p:nvPr/>
            </p:nvSpPr>
            <p:spPr bwMode="auto">
              <a:xfrm>
                <a:off x="2628" y="1230"/>
                <a:ext cx="90" cy="2532"/>
              </a:xfrm>
              <a:custGeom>
                <a:avLst/>
                <a:gdLst>
                  <a:gd name="T0" fmla="*/ 0 w 90"/>
                  <a:gd name="T1" fmla="*/ 0 h 2532"/>
                  <a:gd name="T2" fmla="*/ 0 w 90"/>
                  <a:gd name="T3" fmla="*/ 1062 h 2532"/>
                  <a:gd name="T4" fmla="*/ 90 w 90"/>
                  <a:gd name="T5" fmla="*/ 1236 h 2532"/>
                  <a:gd name="T6" fmla="*/ 90 w 90"/>
                  <a:gd name="T7" fmla="*/ 2532 h 2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2532">
                    <a:moveTo>
                      <a:pt x="0" y="0"/>
                    </a:moveTo>
                    <a:lnTo>
                      <a:pt x="0" y="1062"/>
                    </a:lnTo>
                    <a:lnTo>
                      <a:pt x="90" y="1236"/>
                    </a:lnTo>
                    <a:lnTo>
                      <a:pt x="90" y="2532"/>
                    </a:lnTo>
                  </a:path>
                </a:pathLst>
              </a:custGeom>
              <a:noFill/>
              <a:ln w="28575" cmpd="sng">
                <a:solidFill>
                  <a:srgbClr val="DC8300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723" name="Line 43"/>
              <p:cNvSpPr>
                <a:spLocks noChangeShapeType="1"/>
              </p:cNvSpPr>
              <p:nvPr/>
            </p:nvSpPr>
            <p:spPr bwMode="auto">
              <a:xfrm>
                <a:off x="2629" y="1536"/>
                <a:ext cx="0" cy="82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724" name="Line 44"/>
            <p:cNvSpPr>
              <a:spLocks noChangeShapeType="1"/>
            </p:cNvSpPr>
            <p:nvPr/>
          </p:nvSpPr>
          <p:spPr bwMode="auto">
            <a:xfrm>
              <a:off x="2720" y="3670"/>
              <a:ext cx="0" cy="155"/>
            </a:xfrm>
            <a:prstGeom prst="line">
              <a:avLst/>
            </a:prstGeom>
            <a:noFill/>
            <a:ln w="38100">
              <a:solidFill>
                <a:srgbClr val="DC8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71725" name="Object 45"/>
          <p:cNvGraphicFramePr>
            <a:graphicFrameLocks noChangeAspect="1"/>
          </p:cNvGraphicFramePr>
          <p:nvPr/>
        </p:nvGraphicFramePr>
        <p:xfrm>
          <a:off x="3040063" y="4279900"/>
          <a:ext cx="6508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9" name="Equation" r:id="rId11" imgW="203040" imgH="215640" progId="Equation.3">
                  <p:embed/>
                </p:oleObj>
              </mc:Choice>
              <mc:Fallback>
                <p:oleObj name="Equation" r:id="rId11" imgW="203040" imgH="215640" progId="Equation.3">
                  <p:embed/>
                  <p:pic>
                    <p:nvPicPr>
                      <p:cNvPr id="0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4279900"/>
                        <a:ext cx="65087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6" name="Object 46"/>
          <p:cNvGraphicFramePr>
            <a:graphicFrameLocks noChangeAspect="1"/>
          </p:cNvGraphicFramePr>
          <p:nvPr/>
        </p:nvGraphicFramePr>
        <p:xfrm>
          <a:off x="5084763" y="4279900"/>
          <a:ext cx="658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0" name="Equation" r:id="rId13" imgW="215640" imgH="215640" progId="Equation.3">
                  <p:embed/>
                </p:oleObj>
              </mc:Choice>
              <mc:Fallback>
                <p:oleObj name="Equation" r:id="rId13" imgW="215640" imgH="215640" progId="Equation.3">
                  <p:embed/>
                  <p:pic>
                    <p:nvPicPr>
                      <p:cNvPr id="0" name="Object 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763" y="4279900"/>
                        <a:ext cx="6588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7" name="Text Box 47"/>
          <p:cNvSpPr txBox="1">
            <a:spLocks noChangeArrowheads="1"/>
          </p:cNvSpPr>
          <p:nvPr/>
        </p:nvSpPr>
        <p:spPr bwMode="auto">
          <a:xfrm>
            <a:off x="868363" y="2813050"/>
            <a:ext cx="620712" cy="18161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rgbClr val="FFFFFF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CC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>
                <a:solidFill>
                  <a:srgbClr val="1C1C1C"/>
                </a:solidFill>
              </a:rPr>
              <a:t>单色光源</a:t>
            </a:r>
          </a:p>
        </p:txBody>
      </p:sp>
      <p:grpSp>
        <p:nvGrpSpPr>
          <p:cNvPr id="71728" name="Group 48"/>
          <p:cNvGrpSpPr>
            <a:grpSpLocks/>
          </p:cNvGrpSpPr>
          <p:nvPr/>
        </p:nvGrpSpPr>
        <p:grpSpPr bwMode="auto">
          <a:xfrm rot="-615098">
            <a:off x="6802438" y="3286125"/>
            <a:ext cx="247650" cy="1177925"/>
            <a:chOff x="4224" y="2087"/>
            <a:chExt cx="144" cy="720"/>
          </a:xfrm>
        </p:grpSpPr>
        <p:sp>
          <p:nvSpPr>
            <p:cNvPr id="71729" name="Rectangle 49"/>
            <p:cNvSpPr>
              <a:spLocks noChangeArrowheads="1"/>
            </p:cNvSpPr>
            <p:nvPr/>
          </p:nvSpPr>
          <p:spPr bwMode="auto">
            <a:xfrm>
              <a:off x="4224" y="2087"/>
              <a:ext cx="144" cy="717"/>
            </a:xfrm>
            <a:prstGeom prst="rect">
              <a:avLst/>
            </a:prstGeom>
            <a:solidFill>
              <a:srgbClr val="99FFFF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30" name="Line 50"/>
            <p:cNvSpPr>
              <a:spLocks noChangeShapeType="1"/>
            </p:cNvSpPr>
            <p:nvPr/>
          </p:nvSpPr>
          <p:spPr bwMode="auto">
            <a:xfrm>
              <a:off x="4224" y="2087"/>
              <a:ext cx="0" cy="72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31" name="Rectangle 51"/>
          <p:cNvSpPr>
            <a:spLocks noChangeArrowheads="1"/>
          </p:cNvSpPr>
          <p:nvPr/>
        </p:nvSpPr>
        <p:spPr bwMode="auto">
          <a:xfrm rot="18900000">
            <a:off x="3333750" y="3676650"/>
            <a:ext cx="1570038" cy="280988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2" name="Rectangle 52"/>
          <p:cNvSpPr>
            <a:spLocks noChangeArrowheads="1"/>
          </p:cNvSpPr>
          <p:nvPr/>
        </p:nvSpPr>
        <p:spPr bwMode="auto">
          <a:xfrm>
            <a:off x="3417888" y="1765300"/>
            <a:ext cx="1554162" cy="249238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33" name="Rectangle 53"/>
          <p:cNvSpPr>
            <a:spLocks noChangeArrowheads="1"/>
          </p:cNvSpPr>
          <p:nvPr/>
        </p:nvSpPr>
        <p:spPr bwMode="auto">
          <a:xfrm rot="18900000">
            <a:off x="4683125" y="3740150"/>
            <a:ext cx="1465263" cy="280988"/>
          </a:xfrm>
          <a:prstGeom prst="rect">
            <a:avLst/>
          </a:prstGeom>
          <a:solidFill>
            <a:srgbClr val="00FFCC">
              <a:alpha val="5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734" name="Group 54"/>
          <p:cNvGrpSpPr>
            <a:grpSpLocks/>
          </p:cNvGrpSpPr>
          <p:nvPr/>
        </p:nvGrpSpPr>
        <p:grpSpPr bwMode="auto">
          <a:xfrm>
            <a:off x="2663825" y="1066800"/>
            <a:ext cx="2300288" cy="977900"/>
            <a:chOff x="1632" y="576"/>
            <a:chExt cx="1506" cy="672"/>
          </a:xfrm>
        </p:grpSpPr>
        <p:grpSp>
          <p:nvGrpSpPr>
            <p:cNvPr id="71735" name="Group 55"/>
            <p:cNvGrpSpPr>
              <a:grpSpLocks/>
            </p:cNvGrpSpPr>
            <p:nvPr/>
          </p:nvGrpSpPr>
          <p:grpSpPr bwMode="auto">
            <a:xfrm>
              <a:off x="1632" y="576"/>
              <a:ext cx="1506" cy="338"/>
              <a:chOff x="1632" y="576"/>
              <a:chExt cx="1506" cy="338"/>
            </a:xfrm>
          </p:grpSpPr>
          <p:sp>
            <p:nvSpPr>
              <p:cNvPr id="71736" name="Rectangle 56"/>
              <p:cNvSpPr>
                <a:spLocks noChangeArrowheads="1"/>
              </p:cNvSpPr>
              <p:nvPr/>
            </p:nvSpPr>
            <p:spPr bwMode="auto">
              <a:xfrm rot="533178">
                <a:off x="2130" y="720"/>
                <a:ext cx="1008" cy="192"/>
              </a:xfrm>
              <a:prstGeom prst="rect">
                <a:avLst/>
              </a:prstGeom>
              <a:solidFill>
                <a:srgbClr val="00FFFF">
                  <a:alpha val="50000"/>
                </a:srgbClr>
              </a:solidFill>
              <a:ln w="2857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1737" name="Object 57"/>
              <p:cNvGraphicFramePr>
                <a:graphicFrameLocks noChangeAspect="1"/>
              </p:cNvGraphicFramePr>
              <p:nvPr/>
            </p:nvGraphicFramePr>
            <p:xfrm>
              <a:off x="1632" y="576"/>
              <a:ext cx="401" cy="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61" name="Equation" r:id="rId15" imgW="457200" imgH="368280" progId="Equation.3">
                      <p:embed/>
                    </p:oleObj>
                  </mc:Choice>
                  <mc:Fallback>
                    <p:oleObj name="Equation" r:id="rId15" imgW="457200" imgH="36828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2" y="576"/>
                            <a:ext cx="401" cy="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738" name="Line 58"/>
            <p:cNvSpPr>
              <a:spLocks noChangeShapeType="1"/>
            </p:cNvSpPr>
            <p:nvPr/>
          </p:nvSpPr>
          <p:spPr bwMode="auto">
            <a:xfrm flipV="1">
              <a:off x="2544" y="888"/>
              <a:ext cx="0" cy="33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739" name="Line 59"/>
            <p:cNvSpPr>
              <a:spLocks noChangeShapeType="1"/>
            </p:cNvSpPr>
            <p:nvPr/>
          </p:nvSpPr>
          <p:spPr bwMode="auto">
            <a:xfrm flipV="1">
              <a:off x="2618" y="912"/>
              <a:ext cx="0" cy="33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1740" name="Line 60"/>
          <p:cNvSpPr>
            <a:spLocks noChangeShapeType="1"/>
          </p:cNvSpPr>
          <p:nvPr/>
        </p:nvSpPr>
        <p:spPr bwMode="auto">
          <a:xfrm rot="21139151" flipV="1">
            <a:off x="3562350" y="3429000"/>
            <a:ext cx="1314450" cy="993775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7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073-9931-4A85-AD4D-3EF19B726DC3}" type="slidenum">
              <a:rPr lang="en-US" altLang="zh-CN"/>
              <a:pPr/>
              <a:t>26</a:t>
            </a:fld>
            <a:endParaRPr lang="en-US" altLang="zh-CN"/>
          </a:p>
        </p:txBody>
      </p:sp>
      <p:grpSp>
        <p:nvGrpSpPr>
          <p:cNvPr id="72706" name="Group 2"/>
          <p:cNvGrpSpPr>
            <a:grpSpLocks/>
          </p:cNvGrpSpPr>
          <p:nvPr/>
        </p:nvGrpSpPr>
        <p:grpSpPr bwMode="auto">
          <a:xfrm>
            <a:off x="7620000" y="4114800"/>
            <a:ext cx="914400" cy="1905000"/>
            <a:chOff x="4848" y="2544"/>
            <a:chExt cx="624" cy="1200"/>
          </a:xfrm>
        </p:grpSpPr>
        <p:sp>
          <p:nvSpPr>
            <p:cNvPr id="72707" name="AutoShape 3"/>
            <p:cNvSpPr>
              <a:spLocks noChangeArrowheads="1"/>
            </p:cNvSpPr>
            <p:nvPr/>
          </p:nvSpPr>
          <p:spPr bwMode="auto">
            <a:xfrm>
              <a:off x="4848" y="2544"/>
              <a:ext cx="576" cy="1200"/>
            </a:xfrm>
            <a:prstGeom prst="wedgeRectCallout">
              <a:avLst>
                <a:gd name="adj1" fmla="val -61111"/>
                <a:gd name="adj2" fmla="val -88917"/>
              </a:avLst>
            </a:prstGeom>
            <a:gradFill rotWithShape="0">
              <a:gsLst>
                <a:gs pos="0">
                  <a:schemeClr val="folHlink"/>
                </a:gs>
                <a:gs pos="5000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CC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0" lang="zh-CN" altLang="zh-CN">
                <a:solidFill>
                  <a:srgbClr val="1C1C1C"/>
                </a:solidFill>
              </a:endParaRPr>
            </a:p>
          </p:txBody>
        </p:sp>
        <p:sp>
          <p:nvSpPr>
            <p:cNvPr id="72708" name="Rectangle 4"/>
            <p:cNvSpPr>
              <a:spLocks noChangeArrowheads="1"/>
            </p:cNvSpPr>
            <p:nvPr/>
          </p:nvSpPr>
          <p:spPr bwMode="auto">
            <a:xfrm>
              <a:off x="4848" y="2592"/>
              <a:ext cx="624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folHlink"/>
                      </a:gs>
                      <a:gs pos="5000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>
                  <a:solidFill>
                    <a:srgbClr val="000000"/>
                  </a:solidFill>
                </a:rPr>
                <a:t>干涉条纹移动数目</a:t>
              </a:r>
            </a:p>
          </p:txBody>
        </p:sp>
      </p:grp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431800" y="527050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zh-CN" altLang="en-US" dirty="0" smtClean="0">
                <a:solidFill>
                  <a:srgbClr val="0000FF"/>
                </a:solidFill>
              </a:rPr>
              <a:t>迈克耳孙干涉仪</a:t>
            </a:r>
            <a:r>
              <a:rPr kumimoji="0" lang="zh-CN" altLang="en-US" dirty="0">
                <a:solidFill>
                  <a:srgbClr val="0000FF"/>
                </a:solidFill>
              </a:rPr>
              <a:t>的主要特性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546100" y="1047750"/>
            <a:ext cx="822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0" lang="en-US" altLang="zh-CN">
                <a:solidFill>
                  <a:srgbClr val="CC0000"/>
                </a:solidFill>
              </a:rPr>
              <a:t>(1)</a:t>
            </a:r>
            <a:r>
              <a:rPr kumimoji="0" lang="zh-CN" altLang="en-US">
                <a:solidFill>
                  <a:srgbClr val="000000"/>
                </a:solidFill>
              </a:rPr>
              <a:t>两相干光束完全分开；</a:t>
            </a:r>
          </a:p>
          <a:p>
            <a:pPr eaLnBrk="0" hangingPunct="0">
              <a:lnSpc>
                <a:spcPct val="120000"/>
              </a:lnSpc>
            </a:pPr>
            <a:r>
              <a:rPr kumimoji="0" lang="en-US" altLang="zh-CN">
                <a:solidFill>
                  <a:srgbClr val="CC0000"/>
                </a:solidFill>
              </a:rPr>
              <a:t>(2)</a:t>
            </a:r>
            <a:r>
              <a:rPr kumimoji="0" lang="zh-CN" altLang="en-US">
                <a:solidFill>
                  <a:srgbClr val="000000"/>
                </a:solidFill>
              </a:rPr>
              <a:t>两光束的光程差可调</a:t>
            </a:r>
            <a:r>
              <a:rPr kumimoji="0" lang="en-US" altLang="zh-CN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72711" name="Group 7"/>
          <p:cNvGrpSpPr>
            <a:grpSpLocks/>
          </p:cNvGrpSpPr>
          <p:nvPr/>
        </p:nvGrpSpPr>
        <p:grpSpPr bwMode="auto">
          <a:xfrm>
            <a:off x="6248400" y="3944938"/>
            <a:ext cx="703263" cy="2227262"/>
            <a:chOff x="3936" y="2437"/>
            <a:chExt cx="480" cy="1403"/>
          </a:xfrm>
        </p:grpSpPr>
        <p:sp>
          <p:nvSpPr>
            <p:cNvPr id="72712" name="AutoShape 8"/>
            <p:cNvSpPr>
              <a:spLocks noChangeArrowheads="1"/>
            </p:cNvSpPr>
            <p:nvPr/>
          </p:nvSpPr>
          <p:spPr bwMode="auto">
            <a:xfrm>
              <a:off x="3936" y="2496"/>
              <a:ext cx="480" cy="1344"/>
            </a:xfrm>
            <a:prstGeom prst="wedgeRectCallout">
              <a:avLst>
                <a:gd name="adj1" fmla="val -12708"/>
                <a:gd name="adj2" fmla="val -84005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0" lang="zh-CN" altLang="zh-CN">
                <a:solidFill>
                  <a:srgbClr val="1C1C1C"/>
                </a:solidFill>
              </a:endParaRPr>
            </a:p>
          </p:txBody>
        </p:sp>
        <p:grpSp>
          <p:nvGrpSpPr>
            <p:cNvPr id="72713" name="Group 9"/>
            <p:cNvGrpSpPr>
              <a:grpSpLocks/>
            </p:cNvGrpSpPr>
            <p:nvPr/>
          </p:nvGrpSpPr>
          <p:grpSpPr bwMode="auto">
            <a:xfrm>
              <a:off x="3984" y="2437"/>
              <a:ext cx="384" cy="1403"/>
              <a:chOff x="3984" y="2437"/>
              <a:chExt cx="384" cy="1403"/>
            </a:xfrm>
          </p:grpSpPr>
          <p:sp>
            <p:nvSpPr>
              <p:cNvPr id="72714" name="Rectangle 10"/>
              <p:cNvSpPr>
                <a:spLocks noChangeArrowheads="1"/>
              </p:cNvSpPr>
              <p:nvPr/>
            </p:nvSpPr>
            <p:spPr bwMode="auto">
              <a:xfrm>
                <a:off x="3984" y="2437"/>
                <a:ext cx="347" cy="1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kumimoji="0" lang="en-US" altLang="zh-CN">
                  <a:solidFill>
                    <a:srgbClr val="000000"/>
                  </a:solidFill>
                </a:endParaRPr>
              </a:p>
              <a:p>
                <a:r>
                  <a:rPr kumimoji="0" lang="zh-CN" altLang="en-US">
                    <a:solidFill>
                      <a:srgbClr val="000000"/>
                    </a:solidFill>
                  </a:rPr>
                  <a:t>移动距离</a:t>
                </a:r>
              </a:p>
            </p:txBody>
          </p:sp>
          <p:graphicFrame>
            <p:nvGraphicFramePr>
              <p:cNvPr id="72715" name="Object 11"/>
              <p:cNvGraphicFramePr>
                <a:graphicFrameLocks noChangeAspect="1"/>
              </p:cNvGraphicFramePr>
              <p:nvPr/>
            </p:nvGraphicFramePr>
            <p:xfrm>
              <a:off x="3984" y="2441"/>
              <a:ext cx="384" cy="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98" name="Equation" r:id="rId3" imgW="228600" imgH="215640" progId="Equation.3">
                      <p:embed/>
                    </p:oleObj>
                  </mc:Choice>
                  <mc:Fallback>
                    <p:oleObj name="Equation" r:id="rId3" imgW="228600" imgH="215640" progId="Equation.3">
                      <p:embed/>
                      <p:pic>
                        <p:nvPicPr>
                          <p:cNvPr id="0" name="Object 11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2441"/>
                            <a:ext cx="384" cy="3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2716" name="Group 12"/>
          <p:cNvGrpSpPr>
            <a:grpSpLocks/>
          </p:cNvGrpSpPr>
          <p:nvPr/>
        </p:nvGrpSpPr>
        <p:grpSpPr bwMode="auto">
          <a:xfrm>
            <a:off x="609600" y="2362200"/>
            <a:ext cx="4953000" cy="3810000"/>
            <a:chOff x="240" y="1440"/>
            <a:chExt cx="3264" cy="2592"/>
          </a:xfrm>
        </p:grpSpPr>
        <p:grpSp>
          <p:nvGrpSpPr>
            <p:cNvPr id="72717" name="Group 13"/>
            <p:cNvGrpSpPr>
              <a:grpSpLocks/>
            </p:cNvGrpSpPr>
            <p:nvPr/>
          </p:nvGrpSpPr>
          <p:grpSpPr bwMode="auto">
            <a:xfrm>
              <a:off x="240" y="1440"/>
              <a:ext cx="3264" cy="2592"/>
              <a:chOff x="240" y="1440"/>
              <a:chExt cx="3264" cy="2592"/>
            </a:xfrm>
          </p:grpSpPr>
          <p:sp>
            <p:nvSpPr>
              <p:cNvPr id="72718" name="Rectangle 14"/>
              <p:cNvSpPr>
                <a:spLocks noChangeArrowheads="1"/>
              </p:cNvSpPr>
              <p:nvPr/>
            </p:nvSpPr>
            <p:spPr bwMode="auto">
              <a:xfrm>
                <a:off x="240" y="1440"/>
                <a:ext cx="3264" cy="258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19" name="Rectangle 15"/>
              <p:cNvSpPr>
                <a:spLocks noChangeArrowheads="1"/>
              </p:cNvSpPr>
              <p:nvPr/>
            </p:nvSpPr>
            <p:spPr bwMode="auto">
              <a:xfrm>
                <a:off x="1205" y="1861"/>
                <a:ext cx="913" cy="134"/>
              </a:xfrm>
              <a:prstGeom prst="rect">
                <a:avLst/>
              </a:prstGeom>
              <a:solidFill>
                <a:srgbClr val="99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720" name="Group 16"/>
              <p:cNvGrpSpPr>
                <a:grpSpLocks/>
              </p:cNvGrpSpPr>
              <p:nvPr/>
            </p:nvGrpSpPr>
            <p:grpSpPr bwMode="auto">
              <a:xfrm>
                <a:off x="1585" y="2022"/>
                <a:ext cx="1632" cy="1081"/>
                <a:chOff x="1537" y="1070"/>
                <a:chExt cx="1632" cy="1081"/>
              </a:xfrm>
            </p:grpSpPr>
            <p:sp>
              <p:nvSpPr>
                <p:cNvPr id="72721" name="Freeform 17"/>
                <p:cNvSpPr>
                  <a:spLocks/>
                </p:cNvSpPr>
                <p:nvPr/>
              </p:nvSpPr>
              <p:spPr bwMode="auto">
                <a:xfrm>
                  <a:off x="1656" y="2058"/>
                  <a:ext cx="1513" cy="93"/>
                </a:xfrm>
                <a:custGeom>
                  <a:avLst/>
                  <a:gdLst>
                    <a:gd name="T0" fmla="*/ 0 w 1686"/>
                    <a:gd name="T1" fmla="*/ 6 h 120"/>
                    <a:gd name="T2" fmla="*/ 618 w 1686"/>
                    <a:gd name="T3" fmla="*/ 0 h 120"/>
                    <a:gd name="T4" fmla="*/ 768 w 1686"/>
                    <a:gd name="T5" fmla="*/ 114 h 120"/>
                    <a:gd name="T6" fmla="*/ 1686 w 1686"/>
                    <a:gd name="T7" fmla="*/ 12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86" h="120">
                      <a:moveTo>
                        <a:pt x="0" y="6"/>
                      </a:moveTo>
                      <a:lnTo>
                        <a:pt x="618" y="0"/>
                      </a:lnTo>
                      <a:lnTo>
                        <a:pt x="768" y="114"/>
                      </a:lnTo>
                      <a:lnTo>
                        <a:pt x="1686" y="120"/>
                      </a:lnTo>
                    </a:path>
                  </a:pathLst>
                </a:custGeom>
                <a:noFill/>
                <a:ln w="28575" cmpd="sng">
                  <a:solidFill>
                    <a:srgbClr val="990099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2" name="Line 18"/>
                <p:cNvSpPr>
                  <a:spLocks noChangeShapeType="1"/>
                </p:cNvSpPr>
                <p:nvPr/>
              </p:nvSpPr>
              <p:spPr bwMode="auto">
                <a:xfrm>
                  <a:off x="1916" y="2062"/>
                  <a:ext cx="103" cy="0"/>
                </a:xfrm>
                <a:prstGeom prst="line">
                  <a:avLst/>
                </a:prstGeom>
                <a:noFill/>
                <a:ln w="38100">
                  <a:solidFill>
                    <a:srgbClr val="990099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3" name="Line 19"/>
                <p:cNvSpPr>
                  <a:spLocks noChangeShapeType="1"/>
                </p:cNvSpPr>
                <p:nvPr/>
              </p:nvSpPr>
              <p:spPr bwMode="auto">
                <a:xfrm>
                  <a:off x="2989" y="2151"/>
                  <a:ext cx="104" cy="0"/>
                </a:xfrm>
                <a:prstGeom prst="line">
                  <a:avLst/>
                </a:prstGeom>
                <a:noFill/>
                <a:ln w="38100">
                  <a:solidFill>
                    <a:srgbClr val="990099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4" name="Freeform 20"/>
                <p:cNvSpPr>
                  <a:spLocks/>
                </p:cNvSpPr>
                <p:nvPr/>
              </p:nvSpPr>
              <p:spPr bwMode="auto">
                <a:xfrm>
                  <a:off x="1542" y="1070"/>
                  <a:ext cx="104" cy="1001"/>
                </a:xfrm>
                <a:custGeom>
                  <a:avLst/>
                  <a:gdLst>
                    <a:gd name="T0" fmla="*/ 116 w 116"/>
                    <a:gd name="T1" fmla="*/ 1294 h 1294"/>
                    <a:gd name="T2" fmla="*/ 0 w 116"/>
                    <a:gd name="T3" fmla="*/ 1122 h 1294"/>
                    <a:gd name="T4" fmla="*/ 0 w 116"/>
                    <a:gd name="T5" fmla="*/ 0 h 12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6" h="1294">
                      <a:moveTo>
                        <a:pt x="116" y="1294"/>
                      </a:moveTo>
                      <a:lnTo>
                        <a:pt x="0" y="112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mpd="sng">
                  <a:solidFill>
                    <a:srgbClr val="DC83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5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1537" y="1195"/>
                  <a:ext cx="2" cy="125"/>
                </a:xfrm>
                <a:prstGeom prst="line">
                  <a:avLst/>
                </a:prstGeom>
                <a:noFill/>
                <a:ln w="38100">
                  <a:solidFill>
                    <a:srgbClr val="DC83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26" name="Group 22"/>
              <p:cNvGrpSpPr>
                <a:grpSpLocks/>
              </p:cNvGrpSpPr>
              <p:nvPr/>
            </p:nvGrpSpPr>
            <p:grpSpPr bwMode="auto">
              <a:xfrm>
                <a:off x="364" y="2962"/>
                <a:ext cx="1340" cy="59"/>
                <a:chOff x="316" y="2010"/>
                <a:chExt cx="1340" cy="59"/>
              </a:xfrm>
            </p:grpSpPr>
            <p:sp>
              <p:nvSpPr>
                <p:cNvPr id="72727" name="Freeform 23"/>
                <p:cNvSpPr>
                  <a:spLocks/>
                </p:cNvSpPr>
                <p:nvPr/>
              </p:nvSpPr>
              <p:spPr bwMode="auto">
                <a:xfrm>
                  <a:off x="316" y="2010"/>
                  <a:ext cx="1340" cy="59"/>
                </a:xfrm>
                <a:custGeom>
                  <a:avLst/>
                  <a:gdLst>
                    <a:gd name="T0" fmla="*/ 0 w 1340"/>
                    <a:gd name="T1" fmla="*/ 1 h 59"/>
                    <a:gd name="T2" fmla="*/ 1184 w 1340"/>
                    <a:gd name="T3" fmla="*/ 0 h 59"/>
                    <a:gd name="T4" fmla="*/ 1340 w 1340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340" h="59">
                      <a:moveTo>
                        <a:pt x="0" y="1"/>
                      </a:moveTo>
                      <a:lnTo>
                        <a:pt x="1184" y="0"/>
                      </a:lnTo>
                      <a:lnTo>
                        <a:pt x="1340" y="59"/>
                      </a:lnTo>
                    </a:path>
                  </a:pathLst>
                </a:custGeom>
                <a:noFill/>
                <a:ln w="38100" cmpd="sng">
                  <a:solidFill>
                    <a:srgbClr val="FF0000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28" name="Line 24"/>
                <p:cNvSpPr>
                  <a:spLocks noChangeShapeType="1"/>
                </p:cNvSpPr>
                <p:nvPr/>
              </p:nvSpPr>
              <p:spPr bwMode="auto">
                <a:xfrm>
                  <a:off x="778" y="2012"/>
                  <a:ext cx="24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2729" name="Line 25"/>
              <p:cNvSpPr>
                <a:spLocks noChangeShapeType="1"/>
              </p:cNvSpPr>
              <p:nvPr/>
            </p:nvSpPr>
            <p:spPr bwMode="auto">
              <a:xfrm flipV="1">
                <a:off x="1205" y="2010"/>
                <a:ext cx="921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730" name="Group 26"/>
              <p:cNvGrpSpPr>
                <a:grpSpLocks/>
              </p:cNvGrpSpPr>
              <p:nvPr/>
            </p:nvGrpSpPr>
            <p:grpSpPr bwMode="auto">
              <a:xfrm>
                <a:off x="321" y="2645"/>
                <a:ext cx="230" cy="637"/>
                <a:chOff x="1177" y="2167"/>
                <a:chExt cx="228" cy="733"/>
              </a:xfrm>
            </p:grpSpPr>
            <p:sp>
              <p:nvSpPr>
                <p:cNvPr id="72731" name="AutoShape 27"/>
                <p:cNvSpPr>
                  <a:spLocks noChangeArrowheads="1"/>
                </p:cNvSpPr>
                <p:nvPr/>
              </p:nvSpPr>
              <p:spPr bwMode="auto">
                <a:xfrm>
                  <a:off x="1177" y="2167"/>
                  <a:ext cx="228" cy="577"/>
                </a:xfrm>
                <a:prstGeom prst="roundRect">
                  <a:avLst>
                    <a:gd name="adj" fmla="val 49995"/>
                  </a:avLst>
                </a:prstGeom>
                <a:gradFill rotWithShape="0">
                  <a:gsLst>
                    <a:gs pos="0">
                      <a:srgbClr val="FFFF66">
                        <a:gamma/>
                        <a:shade val="69804"/>
                        <a:invGamma/>
                      </a:srgbClr>
                    </a:gs>
                    <a:gs pos="50000">
                      <a:srgbClr val="FFFF66"/>
                    </a:gs>
                    <a:gs pos="100000">
                      <a:srgbClr val="FFFF66">
                        <a:gamma/>
                        <a:shade val="69804"/>
                        <a:invGamma/>
                      </a:srgbClr>
                    </a:gs>
                  </a:gsLst>
                  <a:lin ang="0" scaled="1"/>
                </a:gra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2" name="Rectangle 28"/>
                <p:cNvSpPr>
                  <a:spLocks noChangeArrowheads="1"/>
                </p:cNvSpPr>
                <p:nvPr/>
              </p:nvSpPr>
              <p:spPr bwMode="auto">
                <a:xfrm>
                  <a:off x="1214" y="2725"/>
                  <a:ext cx="154" cy="99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6">
                        <a:gamma/>
                        <a:shade val="69804"/>
                        <a:invGamma/>
                      </a:srgbClr>
                    </a:gs>
                    <a:gs pos="50000">
                      <a:srgbClr val="FFFF66"/>
                    </a:gs>
                    <a:gs pos="100000">
                      <a:srgbClr val="FFFF66">
                        <a:gamma/>
                        <a:shade val="69804"/>
                        <a:invGamma/>
                      </a:srgbClr>
                    </a:gs>
                  </a:gsLst>
                  <a:lin ang="0" scaled="1"/>
                </a:gra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3" name="Oval 29"/>
                <p:cNvSpPr>
                  <a:spLocks noChangeArrowheads="1"/>
                </p:cNvSpPr>
                <p:nvPr/>
              </p:nvSpPr>
              <p:spPr bwMode="auto">
                <a:xfrm>
                  <a:off x="1214" y="2786"/>
                  <a:ext cx="154" cy="114"/>
                </a:xfrm>
                <a:prstGeom prst="ellipse">
                  <a:avLst/>
                </a:prstGeom>
                <a:solidFill>
                  <a:schemeClr val="tx2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4" name="Freeform 30"/>
                <p:cNvSpPr>
                  <a:spLocks/>
                </p:cNvSpPr>
                <p:nvPr/>
              </p:nvSpPr>
              <p:spPr bwMode="auto">
                <a:xfrm>
                  <a:off x="1274" y="2266"/>
                  <a:ext cx="51" cy="472"/>
                </a:xfrm>
                <a:custGeom>
                  <a:avLst/>
                  <a:gdLst>
                    <a:gd name="T0" fmla="*/ 0 w 51"/>
                    <a:gd name="T1" fmla="*/ 455 h 472"/>
                    <a:gd name="T2" fmla="*/ 0 w 51"/>
                    <a:gd name="T3" fmla="*/ 0 h 472"/>
                    <a:gd name="T4" fmla="*/ 16 w 51"/>
                    <a:gd name="T5" fmla="*/ 106 h 472"/>
                    <a:gd name="T6" fmla="*/ 16 w 51"/>
                    <a:gd name="T7" fmla="*/ 0 h 472"/>
                    <a:gd name="T8" fmla="*/ 33 w 51"/>
                    <a:gd name="T9" fmla="*/ 106 h 472"/>
                    <a:gd name="T10" fmla="*/ 33 w 51"/>
                    <a:gd name="T11" fmla="*/ 0 h 472"/>
                    <a:gd name="T12" fmla="*/ 50 w 51"/>
                    <a:gd name="T13" fmla="*/ 106 h 472"/>
                    <a:gd name="T14" fmla="*/ 50 w 51"/>
                    <a:gd name="T15" fmla="*/ 471 h 4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1" h="472">
                      <a:moveTo>
                        <a:pt x="0" y="455"/>
                      </a:moveTo>
                      <a:lnTo>
                        <a:pt x="0" y="0"/>
                      </a:lnTo>
                      <a:lnTo>
                        <a:pt x="16" y="106"/>
                      </a:lnTo>
                      <a:lnTo>
                        <a:pt x="16" y="0"/>
                      </a:lnTo>
                      <a:lnTo>
                        <a:pt x="33" y="106"/>
                      </a:lnTo>
                      <a:lnTo>
                        <a:pt x="33" y="0"/>
                      </a:lnTo>
                      <a:lnTo>
                        <a:pt x="50" y="106"/>
                      </a:lnTo>
                      <a:lnTo>
                        <a:pt x="50" y="471"/>
                      </a:lnTo>
                    </a:path>
                  </a:pathLst>
                </a:custGeom>
                <a:gradFill rotWithShape="0">
                  <a:gsLst>
                    <a:gs pos="0">
                      <a:srgbClr val="FFFF66">
                        <a:gamma/>
                        <a:shade val="69804"/>
                        <a:invGamma/>
                      </a:srgbClr>
                    </a:gs>
                    <a:gs pos="50000">
                      <a:srgbClr val="FFFF66"/>
                    </a:gs>
                    <a:gs pos="100000">
                      <a:srgbClr val="FFFF66">
                        <a:gamma/>
                        <a:shade val="69804"/>
                        <a:invGamma/>
                      </a:srgbClr>
                    </a:gs>
                  </a:gsLst>
                  <a:lin ang="0" scaled="1"/>
                </a:gradFill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73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210" y="2737"/>
                  <a:ext cx="162" cy="15"/>
                </a:xfrm>
                <a:prstGeom prst="line">
                  <a:avLst/>
                </a:prstGeom>
                <a:noFill/>
                <a:ln w="25400">
                  <a:solidFill>
                    <a:srgbClr val="FFCC66"/>
                  </a:solidFill>
                  <a:round/>
                  <a:headEnd type="none" w="sm" len="sm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210" y="2767"/>
                  <a:ext cx="162" cy="15"/>
                </a:xfrm>
                <a:prstGeom prst="line">
                  <a:avLst/>
                </a:prstGeom>
                <a:noFill/>
                <a:ln w="25400">
                  <a:solidFill>
                    <a:srgbClr val="FFCC66"/>
                  </a:solidFill>
                  <a:round/>
                  <a:headEnd type="none" w="sm" len="sm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7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1210" y="2797"/>
                  <a:ext cx="162" cy="16"/>
                </a:xfrm>
                <a:prstGeom prst="line">
                  <a:avLst/>
                </a:prstGeom>
                <a:noFill/>
                <a:ln w="25400">
                  <a:solidFill>
                    <a:srgbClr val="FFCC66"/>
                  </a:solidFill>
                  <a:round/>
                  <a:headEnd type="none" w="sm" len="sm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8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1210" y="2828"/>
                  <a:ext cx="162" cy="15"/>
                </a:xfrm>
                <a:prstGeom prst="line">
                  <a:avLst/>
                </a:prstGeom>
                <a:noFill/>
                <a:ln w="25400">
                  <a:solidFill>
                    <a:srgbClr val="FFCC66"/>
                  </a:solidFill>
                  <a:round/>
                  <a:headEnd type="none" w="sm" len="sm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39" name="Rectangle 35"/>
                <p:cNvSpPr>
                  <a:spLocks noChangeArrowheads="1"/>
                </p:cNvSpPr>
                <p:nvPr/>
              </p:nvSpPr>
              <p:spPr bwMode="auto">
                <a:xfrm>
                  <a:off x="1263" y="2629"/>
                  <a:ext cx="69" cy="97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6">
                        <a:gamma/>
                        <a:shade val="69804"/>
                        <a:invGamma/>
                      </a:srgbClr>
                    </a:gs>
                    <a:gs pos="50000">
                      <a:srgbClr val="FFFF66"/>
                    </a:gs>
                    <a:gs pos="100000">
                      <a:srgbClr val="FFFF66">
                        <a:gamma/>
                        <a:shade val="69804"/>
                        <a:invGamma/>
                      </a:srgbClr>
                    </a:gs>
                  </a:gsLst>
                  <a:lin ang="0" scaled="1"/>
                </a:gra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40" name="Group 36"/>
              <p:cNvGrpSpPr>
                <a:grpSpLocks/>
              </p:cNvGrpSpPr>
              <p:nvPr/>
            </p:nvGrpSpPr>
            <p:grpSpPr bwMode="auto">
              <a:xfrm>
                <a:off x="1821" y="2918"/>
                <a:ext cx="1380" cy="1114"/>
                <a:chOff x="1897" y="1944"/>
                <a:chExt cx="1278" cy="1135"/>
              </a:xfrm>
            </p:grpSpPr>
            <p:grpSp>
              <p:nvGrpSpPr>
                <p:cNvPr id="72741" name="Group 37"/>
                <p:cNvGrpSpPr>
                  <a:grpSpLocks/>
                </p:cNvGrpSpPr>
                <p:nvPr/>
              </p:nvGrpSpPr>
              <p:grpSpPr bwMode="auto">
                <a:xfrm>
                  <a:off x="1897" y="1944"/>
                  <a:ext cx="1278" cy="1031"/>
                  <a:chOff x="1897" y="1944"/>
                  <a:chExt cx="1278" cy="1031"/>
                </a:xfrm>
              </p:grpSpPr>
              <p:sp>
                <p:nvSpPr>
                  <p:cNvPr id="72742" name="Freeform 38"/>
                  <p:cNvSpPr>
                    <a:spLocks/>
                  </p:cNvSpPr>
                  <p:nvPr/>
                </p:nvSpPr>
                <p:spPr bwMode="auto">
                  <a:xfrm>
                    <a:off x="1897" y="1944"/>
                    <a:ext cx="1278" cy="1031"/>
                  </a:xfrm>
                  <a:custGeom>
                    <a:avLst/>
                    <a:gdLst>
                      <a:gd name="T0" fmla="*/ 1536 w 1536"/>
                      <a:gd name="T1" fmla="*/ 138 h 1308"/>
                      <a:gd name="T2" fmla="*/ 738 w 1536"/>
                      <a:gd name="T3" fmla="*/ 132 h 1308"/>
                      <a:gd name="T4" fmla="*/ 582 w 1536"/>
                      <a:gd name="T5" fmla="*/ 12 h 1308"/>
                      <a:gd name="T6" fmla="*/ 0 w 1536"/>
                      <a:gd name="T7" fmla="*/ 0 h 1308"/>
                      <a:gd name="T8" fmla="*/ 0 w 1536"/>
                      <a:gd name="T9" fmla="*/ 1290 h 1308"/>
                      <a:gd name="T10" fmla="*/ 12 w 1536"/>
                      <a:gd name="T11" fmla="*/ 1308 h 13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536" h="1308">
                        <a:moveTo>
                          <a:pt x="1536" y="138"/>
                        </a:moveTo>
                        <a:lnTo>
                          <a:pt x="738" y="132"/>
                        </a:lnTo>
                        <a:lnTo>
                          <a:pt x="582" y="12"/>
                        </a:lnTo>
                        <a:lnTo>
                          <a:pt x="0" y="0"/>
                        </a:lnTo>
                        <a:lnTo>
                          <a:pt x="0" y="1290"/>
                        </a:lnTo>
                        <a:lnTo>
                          <a:pt x="12" y="1308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990099"/>
                    </a:solidFill>
                    <a:round/>
                    <a:headEnd type="none" w="med" len="med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43" name="Line 3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35" y="2055"/>
                    <a:ext cx="137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990099"/>
                    </a:solidFill>
                    <a:round/>
                    <a:headEnd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44" name="Line 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19" y="1953"/>
                    <a:ext cx="9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990099"/>
                    </a:solidFill>
                    <a:round/>
                    <a:headEnd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745" name="Line 41"/>
                <p:cNvSpPr>
                  <a:spLocks noChangeShapeType="1"/>
                </p:cNvSpPr>
                <p:nvPr/>
              </p:nvSpPr>
              <p:spPr bwMode="auto">
                <a:xfrm>
                  <a:off x="1899" y="2920"/>
                  <a:ext cx="0" cy="159"/>
                </a:xfrm>
                <a:prstGeom prst="line">
                  <a:avLst/>
                </a:prstGeom>
                <a:noFill/>
                <a:ln w="38100">
                  <a:solidFill>
                    <a:srgbClr val="990099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46" name="Group 42"/>
              <p:cNvGrpSpPr>
                <a:grpSpLocks/>
              </p:cNvGrpSpPr>
              <p:nvPr/>
            </p:nvGrpSpPr>
            <p:grpSpPr bwMode="auto">
              <a:xfrm>
                <a:off x="1655" y="2012"/>
                <a:ext cx="82" cy="2006"/>
                <a:chOff x="2628" y="1230"/>
                <a:chExt cx="92" cy="2595"/>
              </a:xfrm>
            </p:grpSpPr>
            <p:grpSp>
              <p:nvGrpSpPr>
                <p:cNvPr id="72747" name="Group 43"/>
                <p:cNvGrpSpPr>
                  <a:grpSpLocks/>
                </p:cNvGrpSpPr>
                <p:nvPr/>
              </p:nvGrpSpPr>
              <p:grpSpPr bwMode="auto">
                <a:xfrm>
                  <a:off x="2628" y="1230"/>
                  <a:ext cx="90" cy="2532"/>
                  <a:chOff x="2628" y="1230"/>
                  <a:chExt cx="90" cy="2532"/>
                </a:xfrm>
              </p:grpSpPr>
              <p:sp>
                <p:nvSpPr>
                  <p:cNvPr id="72748" name="Freeform 44"/>
                  <p:cNvSpPr>
                    <a:spLocks/>
                  </p:cNvSpPr>
                  <p:nvPr/>
                </p:nvSpPr>
                <p:spPr bwMode="auto">
                  <a:xfrm>
                    <a:off x="2628" y="1230"/>
                    <a:ext cx="90" cy="2532"/>
                  </a:xfrm>
                  <a:custGeom>
                    <a:avLst/>
                    <a:gdLst>
                      <a:gd name="T0" fmla="*/ 0 w 90"/>
                      <a:gd name="T1" fmla="*/ 0 h 2532"/>
                      <a:gd name="T2" fmla="*/ 0 w 90"/>
                      <a:gd name="T3" fmla="*/ 1062 h 2532"/>
                      <a:gd name="T4" fmla="*/ 90 w 90"/>
                      <a:gd name="T5" fmla="*/ 1236 h 2532"/>
                      <a:gd name="T6" fmla="*/ 90 w 90"/>
                      <a:gd name="T7" fmla="*/ 2532 h 25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0" h="2532">
                        <a:moveTo>
                          <a:pt x="0" y="0"/>
                        </a:moveTo>
                        <a:lnTo>
                          <a:pt x="0" y="1062"/>
                        </a:lnTo>
                        <a:lnTo>
                          <a:pt x="90" y="1236"/>
                        </a:lnTo>
                        <a:lnTo>
                          <a:pt x="90" y="2532"/>
                        </a:lnTo>
                      </a:path>
                    </a:pathLst>
                  </a:custGeom>
                  <a:noFill/>
                  <a:ln w="28575" cmpd="sng">
                    <a:solidFill>
                      <a:srgbClr val="DC8300"/>
                    </a:solidFill>
                    <a:round/>
                    <a:headEnd type="none" w="med" len="med"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4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2629" y="1536"/>
                    <a:ext cx="0" cy="82"/>
                  </a:xfrm>
                  <a:prstGeom prst="line">
                    <a:avLst/>
                  </a:prstGeom>
                  <a:noFill/>
                  <a:ln w="38100">
                    <a:solidFill>
                      <a:srgbClr val="DC8300"/>
                    </a:solidFill>
                    <a:round/>
                    <a:headEnd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750" name="Line 46"/>
                <p:cNvSpPr>
                  <a:spLocks noChangeShapeType="1"/>
                </p:cNvSpPr>
                <p:nvPr/>
              </p:nvSpPr>
              <p:spPr bwMode="auto">
                <a:xfrm>
                  <a:off x="2720" y="3670"/>
                  <a:ext cx="0" cy="155"/>
                </a:xfrm>
                <a:prstGeom prst="line">
                  <a:avLst/>
                </a:prstGeom>
                <a:noFill/>
                <a:ln w="38100">
                  <a:solidFill>
                    <a:srgbClr val="DC83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72751" name="Object 47"/>
              <p:cNvGraphicFramePr>
                <a:graphicFrameLocks noChangeAspect="1"/>
              </p:cNvGraphicFramePr>
              <p:nvPr/>
            </p:nvGraphicFramePr>
            <p:xfrm>
              <a:off x="982" y="3213"/>
              <a:ext cx="383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799" name="Equation" r:id="rId5" imgW="203040" imgH="215640" progId="Equation.3">
                      <p:embed/>
                    </p:oleObj>
                  </mc:Choice>
                  <mc:Fallback>
                    <p:oleObj name="Equation" r:id="rId5" imgW="203040" imgH="215640" progId="Equation.3">
                      <p:embed/>
                      <p:pic>
                        <p:nvPicPr>
                          <p:cNvPr id="0" name="Object 4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82" y="3213"/>
                            <a:ext cx="383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752" name="Object 48"/>
              <p:cNvGraphicFramePr>
                <a:graphicFrameLocks noChangeAspect="1"/>
              </p:cNvGraphicFramePr>
              <p:nvPr/>
            </p:nvGraphicFramePr>
            <p:xfrm>
              <a:off x="2183" y="3213"/>
              <a:ext cx="386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800" name="Equation" r:id="rId7" imgW="215640" imgH="215640" progId="Equation.3">
                      <p:embed/>
                    </p:oleObj>
                  </mc:Choice>
                  <mc:Fallback>
                    <p:oleObj name="Equation" r:id="rId7" imgW="215640" imgH="215640" progId="Equation.3">
                      <p:embed/>
                      <p:pic>
                        <p:nvPicPr>
                          <p:cNvPr id="0" name="Object 4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83" y="3213"/>
                            <a:ext cx="386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753" name="Rectangle 49"/>
              <p:cNvSpPr>
                <a:spLocks noChangeArrowheads="1"/>
              </p:cNvSpPr>
              <p:nvPr/>
            </p:nvSpPr>
            <p:spPr bwMode="auto">
              <a:xfrm rot="18900000">
                <a:off x="1948" y="2929"/>
                <a:ext cx="860" cy="149"/>
              </a:xfrm>
              <a:prstGeom prst="rect">
                <a:avLst/>
              </a:prstGeom>
              <a:solidFill>
                <a:srgbClr val="00FFCC">
                  <a:alpha val="50000"/>
                </a:srgb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754" name="Group 50"/>
              <p:cNvGrpSpPr>
                <a:grpSpLocks/>
              </p:cNvGrpSpPr>
              <p:nvPr/>
            </p:nvGrpSpPr>
            <p:grpSpPr bwMode="auto">
              <a:xfrm>
                <a:off x="3173" y="2679"/>
                <a:ext cx="144" cy="625"/>
                <a:chOff x="4149" y="2005"/>
                <a:chExt cx="162" cy="809"/>
              </a:xfrm>
            </p:grpSpPr>
            <p:sp>
              <p:nvSpPr>
                <p:cNvPr id="72755" name="Rectangle 51"/>
                <p:cNvSpPr>
                  <a:spLocks noChangeArrowheads="1"/>
                </p:cNvSpPr>
                <p:nvPr/>
              </p:nvSpPr>
              <p:spPr bwMode="auto">
                <a:xfrm>
                  <a:off x="4149" y="2005"/>
                  <a:ext cx="162" cy="806"/>
                </a:xfrm>
                <a:prstGeom prst="rect">
                  <a:avLst/>
                </a:prstGeom>
                <a:solidFill>
                  <a:srgbClr val="99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56" name="Line 52"/>
                <p:cNvSpPr>
                  <a:spLocks noChangeShapeType="1"/>
                </p:cNvSpPr>
                <p:nvPr/>
              </p:nvSpPr>
              <p:spPr bwMode="auto">
                <a:xfrm>
                  <a:off x="4149" y="2005"/>
                  <a:ext cx="0" cy="809"/>
                </a:xfrm>
                <a:prstGeom prst="line">
                  <a:avLst/>
                </a:prstGeom>
                <a:noFill/>
                <a:ln w="50800">
                  <a:solidFill>
                    <a:schemeClr val="tx2"/>
                  </a:solidFill>
                  <a:round/>
                  <a:headEnd type="none" w="sm" len="sm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2757" name="Rectangle 53"/>
              <p:cNvSpPr>
                <a:spLocks noChangeArrowheads="1"/>
              </p:cNvSpPr>
              <p:nvPr/>
            </p:nvSpPr>
            <p:spPr bwMode="auto">
              <a:xfrm>
                <a:off x="1203" y="1608"/>
                <a:ext cx="903" cy="150"/>
              </a:xfrm>
              <a:prstGeom prst="rect">
                <a:avLst/>
              </a:prstGeom>
              <a:solidFill>
                <a:srgbClr val="00FFFF">
                  <a:alpha val="50000"/>
                </a:srgbClr>
              </a:solidFill>
              <a:ln w="2857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758" name="Group 54"/>
              <p:cNvGrpSpPr>
                <a:grpSpLocks/>
              </p:cNvGrpSpPr>
              <p:nvPr/>
            </p:nvGrpSpPr>
            <p:grpSpPr bwMode="auto">
              <a:xfrm>
                <a:off x="2140" y="1745"/>
                <a:ext cx="904" cy="273"/>
                <a:chOff x="2832" y="800"/>
                <a:chExt cx="1008" cy="352"/>
              </a:xfrm>
            </p:grpSpPr>
            <p:sp>
              <p:nvSpPr>
                <p:cNvPr id="72759" name="Line 55"/>
                <p:cNvSpPr>
                  <a:spLocks noChangeShapeType="1"/>
                </p:cNvSpPr>
                <p:nvPr/>
              </p:nvSpPr>
              <p:spPr bwMode="auto">
                <a:xfrm>
                  <a:off x="2832" y="816"/>
                  <a:ext cx="960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60" name="Line 56"/>
                <p:cNvSpPr>
                  <a:spLocks noChangeShapeType="1"/>
                </p:cNvSpPr>
                <p:nvPr/>
              </p:nvSpPr>
              <p:spPr bwMode="auto">
                <a:xfrm>
                  <a:off x="2832" y="1138"/>
                  <a:ext cx="960" cy="0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61" name="Line 57"/>
                <p:cNvSpPr>
                  <a:spLocks noChangeShapeType="1"/>
                </p:cNvSpPr>
                <p:nvPr/>
              </p:nvSpPr>
              <p:spPr bwMode="auto">
                <a:xfrm>
                  <a:off x="3600" y="816"/>
                  <a:ext cx="0" cy="336"/>
                </a:xfrm>
                <a:prstGeom prst="line">
                  <a:avLst/>
                </a:prstGeom>
                <a:noFill/>
                <a:ln w="19050">
                  <a:solidFill>
                    <a:srgbClr val="FF0066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2762" name="Object 58"/>
                <p:cNvGraphicFramePr>
                  <a:graphicFrameLocks noChangeAspect="1"/>
                </p:cNvGraphicFramePr>
                <p:nvPr/>
              </p:nvGraphicFramePr>
              <p:xfrm>
                <a:off x="3612" y="800"/>
                <a:ext cx="228" cy="30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801" name="Equation" r:id="rId9" imgW="190440" imgH="253800" progId="Equation.3">
                        <p:embed/>
                      </p:oleObj>
                    </mc:Choice>
                    <mc:Fallback>
                      <p:oleObj name="Equation" r:id="rId9" imgW="190440" imgH="253800" progId="Equation.3">
                        <p:embed/>
                        <p:pic>
                          <p:nvPicPr>
                            <p:cNvPr id="0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12" y="800"/>
                              <a:ext cx="228" cy="30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72763" name="Group 59"/>
              <p:cNvGrpSpPr>
                <a:grpSpLocks/>
              </p:cNvGrpSpPr>
              <p:nvPr/>
            </p:nvGrpSpPr>
            <p:grpSpPr bwMode="auto">
              <a:xfrm>
                <a:off x="1152" y="2656"/>
                <a:ext cx="1008" cy="720"/>
                <a:chOff x="1104" y="1704"/>
                <a:chExt cx="1008" cy="720"/>
              </a:xfrm>
            </p:grpSpPr>
            <p:sp>
              <p:nvSpPr>
                <p:cNvPr id="72764" name="Rectangle 60"/>
                <p:cNvSpPr>
                  <a:spLocks noChangeArrowheads="1"/>
                </p:cNvSpPr>
                <p:nvPr/>
              </p:nvSpPr>
              <p:spPr bwMode="auto">
                <a:xfrm rot="18900000">
                  <a:off x="1104" y="1920"/>
                  <a:ext cx="1008" cy="169"/>
                </a:xfrm>
                <a:prstGeom prst="rect">
                  <a:avLst/>
                </a:prstGeom>
                <a:solidFill>
                  <a:srgbClr val="00FFCC">
                    <a:alpha val="50000"/>
                  </a:srgbClr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765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1296" y="1704"/>
                  <a:ext cx="720" cy="720"/>
                </a:xfrm>
                <a:prstGeom prst="line">
                  <a:avLst/>
                </a:prstGeom>
                <a:noFill/>
                <a:ln w="38100">
                  <a:solidFill>
                    <a:srgbClr val="0066FF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72766" name="Object 62"/>
            <p:cNvGraphicFramePr>
              <a:graphicFrameLocks noChangeAspect="1"/>
            </p:cNvGraphicFramePr>
            <p:nvPr/>
          </p:nvGraphicFramePr>
          <p:xfrm>
            <a:off x="768" y="1488"/>
            <a:ext cx="40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2" name="Equation" r:id="rId11" imgW="457200" imgH="368280" progId="Equation.3">
                    <p:embed/>
                  </p:oleObj>
                </mc:Choice>
                <mc:Fallback>
                  <p:oleObj name="Equation" r:id="rId11" imgW="457200" imgH="36828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488"/>
                          <a:ext cx="40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67" name="Object 63"/>
            <p:cNvGraphicFramePr>
              <a:graphicFrameLocks noChangeAspect="1"/>
            </p:cNvGraphicFramePr>
            <p:nvPr/>
          </p:nvGraphicFramePr>
          <p:xfrm>
            <a:off x="3120" y="3312"/>
            <a:ext cx="37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3" name="Equation" r:id="rId13" imgW="419040" imgH="368280" progId="Equation.3">
                    <p:embed/>
                  </p:oleObj>
                </mc:Choice>
                <mc:Fallback>
                  <p:oleObj name="Equation" r:id="rId13" imgW="419040" imgH="36828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312"/>
                          <a:ext cx="37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768" name="Object 64"/>
            <p:cNvGraphicFramePr>
              <a:graphicFrameLocks noChangeAspect="1"/>
            </p:cNvGraphicFramePr>
            <p:nvPr/>
          </p:nvGraphicFramePr>
          <p:xfrm>
            <a:off x="768" y="1824"/>
            <a:ext cx="352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4" name="Equation" r:id="rId15" imgW="393480" imgH="368280" progId="Equation.3">
                    <p:embed/>
                  </p:oleObj>
                </mc:Choice>
                <mc:Fallback>
                  <p:oleObj name="Equation" r:id="rId15" imgW="393480" imgH="368280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824"/>
                          <a:ext cx="352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769" name="Group 65"/>
          <p:cNvGrpSpPr>
            <a:grpSpLocks/>
          </p:cNvGrpSpPr>
          <p:nvPr/>
        </p:nvGrpSpPr>
        <p:grpSpPr bwMode="auto">
          <a:xfrm>
            <a:off x="2211388" y="2844800"/>
            <a:ext cx="2549525" cy="987425"/>
            <a:chOff x="1344" y="1680"/>
            <a:chExt cx="1586" cy="672"/>
          </a:xfrm>
        </p:grpSpPr>
        <p:grpSp>
          <p:nvGrpSpPr>
            <p:cNvPr id="72770" name="Group 66"/>
            <p:cNvGrpSpPr>
              <a:grpSpLocks/>
            </p:cNvGrpSpPr>
            <p:nvPr/>
          </p:nvGrpSpPr>
          <p:grpSpPr bwMode="auto">
            <a:xfrm>
              <a:off x="1344" y="1680"/>
              <a:ext cx="1488" cy="672"/>
              <a:chOff x="1392" y="1680"/>
              <a:chExt cx="1488" cy="672"/>
            </a:xfrm>
          </p:grpSpPr>
          <p:sp>
            <p:nvSpPr>
              <p:cNvPr id="72771" name="Line 67"/>
              <p:cNvSpPr>
                <a:spLocks noChangeShapeType="1"/>
              </p:cNvSpPr>
              <p:nvPr/>
            </p:nvSpPr>
            <p:spPr bwMode="auto">
              <a:xfrm>
                <a:off x="1392" y="1968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72" name="Line 68"/>
              <p:cNvSpPr>
                <a:spLocks noChangeShapeType="1"/>
              </p:cNvSpPr>
              <p:nvPr/>
            </p:nvSpPr>
            <p:spPr bwMode="auto">
              <a:xfrm>
                <a:off x="2231" y="1920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  <a:headEnd type="non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73" name="Line 69"/>
              <p:cNvSpPr>
                <a:spLocks noChangeShapeType="1"/>
              </p:cNvSpPr>
              <p:nvPr/>
            </p:nvSpPr>
            <p:spPr bwMode="auto">
              <a:xfrm>
                <a:off x="2375" y="168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774" name="Line 70"/>
              <p:cNvSpPr>
                <a:spLocks noChangeShapeType="1"/>
              </p:cNvSpPr>
              <p:nvPr/>
            </p:nvSpPr>
            <p:spPr bwMode="auto">
              <a:xfrm>
                <a:off x="2375" y="1968"/>
                <a:ext cx="0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2775" name="Object 71"/>
              <p:cNvGraphicFramePr>
                <a:graphicFrameLocks noChangeAspect="1"/>
              </p:cNvGraphicFramePr>
              <p:nvPr/>
            </p:nvGraphicFramePr>
            <p:xfrm>
              <a:off x="2448" y="2016"/>
              <a:ext cx="432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805" name="公式" r:id="rId17" imgW="355320" imgH="253800" progId="Equation.3">
                      <p:embed/>
                    </p:oleObj>
                  </mc:Choice>
                  <mc:Fallback>
                    <p:oleObj name="公式" r:id="rId17" imgW="355320" imgH="253800" progId="Equation.3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8" y="2016"/>
                            <a:ext cx="432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2776" name="Line 72"/>
            <p:cNvSpPr>
              <a:spLocks noChangeShapeType="1"/>
            </p:cNvSpPr>
            <p:nvPr/>
          </p:nvSpPr>
          <p:spPr bwMode="auto">
            <a:xfrm>
              <a:off x="2185" y="1968"/>
              <a:ext cx="7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777" name="Group 73"/>
          <p:cNvGrpSpPr>
            <a:grpSpLocks/>
          </p:cNvGrpSpPr>
          <p:nvPr/>
        </p:nvGrpSpPr>
        <p:grpSpPr bwMode="auto">
          <a:xfrm>
            <a:off x="6019800" y="2057400"/>
            <a:ext cx="2438400" cy="1600200"/>
            <a:chOff x="3840" y="1296"/>
            <a:chExt cx="1536" cy="1008"/>
          </a:xfrm>
        </p:grpSpPr>
        <p:graphicFrame>
          <p:nvGraphicFramePr>
            <p:cNvPr id="72778" name="Object 74"/>
            <p:cNvGraphicFramePr>
              <a:graphicFrameLocks noChangeAspect="1"/>
            </p:cNvGraphicFramePr>
            <p:nvPr/>
          </p:nvGraphicFramePr>
          <p:xfrm>
            <a:off x="3984" y="1680"/>
            <a:ext cx="124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6" name="公式" r:id="rId19" imgW="1104840" imgH="609480" progId="Equation.3">
                    <p:embed/>
                  </p:oleObj>
                </mc:Choice>
                <mc:Fallback>
                  <p:oleObj name="公式" r:id="rId19" imgW="1104840" imgH="60948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680"/>
                          <a:ext cx="124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  <a:gs pos="50000">
                                    <a:srgbClr val="FFFFCC"/>
                                  </a:gs>
                                  <a:gs pos="100000">
                                    <a:srgbClr val="FFFFCC">
                                      <a:gamma/>
                                      <a:shade val="76078"/>
                                      <a:invGamma/>
                                    </a:srgbClr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79" name="Rectangle 75"/>
            <p:cNvSpPr>
              <a:spLocks noChangeArrowheads="1"/>
            </p:cNvSpPr>
            <p:nvPr/>
          </p:nvSpPr>
          <p:spPr bwMode="auto">
            <a:xfrm>
              <a:off x="3840" y="1296"/>
              <a:ext cx="1536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0" lang="zh-CN" altLang="en-US">
                  <a:solidFill>
                    <a:srgbClr val="000000"/>
                  </a:solidFill>
                </a:rPr>
                <a:t>移动反射镜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4E4F7-BFA7-4E36-B520-021A62FFFCC7}" type="slidenum">
              <a:rPr lang="en-US" altLang="zh-CN"/>
              <a:pPr/>
              <a:t>27</a:t>
            </a:fld>
            <a:endParaRPr lang="en-US" altLang="zh-CN"/>
          </a:p>
        </p:txBody>
      </p:sp>
      <p:grpSp>
        <p:nvGrpSpPr>
          <p:cNvPr id="74811" name="Group 59"/>
          <p:cNvGrpSpPr>
            <a:grpSpLocks/>
          </p:cNvGrpSpPr>
          <p:nvPr/>
        </p:nvGrpSpPr>
        <p:grpSpPr bwMode="auto">
          <a:xfrm>
            <a:off x="5334000" y="2133600"/>
            <a:ext cx="3505200" cy="1587500"/>
            <a:chOff x="3360" y="1344"/>
            <a:chExt cx="2208" cy="1000"/>
          </a:xfrm>
        </p:grpSpPr>
        <p:graphicFrame>
          <p:nvGraphicFramePr>
            <p:cNvPr id="74754" name="Object 2"/>
            <p:cNvGraphicFramePr>
              <a:graphicFrameLocks noChangeAspect="1"/>
            </p:cNvGraphicFramePr>
            <p:nvPr/>
          </p:nvGraphicFramePr>
          <p:xfrm>
            <a:off x="3639" y="1951"/>
            <a:ext cx="1681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35" name="Equation" r:id="rId3" imgW="1130040" imgH="228600" progId="Equation.3">
                    <p:embed/>
                  </p:oleObj>
                </mc:Choice>
                <mc:Fallback>
                  <p:oleObj name="Equation" r:id="rId3" imgW="1130040" imgH="2286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9" y="1951"/>
                          <a:ext cx="1681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55" name="Rectangle 3"/>
            <p:cNvSpPr>
              <a:spLocks noChangeArrowheads="1"/>
            </p:cNvSpPr>
            <p:nvPr/>
          </p:nvSpPr>
          <p:spPr bwMode="auto">
            <a:xfrm>
              <a:off x="3360" y="1344"/>
              <a:ext cx="2208" cy="371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kumimoji="0" lang="zh-CN" altLang="en-US" sz="3200">
                  <a:solidFill>
                    <a:srgbClr val="000000"/>
                  </a:solidFill>
                </a:rPr>
                <a:t>插入介质片光程差</a:t>
              </a:r>
            </a:p>
          </p:txBody>
        </p:sp>
      </p:grpSp>
      <p:grpSp>
        <p:nvGrpSpPr>
          <p:cNvPr id="74812" name="Group 60"/>
          <p:cNvGrpSpPr>
            <a:grpSpLocks/>
          </p:cNvGrpSpPr>
          <p:nvPr/>
        </p:nvGrpSpPr>
        <p:grpSpPr bwMode="auto">
          <a:xfrm>
            <a:off x="5410200" y="3951288"/>
            <a:ext cx="3114675" cy="1446212"/>
            <a:chOff x="3408" y="2489"/>
            <a:chExt cx="1962" cy="911"/>
          </a:xfrm>
        </p:grpSpPr>
        <p:sp>
          <p:nvSpPr>
            <p:cNvPr id="74756" name="Rectangle 4"/>
            <p:cNvSpPr>
              <a:spLocks noChangeArrowheads="1"/>
            </p:cNvSpPr>
            <p:nvPr/>
          </p:nvSpPr>
          <p:spPr bwMode="auto">
            <a:xfrm>
              <a:off x="3408" y="2489"/>
              <a:ext cx="191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3200">
                  <a:solidFill>
                    <a:srgbClr val="000000"/>
                  </a:solidFill>
                </a:rPr>
                <a:t>光程差变化</a:t>
              </a:r>
            </a:p>
          </p:txBody>
        </p:sp>
        <p:graphicFrame>
          <p:nvGraphicFramePr>
            <p:cNvPr id="74757" name="Object 5"/>
            <p:cNvGraphicFramePr>
              <a:graphicFrameLocks noChangeAspect="1"/>
            </p:cNvGraphicFramePr>
            <p:nvPr/>
          </p:nvGraphicFramePr>
          <p:xfrm>
            <a:off x="3676" y="3011"/>
            <a:ext cx="1694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36" name="Equation" r:id="rId5" imgW="1054080" imgH="228600" progId="Equation.3">
                    <p:embed/>
                  </p:oleObj>
                </mc:Choice>
                <mc:Fallback>
                  <p:oleObj name="Equation" r:id="rId5" imgW="105408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6" y="3011"/>
                          <a:ext cx="1694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758" name="Group 6"/>
          <p:cNvGrpSpPr>
            <a:grpSpLocks/>
          </p:cNvGrpSpPr>
          <p:nvPr/>
        </p:nvGrpSpPr>
        <p:grpSpPr bwMode="auto">
          <a:xfrm>
            <a:off x="685800" y="1084263"/>
            <a:ext cx="4572000" cy="4051300"/>
            <a:chOff x="432" y="683"/>
            <a:chExt cx="2880" cy="2552"/>
          </a:xfrm>
        </p:grpSpPr>
        <p:grpSp>
          <p:nvGrpSpPr>
            <p:cNvPr id="74759" name="Group 7"/>
            <p:cNvGrpSpPr>
              <a:grpSpLocks/>
            </p:cNvGrpSpPr>
            <p:nvPr/>
          </p:nvGrpSpPr>
          <p:grpSpPr bwMode="auto">
            <a:xfrm>
              <a:off x="432" y="683"/>
              <a:ext cx="2880" cy="2552"/>
              <a:chOff x="432" y="683"/>
              <a:chExt cx="2880" cy="2552"/>
            </a:xfrm>
          </p:grpSpPr>
          <p:sp>
            <p:nvSpPr>
              <p:cNvPr id="74760" name="Rectangle 8"/>
              <p:cNvSpPr>
                <a:spLocks noChangeArrowheads="1"/>
              </p:cNvSpPr>
              <p:nvPr/>
            </p:nvSpPr>
            <p:spPr bwMode="auto">
              <a:xfrm>
                <a:off x="432" y="683"/>
                <a:ext cx="2880" cy="254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1" name="Rectangle 9"/>
              <p:cNvSpPr>
                <a:spLocks noChangeArrowheads="1"/>
              </p:cNvSpPr>
              <p:nvPr/>
            </p:nvSpPr>
            <p:spPr bwMode="auto">
              <a:xfrm>
                <a:off x="1283" y="1064"/>
                <a:ext cx="806" cy="134"/>
              </a:xfrm>
              <a:prstGeom prst="rect">
                <a:avLst/>
              </a:prstGeom>
              <a:solidFill>
                <a:srgbClr val="99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2" name="Freeform 10"/>
              <p:cNvSpPr>
                <a:spLocks/>
              </p:cNvSpPr>
              <p:nvPr/>
            </p:nvSpPr>
            <p:spPr bwMode="auto">
              <a:xfrm>
                <a:off x="1724" y="2213"/>
                <a:ext cx="1335" cy="93"/>
              </a:xfrm>
              <a:custGeom>
                <a:avLst/>
                <a:gdLst>
                  <a:gd name="T0" fmla="*/ 0 w 1686"/>
                  <a:gd name="T1" fmla="*/ 6 h 120"/>
                  <a:gd name="T2" fmla="*/ 618 w 1686"/>
                  <a:gd name="T3" fmla="*/ 0 h 120"/>
                  <a:gd name="T4" fmla="*/ 768 w 1686"/>
                  <a:gd name="T5" fmla="*/ 114 h 120"/>
                  <a:gd name="T6" fmla="*/ 1686 w 1686"/>
                  <a:gd name="T7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86" h="120">
                    <a:moveTo>
                      <a:pt x="0" y="6"/>
                    </a:moveTo>
                    <a:lnTo>
                      <a:pt x="618" y="0"/>
                    </a:lnTo>
                    <a:lnTo>
                      <a:pt x="768" y="114"/>
                    </a:lnTo>
                    <a:lnTo>
                      <a:pt x="1686" y="120"/>
                    </a:lnTo>
                  </a:path>
                </a:pathLst>
              </a:custGeom>
              <a:noFill/>
              <a:ln w="28575" cmpd="sng">
                <a:solidFill>
                  <a:srgbClr val="990099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3" name="Line 11"/>
              <p:cNvSpPr>
                <a:spLocks noChangeShapeType="1"/>
              </p:cNvSpPr>
              <p:nvPr/>
            </p:nvSpPr>
            <p:spPr bwMode="auto">
              <a:xfrm>
                <a:off x="1953" y="2217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4" name="Line 12"/>
              <p:cNvSpPr>
                <a:spLocks noChangeShapeType="1"/>
              </p:cNvSpPr>
              <p:nvPr/>
            </p:nvSpPr>
            <p:spPr bwMode="auto">
              <a:xfrm>
                <a:off x="2900" y="2306"/>
                <a:ext cx="92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5" name="Freeform 13"/>
              <p:cNvSpPr>
                <a:spLocks/>
              </p:cNvSpPr>
              <p:nvPr/>
            </p:nvSpPr>
            <p:spPr bwMode="auto">
              <a:xfrm>
                <a:off x="1623" y="1225"/>
                <a:ext cx="92" cy="1001"/>
              </a:xfrm>
              <a:custGeom>
                <a:avLst/>
                <a:gdLst>
                  <a:gd name="T0" fmla="*/ 116 w 116"/>
                  <a:gd name="T1" fmla="*/ 1294 h 1294"/>
                  <a:gd name="T2" fmla="*/ 0 w 116"/>
                  <a:gd name="T3" fmla="*/ 1122 h 1294"/>
                  <a:gd name="T4" fmla="*/ 0 w 116"/>
                  <a:gd name="T5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6" h="1294">
                    <a:moveTo>
                      <a:pt x="116" y="1294"/>
                    </a:moveTo>
                    <a:lnTo>
                      <a:pt x="0" y="1122"/>
                    </a:ln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DC83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6" name="Line 14"/>
              <p:cNvSpPr>
                <a:spLocks noChangeShapeType="1"/>
              </p:cNvSpPr>
              <p:nvPr/>
            </p:nvSpPr>
            <p:spPr bwMode="auto">
              <a:xfrm flipH="1" flipV="1">
                <a:off x="1619" y="1350"/>
                <a:ext cx="2" cy="125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7" name="Freeform 15"/>
              <p:cNvSpPr>
                <a:spLocks/>
              </p:cNvSpPr>
              <p:nvPr/>
            </p:nvSpPr>
            <p:spPr bwMode="auto">
              <a:xfrm>
                <a:off x="541" y="2165"/>
                <a:ext cx="1183" cy="59"/>
              </a:xfrm>
              <a:custGeom>
                <a:avLst/>
                <a:gdLst>
                  <a:gd name="T0" fmla="*/ 0 w 1340"/>
                  <a:gd name="T1" fmla="*/ 1 h 59"/>
                  <a:gd name="T2" fmla="*/ 1184 w 1340"/>
                  <a:gd name="T3" fmla="*/ 0 h 59"/>
                  <a:gd name="T4" fmla="*/ 1340 w 1340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40" h="59">
                    <a:moveTo>
                      <a:pt x="0" y="1"/>
                    </a:moveTo>
                    <a:lnTo>
                      <a:pt x="1184" y="0"/>
                    </a:lnTo>
                    <a:lnTo>
                      <a:pt x="1340" y="59"/>
                    </a:lnTo>
                  </a:path>
                </a:pathLst>
              </a:custGeom>
              <a:noFill/>
              <a:ln w="38100" cmpd="sng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8" name="Line 16"/>
              <p:cNvSpPr>
                <a:spLocks noChangeShapeType="1"/>
              </p:cNvSpPr>
              <p:nvPr/>
            </p:nvSpPr>
            <p:spPr bwMode="auto">
              <a:xfrm>
                <a:off x="949" y="2167"/>
                <a:ext cx="21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69" name="Line 17"/>
              <p:cNvSpPr>
                <a:spLocks noChangeShapeType="1"/>
              </p:cNvSpPr>
              <p:nvPr/>
            </p:nvSpPr>
            <p:spPr bwMode="auto">
              <a:xfrm flipV="1">
                <a:off x="1283" y="1213"/>
                <a:ext cx="813" cy="0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0" name="AutoShape 18"/>
              <p:cNvSpPr>
                <a:spLocks noChangeArrowheads="1"/>
              </p:cNvSpPr>
              <p:nvPr/>
            </p:nvSpPr>
            <p:spPr bwMode="auto">
              <a:xfrm>
                <a:off x="503" y="1848"/>
                <a:ext cx="203" cy="501"/>
              </a:xfrm>
              <a:prstGeom prst="roundRect">
                <a:avLst>
                  <a:gd name="adj" fmla="val 49995"/>
                </a:avLst>
              </a:prstGeom>
              <a:gradFill rotWithShape="0">
                <a:gsLst>
                  <a:gs pos="0">
                    <a:srgbClr val="FFFF66">
                      <a:gamma/>
                      <a:shade val="69804"/>
                      <a:invGamma/>
                    </a:srgbClr>
                  </a:gs>
                  <a:gs pos="50000">
                    <a:srgbClr val="FFFF66"/>
                  </a:gs>
                  <a:gs pos="100000">
                    <a:srgbClr val="FFFF66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1" name="Rectangle 19"/>
              <p:cNvSpPr>
                <a:spLocks noChangeArrowheads="1"/>
              </p:cNvSpPr>
              <p:nvPr/>
            </p:nvSpPr>
            <p:spPr bwMode="auto">
              <a:xfrm>
                <a:off x="536" y="2333"/>
                <a:ext cx="137" cy="86"/>
              </a:xfrm>
              <a:prstGeom prst="rect">
                <a:avLst/>
              </a:prstGeom>
              <a:gradFill rotWithShape="0">
                <a:gsLst>
                  <a:gs pos="0">
                    <a:srgbClr val="FFFF66">
                      <a:gamma/>
                      <a:shade val="69804"/>
                      <a:invGamma/>
                    </a:srgbClr>
                  </a:gs>
                  <a:gs pos="50000">
                    <a:srgbClr val="FFFF66"/>
                  </a:gs>
                  <a:gs pos="100000">
                    <a:srgbClr val="FFFF66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2" name="Oval 20"/>
              <p:cNvSpPr>
                <a:spLocks noChangeArrowheads="1"/>
              </p:cNvSpPr>
              <p:nvPr/>
            </p:nvSpPr>
            <p:spPr bwMode="auto">
              <a:xfrm>
                <a:off x="536" y="2386"/>
                <a:ext cx="137" cy="99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3" name="Freeform 21"/>
              <p:cNvSpPr>
                <a:spLocks/>
              </p:cNvSpPr>
              <p:nvPr/>
            </p:nvSpPr>
            <p:spPr bwMode="auto">
              <a:xfrm>
                <a:off x="589" y="1934"/>
                <a:ext cx="46" cy="410"/>
              </a:xfrm>
              <a:custGeom>
                <a:avLst/>
                <a:gdLst>
                  <a:gd name="T0" fmla="*/ 0 w 51"/>
                  <a:gd name="T1" fmla="*/ 455 h 472"/>
                  <a:gd name="T2" fmla="*/ 0 w 51"/>
                  <a:gd name="T3" fmla="*/ 0 h 472"/>
                  <a:gd name="T4" fmla="*/ 16 w 51"/>
                  <a:gd name="T5" fmla="*/ 106 h 472"/>
                  <a:gd name="T6" fmla="*/ 16 w 51"/>
                  <a:gd name="T7" fmla="*/ 0 h 472"/>
                  <a:gd name="T8" fmla="*/ 33 w 51"/>
                  <a:gd name="T9" fmla="*/ 106 h 472"/>
                  <a:gd name="T10" fmla="*/ 33 w 51"/>
                  <a:gd name="T11" fmla="*/ 0 h 472"/>
                  <a:gd name="T12" fmla="*/ 50 w 51"/>
                  <a:gd name="T13" fmla="*/ 106 h 472"/>
                  <a:gd name="T14" fmla="*/ 50 w 51"/>
                  <a:gd name="T15" fmla="*/ 471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72">
                    <a:moveTo>
                      <a:pt x="0" y="455"/>
                    </a:moveTo>
                    <a:lnTo>
                      <a:pt x="0" y="0"/>
                    </a:lnTo>
                    <a:lnTo>
                      <a:pt x="16" y="106"/>
                    </a:lnTo>
                    <a:lnTo>
                      <a:pt x="16" y="0"/>
                    </a:lnTo>
                    <a:lnTo>
                      <a:pt x="33" y="106"/>
                    </a:lnTo>
                    <a:lnTo>
                      <a:pt x="33" y="0"/>
                    </a:lnTo>
                    <a:lnTo>
                      <a:pt x="50" y="106"/>
                    </a:lnTo>
                    <a:lnTo>
                      <a:pt x="50" y="471"/>
                    </a:lnTo>
                  </a:path>
                </a:pathLst>
              </a:custGeom>
              <a:gradFill rotWithShape="0">
                <a:gsLst>
                  <a:gs pos="0">
                    <a:srgbClr val="FFFF66">
                      <a:gamma/>
                      <a:shade val="69804"/>
                      <a:invGamma/>
                    </a:srgbClr>
                  </a:gs>
                  <a:gs pos="50000">
                    <a:srgbClr val="FFFF66"/>
                  </a:gs>
                  <a:gs pos="100000">
                    <a:srgbClr val="FFFF66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1270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774" name="Line 22"/>
              <p:cNvSpPr>
                <a:spLocks noChangeShapeType="1"/>
              </p:cNvSpPr>
              <p:nvPr/>
            </p:nvSpPr>
            <p:spPr bwMode="auto">
              <a:xfrm flipV="1">
                <a:off x="532" y="2343"/>
                <a:ext cx="145" cy="13"/>
              </a:xfrm>
              <a:prstGeom prst="line">
                <a:avLst/>
              </a:prstGeom>
              <a:noFill/>
              <a:ln w="25400">
                <a:solidFill>
                  <a:srgbClr val="FFCC66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5" name="Line 23"/>
              <p:cNvSpPr>
                <a:spLocks noChangeShapeType="1"/>
              </p:cNvSpPr>
              <p:nvPr/>
            </p:nvSpPr>
            <p:spPr bwMode="auto">
              <a:xfrm flipV="1">
                <a:off x="532" y="2369"/>
                <a:ext cx="145" cy="13"/>
              </a:xfrm>
              <a:prstGeom prst="line">
                <a:avLst/>
              </a:prstGeom>
              <a:noFill/>
              <a:ln w="25400">
                <a:solidFill>
                  <a:srgbClr val="FFCC66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6" name="Line 24"/>
              <p:cNvSpPr>
                <a:spLocks noChangeShapeType="1"/>
              </p:cNvSpPr>
              <p:nvPr/>
            </p:nvSpPr>
            <p:spPr bwMode="auto">
              <a:xfrm flipV="1">
                <a:off x="532" y="2395"/>
                <a:ext cx="145" cy="14"/>
              </a:xfrm>
              <a:prstGeom prst="line">
                <a:avLst/>
              </a:prstGeom>
              <a:noFill/>
              <a:ln w="25400">
                <a:solidFill>
                  <a:srgbClr val="FFCC66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7" name="Line 25"/>
              <p:cNvSpPr>
                <a:spLocks noChangeShapeType="1"/>
              </p:cNvSpPr>
              <p:nvPr/>
            </p:nvSpPr>
            <p:spPr bwMode="auto">
              <a:xfrm flipV="1">
                <a:off x="532" y="2422"/>
                <a:ext cx="145" cy="13"/>
              </a:xfrm>
              <a:prstGeom prst="line">
                <a:avLst/>
              </a:prstGeom>
              <a:noFill/>
              <a:ln w="25400">
                <a:solidFill>
                  <a:srgbClr val="FFCC66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8" name="Rectangle 26"/>
              <p:cNvSpPr>
                <a:spLocks noChangeArrowheads="1"/>
              </p:cNvSpPr>
              <p:nvPr/>
            </p:nvSpPr>
            <p:spPr bwMode="auto">
              <a:xfrm>
                <a:off x="580" y="2249"/>
                <a:ext cx="61" cy="85"/>
              </a:xfrm>
              <a:prstGeom prst="rect">
                <a:avLst/>
              </a:prstGeom>
              <a:gradFill rotWithShape="0">
                <a:gsLst>
                  <a:gs pos="0">
                    <a:srgbClr val="FFFF66">
                      <a:gamma/>
                      <a:shade val="69804"/>
                      <a:invGamma/>
                    </a:srgbClr>
                  </a:gs>
                  <a:gs pos="50000">
                    <a:srgbClr val="FFFF66"/>
                  </a:gs>
                  <a:gs pos="100000">
                    <a:srgbClr val="FFFF66">
                      <a:gamma/>
                      <a:shade val="69804"/>
                      <a:invGamma/>
                    </a:srgb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79" name="Freeform 27"/>
              <p:cNvSpPr>
                <a:spLocks/>
              </p:cNvSpPr>
              <p:nvPr/>
            </p:nvSpPr>
            <p:spPr bwMode="auto">
              <a:xfrm>
                <a:off x="1827" y="2121"/>
                <a:ext cx="1218" cy="1012"/>
              </a:xfrm>
              <a:custGeom>
                <a:avLst/>
                <a:gdLst>
                  <a:gd name="T0" fmla="*/ 1536 w 1536"/>
                  <a:gd name="T1" fmla="*/ 138 h 1308"/>
                  <a:gd name="T2" fmla="*/ 738 w 1536"/>
                  <a:gd name="T3" fmla="*/ 132 h 1308"/>
                  <a:gd name="T4" fmla="*/ 582 w 1536"/>
                  <a:gd name="T5" fmla="*/ 12 h 1308"/>
                  <a:gd name="T6" fmla="*/ 0 w 1536"/>
                  <a:gd name="T7" fmla="*/ 0 h 1308"/>
                  <a:gd name="T8" fmla="*/ 0 w 1536"/>
                  <a:gd name="T9" fmla="*/ 1290 h 1308"/>
                  <a:gd name="T10" fmla="*/ 12 w 1536"/>
                  <a:gd name="T11" fmla="*/ 1308 h 1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36" h="1308">
                    <a:moveTo>
                      <a:pt x="1536" y="138"/>
                    </a:moveTo>
                    <a:lnTo>
                      <a:pt x="738" y="132"/>
                    </a:lnTo>
                    <a:lnTo>
                      <a:pt x="582" y="12"/>
                    </a:lnTo>
                    <a:lnTo>
                      <a:pt x="0" y="0"/>
                    </a:lnTo>
                    <a:lnTo>
                      <a:pt x="0" y="1290"/>
                    </a:lnTo>
                    <a:lnTo>
                      <a:pt x="12" y="1308"/>
                    </a:lnTo>
                  </a:path>
                </a:pathLst>
              </a:custGeom>
              <a:noFill/>
              <a:ln w="28575" cmpd="sng">
                <a:solidFill>
                  <a:srgbClr val="990099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0" name="Line 28"/>
              <p:cNvSpPr>
                <a:spLocks noChangeShapeType="1"/>
              </p:cNvSpPr>
              <p:nvPr/>
            </p:nvSpPr>
            <p:spPr bwMode="auto">
              <a:xfrm flipH="1">
                <a:off x="2816" y="2230"/>
                <a:ext cx="131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1" name="Line 29"/>
              <p:cNvSpPr>
                <a:spLocks noChangeShapeType="1"/>
              </p:cNvSpPr>
              <p:nvPr/>
            </p:nvSpPr>
            <p:spPr bwMode="auto">
              <a:xfrm flipH="1">
                <a:off x="2039" y="2130"/>
                <a:ext cx="86" cy="0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2" name="Line 30"/>
              <p:cNvSpPr>
                <a:spLocks noChangeShapeType="1"/>
              </p:cNvSpPr>
              <p:nvPr/>
            </p:nvSpPr>
            <p:spPr bwMode="auto">
              <a:xfrm>
                <a:off x="1829" y="3079"/>
                <a:ext cx="0" cy="156"/>
              </a:xfrm>
              <a:prstGeom prst="line">
                <a:avLst/>
              </a:prstGeom>
              <a:noFill/>
              <a:ln w="38100">
                <a:solidFill>
                  <a:srgbClr val="99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74783" name="Freeform 31"/>
              <p:cNvSpPr>
                <a:spLocks/>
              </p:cNvSpPr>
              <p:nvPr/>
            </p:nvSpPr>
            <p:spPr bwMode="auto">
              <a:xfrm>
                <a:off x="1681" y="1215"/>
                <a:ext cx="70" cy="1957"/>
              </a:xfrm>
              <a:custGeom>
                <a:avLst/>
                <a:gdLst>
                  <a:gd name="T0" fmla="*/ 0 w 90"/>
                  <a:gd name="T1" fmla="*/ 0 h 2532"/>
                  <a:gd name="T2" fmla="*/ 0 w 90"/>
                  <a:gd name="T3" fmla="*/ 1062 h 2532"/>
                  <a:gd name="T4" fmla="*/ 90 w 90"/>
                  <a:gd name="T5" fmla="*/ 1236 h 2532"/>
                  <a:gd name="T6" fmla="*/ 90 w 90"/>
                  <a:gd name="T7" fmla="*/ 2532 h 2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0" h="2532">
                    <a:moveTo>
                      <a:pt x="0" y="0"/>
                    </a:moveTo>
                    <a:lnTo>
                      <a:pt x="0" y="1062"/>
                    </a:lnTo>
                    <a:lnTo>
                      <a:pt x="90" y="1236"/>
                    </a:lnTo>
                    <a:lnTo>
                      <a:pt x="90" y="2532"/>
                    </a:lnTo>
                  </a:path>
                </a:pathLst>
              </a:custGeom>
              <a:noFill/>
              <a:ln w="28575" cmpd="sng">
                <a:solidFill>
                  <a:srgbClr val="DC8300"/>
                </a:solidFill>
                <a:round/>
                <a:headEnd type="none" w="med" len="med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4" name="Line 32"/>
              <p:cNvSpPr>
                <a:spLocks noChangeShapeType="1"/>
              </p:cNvSpPr>
              <p:nvPr/>
            </p:nvSpPr>
            <p:spPr bwMode="auto">
              <a:xfrm>
                <a:off x="1682" y="1452"/>
                <a:ext cx="0" cy="63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5" name="Line 33"/>
              <p:cNvSpPr>
                <a:spLocks noChangeShapeType="1"/>
              </p:cNvSpPr>
              <p:nvPr/>
            </p:nvSpPr>
            <p:spPr bwMode="auto">
              <a:xfrm>
                <a:off x="1753" y="3101"/>
                <a:ext cx="0" cy="120"/>
              </a:xfrm>
              <a:prstGeom prst="line">
                <a:avLst/>
              </a:prstGeom>
              <a:noFill/>
              <a:ln w="38100">
                <a:solidFill>
                  <a:srgbClr val="DC83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74786" name="Object 34"/>
              <p:cNvGraphicFramePr>
                <a:graphicFrameLocks noChangeAspect="1"/>
              </p:cNvGraphicFramePr>
              <p:nvPr/>
            </p:nvGraphicFramePr>
            <p:xfrm>
              <a:off x="1087" y="2416"/>
              <a:ext cx="338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37" name="Equation" r:id="rId7" imgW="203040" imgH="215640" progId="Equation.3">
                      <p:embed/>
                    </p:oleObj>
                  </mc:Choice>
                  <mc:Fallback>
                    <p:oleObj name="Equation" r:id="rId7" imgW="203040" imgH="215640" progId="Equation.3">
                      <p:embed/>
                      <p:pic>
                        <p:nvPicPr>
                          <p:cNvPr id="0" name="Object 34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7" y="2416"/>
                            <a:ext cx="338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87" name="Object 35"/>
              <p:cNvGraphicFramePr>
                <a:graphicFrameLocks noChangeAspect="1"/>
              </p:cNvGraphicFramePr>
              <p:nvPr/>
            </p:nvGraphicFramePr>
            <p:xfrm>
              <a:off x="2146" y="2416"/>
              <a:ext cx="341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38" name="Equation" r:id="rId9" imgW="215640" imgH="215640" progId="Equation.3">
                      <p:embed/>
                    </p:oleObj>
                  </mc:Choice>
                  <mc:Fallback>
                    <p:oleObj name="Equation" r:id="rId9" imgW="215640" imgH="215640" progId="Equation.3">
                      <p:embed/>
                      <p:pic>
                        <p:nvPicPr>
                          <p:cNvPr id="0" name="Object 3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46" y="2416"/>
                            <a:ext cx="341" cy="3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4788" name="Rectangle 36"/>
              <p:cNvSpPr>
                <a:spLocks noChangeArrowheads="1"/>
              </p:cNvSpPr>
              <p:nvPr/>
            </p:nvSpPr>
            <p:spPr bwMode="auto">
              <a:xfrm rot="18900000">
                <a:off x="1939" y="2132"/>
                <a:ext cx="759" cy="149"/>
              </a:xfrm>
              <a:prstGeom prst="rect">
                <a:avLst/>
              </a:prstGeom>
              <a:solidFill>
                <a:srgbClr val="00FFCC">
                  <a:alpha val="50000"/>
                </a:srgb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89" name="Rectangle 37"/>
              <p:cNvSpPr>
                <a:spLocks noChangeArrowheads="1"/>
              </p:cNvSpPr>
              <p:nvPr/>
            </p:nvSpPr>
            <p:spPr bwMode="auto">
              <a:xfrm>
                <a:off x="3020" y="1882"/>
                <a:ext cx="127" cy="623"/>
              </a:xfrm>
              <a:prstGeom prst="rect">
                <a:avLst/>
              </a:prstGeom>
              <a:solidFill>
                <a:srgbClr val="99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90" name="Line 38"/>
              <p:cNvSpPr>
                <a:spLocks noChangeShapeType="1"/>
              </p:cNvSpPr>
              <p:nvPr/>
            </p:nvSpPr>
            <p:spPr bwMode="auto">
              <a:xfrm>
                <a:off x="3020" y="1882"/>
                <a:ext cx="0" cy="625"/>
              </a:xfrm>
              <a:prstGeom prst="line">
                <a:avLst/>
              </a:prstGeom>
              <a:noFill/>
              <a:ln w="50800">
                <a:solidFill>
                  <a:schemeClr val="tx2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91" name="Rectangle 39"/>
              <p:cNvSpPr>
                <a:spLocks noChangeArrowheads="1"/>
              </p:cNvSpPr>
              <p:nvPr/>
            </p:nvSpPr>
            <p:spPr bwMode="auto">
              <a:xfrm>
                <a:off x="1282" y="811"/>
                <a:ext cx="796" cy="150"/>
              </a:xfrm>
              <a:prstGeom prst="rect">
                <a:avLst/>
              </a:prstGeom>
              <a:solidFill>
                <a:srgbClr val="00FFFF">
                  <a:alpha val="50000"/>
                </a:srgbClr>
              </a:solidFill>
              <a:ln w="28575">
                <a:solidFill>
                  <a:schemeClr val="tx2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92" name="Line 40"/>
              <p:cNvSpPr>
                <a:spLocks noChangeShapeType="1"/>
              </p:cNvSpPr>
              <p:nvPr/>
            </p:nvSpPr>
            <p:spPr bwMode="auto">
              <a:xfrm>
                <a:off x="2108" y="960"/>
                <a:ext cx="76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93" name="Line 41"/>
              <p:cNvSpPr>
                <a:spLocks noChangeShapeType="1"/>
              </p:cNvSpPr>
              <p:nvPr/>
            </p:nvSpPr>
            <p:spPr bwMode="auto">
              <a:xfrm>
                <a:off x="2108" y="1210"/>
                <a:ext cx="760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794" name="Line 42"/>
              <p:cNvSpPr>
                <a:spLocks noChangeShapeType="1"/>
              </p:cNvSpPr>
              <p:nvPr/>
            </p:nvSpPr>
            <p:spPr bwMode="auto">
              <a:xfrm>
                <a:off x="2716" y="960"/>
                <a:ext cx="0" cy="261"/>
              </a:xfrm>
              <a:prstGeom prst="line">
                <a:avLst/>
              </a:prstGeom>
              <a:noFill/>
              <a:ln w="19050">
                <a:solidFill>
                  <a:srgbClr val="FF0066"/>
                </a:solidFill>
                <a:round/>
                <a:headEnd type="triangl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74795" name="Object 43"/>
              <p:cNvGraphicFramePr>
                <a:graphicFrameLocks noChangeAspect="1"/>
              </p:cNvGraphicFramePr>
              <p:nvPr/>
            </p:nvGraphicFramePr>
            <p:xfrm>
              <a:off x="2726" y="948"/>
              <a:ext cx="180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39" name="Equation" r:id="rId11" imgW="190440" imgH="253800" progId="Equation.3">
                      <p:embed/>
                    </p:oleObj>
                  </mc:Choice>
                  <mc:Fallback>
                    <p:oleObj name="Equation" r:id="rId11" imgW="190440" imgH="25380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26" y="948"/>
                            <a:ext cx="180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96" name="Object 44"/>
              <p:cNvGraphicFramePr>
                <a:graphicFrameLocks noChangeAspect="1"/>
              </p:cNvGraphicFramePr>
              <p:nvPr/>
            </p:nvGraphicFramePr>
            <p:xfrm>
              <a:off x="2931" y="1547"/>
              <a:ext cx="330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40" name="Equation" r:id="rId13" imgW="419040" imgH="368280" progId="Equation.3">
                      <p:embed/>
                    </p:oleObj>
                  </mc:Choice>
                  <mc:Fallback>
                    <p:oleObj name="Equation" r:id="rId13" imgW="419040" imgH="36828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1" y="1547"/>
                            <a:ext cx="330" cy="3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97" name="Object 45"/>
              <p:cNvGraphicFramePr>
                <a:graphicFrameLocks noChangeAspect="1"/>
              </p:cNvGraphicFramePr>
              <p:nvPr/>
            </p:nvGraphicFramePr>
            <p:xfrm>
              <a:off x="908" y="1067"/>
              <a:ext cx="310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41" name="Equation" r:id="rId15" imgW="393480" imgH="368280" progId="Equation.3">
                      <p:embed/>
                    </p:oleObj>
                  </mc:Choice>
                  <mc:Fallback>
                    <p:oleObj name="Equation" r:id="rId15" imgW="393480" imgH="368280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8" y="1067"/>
                            <a:ext cx="310" cy="3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798" name="Object 46"/>
              <p:cNvGraphicFramePr>
                <a:graphicFrameLocks noChangeAspect="1"/>
              </p:cNvGraphicFramePr>
              <p:nvPr/>
            </p:nvGraphicFramePr>
            <p:xfrm>
              <a:off x="883" y="731"/>
              <a:ext cx="35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842" name="Equation" r:id="rId17" imgW="457200" imgH="368280" progId="Equation.3">
                      <p:embed/>
                    </p:oleObj>
                  </mc:Choice>
                  <mc:Fallback>
                    <p:oleObj name="Equation" r:id="rId17" imgW="457200" imgH="36828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3" y="731"/>
                            <a:ext cx="354" cy="3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4799" name="Rectangle 47"/>
            <p:cNvSpPr>
              <a:spLocks noChangeArrowheads="1"/>
            </p:cNvSpPr>
            <p:nvPr/>
          </p:nvSpPr>
          <p:spPr bwMode="auto">
            <a:xfrm rot="18900000">
              <a:off x="1248" y="2075"/>
              <a:ext cx="889" cy="169"/>
            </a:xfrm>
            <a:prstGeom prst="rect">
              <a:avLst/>
            </a:prstGeom>
            <a:solidFill>
              <a:srgbClr val="00FFCC">
                <a:alpha val="5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800" name="Line 48"/>
            <p:cNvSpPr>
              <a:spLocks noChangeShapeType="1"/>
            </p:cNvSpPr>
            <p:nvPr/>
          </p:nvSpPr>
          <p:spPr bwMode="auto">
            <a:xfrm flipV="1">
              <a:off x="1441" y="1920"/>
              <a:ext cx="623" cy="624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4801" name="Group 49"/>
          <p:cNvGrpSpPr>
            <a:grpSpLocks/>
          </p:cNvGrpSpPr>
          <p:nvPr/>
        </p:nvGrpSpPr>
        <p:grpSpPr bwMode="auto">
          <a:xfrm>
            <a:off x="3913188" y="2806700"/>
            <a:ext cx="806450" cy="2200275"/>
            <a:chOff x="2400" y="1488"/>
            <a:chExt cx="576" cy="1386"/>
          </a:xfrm>
        </p:grpSpPr>
        <p:sp>
          <p:nvSpPr>
            <p:cNvPr id="74802" name="Rectangle 50"/>
            <p:cNvSpPr>
              <a:spLocks noChangeArrowheads="1"/>
            </p:cNvSpPr>
            <p:nvPr/>
          </p:nvSpPr>
          <p:spPr bwMode="auto">
            <a:xfrm>
              <a:off x="2640" y="1728"/>
              <a:ext cx="96" cy="52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803" name="Line 51"/>
            <p:cNvSpPr>
              <a:spLocks noChangeShapeType="1"/>
            </p:cNvSpPr>
            <p:nvPr/>
          </p:nvSpPr>
          <p:spPr bwMode="auto">
            <a:xfrm>
              <a:off x="2640" y="2208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804" name="Line 52"/>
            <p:cNvSpPr>
              <a:spLocks noChangeShapeType="1"/>
            </p:cNvSpPr>
            <p:nvPr/>
          </p:nvSpPr>
          <p:spPr bwMode="auto">
            <a:xfrm>
              <a:off x="2735" y="2208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805" name="Line 53"/>
            <p:cNvSpPr>
              <a:spLocks noChangeShapeType="1"/>
            </p:cNvSpPr>
            <p:nvPr/>
          </p:nvSpPr>
          <p:spPr bwMode="auto">
            <a:xfrm>
              <a:off x="2400" y="2592"/>
              <a:ext cx="24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806" name="Line 54"/>
            <p:cNvSpPr>
              <a:spLocks noChangeShapeType="1"/>
            </p:cNvSpPr>
            <p:nvPr/>
          </p:nvSpPr>
          <p:spPr bwMode="auto">
            <a:xfrm>
              <a:off x="2735" y="2592"/>
              <a:ext cx="240" cy="0"/>
            </a:xfrm>
            <a:prstGeom prst="line">
              <a:avLst/>
            </a:prstGeom>
            <a:noFill/>
            <a:ln w="19050">
              <a:solidFill>
                <a:srgbClr val="FF0066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4807" name="Object 55"/>
            <p:cNvGraphicFramePr>
              <a:graphicFrameLocks noChangeAspect="1"/>
            </p:cNvGraphicFramePr>
            <p:nvPr/>
          </p:nvGraphicFramePr>
          <p:xfrm>
            <a:off x="2783" y="2592"/>
            <a:ext cx="19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43" name="公式" r:id="rId19" imgW="114120" imgH="215640" progId="Equation.3">
                    <p:embed/>
                  </p:oleObj>
                </mc:Choice>
                <mc:Fallback>
                  <p:oleObj name="公式" r:id="rId19" imgW="114120" imgH="215640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3" y="2592"/>
                          <a:ext cx="193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808" name="Object 56"/>
            <p:cNvGraphicFramePr>
              <a:graphicFrameLocks noChangeAspect="1"/>
            </p:cNvGraphicFramePr>
            <p:nvPr/>
          </p:nvGraphicFramePr>
          <p:xfrm>
            <a:off x="2642" y="1488"/>
            <a:ext cx="20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844" name="Equation" r:id="rId21" imgW="177480" imgH="190440" progId="Equation.3">
                    <p:embed/>
                  </p:oleObj>
                </mc:Choice>
                <mc:Fallback>
                  <p:oleObj name="Equation" r:id="rId21" imgW="177480" imgH="190440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2" y="1488"/>
                          <a:ext cx="20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809" name="Text Box 57"/>
          <p:cNvSpPr txBox="1">
            <a:spLocks noChangeArrowheads="1"/>
          </p:cNvSpPr>
          <p:nvPr/>
        </p:nvSpPr>
        <p:spPr bwMode="auto">
          <a:xfrm>
            <a:off x="5257800" y="1325563"/>
            <a:ext cx="1600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3200">
                <a:solidFill>
                  <a:srgbClr val="000000"/>
                </a:solidFill>
              </a:rPr>
              <a:t>光程差</a:t>
            </a:r>
          </a:p>
        </p:txBody>
      </p:sp>
      <p:graphicFrame>
        <p:nvGraphicFramePr>
          <p:cNvPr id="74810" name="Object 58"/>
          <p:cNvGraphicFramePr>
            <a:graphicFrameLocks noChangeAspect="1"/>
          </p:cNvGraphicFramePr>
          <p:nvPr/>
        </p:nvGraphicFramePr>
        <p:xfrm>
          <a:off x="6926263" y="1406525"/>
          <a:ext cx="13208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45" name="Equation" r:id="rId23" imgW="469800" imgH="177480" progId="Equation.3">
                  <p:embed/>
                </p:oleObj>
              </mc:Choice>
              <mc:Fallback>
                <p:oleObj name="Equation" r:id="rId23" imgW="469800" imgH="17748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263" y="1406525"/>
                        <a:ext cx="13208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CCFFFF"/>
                                </a:gs>
                                <a:gs pos="10000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4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750</Words>
  <Application>Microsoft Office PowerPoint</Application>
  <PresentationFormat>全屏显示(4:3)</PresentationFormat>
  <Paragraphs>142</Paragraphs>
  <Slides>27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波动光学17-2</dc:title>
  <dc:subject>物理</dc:subject>
  <dc:creator>gxg</dc:creator>
  <cp:lastModifiedBy>Microsoft</cp:lastModifiedBy>
  <cp:revision>172</cp:revision>
  <dcterms:created xsi:type="dcterms:W3CDTF">2000-09-24T09:32:06Z</dcterms:created>
  <dcterms:modified xsi:type="dcterms:W3CDTF">2019-11-22T05:06:49Z</dcterms:modified>
</cp:coreProperties>
</file>