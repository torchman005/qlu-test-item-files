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8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9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10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2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13.xml" ContentType="application/vnd.openxmlformats-officedocument.theme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14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5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16.xml" ContentType="application/vnd.openxmlformats-officedocument.theme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49" r:id="rId2"/>
    <p:sldMasterId id="2147483694" r:id="rId3"/>
    <p:sldMasterId id="2147483695" r:id="rId4"/>
    <p:sldMasterId id="2147483696" r:id="rId5"/>
    <p:sldMasterId id="2147483697" r:id="rId6"/>
    <p:sldMasterId id="2147483698" r:id="rId7"/>
    <p:sldMasterId id="2147483699" r:id="rId8"/>
    <p:sldMasterId id="2147483700" r:id="rId9"/>
    <p:sldMasterId id="2147483701" r:id="rId10"/>
    <p:sldMasterId id="2147483702" r:id="rId11"/>
    <p:sldMasterId id="2147483703" r:id="rId12"/>
    <p:sldMasterId id="2147483704" r:id="rId13"/>
    <p:sldMasterId id="2147483705" r:id="rId14"/>
    <p:sldMasterId id="2147484013" r:id="rId15"/>
    <p:sldMasterId id="2147484049" r:id="rId16"/>
    <p:sldMasterId id="2147484061" r:id="rId17"/>
  </p:sldMasterIdLst>
  <p:notesMasterIdLst>
    <p:notesMasterId r:id="rId39"/>
  </p:notesMasterIdLst>
  <p:sldIdLst>
    <p:sldId id="311" r:id="rId18"/>
    <p:sldId id="341" r:id="rId19"/>
    <p:sldId id="278" r:id="rId20"/>
    <p:sldId id="260" r:id="rId21"/>
    <p:sldId id="261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1" r:id="rId30"/>
    <p:sldId id="331" r:id="rId31"/>
    <p:sldId id="332" r:id="rId32"/>
    <p:sldId id="333" r:id="rId33"/>
    <p:sldId id="334" r:id="rId34"/>
    <p:sldId id="338" r:id="rId35"/>
    <p:sldId id="336" r:id="rId36"/>
    <p:sldId id="340" r:id="rId37"/>
    <p:sldId id="337" r:id="rId38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CC"/>
    <a:srgbClr val="009900"/>
    <a:srgbClr val="C0C0C0"/>
    <a:srgbClr val="000000"/>
    <a:srgbClr val="990000"/>
    <a:srgbClr val="FF66FF"/>
    <a:srgbClr val="FF0000"/>
    <a:srgbClr val="00006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49" autoAdjust="0"/>
    <p:restoredTop sz="93178" autoAdjust="0"/>
  </p:normalViewPr>
  <p:slideViewPr>
    <p:cSldViewPr snapToGrid="0">
      <p:cViewPr varScale="1">
        <p:scale>
          <a:sx n="122" d="100"/>
          <a:sy n="122" d="100"/>
        </p:scale>
        <p:origin x="96" y="15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wmf"/><Relationship Id="rId4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66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12" Type="http://schemas.openxmlformats.org/officeDocument/2006/relationships/image" Target="../media/image65.wmf"/><Relationship Id="rId2" Type="http://schemas.openxmlformats.org/officeDocument/2006/relationships/image" Target="../media/image55.wmf"/><Relationship Id="rId16" Type="http://schemas.openxmlformats.org/officeDocument/2006/relationships/image" Target="../media/image69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11" Type="http://schemas.openxmlformats.org/officeDocument/2006/relationships/image" Target="../media/image64.wmf"/><Relationship Id="rId5" Type="http://schemas.openxmlformats.org/officeDocument/2006/relationships/image" Target="../media/image58.wmf"/><Relationship Id="rId15" Type="http://schemas.openxmlformats.org/officeDocument/2006/relationships/image" Target="../media/image68.w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Relationship Id="rId14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image" Target="../media/image66.wmf"/><Relationship Id="rId3" Type="http://schemas.openxmlformats.org/officeDocument/2006/relationships/image" Target="../media/image72.wmf"/><Relationship Id="rId7" Type="http://schemas.openxmlformats.org/officeDocument/2006/relationships/image" Target="../media/image58.wmf"/><Relationship Id="rId12" Type="http://schemas.openxmlformats.org/officeDocument/2006/relationships/image" Target="../media/image75.wmf"/><Relationship Id="rId2" Type="http://schemas.openxmlformats.org/officeDocument/2006/relationships/image" Target="../media/image71.wmf"/><Relationship Id="rId16" Type="http://schemas.openxmlformats.org/officeDocument/2006/relationships/image" Target="../media/image69.wmf"/><Relationship Id="rId1" Type="http://schemas.openxmlformats.org/officeDocument/2006/relationships/image" Target="../media/image70.wmf"/><Relationship Id="rId6" Type="http://schemas.openxmlformats.org/officeDocument/2006/relationships/image" Target="../media/image57.wmf"/><Relationship Id="rId11" Type="http://schemas.openxmlformats.org/officeDocument/2006/relationships/image" Target="../media/image74.wmf"/><Relationship Id="rId5" Type="http://schemas.openxmlformats.org/officeDocument/2006/relationships/image" Target="../media/image55.wmf"/><Relationship Id="rId15" Type="http://schemas.openxmlformats.org/officeDocument/2006/relationships/image" Target="../media/image68.wmf"/><Relationship Id="rId10" Type="http://schemas.openxmlformats.org/officeDocument/2006/relationships/image" Target="../media/image73.wmf"/><Relationship Id="rId4" Type="http://schemas.openxmlformats.org/officeDocument/2006/relationships/image" Target="../media/image54.wmf"/><Relationship Id="rId9" Type="http://schemas.openxmlformats.org/officeDocument/2006/relationships/image" Target="../media/image60.wmf"/><Relationship Id="rId14" Type="http://schemas.openxmlformats.org/officeDocument/2006/relationships/image" Target="../media/image6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81.wmf"/><Relationship Id="rId3" Type="http://schemas.openxmlformats.org/officeDocument/2006/relationships/image" Target="../media/image78.wmf"/><Relationship Id="rId7" Type="http://schemas.openxmlformats.org/officeDocument/2006/relationships/image" Target="../media/image56.wmf"/><Relationship Id="rId12" Type="http://schemas.openxmlformats.org/officeDocument/2006/relationships/image" Target="../media/image80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5" Type="http://schemas.openxmlformats.org/officeDocument/2006/relationships/image" Target="../media/image54.wmf"/><Relationship Id="rId15" Type="http://schemas.openxmlformats.org/officeDocument/2006/relationships/image" Target="../media/image83.wmf"/><Relationship Id="rId10" Type="http://schemas.openxmlformats.org/officeDocument/2006/relationships/image" Target="../media/image59.wmf"/><Relationship Id="rId4" Type="http://schemas.openxmlformats.org/officeDocument/2006/relationships/image" Target="../media/image79.wmf"/><Relationship Id="rId9" Type="http://schemas.openxmlformats.org/officeDocument/2006/relationships/image" Target="../media/image58.wmf"/><Relationship Id="rId14" Type="http://schemas.openxmlformats.org/officeDocument/2006/relationships/image" Target="../media/image8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60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12" Type="http://schemas.openxmlformats.org/officeDocument/2006/relationships/image" Target="../media/image59.wmf"/><Relationship Id="rId2" Type="http://schemas.openxmlformats.org/officeDocument/2006/relationships/image" Target="../media/image85.wmf"/><Relationship Id="rId16" Type="http://schemas.openxmlformats.org/officeDocument/2006/relationships/image" Target="../media/image7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11" Type="http://schemas.openxmlformats.org/officeDocument/2006/relationships/image" Target="../media/image58.wmf"/><Relationship Id="rId5" Type="http://schemas.openxmlformats.org/officeDocument/2006/relationships/image" Target="../media/image88.wmf"/><Relationship Id="rId15" Type="http://schemas.openxmlformats.org/officeDocument/2006/relationships/image" Target="../media/image74.wmf"/><Relationship Id="rId10" Type="http://schemas.openxmlformats.org/officeDocument/2006/relationships/image" Target="../media/image57.wmf"/><Relationship Id="rId4" Type="http://schemas.openxmlformats.org/officeDocument/2006/relationships/image" Target="../media/image87.wmf"/><Relationship Id="rId9" Type="http://schemas.openxmlformats.org/officeDocument/2006/relationships/image" Target="../media/image55.wmf"/><Relationship Id="rId14" Type="http://schemas.openxmlformats.org/officeDocument/2006/relationships/image" Target="../media/image7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1B9F1-5507-42B6-AB7F-BF69F70094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04793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1" dirty="0" smtClean="0">
                <a:solidFill>
                  <a:srgbClr val="C00000"/>
                </a:solidFill>
                <a:latin typeface="Times New Roman" pitchFamily="18" charset="0"/>
              </a:rPr>
              <a:t> 如果不垂直，就会有平行于表面的分量，就会有电荷移动，但电荷分布是稳定的。所以电场强度只能垂直于表面。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1B9F1-5507-42B6-AB7F-BF69F700949B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1B9F1-5507-42B6-AB7F-BF69F700949B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910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716A3-A11B-4F63-9F85-B0A0A23680A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4E876-63BF-4D6A-B137-5E1EF113C03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287E2-94BF-450F-BC51-2F6140D45A2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4226A-6572-490F-97E3-31226E4E987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B534D-5C33-4488-8D82-193DC8A5122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C41DA-6832-4238-A1C6-55648F662CB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5E03F-35A8-45A7-AA80-0C8DD04D04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35ACA-38C2-4C6A-AE29-864933AB94D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7EBF6-F1F9-4BE5-8E77-753F94CEE1A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667FA-E14E-45BD-86FD-F21FC40EB7E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37B36-CF50-4FF9-9CD1-60F3943E75B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5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6" name="Picture 12" descr="C:\Users\qdx\Desktop\Aticles\20141011\temp_01.gif"/>
          <p:cNvPicPr>
            <a:picLocks noChangeAspect="1" noChangeArrowheads="1"/>
          </p:cNvPicPr>
          <p:nvPr userDrawn="1"/>
        </p:nvPicPr>
        <p:blipFill>
          <a:blip r:embed="rId2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TextBox 80"/>
          <p:cNvSpPr txBox="1">
            <a:spLocks noChangeArrowheads="1"/>
          </p:cNvSpPr>
          <p:nvPr userDrawn="1"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8" name="直接连接符 10"/>
          <p:cNvCxnSpPr/>
          <p:nvPr userDrawn="1"/>
        </p:nvCxnSpPr>
        <p:spPr>
          <a:xfrm>
            <a:off x="4610882" y="4761898"/>
            <a:ext cx="1863381" cy="176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 flipH="1">
            <a:off x="3161219" y="4759810"/>
            <a:ext cx="1425295" cy="176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7"/>
          <p:cNvSpPr>
            <a:spLocks noChangeArrowheads="1"/>
          </p:cNvSpPr>
          <p:nvPr userDrawn="1"/>
        </p:nvSpPr>
        <p:spPr bwMode="auto">
          <a:xfrm>
            <a:off x="3275013" y="4786313"/>
            <a:ext cx="3313112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>
                <a:solidFill>
                  <a:srgbClr val="000066"/>
                </a:solidFill>
                <a:ea typeface="楷体_GB2312" pitchFamily="49" charset="-122"/>
              </a:rPr>
              <a:t>第六章  静电场的导体和电介质</a:t>
            </a:r>
          </a:p>
        </p:txBody>
      </p:sp>
      <p:sp>
        <p:nvSpPr>
          <p:cNvPr id="11" name="矩形 16"/>
          <p:cNvSpPr/>
          <p:nvPr userDrawn="1"/>
        </p:nvSpPr>
        <p:spPr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00" b="1"/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6804026" y="67866"/>
            <a:ext cx="1878013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zh-CN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本章目录  </a:t>
            </a: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6894699" y="437881"/>
            <a:ext cx="1737880" cy="1730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4" name="灯片编号占位符 15"/>
          <p:cNvSpPr>
            <a:spLocks noGrp="1"/>
          </p:cNvSpPr>
          <p:nvPr>
            <p:ph type="sldNum" sz="quarter" idx="10"/>
          </p:nvPr>
        </p:nvSpPr>
        <p:spPr>
          <a:xfrm>
            <a:off x="6588125" y="4786313"/>
            <a:ext cx="2133600" cy="273844"/>
          </a:xfrm>
        </p:spPr>
        <p:txBody>
          <a:bodyPr anchor="ctr"/>
          <a:lstStyle>
            <a:lvl1pPr>
              <a:defRPr sz="1350" b="1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71953E8D-716C-432B-AA67-E50AFCA625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E0ACF-3CDF-48CF-AD28-CCA739BC613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2F55A-06A9-4598-BD5C-BADE3DB1DD3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2489B-043B-4DFB-9CC3-663E9FDF57E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BD099-E47E-4211-95E7-398DF6D74C3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B1B2C-85DF-46C8-B3D2-1C99129999C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36ADC-3FE6-41BC-9DB1-DEB04F47125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B65D3-E90E-4B9C-84A2-8FDBD5315B4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1BF32-B71A-49BA-A61D-7933F6ADAB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70D4-2C42-4BB9-8B90-0BE37114F4A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1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5EDDF19D-0E57-4D71-9A64-1E069EC84D4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788C9F-0AE0-4B58-A247-133DDCC6EEF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A7D617-7578-45C2-913D-CB4181FD1F4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97349-9B92-45F5-AE7F-EA3BC00A159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71D2F-3E57-4AAC-92EF-3839B964FF1D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CB48F-25DD-4EA5-9B5C-73E2C71A8E3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305675" y="489585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DECF2FCB-EA3C-4426-A57E-7D9047D4795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9CBE2-EBB2-428B-8CEF-3498A05D9332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03EBB-06AD-4F6E-99EA-BA5663BF98C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2055F-B0E3-4E67-ACFC-4D888D7CC50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93C03F-3CDA-42CE-8E85-85E83070FF8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100" smtClean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04B9BD20-38C6-4231-854E-EAAD397B4D6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7BBA15-D747-414F-89B4-640C3A9D886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ACCCA-15FA-4393-BE72-044BB2D253EA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04F952-56AB-4C35-A0C2-6043A62AB953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72638-7313-4CC5-9CD1-8E965D9CE16D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2B1175-AD93-45BF-B511-AAE19C55261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4905375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AE7E5495-FB17-4743-98B2-732EA470C31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EE8BA2-3676-46B1-970A-FB0702ED7CAB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05DB3-5049-499A-A222-B6872BD4DAF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0A662-09A8-45E5-B9E8-43F2AB21251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8EC427-84DD-461D-8A42-8A87336E375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/>
          <p:cNvSpPr>
            <a:spLocks/>
          </p:cNvSpPr>
          <p:nvPr/>
        </p:nvSpPr>
        <p:spPr bwMode="gray">
          <a:xfrm>
            <a:off x="690564" y="2505076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100" smtClean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 kumimoji="0" sz="3600"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04B9BD20-38C6-4231-854E-EAAD397B4D6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7BBA15-D747-414F-89B4-640C3A9D886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ACCCA-15FA-4393-BE72-044BB2D253EA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04F952-56AB-4C35-A0C2-6043A62AB953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72638-7313-4CC5-9CD1-8E965D9CE16D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2B1175-AD93-45BF-B511-AAE19C55261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E5495-FB17-4743-98B2-732EA470C315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EE8BA2-3676-46B1-970A-FB0702ED7CAB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05DB3-5049-499A-A222-B6872BD4DAF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0A662-09A8-45E5-B9E8-43F2AB21251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8EC427-84DD-461D-8A42-8A87336E375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../&#24635;&#30446;&#24405;.ppt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hyperlink" Target="../&#24635;&#30446;&#24405;.ppt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8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9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60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Relationship Id="rId6" Type="http://schemas.openxmlformats.org/officeDocument/2006/relationships/slideLayout" Target="../slideLayouts/slideLayout159.xml"/><Relationship Id="rId11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57.xml"/><Relationship Id="rId9" Type="http://schemas.openxmlformats.org/officeDocument/2006/relationships/slideLayout" Target="../slideLayouts/slideLayout162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3.xml"/><Relationship Id="rId3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82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81.xml"/><Relationship Id="rId11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0.xml"/><Relationship Id="rId10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79.xml"/><Relationship Id="rId9" Type="http://schemas.openxmlformats.org/officeDocument/2006/relationships/slideLayout" Target="../slideLayouts/slideLayout1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84963" y="4830366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>
              <a:defRPr/>
            </a:pPr>
            <a:fld id="{DD594326-203F-47BF-A5B0-ECB051138E6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3" name="Rectangle 15"/>
          <p:cNvSpPr>
            <a:spLocks noChangeArrowheads="1"/>
          </p:cNvSpPr>
          <p:nvPr userDrawn="1"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4" name="Oval 21"/>
          <p:cNvSpPr>
            <a:spLocks noChangeArrowheads="1"/>
          </p:cNvSpPr>
          <p:nvPr userDrawn="1"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pic>
        <p:nvPicPr>
          <p:cNvPr id="46085" name="Picture 13" descr="C:\Users\qdx\Desktop\江南大学\物理学（马文蔚 第6版）PPT母版\模板素材\模板素材\atom2.jpg"/>
          <p:cNvPicPr>
            <a:picLocks noChangeAspect="1" noChangeArrowheads="1"/>
          </p:cNvPicPr>
          <p:nvPr userDrawn="1"/>
        </p:nvPicPr>
        <p:blipFill>
          <a:blip r:embed="rId12" cstate="print"/>
          <a:srcRect l="21056" t="15791"/>
          <a:stretch>
            <a:fillRect/>
          </a:stretch>
        </p:blipFill>
        <p:spPr bwMode="auto">
          <a:xfrm>
            <a:off x="1" y="0"/>
            <a:ext cx="10715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任意多边形 15"/>
          <p:cNvSpPr>
            <a:spLocks/>
          </p:cNvSpPr>
          <p:nvPr userDrawn="1"/>
        </p:nvSpPr>
        <p:spPr bwMode="auto">
          <a:xfrm rot="5400000" flipH="1">
            <a:off x="-2015530" y="2847777"/>
            <a:ext cx="4304109" cy="273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>
              <a:gd name="connsiteX0" fmla="*/ 3 w 5712"/>
              <a:gd name="connsiteY0" fmla="*/ 228 h 528"/>
              <a:gd name="connsiteX1" fmla="*/ 5712 w 5712"/>
              <a:gd name="connsiteY1" fmla="*/ 0 h 528"/>
              <a:gd name="connsiteX2" fmla="*/ 5712 w 5712"/>
              <a:gd name="connsiteY2" fmla="*/ 528 h 528"/>
              <a:gd name="connsiteX3" fmla="*/ 0 w 5712"/>
              <a:gd name="connsiteY3" fmla="*/ 0 h 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2" h="528">
                <a:moveTo>
                  <a:pt x="3" y="228"/>
                </a:moveTo>
                <a:lnTo>
                  <a:pt x="5712" y="0"/>
                </a:lnTo>
                <a:lnTo>
                  <a:pt x="5712" y="528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任意多边形 16"/>
          <p:cNvSpPr>
            <a:spLocks/>
          </p:cNvSpPr>
          <p:nvPr userDrawn="1"/>
        </p:nvSpPr>
        <p:spPr bwMode="auto">
          <a:xfrm rot="5400000" flipV="1">
            <a:off x="-1955601" y="2759274"/>
            <a:ext cx="4339828" cy="42862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0" y="0"/>
                </a:moveTo>
                <a:lnTo>
                  <a:pt x="5760" y="0"/>
                </a:lnTo>
                <a:lnTo>
                  <a:pt x="5760" y="528"/>
                </a:lnTo>
                <a:lnTo>
                  <a:pt x="48" y="0"/>
                </a:lnTo>
              </a:path>
            </a:pathLst>
          </a:cu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" name="Rectangle 97"/>
          <p:cNvSpPr>
            <a:spLocks noChangeArrowheads="1"/>
          </p:cNvSpPr>
          <p:nvPr userDrawn="1"/>
        </p:nvSpPr>
        <p:spPr bwMode="auto">
          <a:xfrm>
            <a:off x="2857500" y="4800600"/>
            <a:ext cx="3513138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第六章  静电场中的导体和电介质</a:t>
            </a:r>
          </a:p>
        </p:txBody>
      </p:sp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0" name="Text Box 107">
            <a:hlinkClick r:id="rId13"/>
          </p:cNvPr>
          <p:cNvSpPr txBox="1">
            <a:spLocks noChangeArrowheads="1"/>
          </p:cNvSpPr>
          <p:nvPr userDrawn="1"/>
        </p:nvSpPr>
        <p:spPr bwMode="auto">
          <a:xfrm>
            <a:off x="31751" y="232173"/>
            <a:ext cx="9001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第六版</a:t>
            </a:r>
          </a:p>
        </p:txBody>
      </p:sp>
      <p:pic>
        <p:nvPicPr>
          <p:cNvPr id="46091" name="Picture 14" descr="D:\Program Files\Microsoft Office\MEDIA\CAGCAT10\j0305257.wmf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37539" y="4171950"/>
            <a:ext cx="581025" cy="56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21"/>
          <p:cNvSpPr>
            <a:spLocks noChangeArrowheads="1"/>
          </p:cNvSpPr>
          <p:nvPr userDrawn="1"/>
        </p:nvSpPr>
        <p:spPr bwMode="auto">
          <a:xfrm>
            <a:off x="4745038" y="514350"/>
            <a:ext cx="4356100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sp>
        <p:nvSpPr>
          <p:cNvPr id="23" name="Rectangle 16"/>
          <p:cNvSpPr>
            <a:spLocks noChangeArrowheads="1"/>
          </p:cNvSpPr>
          <p:nvPr userDrawn="1"/>
        </p:nvSpPr>
        <p:spPr bwMode="auto">
          <a:xfrm>
            <a:off x="4786313" y="1"/>
            <a:ext cx="4513262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zh-CN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6-1  </a:t>
            </a:r>
            <a:r>
              <a:rPr kumimoji="1"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静电场中的导体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8" r:id="rId2"/>
    <p:sldLayoutId id="2147483867" r:id="rId3"/>
    <p:sldLayoutId id="2147483866" r:id="rId4"/>
    <p:sldLayoutId id="2147483865" r:id="rId5"/>
    <p:sldLayoutId id="2147483864" r:id="rId6"/>
    <p:sldLayoutId id="2147483863" r:id="rId7"/>
    <p:sldLayoutId id="2147483862" r:id="rId8"/>
    <p:sldLayoutId id="2147483861" r:id="rId9"/>
    <p:sldLayoutId id="2147483860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84963" y="4830366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>
              <a:defRPr/>
            </a:pPr>
            <a:fld id="{E2A98DCB-5B13-41A5-B43A-441AF2B1FBF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1" name="Rectangle 15"/>
          <p:cNvSpPr>
            <a:spLocks noChangeArrowheads="1"/>
          </p:cNvSpPr>
          <p:nvPr userDrawn="1"/>
        </p:nvSpPr>
        <p:spPr bwMode="auto">
          <a:xfrm>
            <a:off x="3132138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2" name="Oval 21"/>
          <p:cNvSpPr>
            <a:spLocks noChangeArrowheads="1"/>
          </p:cNvSpPr>
          <p:nvPr userDrawn="1"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pic>
        <p:nvPicPr>
          <p:cNvPr id="47109" name="Picture 13" descr="C:\Users\qdx\Desktop\江南大学\物理学（马文蔚 第6版）PPT母版\模板素材\模板素材\atom2.jpg"/>
          <p:cNvPicPr>
            <a:picLocks noChangeAspect="1" noChangeArrowheads="1"/>
          </p:cNvPicPr>
          <p:nvPr userDrawn="1"/>
        </p:nvPicPr>
        <p:blipFill>
          <a:blip r:embed="rId13" cstate="print"/>
          <a:srcRect l="21056" t="15791"/>
          <a:stretch>
            <a:fillRect/>
          </a:stretch>
        </p:blipFill>
        <p:spPr bwMode="auto">
          <a:xfrm>
            <a:off x="1" y="0"/>
            <a:ext cx="107156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>
            <a:spLocks/>
          </p:cNvSpPr>
          <p:nvPr userDrawn="1"/>
        </p:nvSpPr>
        <p:spPr bwMode="auto">
          <a:xfrm rot="5400000" flipH="1">
            <a:off x="-2015530" y="2847777"/>
            <a:ext cx="4304109" cy="273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>
              <a:gd name="connsiteX0" fmla="*/ 3 w 5712"/>
              <a:gd name="connsiteY0" fmla="*/ 228 h 528"/>
              <a:gd name="connsiteX1" fmla="*/ 5712 w 5712"/>
              <a:gd name="connsiteY1" fmla="*/ 0 h 528"/>
              <a:gd name="connsiteX2" fmla="*/ 5712 w 5712"/>
              <a:gd name="connsiteY2" fmla="*/ 528 h 528"/>
              <a:gd name="connsiteX3" fmla="*/ 0 w 5712"/>
              <a:gd name="connsiteY3" fmla="*/ 0 h 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2" h="528">
                <a:moveTo>
                  <a:pt x="3" y="228"/>
                </a:moveTo>
                <a:lnTo>
                  <a:pt x="5712" y="0"/>
                </a:lnTo>
                <a:lnTo>
                  <a:pt x="5712" y="528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任意多边形 14"/>
          <p:cNvSpPr>
            <a:spLocks/>
          </p:cNvSpPr>
          <p:nvPr userDrawn="1"/>
        </p:nvSpPr>
        <p:spPr bwMode="auto">
          <a:xfrm rot="5400000" flipV="1">
            <a:off x="-1955601" y="2759274"/>
            <a:ext cx="4339828" cy="42862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0" y="0"/>
                </a:moveTo>
                <a:lnTo>
                  <a:pt x="5760" y="0"/>
                </a:lnTo>
                <a:lnTo>
                  <a:pt x="5760" y="528"/>
                </a:lnTo>
                <a:lnTo>
                  <a:pt x="48" y="0"/>
                </a:lnTo>
              </a:path>
            </a:pathLst>
          </a:custGeom>
          <a:gradFill flip="none" rotWithShape="1"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08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Rectangle 97"/>
          <p:cNvSpPr>
            <a:spLocks noChangeArrowheads="1"/>
          </p:cNvSpPr>
          <p:nvPr userDrawn="1"/>
        </p:nvSpPr>
        <p:spPr bwMode="auto">
          <a:xfrm>
            <a:off x="2701926" y="4800600"/>
            <a:ext cx="3941763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第六章  静电场中的导体和电介质</a:t>
            </a:r>
          </a:p>
        </p:txBody>
      </p:sp>
      <p:sp>
        <p:nvSpPr>
          <p:cNvPr id="17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8" name="Text Box 107">
            <a:hlinkClick r:id="rId14"/>
          </p:cNvPr>
          <p:cNvSpPr txBox="1">
            <a:spLocks noChangeArrowheads="1"/>
          </p:cNvSpPr>
          <p:nvPr userDrawn="1"/>
        </p:nvSpPr>
        <p:spPr bwMode="auto">
          <a:xfrm>
            <a:off x="31751" y="232173"/>
            <a:ext cx="9001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第六版</a:t>
            </a:r>
          </a:p>
        </p:txBody>
      </p:sp>
      <p:pic>
        <p:nvPicPr>
          <p:cNvPr id="47115" name="Picture 14" descr="D:\Program Files\Microsoft Office\MEDIA\CAGCAT10\j0305257.wmf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237539" y="4171950"/>
            <a:ext cx="581025" cy="56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Oval 21"/>
          <p:cNvSpPr>
            <a:spLocks noChangeArrowheads="1"/>
          </p:cNvSpPr>
          <p:nvPr userDrawn="1"/>
        </p:nvSpPr>
        <p:spPr bwMode="auto">
          <a:xfrm>
            <a:off x="6815139" y="519112"/>
            <a:ext cx="2232025" cy="53579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n>
                <a:solidFill>
                  <a:schemeClr val="accent2"/>
                </a:solidFill>
              </a:ln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 userDrawn="1"/>
        </p:nvSpPr>
        <p:spPr bwMode="auto">
          <a:xfrm>
            <a:off x="7054851" y="86916"/>
            <a:ext cx="1876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0066"/>
                </a:solidFill>
                <a:ea typeface="楷体_GB2312" pitchFamily="49" charset="-122"/>
              </a:rPr>
              <a:t>本章目录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4012" r:id="rId2"/>
    <p:sldLayoutId id="2147483878" r:id="rId3"/>
    <p:sldLayoutId id="2147483877" r:id="rId4"/>
    <p:sldLayoutId id="2147483876" r:id="rId5"/>
    <p:sldLayoutId id="2147483875" r:id="rId6"/>
    <p:sldLayoutId id="2147483874" r:id="rId7"/>
    <p:sldLayoutId id="2147483873" r:id="rId8"/>
    <p:sldLayoutId id="2147483872" r:id="rId9"/>
    <p:sldLayoutId id="2147483871" r:id="rId10"/>
    <p:sldLayoutId id="214748387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5"/>
          <p:cNvSpPr>
            <a:spLocks noChangeArrowheads="1"/>
          </p:cNvSpPr>
          <p:nvPr userDrawn="1"/>
        </p:nvSpPr>
        <p:spPr bwMode="auto">
          <a:xfrm rot="19340345">
            <a:off x="8713788" y="4527948"/>
            <a:ext cx="330200" cy="2202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89" r:id="rId2"/>
    <p:sldLayoutId id="2147483888" r:id="rId3"/>
    <p:sldLayoutId id="2147483887" r:id="rId4"/>
    <p:sldLayoutId id="2147483886" r:id="rId5"/>
    <p:sldLayoutId id="2147483885" r:id="rId6"/>
    <p:sldLayoutId id="2147483884" r:id="rId7"/>
    <p:sldLayoutId id="2147483883" r:id="rId8"/>
    <p:sldLayoutId id="2147483882" r:id="rId9"/>
    <p:sldLayoutId id="2147483881" r:id="rId10"/>
    <p:sldLayoutId id="214748388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DA95E20A-55CA-44E2-A236-C17F923D3DF5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0" r:id="rId2"/>
    <p:sldLayoutId id="2147483899" r:id="rId3"/>
    <p:sldLayoutId id="2147483898" r:id="rId4"/>
    <p:sldLayoutId id="2147483897" r:id="rId5"/>
    <p:sldLayoutId id="2147483896" r:id="rId6"/>
    <p:sldLayoutId id="2147483895" r:id="rId7"/>
    <p:sldLayoutId id="2147483894" r:id="rId8"/>
    <p:sldLayoutId id="2147483893" r:id="rId9"/>
    <p:sldLayoutId id="2147483892" r:id="rId10"/>
    <p:sldLayoutId id="21474838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3ACEF966-499F-4B8A-9D03-7D7E7E59B740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1" r:id="rId2"/>
    <p:sldLayoutId id="2147483910" r:id="rId3"/>
    <p:sldLayoutId id="2147483909" r:id="rId4"/>
    <p:sldLayoutId id="2147483908" r:id="rId5"/>
    <p:sldLayoutId id="2147483907" r:id="rId6"/>
    <p:sldLayoutId id="2147483906" r:id="rId7"/>
    <p:sldLayoutId id="2147483905" r:id="rId8"/>
    <p:sldLayoutId id="2147483904" r:id="rId9"/>
    <p:sldLayoutId id="2147483903" r:id="rId10"/>
    <p:sldLayoutId id="214748390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FFE184F-5963-4C6A-A3A1-67FB7CFBFB58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2" r:id="rId2"/>
    <p:sldLayoutId id="2147483921" r:id="rId3"/>
    <p:sldLayoutId id="2147483920" r:id="rId4"/>
    <p:sldLayoutId id="2147483919" r:id="rId5"/>
    <p:sldLayoutId id="2147483918" r:id="rId6"/>
    <p:sldLayoutId id="2147483917" r:id="rId7"/>
    <p:sldLayoutId id="2147483916" r:id="rId8"/>
    <p:sldLayoutId id="2147483915" r:id="rId9"/>
    <p:sldLayoutId id="2147483914" r:id="rId10"/>
    <p:sldLayoutId id="214748391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2A76521F-108E-4975-863A-D5A7AE681298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3" r:id="rId2"/>
    <p:sldLayoutId id="2147483932" r:id="rId3"/>
    <p:sldLayoutId id="2147483931" r:id="rId4"/>
    <p:sldLayoutId id="2147483930" r:id="rId5"/>
    <p:sldLayoutId id="2147483929" r:id="rId6"/>
    <p:sldLayoutId id="2147483928" r:id="rId7"/>
    <p:sldLayoutId id="2147483927" r:id="rId8"/>
    <p:sldLayoutId id="2147483926" r:id="rId9"/>
    <p:sldLayoutId id="2147483925" r:id="rId10"/>
    <p:sldLayoutId id="214748392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B9376340-CF8E-437E-AFC3-BFB64E233FE0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4" r:id="rId2"/>
    <p:sldLayoutId id="2147483943" r:id="rId3"/>
    <p:sldLayoutId id="2147483942" r:id="rId4"/>
    <p:sldLayoutId id="2147483941" r:id="rId5"/>
    <p:sldLayoutId id="2147483940" r:id="rId6"/>
    <p:sldLayoutId id="2147483939" r:id="rId7"/>
    <p:sldLayoutId id="2147483938" r:id="rId8"/>
    <p:sldLayoutId id="2147483937" r:id="rId9"/>
    <p:sldLayoutId id="2147483936" r:id="rId10"/>
    <p:sldLayoutId id="214748393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7F3DD4EB-9B83-436A-8521-4CB4067DFDE7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5" r:id="rId2"/>
    <p:sldLayoutId id="2147483954" r:id="rId3"/>
    <p:sldLayoutId id="2147483953" r:id="rId4"/>
    <p:sldLayoutId id="2147483952" r:id="rId5"/>
    <p:sldLayoutId id="2147483951" r:id="rId6"/>
    <p:sldLayoutId id="2147483950" r:id="rId7"/>
    <p:sldLayoutId id="2147483949" r:id="rId8"/>
    <p:sldLayoutId id="2147483948" r:id="rId9"/>
    <p:sldLayoutId id="2147483947" r:id="rId10"/>
    <p:sldLayoutId id="21474839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2C35FCC9-2BB1-40E0-A17A-D4079612EF73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6" r:id="rId2"/>
    <p:sldLayoutId id="2147483965" r:id="rId3"/>
    <p:sldLayoutId id="2147483964" r:id="rId4"/>
    <p:sldLayoutId id="2147483963" r:id="rId5"/>
    <p:sldLayoutId id="2147483962" r:id="rId6"/>
    <p:sldLayoutId id="2147483961" r:id="rId7"/>
    <p:sldLayoutId id="2147483960" r:id="rId8"/>
    <p:sldLayoutId id="2147483959" r:id="rId9"/>
    <p:sldLayoutId id="2147483958" r:id="rId10"/>
    <p:sldLayoutId id="214748395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4AB61FF-97C7-4223-AA28-37B9388F761D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7" r:id="rId2"/>
    <p:sldLayoutId id="2147483976" r:id="rId3"/>
    <p:sldLayoutId id="2147483975" r:id="rId4"/>
    <p:sldLayoutId id="2147483974" r:id="rId5"/>
    <p:sldLayoutId id="2147483973" r:id="rId6"/>
    <p:sldLayoutId id="2147483972" r:id="rId7"/>
    <p:sldLayoutId id="2147483971" r:id="rId8"/>
    <p:sldLayoutId id="2147483970" r:id="rId9"/>
    <p:sldLayoutId id="2147483969" r:id="rId10"/>
    <p:sldLayoutId id="214748396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2439F11-8666-45D6-AC2E-03256C613543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88" r:id="rId2"/>
    <p:sldLayoutId id="2147483987" r:id="rId3"/>
    <p:sldLayoutId id="2147483986" r:id="rId4"/>
    <p:sldLayoutId id="2147483985" r:id="rId5"/>
    <p:sldLayoutId id="2147483984" r:id="rId6"/>
    <p:sldLayoutId id="2147483983" r:id="rId7"/>
    <p:sldLayoutId id="2147483982" r:id="rId8"/>
    <p:sldLayoutId id="2147483981" r:id="rId9"/>
    <p:sldLayoutId id="2147483980" r:id="rId10"/>
    <p:sldLayoutId id="214748397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92F78D3D-2015-4C45-8F33-3A4A700E9E62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3999" r:id="rId2"/>
    <p:sldLayoutId id="2147483998" r:id="rId3"/>
    <p:sldLayoutId id="2147483997" r:id="rId4"/>
    <p:sldLayoutId id="2147483996" r:id="rId5"/>
    <p:sldLayoutId id="2147483995" r:id="rId6"/>
    <p:sldLayoutId id="2147483994" r:id="rId7"/>
    <p:sldLayoutId id="2147483993" r:id="rId8"/>
    <p:sldLayoutId id="2147483992" r:id="rId9"/>
    <p:sldLayoutId id="2147483991" r:id="rId10"/>
    <p:sldLayoutId id="214748399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 l="3641" t="17614" r="84133" b="37315"/>
          <a:stretch>
            <a:fillRect/>
          </a:stretch>
        </p:blipFill>
        <p:spPr bwMode="auto">
          <a:xfrm>
            <a:off x="72001" y="53560"/>
            <a:ext cx="750887" cy="5480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0"/>
          <p:cNvSpPr txBox="1">
            <a:spLocks noChangeArrowheads="1"/>
          </p:cNvSpPr>
          <p:nvPr/>
        </p:nvSpPr>
        <p:spPr bwMode="auto">
          <a:xfrm>
            <a:off x="11747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lang="en-US" altLang="zh-CN" sz="900" b="1" dirty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defRPr/>
            </a:pPr>
            <a:r>
              <a:rPr lang="zh-CN" altLang="en-US" sz="9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4752000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527235" y="4750593"/>
            <a:ext cx="1080000" cy="1191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b="1" dirty="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14" name="矩形 13"/>
          <p:cNvSpPr/>
          <p:nvPr/>
        </p:nvSpPr>
        <p:spPr>
          <a:xfrm>
            <a:off x="8356219" y="4714890"/>
            <a:ext cx="4539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A21A1C97-FDFD-44AA-AE50-7000D1598CAC}" type="slidenum">
              <a:rPr lang="zh-CN" altLang="en-US" sz="1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ea typeface="宋体" charset="-122"/>
              </a:rPr>
              <a:pPr algn="ctr">
                <a:defRPr/>
              </a:pPr>
              <a:t>‹#›</a:t>
            </a:fld>
            <a:endParaRPr lang="zh-CN" altLang="en-US" sz="1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1C1C1C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0" r:id="rId2"/>
    <p:sldLayoutId id="2147484009" r:id="rId3"/>
    <p:sldLayoutId id="2147484008" r:id="rId4"/>
    <p:sldLayoutId id="2147484007" r:id="rId5"/>
    <p:sldLayoutId id="2147484006" r:id="rId6"/>
    <p:sldLayoutId id="2147484005" r:id="rId7"/>
    <p:sldLayoutId id="2147484004" r:id="rId8"/>
    <p:sldLayoutId id="2147484003" r:id="rId9"/>
    <p:sldLayoutId id="2147484002" r:id="rId10"/>
    <p:sldLayoutId id="214748400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>
              <a:solidFill>
                <a:srgbClr val="578963"/>
              </a:solidFill>
              <a:latin typeface="Times New Roman" pitchFamily="18" charset="0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>
              <a:solidFill>
                <a:srgbClr val="578963"/>
              </a:solidFill>
              <a:latin typeface="Times New Roman" pitchFamily="18" charset="0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48525" y="4867275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fld id="{8C9B1D98-96E4-4D09-8CBE-E5E296C6475A}" type="slidenum">
              <a:rPr lang="zh-CN" altLang="en-US">
                <a:solidFill>
                  <a:srgbClr val="578963"/>
                </a:solidFill>
                <a:latin typeface="Times New Roman" pitchFamily="18" charset="0"/>
              </a:rPr>
              <a:pPr/>
              <a:t>‹#›</a:t>
            </a:fld>
            <a:endParaRPr lang="en-US" altLang="zh-CN">
              <a:solidFill>
                <a:srgbClr val="578963"/>
              </a:solidFill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</p:sldLayoutIdLst>
  <p:transition>
    <p:random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86625" y="4867275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fld id="{33CB9FC9-C3F3-457E-80DF-31E3A28D222B}" type="slidenum">
              <a:rPr lang="zh-CN" altLang="en-US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</p:sldLayoutIdLst>
  <p:transition>
    <p:random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>
                <a:solidFill>
                  <a:schemeClr val="bg2"/>
                </a:solidFill>
              </a:defRPr>
            </a:lvl1pPr>
          </a:lstStyle>
          <a:p>
            <a:fld id="{33CB9FC9-C3F3-457E-80DF-31E3A28D222B}" type="slidenum">
              <a:rPr lang="zh-CN" altLang="en-US" smtClean="0">
                <a:solidFill>
                  <a:srgbClr val="578963"/>
                </a:solidFill>
                <a:latin typeface="Times New Roman" pitchFamily="18" charset="0"/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  <p:sldLayoutId id="2147484069" r:id="rId8"/>
    <p:sldLayoutId id="2147484070" r:id="rId9"/>
    <p:sldLayoutId id="2147484071" r:id="rId10"/>
    <p:sldLayoutId id="2147484072" r:id="rId11"/>
  </p:sldLayoutIdLst>
  <p:transition>
    <p:random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6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1.e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6.e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9.png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4.e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3.e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oleObject" Target="../embeddings/oleObject21.bin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2.bin"/><Relationship Id="rId3" Type="http://schemas.openxmlformats.org/officeDocument/2006/relationships/image" Target="../media/image19.png"/><Relationship Id="rId21" Type="http://schemas.openxmlformats.org/officeDocument/2006/relationships/image" Target="../media/image29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20.bin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31.bin"/><Relationship Id="rId2" Type="http://schemas.openxmlformats.org/officeDocument/2006/relationships/slideLayout" Target="../slideLayouts/slideLayout28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8.bin"/><Relationship Id="rId29" Type="http://schemas.openxmlformats.org/officeDocument/2006/relationships/oleObject" Target="../embeddings/oleObject35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8.wmf"/><Relationship Id="rId24" Type="http://schemas.openxmlformats.org/officeDocument/2006/relationships/oleObject" Target="../embeddings/oleObject30.bin"/><Relationship Id="rId5" Type="http://schemas.openxmlformats.org/officeDocument/2006/relationships/image" Target="../media/image25.wmf"/><Relationship Id="rId15" Type="http://schemas.openxmlformats.org/officeDocument/2006/relationships/oleObject" Target="../embeddings/oleObject23.bin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19.bin"/><Relationship Id="rId19" Type="http://schemas.openxmlformats.org/officeDocument/2006/relationships/oleObject" Target="../embeddings/oleObject27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7.e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9.bin"/><Relationship Id="rId27" Type="http://schemas.openxmlformats.org/officeDocument/2006/relationships/oleObject" Target="../embeddings/oleObject33.bin"/><Relationship Id="rId30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6.png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4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7.wmf"/><Relationship Id="rId9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8.vml"/><Relationship Id="rId6" Type="http://schemas.openxmlformats.org/officeDocument/2006/relationships/hyperlink" Target="flash06/blz.mp4" TargetMode="External"/><Relationship Id="rId5" Type="http://schemas.openxmlformats.org/officeDocument/2006/relationships/image" Target="../media/image41.gif"/><Relationship Id="rId4" Type="http://schemas.openxmlformats.org/officeDocument/2006/relationships/image" Target="../media/image4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lash06/&#38745;&#30005;&#23631;&#34109;&#23454;&#39564;2.mp4" TargetMode="External"/><Relationship Id="rId2" Type="http://schemas.openxmlformats.org/officeDocument/2006/relationships/hyperlink" Target="flash06/&#38745;&#30005;&#23631;&#34109;&#23454;&#39564;1.mp4" TargetMode="External"/><Relationship Id="rId1" Type="http://schemas.openxmlformats.org/officeDocument/2006/relationships/slideLayout" Target="../slideLayouts/slideLayout171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44.w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1.bin"/><Relationship Id="rId3" Type="http://schemas.openxmlformats.org/officeDocument/2006/relationships/oleObject" Target="../embeddings/oleObject46.bin"/><Relationship Id="rId21" Type="http://schemas.openxmlformats.org/officeDocument/2006/relationships/image" Target="../media/image48.emf"/><Relationship Id="rId7" Type="http://schemas.openxmlformats.org/officeDocument/2006/relationships/oleObject" Target="../embeddings/oleObject49.bin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46.emf"/><Relationship Id="rId25" Type="http://schemas.openxmlformats.org/officeDocument/2006/relationships/image" Target="../media/image50.emf"/><Relationship Id="rId2" Type="http://schemas.openxmlformats.org/officeDocument/2006/relationships/slideLayout" Target="../slideLayouts/slideLayout171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29" Type="http://schemas.openxmlformats.org/officeDocument/2006/relationships/image" Target="../media/image52.e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8.bin"/><Relationship Id="rId11" Type="http://schemas.openxmlformats.org/officeDocument/2006/relationships/oleObject" Target="../embeddings/oleObject53.bin"/><Relationship Id="rId24" Type="http://schemas.openxmlformats.org/officeDocument/2006/relationships/oleObject" Target="../embeddings/oleObject60.bin"/><Relationship Id="rId5" Type="http://schemas.openxmlformats.org/officeDocument/2006/relationships/oleObject" Target="../embeddings/oleObject47.bin"/><Relationship Id="rId15" Type="http://schemas.openxmlformats.org/officeDocument/2006/relationships/image" Target="../media/image45.emf"/><Relationship Id="rId23" Type="http://schemas.openxmlformats.org/officeDocument/2006/relationships/image" Target="../media/image49.emf"/><Relationship Id="rId28" Type="http://schemas.openxmlformats.org/officeDocument/2006/relationships/oleObject" Target="../embeddings/oleObject62.bin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47.emf"/><Relationship Id="rId31" Type="http://schemas.openxmlformats.org/officeDocument/2006/relationships/image" Target="../media/image53.e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1.bin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51.emf"/><Relationship Id="rId30" Type="http://schemas.openxmlformats.org/officeDocument/2006/relationships/oleObject" Target="../embeddings/oleObject6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44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7.bin"/><Relationship Id="rId12" Type="http://schemas.openxmlformats.org/officeDocument/2006/relationships/oleObject" Target="../embeddings/oleObject72.bin"/><Relationship Id="rId2" Type="http://schemas.openxmlformats.org/officeDocument/2006/relationships/slideLayout" Target="../slideLayouts/slideLayout17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6.bin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5.bin"/><Relationship Id="rId10" Type="http://schemas.openxmlformats.org/officeDocument/2006/relationships/oleObject" Target="../embeddings/oleObject70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6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182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5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87.bin"/><Relationship Id="rId26" Type="http://schemas.openxmlformats.org/officeDocument/2006/relationships/oleObject" Target="../embeddings/oleObject91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62.wmf"/><Relationship Id="rId34" Type="http://schemas.openxmlformats.org/officeDocument/2006/relationships/oleObject" Target="../embeddings/oleObject95.bin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60.wmf"/><Relationship Id="rId25" Type="http://schemas.openxmlformats.org/officeDocument/2006/relationships/image" Target="../media/image64.wmf"/><Relationship Id="rId33" Type="http://schemas.openxmlformats.org/officeDocument/2006/relationships/image" Target="../media/image68.wmf"/><Relationship Id="rId2" Type="http://schemas.openxmlformats.org/officeDocument/2006/relationships/slideLayout" Target="../slideLayouts/slideLayout182.xml"/><Relationship Id="rId16" Type="http://schemas.openxmlformats.org/officeDocument/2006/relationships/oleObject" Target="../embeddings/oleObject86.bin"/><Relationship Id="rId20" Type="http://schemas.openxmlformats.org/officeDocument/2006/relationships/oleObject" Target="../embeddings/oleObject88.bin"/><Relationship Id="rId29" Type="http://schemas.openxmlformats.org/officeDocument/2006/relationships/image" Target="../media/image66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57.wmf"/><Relationship Id="rId24" Type="http://schemas.openxmlformats.org/officeDocument/2006/relationships/oleObject" Target="../embeddings/oleObject90.bin"/><Relationship Id="rId32" Type="http://schemas.openxmlformats.org/officeDocument/2006/relationships/oleObject" Target="../embeddings/oleObject94.bin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23" Type="http://schemas.openxmlformats.org/officeDocument/2006/relationships/image" Target="../media/image63.wmf"/><Relationship Id="rId28" Type="http://schemas.openxmlformats.org/officeDocument/2006/relationships/oleObject" Target="../embeddings/oleObject92.bin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61.wmf"/><Relationship Id="rId31" Type="http://schemas.openxmlformats.org/officeDocument/2006/relationships/image" Target="../media/image67.w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89.bin"/><Relationship Id="rId27" Type="http://schemas.openxmlformats.org/officeDocument/2006/relationships/image" Target="../media/image65.wmf"/><Relationship Id="rId30" Type="http://schemas.openxmlformats.org/officeDocument/2006/relationships/oleObject" Target="../embeddings/oleObject93.bin"/><Relationship Id="rId35" Type="http://schemas.openxmlformats.org/officeDocument/2006/relationships/image" Target="../media/image6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59.wmf"/><Relationship Id="rId26" Type="http://schemas.openxmlformats.org/officeDocument/2006/relationships/image" Target="../media/image75.wmf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5.bin"/><Relationship Id="rId34" Type="http://schemas.openxmlformats.org/officeDocument/2006/relationships/image" Target="../media/image69.wmf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7.bin"/><Relationship Id="rId33" Type="http://schemas.openxmlformats.org/officeDocument/2006/relationships/oleObject" Target="../embeddings/oleObject111.bin"/><Relationship Id="rId2" Type="http://schemas.openxmlformats.org/officeDocument/2006/relationships/slideLayout" Target="../slideLayouts/slideLayout182.xml"/><Relationship Id="rId16" Type="http://schemas.openxmlformats.org/officeDocument/2006/relationships/image" Target="../media/image58.wmf"/><Relationship Id="rId20" Type="http://schemas.openxmlformats.org/officeDocument/2006/relationships/image" Target="../media/image60.wmf"/><Relationship Id="rId29" Type="http://schemas.openxmlformats.org/officeDocument/2006/relationships/oleObject" Target="../embeddings/oleObject109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74.wmf"/><Relationship Id="rId32" Type="http://schemas.openxmlformats.org/officeDocument/2006/relationships/image" Target="../media/image68.wmf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image" Target="../media/image66.wmf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104.bin"/><Relationship Id="rId31" Type="http://schemas.openxmlformats.org/officeDocument/2006/relationships/oleObject" Target="../embeddings/oleObject110.bin"/><Relationship Id="rId4" Type="http://schemas.openxmlformats.org/officeDocument/2006/relationships/image" Target="../media/image70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57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108.bin"/><Relationship Id="rId30" Type="http://schemas.openxmlformats.org/officeDocument/2006/relationships/image" Target="../media/image6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57.wmf"/><Relationship Id="rId26" Type="http://schemas.openxmlformats.org/officeDocument/2006/relationships/image" Target="../media/image80.wmf"/><Relationship Id="rId3" Type="http://schemas.openxmlformats.org/officeDocument/2006/relationships/oleObject" Target="../embeddings/oleObject112.bin"/><Relationship Id="rId21" Type="http://schemas.openxmlformats.org/officeDocument/2006/relationships/oleObject" Target="../embeddings/oleObject121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119.bin"/><Relationship Id="rId25" Type="http://schemas.openxmlformats.org/officeDocument/2006/relationships/oleObject" Target="../embeddings/oleObject123.bin"/><Relationship Id="rId2" Type="http://schemas.openxmlformats.org/officeDocument/2006/relationships/slideLayout" Target="../slideLayouts/slideLayout182.xml"/><Relationship Id="rId16" Type="http://schemas.openxmlformats.org/officeDocument/2006/relationships/image" Target="../media/image56.wmf"/><Relationship Id="rId20" Type="http://schemas.openxmlformats.org/officeDocument/2006/relationships/image" Target="../media/image58.wmf"/><Relationship Id="rId29" Type="http://schemas.openxmlformats.org/officeDocument/2006/relationships/oleObject" Target="../embeddings/oleObject125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116.bin"/><Relationship Id="rId24" Type="http://schemas.openxmlformats.org/officeDocument/2006/relationships/image" Target="../media/image60.wmf"/><Relationship Id="rId32" Type="http://schemas.openxmlformats.org/officeDocument/2006/relationships/image" Target="../media/image83.wmf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oleObject" Target="../embeddings/oleObject122.bin"/><Relationship Id="rId28" Type="http://schemas.openxmlformats.org/officeDocument/2006/relationships/image" Target="../media/image81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120.bin"/><Relationship Id="rId31" Type="http://schemas.openxmlformats.org/officeDocument/2006/relationships/oleObject" Target="../embeddings/oleObject126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Relationship Id="rId27" Type="http://schemas.openxmlformats.org/officeDocument/2006/relationships/oleObject" Target="../embeddings/oleObject124.bin"/><Relationship Id="rId30" Type="http://schemas.openxmlformats.org/officeDocument/2006/relationships/image" Target="../media/image8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54.wmf"/><Relationship Id="rId26" Type="http://schemas.openxmlformats.org/officeDocument/2006/relationships/image" Target="../media/image59.w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34" Type="http://schemas.openxmlformats.org/officeDocument/2006/relationships/image" Target="../media/image75.wmf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33" Type="http://schemas.openxmlformats.org/officeDocument/2006/relationships/oleObject" Target="../embeddings/oleObject142.bin"/><Relationship Id="rId2" Type="http://schemas.openxmlformats.org/officeDocument/2006/relationships/slideLayout" Target="../slideLayouts/slideLayout182.xml"/><Relationship Id="rId16" Type="http://schemas.openxmlformats.org/officeDocument/2006/relationships/image" Target="../media/image90.wmf"/><Relationship Id="rId20" Type="http://schemas.openxmlformats.org/officeDocument/2006/relationships/image" Target="../media/image55.w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58.wmf"/><Relationship Id="rId32" Type="http://schemas.openxmlformats.org/officeDocument/2006/relationships/image" Target="../media/image74.w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60.wmf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135.bin"/><Relationship Id="rId31" Type="http://schemas.openxmlformats.org/officeDocument/2006/relationships/oleObject" Target="../embeddings/oleObject141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89.wmf"/><Relationship Id="rId22" Type="http://schemas.openxmlformats.org/officeDocument/2006/relationships/image" Target="../media/image57.w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7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040731" y="917973"/>
            <a:ext cx="5434013" cy="3194447"/>
            <a:chOff x="754" y="771"/>
            <a:chExt cx="4564" cy="2683"/>
          </a:xfrm>
        </p:grpSpPr>
        <p:sp>
          <p:nvSpPr>
            <p:cNvPr id="19460" name="Text Box 4"/>
            <p:cNvSpPr txBox="1">
              <a:spLocks noChangeArrowheads="1"/>
            </p:cNvSpPr>
            <p:nvPr/>
          </p:nvSpPr>
          <p:spPr bwMode="auto">
            <a:xfrm>
              <a:off x="754" y="771"/>
              <a:ext cx="4564" cy="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700" b="1">
                  <a:solidFill>
                    <a:srgbClr val="000000"/>
                  </a:solidFill>
                  <a:latin typeface="Times New Roman" pitchFamily="18" charset="0"/>
                </a:rPr>
                <a:t>第六章   静电场中的导体与电介质</a:t>
              </a:r>
              <a:endParaRPr kumimoji="1" lang="zh-CN" altLang="en-US" sz="27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461" name="Text Box 5"/>
            <p:cNvSpPr txBox="1">
              <a:spLocks noChangeArrowheads="1"/>
            </p:cNvSpPr>
            <p:nvPr/>
          </p:nvSpPr>
          <p:spPr bwMode="auto">
            <a:xfrm>
              <a:off x="1086" y="1299"/>
              <a:ext cx="268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</a:rPr>
                <a:t>6.1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静电场中的导体</a:t>
              </a:r>
            </a:p>
          </p:txBody>
        </p:sp>
        <p:sp>
          <p:nvSpPr>
            <p:cNvPr id="19462" name="Text Box 6"/>
            <p:cNvSpPr txBox="1">
              <a:spLocks noChangeArrowheads="1"/>
            </p:cNvSpPr>
            <p:nvPr/>
          </p:nvSpPr>
          <p:spPr bwMode="auto">
            <a:xfrm>
              <a:off x="1086" y="2601"/>
              <a:ext cx="242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itchFamily="18" charset="0"/>
                </a:rPr>
                <a:t>6.4 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电容和电容器</a:t>
              </a:r>
            </a:p>
          </p:txBody>
        </p:sp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1086" y="2167"/>
              <a:ext cx="398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</a:rPr>
                <a:t>6.3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电位移、介质中的高斯定理</a:t>
              </a:r>
              <a:endParaRPr lang="en-US" altLang="zh-CN" sz="24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483" name="Text Box 27"/>
            <p:cNvSpPr txBox="1">
              <a:spLocks noChangeArrowheads="1"/>
            </p:cNvSpPr>
            <p:nvPr/>
          </p:nvSpPr>
          <p:spPr bwMode="auto">
            <a:xfrm>
              <a:off x="1086" y="3066"/>
              <a:ext cx="397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</a:rPr>
                <a:t>6.5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itchFamily="18" charset="0"/>
                </a:rPr>
                <a:t>静电场的能量、能量密度</a:t>
              </a:r>
              <a:endParaRPr lang="zh-CN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484" name="Text Box 28"/>
            <p:cNvSpPr txBox="1">
              <a:spLocks noChangeArrowheads="1"/>
            </p:cNvSpPr>
            <p:nvPr/>
          </p:nvSpPr>
          <p:spPr bwMode="auto">
            <a:xfrm>
              <a:off x="1086" y="1763"/>
              <a:ext cx="312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§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itchFamily="18" charset="0"/>
                </a:rPr>
                <a:t>6.2 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静电场中的介质</a:t>
              </a:r>
              <a:endParaRPr lang="zh-CN" altLang="en-US" sz="24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F2FCB-EA3C-4426-A57E-7D9047D4795E}" type="slidenum">
              <a:rPr lang="zh-CN" altLang="en-US" smtClean="0">
                <a:solidFill>
                  <a:srgbClr val="578963"/>
                </a:solidFill>
              </a:rPr>
              <a:pPr/>
              <a:t>1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610475" y="4889933"/>
            <a:ext cx="1428750" cy="342900"/>
          </a:xfrm>
        </p:spPr>
        <p:txBody>
          <a:bodyPr/>
          <a:lstStyle/>
          <a:p>
            <a:fld id="{DECF2FCB-EA3C-4426-A57E-7D9047D4795E}" type="slidenum">
              <a:rPr lang="zh-CN" altLang="en-US" smtClean="0">
                <a:solidFill>
                  <a:srgbClr val="578963"/>
                </a:solidFill>
              </a:rPr>
              <a:pPr/>
              <a:t>2</a:t>
            </a:fld>
            <a:endParaRPr lang="en-US" altLang="zh-CN">
              <a:solidFill>
                <a:srgbClr val="578963"/>
              </a:solidFill>
            </a:endParaRPr>
          </a:p>
        </p:txBody>
      </p:sp>
      <p:pic>
        <p:nvPicPr>
          <p:cNvPr id="3" name="图片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385" y="374809"/>
            <a:ext cx="3078616" cy="2155031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1314061" y="374809"/>
            <a:ext cx="3078616" cy="2155031"/>
            <a:chOff x="451601" y="591184"/>
            <a:chExt cx="4104821" cy="2873375"/>
          </a:xfrm>
        </p:grpSpPr>
        <p:pic>
          <p:nvPicPr>
            <p:cNvPr id="15" name="图片 14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601" y="591184"/>
              <a:ext cx="4104821" cy="2873375"/>
            </a:xfrm>
            <a:prstGeom prst="rect">
              <a:avLst/>
            </a:prstGeom>
          </p:spPr>
        </p:pic>
        <p:cxnSp>
          <p:nvCxnSpPr>
            <p:cNvPr id="17" name="直接连接符 16"/>
            <p:cNvCxnSpPr/>
            <p:nvPr/>
          </p:nvCxnSpPr>
          <p:spPr bwMode="auto">
            <a:xfrm>
              <a:off x="2758050" y="999744"/>
              <a:ext cx="131454" cy="1456944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1" name="图片 20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14060" y="2689222"/>
            <a:ext cx="3078000" cy="21546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5"/>
          <a:srcRect r="16507"/>
          <a:stretch/>
        </p:blipFill>
        <p:spPr>
          <a:xfrm>
            <a:off x="4990385" y="2689222"/>
            <a:ext cx="3078615" cy="215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3560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85" name="Group 36"/>
          <p:cNvGrpSpPr>
            <a:grpSpLocks/>
          </p:cNvGrpSpPr>
          <p:nvPr/>
        </p:nvGrpSpPr>
        <p:grpSpPr bwMode="auto">
          <a:xfrm>
            <a:off x="5968746" y="2974340"/>
            <a:ext cx="1885950" cy="1314450"/>
            <a:chOff x="3744" y="2448"/>
            <a:chExt cx="1824" cy="1152"/>
          </a:xfrm>
        </p:grpSpPr>
        <p:sp>
          <p:nvSpPr>
            <p:cNvPr id="61510" name="Oval 37"/>
            <p:cNvSpPr>
              <a:spLocks noChangeArrowheads="1"/>
            </p:cNvSpPr>
            <p:nvPr/>
          </p:nvSpPr>
          <p:spPr bwMode="auto">
            <a:xfrm>
              <a:off x="3744" y="2448"/>
              <a:ext cx="1824" cy="432"/>
            </a:xfrm>
            <a:prstGeom prst="ellipse">
              <a:avLst/>
            </a:prstGeom>
            <a:gradFill rotWithShape="0">
              <a:gsLst>
                <a:gs pos="0">
                  <a:srgbClr val="B2B2B2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11" name="Oval 38"/>
            <p:cNvSpPr>
              <a:spLocks noChangeArrowheads="1"/>
            </p:cNvSpPr>
            <p:nvPr/>
          </p:nvSpPr>
          <p:spPr bwMode="auto">
            <a:xfrm>
              <a:off x="4272" y="3360"/>
              <a:ext cx="720" cy="240"/>
            </a:xfrm>
            <a:prstGeom prst="ellipse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Rectangle 39"/>
            <p:cNvSpPr>
              <a:spLocks noChangeArrowheads="1"/>
            </p:cNvSpPr>
            <p:nvPr/>
          </p:nvSpPr>
          <p:spPr bwMode="auto">
            <a:xfrm>
              <a:off x="4560" y="2880"/>
              <a:ext cx="144" cy="576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rgbClr val="DDDDDD"/>
                </a:gs>
                <a:gs pos="100000">
                  <a:schemeClr val="tx1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61486" name="Group 40"/>
          <p:cNvGrpSpPr>
            <a:grpSpLocks/>
          </p:cNvGrpSpPr>
          <p:nvPr/>
        </p:nvGrpSpPr>
        <p:grpSpPr bwMode="auto">
          <a:xfrm>
            <a:off x="7390398" y="3106738"/>
            <a:ext cx="198521" cy="219075"/>
            <a:chOff x="5088" y="2592"/>
            <a:chExt cx="192" cy="192"/>
          </a:xfrm>
        </p:grpSpPr>
        <p:sp>
          <p:nvSpPr>
            <p:cNvPr id="61508" name="Oval 41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9" name="Line 42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487" name="Group 43"/>
          <p:cNvGrpSpPr>
            <a:grpSpLocks/>
          </p:cNvGrpSpPr>
          <p:nvPr/>
        </p:nvGrpSpPr>
        <p:grpSpPr bwMode="auto">
          <a:xfrm>
            <a:off x="7446223" y="3022302"/>
            <a:ext cx="316392" cy="369690"/>
            <a:chOff x="5253" y="2758"/>
            <a:chExt cx="306" cy="324"/>
          </a:xfrm>
        </p:grpSpPr>
        <p:sp>
          <p:nvSpPr>
            <p:cNvPr id="61506" name="Oval 44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7" name="Text Box 45"/>
            <p:cNvSpPr txBox="1">
              <a:spLocks noChangeArrowheads="1"/>
            </p:cNvSpPr>
            <p:nvPr/>
          </p:nvSpPr>
          <p:spPr bwMode="auto">
            <a:xfrm>
              <a:off x="5253" y="2758"/>
              <a:ext cx="306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61488" name="Group 46"/>
          <p:cNvGrpSpPr>
            <a:grpSpLocks/>
          </p:cNvGrpSpPr>
          <p:nvPr/>
        </p:nvGrpSpPr>
        <p:grpSpPr bwMode="auto">
          <a:xfrm>
            <a:off x="7008865" y="3106738"/>
            <a:ext cx="198521" cy="219075"/>
            <a:chOff x="5088" y="2592"/>
            <a:chExt cx="192" cy="192"/>
          </a:xfrm>
        </p:grpSpPr>
        <p:sp>
          <p:nvSpPr>
            <p:cNvPr id="61504" name="Oval 47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5" name="Line 48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489" name="Group 49"/>
          <p:cNvGrpSpPr>
            <a:grpSpLocks/>
          </p:cNvGrpSpPr>
          <p:nvPr/>
        </p:nvGrpSpPr>
        <p:grpSpPr bwMode="auto">
          <a:xfrm>
            <a:off x="7067792" y="3029148"/>
            <a:ext cx="316392" cy="369690"/>
            <a:chOff x="5256" y="2764"/>
            <a:chExt cx="306" cy="324"/>
          </a:xfrm>
        </p:grpSpPr>
        <p:sp>
          <p:nvSpPr>
            <p:cNvPr id="61502" name="Oval 50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3" name="Text Box 51"/>
            <p:cNvSpPr txBox="1">
              <a:spLocks noChangeArrowheads="1"/>
            </p:cNvSpPr>
            <p:nvPr/>
          </p:nvSpPr>
          <p:spPr bwMode="auto">
            <a:xfrm>
              <a:off x="5256" y="2764"/>
              <a:ext cx="306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61490" name="Group 52"/>
          <p:cNvGrpSpPr>
            <a:grpSpLocks/>
          </p:cNvGrpSpPr>
          <p:nvPr/>
        </p:nvGrpSpPr>
        <p:grpSpPr bwMode="auto">
          <a:xfrm>
            <a:off x="6611823" y="3106738"/>
            <a:ext cx="198521" cy="219075"/>
            <a:chOff x="5088" y="2592"/>
            <a:chExt cx="192" cy="192"/>
          </a:xfrm>
        </p:grpSpPr>
        <p:sp>
          <p:nvSpPr>
            <p:cNvPr id="61500" name="Oval 53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1" name="Line 54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491" name="Group 55"/>
          <p:cNvGrpSpPr>
            <a:grpSpLocks/>
          </p:cNvGrpSpPr>
          <p:nvPr/>
        </p:nvGrpSpPr>
        <p:grpSpPr bwMode="auto">
          <a:xfrm>
            <a:off x="6668689" y="3033712"/>
            <a:ext cx="316393" cy="369690"/>
            <a:chOff x="5254" y="2768"/>
            <a:chExt cx="306" cy="324"/>
          </a:xfrm>
        </p:grpSpPr>
        <p:sp>
          <p:nvSpPr>
            <p:cNvPr id="61498" name="Oval 56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9" name="Text Box 57"/>
            <p:cNvSpPr txBox="1">
              <a:spLocks noChangeArrowheads="1"/>
            </p:cNvSpPr>
            <p:nvPr/>
          </p:nvSpPr>
          <p:spPr bwMode="auto">
            <a:xfrm>
              <a:off x="5254" y="2768"/>
              <a:ext cx="306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61492" name="Group 58"/>
          <p:cNvGrpSpPr>
            <a:grpSpLocks/>
          </p:cNvGrpSpPr>
          <p:nvPr/>
        </p:nvGrpSpPr>
        <p:grpSpPr bwMode="auto">
          <a:xfrm>
            <a:off x="6199272" y="3101032"/>
            <a:ext cx="198521" cy="219075"/>
            <a:chOff x="5088" y="2587"/>
            <a:chExt cx="192" cy="192"/>
          </a:xfrm>
        </p:grpSpPr>
        <p:sp>
          <p:nvSpPr>
            <p:cNvPr id="61496" name="Oval 59"/>
            <p:cNvSpPr>
              <a:spLocks noChangeArrowheads="1"/>
            </p:cNvSpPr>
            <p:nvPr/>
          </p:nvSpPr>
          <p:spPr bwMode="auto">
            <a:xfrm>
              <a:off x="5088" y="2587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7" name="Line 60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493" name="Group 61"/>
          <p:cNvGrpSpPr>
            <a:grpSpLocks/>
          </p:cNvGrpSpPr>
          <p:nvPr/>
        </p:nvGrpSpPr>
        <p:grpSpPr bwMode="auto">
          <a:xfrm>
            <a:off x="6261301" y="3031425"/>
            <a:ext cx="316392" cy="369689"/>
            <a:chOff x="5259" y="2766"/>
            <a:chExt cx="306" cy="324"/>
          </a:xfrm>
        </p:grpSpPr>
        <p:sp>
          <p:nvSpPr>
            <p:cNvPr id="61494" name="Oval 62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5" name="Text Box 63"/>
            <p:cNvSpPr txBox="1">
              <a:spLocks noChangeArrowheads="1"/>
            </p:cNvSpPr>
            <p:nvPr/>
          </p:nvSpPr>
          <p:spPr bwMode="auto">
            <a:xfrm>
              <a:off x="5259" y="2766"/>
              <a:ext cx="306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25" name="Group 93"/>
          <p:cNvGrpSpPr>
            <a:grpSpLocks/>
          </p:cNvGrpSpPr>
          <p:nvPr/>
        </p:nvGrpSpPr>
        <p:grpSpPr bwMode="auto">
          <a:xfrm>
            <a:off x="4261964" y="1498225"/>
            <a:ext cx="2348326" cy="1523024"/>
            <a:chOff x="3163" y="769"/>
            <a:chExt cx="1895" cy="1670"/>
          </a:xfrm>
        </p:grpSpPr>
        <p:sp>
          <p:nvSpPr>
            <p:cNvPr id="61454" name="Text Box 94"/>
            <p:cNvSpPr txBox="1">
              <a:spLocks noChangeArrowheads="1"/>
            </p:cNvSpPr>
            <p:nvPr/>
          </p:nvSpPr>
          <p:spPr bwMode="auto">
            <a:xfrm>
              <a:off x="3916" y="769"/>
              <a:ext cx="1142" cy="5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</a:rPr>
                <a:t>感应电荷</a:t>
              </a:r>
            </a:p>
          </p:txBody>
        </p:sp>
        <p:sp>
          <p:nvSpPr>
            <p:cNvPr id="61455" name="Line 95"/>
            <p:cNvSpPr>
              <a:spLocks noChangeShapeType="1"/>
            </p:cNvSpPr>
            <p:nvPr/>
          </p:nvSpPr>
          <p:spPr bwMode="auto">
            <a:xfrm>
              <a:off x="3938" y="1267"/>
              <a:ext cx="215" cy="10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6" name="Line 96"/>
            <p:cNvSpPr>
              <a:spLocks noChangeShapeType="1"/>
            </p:cNvSpPr>
            <p:nvPr/>
          </p:nvSpPr>
          <p:spPr bwMode="auto">
            <a:xfrm flipH="1">
              <a:off x="3163" y="1260"/>
              <a:ext cx="764" cy="1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47" name="Text Box 97"/>
          <p:cNvSpPr txBox="1">
            <a:spLocks noChangeArrowheads="1"/>
          </p:cNvSpPr>
          <p:nvPr/>
        </p:nvSpPr>
        <p:spPr bwMode="auto">
          <a:xfrm>
            <a:off x="674551" y="685892"/>
            <a:ext cx="4043697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一、静电平衡条件</a:t>
            </a:r>
          </a:p>
        </p:txBody>
      </p:sp>
      <p:sp>
        <p:nvSpPr>
          <p:cNvPr id="29794" name="Rectangle 98"/>
          <p:cNvSpPr>
            <a:spLocks noChangeArrowheads="1"/>
          </p:cNvSpPr>
          <p:nvPr/>
        </p:nvSpPr>
        <p:spPr bwMode="auto">
          <a:xfrm>
            <a:off x="1043419" y="1279943"/>
            <a:ext cx="1943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kumimoji="1" lang="zh-CN" altLang="en-US" sz="2400" b="1" dirty="0">
                <a:latin typeface="Times New Roman" pitchFamily="18" charset="0"/>
              </a:rPr>
              <a:t>静电感应</a:t>
            </a:r>
            <a:endParaRPr kumimoji="1" lang="zh-CN" altLang="en-US" sz="24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25550" y="2000250"/>
            <a:ext cx="2286000" cy="2343150"/>
            <a:chOff x="1225550" y="2000250"/>
            <a:chExt cx="2286000" cy="2343150"/>
          </a:xfrm>
        </p:grpSpPr>
        <p:sp>
          <p:nvSpPr>
            <p:cNvPr id="61449" name="Oval 100"/>
            <p:cNvSpPr>
              <a:spLocks noChangeArrowheads="1"/>
            </p:cNvSpPr>
            <p:nvPr/>
          </p:nvSpPr>
          <p:spPr bwMode="auto">
            <a:xfrm>
              <a:off x="1911350" y="4057650"/>
              <a:ext cx="857250" cy="285750"/>
            </a:xfrm>
            <a:prstGeom prst="ellipse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7" name="Rectangle 101"/>
            <p:cNvSpPr>
              <a:spLocks noChangeArrowheads="1"/>
            </p:cNvSpPr>
            <p:nvPr/>
          </p:nvSpPr>
          <p:spPr bwMode="auto">
            <a:xfrm>
              <a:off x="2254250" y="3429000"/>
              <a:ext cx="171450" cy="800100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rgbClr val="DDDDDD"/>
                </a:gs>
                <a:gs pos="100000">
                  <a:schemeClr val="tx1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2" name="Group 5"/>
            <p:cNvGrpSpPr>
              <a:grpSpLocks/>
            </p:cNvGrpSpPr>
            <p:nvPr/>
          </p:nvGrpSpPr>
          <p:grpSpPr bwMode="auto">
            <a:xfrm rot="20944144">
              <a:off x="1225550" y="2000250"/>
              <a:ext cx="2286000" cy="2343150"/>
              <a:chOff x="576" y="1611"/>
              <a:chExt cx="2103" cy="2160"/>
            </a:xfrm>
          </p:grpSpPr>
          <p:grpSp>
            <p:nvGrpSpPr>
              <p:cNvPr id="61513" name="Group 6"/>
              <p:cNvGrpSpPr>
                <a:grpSpLocks/>
              </p:cNvGrpSpPr>
              <p:nvPr/>
            </p:nvGrpSpPr>
            <p:grpSpPr bwMode="auto">
              <a:xfrm>
                <a:off x="576" y="1611"/>
                <a:ext cx="2103" cy="2160"/>
                <a:chOff x="3264" y="1872"/>
                <a:chExt cx="2103" cy="2160"/>
              </a:xfrm>
            </p:grpSpPr>
            <p:sp>
              <p:nvSpPr>
                <p:cNvPr id="61517" name="Line 7"/>
                <p:cNvSpPr>
                  <a:spLocks noChangeShapeType="1"/>
                </p:cNvSpPr>
                <p:nvPr/>
              </p:nvSpPr>
              <p:spPr bwMode="auto">
                <a:xfrm flipH="1">
                  <a:off x="3321" y="2993"/>
                  <a:ext cx="1989" cy="1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18" name="Freeform 8"/>
                <p:cNvSpPr>
                  <a:spLocks/>
                </p:cNvSpPr>
                <p:nvPr/>
              </p:nvSpPr>
              <p:spPr bwMode="auto">
                <a:xfrm>
                  <a:off x="5282" y="2964"/>
                  <a:ext cx="85" cy="59"/>
                </a:xfrm>
                <a:custGeom>
                  <a:avLst/>
                  <a:gdLst>
                    <a:gd name="T0" fmla="*/ 0 w 99"/>
                    <a:gd name="T1" fmla="*/ 59 h 67"/>
                    <a:gd name="T2" fmla="*/ 85 w 99"/>
                    <a:gd name="T3" fmla="*/ 29 h 67"/>
                    <a:gd name="T4" fmla="*/ 0 w 99"/>
                    <a:gd name="T5" fmla="*/ 0 h 67"/>
                    <a:gd name="T6" fmla="*/ 27 w 99"/>
                    <a:gd name="T7" fmla="*/ 29 h 67"/>
                    <a:gd name="T8" fmla="*/ 0 w 99"/>
                    <a:gd name="T9" fmla="*/ 59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"/>
                    <a:gd name="T16" fmla="*/ 0 h 67"/>
                    <a:gd name="T17" fmla="*/ 99 w 99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" h="67">
                      <a:moveTo>
                        <a:pt x="0" y="67"/>
                      </a:moveTo>
                      <a:lnTo>
                        <a:pt x="99" y="33"/>
                      </a:lnTo>
                      <a:lnTo>
                        <a:pt x="0" y="0"/>
                      </a:lnTo>
                      <a:lnTo>
                        <a:pt x="31" y="33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19" name="Freeform 9"/>
                <p:cNvSpPr>
                  <a:spLocks/>
                </p:cNvSpPr>
                <p:nvPr/>
              </p:nvSpPr>
              <p:spPr bwMode="auto">
                <a:xfrm>
                  <a:off x="3264" y="2963"/>
                  <a:ext cx="85" cy="59"/>
                </a:xfrm>
                <a:custGeom>
                  <a:avLst/>
                  <a:gdLst>
                    <a:gd name="T0" fmla="*/ 85 w 99"/>
                    <a:gd name="T1" fmla="*/ 0 h 67"/>
                    <a:gd name="T2" fmla="*/ 0 w 99"/>
                    <a:gd name="T3" fmla="*/ 30 h 67"/>
                    <a:gd name="T4" fmla="*/ 85 w 99"/>
                    <a:gd name="T5" fmla="*/ 59 h 67"/>
                    <a:gd name="T6" fmla="*/ 58 w 99"/>
                    <a:gd name="T7" fmla="*/ 30 h 67"/>
                    <a:gd name="T8" fmla="*/ 85 w 99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"/>
                    <a:gd name="T16" fmla="*/ 0 h 67"/>
                    <a:gd name="T17" fmla="*/ 99 w 99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" h="67">
                      <a:moveTo>
                        <a:pt x="99" y="0"/>
                      </a:moveTo>
                      <a:lnTo>
                        <a:pt x="0" y="34"/>
                      </a:lnTo>
                      <a:lnTo>
                        <a:pt x="99" y="67"/>
                      </a:lnTo>
                      <a:lnTo>
                        <a:pt x="68" y="34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0" name="Line 10"/>
                <p:cNvSpPr>
                  <a:spLocks noChangeShapeType="1"/>
                </p:cNvSpPr>
                <p:nvPr/>
              </p:nvSpPr>
              <p:spPr bwMode="auto">
                <a:xfrm flipH="1" flipV="1">
                  <a:off x="3341" y="2613"/>
                  <a:ext cx="1846" cy="76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1" name="Freeform 11"/>
                <p:cNvSpPr>
                  <a:spLocks/>
                </p:cNvSpPr>
                <p:nvPr/>
              </p:nvSpPr>
              <p:spPr bwMode="auto">
                <a:xfrm>
                  <a:off x="5172" y="3343"/>
                  <a:ext cx="90" cy="59"/>
                </a:xfrm>
                <a:custGeom>
                  <a:avLst/>
                  <a:gdLst>
                    <a:gd name="T0" fmla="*/ 0 w 105"/>
                    <a:gd name="T1" fmla="*/ 55 h 67"/>
                    <a:gd name="T2" fmla="*/ 90 w 105"/>
                    <a:gd name="T3" fmla="*/ 59 h 67"/>
                    <a:gd name="T4" fmla="*/ 21 w 105"/>
                    <a:gd name="T5" fmla="*/ 0 h 67"/>
                    <a:gd name="T6" fmla="*/ 36 w 105"/>
                    <a:gd name="T7" fmla="*/ 37 h 67"/>
                    <a:gd name="T8" fmla="*/ 0 w 105"/>
                    <a:gd name="T9" fmla="*/ 55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5"/>
                    <a:gd name="T16" fmla="*/ 0 h 67"/>
                    <a:gd name="T17" fmla="*/ 105 w 105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5" h="67">
                      <a:moveTo>
                        <a:pt x="0" y="62"/>
                      </a:moveTo>
                      <a:lnTo>
                        <a:pt x="105" y="67"/>
                      </a:lnTo>
                      <a:lnTo>
                        <a:pt x="25" y="0"/>
                      </a:lnTo>
                      <a:lnTo>
                        <a:pt x="42" y="42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2" name="Freeform 12"/>
                <p:cNvSpPr>
                  <a:spLocks/>
                </p:cNvSpPr>
                <p:nvPr/>
              </p:nvSpPr>
              <p:spPr bwMode="auto">
                <a:xfrm>
                  <a:off x="3312" y="2592"/>
                  <a:ext cx="90" cy="59"/>
                </a:xfrm>
                <a:custGeom>
                  <a:avLst/>
                  <a:gdLst>
                    <a:gd name="T0" fmla="*/ 90 w 105"/>
                    <a:gd name="T1" fmla="*/ 4 h 67"/>
                    <a:gd name="T2" fmla="*/ 0 w 105"/>
                    <a:gd name="T3" fmla="*/ 0 h 67"/>
                    <a:gd name="T4" fmla="*/ 69 w 105"/>
                    <a:gd name="T5" fmla="*/ 59 h 67"/>
                    <a:gd name="T6" fmla="*/ 54 w 105"/>
                    <a:gd name="T7" fmla="*/ 22 h 67"/>
                    <a:gd name="T8" fmla="*/ 90 w 105"/>
                    <a:gd name="T9" fmla="*/ 4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5"/>
                    <a:gd name="T16" fmla="*/ 0 h 67"/>
                    <a:gd name="T17" fmla="*/ 105 w 105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5" h="67">
                      <a:moveTo>
                        <a:pt x="105" y="5"/>
                      </a:moveTo>
                      <a:lnTo>
                        <a:pt x="0" y="0"/>
                      </a:lnTo>
                      <a:lnTo>
                        <a:pt x="80" y="67"/>
                      </a:lnTo>
                      <a:lnTo>
                        <a:pt x="63" y="25"/>
                      </a:lnTo>
                      <a:lnTo>
                        <a:pt x="105" y="5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3" name="Line 13"/>
                <p:cNvSpPr>
                  <a:spLocks noChangeShapeType="1"/>
                </p:cNvSpPr>
                <p:nvPr/>
              </p:nvSpPr>
              <p:spPr bwMode="auto">
                <a:xfrm flipH="1" flipV="1">
                  <a:off x="3544" y="2296"/>
                  <a:ext cx="1460" cy="1411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4" name="Freeform 14"/>
                <p:cNvSpPr>
                  <a:spLocks/>
                </p:cNvSpPr>
                <p:nvPr/>
              </p:nvSpPr>
              <p:spPr bwMode="auto">
                <a:xfrm>
                  <a:off x="4962" y="3666"/>
                  <a:ext cx="82" cy="81"/>
                </a:xfrm>
                <a:custGeom>
                  <a:avLst/>
                  <a:gdLst>
                    <a:gd name="T0" fmla="*/ 0 w 95"/>
                    <a:gd name="T1" fmla="*/ 42 h 92"/>
                    <a:gd name="T2" fmla="*/ 82 w 95"/>
                    <a:gd name="T3" fmla="*/ 81 h 92"/>
                    <a:gd name="T4" fmla="*/ 40 w 95"/>
                    <a:gd name="T5" fmla="*/ 0 h 92"/>
                    <a:gd name="T6" fmla="*/ 40 w 95"/>
                    <a:gd name="T7" fmla="*/ 40 h 92"/>
                    <a:gd name="T8" fmla="*/ 0 w 95"/>
                    <a:gd name="T9" fmla="*/ 42 h 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5"/>
                    <a:gd name="T16" fmla="*/ 0 h 92"/>
                    <a:gd name="T17" fmla="*/ 95 w 95"/>
                    <a:gd name="T18" fmla="*/ 92 h 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5" h="92">
                      <a:moveTo>
                        <a:pt x="0" y="48"/>
                      </a:moveTo>
                      <a:lnTo>
                        <a:pt x="95" y="92"/>
                      </a:lnTo>
                      <a:lnTo>
                        <a:pt x="46" y="0"/>
                      </a:lnTo>
                      <a:lnTo>
                        <a:pt x="46" y="45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5" name="Freeform 15"/>
                <p:cNvSpPr>
                  <a:spLocks/>
                </p:cNvSpPr>
                <p:nvPr/>
              </p:nvSpPr>
              <p:spPr bwMode="auto">
                <a:xfrm>
                  <a:off x="3504" y="2256"/>
                  <a:ext cx="82" cy="81"/>
                </a:xfrm>
                <a:custGeom>
                  <a:avLst/>
                  <a:gdLst>
                    <a:gd name="T0" fmla="*/ 82 w 95"/>
                    <a:gd name="T1" fmla="*/ 39 h 92"/>
                    <a:gd name="T2" fmla="*/ 0 w 95"/>
                    <a:gd name="T3" fmla="*/ 0 h 92"/>
                    <a:gd name="T4" fmla="*/ 42 w 95"/>
                    <a:gd name="T5" fmla="*/ 81 h 92"/>
                    <a:gd name="T6" fmla="*/ 42 w 95"/>
                    <a:gd name="T7" fmla="*/ 41 h 92"/>
                    <a:gd name="T8" fmla="*/ 82 w 95"/>
                    <a:gd name="T9" fmla="*/ 39 h 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5"/>
                    <a:gd name="T16" fmla="*/ 0 h 92"/>
                    <a:gd name="T17" fmla="*/ 95 w 95"/>
                    <a:gd name="T18" fmla="*/ 92 h 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5" h="92">
                      <a:moveTo>
                        <a:pt x="95" y="44"/>
                      </a:moveTo>
                      <a:lnTo>
                        <a:pt x="0" y="0"/>
                      </a:lnTo>
                      <a:lnTo>
                        <a:pt x="49" y="92"/>
                      </a:lnTo>
                      <a:lnTo>
                        <a:pt x="49" y="47"/>
                      </a:lnTo>
                      <a:lnTo>
                        <a:pt x="95" y="44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6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911" y="2027"/>
                  <a:ext cx="785" cy="185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7" name="Freeform 17"/>
                <p:cNvSpPr>
                  <a:spLocks/>
                </p:cNvSpPr>
                <p:nvPr/>
              </p:nvSpPr>
              <p:spPr bwMode="auto">
                <a:xfrm>
                  <a:off x="4659" y="1974"/>
                  <a:ext cx="60" cy="92"/>
                </a:xfrm>
                <a:custGeom>
                  <a:avLst/>
                  <a:gdLst>
                    <a:gd name="T0" fmla="*/ 53 w 70"/>
                    <a:gd name="T1" fmla="*/ 92 h 104"/>
                    <a:gd name="T2" fmla="*/ 60 w 70"/>
                    <a:gd name="T3" fmla="*/ 0 h 104"/>
                    <a:gd name="T4" fmla="*/ 0 w 70"/>
                    <a:gd name="T5" fmla="*/ 69 h 104"/>
                    <a:gd name="T6" fmla="*/ 37 w 70"/>
                    <a:gd name="T7" fmla="*/ 55 h 104"/>
                    <a:gd name="T8" fmla="*/ 53 w 70"/>
                    <a:gd name="T9" fmla="*/ 92 h 1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"/>
                    <a:gd name="T16" fmla="*/ 0 h 104"/>
                    <a:gd name="T17" fmla="*/ 70 w 70"/>
                    <a:gd name="T18" fmla="*/ 104 h 1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" h="104">
                      <a:moveTo>
                        <a:pt x="62" y="104"/>
                      </a:move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43" y="62"/>
                      </a:lnTo>
                      <a:lnTo>
                        <a:pt x="62" y="104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8" name="Freeform 18"/>
                <p:cNvSpPr>
                  <a:spLocks/>
                </p:cNvSpPr>
                <p:nvPr/>
              </p:nvSpPr>
              <p:spPr bwMode="auto">
                <a:xfrm>
                  <a:off x="3888" y="3846"/>
                  <a:ext cx="60" cy="92"/>
                </a:xfrm>
                <a:custGeom>
                  <a:avLst/>
                  <a:gdLst>
                    <a:gd name="T0" fmla="*/ 7 w 70"/>
                    <a:gd name="T1" fmla="*/ 0 h 104"/>
                    <a:gd name="T2" fmla="*/ 0 w 70"/>
                    <a:gd name="T3" fmla="*/ 92 h 104"/>
                    <a:gd name="T4" fmla="*/ 60 w 70"/>
                    <a:gd name="T5" fmla="*/ 23 h 104"/>
                    <a:gd name="T6" fmla="*/ 23 w 70"/>
                    <a:gd name="T7" fmla="*/ 37 h 104"/>
                    <a:gd name="T8" fmla="*/ 7 w 70"/>
                    <a:gd name="T9" fmla="*/ 0 h 1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"/>
                    <a:gd name="T16" fmla="*/ 0 h 104"/>
                    <a:gd name="T17" fmla="*/ 70 w 70"/>
                    <a:gd name="T18" fmla="*/ 104 h 1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" h="104">
                      <a:moveTo>
                        <a:pt x="8" y="0"/>
                      </a:moveTo>
                      <a:lnTo>
                        <a:pt x="0" y="104"/>
                      </a:lnTo>
                      <a:lnTo>
                        <a:pt x="70" y="26"/>
                      </a:lnTo>
                      <a:lnTo>
                        <a:pt x="27" y="42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29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3381" y="2645"/>
                  <a:ext cx="1870" cy="69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0" name="Freeform 20"/>
                <p:cNvSpPr>
                  <a:spLocks/>
                </p:cNvSpPr>
                <p:nvPr/>
              </p:nvSpPr>
              <p:spPr bwMode="auto">
                <a:xfrm>
                  <a:off x="5215" y="2625"/>
                  <a:ext cx="89" cy="57"/>
                </a:xfrm>
                <a:custGeom>
                  <a:avLst/>
                  <a:gdLst>
                    <a:gd name="T0" fmla="*/ 19 w 104"/>
                    <a:gd name="T1" fmla="*/ 57 h 65"/>
                    <a:gd name="T2" fmla="*/ 89 w 104"/>
                    <a:gd name="T3" fmla="*/ 0 h 65"/>
                    <a:gd name="T4" fmla="*/ 0 w 104"/>
                    <a:gd name="T5" fmla="*/ 2 h 65"/>
                    <a:gd name="T6" fmla="*/ 34 w 104"/>
                    <a:gd name="T7" fmla="*/ 20 h 65"/>
                    <a:gd name="T8" fmla="*/ 19 w 104"/>
                    <a:gd name="T9" fmla="*/ 57 h 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4"/>
                    <a:gd name="T16" fmla="*/ 0 h 65"/>
                    <a:gd name="T17" fmla="*/ 104 w 104"/>
                    <a:gd name="T18" fmla="*/ 65 h 6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4" h="65">
                      <a:moveTo>
                        <a:pt x="22" y="65"/>
                      </a:moveTo>
                      <a:lnTo>
                        <a:pt x="104" y="0"/>
                      </a:lnTo>
                      <a:lnTo>
                        <a:pt x="0" y="2"/>
                      </a:lnTo>
                      <a:lnTo>
                        <a:pt x="40" y="23"/>
                      </a:lnTo>
                      <a:lnTo>
                        <a:pt x="22" y="65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1" name="Freeform 21"/>
                <p:cNvSpPr>
                  <a:spLocks/>
                </p:cNvSpPr>
                <p:nvPr/>
              </p:nvSpPr>
              <p:spPr bwMode="auto">
                <a:xfrm>
                  <a:off x="3328" y="3305"/>
                  <a:ext cx="89" cy="57"/>
                </a:xfrm>
                <a:custGeom>
                  <a:avLst/>
                  <a:gdLst>
                    <a:gd name="T0" fmla="*/ 70 w 104"/>
                    <a:gd name="T1" fmla="*/ 0 h 65"/>
                    <a:gd name="T2" fmla="*/ 0 w 104"/>
                    <a:gd name="T3" fmla="*/ 57 h 65"/>
                    <a:gd name="T4" fmla="*/ 89 w 104"/>
                    <a:gd name="T5" fmla="*/ 55 h 65"/>
                    <a:gd name="T6" fmla="*/ 55 w 104"/>
                    <a:gd name="T7" fmla="*/ 37 h 65"/>
                    <a:gd name="T8" fmla="*/ 70 w 104"/>
                    <a:gd name="T9" fmla="*/ 0 h 6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4"/>
                    <a:gd name="T16" fmla="*/ 0 h 65"/>
                    <a:gd name="T17" fmla="*/ 104 w 104"/>
                    <a:gd name="T18" fmla="*/ 65 h 6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4" h="65">
                      <a:moveTo>
                        <a:pt x="82" y="0"/>
                      </a:moveTo>
                      <a:lnTo>
                        <a:pt x="0" y="65"/>
                      </a:lnTo>
                      <a:lnTo>
                        <a:pt x="104" y="63"/>
                      </a:lnTo>
                      <a:lnTo>
                        <a:pt x="64" y="4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2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3600" y="2241"/>
                  <a:ext cx="1433" cy="14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3" name="Freeform 23"/>
                <p:cNvSpPr>
                  <a:spLocks/>
                </p:cNvSpPr>
                <p:nvPr/>
              </p:nvSpPr>
              <p:spPr bwMode="auto">
                <a:xfrm>
                  <a:off x="3560" y="3619"/>
                  <a:ext cx="81" cy="82"/>
                </a:xfrm>
                <a:custGeom>
                  <a:avLst/>
                  <a:gdLst>
                    <a:gd name="T0" fmla="*/ 41 w 94"/>
                    <a:gd name="T1" fmla="*/ 0 h 93"/>
                    <a:gd name="T2" fmla="*/ 0 w 94"/>
                    <a:gd name="T3" fmla="*/ 82 h 93"/>
                    <a:gd name="T4" fmla="*/ 81 w 94"/>
                    <a:gd name="T5" fmla="*/ 42 h 93"/>
                    <a:gd name="T6" fmla="*/ 42 w 94"/>
                    <a:gd name="T7" fmla="*/ 41 h 93"/>
                    <a:gd name="T8" fmla="*/ 41 w 94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93"/>
                    <a:gd name="T17" fmla="*/ 94 w 94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93">
                      <a:moveTo>
                        <a:pt x="48" y="0"/>
                      </a:moveTo>
                      <a:lnTo>
                        <a:pt x="0" y="93"/>
                      </a:lnTo>
                      <a:lnTo>
                        <a:pt x="94" y="48"/>
                      </a:lnTo>
                      <a:lnTo>
                        <a:pt x="49" y="46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4" name="Freeform 24"/>
                <p:cNvSpPr>
                  <a:spLocks/>
                </p:cNvSpPr>
                <p:nvPr/>
              </p:nvSpPr>
              <p:spPr bwMode="auto">
                <a:xfrm>
                  <a:off x="4992" y="2201"/>
                  <a:ext cx="81" cy="82"/>
                </a:xfrm>
                <a:custGeom>
                  <a:avLst/>
                  <a:gdLst>
                    <a:gd name="T0" fmla="*/ 40 w 94"/>
                    <a:gd name="T1" fmla="*/ 82 h 93"/>
                    <a:gd name="T2" fmla="*/ 81 w 94"/>
                    <a:gd name="T3" fmla="*/ 0 h 93"/>
                    <a:gd name="T4" fmla="*/ 0 w 94"/>
                    <a:gd name="T5" fmla="*/ 40 h 93"/>
                    <a:gd name="T6" fmla="*/ 39 w 94"/>
                    <a:gd name="T7" fmla="*/ 41 h 93"/>
                    <a:gd name="T8" fmla="*/ 40 w 94"/>
                    <a:gd name="T9" fmla="*/ 82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93"/>
                    <a:gd name="T17" fmla="*/ 94 w 94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93">
                      <a:moveTo>
                        <a:pt x="46" y="93"/>
                      </a:moveTo>
                      <a:lnTo>
                        <a:pt x="94" y="0"/>
                      </a:lnTo>
                      <a:lnTo>
                        <a:pt x="0" y="45"/>
                      </a:lnTo>
                      <a:lnTo>
                        <a:pt x="45" y="47"/>
                      </a:lnTo>
                      <a:lnTo>
                        <a:pt x="46" y="93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5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4281" y="1930"/>
                  <a:ext cx="1" cy="2044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6" name="Freeform 26"/>
                <p:cNvSpPr>
                  <a:spLocks/>
                </p:cNvSpPr>
                <p:nvPr/>
              </p:nvSpPr>
              <p:spPr bwMode="auto">
                <a:xfrm>
                  <a:off x="4245" y="3945"/>
                  <a:ext cx="57" cy="87"/>
                </a:xfrm>
                <a:custGeom>
                  <a:avLst/>
                  <a:gdLst>
                    <a:gd name="T0" fmla="*/ 0 w 67"/>
                    <a:gd name="T1" fmla="*/ 0 h 99"/>
                    <a:gd name="T2" fmla="*/ 29 w 67"/>
                    <a:gd name="T3" fmla="*/ 87 h 99"/>
                    <a:gd name="T4" fmla="*/ 57 w 67"/>
                    <a:gd name="T5" fmla="*/ 0 h 99"/>
                    <a:gd name="T6" fmla="*/ 29 w 67"/>
                    <a:gd name="T7" fmla="*/ 27 h 99"/>
                    <a:gd name="T8" fmla="*/ 0 w 67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7"/>
                    <a:gd name="T16" fmla="*/ 0 h 99"/>
                    <a:gd name="T17" fmla="*/ 67 w 67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7" h="99">
                      <a:moveTo>
                        <a:pt x="0" y="0"/>
                      </a:moveTo>
                      <a:lnTo>
                        <a:pt x="34" y="99"/>
                      </a:lnTo>
                      <a:lnTo>
                        <a:pt x="67" y="0"/>
                      </a:lnTo>
                      <a:lnTo>
                        <a:pt x="3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7" name="Freeform 27"/>
                <p:cNvSpPr>
                  <a:spLocks/>
                </p:cNvSpPr>
                <p:nvPr/>
              </p:nvSpPr>
              <p:spPr bwMode="auto">
                <a:xfrm>
                  <a:off x="4253" y="1872"/>
                  <a:ext cx="57" cy="87"/>
                </a:xfrm>
                <a:custGeom>
                  <a:avLst/>
                  <a:gdLst>
                    <a:gd name="T0" fmla="*/ 57 w 67"/>
                    <a:gd name="T1" fmla="*/ 87 h 99"/>
                    <a:gd name="T2" fmla="*/ 28 w 67"/>
                    <a:gd name="T3" fmla="*/ 0 h 99"/>
                    <a:gd name="T4" fmla="*/ 0 w 67"/>
                    <a:gd name="T5" fmla="*/ 87 h 99"/>
                    <a:gd name="T6" fmla="*/ 28 w 67"/>
                    <a:gd name="T7" fmla="*/ 60 h 99"/>
                    <a:gd name="T8" fmla="*/ 57 w 67"/>
                    <a:gd name="T9" fmla="*/ 87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7"/>
                    <a:gd name="T16" fmla="*/ 0 h 99"/>
                    <a:gd name="T17" fmla="*/ 67 w 67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7" h="99">
                      <a:moveTo>
                        <a:pt x="67" y="99"/>
                      </a:moveTo>
                      <a:lnTo>
                        <a:pt x="33" y="0"/>
                      </a:lnTo>
                      <a:lnTo>
                        <a:pt x="0" y="99"/>
                      </a:lnTo>
                      <a:lnTo>
                        <a:pt x="33" y="68"/>
                      </a:lnTo>
                      <a:lnTo>
                        <a:pt x="67" y="99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8" name="Line 28"/>
                <p:cNvSpPr>
                  <a:spLocks noChangeShapeType="1"/>
                </p:cNvSpPr>
                <p:nvPr/>
              </p:nvSpPr>
              <p:spPr bwMode="auto">
                <a:xfrm flipH="1" flipV="1">
                  <a:off x="3871" y="2018"/>
                  <a:ext cx="808" cy="186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39" name="Freeform 29"/>
                <p:cNvSpPr>
                  <a:spLocks/>
                </p:cNvSpPr>
                <p:nvPr/>
              </p:nvSpPr>
              <p:spPr bwMode="auto">
                <a:xfrm>
                  <a:off x="4641" y="3846"/>
                  <a:ext cx="62" cy="92"/>
                </a:xfrm>
                <a:custGeom>
                  <a:avLst/>
                  <a:gdLst>
                    <a:gd name="T0" fmla="*/ 0 w 72"/>
                    <a:gd name="T1" fmla="*/ 25 h 104"/>
                    <a:gd name="T2" fmla="*/ 62 w 72"/>
                    <a:gd name="T3" fmla="*/ 92 h 104"/>
                    <a:gd name="T4" fmla="*/ 53 w 72"/>
                    <a:gd name="T5" fmla="*/ 0 h 104"/>
                    <a:gd name="T6" fmla="*/ 38 w 72"/>
                    <a:gd name="T7" fmla="*/ 37 h 104"/>
                    <a:gd name="T8" fmla="*/ 0 w 72"/>
                    <a:gd name="T9" fmla="*/ 25 h 1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"/>
                    <a:gd name="T16" fmla="*/ 0 h 104"/>
                    <a:gd name="T17" fmla="*/ 72 w 72"/>
                    <a:gd name="T18" fmla="*/ 104 h 1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" h="104">
                      <a:moveTo>
                        <a:pt x="0" y="28"/>
                      </a:moveTo>
                      <a:lnTo>
                        <a:pt x="72" y="104"/>
                      </a:lnTo>
                      <a:lnTo>
                        <a:pt x="61" y="0"/>
                      </a:lnTo>
                      <a:lnTo>
                        <a:pt x="44" y="42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40" name="Freeform 30"/>
                <p:cNvSpPr>
                  <a:spLocks/>
                </p:cNvSpPr>
                <p:nvPr/>
              </p:nvSpPr>
              <p:spPr bwMode="auto">
                <a:xfrm>
                  <a:off x="3847" y="1965"/>
                  <a:ext cx="62" cy="92"/>
                </a:xfrm>
                <a:custGeom>
                  <a:avLst/>
                  <a:gdLst>
                    <a:gd name="T0" fmla="*/ 62 w 72"/>
                    <a:gd name="T1" fmla="*/ 67 h 104"/>
                    <a:gd name="T2" fmla="*/ 0 w 72"/>
                    <a:gd name="T3" fmla="*/ 0 h 104"/>
                    <a:gd name="T4" fmla="*/ 9 w 72"/>
                    <a:gd name="T5" fmla="*/ 92 h 104"/>
                    <a:gd name="T6" fmla="*/ 24 w 72"/>
                    <a:gd name="T7" fmla="*/ 55 h 104"/>
                    <a:gd name="T8" fmla="*/ 62 w 72"/>
                    <a:gd name="T9" fmla="*/ 67 h 1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"/>
                    <a:gd name="T16" fmla="*/ 0 h 104"/>
                    <a:gd name="T17" fmla="*/ 72 w 72"/>
                    <a:gd name="T18" fmla="*/ 104 h 1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" h="104">
                      <a:moveTo>
                        <a:pt x="72" y="76"/>
                      </a:moveTo>
                      <a:lnTo>
                        <a:pt x="0" y="0"/>
                      </a:lnTo>
                      <a:lnTo>
                        <a:pt x="11" y="104"/>
                      </a:lnTo>
                      <a:lnTo>
                        <a:pt x="28" y="62"/>
                      </a:lnTo>
                      <a:lnTo>
                        <a:pt x="72" y="76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514" name="Group 31"/>
              <p:cNvGrpSpPr>
                <a:grpSpLocks/>
              </p:cNvGrpSpPr>
              <p:nvPr/>
            </p:nvGrpSpPr>
            <p:grpSpPr bwMode="auto">
              <a:xfrm>
                <a:off x="1462" y="2559"/>
                <a:ext cx="242" cy="383"/>
                <a:chOff x="4176" y="526"/>
                <a:chExt cx="242" cy="383"/>
              </a:xfrm>
            </p:grpSpPr>
            <p:sp>
              <p:nvSpPr>
                <p:cNvPr id="61515" name="Oval 32"/>
                <p:cNvSpPr>
                  <a:spLocks noChangeArrowheads="1"/>
                </p:cNvSpPr>
                <p:nvPr/>
              </p:nvSpPr>
              <p:spPr bwMode="auto">
                <a:xfrm>
                  <a:off x="4176" y="575"/>
                  <a:ext cx="242" cy="248"/>
                </a:xfrm>
                <a:prstGeom prst="ellipse">
                  <a:avLst/>
                </a:prstGeom>
                <a:solidFill>
                  <a:schemeClr val="folHlink"/>
                </a:solidFill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16" name="Rectangle 33"/>
                <p:cNvSpPr>
                  <a:spLocks noChangeArrowheads="1"/>
                </p:cNvSpPr>
                <p:nvPr/>
              </p:nvSpPr>
              <p:spPr bwMode="auto">
                <a:xfrm>
                  <a:off x="4216" y="526"/>
                  <a:ext cx="181" cy="3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zh-CN" sz="2700" b="1">
                      <a:solidFill>
                        <a:srgbClr val="CC0000"/>
                      </a:solidFill>
                      <a:latin typeface="Bookman Old Style" pitchFamily="18" charset="0"/>
                    </a:rPr>
                    <a:t>+</a:t>
                  </a:r>
                  <a:endParaRPr kumimoji="1" lang="en-US" altLang="zh-CN"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61451" name="Oval 102"/>
            <p:cNvSpPr>
              <a:spLocks noChangeArrowheads="1"/>
            </p:cNvSpPr>
            <p:nvPr/>
          </p:nvSpPr>
          <p:spPr bwMode="auto">
            <a:xfrm>
              <a:off x="2048273" y="2883694"/>
              <a:ext cx="606028" cy="56435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2" name="Text Box 103"/>
            <p:cNvSpPr txBox="1">
              <a:spLocks noChangeArrowheads="1"/>
            </p:cNvSpPr>
            <p:nvPr/>
          </p:nvSpPr>
          <p:spPr bwMode="auto">
            <a:xfrm>
              <a:off x="2164080" y="2946400"/>
              <a:ext cx="35939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61542" name="灯片编号占位符 1"/>
          <p:cNvSpPr txBox="1">
            <a:spLocks noGrp="1" noChangeArrowheads="1"/>
          </p:cNvSpPr>
          <p:nvPr/>
        </p:nvSpPr>
        <p:spPr bwMode="auto">
          <a:xfrm>
            <a:off x="7543800" y="4869656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CC3FC8CF-3251-4380-A5D4-15EEECC0905C}" type="slidenum">
              <a:rPr lang="zh-CN" altLang="en-US" sz="1050" b="1">
                <a:latin typeface="Calibri" pitchFamily="34" charset="0"/>
              </a:rPr>
              <a:pPr algn="r"/>
              <a:t>3</a:t>
            </a:fld>
            <a:endParaRPr lang="en-US" altLang="zh-CN" sz="1050" dirty="0"/>
          </a:p>
        </p:txBody>
      </p:sp>
      <p:sp>
        <p:nvSpPr>
          <p:cNvPr id="101" name="Text Box 5"/>
          <p:cNvSpPr txBox="1">
            <a:spLocks noChangeArrowheads="1"/>
          </p:cNvSpPr>
          <p:nvPr/>
        </p:nvSpPr>
        <p:spPr bwMode="auto">
          <a:xfrm>
            <a:off x="2735796" y="87474"/>
            <a:ext cx="37264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§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6.1  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静电场中的导体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35802E-6 L -0.09878 1.35802E-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1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48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71605E-6 L -0.12952 -0.007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76" y="-37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35802E-6 L -0.17413 0.010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14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15" y="525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20988E-6 L -0.20573 0.0049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14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95" y="247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4.07407E-6 L -0.23733 0.01112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61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75" y="556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35802E-6 L -0.27482 1.35802E-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5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35802E-6 L -0.31059 0.00957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38" y="463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1.35802E-6 L -0.37968 0.0012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93" y="62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83951E-6 L -0.22187 0.0021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614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9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8" presetClass="entr" presetSubtype="1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Line 4"/>
          <p:cNvSpPr>
            <a:spLocks noChangeShapeType="1"/>
          </p:cNvSpPr>
          <p:nvPr/>
        </p:nvSpPr>
        <p:spPr bwMode="auto">
          <a:xfrm>
            <a:off x="2057400" y="1940719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" name="Line 5"/>
          <p:cNvSpPr>
            <a:spLocks noChangeShapeType="1"/>
          </p:cNvSpPr>
          <p:nvPr/>
        </p:nvSpPr>
        <p:spPr bwMode="auto">
          <a:xfrm>
            <a:off x="2057400" y="1676400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Line 6"/>
          <p:cNvSpPr>
            <a:spLocks noChangeShapeType="1"/>
          </p:cNvSpPr>
          <p:nvPr/>
        </p:nvSpPr>
        <p:spPr bwMode="auto">
          <a:xfrm>
            <a:off x="2057400" y="2206229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" name="Line 7"/>
          <p:cNvSpPr>
            <a:spLocks noChangeShapeType="1"/>
          </p:cNvSpPr>
          <p:nvPr/>
        </p:nvSpPr>
        <p:spPr bwMode="auto">
          <a:xfrm>
            <a:off x="2057400" y="2470547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" name="Line 8"/>
          <p:cNvSpPr>
            <a:spLocks noChangeShapeType="1"/>
          </p:cNvSpPr>
          <p:nvPr/>
        </p:nvSpPr>
        <p:spPr bwMode="auto">
          <a:xfrm>
            <a:off x="2057400" y="2734866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" name="Line 9"/>
          <p:cNvSpPr>
            <a:spLocks noChangeShapeType="1"/>
          </p:cNvSpPr>
          <p:nvPr/>
        </p:nvSpPr>
        <p:spPr bwMode="auto">
          <a:xfrm>
            <a:off x="2057400" y="2999185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" name="Line 10"/>
          <p:cNvSpPr>
            <a:spLocks noChangeShapeType="1"/>
          </p:cNvSpPr>
          <p:nvPr/>
        </p:nvSpPr>
        <p:spPr bwMode="auto">
          <a:xfrm>
            <a:off x="2057400" y="3263504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" name="Line 11"/>
          <p:cNvSpPr>
            <a:spLocks noChangeShapeType="1"/>
          </p:cNvSpPr>
          <p:nvPr/>
        </p:nvSpPr>
        <p:spPr bwMode="auto">
          <a:xfrm>
            <a:off x="2057400" y="4057650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9" name="Line 12"/>
          <p:cNvSpPr>
            <a:spLocks noChangeShapeType="1"/>
          </p:cNvSpPr>
          <p:nvPr/>
        </p:nvSpPr>
        <p:spPr bwMode="auto">
          <a:xfrm>
            <a:off x="2057400" y="3529013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0" name="Line 13"/>
          <p:cNvSpPr>
            <a:spLocks noChangeShapeType="1"/>
          </p:cNvSpPr>
          <p:nvPr/>
        </p:nvSpPr>
        <p:spPr bwMode="auto">
          <a:xfrm>
            <a:off x="2057400" y="3793331"/>
            <a:ext cx="4800600" cy="0"/>
          </a:xfrm>
          <a:prstGeom prst="line">
            <a:avLst/>
          </a:prstGeom>
          <a:noFill/>
          <a:ln w="17780">
            <a:solidFill>
              <a:srgbClr val="CC0099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1" name="Line 14"/>
          <p:cNvSpPr>
            <a:spLocks noChangeShapeType="1"/>
          </p:cNvSpPr>
          <p:nvPr/>
        </p:nvSpPr>
        <p:spPr bwMode="auto">
          <a:xfrm>
            <a:off x="3257550" y="3529013"/>
            <a:ext cx="11430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2" name="Line 15"/>
          <p:cNvSpPr>
            <a:spLocks noChangeShapeType="1"/>
          </p:cNvSpPr>
          <p:nvPr/>
        </p:nvSpPr>
        <p:spPr bwMode="auto">
          <a:xfrm>
            <a:off x="3200400" y="3263504"/>
            <a:ext cx="17145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Line 16"/>
          <p:cNvSpPr>
            <a:spLocks noChangeShapeType="1"/>
          </p:cNvSpPr>
          <p:nvPr/>
        </p:nvSpPr>
        <p:spPr bwMode="auto">
          <a:xfrm>
            <a:off x="3200400" y="2999185"/>
            <a:ext cx="17145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Line 17"/>
          <p:cNvSpPr>
            <a:spLocks noChangeShapeType="1"/>
          </p:cNvSpPr>
          <p:nvPr/>
        </p:nvSpPr>
        <p:spPr bwMode="auto">
          <a:xfrm>
            <a:off x="3257550" y="2734866"/>
            <a:ext cx="11430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18"/>
          <p:cNvSpPr>
            <a:spLocks noChangeShapeType="1"/>
          </p:cNvSpPr>
          <p:nvPr/>
        </p:nvSpPr>
        <p:spPr bwMode="auto">
          <a:xfrm>
            <a:off x="3257550" y="2470547"/>
            <a:ext cx="11430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Line 19"/>
          <p:cNvSpPr>
            <a:spLocks noChangeShapeType="1"/>
          </p:cNvSpPr>
          <p:nvPr/>
        </p:nvSpPr>
        <p:spPr bwMode="auto">
          <a:xfrm>
            <a:off x="3200400" y="2206229"/>
            <a:ext cx="17145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Line 20"/>
          <p:cNvSpPr>
            <a:spLocks noChangeShapeType="1"/>
          </p:cNvSpPr>
          <p:nvPr/>
        </p:nvSpPr>
        <p:spPr bwMode="auto">
          <a:xfrm>
            <a:off x="3200400" y="1940719"/>
            <a:ext cx="17145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Line 21"/>
          <p:cNvSpPr>
            <a:spLocks noChangeShapeType="1"/>
          </p:cNvSpPr>
          <p:nvPr/>
        </p:nvSpPr>
        <p:spPr bwMode="auto">
          <a:xfrm>
            <a:off x="3257550" y="3793331"/>
            <a:ext cx="114300" cy="0"/>
          </a:xfrm>
          <a:prstGeom prst="line">
            <a:avLst/>
          </a:prstGeom>
          <a:noFill/>
          <a:ln w="17780">
            <a:solidFill>
              <a:srgbClr val="CC00CC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22"/>
          <p:cNvSpPr>
            <a:spLocks noChangeArrowheads="1"/>
          </p:cNvSpPr>
          <p:nvPr/>
        </p:nvSpPr>
        <p:spPr bwMode="auto">
          <a:xfrm>
            <a:off x="3371850" y="1771650"/>
            <a:ext cx="2000250" cy="2171700"/>
          </a:xfrm>
          <a:prstGeom prst="rect">
            <a:avLst/>
          </a:prstGeom>
          <a:gradFill rotWithShape="0">
            <a:gsLst>
              <a:gs pos="0">
                <a:srgbClr val="C0C0C0"/>
              </a:gs>
              <a:gs pos="50000">
                <a:srgbClr val="FFFFFF"/>
              </a:gs>
              <a:gs pos="100000">
                <a:srgbClr val="C0C0C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0" name="Group 23"/>
          <p:cNvGrpSpPr>
            <a:grpSpLocks/>
          </p:cNvGrpSpPr>
          <p:nvPr/>
        </p:nvGrpSpPr>
        <p:grpSpPr bwMode="auto">
          <a:xfrm>
            <a:off x="3446860" y="2122885"/>
            <a:ext cx="228600" cy="211931"/>
            <a:chOff x="5088" y="2592"/>
            <a:chExt cx="192" cy="192"/>
          </a:xfrm>
        </p:grpSpPr>
        <p:sp>
          <p:nvSpPr>
            <p:cNvPr id="1103" name="Oval 24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4" name="Line 25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1" name="Group 26"/>
          <p:cNvGrpSpPr>
            <a:grpSpLocks/>
          </p:cNvGrpSpPr>
          <p:nvPr/>
        </p:nvGrpSpPr>
        <p:grpSpPr bwMode="auto">
          <a:xfrm>
            <a:off x="3446860" y="1858567"/>
            <a:ext cx="228600" cy="210740"/>
            <a:chOff x="5088" y="2592"/>
            <a:chExt cx="192" cy="192"/>
          </a:xfrm>
        </p:grpSpPr>
        <p:sp>
          <p:nvSpPr>
            <p:cNvPr id="1101" name="Oval 27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" name="Line 28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2" name="Group 29"/>
          <p:cNvGrpSpPr>
            <a:grpSpLocks/>
          </p:cNvGrpSpPr>
          <p:nvPr/>
        </p:nvGrpSpPr>
        <p:grpSpPr bwMode="auto">
          <a:xfrm>
            <a:off x="5014917" y="1773013"/>
            <a:ext cx="316706" cy="369362"/>
            <a:chOff x="5268" y="2755"/>
            <a:chExt cx="266" cy="335"/>
          </a:xfrm>
        </p:grpSpPr>
        <p:sp>
          <p:nvSpPr>
            <p:cNvPr id="1099" name="Oval 30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0" name="Text Box 31"/>
            <p:cNvSpPr txBox="1">
              <a:spLocks noChangeArrowheads="1"/>
            </p:cNvSpPr>
            <p:nvPr/>
          </p:nvSpPr>
          <p:spPr bwMode="auto">
            <a:xfrm>
              <a:off x="5268" y="2755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53" name="Group 32"/>
          <p:cNvGrpSpPr>
            <a:grpSpLocks/>
          </p:cNvGrpSpPr>
          <p:nvPr/>
        </p:nvGrpSpPr>
        <p:grpSpPr bwMode="auto">
          <a:xfrm>
            <a:off x="5014917" y="2037332"/>
            <a:ext cx="316706" cy="369362"/>
            <a:chOff x="5268" y="2755"/>
            <a:chExt cx="266" cy="335"/>
          </a:xfrm>
        </p:grpSpPr>
        <p:sp>
          <p:nvSpPr>
            <p:cNvPr id="1097" name="Oval 33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" name="Text Box 34"/>
            <p:cNvSpPr txBox="1">
              <a:spLocks noChangeArrowheads="1"/>
            </p:cNvSpPr>
            <p:nvPr/>
          </p:nvSpPr>
          <p:spPr bwMode="auto">
            <a:xfrm>
              <a:off x="5268" y="2755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54" name="Group 35"/>
          <p:cNvGrpSpPr>
            <a:grpSpLocks/>
          </p:cNvGrpSpPr>
          <p:nvPr/>
        </p:nvGrpSpPr>
        <p:grpSpPr bwMode="auto">
          <a:xfrm>
            <a:off x="3446860" y="2651523"/>
            <a:ext cx="228600" cy="211931"/>
            <a:chOff x="5088" y="2592"/>
            <a:chExt cx="192" cy="192"/>
          </a:xfrm>
        </p:grpSpPr>
        <p:sp>
          <p:nvSpPr>
            <p:cNvPr id="1095" name="Oval 36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" name="Line 37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5" name="Group 38"/>
          <p:cNvGrpSpPr>
            <a:grpSpLocks/>
          </p:cNvGrpSpPr>
          <p:nvPr/>
        </p:nvGrpSpPr>
        <p:grpSpPr bwMode="auto">
          <a:xfrm>
            <a:off x="3446860" y="2387204"/>
            <a:ext cx="228600" cy="211931"/>
            <a:chOff x="5088" y="2592"/>
            <a:chExt cx="192" cy="192"/>
          </a:xfrm>
        </p:grpSpPr>
        <p:sp>
          <p:nvSpPr>
            <p:cNvPr id="1093" name="Oval 39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4" name="Line 40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6" name="Group 41"/>
          <p:cNvGrpSpPr>
            <a:grpSpLocks/>
          </p:cNvGrpSpPr>
          <p:nvPr/>
        </p:nvGrpSpPr>
        <p:grpSpPr bwMode="auto">
          <a:xfrm>
            <a:off x="5014910" y="2302945"/>
            <a:ext cx="316706" cy="369277"/>
            <a:chOff x="5268" y="2755"/>
            <a:chExt cx="266" cy="336"/>
          </a:xfrm>
        </p:grpSpPr>
        <p:sp>
          <p:nvSpPr>
            <p:cNvPr id="1091" name="Oval 42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" name="Text Box 43"/>
            <p:cNvSpPr txBox="1">
              <a:spLocks noChangeArrowheads="1"/>
            </p:cNvSpPr>
            <p:nvPr/>
          </p:nvSpPr>
          <p:spPr bwMode="auto">
            <a:xfrm>
              <a:off x="5268" y="2755"/>
              <a:ext cx="26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57" name="Group 44"/>
          <p:cNvGrpSpPr>
            <a:grpSpLocks/>
          </p:cNvGrpSpPr>
          <p:nvPr/>
        </p:nvGrpSpPr>
        <p:grpSpPr bwMode="auto">
          <a:xfrm>
            <a:off x="5014910" y="2567165"/>
            <a:ext cx="316706" cy="369362"/>
            <a:chOff x="5268" y="2755"/>
            <a:chExt cx="266" cy="335"/>
          </a:xfrm>
        </p:grpSpPr>
        <p:sp>
          <p:nvSpPr>
            <p:cNvPr id="1089" name="Oval 45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0" name="Text Box 46"/>
            <p:cNvSpPr txBox="1">
              <a:spLocks noChangeArrowheads="1"/>
            </p:cNvSpPr>
            <p:nvPr/>
          </p:nvSpPr>
          <p:spPr bwMode="auto">
            <a:xfrm>
              <a:off x="5268" y="2755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58" name="Group 47"/>
          <p:cNvGrpSpPr>
            <a:grpSpLocks/>
          </p:cNvGrpSpPr>
          <p:nvPr/>
        </p:nvGrpSpPr>
        <p:grpSpPr bwMode="auto">
          <a:xfrm>
            <a:off x="3446860" y="3181350"/>
            <a:ext cx="228600" cy="210741"/>
            <a:chOff x="5088" y="2592"/>
            <a:chExt cx="192" cy="192"/>
          </a:xfrm>
        </p:grpSpPr>
        <p:sp>
          <p:nvSpPr>
            <p:cNvPr id="1087" name="Oval 48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8" name="Line 49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9" name="Group 50"/>
          <p:cNvGrpSpPr>
            <a:grpSpLocks/>
          </p:cNvGrpSpPr>
          <p:nvPr/>
        </p:nvGrpSpPr>
        <p:grpSpPr bwMode="auto">
          <a:xfrm>
            <a:off x="3446860" y="2915842"/>
            <a:ext cx="228600" cy="211931"/>
            <a:chOff x="5088" y="2592"/>
            <a:chExt cx="192" cy="192"/>
          </a:xfrm>
        </p:grpSpPr>
        <p:sp>
          <p:nvSpPr>
            <p:cNvPr id="1085" name="Oval 51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" name="Line 52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60" name="Group 53"/>
          <p:cNvGrpSpPr>
            <a:grpSpLocks/>
          </p:cNvGrpSpPr>
          <p:nvPr/>
        </p:nvGrpSpPr>
        <p:grpSpPr bwMode="auto">
          <a:xfrm>
            <a:off x="5014910" y="2831484"/>
            <a:ext cx="316706" cy="369362"/>
            <a:chOff x="5268" y="2755"/>
            <a:chExt cx="266" cy="335"/>
          </a:xfrm>
        </p:grpSpPr>
        <p:sp>
          <p:nvSpPr>
            <p:cNvPr id="1083" name="Oval 54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4" name="Text Box 55"/>
            <p:cNvSpPr txBox="1">
              <a:spLocks noChangeArrowheads="1"/>
            </p:cNvSpPr>
            <p:nvPr/>
          </p:nvSpPr>
          <p:spPr bwMode="auto">
            <a:xfrm>
              <a:off x="5268" y="2755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61" name="Group 56"/>
          <p:cNvGrpSpPr>
            <a:grpSpLocks/>
          </p:cNvGrpSpPr>
          <p:nvPr/>
        </p:nvGrpSpPr>
        <p:grpSpPr bwMode="auto">
          <a:xfrm>
            <a:off x="5014910" y="3100205"/>
            <a:ext cx="316706" cy="369362"/>
            <a:chOff x="5268" y="2759"/>
            <a:chExt cx="266" cy="335"/>
          </a:xfrm>
        </p:grpSpPr>
        <p:sp>
          <p:nvSpPr>
            <p:cNvPr id="1081" name="Oval 57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2" name="Text Box 58"/>
            <p:cNvSpPr txBox="1">
              <a:spLocks noChangeArrowheads="1"/>
            </p:cNvSpPr>
            <p:nvPr/>
          </p:nvSpPr>
          <p:spPr bwMode="auto">
            <a:xfrm>
              <a:off x="5268" y="2759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62" name="Group 59"/>
          <p:cNvGrpSpPr>
            <a:grpSpLocks/>
          </p:cNvGrpSpPr>
          <p:nvPr/>
        </p:nvGrpSpPr>
        <p:grpSpPr bwMode="auto">
          <a:xfrm>
            <a:off x="3446860" y="3709988"/>
            <a:ext cx="228600" cy="211931"/>
            <a:chOff x="5088" y="2592"/>
            <a:chExt cx="192" cy="192"/>
          </a:xfrm>
        </p:grpSpPr>
        <p:sp>
          <p:nvSpPr>
            <p:cNvPr id="1079" name="Oval 60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0" name="Line 61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63" name="Group 62"/>
          <p:cNvGrpSpPr>
            <a:grpSpLocks/>
          </p:cNvGrpSpPr>
          <p:nvPr/>
        </p:nvGrpSpPr>
        <p:grpSpPr bwMode="auto">
          <a:xfrm>
            <a:off x="3446860" y="3445669"/>
            <a:ext cx="228600" cy="211931"/>
            <a:chOff x="5088" y="2592"/>
            <a:chExt cx="192" cy="192"/>
          </a:xfrm>
        </p:grpSpPr>
        <p:sp>
          <p:nvSpPr>
            <p:cNvPr id="1077" name="Oval 63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8" name="Line 64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64" name="Group 65"/>
          <p:cNvGrpSpPr>
            <a:grpSpLocks/>
          </p:cNvGrpSpPr>
          <p:nvPr/>
        </p:nvGrpSpPr>
        <p:grpSpPr bwMode="auto">
          <a:xfrm>
            <a:off x="5014910" y="3360122"/>
            <a:ext cx="316706" cy="369362"/>
            <a:chOff x="5268" y="2755"/>
            <a:chExt cx="266" cy="335"/>
          </a:xfrm>
        </p:grpSpPr>
        <p:sp>
          <p:nvSpPr>
            <p:cNvPr id="1075" name="Oval 66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" name="Text Box 67"/>
            <p:cNvSpPr txBox="1">
              <a:spLocks noChangeArrowheads="1"/>
            </p:cNvSpPr>
            <p:nvPr/>
          </p:nvSpPr>
          <p:spPr bwMode="auto">
            <a:xfrm>
              <a:off x="5268" y="2755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065" name="Group 68"/>
          <p:cNvGrpSpPr>
            <a:grpSpLocks/>
          </p:cNvGrpSpPr>
          <p:nvPr/>
        </p:nvGrpSpPr>
        <p:grpSpPr bwMode="auto">
          <a:xfrm>
            <a:off x="5014910" y="3625631"/>
            <a:ext cx="316706" cy="369362"/>
            <a:chOff x="5268" y="2755"/>
            <a:chExt cx="266" cy="335"/>
          </a:xfrm>
        </p:grpSpPr>
        <p:sp>
          <p:nvSpPr>
            <p:cNvPr id="1073" name="Oval 69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4" name="Text Box 70"/>
            <p:cNvSpPr txBox="1">
              <a:spLocks noChangeArrowheads="1"/>
            </p:cNvSpPr>
            <p:nvPr/>
          </p:nvSpPr>
          <p:spPr bwMode="auto">
            <a:xfrm>
              <a:off x="5268" y="2755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18" name="Group 83"/>
          <p:cNvGrpSpPr>
            <a:grpSpLocks/>
          </p:cNvGrpSpPr>
          <p:nvPr/>
        </p:nvGrpSpPr>
        <p:grpSpPr bwMode="auto">
          <a:xfrm>
            <a:off x="3714750" y="2857501"/>
            <a:ext cx="1257300" cy="440531"/>
            <a:chOff x="2160" y="2592"/>
            <a:chExt cx="1056" cy="370"/>
          </a:xfrm>
        </p:grpSpPr>
        <p:sp>
          <p:nvSpPr>
            <p:cNvPr id="1072" name="Line 72"/>
            <p:cNvSpPr>
              <a:spLocks noChangeShapeType="1"/>
            </p:cNvSpPr>
            <p:nvPr/>
          </p:nvSpPr>
          <p:spPr bwMode="auto">
            <a:xfrm>
              <a:off x="2160" y="2592"/>
              <a:ext cx="105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29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859067"/>
                </p:ext>
              </p:extLst>
            </p:nvPr>
          </p:nvGraphicFramePr>
          <p:xfrm>
            <a:off x="2472" y="2640"/>
            <a:ext cx="38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" name="Equation" r:id="rId3" imgW="203040" imgH="190440" progId="Equation.DSMT4">
                    <p:embed/>
                  </p:oleObj>
                </mc:Choice>
                <mc:Fallback>
                  <p:oleObj name="Equation" r:id="rId3" imgW="203040" imgH="190440" progId="Equation.DSMT4">
                    <p:embed/>
                    <p:pic>
                      <p:nvPicPr>
                        <p:cNvPr id="0" name="Object 7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2640"/>
                          <a:ext cx="384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81"/>
          <p:cNvGrpSpPr>
            <a:grpSpLocks/>
          </p:cNvGrpSpPr>
          <p:nvPr/>
        </p:nvGrpSpPr>
        <p:grpSpPr bwMode="auto">
          <a:xfrm>
            <a:off x="3771900" y="1943100"/>
            <a:ext cx="1257300" cy="457200"/>
            <a:chOff x="2208" y="384"/>
            <a:chExt cx="1056" cy="384"/>
          </a:xfrm>
        </p:grpSpPr>
        <p:sp>
          <p:nvSpPr>
            <p:cNvPr id="1071" name="Line 75"/>
            <p:cNvSpPr>
              <a:spLocks noChangeShapeType="1"/>
            </p:cNvSpPr>
            <p:nvPr/>
          </p:nvSpPr>
          <p:spPr bwMode="auto">
            <a:xfrm>
              <a:off x="2208" y="768"/>
              <a:ext cx="1056" cy="0"/>
            </a:xfrm>
            <a:prstGeom prst="line">
              <a:avLst/>
            </a:prstGeom>
            <a:noFill/>
            <a:ln w="76200">
              <a:solidFill>
                <a:srgbClr val="CC00CC"/>
              </a:solidFill>
              <a:round/>
              <a:headEnd type="none" w="sm" len="lg"/>
              <a:tailEnd type="triangl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28" name="Object 76"/>
            <p:cNvGraphicFramePr>
              <a:graphicFrameLocks noChangeAspect="1"/>
            </p:cNvGraphicFramePr>
            <p:nvPr/>
          </p:nvGraphicFramePr>
          <p:xfrm>
            <a:off x="2544" y="384"/>
            <a:ext cx="36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3" name="Equation" r:id="rId5" imgW="190440" imgH="241200" progId="Equation.3">
                    <p:embed/>
                  </p:oleObj>
                </mc:Choice>
                <mc:Fallback>
                  <p:oleObj name="Equation" r:id="rId5" imgW="190440" imgH="241200" progId="Equation.3">
                    <p:embed/>
                    <p:pic>
                      <p:nvPicPr>
                        <p:cNvPr id="0" name="Object 7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84"/>
                          <a:ext cx="363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317" name="Object 77"/>
          <p:cNvGraphicFramePr>
            <a:graphicFrameLocks noChangeAspect="1"/>
          </p:cNvGraphicFramePr>
          <p:nvPr/>
        </p:nvGraphicFramePr>
        <p:xfrm>
          <a:off x="3943350" y="3371851"/>
          <a:ext cx="800100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4" name="Equation" r:id="rId7" imgW="380880" imgH="203040" progId="Equation.3">
                  <p:embed/>
                </p:oleObj>
              </mc:Choice>
              <mc:Fallback>
                <p:oleObj name="Equation" r:id="rId7" imgW="380880" imgH="203040" progId="Equation.3">
                  <p:embed/>
                  <p:pic>
                    <p:nvPicPr>
                      <p:cNvPr id="0" name="Object 7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3371851"/>
                        <a:ext cx="800100" cy="431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8" name="Text Box 79"/>
          <p:cNvSpPr txBox="1">
            <a:spLocks noChangeArrowheads="1"/>
          </p:cNvSpPr>
          <p:nvPr/>
        </p:nvSpPr>
        <p:spPr bwMode="auto">
          <a:xfrm>
            <a:off x="1399338" y="310642"/>
            <a:ext cx="2571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CC0000"/>
                </a:solidFill>
                <a:latin typeface="宋体" pitchFamily="2" charset="-122"/>
              </a:rPr>
              <a:t>.</a:t>
            </a:r>
            <a:r>
              <a:rPr lang="zh-CN" altLang="en-US" sz="2400" b="1">
                <a:latin typeface="宋体" pitchFamily="2" charset="-122"/>
              </a:rPr>
              <a:t>静</a:t>
            </a:r>
            <a:r>
              <a:rPr lang="zh-CN" altLang="en-US" sz="2400" b="1" dirty="0">
                <a:latin typeface="宋体" pitchFamily="2" charset="-122"/>
              </a:rPr>
              <a:t>电平衡</a:t>
            </a:r>
          </a:p>
        </p:txBody>
      </p:sp>
      <p:graphicFrame>
        <p:nvGraphicFramePr>
          <p:cNvPr id="1027" name="Object 80"/>
          <p:cNvGraphicFramePr>
            <a:graphicFrameLocks noChangeAspect="1"/>
          </p:cNvGraphicFramePr>
          <p:nvPr/>
        </p:nvGraphicFramePr>
        <p:xfrm>
          <a:off x="6972301" y="2628900"/>
          <a:ext cx="43219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" name="Equation" r:id="rId9" imgW="190440" imgH="241200" progId="Equation.3">
                  <p:embed/>
                </p:oleObj>
              </mc:Choice>
              <mc:Fallback>
                <p:oleObj name="Equation" r:id="rId9" imgW="190440" imgH="241200" progId="Equation.3">
                  <p:embed/>
                  <p:pic>
                    <p:nvPicPr>
                      <p:cNvPr id="0" name="Object 8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301" y="2628900"/>
                        <a:ext cx="43219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4" name="Text Box 84"/>
          <p:cNvSpPr txBox="1">
            <a:spLocks noChangeArrowheads="1"/>
          </p:cNvSpPr>
          <p:nvPr/>
        </p:nvSpPr>
        <p:spPr bwMode="auto">
          <a:xfrm>
            <a:off x="3113838" y="303498"/>
            <a:ext cx="4076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CC0000"/>
                </a:solidFill>
              </a:rPr>
              <a:t>导体内没有电荷作定向运动</a:t>
            </a:r>
          </a:p>
        </p:txBody>
      </p:sp>
      <p:sp>
        <p:nvSpPr>
          <p:cNvPr id="1106" name="灯片编号占位符 1"/>
          <p:cNvSpPr txBox="1">
            <a:spLocks noGrp="1" noChangeArrowheads="1"/>
          </p:cNvSpPr>
          <p:nvPr/>
        </p:nvSpPr>
        <p:spPr bwMode="auto">
          <a:xfrm>
            <a:off x="7543800" y="4869656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06BBD0A6-5021-401E-AD81-4090910047DF}" type="slidenum">
              <a:rPr lang="zh-CN" altLang="en-US" sz="1050" b="1">
                <a:latin typeface="Calibri" pitchFamily="34" charset="0"/>
              </a:rPr>
              <a:pPr algn="r"/>
              <a:t>4</a:t>
            </a:fld>
            <a:endParaRPr lang="en-US" altLang="zh-CN" sz="10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869130" y="303865"/>
            <a:ext cx="25908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CC0000"/>
                </a:solidFill>
                <a:latin typeface="宋体" pitchFamily="2" charset="-122"/>
              </a:rPr>
              <a:t>静电平衡条件：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001409" y="845070"/>
            <a:ext cx="615791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CC0000"/>
                </a:solidFill>
                <a:latin typeface="宋体" pitchFamily="2" charset="-122"/>
              </a:rPr>
              <a:t>（</a:t>
            </a:r>
            <a:r>
              <a:rPr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lang="zh-CN" altLang="en-US" sz="2100" b="1" dirty="0">
                <a:solidFill>
                  <a:srgbClr val="CC0000"/>
                </a:solidFill>
                <a:latin typeface="宋体" pitchFamily="2" charset="-122"/>
              </a:rPr>
              <a:t>）</a:t>
            </a:r>
            <a:r>
              <a:rPr lang="zh-CN" altLang="en-US" sz="2100" b="1" dirty="0">
                <a:latin typeface="宋体" pitchFamily="2" charset="-122"/>
              </a:rPr>
              <a:t>导体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内部</a:t>
            </a:r>
            <a:r>
              <a:rPr lang="zh-CN" altLang="en-US" sz="2100" b="1" dirty="0">
                <a:latin typeface="宋体" pitchFamily="2" charset="-122"/>
              </a:rPr>
              <a:t>任何一点处的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电场强度为零</a:t>
            </a:r>
            <a:r>
              <a:rPr lang="zh-CN" altLang="en-US" sz="2100" b="1" dirty="0">
                <a:latin typeface="宋体" pitchFamily="2" charset="-122"/>
              </a:rPr>
              <a:t>；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001409" y="1263672"/>
            <a:ext cx="6723366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 dirty="0">
                <a:solidFill>
                  <a:srgbClr val="CC0000"/>
                </a:solidFill>
                <a:latin typeface="宋体" pitchFamily="2" charset="-122"/>
              </a:rPr>
              <a:t>（</a:t>
            </a:r>
            <a:r>
              <a:rPr lang="en-US" altLang="zh-CN" sz="2100" b="1" dirty="0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zh-CN" altLang="en-US" sz="2100" b="1" dirty="0">
                <a:solidFill>
                  <a:srgbClr val="CC0000"/>
                </a:solidFill>
                <a:latin typeface="宋体" pitchFamily="2" charset="-122"/>
              </a:rPr>
              <a:t>）</a:t>
            </a:r>
            <a:r>
              <a:rPr lang="zh-CN" altLang="en-US" sz="2100" b="1" dirty="0">
                <a:latin typeface="宋体" pitchFamily="2" charset="-122"/>
              </a:rPr>
              <a:t>导体表面处电场强度的</a:t>
            </a:r>
            <a:r>
              <a:rPr lang="zh-CN" altLang="en-US" sz="2100" b="1">
                <a:latin typeface="宋体" pitchFamily="2" charset="-122"/>
              </a:rPr>
              <a:t>方向都</a:t>
            </a:r>
            <a:r>
              <a:rPr lang="zh-CN" altLang="en-US" sz="2100" b="1" dirty="0">
                <a:latin typeface="宋体" pitchFamily="2" charset="-122"/>
              </a:rPr>
              <a:t>与导体表面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垂直</a:t>
            </a:r>
            <a:r>
              <a:rPr lang="en-US" altLang="zh-CN" sz="2100" b="1" dirty="0">
                <a:latin typeface="Times New Roman" pitchFamily="18" charset="0"/>
              </a:rPr>
              <a:t>. </a:t>
            </a:r>
          </a:p>
        </p:txBody>
      </p:sp>
      <p:pic>
        <p:nvPicPr>
          <p:cNvPr id="11323" name="Picture 59" descr="6-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65907" y="1879864"/>
            <a:ext cx="3610743" cy="2838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72" name="灯片编号占位符 1"/>
          <p:cNvSpPr txBox="1">
            <a:spLocks noGrp="1" noChangeArrowheads="1"/>
          </p:cNvSpPr>
          <p:nvPr/>
        </p:nvSpPr>
        <p:spPr bwMode="auto">
          <a:xfrm>
            <a:off x="7543800" y="4854178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0A60300F-1490-4273-ACAD-D1D6388A872E}" type="slidenum">
              <a:rPr lang="zh-CN" altLang="en-US" sz="1050" b="1">
                <a:latin typeface="Calibri" pitchFamily="34" charset="0"/>
              </a:rPr>
              <a:pPr algn="r"/>
              <a:t>5</a:t>
            </a:fld>
            <a:endParaRPr lang="en-US" altLang="zh-CN" sz="1050"/>
          </a:p>
        </p:txBody>
      </p:sp>
      <p:sp>
        <p:nvSpPr>
          <p:cNvPr id="7" name="Rectangle 86"/>
          <p:cNvSpPr>
            <a:spLocks noChangeArrowheads="1"/>
          </p:cNvSpPr>
          <p:nvPr/>
        </p:nvSpPr>
        <p:spPr bwMode="auto">
          <a:xfrm>
            <a:off x="869130" y="1828997"/>
            <a:ext cx="33277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 b="1" dirty="0">
                <a:solidFill>
                  <a:srgbClr val="CC0000"/>
                </a:solidFill>
                <a:latin typeface="宋体" pitchFamily="2" charset="-122"/>
              </a:rPr>
              <a:t>推论：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导体为等势体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/>
      <p:bldP spid="11268" grpId="0" autoUpdateAnimBg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Freeform 4"/>
          <p:cNvSpPr>
            <a:spLocks/>
          </p:cNvSpPr>
          <p:nvPr/>
        </p:nvSpPr>
        <p:spPr bwMode="auto">
          <a:xfrm>
            <a:off x="5452176" y="2151779"/>
            <a:ext cx="1897553" cy="1104582"/>
          </a:xfrm>
          <a:custGeom>
            <a:avLst/>
            <a:gdLst/>
            <a:ahLst/>
            <a:cxnLst>
              <a:cxn ang="0">
                <a:pos x="20" y="401"/>
              </a:cxn>
              <a:cxn ang="0">
                <a:pos x="304" y="133"/>
              </a:cxn>
              <a:cxn ang="0">
                <a:pos x="864" y="30"/>
              </a:cxn>
              <a:cxn ang="0">
                <a:pos x="1432" y="314"/>
              </a:cxn>
              <a:cxn ang="0">
                <a:pos x="1448" y="827"/>
              </a:cxn>
              <a:cxn ang="0">
                <a:pos x="730" y="819"/>
              </a:cxn>
              <a:cxn ang="0">
                <a:pos x="186" y="669"/>
              </a:cxn>
              <a:cxn ang="0">
                <a:pos x="20" y="401"/>
              </a:cxn>
            </a:cxnLst>
            <a:rect l="0" t="0" r="r" b="b"/>
            <a:pathLst>
              <a:path w="1565" h="911">
                <a:moveTo>
                  <a:pt x="20" y="401"/>
                </a:moveTo>
                <a:cubicBezTo>
                  <a:pt x="40" y="312"/>
                  <a:pt x="163" y="195"/>
                  <a:pt x="304" y="133"/>
                </a:cubicBezTo>
                <a:cubicBezTo>
                  <a:pt x="445" y="71"/>
                  <a:pt x="676" y="0"/>
                  <a:pt x="864" y="30"/>
                </a:cubicBezTo>
                <a:cubicBezTo>
                  <a:pt x="1052" y="60"/>
                  <a:pt x="1335" y="181"/>
                  <a:pt x="1432" y="314"/>
                </a:cubicBezTo>
                <a:cubicBezTo>
                  <a:pt x="1529" y="447"/>
                  <a:pt x="1565" y="743"/>
                  <a:pt x="1448" y="827"/>
                </a:cubicBezTo>
                <a:cubicBezTo>
                  <a:pt x="1331" y="911"/>
                  <a:pt x="940" y="845"/>
                  <a:pt x="730" y="819"/>
                </a:cubicBezTo>
                <a:cubicBezTo>
                  <a:pt x="520" y="793"/>
                  <a:pt x="304" y="739"/>
                  <a:pt x="186" y="669"/>
                </a:cubicBezTo>
                <a:cubicBezTo>
                  <a:pt x="68" y="599"/>
                  <a:pt x="0" y="490"/>
                  <a:pt x="20" y="401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 w="12700" cap="flat" cmpd="sng">
            <a:solidFill>
              <a:schemeClr val="tx1"/>
            </a:solidFill>
            <a:prstDash val="solid"/>
            <a:round/>
            <a:headEnd type="none" w="sm" len="lg"/>
            <a:tailEnd type="none" w="sm" len="lg"/>
          </a:ln>
          <a:effectLst/>
        </p:spPr>
        <p:txBody>
          <a:bodyPr wrap="none"/>
          <a:lstStyle/>
          <a:p>
            <a:pPr>
              <a:defRPr/>
            </a:pPr>
            <a:endParaRPr lang="zh-CN" altLang="en-US"/>
          </a:p>
        </p:txBody>
      </p:sp>
      <p:sp>
        <p:nvSpPr>
          <p:cNvPr id="3079" name="Text Box 5"/>
          <p:cNvSpPr txBox="1">
            <a:spLocks noChangeArrowheads="1"/>
          </p:cNvSpPr>
          <p:nvPr/>
        </p:nvSpPr>
        <p:spPr bwMode="auto">
          <a:xfrm>
            <a:off x="807858" y="362729"/>
            <a:ext cx="582930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二、静</a:t>
            </a:r>
            <a:r>
              <a:rPr lang="zh-CN" altLang="en-US" sz="2700" b="1" dirty="0">
                <a:solidFill>
                  <a:srgbClr val="CC0000"/>
                </a:solidFill>
                <a:latin typeface="宋体" pitchFamily="2" charset="-122"/>
              </a:rPr>
              <a:t>电平衡时导体上电荷的分布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299432" y="1955497"/>
            <a:ext cx="2168326" cy="1448928"/>
            <a:chOff x="3846" y="511"/>
            <a:chExt cx="1735" cy="1195"/>
          </a:xfrm>
        </p:grpSpPr>
        <p:sp>
          <p:nvSpPr>
            <p:cNvPr id="3090" name="Text Box 7"/>
            <p:cNvSpPr txBox="1">
              <a:spLocks noChangeArrowheads="1"/>
            </p:cNvSpPr>
            <p:nvPr/>
          </p:nvSpPr>
          <p:spPr bwMode="auto">
            <a:xfrm>
              <a:off x="4320" y="553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1" name="Rectangle 8"/>
            <p:cNvSpPr>
              <a:spLocks noChangeArrowheads="1"/>
            </p:cNvSpPr>
            <p:nvPr/>
          </p:nvSpPr>
          <p:spPr bwMode="auto">
            <a:xfrm>
              <a:off x="4720" y="511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2" name="Rectangle 9"/>
            <p:cNvSpPr>
              <a:spLocks noChangeArrowheads="1"/>
            </p:cNvSpPr>
            <p:nvPr/>
          </p:nvSpPr>
          <p:spPr bwMode="auto">
            <a:xfrm>
              <a:off x="5144" y="680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3" name="Rectangle 10"/>
            <p:cNvSpPr>
              <a:spLocks noChangeArrowheads="1"/>
            </p:cNvSpPr>
            <p:nvPr/>
          </p:nvSpPr>
          <p:spPr bwMode="auto">
            <a:xfrm>
              <a:off x="5328" y="1008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4" name="Rectangle 11"/>
            <p:cNvSpPr>
              <a:spLocks noChangeArrowheads="1"/>
            </p:cNvSpPr>
            <p:nvPr/>
          </p:nvSpPr>
          <p:spPr bwMode="auto">
            <a:xfrm>
              <a:off x="5326" y="1267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5" name="Rectangle 12"/>
            <p:cNvSpPr>
              <a:spLocks noChangeArrowheads="1"/>
            </p:cNvSpPr>
            <p:nvPr/>
          </p:nvSpPr>
          <p:spPr bwMode="auto">
            <a:xfrm>
              <a:off x="5045" y="1401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6" name="Rectangle 13"/>
            <p:cNvSpPr>
              <a:spLocks noChangeArrowheads="1"/>
            </p:cNvSpPr>
            <p:nvPr/>
          </p:nvSpPr>
          <p:spPr bwMode="auto">
            <a:xfrm>
              <a:off x="4464" y="1341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7" name="Rectangle 14"/>
            <p:cNvSpPr>
              <a:spLocks noChangeArrowheads="1"/>
            </p:cNvSpPr>
            <p:nvPr/>
          </p:nvSpPr>
          <p:spPr bwMode="auto">
            <a:xfrm>
              <a:off x="3979" y="705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8" name="Rectangle 15"/>
            <p:cNvSpPr>
              <a:spLocks noChangeArrowheads="1"/>
            </p:cNvSpPr>
            <p:nvPr/>
          </p:nvSpPr>
          <p:spPr bwMode="auto">
            <a:xfrm>
              <a:off x="3846" y="960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99" name="Rectangle 16"/>
            <p:cNvSpPr>
              <a:spLocks noChangeArrowheads="1"/>
            </p:cNvSpPr>
            <p:nvPr/>
          </p:nvSpPr>
          <p:spPr bwMode="auto">
            <a:xfrm>
              <a:off x="4080" y="1242"/>
              <a:ext cx="253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1385646" y="4029913"/>
            <a:ext cx="6426714" cy="4801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 dirty="0">
                <a:solidFill>
                  <a:srgbClr val="CC0000"/>
                </a:solidFill>
                <a:latin typeface="Times New Roman" pitchFamily="18" charset="0"/>
              </a:rPr>
              <a:t>结论：</a:t>
            </a:r>
            <a:r>
              <a:rPr lang="zh-CN" altLang="en-US" sz="2100" b="1" dirty="0">
                <a:latin typeface="Times New Roman" pitchFamily="18" charset="0"/>
              </a:rPr>
              <a:t>导体内部无净电荷，</a:t>
            </a:r>
            <a:r>
              <a:rPr lang="zh-CN" altLang="en-US" sz="2100" b="1" dirty="0">
                <a:solidFill>
                  <a:srgbClr val="0000FF"/>
                </a:solidFill>
              </a:rPr>
              <a:t>电荷只分布在</a:t>
            </a:r>
            <a:r>
              <a:rPr lang="zh-CN" altLang="en-US" sz="2100" b="1" dirty="0">
                <a:solidFill>
                  <a:srgbClr val="0000FF"/>
                </a:solidFill>
                <a:latin typeface="Times New Roman" pitchFamily="18" charset="0"/>
              </a:rPr>
              <a:t>导体</a:t>
            </a:r>
            <a:r>
              <a:rPr lang="zh-CN" altLang="en-US" sz="2100" b="1" dirty="0">
                <a:solidFill>
                  <a:srgbClr val="0000FF"/>
                </a:solidFill>
              </a:rPr>
              <a:t>表面</a:t>
            </a:r>
            <a:r>
              <a:rPr lang="en-US" altLang="zh-CN" sz="2100" b="1" dirty="0">
                <a:solidFill>
                  <a:srgbClr val="0000FF"/>
                </a:solidFill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13330" name="Object 18"/>
          <p:cNvGraphicFramePr>
            <a:graphicFrameLocks noChangeAspect="1"/>
          </p:cNvGraphicFramePr>
          <p:nvPr/>
        </p:nvGraphicFramePr>
        <p:xfrm>
          <a:off x="2087724" y="2247714"/>
          <a:ext cx="2032433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" name="Equation" r:id="rId3" imgW="1015920" imgH="431640" progId="Equation.3">
                  <p:embed/>
                </p:oleObj>
              </mc:Choice>
              <mc:Fallback>
                <p:oleObj name="Equation" r:id="rId3" imgW="101592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724" y="2247714"/>
                        <a:ext cx="2032433" cy="8640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19"/>
          <p:cNvGraphicFramePr>
            <a:graphicFrameLocks noChangeAspect="1"/>
          </p:cNvGraphicFramePr>
          <p:nvPr/>
        </p:nvGraphicFramePr>
        <p:xfrm>
          <a:off x="2000250" y="1594303"/>
          <a:ext cx="1173611" cy="43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5" name="Equation" r:id="rId5" imgW="507960" imgH="203040" progId="Equation.3">
                  <p:embed/>
                </p:oleObj>
              </mc:Choice>
              <mc:Fallback>
                <p:oleObj name="Equation" r:id="rId5" imgW="50796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594303"/>
                        <a:ext cx="1173611" cy="437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 Box 20"/>
          <p:cNvSpPr txBox="1">
            <a:spLocks noChangeArrowheads="1"/>
          </p:cNvSpPr>
          <p:nvPr/>
        </p:nvSpPr>
        <p:spPr bwMode="auto">
          <a:xfrm>
            <a:off x="1493658" y="951570"/>
            <a:ext cx="2228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1. </a:t>
            </a:r>
            <a:r>
              <a:rPr lang="zh-CN" altLang="en-US" sz="2400" b="1">
                <a:latin typeface="Times New Roman" pitchFamily="18" charset="0"/>
              </a:rPr>
              <a:t>实心导体</a:t>
            </a:r>
          </a:p>
        </p:txBody>
      </p:sp>
      <p:graphicFrame>
        <p:nvGraphicFramePr>
          <p:cNvPr id="13333" name="Object 21"/>
          <p:cNvGraphicFramePr>
            <a:graphicFrameLocks noChangeAspect="1"/>
          </p:cNvGraphicFramePr>
          <p:nvPr/>
        </p:nvGraphicFramePr>
        <p:xfrm>
          <a:off x="2003214" y="3378882"/>
          <a:ext cx="1110625" cy="435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6" name="Equation" r:id="rId7" imgW="469800" imgH="203040" progId="Equation.3">
                  <p:embed/>
                </p:oleObj>
              </mc:Choice>
              <mc:Fallback>
                <p:oleObj name="Equation" r:id="rId7" imgW="46980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214" y="3378882"/>
                        <a:ext cx="1110625" cy="435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5968374" y="1574844"/>
            <a:ext cx="2062451" cy="1339806"/>
            <a:chOff x="3793" y="1343"/>
            <a:chExt cx="1701" cy="1105"/>
          </a:xfrm>
        </p:grpSpPr>
        <p:grpSp>
          <p:nvGrpSpPr>
            <p:cNvPr id="3087" name="Group 45"/>
            <p:cNvGrpSpPr>
              <a:grpSpLocks/>
            </p:cNvGrpSpPr>
            <p:nvPr/>
          </p:nvGrpSpPr>
          <p:grpSpPr bwMode="auto">
            <a:xfrm>
              <a:off x="3793" y="2114"/>
              <a:ext cx="763" cy="334"/>
              <a:chOff x="3793" y="2114"/>
              <a:chExt cx="763" cy="334"/>
            </a:xfrm>
          </p:grpSpPr>
          <p:graphicFrame>
            <p:nvGraphicFramePr>
              <p:cNvPr id="3077" name="Object 23"/>
              <p:cNvGraphicFramePr>
                <a:graphicFrameLocks noChangeAspect="1"/>
              </p:cNvGraphicFramePr>
              <p:nvPr/>
            </p:nvGraphicFramePr>
            <p:xfrm>
              <a:off x="4368" y="2208"/>
              <a:ext cx="18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77" name="Equation" r:id="rId9" imgW="139680" imgH="177480" progId="Equation.3">
                      <p:embed/>
                    </p:oleObj>
                  </mc:Choice>
                  <mc:Fallback>
                    <p:oleObj name="Equation" r:id="rId9" imgW="139680" imgH="17748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2208"/>
                            <a:ext cx="188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89" name="Freeform 24" descr="宽下对角线"/>
              <p:cNvSpPr>
                <a:spLocks/>
              </p:cNvSpPr>
              <p:nvPr/>
            </p:nvSpPr>
            <p:spPr bwMode="auto">
              <a:xfrm>
                <a:off x="3793" y="2114"/>
                <a:ext cx="562" cy="307"/>
              </a:xfrm>
              <a:custGeom>
                <a:avLst/>
                <a:gdLst>
                  <a:gd name="T0" fmla="*/ 89 w 562"/>
                  <a:gd name="T1" fmla="*/ 56 h 307"/>
                  <a:gd name="T2" fmla="*/ 294 w 562"/>
                  <a:gd name="T3" fmla="*/ 9 h 307"/>
                  <a:gd name="T4" fmla="*/ 531 w 562"/>
                  <a:gd name="T5" fmla="*/ 111 h 307"/>
                  <a:gd name="T6" fmla="*/ 479 w 562"/>
                  <a:gd name="T7" fmla="*/ 286 h 307"/>
                  <a:gd name="T8" fmla="*/ 65 w 562"/>
                  <a:gd name="T9" fmla="*/ 237 h 307"/>
                  <a:gd name="T10" fmla="*/ 89 w 562"/>
                  <a:gd name="T11" fmla="*/ 56 h 3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2"/>
                  <a:gd name="T19" fmla="*/ 0 h 307"/>
                  <a:gd name="T20" fmla="*/ 562 w 562"/>
                  <a:gd name="T21" fmla="*/ 307 h 3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2" h="307">
                    <a:moveTo>
                      <a:pt x="89" y="56"/>
                    </a:moveTo>
                    <a:cubicBezTo>
                      <a:pt x="127" y="18"/>
                      <a:pt x="220" y="0"/>
                      <a:pt x="294" y="9"/>
                    </a:cubicBezTo>
                    <a:cubicBezTo>
                      <a:pt x="368" y="18"/>
                      <a:pt x="500" y="65"/>
                      <a:pt x="531" y="111"/>
                    </a:cubicBezTo>
                    <a:cubicBezTo>
                      <a:pt x="562" y="157"/>
                      <a:pt x="557" y="265"/>
                      <a:pt x="479" y="286"/>
                    </a:cubicBezTo>
                    <a:cubicBezTo>
                      <a:pt x="401" y="307"/>
                      <a:pt x="130" y="275"/>
                      <a:pt x="65" y="237"/>
                    </a:cubicBezTo>
                    <a:cubicBezTo>
                      <a:pt x="0" y="199"/>
                      <a:pt x="44" y="96"/>
                      <a:pt x="89" y="56"/>
                    </a:cubicBezTo>
                    <a:close/>
                  </a:path>
                </a:pathLst>
              </a:custGeom>
              <a:pattFill prst="wdDnDiag">
                <a:fgClr>
                  <a:srgbClr val="0000FF"/>
                </a:fgClr>
                <a:bgClr>
                  <a:srgbClr val="EAEAEA"/>
                </a:bgClr>
              </a:pattFill>
              <a:ln w="19050">
                <a:solidFill>
                  <a:srgbClr val="0000FF"/>
                </a:solidFill>
                <a:prstDash val="dash"/>
                <a:round/>
                <a:headEnd type="none" w="sm" len="lg"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337" name="AutoShape 25"/>
            <p:cNvSpPr>
              <a:spLocks noChangeArrowheads="1"/>
            </p:cNvSpPr>
            <p:nvPr/>
          </p:nvSpPr>
          <p:spPr bwMode="auto">
            <a:xfrm>
              <a:off x="4316" y="1343"/>
              <a:ext cx="1178" cy="432"/>
            </a:xfrm>
            <a:prstGeom prst="wedgeEllipseCallout">
              <a:avLst>
                <a:gd name="adj1" fmla="val -56250"/>
                <a:gd name="adj2" fmla="val 13819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1C1C1C"/>
                  </a:solidFill>
                  <a:latin typeface="Times New Roman" pitchFamily="18" charset="0"/>
                </a:rPr>
                <a:t>高斯面</a:t>
              </a:r>
            </a:p>
          </p:txBody>
        </p:sp>
      </p:grpSp>
      <p:sp>
        <p:nvSpPr>
          <p:cNvPr id="3085" name="Text Box 55"/>
          <p:cNvSpPr txBox="1">
            <a:spLocks noChangeArrowheads="1"/>
          </p:cNvSpPr>
          <p:nvPr/>
        </p:nvSpPr>
        <p:spPr bwMode="auto">
          <a:xfrm>
            <a:off x="5769583" y="3308402"/>
            <a:ext cx="16295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实心带电导体</a:t>
            </a:r>
          </a:p>
        </p:txBody>
      </p:sp>
      <p:sp>
        <p:nvSpPr>
          <p:cNvPr id="3101" name="灯片编号占位符 1"/>
          <p:cNvSpPr txBox="1">
            <a:spLocks noGrp="1" noChangeArrowheads="1"/>
          </p:cNvSpPr>
          <p:nvPr/>
        </p:nvSpPr>
        <p:spPr bwMode="auto">
          <a:xfrm>
            <a:off x="7543800" y="4882357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E6CB062F-C164-41AA-936D-04322A600901}" type="slidenum">
              <a:rPr lang="zh-CN" altLang="en-US" sz="1050" b="1">
                <a:latin typeface="Calibri" pitchFamily="34" charset="0"/>
              </a:rPr>
              <a:pPr algn="r"/>
              <a:t>6</a:t>
            </a:fld>
            <a:endParaRPr lang="en-US" altLang="zh-CN" sz="10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611724"/>
              </p:ext>
            </p:extLst>
          </p:nvPr>
        </p:nvGraphicFramePr>
        <p:xfrm>
          <a:off x="1582713" y="1817229"/>
          <a:ext cx="2743200" cy="66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4" name="Equation" r:id="rId3" imgW="1473120" imgH="355320" progId="Equation.3">
                  <p:embed/>
                </p:oleObj>
              </mc:Choice>
              <mc:Fallback>
                <p:oleObj name="Equation" r:id="rId3" imgW="1473120" imgH="3553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13" y="1817229"/>
                        <a:ext cx="2743200" cy="665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1366689" y="484566"/>
            <a:ext cx="2628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CC0000"/>
                </a:solidFill>
                <a:latin typeface="宋体" pitchFamily="2" charset="-122"/>
              </a:rPr>
              <a:t>.</a:t>
            </a:r>
            <a:r>
              <a:rPr lang="zh-CN" altLang="en-US" sz="2400" b="1">
                <a:latin typeface="宋体" pitchFamily="2" charset="-122"/>
              </a:rPr>
              <a:t>空腔导体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420695" y="1132638"/>
            <a:ext cx="2862318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sz="2400" b="1">
                <a:solidFill>
                  <a:srgbClr val="1C1C1C"/>
                </a:solidFill>
                <a:latin typeface="Times New Roman" pitchFamily="18" charset="0"/>
              </a:rPr>
              <a:t>  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</a:rPr>
              <a:t>空腔内无电荷时</a:t>
            </a: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1528707" y="2698812"/>
            <a:ext cx="2400300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电荷分布在表面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933575" y="3265625"/>
            <a:ext cx="1828800" cy="978694"/>
            <a:chOff x="816" y="2736"/>
            <a:chExt cx="1536" cy="822"/>
          </a:xfrm>
        </p:grpSpPr>
        <p:sp>
          <p:nvSpPr>
            <p:cNvPr id="4114" name="Text Box 13"/>
            <p:cNvSpPr txBox="1">
              <a:spLocks noChangeArrowheads="1"/>
            </p:cNvSpPr>
            <p:nvPr/>
          </p:nvSpPr>
          <p:spPr bwMode="auto">
            <a:xfrm>
              <a:off x="1008" y="2736"/>
              <a:ext cx="1344" cy="822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>
                  <a:solidFill>
                    <a:srgbClr val="1C1C1C"/>
                  </a:solidFill>
                  <a:latin typeface="Times New Roman" pitchFamily="18" charset="0"/>
                </a:rPr>
                <a:t>内表面？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2400" b="1">
                  <a:solidFill>
                    <a:srgbClr val="1C1C1C"/>
                  </a:solidFill>
                  <a:latin typeface="Times New Roman" pitchFamily="18" charset="0"/>
                </a:rPr>
                <a:t>外表面？</a:t>
              </a:r>
            </a:p>
          </p:txBody>
        </p:sp>
        <p:sp>
          <p:nvSpPr>
            <p:cNvPr id="4115" name="AutoShape 14"/>
            <p:cNvSpPr>
              <a:spLocks/>
            </p:cNvSpPr>
            <p:nvPr/>
          </p:nvSpPr>
          <p:spPr bwMode="auto">
            <a:xfrm>
              <a:off x="816" y="2928"/>
              <a:ext cx="192" cy="528"/>
            </a:xfrm>
            <a:prstGeom prst="leftBrace">
              <a:avLst>
                <a:gd name="adj1" fmla="val 22917"/>
                <a:gd name="adj2" fmla="val 50000"/>
              </a:avLst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5408823" y="1371600"/>
            <a:ext cx="2686050" cy="2286000"/>
            <a:chOff x="3168" y="1152"/>
            <a:chExt cx="2256" cy="1920"/>
          </a:xfrm>
        </p:grpSpPr>
        <p:grpSp>
          <p:nvGrpSpPr>
            <p:cNvPr id="4109" name="Group 43"/>
            <p:cNvGrpSpPr>
              <a:grpSpLocks/>
            </p:cNvGrpSpPr>
            <p:nvPr/>
          </p:nvGrpSpPr>
          <p:grpSpPr bwMode="auto">
            <a:xfrm>
              <a:off x="3168" y="1152"/>
              <a:ext cx="2256" cy="1920"/>
              <a:chOff x="3168" y="1152"/>
              <a:chExt cx="2256" cy="1920"/>
            </a:xfrm>
          </p:grpSpPr>
          <p:sp>
            <p:nvSpPr>
              <p:cNvPr id="4111" name="Rectangle 25"/>
              <p:cNvSpPr>
                <a:spLocks noChangeArrowheads="1"/>
              </p:cNvSpPr>
              <p:nvPr/>
            </p:nvSpPr>
            <p:spPr bwMode="auto">
              <a:xfrm>
                <a:off x="3168" y="1152"/>
                <a:ext cx="2256" cy="1920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2" name="Freeform 26"/>
              <p:cNvSpPr>
                <a:spLocks/>
              </p:cNvSpPr>
              <p:nvPr/>
            </p:nvSpPr>
            <p:spPr bwMode="auto">
              <a:xfrm>
                <a:off x="3360" y="1824"/>
                <a:ext cx="1565" cy="911"/>
              </a:xfrm>
              <a:custGeom>
                <a:avLst/>
                <a:gdLst>
                  <a:gd name="T0" fmla="*/ 20 w 1565"/>
                  <a:gd name="T1" fmla="*/ 401 h 911"/>
                  <a:gd name="T2" fmla="*/ 304 w 1565"/>
                  <a:gd name="T3" fmla="*/ 133 h 911"/>
                  <a:gd name="T4" fmla="*/ 864 w 1565"/>
                  <a:gd name="T5" fmla="*/ 30 h 911"/>
                  <a:gd name="T6" fmla="*/ 1432 w 1565"/>
                  <a:gd name="T7" fmla="*/ 314 h 911"/>
                  <a:gd name="T8" fmla="*/ 1448 w 1565"/>
                  <a:gd name="T9" fmla="*/ 827 h 911"/>
                  <a:gd name="T10" fmla="*/ 730 w 1565"/>
                  <a:gd name="T11" fmla="*/ 819 h 911"/>
                  <a:gd name="T12" fmla="*/ 186 w 1565"/>
                  <a:gd name="T13" fmla="*/ 669 h 911"/>
                  <a:gd name="T14" fmla="*/ 20 w 1565"/>
                  <a:gd name="T15" fmla="*/ 401 h 9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65"/>
                  <a:gd name="T25" fmla="*/ 0 h 911"/>
                  <a:gd name="T26" fmla="*/ 1565 w 1565"/>
                  <a:gd name="T27" fmla="*/ 911 h 9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65" h="911">
                    <a:moveTo>
                      <a:pt x="20" y="401"/>
                    </a:moveTo>
                    <a:cubicBezTo>
                      <a:pt x="40" y="312"/>
                      <a:pt x="163" y="195"/>
                      <a:pt x="304" y="133"/>
                    </a:cubicBezTo>
                    <a:cubicBezTo>
                      <a:pt x="445" y="71"/>
                      <a:pt x="676" y="0"/>
                      <a:pt x="864" y="30"/>
                    </a:cubicBezTo>
                    <a:cubicBezTo>
                      <a:pt x="1052" y="60"/>
                      <a:pt x="1335" y="181"/>
                      <a:pt x="1432" y="314"/>
                    </a:cubicBezTo>
                    <a:cubicBezTo>
                      <a:pt x="1529" y="447"/>
                      <a:pt x="1565" y="743"/>
                      <a:pt x="1448" y="827"/>
                    </a:cubicBezTo>
                    <a:cubicBezTo>
                      <a:pt x="1331" y="911"/>
                      <a:pt x="940" y="845"/>
                      <a:pt x="730" y="819"/>
                    </a:cubicBezTo>
                    <a:cubicBezTo>
                      <a:pt x="520" y="793"/>
                      <a:pt x="304" y="739"/>
                      <a:pt x="186" y="669"/>
                    </a:cubicBezTo>
                    <a:cubicBezTo>
                      <a:pt x="68" y="599"/>
                      <a:pt x="0" y="490"/>
                      <a:pt x="20" y="40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C2C2C2"/>
                  </a:gs>
                </a:gsLst>
                <a:path path="rect">
                  <a:fillToRect l="50000" t="50000" r="50000" b="50000"/>
                </a:path>
              </a:gradFill>
              <a:ln w="127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13" name="Freeform 40"/>
              <p:cNvSpPr>
                <a:spLocks/>
              </p:cNvSpPr>
              <p:nvPr/>
            </p:nvSpPr>
            <p:spPr bwMode="auto">
              <a:xfrm>
                <a:off x="3792" y="2112"/>
                <a:ext cx="562" cy="307"/>
              </a:xfrm>
              <a:custGeom>
                <a:avLst/>
                <a:gdLst>
                  <a:gd name="T0" fmla="*/ 89 w 562"/>
                  <a:gd name="T1" fmla="*/ 56 h 307"/>
                  <a:gd name="T2" fmla="*/ 294 w 562"/>
                  <a:gd name="T3" fmla="*/ 9 h 307"/>
                  <a:gd name="T4" fmla="*/ 531 w 562"/>
                  <a:gd name="T5" fmla="*/ 111 h 307"/>
                  <a:gd name="T6" fmla="*/ 479 w 562"/>
                  <a:gd name="T7" fmla="*/ 286 h 307"/>
                  <a:gd name="T8" fmla="*/ 65 w 562"/>
                  <a:gd name="T9" fmla="*/ 237 h 307"/>
                  <a:gd name="T10" fmla="*/ 89 w 562"/>
                  <a:gd name="T11" fmla="*/ 56 h 3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2"/>
                  <a:gd name="T19" fmla="*/ 0 h 307"/>
                  <a:gd name="T20" fmla="*/ 562 w 562"/>
                  <a:gd name="T21" fmla="*/ 307 h 3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2" h="307">
                    <a:moveTo>
                      <a:pt x="89" y="56"/>
                    </a:moveTo>
                    <a:cubicBezTo>
                      <a:pt x="127" y="18"/>
                      <a:pt x="220" y="0"/>
                      <a:pt x="294" y="9"/>
                    </a:cubicBezTo>
                    <a:cubicBezTo>
                      <a:pt x="368" y="18"/>
                      <a:pt x="500" y="65"/>
                      <a:pt x="531" y="111"/>
                    </a:cubicBezTo>
                    <a:cubicBezTo>
                      <a:pt x="562" y="157"/>
                      <a:pt x="557" y="265"/>
                      <a:pt x="479" y="286"/>
                    </a:cubicBezTo>
                    <a:cubicBezTo>
                      <a:pt x="401" y="307"/>
                      <a:pt x="130" y="275"/>
                      <a:pt x="65" y="237"/>
                    </a:cubicBezTo>
                    <a:cubicBezTo>
                      <a:pt x="0" y="199"/>
                      <a:pt x="44" y="96"/>
                      <a:pt x="89" y="56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110" name="Text Box 44"/>
            <p:cNvSpPr txBox="1">
              <a:spLocks noChangeArrowheads="1"/>
            </p:cNvSpPr>
            <p:nvPr/>
          </p:nvSpPr>
          <p:spPr bwMode="auto">
            <a:xfrm>
              <a:off x="3552" y="2736"/>
              <a:ext cx="13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/>
                <a:t>空腔带电导体</a:t>
              </a:r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6582781" y="1543050"/>
            <a:ext cx="1451372" cy="1600200"/>
            <a:chOff x="4154" y="1296"/>
            <a:chExt cx="1219" cy="1344"/>
          </a:xfrm>
        </p:grpSpPr>
        <p:graphicFrame>
          <p:nvGraphicFramePr>
            <p:cNvPr id="4099" name="Object 39"/>
            <p:cNvGraphicFramePr>
              <a:graphicFrameLocks noChangeAspect="1"/>
            </p:cNvGraphicFramePr>
            <p:nvPr/>
          </p:nvGraphicFramePr>
          <p:xfrm>
            <a:off x="4320" y="2400"/>
            <a:ext cx="1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45" name="Equation" r:id="rId6" imgW="139680" imgH="177480" progId="Equation.3">
                    <p:embed/>
                  </p:oleObj>
                </mc:Choice>
                <mc:Fallback>
                  <p:oleObj name="Equation" r:id="rId6" imgW="139680" imgH="17748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400"/>
                          <a:ext cx="18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7" name="Freeform 10" descr="宽下对角线"/>
            <p:cNvSpPr>
              <a:spLocks/>
            </p:cNvSpPr>
            <p:nvPr/>
          </p:nvSpPr>
          <p:spPr bwMode="auto">
            <a:xfrm rot="2655082">
              <a:off x="4368" y="2160"/>
              <a:ext cx="487" cy="307"/>
            </a:xfrm>
            <a:custGeom>
              <a:avLst/>
              <a:gdLst>
                <a:gd name="T0" fmla="*/ 77 w 562"/>
                <a:gd name="T1" fmla="*/ 56 h 307"/>
                <a:gd name="T2" fmla="*/ 255 w 562"/>
                <a:gd name="T3" fmla="*/ 9 h 307"/>
                <a:gd name="T4" fmla="*/ 460 w 562"/>
                <a:gd name="T5" fmla="*/ 111 h 307"/>
                <a:gd name="T6" fmla="*/ 415 w 562"/>
                <a:gd name="T7" fmla="*/ 286 h 307"/>
                <a:gd name="T8" fmla="*/ 56 w 562"/>
                <a:gd name="T9" fmla="*/ 237 h 307"/>
                <a:gd name="T10" fmla="*/ 77 w 562"/>
                <a:gd name="T11" fmla="*/ 56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62"/>
                <a:gd name="T19" fmla="*/ 0 h 307"/>
                <a:gd name="T20" fmla="*/ 562 w 562"/>
                <a:gd name="T21" fmla="*/ 307 h 3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62" h="307">
                  <a:moveTo>
                    <a:pt x="89" y="56"/>
                  </a:moveTo>
                  <a:cubicBezTo>
                    <a:pt x="127" y="18"/>
                    <a:pt x="220" y="0"/>
                    <a:pt x="294" y="9"/>
                  </a:cubicBezTo>
                  <a:cubicBezTo>
                    <a:pt x="368" y="18"/>
                    <a:pt x="500" y="65"/>
                    <a:pt x="531" y="111"/>
                  </a:cubicBezTo>
                  <a:cubicBezTo>
                    <a:pt x="562" y="157"/>
                    <a:pt x="557" y="265"/>
                    <a:pt x="479" y="286"/>
                  </a:cubicBezTo>
                  <a:cubicBezTo>
                    <a:pt x="401" y="307"/>
                    <a:pt x="130" y="275"/>
                    <a:pt x="65" y="237"/>
                  </a:cubicBezTo>
                  <a:cubicBezTo>
                    <a:pt x="0" y="199"/>
                    <a:pt x="44" y="96"/>
                    <a:pt x="89" y="56"/>
                  </a:cubicBezTo>
                  <a:close/>
                </a:path>
              </a:pathLst>
            </a:custGeom>
            <a:pattFill prst="wdDnDiag">
              <a:fgClr>
                <a:srgbClr val="0000FF"/>
              </a:fgClr>
              <a:bgClr>
                <a:srgbClr val="EAEAEA"/>
              </a:bgClr>
            </a:pattFill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7" name="AutoShape 41"/>
            <p:cNvSpPr>
              <a:spLocks noChangeArrowheads="1"/>
            </p:cNvSpPr>
            <p:nvPr/>
          </p:nvSpPr>
          <p:spPr bwMode="auto">
            <a:xfrm>
              <a:off x="4154" y="1296"/>
              <a:ext cx="1219" cy="432"/>
            </a:xfrm>
            <a:prstGeom prst="wedgeEllipseCallout">
              <a:avLst>
                <a:gd name="adj1" fmla="val -24005"/>
                <a:gd name="adj2" fmla="val 141667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1C1C1C"/>
                  </a:solidFill>
                  <a:latin typeface="Times New Roman" pitchFamily="18" charset="0"/>
                </a:rPr>
                <a:t>高斯面</a:t>
              </a:r>
            </a:p>
          </p:txBody>
        </p:sp>
      </p:grpSp>
      <p:sp>
        <p:nvSpPr>
          <p:cNvPr id="4117" name="灯片编号占位符 1"/>
          <p:cNvSpPr txBox="1">
            <a:spLocks noGrp="1" noChangeArrowheads="1"/>
          </p:cNvSpPr>
          <p:nvPr/>
        </p:nvSpPr>
        <p:spPr bwMode="auto">
          <a:xfrm>
            <a:off x="7543800" y="4869656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A2AE027E-1D3E-4CE3-9AFF-38AD289CC5A7}" type="slidenum">
              <a:rPr lang="zh-CN" altLang="en-US" sz="1050" b="1">
                <a:latin typeface="Calibri" pitchFamily="34" charset="0"/>
              </a:rPr>
              <a:pPr algn="r"/>
              <a:t>7</a:t>
            </a:fld>
            <a:endParaRPr lang="en-US" altLang="zh-CN" sz="10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utoUpdateAnimBg="0"/>
      <p:bldP spid="1434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944163"/>
              </p:ext>
            </p:extLst>
          </p:nvPr>
        </p:nvGraphicFramePr>
        <p:xfrm>
          <a:off x="1724025" y="2000250"/>
          <a:ext cx="2058591" cy="558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2" name="Equation" r:id="rId3" imgW="1257120" imgH="291960" progId="Equation.3">
                  <p:embed/>
                </p:oleObj>
              </mc:Choice>
              <mc:Fallback>
                <p:oleObj name="Equation" r:id="rId3" imgW="1257120" imgH="29196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2000250"/>
                        <a:ext cx="2058591" cy="5584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 Box 3"/>
          <p:cNvSpPr txBox="1">
            <a:spLocks noChangeArrowheads="1"/>
          </p:cNvSpPr>
          <p:nvPr/>
        </p:nvSpPr>
        <p:spPr bwMode="auto">
          <a:xfrm>
            <a:off x="1266825" y="742950"/>
            <a:ext cx="388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itchFamily="18" charset="0"/>
              </a:rPr>
              <a:t>若内表面带电，必等量异号</a:t>
            </a:r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1323975" y="3714750"/>
            <a:ext cx="617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lang="zh-CN" altLang="en-US" sz="2400" b="1">
                <a:solidFill>
                  <a:srgbClr val="CC0000"/>
                </a:solidFill>
                <a:latin typeface="Times New Roman" pitchFamily="18" charset="0"/>
              </a:rPr>
              <a:t>结论：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</a:rPr>
              <a:t>空腔内无电荷时，</a:t>
            </a:r>
            <a:r>
              <a:rPr lang="zh-CN" altLang="en-US" sz="2400" b="1"/>
              <a:t>电荷分布在外表面</a:t>
            </a:r>
            <a:r>
              <a:rPr lang="en-US" altLang="zh-CN" sz="2400" b="1">
                <a:latin typeface="Times New Roman" pitchFamily="18" charset="0"/>
              </a:rPr>
              <a:t>,</a:t>
            </a:r>
            <a:r>
              <a:rPr lang="zh-CN" altLang="en-US" sz="2400" b="1"/>
              <a:t>　　　 内表面无电荷</a:t>
            </a:r>
            <a:r>
              <a:rPr lang="en-US" altLang="zh-CN" sz="2400" b="1"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4608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400802"/>
              </p:ext>
            </p:extLst>
          </p:nvPr>
        </p:nvGraphicFramePr>
        <p:xfrm>
          <a:off x="1666876" y="1143000"/>
          <a:ext cx="2259806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" name="Equation" r:id="rId5" imgW="1193760" imgH="469800" progId="Equation.3">
                  <p:embed/>
                </p:oleObj>
              </mc:Choice>
              <mc:Fallback>
                <p:oleObj name="Equation" r:id="rId5" imgW="1193760" imgH="469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6" y="1143000"/>
                        <a:ext cx="2259806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96" name="Rectangle 36"/>
          <p:cNvSpPr>
            <a:spLocks noChangeArrowheads="1"/>
          </p:cNvSpPr>
          <p:nvPr/>
        </p:nvSpPr>
        <p:spPr bwMode="auto">
          <a:xfrm>
            <a:off x="1323975" y="2628901"/>
            <a:ext cx="29718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itchFamily="18" charset="0"/>
              </a:rPr>
              <a:t>与导体是等势体矛盾</a:t>
            </a:r>
          </a:p>
        </p:txBody>
      </p:sp>
      <p:grpSp>
        <p:nvGrpSpPr>
          <p:cNvPr id="5130" name="Group 59"/>
          <p:cNvGrpSpPr>
            <a:grpSpLocks/>
          </p:cNvGrpSpPr>
          <p:nvPr/>
        </p:nvGrpSpPr>
        <p:grpSpPr bwMode="auto">
          <a:xfrm>
            <a:off x="5829300" y="1316683"/>
            <a:ext cx="2686050" cy="2286000"/>
            <a:chOff x="3168" y="1152"/>
            <a:chExt cx="2256" cy="1920"/>
          </a:xfrm>
        </p:grpSpPr>
        <p:sp>
          <p:nvSpPr>
            <p:cNvPr id="5157" name="Rectangle 60"/>
            <p:cNvSpPr>
              <a:spLocks noChangeArrowheads="1"/>
            </p:cNvSpPr>
            <p:nvPr/>
          </p:nvSpPr>
          <p:spPr bwMode="auto">
            <a:xfrm>
              <a:off x="3168" y="1152"/>
              <a:ext cx="2256" cy="192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8" name="Freeform 61"/>
            <p:cNvSpPr>
              <a:spLocks/>
            </p:cNvSpPr>
            <p:nvPr/>
          </p:nvSpPr>
          <p:spPr bwMode="auto">
            <a:xfrm>
              <a:off x="3360" y="1824"/>
              <a:ext cx="1565" cy="911"/>
            </a:xfrm>
            <a:custGeom>
              <a:avLst/>
              <a:gdLst>
                <a:gd name="T0" fmla="*/ 20 w 1565"/>
                <a:gd name="T1" fmla="*/ 401 h 911"/>
                <a:gd name="T2" fmla="*/ 304 w 1565"/>
                <a:gd name="T3" fmla="*/ 133 h 911"/>
                <a:gd name="T4" fmla="*/ 864 w 1565"/>
                <a:gd name="T5" fmla="*/ 30 h 911"/>
                <a:gd name="T6" fmla="*/ 1432 w 1565"/>
                <a:gd name="T7" fmla="*/ 314 h 911"/>
                <a:gd name="T8" fmla="*/ 1448 w 1565"/>
                <a:gd name="T9" fmla="*/ 827 h 911"/>
                <a:gd name="T10" fmla="*/ 730 w 1565"/>
                <a:gd name="T11" fmla="*/ 819 h 911"/>
                <a:gd name="T12" fmla="*/ 186 w 1565"/>
                <a:gd name="T13" fmla="*/ 669 h 911"/>
                <a:gd name="T14" fmla="*/ 20 w 1565"/>
                <a:gd name="T15" fmla="*/ 401 h 9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65"/>
                <a:gd name="T25" fmla="*/ 0 h 911"/>
                <a:gd name="T26" fmla="*/ 1565 w 1565"/>
                <a:gd name="T27" fmla="*/ 911 h 9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65" h="911">
                  <a:moveTo>
                    <a:pt x="20" y="401"/>
                  </a:moveTo>
                  <a:cubicBezTo>
                    <a:pt x="40" y="312"/>
                    <a:pt x="163" y="195"/>
                    <a:pt x="304" y="133"/>
                  </a:cubicBezTo>
                  <a:cubicBezTo>
                    <a:pt x="445" y="71"/>
                    <a:pt x="676" y="0"/>
                    <a:pt x="864" y="30"/>
                  </a:cubicBezTo>
                  <a:cubicBezTo>
                    <a:pt x="1052" y="60"/>
                    <a:pt x="1335" y="181"/>
                    <a:pt x="1432" y="314"/>
                  </a:cubicBezTo>
                  <a:cubicBezTo>
                    <a:pt x="1529" y="447"/>
                    <a:pt x="1565" y="743"/>
                    <a:pt x="1448" y="827"/>
                  </a:cubicBezTo>
                  <a:cubicBezTo>
                    <a:pt x="1331" y="911"/>
                    <a:pt x="940" y="845"/>
                    <a:pt x="730" y="819"/>
                  </a:cubicBezTo>
                  <a:cubicBezTo>
                    <a:pt x="520" y="793"/>
                    <a:pt x="304" y="739"/>
                    <a:pt x="186" y="669"/>
                  </a:cubicBezTo>
                  <a:cubicBezTo>
                    <a:pt x="68" y="599"/>
                    <a:pt x="0" y="490"/>
                    <a:pt x="20" y="40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C2C2C2"/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59" name="Freeform 62"/>
            <p:cNvSpPr>
              <a:spLocks/>
            </p:cNvSpPr>
            <p:nvPr/>
          </p:nvSpPr>
          <p:spPr bwMode="auto">
            <a:xfrm>
              <a:off x="3792" y="2112"/>
              <a:ext cx="562" cy="307"/>
            </a:xfrm>
            <a:custGeom>
              <a:avLst/>
              <a:gdLst>
                <a:gd name="T0" fmla="*/ 89 w 562"/>
                <a:gd name="T1" fmla="*/ 56 h 307"/>
                <a:gd name="T2" fmla="*/ 294 w 562"/>
                <a:gd name="T3" fmla="*/ 9 h 307"/>
                <a:gd name="T4" fmla="*/ 531 w 562"/>
                <a:gd name="T5" fmla="*/ 111 h 307"/>
                <a:gd name="T6" fmla="*/ 479 w 562"/>
                <a:gd name="T7" fmla="*/ 286 h 307"/>
                <a:gd name="T8" fmla="*/ 65 w 562"/>
                <a:gd name="T9" fmla="*/ 237 h 307"/>
                <a:gd name="T10" fmla="*/ 89 w 562"/>
                <a:gd name="T11" fmla="*/ 56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62"/>
                <a:gd name="T19" fmla="*/ 0 h 307"/>
                <a:gd name="T20" fmla="*/ 562 w 562"/>
                <a:gd name="T21" fmla="*/ 307 h 3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62" h="307">
                  <a:moveTo>
                    <a:pt x="89" y="56"/>
                  </a:moveTo>
                  <a:cubicBezTo>
                    <a:pt x="127" y="18"/>
                    <a:pt x="220" y="0"/>
                    <a:pt x="294" y="9"/>
                  </a:cubicBezTo>
                  <a:cubicBezTo>
                    <a:pt x="368" y="18"/>
                    <a:pt x="500" y="65"/>
                    <a:pt x="531" y="111"/>
                  </a:cubicBezTo>
                  <a:cubicBezTo>
                    <a:pt x="562" y="157"/>
                    <a:pt x="557" y="265"/>
                    <a:pt x="479" y="286"/>
                  </a:cubicBezTo>
                  <a:cubicBezTo>
                    <a:pt x="401" y="307"/>
                    <a:pt x="130" y="275"/>
                    <a:pt x="65" y="237"/>
                  </a:cubicBezTo>
                  <a:cubicBezTo>
                    <a:pt x="0" y="199"/>
                    <a:pt x="44" y="96"/>
                    <a:pt x="89" y="5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6400800" y="2497783"/>
            <a:ext cx="981075" cy="533400"/>
            <a:chOff x="3648" y="2144"/>
            <a:chExt cx="824" cy="448"/>
          </a:xfrm>
        </p:grpSpPr>
        <p:sp>
          <p:nvSpPr>
            <p:cNvPr id="5154" name="Oval 64"/>
            <p:cNvSpPr>
              <a:spLocks noChangeArrowheads="1"/>
            </p:cNvSpPr>
            <p:nvPr/>
          </p:nvSpPr>
          <p:spPr bwMode="auto">
            <a:xfrm>
              <a:off x="4328" y="2256"/>
              <a:ext cx="144" cy="1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b="1"/>
                <a:t>－</a:t>
              </a:r>
            </a:p>
          </p:txBody>
        </p:sp>
        <p:sp>
          <p:nvSpPr>
            <p:cNvPr id="5155" name="Oval 65"/>
            <p:cNvSpPr>
              <a:spLocks noChangeArrowheads="1"/>
            </p:cNvSpPr>
            <p:nvPr/>
          </p:nvSpPr>
          <p:spPr bwMode="auto">
            <a:xfrm>
              <a:off x="3696" y="2144"/>
              <a:ext cx="144" cy="1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b="1"/>
                <a:t>＋</a:t>
              </a:r>
            </a:p>
          </p:txBody>
        </p:sp>
        <p:graphicFrame>
          <p:nvGraphicFramePr>
            <p:cNvPr id="5125" name="Object 3"/>
            <p:cNvGraphicFramePr>
              <a:graphicFrameLocks noChangeAspect="1"/>
            </p:cNvGraphicFramePr>
            <p:nvPr/>
          </p:nvGraphicFramePr>
          <p:xfrm>
            <a:off x="3648" y="2256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94" name="Equation" r:id="rId7" imgW="152280" imgH="164880" progId="Equation.3">
                    <p:embed/>
                  </p:oleObj>
                </mc:Choice>
                <mc:Fallback>
                  <p:oleObj name="Equation" r:id="rId7" imgW="152280" imgH="16488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256"/>
                          <a:ext cx="202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6" name="Object 4"/>
            <p:cNvGraphicFramePr>
              <a:graphicFrameLocks noChangeAspect="1"/>
            </p:cNvGraphicFramePr>
            <p:nvPr/>
          </p:nvGraphicFramePr>
          <p:xfrm>
            <a:off x="4224" y="2352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95" name="Equation" r:id="rId9" imgW="152280" imgH="164880" progId="Equation.3">
                    <p:embed/>
                  </p:oleObj>
                </mc:Choice>
                <mc:Fallback>
                  <p:oleObj name="Equation" r:id="rId9" imgW="152280" imgH="1648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352"/>
                          <a:ext cx="202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6" name="Line 68"/>
            <p:cNvSpPr>
              <a:spLocks noChangeShapeType="1"/>
            </p:cNvSpPr>
            <p:nvPr/>
          </p:nvSpPr>
          <p:spPr bwMode="auto">
            <a:xfrm>
              <a:off x="3840" y="2240"/>
              <a:ext cx="480" cy="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6253162" y="1488133"/>
            <a:ext cx="2205038" cy="1541860"/>
            <a:chOff x="3524" y="1296"/>
            <a:chExt cx="1852" cy="1295"/>
          </a:xfrm>
        </p:grpSpPr>
        <p:sp>
          <p:nvSpPr>
            <p:cNvPr id="5152" name="Oval 70"/>
            <p:cNvSpPr>
              <a:spLocks noChangeArrowheads="1"/>
            </p:cNvSpPr>
            <p:nvPr/>
          </p:nvSpPr>
          <p:spPr bwMode="auto">
            <a:xfrm rot="410983">
              <a:off x="3524" y="2015"/>
              <a:ext cx="1152" cy="57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4" name="Object 2"/>
            <p:cNvGraphicFramePr>
              <a:graphicFrameLocks noChangeAspect="1"/>
            </p:cNvGraphicFramePr>
            <p:nvPr/>
          </p:nvGraphicFramePr>
          <p:xfrm>
            <a:off x="4656" y="2256"/>
            <a:ext cx="1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96" name="Equation" r:id="rId11" imgW="139680" imgH="177480" progId="Equation.3">
                    <p:embed/>
                  </p:oleObj>
                </mc:Choice>
                <mc:Fallback>
                  <p:oleObj name="Equation" r:id="rId11" imgW="139680" imgH="17748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256"/>
                          <a:ext cx="18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32" name="AutoShape 72"/>
            <p:cNvSpPr>
              <a:spLocks noChangeArrowheads="1"/>
            </p:cNvSpPr>
            <p:nvPr/>
          </p:nvSpPr>
          <p:spPr bwMode="auto">
            <a:xfrm>
              <a:off x="4272" y="1296"/>
              <a:ext cx="1104" cy="432"/>
            </a:xfrm>
            <a:prstGeom prst="wedgeEllipseCallout">
              <a:avLst>
                <a:gd name="adj1" fmla="val -24005"/>
                <a:gd name="adj2" fmla="val 141667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1C1C1C"/>
                  </a:solidFill>
                  <a:latin typeface="Times New Roman" pitchFamily="18" charset="0"/>
                </a:rPr>
                <a:t>高斯面</a:t>
              </a:r>
            </a:p>
          </p:txBody>
        </p:sp>
      </p:grpSp>
      <p:grpSp>
        <p:nvGrpSpPr>
          <p:cNvPr id="5" name="Group 73"/>
          <p:cNvGrpSpPr>
            <a:grpSpLocks/>
          </p:cNvGrpSpPr>
          <p:nvPr/>
        </p:nvGrpSpPr>
        <p:grpSpPr bwMode="auto">
          <a:xfrm>
            <a:off x="5935117" y="1438100"/>
            <a:ext cx="2572940" cy="2141936"/>
            <a:chOff x="3251" y="1254"/>
            <a:chExt cx="2161" cy="1799"/>
          </a:xfrm>
        </p:grpSpPr>
        <p:sp>
          <p:nvSpPr>
            <p:cNvPr id="5136" name="Rectangle 74"/>
            <p:cNvSpPr>
              <a:spLocks noChangeArrowheads="1"/>
            </p:cNvSpPr>
            <p:nvPr/>
          </p:nvSpPr>
          <p:spPr bwMode="auto">
            <a:xfrm>
              <a:off x="3300" y="1254"/>
              <a:ext cx="2112" cy="17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37" name="Group 75"/>
            <p:cNvGrpSpPr>
              <a:grpSpLocks/>
            </p:cNvGrpSpPr>
            <p:nvPr/>
          </p:nvGrpSpPr>
          <p:grpSpPr bwMode="auto">
            <a:xfrm>
              <a:off x="3251" y="1690"/>
              <a:ext cx="1793" cy="1203"/>
              <a:chOff x="3248" y="1690"/>
              <a:chExt cx="1793" cy="1203"/>
            </a:xfrm>
          </p:grpSpPr>
          <p:grpSp>
            <p:nvGrpSpPr>
              <p:cNvPr id="5138" name="Group 76"/>
              <p:cNvGrpSpPr>
                <a:grpSpLocks/>
              </p:cNvGrpSpPr>
              <p:nvPr/>
            </p:nvGrpSpPr>
            <p:grpSpPr bwMode="auto">
              <a:xfrm>
                <a:off x="3248" y="1690"/>
                <a:ext cx="1793" cy="1203"/>
                <a:chOff x="848" y="1450"/>
                <a:chExt cx="1793" cy="1203"/>
              </a:xfrm>
            </p:grpSpPr>
            <p:sp>
              <p:nvSpPr>
                <p:cNvPr id="5140" name="Freeform 77"/>
                <p:cNvSpPr>
                  <a:spLocks/>
                </p:cNvSpPr>
                <p:nvPr/>
              </p:nvSpPr>
              <p:spPr bwMode="auto">
                <a:xfrm>
                  <a:off x="972" y="1620"/>
                  <a:ext cx="1565" cy="911"/>
                </a:xfrm>
                <a:custGeom>
                  <a:avLst/>
                  <a:gdLst>
                    <a:gd name="T0" fmla="*/ 20 w 1565"/>
                    <a:gd name="T1" fmla="*/ 401 h 911"/>
                    <a:gd name="T2" fmla="*/ 304 w 1565"/>
                    <a:gd name="T3" fmla="*/ 133 h 911"/>
                    <a:gd name="T4" fmla="*/ 864 w 1565"/>
                    <a:gd name="T5" fmla="*/ 30 h 911"/>
                    <a:gd name="T6" fmla="*/ 1432 w 1565"/>
                    <a:gd name="T7" fmla="*/ 314 h 911"/>
                    <a:gd name="T8" fmla="*/ 1448 w 1565"/>
                    <a:gd name="T9" fmla="*/ 827 h 911"/>
                    <a:gd name="T10" fmla="*/ 730 w 1565"/>
                    <a:gd name="T11" fmla="*/ 819 h 911"/>
                    <a:gd name="T12" fmla="*/ 186 w 1565"/>
                    <a:gd name="T13" fmla="*/ 669 h 911"/>
                    <a:gd name="T14" fmla="*/ 20 w 1565"/>
                    <a:gd name="T15" fmla="*/ 401 h 91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565"/>
                    <a:gd name="T25" fmla="*/ 0 h 911"/>
                    <a:gd name="T26" fmla="*/ 1565 w 1565"/>
                    <a:gd name="T27" fmla="*/ 911 h 91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565" h="911">
                      <a:moveTo>
                        <a:pt x="20" y="401"/>
                      </a:moveTo>
                      <a:cubicBezTo>
                        <a:pt x="40" y="312"/>
                        <a:pt x="163" y="195"/>
                        <a:pt x="304" y="133"/>
                      </a:cubicBezTo>
                      <a:cubicBezTo>
                        <a:pt x="445" y="71"/>
                        <a:pt x="676" y="0"/>
                        <a:pt x="864" y="30"/>
                      </a:cubicBezTo>
                      <a:cubicBezTo>
                        <a:pt x="1052" y="60"/>
                        <a:pt x="1335" y="181"/>
                        <a:pt x="1432" y="314"/>
                      </a:cubicBezTo>
                      <a:cubicBezTo>
                        <a:pt x="1529" y="447"/>
                        <a:pt x="1565" y="743"/>
                        <a:pt x="1448" y="827"/>
                      </a:cubicBezTo>
                      <a:cubicBezTo>
                        <a:pt x="1331" y="911"/>
                        <a:pt x="940" y="845"/>
                        <a:pt x="730" y="819"/>
                      </a:cubicBezTo>
                      <a:cubicBezTo>
                        <a:pt x="520" y="793"/>
                        <a:pt x="304" y="739"/>
                        <a:pt x="186" y="669"/>
                      </a:cubicBezTo>
                      <a:cubicBezTo>
                        <a:pt x="68" y="599"/>
                        <a:pt x="0" y="490"/>
                        <a:pt x="20" y="40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C2C2C2"/>
                    </a:gs>
                  </a:gsLst>
                  <a:path path="rect">
                    <a:fillToRect l="50000" t="50000" r="50000" b="50000"/>
                  </a:path>
                </a:gradFill>
                <a:ln w="12700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5141" name="Group 78"/>
                <p:cNvGrpSpPr>
                  <a:grpSpLocks/>
                </p:cNvGrpSpPr>
                <p:nvPr/>
              </p:nvGrpSpPr>
              <p:grpSpPr bwMode="auto">
                <a:xfrm>
                  <a:off x="848" y="1450"/>
                  <a:ext cx="1793" cy="1203"/>
                  <a:chOff x="3890" y="538"/>
                  <a:chExt cx="1721" cy="1204"/>
                </a:xfrm>
              </p:grpSpPr>
              <p:sp>
                <p:nvSpPr>
                  <p:cNvPr id="5142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0" y="586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43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4704" y="538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44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5088" y="679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45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5337" y="990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46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5356" y="1262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47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5049" y="1432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48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472" y="1372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49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4058" y="709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50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3890" y="966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  <p:sp>
                <p:nvSpPr>
                  <p:cNvPr id="5151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218"/>
                    <a:ext cx="255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+</a:t>
                    </a:r>
                  </a:p>
                </p:txBody>
              </p:sp>
            </p:grpSp>
          </p:grpSp>
          <p:sp>
            <p:nvSpPr>
              <p:cNvPr id="5139" name="Freeform 89"/>
              <p:cNvSpPr>
                <a:spLocks/>
              </p:cNvSpPr>
              <p:nvPr/>
            </p:nvSpPr>
            <p:spPr bwMode="auto">
              <a:xfrm>
                <a:off x="3792" y="2112"/>
                <a:ext cx="562" cy="307"/>
              </a:xfrm>
              <a:custGeom>
                <a:avLst/>
                <a:gdLst>
                  <a:gd name="T0" fmla="*/ 89 w 562"/>
                  <a:gd name="T1" fmla="*/ 56 h 307"/>
                  <a:gd name="T2" fmla="*/ 294 w 562"/>
                  <a:gd name="T3" fmla="*/ 9 h 307"/>
                  <a:gd name="T4" fmla="*/ 531 w 562"/>
                  <a:gd name="T5" fmla="*/ 111 h 307"/>
                  <a:gd name="T6" fmla="*/ 479 w 562"/>
                  <a:gd name="T7" fmla="*/ 286 h 307"/>
                  <a:gd name="T8" fmla="*/ 65 w 562"/>
                  <a:gd name="T9" fmla="*/ 237 h 307"/>
                  <a:gd name="T10" fmla="*/ 89 w 562"/>
                  <a:gd name="T11" fmla="*/ 56 h 3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2"/>
                  <a:gd name="T19" fmla="*/ 0 h 307"/>
                  <a:gd name="T20" fmla="*/ 562 w 562"/>
                  <a:gd name="T21" fmla="*/ 307 h 3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2" h="307">
                    <a:moveTo>
                      <a:pt x="89" y="56"/>
                    </a:moveTo>
                    <a:cubicBezTo>
                      <a:pt x="127" y="18"/>
                      <a:pt x="220" y="0"/>
                      <a:pt x="294" y="9"/>
                    </a:cubicBezTo>
                    <a:cubicBezTo>
                      <a:pt x="368" y="18"/>
                      <a:pt x="500" y="65"/>
                      <a:pt x="531" y="111"/>
                    </a:cubicBezTo>
                    <a:cubicBezTo>
                      <a:pt x="562" y="157"/>
                      <a:pt x="557" y="265"/>
                      <a:pt x="479" y="286"/>
                    </a:cubicBezTo>
                    <a:cubicBezTo>
                      <a:pt x="401" y="307"/>
                      <a:pt x="130" y="275"/>
                      <a:pt x="65" y="237"/>
                    </a:cubicBezTo>
                    <a:cubicBezTo>
                      <a:pt x="0" y="199"/>
                      <a:pt x="44" y="96"/>
                      <a:pt x="89" y="56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5134" name="Text Box 90"/>
          <p:cNvSpPr txBox="1">
            <a:spLocks noChangeArrowheads="1"/>
          </p:cNvSpPr>
          <p:nvPr/>
        </p:nvSpPr>
        <p:spPr bwMode="auto">
          <a:xfrm>
            <a:off x="6286500" y="3202633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/>
              <a:t>空腔带电导体</a:t>
            </a:r>
          </a:p>
        </p:txBody>
      </p:sp>
      <p:sp>
        <p:nvSpPr>
          <p:cNvPr id="5161" name="灯片编号占位符 1"/>
          <p:cNvSpPr txBox="1">
            <a:spLocks noGrp="1" noChangeArrowheads="1"/>
          </p:cNvSpPr>
          <p:nvPr/>
        </p:nvSpPr>
        <p:spPr bwMode="auto">
          <a:xfrm>
            <a:off x="7515225" y="4869656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EACBA524-7FB4-409D-98BA-4F9E5D1CE59B}" type="slidenum">
              <a:rPr lang="zh-CN" altLang="en-US" sz="1050" b="1">
                <a:latin typeface="Calibri" pitchFamily="34" charset="0"/>
              </a:rPr>
              <a:pPr algn="r"/>
              <a:t>8</a:t>
            </a:fld>
            <a:endParaRPr lang="en-US" altLang="zh-CN" sz="10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9" grpId="0" autoUpdateAnimBg="0"/>
      <p:bldP spid="1539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Text Box 7"/>
          <p:cNvSpPr txBox="1">
            <a:spLocks noChangeArrowheads="1"/>
          </p:cNvSpPr>
          <p:nvPr/>
        </p:nvSpPr>
        <p:spPr bwMode="auto">
          <a:xfrm>
            <a:off x="1493657" y="519522"/>
            <a:ext cx="3487917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sz="2100" b="1">
                <a:solidFill>
                  <a:srgbClr val="1C1C1C"/>
                </a:solidFill>
                <a:latin typeface="Times New Roman" pitchFamily="18" charset="0"/>
              </a:rPr>
              <a:t>   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</a:rPr>
              <a:t>空腔内有电荷时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1284108" y="3596958"/>
            <a:ext cx="6000750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CC0000"/>
                </a:solidFill>
                <a:latin typeface="Times New Roman" pitchFamily="18" charset="0"/>
              </a:rPr>
              <a:t>结论</a:t>
            </a: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:  </a:t>
            </a:r>
            <a:r>
              <a:rPr lang="zh-CN" altLang="en-US" sz="2400" b="1">
                <a:latin typeface="Times New Roman" pitchFamily="18" charset="0"/>
              </a:rPr>
              <a:t>空腔内有电荷</a:t>
            </a:r>
            <a:r>
              <a:rPr lang="en-US" altLang="zh-CN" sz="2400">
                <a:latin typeface="Times New Roman" pitchFamily="18" charset="0"/>
              </a:rPr>
              <a:t>+</a:t>
            </a:r>
            <a:r>
              <a:rPr lang="en-US" altLang="zh-CN" sz="2400" i="1">
                <a:latin typeface="Times New Roman" pitchFamily="18" charset="0"/>
              </a:rPr>
              <a:t>q</a:t>
            </a:r>
            <a:r>
              <a:rPr lang="zh-CN" altLang="en-US" sz="2400" b="1">
                <a:latin typeface="Times New Roman" pitchFamily="18" charset="0"/>
              </a:rPr>
              <a:t>时，空腔内表面有感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itchFamily="18" charset="0"/>
              </a:rPr>
              <a:t>           应电荷</a:t>
            </a:r>
            <a:r>
              <a:rPr lang="en-US" altLang="zh-CN" sz="2400">
                <a:latin typeface="Times New Roman" pitchFamily="18" charset="0"/>
              </a:rPr>
              <a:t>-</a:t>
            </a:r>
            <a:r>
              <a:rPr lang="en-US" altLang="zh-CN" sz="2400" i="1">
                <a:latin typeface="Times New Roman" pitchFamily="18" charset="0"/>
              </a:rPr>
              <a:t>q</a:t>
            </a:r>
            <a:r>
              <a:rPr lang="zh-CN" altLang="en-US" sz="2400" b="1">
                <a:latin typeface="Times New Roman" pitchFamily="18" charset="0"/>
              </a:rPr>
              <a:t>，外表面有感应电荷</a:t>
            </a:r>
            <a:r>
              <a:rPr lang="en-US" altLang="zh-CN" sz="2400">
                <a:latin typeface="Times New Roman" pitchFamily="18" charset="0"/>
              </a:rPr>
              <a:t>+</a:t>
            </a:r>
            <a:r>
              <a:rPr lang="en-US" altLang="zh-CN" sz="2400" i="1">
                <a:latin typeface="Times New Roman" pitchFamily="18" charset="0"/>
              </a:rPr>
              <a:t>q</a:t>
            </a:r>
            <a:r>
              <a:rPr lang="zh-CN" altLang="en-US" sz="2400" b="1">
                <a:latin typeface="Times New Roman" pitchFamily="18" charset="0"/>
              </a:rPr>
              <a:t>．           </a:t>
            </a:r>
          </a:p>
        </p:txBody>
      </p:sp>
      <p:graphicFrame>
        <p:nvGraphicFramePr>
          <p:cNvPr id="163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008485"/>
              </p:ext>
            </p:extLst>
          </p:nvPr>
        </p:nvGraphicFramePr>
        <p:xfrm>
          <a:off x="2000250" y="1322317"/>
          <a:ext cx="1491630" cy="612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44" name="Equation" r:id="rId4" imgW="711000" imgH="291960" progId="Equation.3">
                  <p:embed/>
                </p:oleObj>
              </mc:Choice>
              <mc:Fallback>
                <p:oleObj name="Equation" r:id="rId4" imgW="711000" imgH="2919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322317"/>
                        <a:ext cx="1491630" cy="6124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2087725" y="2435442"/>
          <a:ext cx="1158239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45" name="Equation" r:id="rId6" imgW="571320" imgH="253800" progId="Equation.3">
                  <p:embed/>
                </p:oleObj>
              </mc:Choice>
              <mc:Fallback>
                <p:oleObj name="Equation" r:id="rId6" imgW="571320" imgH="253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725" y="2435442"/>
                        <a:ext cx="1158239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1" name="Group 26"/>
          <p:cNvGrpSpPr>
            <a:grpSpLocks/>
          </p:cNvGrpSpPr>
          <p:nvPr/>
        </p:nvGrpSpPr>
        <p:grpSpPr bwMode="auto">
          <a:xfrm>
            <a:off x="4914900" y="951570"/>
            <a:ext cx="2686050" cy="2405063"/>
            <a:chOff x="3168" y="1152"/>
            <a:chExt cx="2256" cy="2020"/>
          </a:xfrm>
        </p:grpSpPr>
        <p:sp>
          <p:nvSpPr>
            <p:cNvPr id="6162" name="Rectangle 27"/>
            <p:cNvSpPr>
              <a:spLocks noChangeArrowheads="1"/>
            </p:cNvSpPr>
            <p:nvPr/>
          </p:nvSpPr>
          <p:spPr bwMode="auto">
            <a:xfrm>
              <a:off x="3168" y="1152"/>
              <a:ext cx="2256" cy="202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Freeform 28"/>
            <p:cNvSpPr>
              <a:spLocks/>
            </p:cNvSpPr>
            <p:nvPr/>
          </p:nvSpPr>
          <p:spPr bwMode="auto">
            <a:xfrm>
              <a:off x="3360" y="1824"/>
              <a:ext cx="1565" cy="911"/>
            </a:xfrm>
            <a:custGeom>
              <a:avLst/>
              <a:gdLst>
                <a:gd name="T0" fmla="*/ 20 w 1565"/>
                <a:gd name="T1" fmla="*/ 401 h 911"/>
                <a:gd name="T2" fmla="*/ 304 w 1565"/>
                <a:gd name="T3" fmla="*/ 133 h 911"/>
                <a:gd name="T4" fmla="*/ 864 w 1565"/>
                <a:gd name="T5" fmla="*/ 30 h 911"/>
                <a:gd name="T6" fmla="*/ 1432 w 1565"/>
                <a:gd name="T7" fmla="*/ 314 h 911"/>
                <a:gd name="T8" fmla="*/ 1448 w 1565"/>
                <a:gd name="T9" fmla="*/ 827 h 911"/>
                <a:gd name="T10" fmla="*/ 730 w 1565"/>
                <a:gd name="T11" fmla="*/ 819 h 911"/>
                <a:gd name="T12" fmla="*/ 186 w 1565"/>
                <a:gd name="T13" fmla="*/ 669 h 911"/>
                <a:gd name="T14" fmla="*/ 20 w 1565"/>
                <a:gd name="T15" fmla="*/ 401 h 9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65"/>
                <a:gd name="T25" fmla="*/ 0 h 911"/>
                <a:gd name="T26" fmla="*/ 1565 w 1565"/>
                <a:gd name="T27" fmla="*/ 911 h 9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65" h="911">
                  <a:moveTo>
                    <a:pt x="20" y="401"/>
                  </a:moveTo>
                  <a:cubicBezTo>
                    <a:pt x="40" y="312"/>
                    <a:pt x="163" y="195"/>
                    <a:pt x="304" y="133"/>
                  </a:cubicBezTo>
                  <a:cubicBezTo>
                    <a:pt x="445" y="71"/>
                    <a:pt x="676" y="0"/>
                    <a:pt x="864" y="30"/>
                  </a:cubicBezTo>
                  <a:cubicBezTo>
                    <a:pt x="1052" y="60"/>
                    <a:pt x="1335" y="181"/>
                    <a:pt x="1432" y="314"/>
                  </a:cubicBezTo>
                  <a:cubicBezTo>
                    <a:pt x="1529" y="447"/>
                    <a:pt x="1565" y="743"/>
                    <a:pt x="1448" y="827"/>
                  </a:cubicBezTo>
                  <a:cubicBezTo>
                    <a:pt x="1331" y="911"/>
                    <a:pt x="940" y="845"/>
                    <a:pt x="730" y="819"/>
                  </a:cubicBezTo>
                  <a:cubicBezTo>
                    <a:pt x="520" y="793"/>
                    <a:pt x="304" y="739"/>
                    <a:pt x="186" y="669"/>
                  </a:cubicBezTo>
                  <a:cubicBezTo>
                    <a:pt x="68" y="599"/>
                    <a:pt x="0" y="490"/>
                    <a:pt x="20" y="40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C2C2C2"/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64" name="Freeform 29"/>
            <p:cNvSpPr>
              <a:spLocks/>
            </p:cNvSpPr>
            <p:nvPr/>
          </p:nvSpPr>
          <p:spPr bwMode="auto">
            <a:xfrm>
              <a:off x="3792" y="2112"/>
              <a:ext cx="562" cy="307"/>
            </a:xfrm>
            <a:custGeom>
              <a:avLst/>
              <a:gdLst>
                <a:gd name="T0" fmla="*/ 89 w 562"/>
                <a:gd name="T1" fmla="*/ 56 h 307"/>
                <a:gd name="T2" fmla="*/ 294 w 562"/>
                <a:gd name="T3" fmla="*/ 9 h 307"/>
                <a:gd name="T4" fmla="*/ 531 w 562"/>
                <a:gd name="T5" fmla="*/ 111 h 307"/>
                <a:gd name="T6" fmla="*/ 479 w 562"/>
                <a:gd name="T7" fmla="*/ 286 h 307"/>
                <a:gd name="T8" fmla="*/ 65 w 562"/>
                <a:gd name="T9" fmla="*/ 237 h 307"/>
                <a:gd name="T10" fmla="*/ 89 w 562"/>
                <a:gd name="T11" fmla="*/ 56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62"/>
                <a:gd name="T19" fmla="*/ 0 h 307"/>
                <a:gd name="T20" fmla="*/ 562 w 562"/>
                <a:gd name="T21" fmla="*/ 307 h 3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62" h="307">
                  <a:moveTo>
                    <a:pt x="89" y="56"/>
                  </a:moveTo>
                  <a:cubicBezTo>
                    <a:pt x="127" y="18"/>
                    <a:pt x="220" y="0"/>
                    <a:pt x="294" y="9"/>
                  </a:cubicBezTo>
                  <a:cubicBezTo>
                    <a:pt x="368" y="18"/>
                    <a:pt x="500" y="65"/>
                    <a:pt x="531" y="111"/>
                  </a:cubicBezTo>
                  <a:cubicBezTo>
                    <a:pt x="562" y="157"/>
                    <a:pt x="557" y="265"/>
                    <a:pt x="479" y="286"/>
                  </a:cubicBezTo>
                  <a:cubicBezTo>
                    <a:pt x="401" y="307"/>
                    <a:pt x="130" y="275"/>
                    <a:pt x="65" y="237"/>
                  </a:cubicBezTo>
                  <a:cubicBezTo>
                    <a:pt x="0" y="199"/>
                    <a:pt x="44" y="96"/>
                    <a:pt x="89" y="5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152" name="Oval 30"/>
          <p:cNvSpPr>
            <a:spLocks noChangeArrowheads="1"/>
          </p:cNvSpPr>
          <p:nvPr/>
        </p:nvSpPr>
        <p:spPr bwMode="auto">
          <a:xfrm>
            <a:off x="5886450" y="2170770"/>
            <a:ext cx="171450" cy="17145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9999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500" b="1" i="1" dirty="0">
                <a:latin typeface="Times New Roman" pitchFamily="18" charset="0"/>
              </a:rPr>
              <a:t>+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5372100" y="1105161"/>
            <a:ext cx="2205038" cy="1644253"/>
            <a:chOff x="3524" y="1296"/>
            <a:chExt cx="1852" cy="1381"/>
          </a:xfrm>
          <a:noFill/>
        </p:grpSpPr>
        <p:sp>
          <p:nvSpPr>
            <p:cNvPr id="6160" name="Oval 32"/>
            <p:cNvSpPr>
              <a:spLocks noChangeArrowheads="1"/>
            </p:cNvSpPr>
            <p:nvPr/>
          </p:nvSpPr>
          <p:spPr bwMode="auto">
            <a:xfrm rot="410983">
              <a:off x="3524" y="2015"/>
              <a:ext cx="1152" cy="576"/>
            </a:xfrm>
            <a:prstGeom prst="ellipse">
              <a:avLst/>
            </a:prstGeom>
            <a:grp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8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2771997"/>
                </p:ext>
              </p:extLst>
            </p:nvPr>
          </p:nvGraphicFramePr>
          <p:xfrm>
            <a:off x="4556" y="2437"/>
            <a:ext cx="1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46" name="Equation" r:id="rId8" imgW="139680" imgH="177480" progId="Equation.3">
                    <p:embed/>
                  </p:oleObj>
                </mc:Choice>
                <mc:Fallback>
                  <p:oleObj name="Equation" r:id="rId8" imgW="139680" imgH="17748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6" y="2437"/>
                          <a:ext cx="18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8" name="AutoShape 34"/>
            <p:cNvSpPr>
              <a:spLocks noChangeArrowheads="1"/>
            </p:cNvSpPr>
            <p:nvPr/>
          </p:nvSpPr>
          <p:spPr bwMode="auto">
            <a:xfrm>
              <a:off x="4272" y="1296"/>
              <a:ext cx="1104" cy="432"/>
            </a:xfrm>
            <a:prstGeom prst="wedgeEllipseCallout">
              <a:avLst>
                <a:gd name="adj1" fmla="val -24005"/>
                <a:gd name="adj2" fmla="val 141667"/>
              </a:avLst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1C1C1C"/>
                  </a:solidFill>
                  <a:latin typeface="Times New Roman" pitchFamily="18" charset="0"/>
                </a:rPr>
                <a:t>高斯面</a:t>
              </a:r>
            </a:p>
          </p:txBody>
        </p:sp>
      </p:grpSp>
      <p:sp>
        <p:nvSpPr>
          <p:cNvPr id="6154" name="Rectangle 36"/>
          <p:cNvSpPr>
            <a:spLocks noChangeArrowheads="1"/>
          </p:cNvSpPr>
          <p:nvPr/>
        </p:nvSpPr>
        <p:spPr bwMode="auto">
          <a:xfrm>
            <a:off x="6000750" y="209457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CC0000"/>
                </a:solidFill>
                <a:latin typeface="Times New Roman" pitchFamily="18" charset="0"/>
              </a:rPr>
              <a:t>q</a:t>
            </a:r>
          </a:p>
        </p:txBody>
      </p:sp>
      <p:sp>
        <p:nvSpPr>
          <p:cNvPr id="6156" name="Text Box 40"/>
          <p:cNvSpPr txBox="1">
            <a:spLocks noChangeArrowheads="1"/>
          </p:cNvSpPr>
          <p:nvPr/>
        </p:nvSpPr>
        <p:spPr bwMode="auto">
          <a:xfrm>
            <a:off x="5595887" y="3061303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空腔导体</a:t>
            </a:r>
          </a:p>
        </p:txBody>
      </p:sp>
      <p:sp>
        <p:nvSpPr>
          <p:cNvPr id="6166" name="灯片编号占位符 1"/>
          <p:cNvSpPr txBox="1">
            <a:spLocks noGrp="1" noChangeArrowheads="1"/>
          </p:cNvSpPr>
          <p:nvPr/>
        </p:nvSpPr>
        <p:spPr bwMode="auto">
          <a:xfrm>
            <a:off x="7494408" y="4905375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7DA9C25F-ED26-4B0D-874B-8B53440FD68C}" type="slidenum">
              <a:rPr lang="zh-CN" altLang="en-US" sz="1050" b="1">
                <a:latin typeface="Calibri" pitchFamily="34" charset="0"/>
              </a:rPr>
              <a:pPr algn="r"/>
              <a:t>9</a:t>
            </a:fld>
            <a:endParaRPr lang="en-US" altLang="zh-CN" sz="1050"/>
          </a:p>
        </p:txBody>
      </p:sp>
      <p:grpSp>
        <p:nvGrpSpPr>
          <p:cNvPr id="16394" name="组合 16393"/>
          <p:cNvGrpSpPr/>
          <p:nvPr/>
        </p:nvGrpSpPr>
        <p:grpSpPr>
          <a:xfrm>
            <a:off x="5053656" y="1676075"/>
            <a:ext cx="1967995" cy="1197255"/>
            <a:chOff x="5214208" y="2234767"/>
            <a:chExt cx="2623993" cy="1596341"/>
          </a:xfrm>
        </p:grpSpPr>
        <p:grpSp>
          <p:nvGrpSpPr>
            <p:cNvPr id="2" name="组合 1"/>
            <p:cNvGrpSpPr/>
            <p:nvPr/>
          </p:nvGrpSpPr>
          <p:grpSpPr>
            <a:xfrm>
              <a:off x="5928561" y="2721721"/>
              <a:ext cx="1077465" cy="707877"/>
              <a:chOff x="5928561" y="2721721"/>
              <a:chExt cx="1077465" cy="707877"/>
            </a:xfrm>
          </p:grpSpPr>
          <p:graphicFrame>
            <p:nvGraphicFramePr>
              <p:cNvPr id="21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729252"/>
                  </p:ext>
                </p:extLst>
              </p:nvPr>
            </p:nvGraphicFramePr>
            <p:xfrm>
              <a:off x="6058692" y="3142559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47" name="Equation" r:id="rId10" imgW="139680" imgH="101520" progId="Equation.DSMT4">
                      <p:embed/>
                    </p:oleObj>
                  </mc:Choice>
                  <mc:Fallback>
                    <p:oleObj name="Equation" r:id="rId10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58692" y="3142559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93419149"/>
                  </p:ext>
                </p:extLst>
              </p:nvPr>
            </p:nvGraphicFramePr>
            <p:xfrm>
              <a:off x="5992950" y="2812504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48" name="Equation" r:id="rId12" imgW="139680" imgH="101520" progId="Equation.DSMT4">
                      <p:embed/>
                    </p:oleObj>
                  </mc:Choice>
                  <mc:Fallback>
                    <p:oleObj name="Equation" r:id="rId12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92950" y="2812504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831326"/>
                  </p:ext>
                </p:extLst>
              </p:nvPr>
            </p:nvGraphicFramePr>
            <p:xfrm>
              <a:off x="6189061" y="2721721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49" name="Equation" r:id="rId13" imgW="139680" imgH="101520" progId="Equation.DSMT4">
                      <p:embed/>
                    </p:oleObj>
                  </mc:Choice>
                  <mc:Fallback>
                    <p:oleObj name="Equation" r:id="rId13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89061" y="2721721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7917800"/>
                  </p:ext>
                </p:extLst>
              </p:nvPr>
            </p:nvGraphicFramePr>
            <p:xfrm>
              <a:off x="6594441" y="2725948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0" name="Equation" r:id="rId14" imgW="139680" imgH="101520" progId="Equation.DSMT4">
                      <p:embed/>
                    </p:oleObj>
                  </mc:Choice>
                  <mc:Fallback>
                    <p:oleObj name="Equation" r:id="rId14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94441" y="2725948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7624867"/>
                  </p:ext>
                </p:extLst>
              </p:nvPr>
            </p:nvGraphicFramePr>
            <p:xfrm>
              <a:off x="6856265" y="2866935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1" name="Equation" r:id="rId15" imgW="139680" imgH="101520" progId="Equation.DSMT4">
                      <p:embed/>
                    </p:oleObj>
                  </mc:Choice>
                  <mc:Fallback>
                    <p:oleObj name="Equation" r:id="rId15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56265" y="2866935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9883585"/>
                  </p:ext>
                </p:extLst>
              </p:nvPr>
            </p:nvGraphicFramePr>
            <p:xfrm>
              <a:off x="6888489" y="3060288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2" name="Equation" r:id="rId16" imgW="139680" imgH="101520" progId="Equation.DSMT4">
                      <p:embed/>
                    </p:oleObj>
                  </mc:Choice>
                  <mc:Fallback>
                    <p:oleObj name="Equation" r:id="rId16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88489" y="3060288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9168166"/>
                  </p:ext>
                </p:extLst>
              </p:nvPr>
            </p:nvGraphicFramePr>
            <p:xfrm>
              <a:off x="6778261" y="3194926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3" name="Equation" r:id="rId17" imgW="139680" imgH="101520" progId="Equation.DSMT4">
                      <p:embed/>
                    </p:oleObj>
                  </mc:Choice>
                  <mc:Fallback>
                    <p:oleObj name="Equation" r:id="rId17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78261" y="3194926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5651779"/>
                  </p:ext>
                </p:extLst>
              </p:nvPr>
            </p:nvGraphicFramePr>
            <p:xfrm>
              <a:off x="6417200" y="3213598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4" name="Equation" r:id="rId18" imgW="139680" imgH="101520" progId="Equation.DSMT4">
                      <p:embed/>
                    </p:oleObj>
                  </mc:Choice>
                  <mc:Fallback>
                    <p:oleObj name="Equation" r:id="rId18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17200" y="3213598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0144997"/>
                  </p:ext>
                </p:extLst>
              </p:nvPr>
            </p:nvGraphicFramePr>
            <p:xfrm>
              <a:off x="5928561" y="2979724"/>
              <a:ext cx="117537" cy="21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5" name="Equation" r:id="rId19" imgW="139680" imgH="101520" progId="Equation.DSMT4">
                      <p:embed/>
                    </p:oleObj>
                  </mc:Choice>
                  <mc:Fallback>
                    <p:oleObj name="Equation" r:id="rId19" imgW="139680" imgH="1015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28561" y="2979724"/>
                            <a:ext cx="117537" cy="216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393" name="组合 16392"/>
            <p:cNvGrpSpPr/>
            <p:nvPr/>
          </p:nvGrpSpPr>
          <p:grpSpPr>
            <a:xfrm>
              <a:off x="5214208" y="2234767"/>
              <a:ext cx="2623993" cy="1596341"/>
              <a:chOff x="5214208" y="2234767"/>
              <a:chExt cx="2623993" cy="1596341"/>
            </a:xfrm>
          </p:grpSpPr>
          <p:graphicFrame>
            <p:nvGraphicFramePr>
              <p:cNvPr id="64" name="对象 6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1321033"/>
                  </p:ext>
                </p:extLst>
              </p:nvPr>
            </p:nvGraphicFramePr>
            <p:xfrm>
              <a:off x="6057078" y="2234767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6" name="Equation" r:id="rId20" imgW="139680" imgH="139680" progId="Equation.DSMT4">
                      <p:embed/>
                    </p:oleObj>
                  </mc:Choice>
                  <mc:Fallback>
                    <p:oleObj name="Equation" r:id="rId20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57078" y="2234767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对象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11442899"/>
                  </p:ext>
                </p:extLst>
              </p:nvPr>
            </p:nvGraphicFramePr>
            <p:xfrm>
              <a:off x="5419580" y="2554610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7" name="Equation" r:id="rId22" imgW="139680" imgH="139680" progId="Equation.DSMT4">
                      <p:embed/>
                    </p:oleObj>
                  </mc:Choice>
                  <mc:Fallback>
                    <p:oleObj name="Equation" r:id="rId22" imgW="139680" imgH="139680" progId="Equation.DSMT4">
                      <p:embed/>
                      <p:pic>
                        <p:nvPicPr>
                          <p:cNvPr id="64" name="对象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19580" y="2554610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对象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6225491"/>
                  </p:ext>
                </p:extLst>
              </p:nvPr>
            </p:nvGraphicFramePr>
            <p:xfrm>
              <a:off x="5214208" y="2843473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8" name="Equation" r:id="rId24" imgW="139680" imgH="139680" progId="Equation.DSMT4">
                      <p:embed/>
                    </p:oleObj>
                  </mc:Choice>
                  <mc:Fallback>
                    <p:oleObj name="Equation" r:id="rId24" imgW="139680" imgH="139680" progId="Equation.DSMT4">
                      <p:embed/>
                      <p:pic>
                        <p:nvPicPr>
                          <p:cNvPr id="39" name="对象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4208" y="2843473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" name="对象 4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1914111"/>
                  </p:ext>
                </p:extLst>
              </p:nvPr>
            </p:nvGraphicFramePr>
            <p:xfrm>
              <a:off x="5326944" y="3154122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59" name="Equation" r:id="rId25" imgW="139680" imgH="139680" progId="Equation.DSMT4">
                      <p:embed/>
                    </p:oleObj>
                  </mc:Choice>
                  <mc:Fallback>
                    <p:oleObj name="Equation" r:id="rId25" imgW="139680" imgH="139680" progId="Equation.DSMT4">
                      <p:embed/>
                      <p:pic>
                        <p:nvPicPr>
                          <p:cNvPr id="40" name="对象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6944" y="3154122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" name="对象 4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3400881"/>
                  </p:ext>
                </p:extLst>
              </p:nvPr>
            </p:nvGraphicFramePr>
            <p:xfrm>
              <a:off x="6166837" y="3537518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60" name="Equation" r:id="rId26" imgW="139680" imgH="139680" progId="Equation.DSMT4">
                      <p:embed/>
                    </p:oleObj>
                  </mc:Choice>
                  <mc:Fallback>
                    <p:oleObj name="Equation" r:id="rId26" imgW="139680" imgH="139680" progId="Equation.DSMT4">
                      <p:embed/>
                      <p:pic>
                        <p:nvPicPr>
                          <p:cNvPr id="41" name="对象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66837" y="3537518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对象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07057192"/>
                  </p:ext>
                </p:extLst>
              </p:nvPr>
            </p:nvGraphicFramePr>
            <p:xfrm>
              <a:off x="7529046" y="3579108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61" name="Equation" r:id="rId27" imgW="139680" imgH="139680" progId="Equation.DSMT4">
                      <p:embed/>
                    </p:oleObj>
                  </mc:Choice>
                  <mc:Fallback>
                    <p:oleObj name="Equation" r:id="rId27" imgW="139680" imgH="139680" progId="Equation.DSMT4">
                      <p:embed/>
                      <p:pic>
                        <p:nvPicPr>
                          <p:cNvPr id="42" name="对象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29046" y="3579108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对象 4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0801058"/>
                  </p:ext>
                </p:extLst>
              </p:nvPr>
            </p:nvGraphicFramePr>
            <p:xfrm>
              <a:off x="7680428" y="3207682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62" name="Equation" r:id="rId28" imgW="139680" imgH="139680" progId="Equation.DSMT4">
                      <p:embed/>
                    </p:oleObj>
                  </mc:Choice>
                  <mc:Fallback>
                    <p:oleObj name="Equation" r:id="rId28" imgW="139680" imgH="139680" progId="Equation.DSMT4">
                      <p:embed/>
                      <p:pic>
                        <p:nvPicPr>
                          <p:cNvPr id="43" name="对象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80428" y="3207682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对象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4280331"/>
                  </p:ext>
                </p:extLst>
              </p:nvPr>
            </p:nvGraphicFramePr>
            <p:xfrm>
              <a:off x="7599604" y="2806666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63" name="Equation" r:id="rId29" imgW="139680" imgH="139680" progId="Equation.DSMT4">
                      <p:embed/>
                    </p:oleObj>
                  </mc:Choice>
                  <mc:Fallback>
                    <p:oleObj name="Equation" r:id="rId29" imgW="139680" imgH="139680" progId="Equation.DSMT4">
                      <p:embed/>
                      <p:pic>
                        <p:nvPicPr>
                          <p:cNvPr id="44" name="对象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99604" y="2806666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对象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4280331"/>
                  </p:ext>
                </p:extLst>
              </p:nvPr>
            </p:nvGraphicFramePr>
            <p:xfrm>
              <a:off x="6930142" y="2319015"/>
              <a:ext cx="157773" cy="252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764" name="Equation" r:id="rId30" imgW="139680" imgH="139680" progId="Equation.DSMT4">
                      <p:embed/>
                    </p:oleObj>
                  </mc:Choice>
                  <mc:Fallback>
                    <p:oleObj name="Equation" r:id="rId30" imgW="139680" imgH="139680" progId="Equation.DSMT4">
                      <p:embed/>
                      <p:pic>
                        <p:nvPicPr>
                          <p:cNvPr id="45" name="对象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30142" y="2319015"/>
                            <a:ext cx="157773" cy="252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825168" y="979964"/>
            <a:ext cx="56105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itchFamily="2" charset="-122"/>
              </a:rPr>
              <a:t>作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扁圆柱</a:t>
            </a:r>
            <a:r>
              <a:rPr lang="zh-CN" altLang="en-US" sz="2400" b="1" dirty="0">
                <a:latin typeface="宋体" pitchFamily="2" charset="-122"/>
              </a:rPr>
              <a:t>形高斯</a:t>
            </a:r>
            <a:r>
              <a:rPr lang="zh-CN" altLang="en-US" sz="2400" b="1" dirty="0" smtClean="0">
                <a:latin typeface="宋体" pitchFamily="2" charset="-122"/>
              </a:rPr>
              <a:t>面</a:t>
            </a:r>
            <a:r>
              <a:rPr lang="en-US" altLang="zh-CN" sz="2400" b="1" dirty="0" smtClean="0">
                <a:latin typeface="宋体" pitchFamily="2" charset="-122"/>
              </a:rPr>
              <a:t>,</a:t>
            </a:r>
            <a:r>
              <a:rPr lang="zh-CN" altLang="en-US" sz="2400" b="1" dirty="0" smtClean="0">
                <a:latin typeface="宋体" pitchFamily="2" charset="-122"/>
              </a:rPr>
              <a:t>根据高斯定理得：</a:t>
            </a:r>
            <a:endParaRPr lang="zh-CN" altLang="en-US" sz="2400" b="1" i="1" dirty="0">
              <a:latin typeface="宋体" pitchFamily="2" charset="-122"/>
            </a:endParaRPr>
          </a:p>
        </p:txBody>
      </p:sp>
      <p:sp>
        <p:nvSpPr>
          <p:cNvPr id="7175" name="Text Box 24"/>
          <p:cNvSpPr txBox="1">
            <a:spLocks noChangeArrowheads="1"/>
          </p:cNvSpPr>
          <p:nvPr/>
        </p:nvSpPr>
        <p:spPr bwMode="auto">
          <a:xfrm>
            <a:off x="485775" y="215390"/>
            <a:ext cx="57721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3. </a:t>
            </a:r>
            <a:r>
              <a:rPr lang="zh-CN" altLang="en-US" sz="2400" b="1">
                <a:latin typeface="宋体" pitchFamily="2" charset="-122"/>
              </a:rPr>
              <a:t>导</a:t>
            </a:r>
            <a:r>
              <a:rPr lang="zh-CN" altLang="en-US" sz="2400" b="1" dirty="0">
                <a:latin typeface="宋体" pitchFamily="2" charset="-122"/>
              </a:rPr>
              <a:t>体表面附近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场强</a:t>
            </a:r>
            <a:r>
              <a:rPr lang="zh-CN" altLang="en-US" sz="2400" b="1" dirty="0">
                <a:latin typeface="宋体" pitchFamily="2" charset="-122"/>
              </a:rPr>
              <a:t>与电荷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面密度</a:t>
            </a:r>
            <a:r>
              <a:rPr lang="zh-CN" altLang="en-US" sz="2400" b="1" dirty="0">
                <a:latin typeface="宋体" pitchFamily="2" charset="-122"/>
              </a:rPr>
              <a:t>的关系</a:t>
            </a:r>
          </a:p>
        </p:txBody>
      </p:sp>
      <p:graphicFrame>
        <p:nvGraphicFramePr>
          <p:cNvPr id="174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791841"/>
              </p:ext>
            </p:extLst>
          </p:nvPr>
        </p:nvGraphicFramePr>
        <p:xfrm>
          <a:off x="1004453" y="2013250"/>
          <a:ext cx="1906710" cy="529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1" name="Equation" r:id="rId3" imgW="1002960" imgH="291960" progId="Equation.DSMT4">
                  <p:embed/>
                </p:oleObj>
              </mc:Choice>
              <mc:Fallback>
                <p:oleObj name="Equation" r:id="rId3" imgW="1002960" imgH="29196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453" y="2013250"/>
                        <a:ext cx="1906710" cy="52964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614708"/>
              </p:ext>
            </p:extLst>
          </p:nvPr>
        </p:nvGraphicFramePr>
        <p:xfrm>
          <a:off x="2887717" y="1825296"/>
          <a:ext cx="1004145" cy="90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2" name="Equation" r:id="rId5" imgW="457200" imgH="431640" progId="Equation.DSMT4">
                  <p:embed/>
                </p:oleObj>
              </mc:Choice>
              <mc:Fallback>
                <p:oleObj name="Equation" r:id="rId5" imgW="457200" imgH="4316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717" y="1825296"/>
                        <a:ext cx="1004145" cy="9055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6435683" y="444846"/>
            <a:ext cx="2686050" cy="2286000"/>
            <a:chOff x="3168" y="1152"/>
            <a:chExt cx="2256" cy="1920"/>
          </a:xfrm>
        </p:grpSpPr>
        <p:sp>
          <p:nvSpPr>
            <p:cNvPr id="7185" name="Rectangle 43"/>
            <p:cNvSpPr>
              <a:spLocks noChangeArrowheads="1"/>
            </p:cNvSpPr>
            <p:nvPr/>
          </p:nvSpPr>
          <p:spPr bwMode="auto">
            <a:xfrm>
              <a:off x="3168" y="1152"/>
              <a:ext cx="2256" cy="192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6" name="Freeform 44"/>
            <p:cNvSpPr>
              <a:spLocks/>
            </p:cNvSpPr>
            <p:nvPr/>
          </p:nvSpPr>
          <p:spPr bwMode="auto">
            <a:xfrm>
              <a:off x="3300" y="1965"/>
              <a:ext cx="2028" cy="1011"/>
            </a:xfrm>
            <a:custGeom>
              <a:avLst/>
              <a:gdLst>
                <a:gd name="T0" fmla="*/ 379 w 2488"/>
                <a:gd name="T1" fmla="*/ 270 h 1150"/>
                <a:gd name="T2" fmla="*/ 946 w 2488"/>
                <a:gd name="T3" fmla="*/ 40 h 1150"/>
                <a:gd name="T4" fmla="*/ 1554 w 2488"/>
                <a:gd name="T5" fmla="*/ 33 h 1150"/>
                <a:gd name="T6" fmla="*/ 1852 w 2488"/>
                <a:gd name="T7" fmla="*/ 75 h 1150"/>
                <a:gd name="T8" fmla="*/ 2028 w 2488"/>
                <a:gd name="T9" fmla="*/ 106 h 1150"/>
                <a:gd name="T10" fmla="*/ 1853 w 2488"/>
                <a:gd name="T11" fmla="*/ 148 h 1150"/>
                <a:gd name="T12" fmla="*/ 1748 w 2488"/>
                <a:gd name="T13" fmla="*/ 244 h 1150"/>
                <a:gd name="T14" fmla="*/ 1578 w 2488"/>
                <a:gd name="T15" fmla="*/ 314 h 1150"/>
                <a:gd name="T16" fmla="*/ 1327 w 2488"/>
                <a:gd name="T17" fmla="*/ 576 h 1150"/>
                <a:gd name="T18" fmla="*/ 972 w 2488"/>
                <a:gd name="T19" fmla="*/ 639 h 1150"/>
                <a:gd name="T20" fmla="*/ 631 w 2488"/>
                <a:gd name="T21" fmla="*/ 767 h 1150"/>
                <a:gd name="T22" fmla="*/ 323 w 2488"/>
                <a:gd name="T23" fmla="*/ 742 h 1150"/>
                <a:gd name="T24" fmla="*/ 121 w 2488"/>
                <a:gd name="T25" fmla="*/ 834 h 1150"/>
                <a:gd name="T26" fmla="*/ 3 w 2488"/>
                <a:gd name="T27" fmla="*/ 977 h 1150"/>
                <a:gd name="T28" fmla="*/ 140 w 2488"/>
                <a:gd name="T29" fmla="*/ 627 h 1150"/>
                <a:gd name="T30" fmla="*/ 379 w 2488"/>
                <a:gd name="T31" fmla="*/ 270 h 1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88"/>
                <a:gd name="T49" fmla="*/ 0 h 1150"/>
                <a:gd name="T50" fmla="*/ 2488 w 2488"/>
                <a:gd name="T51" fmla="*/ 1150 h 1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88" h="1150">
                  <a:moveTo>
                    <a:pt x="465" y="307"/>
                  </a:moveTo>
                  <a:cubicBezTo>
                    <a:pt x="630" y="196"/>
                    <a:pt x="921" y="90"/>
                    <a:pt x="1161" y="45"/>
                  </a:cubicBezTo>
                  <a:cubicBezTo>
                    <a:pt x="1401" y="0"/>
                    <a:pt x="1721" y="30"/>
                    <a:pt x="1906" y="37"/>
                  </a:cubicBezTo>
                  <a:cubicBezTo>
                    <a:pt x="2091" y="44"/>
                    <a:pt x="2175" y="71"/>
                    <a:pt x="2272" y="85"/>
                  </a:cubicBezTo>
                  <a:cubicBezTo>
                    <a:pt x="2369" y="99"/>
                    <a:pt x="2488" y="107"/>
                    <a:pt x="2488" y="121"/>
                  </a:cubicBezTo>
                  <a:cubicBezTo>
                    <a:pt x="2488" y="135"/>
                    <a:pt x="2330" y="142"/>
                    <a:pt x="2273" y="168"/>
                  </a:cubicBezTo>
                  <a:cubicBezTo>
                    <a:pt x="2216" y="194"/>
                    <a:pt x="2200" y="247"/>
                    <a:pt x="2144" y="278"/>
                  </a:cubicBezTo>
                  <a:cubicBezTo>
                    <a:pt x="2088" y="309"/>
                    <a:pt x="2022" y="294"/>
                    <a:pt x="1936" y="357"/>
                  </a:cubicBezTo>
                  <a:cubicBezTo>
                    <a:pt x="1850" y="420"/>
                    <a:pt x="1752" y="593"/>
                    <a:pt x="1628" y="655"/>
                  </a:cubicBezTo>
                  <a:cubicBezTo>
                    <a:pt x="1504" y="717"/>
                    <a:pt x="1334" y="691"/>
                    <a:pt x="1192" y="727"/>
                  </a:cubicBezTo>
                  <a:cubicBezTo>
                    <a:pt x="1050" y="763"/>
                    <a:pt x="907" y="853"/>
                    <a:pt x="774" y="873"/>
                  </a:cubicBezTo>
                  <a:cubicBezTo>
                    <a:pt x="641" y="893"/>
                    <a:pt x="500" y="831"/>
                    <a:pt x="396" y="844"/>
                  </a:cubicBezTo>
                  <a:cubicBezTo>
                    <a:pt x="292" y="857"/>
                    <a:pt x="213" y="905"/>
                    <a:pt x="148" y="949"/>
                  </a:cubicBezTo>
                  <a:cubicBezTo>
                    <a:pt x="83" y="993"/>
                    <a:pt x="0" y="1150"/>
                    <a:pt x="4" y="1111"/>
                  </a:cubicBezTo>
                  <a:cubicBezTo>
                    <a:pt x="8" y="1072"/>
                    <a:pt x="95" y="847"/>
                    <a:pt x="172" y="713"/>
                  </a:cubicBezTo>
                  <a:cubicBezTo>
                    <a:pt x="249" y="579"/>
                    <a:pt x="345" y="413"/>
                    <a:pt x="465" y="307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C0C0C0"/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87" name="Rectangle 45"/>
            <p:cNvSpPr>
              <a:spLocks noChangeArrowheads="1"/>
            </p:cNvSpPr>
            <p:nvPr/>
          </p:nvSpPr>
          <p:spPr bwMode="auto">
            <a:xfrm>
              <a:off x="3227" y="2585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7188" name="Rectangle 46"/>
            <p:cNvSpPr>
              <a:spLocks noChangeArrowheads="1"/>
            </p:cNvSpPr>
            <p:nvPr/>
          </p:nvSpPr>
          <p:spPr bwMode="auto">
            <a:xfrm>
              <a:off x="3328" y="2374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7189" name="Rectangle 47"/>
            <p:cNvSpPr>
              <a:spLocks noChangeArrowheads="1"/>
            </p:cNvSpPr>
            <p:nvPr/>
          </p:nvSpPr>
          <p:spPr bwMode="auto">
            <a:xfrm>
              <a:off x="4984" y="1845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7190" name="Rectangle 48"/>
            <p:cNvSpPr>
              <a:spLocks noChangeArrowheads="1"/>
            </p:cNvSpPr>
            <p:nvPr/>
          </p:nvSpPr>
          <p:spPr bwMode="auto">
            <a:xfrm>
              <a:off x="4719" y="1814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7191" name="Rectangle 49"/>
            <p:cNvSpPr>
              <a:spLocks noChangeArrowheads="1"/>
            </p:cNvSpPr>
            <p:nvPr/>
          </p:nvSpPr>
          <p:spPr bwMode="auto">
            <a:xfrm>
              <a:off x="3543" y="2036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7192" name="Rectangle 50"/>
            <p:cNvSpPr>
              <a:spLocks noChangeArrowheads="1"/>
            </p:cNvSpPr>
            <p:nvPr/>
          </p:nvSpPr>
          <p:spPr bwMode="auto">
            <a:xfrm>
              <a:off x="4335" y="1804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7193" name="Rectangle 51"/>
            <p:cNvSpPr>
              <a:spLocks noChangeArrowheads="1"/>
            </p:cNvSpPr>
            <p:nvPr/>
          </p:nvSpPr>
          <p:spPr bwMode="auto">
            <a:xfrm>
              <a:off x="3931" y="1868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7194" name="Rectangle 52"/>
            <p:cNvSpPr>
              <a:spLocks noChangeArrowheads="1"/>
            </p:cNvSpPr>
            <p:nvPr/>
          </p:nvSpPr>
          <p:spPr bwMode="auto">
            <a:xfrm>
              <a:off x="4405" y="1545"/>
              <a:ext cx="29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100" b="1" i="1" dirty="0">
                  <a:solidFill>
                    <a:srgbClr val="FF0000"/>
                  </a:solidFill>
                  <a:latin typeface="宋体" pitchFamily="2" charset="-122"/>
                  <a:sym typeface="Symbol" pitchFamily="18" charset="2"/>
                </a:rPr>
                <a:t></a:t>
              </a:r>
            </a:p>
          </p:txBody>
        </p:sp>
      </p:grpSp>
      <p:graphicFrame>
        <p:nvGraphicFramePr>
          <p:cNvPr id="1746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131965"/>
              </p:ext>
            </p:extLst>
          </p:nvPr>
        </p:nvGraphicFramePr>
        <p:xfrm>
          <a:off x="7407233" y="1816447"/>
          <a:ext cx="628650" cy="336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3" name="Equation" r:id="rId7" imgW="380880" imgH="203040" progId="Equation.3">
                  <p:embed/>
                </p:oleObj>
              </mc:Choice>
              <mc:Fallback>
                <p:oleObj name="Equation" r:id="rId7" imgW="380880" imgH="20304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233" y="1816447"/>
                        <a:ext cx="628650" cy="3369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61"/>
          <p:cNvSpPr>
            <a:spLocks noChangeArrowheads="1"/>
          </p:cNvSpPr>
          <p:nvPr/>
        </p:nvSpPr>
        <p:spPr bwMode="auto">
          <a:xfrm>
            <a:off x="6435683" y="444846"/>
            <a:ext cx="2686050" cy="2286000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 rot="208995">
            <a:off x="7201032" y="886590"/>
            <a:ext cx="759619" cy="775098"/>
            <a:chOff x="6632972" y="961134"/>
            <a:chExt cx="759619" cy="775098"/>
          </a:xfrm>
        </p:grpSpPr>
        <p:grpSp>
          <p:nvGrpSpPr>
            <p:cNvPr id="3" name="Group 54"/>
            <p:cNvGrpSpPr>
              <a:grpSpLocks/>
            </p:cNvGrpSpPr>
            <p:nvPr/>
          </p:nvGrpSpPr>
          <p:grpSpPr bwMode="auto">
            <a:xfrm>
              <a:off x="6632972" y="961134"/>
              <a:ext cx="759619" cy="775098"/>
              <a:chOff x="4045" y="1503"/>
              <a:chExt cx="638" cy="651"/>
            </a:xfrm>
          </p:grpSpPr>
          <p:sp>
            <p:nvSpPr>
              <p:cNvPr id="7180" name="Line 55"/>
              <p:cNvSpPr>
                <a:spLocks noChangeShapeType="1"/>
              </p:cNvSpPr>
              <p:nvPr/>
            </p:nvSpPr>
            <p:spPr bwMode="auto">
              <a:xfrm rot="21480000" flipH="1" flipV="1">
                <a:off x="4110" y="1503"/>
                <a:ext cx="139" cy="451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3" name="AutoShape 57"/>
              <p:cNvSpPr>
                <a:spLocks noChangeArrowheads="1"/>
              </p:cNvSpPr>
              <p:nvPr/>
            </p:nvSpPr>
            <p:spPr bwMode="auto">
              <a:xfrm rot="20336427">
                <a:off x="4045" y="1917"/>
                <a:ext cx="497" cy="237"/>
              </a:xfrm>
              <a:prstGeom prst="can">
                <a:avLst>
                  <a:gd name="adj" fmla="val 16615"/>
                </a:avLst>
              </a:prstGeom>
              <a:solidFill>
                <a:srgbClr val="99CCFF">
                  <a:alpha val="50195"/>
                </a:srgbClr>
              </a:solidFill>
              <a:ln w="19050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2" name="Rectangle 59"/>
              <p:cNvSpPr>
                <a:spLocks noChangeArrowheads="1"/>
              </p:cNvSpPr>
              <p:nvPr/>
            </p:nvSpPr>
            <p:spPr bwMode="auto">
              <a:xfrm>
                <a:off x="4059" y="1569"/>
                <a:ext cx="624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0000FF"/>
                    </a:solidFill>
                    <a:latin typeface="宋体" pitchFamily="2" charset="-122"/>
                    <a:sym typeface="Symbol" pitchFamily="18" charset="2"/>
                  </a:rPr>
                  <a:t></a:t>
                </a:r>
                <a:r>
                  <a:rPr lang="en-US" altLang="zh-CN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6" name="弧形 5"/>
            <p:cNvSpPr/>
            <p:nvPr/>
          </p:nvSpPr>
          <p:spPr>
            <a:xfrm rot="20312865">
              <a:off x="6680530" y="1666191"/>
              <a:ext cx="587174" cy="62732"/>
            </a:xfrm>
            <a:prstGeom prst="arc">
              <a:avLst>
                <a:gd name="adj1" fmla="val 10851463"/>
                <a:gd name="adj2" fmla="val 21565017"/>
              </a:avLst>
            </a:prstGeom>
            <a:noFill/>
            <a:ln w="19050">
              <a:solidFill>
                <a:srgbClr val="0000FF"/>
              </a:solidFill>
              <a:prstDash val="sys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70464" y="2664809"/>
            <a:ext cx="6516923" cy="850918"/>
            <a:chOff x="825169" y="2586656"/>
            <a:chExt cx="6516923" cy="850918"/>
          </a:xfrm>
        </p:grpSpPr>
        <p:graphicFrame>
          <p:nvGraphicFramePr>
            <p:cNvPr id="1743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1066560"/>
                </p:ext>
              </p:extLst>
            </p:nvPr>
          </p:nvGraphicFramePr>
          <p:xfrm>
            <a:off x="825169" y="2586656"/>
            <a:ext cx="1172308" cy="850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64" name="Equation" r:id="rId9" imgW="609480" imgH="444240" progId="Equation.DSMT4">
                    <p:embed/>
                  </p:oleObj>
                </mc:Choice>
                <mc:Fallback>
                  <p:oleObj name="Equation" r:id="rId9" imgW="609480" imgH="44424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169" y="2586656"/>
                          <a:ext cx="1172308" cy="850918"/>
                        </a:xfrm>
                        <a:prstGeom prst="rect">
                          <a:avLst/>
                        </a:prstGeom>
                        <a:noFill/>
                        <a:ln w="127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 Box 24"/>
            <p:cNvSpPr txBox="1">
              <a:spLocks noChangeArrowheads="1"/>
            </p:cNvSpPr>
            <p:nvPr/>
          </p:nvSpPr>
          <p:spPr bwMode="auto">
            <a:xfrm>
              <a:off x="2287886" y="2765653"/>
              <a:ext cx="505420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 smtClean="0">
                  <a:latin typeface="Times New Roman" pitchFamily="18" charset="0"/>
                </a:rPr>
                <a:t>只有一面</a:t>
              </a:r>
              <a:r>
                <a:rPr lang="zh-CN" altLang="en-US" sz="2400" b="1" dirty="0" smtClean="0">
                  <a:latin typeface="Times New Roman" pitchFamily="18" charset="0"/>
                </a:rPr>
                <a:t>有电场</a:t>
              </a:r>
              <a:r>
                <a:rPr lang="zh-CN" altLang="en-US" sz="2400" b="1" dirty="0" smtClean="0">
                  <a:latin typeface="Times New Roman" pitchFamily="18" charset="0"/>
                </a:rPr>
                <a:t>，</a:t>
              </a:r>
              <a:r>
                <a:rPr lang="zh-CN" altLang="en-US" sz="2400" b="1" dirty="0">
                  <a:latin typeface="Times New Roman" pitchFamily="18" charset="0"/>
                </a:rPr>
                <a:t>不需要除以</a:t>
              </a:r>
              <a:r>
                <a:rPr lang="en-US" altLang="zh-CN" sz="2400" b="1" dirty="0">
                  <a:latin typeface="Times New Roman" pitchFamily="18" charset="0"/>
                </a:rPr>
                <a:t>2</a:t>
              </a:r>
              <a:endParaRPr lang="zh-CN" altLang="en-US" sz="2400" b="1" dirty="0">
                <a:latin typeface="宋体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36909" y="3366227"/>
            <a:ext cx="5779291" cy="1356514"/>
            <a:chOff x="836909" y="3366227"/>
            <a:chExt cx="5779291" cy="1356514"/>
          </a:xfrm>
        </p:grpSpPr>
        <p:grpSp>
          <p:nvGrpSpPr>
            <p:cNvPr id="5" name="组合 4"/>
            <p:cNvGrpSpPr/>
            <p:nvPr/>
          </p:nvGrpSpPr>
          <p:grpSpPr>
            <a:xfrm>
              <a:off x="836909" y="3788152"/>
              <a:ext cx="4101617" cy="796925"/>
              <a:chOff x="3448879" y="4537105"/>
              <a:chExt cx="5468822" cy="1062567"/>
            </a:xfrm>
          </p:grpSpPr>
          <p:sp>
            <p:nvSpPr>
              <p:cNvPr id="27" name="Text Box 24"/>
              <p:cNvSpPr txBox="1">
                <a:spLocks noChangeArrowheads="1"/>
              </p:cNvSpPr>
              <p:nvPr/>
            </p:nvSpPr>
            <p:spPr bwMode="auto">
              <a:xfrm>
                <a:off x="3448879" y="4699944"/>
                <a:ext cx="5468822" cy="6155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Times New Roman" pitchFamily="18" charset="0"/>
                  </a:rPr>
                  <a:t>与无限大平面               </a:t>
                </a:r>
                <a:r>
                  <a:rPr lang="zh-CN" altLang="en-US" sz="2400" b="1" dirty="0" smtClean="0">
                    <a:solidFill>
                      <a:srgbClr val="C00000"/>
                    </a:solidFill>
                    <a:latin typeface="Times New Roman" pitchFamily="18" charset="0"/>
                  </a:rPr>
                  <a:t>不同</a:t>
                </a:r>
                <a:endParaRPr lang="en-US" altLang="zh-CN" sz="2400" b="1" dirty="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6554138"/>
                  </p:ext>
                </p:extLst>
              </p:nvPr>
            </p:nvGraphicFramePr>
            <p:xfrm>
              <a:off x="6094807" y="4537105"/>
              <a:ext cx="1341967" cy="10625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65" name="Equation" r:id="rId11" imgW="558720" imgH="444240" progId="Equation.DSMT4">
                      <p:embed/>
                    </p:oleObj>
                  </mc:Choice>
                  <mc:Fallback>
                    <p:oleObj name="Equation" r:id="rId11" imgW="558720" imgH="444240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94807" y="4537105"/>
                            <a:ext cx="1341967" cy="1062567"/>
                          </a:xfrm>
                          <a:prstGeom prst="rect">
                            <a:avLst/>
                          </a:prstGeom>
                          <a:noFill/>
                          <a:ln w="12700">
                            <a:noFill/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44906" y="3366227"/>
              <a:ext cx="1871294" cy="135651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ext Box 26"/>
          <p:cNvSpPr txBox="1">
            <a:spLocks noChangeArrowheads="1"/>
          </p:cNvSpPr>
          <p:nvPr/>
        </p:nvSpPr>
        <p:spPr bwMode="auto">
          <a:xfrm>
            <a:off x="612927" y="402777"/>
            <a:ext cx="4000500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CC0000"/>
                </a:solidFill>
                <a:latin typeface="Times New Roman" pitchFamily="18" charset="0"/>
              </a:rPr>
              <a:t>4. 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</a:rPr>
              <a:t>导体表面电荷分布规律</a:t>
            </a:r>
          </a:p>
        </p:txBody>
      </p:sp>
      <p:graphicFrame>
        <p:nvGraphicFramePr>
          <p:cNvPr id="819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578851"/>
              </p:ext>
            </p:extLst>
          </p:nvPr>
        </p:nvGraphicFramePr>
        <p:xfrm>
          <a:off x="4099577" y="218416"/>
          <a:ext cx="1218452" cy="89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" name="Equation" r:id="rId3" imgW="469800" imgH="431640" progId="Equation.DSMT4">
                  <p:embed/>
                </p:oleObj>
              </mc:Choice>
              <mc:Fallback>
                <p:oleObj name="Equation" r:id="rId3" imgW="469800" imgH="43164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577" y="218416"/>
                        <a:ext cx="1218452" cy="89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286943" y="1379119"/>
            <a:ext cx="2686050" cy="2286000"/>
            <a:chOff x="3168" y="1152"/>
            <a:chExt cx="2256" cy="1920"/>
          </a:xfrm>
        </p:grpSpPr>
        <p:sp>
          <p:nvSpPr>
            <p:cNvPr id="8206" name="Line 16"/>
            <p:cNvSpPr>
              <a:spLocks noChangeShapeType="1"/>
            </p:cNvSpPr>
            <p:nvPr/>
          </p:nvSpPr>
          <p:spPr bwMode="auto">
            <a:xfrm flipH="1">
              <a:off x="3412" y="2437"/>
              <a:ext cx="275" cy="359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7" name="Line 17"/>
            <p:cNvSpPr>
              <a:spLocks noChangeShapeType="1"/>
            </p:cNvSpPr>
            <p:nvPr/>
          </p:nvSpPr>
          <p:spPr bwMode="auto">
            <a:xfrm>
              <a:off x="4928" y="2416"/>
              <a:ext cx="236" cy="359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8" name="Line 18"/>
            <p:cNvSpPr>
              <a:spLocks noChangeShapeType="1"/>
            </p:cNvSpPr>
            <p:nvPr/>
          </p:nvSpPr>
          <p:spPr bwMode="auto">
            <a:xfrm flipV="1">
              <a:off x="4905" y="2033"/>
              <a:ext cx="392" cy="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Line 19"/>
            <p:cNvSpPr>
              <a:spLocks noChangeShapeType="1"/>
            </p:cNvSpPr>
            <p:nvPr/>
          </p:nvSpPr>
          <p:spPr bwMode="auto">
            <a:xfrm>
              <a:off x="4944" y="2347"/>
              <a:ext cx="432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0" name="Line 20"/>
            <p:cNvSpPr>
              <a:spLocks noChangeShapeType="1"/>
            </p:cNvSpPr>
            <p:nvPr/>
          </p:nvSpPr>
          <p:spPr bwMode="auto">
            <a:xfrm flipH="1">
              <a:off x="4001" y="2572"/>
              <a:ext cx="40" cy="40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1" name="Line 21"/>
            <p:cNvSpPr>
              <a:spLocks noChangeShapeType="1"/>
            </p:cNvSpPr>
            <p:nvPr/>
          </p:nvSpPr>
          <p:spPr bwMode="auto">
            <a:xfrm flipV="1">
              <a:off x="4080" y="1584"/>
              <a:ext cx="39" cy="359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2" name="Line 22"/>
            <p:cNvSpPr>
              <a:spLocks noChangeShapeType="1"/>
            </p:cNvSpPr>
            <p:nvPr/>
          </p:nvSpPr>
          <p:spPr bwMode="auto">
            <a:xfrm flipH="1" flipV="1">
              <a:off x="3452" y="1719"/>
              <a:ext cx="235" cy="31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3" name="Line 23"/>
            <p:cNvSpPr>
              <a:spLocks noChangeShapeType="1"/>
            </p:cNvSpPr>
            <p:nvPr/>
          </p:nvSpPr>
          <p:spPr bwMode="auto">
            <a:xfrm flipH="1">
              <a:off x="3216" y="2213"/>
              <a:ext cx="393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4" name="Line 24"/>
            <p:cNvSpPr>
              <a:spLocks noChangeShapeType="1"/>
            </p:cNvSpPr>
            <p:nvPr/>
          </p:nvSpPr>
          <p:spPr bwMode="auto">
            <a:xfrm>
              <a:off x="4787" y="2482"/>
              <a:ext cx="78" cy="40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5" name="Line 25"/>
            <p:cNvSpPr>
              <a:spLocks noChangeShapeType="1"/>
            </p:cNvSpPr>
            <p:nvPr/>
          </p:nvSpPr>
          <p:spPr bwMode="auto">
            <a:xfrm flipV="1">
              <a:off x="4826" y="1719"/>
              <a:ext cx="236" cy="40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6" name="Freeform 5"/>
            <p:cNvSpPr>
              <a:spLocks/>
            </p:cNvSpPr>
            <p:nvPr/>
          </p:nvSpPr>
          <p:spPr bwMode="auto">
            <a:xfrm>
              <a:off x="3602" y="1906"/>
              <a:ext cx="1389" cy="718"/>
            </a:xfrm>
            <a:custGeom>
              <a:avLst/>
              <a:gdLst>
                <a:gd name="T0" fmla="*/ 2 w 1699"/>
                <a:gd name="T1" fmla="*/ 352 h 768"/>
                <a:gd name="T2" fmla="*/ 33 w 1699"/>
                <a:gd name="T3" fmla="*/ 214 h 768"/>
                <a:gd name="T4" fmla="*/ 64 w 1699"/>
                <a:gd name="T5" fmla="*/ 159 h 768"/>
                <a:gd name="T6" fmla="*/ 309 w 1699"/>
                <a:gd name="T7" fmla="*/ 0 h 768"/>
                <a:gd name="T8" fmla="*/ 561 w 1699"/>
                <a:gd name="T9" fmla="*/ 6 h 768"/>
                <a:gd name="T10" fmla="*/ 703 w 1699"/>
                <a:gd name="T11" fmla="*/ 31 h 768"/>
                <a:gd name="T12" fmla="*/ 1026 w 1699"/>
                <a:gd name="T13" fmla="*/ 110 h 768"/>
                <a:gd name="T14" fmla="*/ 1113 w 1699"/>
                <a:gd name="T15" fmla="*/ 152 h 768"/>
                <a:gd name="T16" fmla="*/ 1160 w 1699"/>
                <a:gd name="T17" fmla="*/ 190 h 768"/>
                <a:gd name="T18" fmla="*/ 1356 w 1699"/>
                <a:gd name="T19" fmla="*/ 337 h 768"/>
                <a:gd name="T20" fmla="*/ 1389 w 1699"/>
                <a:gd name="T21" fmla="*/ 405 h 768"/>
                <a:gd name="T22" fmla="*/ 1381 w 1699"/>
                <a:gd name="T23" fmla="*/ 496 h 768"/>
                <a:gd name="T24" fmla="*/ 1342 w 1699"/>
                <a:gd name="T25" fmla="*/ 527 h 768"/>
                <a:gd name="T26" fmla="*/ 1200 w 1699"/>
                <a:gd name="T27" fmla="*/ 570 h 768"/>
                <a:gd name="T28" fmla="*/ 1096 w 1699"/>
                <a:gd name="T29" fmla="*/ 601 h 768"/>
                <a:gd name="T30" fmla="*/ 845 w 1699"/>
                <a:gd name="T31" fmla="*/ 662 h 768"/>
                <a:gd name="T32" fmla="*/ 710 w 1699"/>
                <a:gd name="T33" fmla="*/ 686 h 768"/>
                <a:gd name="T34" fmla="*/ 285 w 1699"/>
                <a:gd name="T35" fmla="*/ 662 h 768"/>
                <a:gd name="T36" fmla="*/ 143 w 1699"/>
                <a:gd name="T37" fmla="*/ 582 h 768"/>
                <a:gd name="T38" fmla="*/ 61 w 1699"/>
                <a:gd name="T39" fmla="*/ 509 h 768"/>
                <a:gd name="T40" fmla="*/ 17 w 1699"/>
                <a:gd name="T41" fmla="*/ 411 h 768"/>
                <a:gd name="T42" fmla="*/ 2 w 1699"/>
                <a:gd name="T43" fmla="*/ 352 h 7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699"/>
                <a:gd name="T67" fmla="*/ 0 h 768"/>
                <a:gd name="T68" fmla="*/ 1699 w 1699"/>
                <a:gd name="T69" fmla="*/ 768 h 76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699" h="768">
                  <a:moveTo>
                    <a:pt x="3" y="376"/>
                  </a:moveTo>
                  <a:cubicBezTo>
                    <a:pt x="6" y="304"/>
                    <a:pt x="33" y="301"/>
                    <a:pt x="40" y="229"/>
                  </a:cubicBezTo>
                  <a:cubicBezTo>
                    <a:pt x="44" y="195"/>
                    <a:pt x="61" y="195"/>
                    <a:pt x="78" y="170"/>
                  </a:cubicBezTo>
                  <a:cubicBezTo>
                    <a:pt x="145" y="77"/>
                    <a:pt x="223" y="19"/>
                    <a:pt x="378" y="0"/>
                  </a:cubicBezTo>
                  <a:cubicBezTo>
                    <a:pt x="480" y="2"/>
                    <a:pt x="583" y="3"/>
                    <a:pt x="686" y="6"/>
                  </a:cubicBezTo>
                  <a:cubicBezTo>
                    <a:pt x="744" y="8"/>
                    <a:pt x="803" y="24"/>
                    <a:pt x="860" y="33"/>
                  </a:cubicBezTo>
                  <a:cubicBezTo>
                    <a:pt x="994" y="52"/>
                    <a:pt x="1132" y="76"/>
                    <a:pt x="1255" y="118"/>
                  </a:cubicBezTo>
                  <a:cubicBezTo>
                    <a:pt x="1271" y="123"/>
                    <a:pt x="1353" y="157"/>
                    <a:pt x="1361" y="163"/>
                  </a:cubicBezTo>
                  <a:cubicBezTo>
                    <a:pt x="1381" y="177"/>
                    <a:pt x="1397" y="193"/>
                    <a:pt x="1419" y="203"/>
                  </a:cubicBezTo>
                  <a:cubicBezTo>
                    <a:pt x="1513" y="246"/>
                    <a:pt x="1609" y="290"/>
                    <a:pt x="1659" y="360"/>
                  </a:cubicBezTo>
                  <a:cubicBezTo>
                    <a:pt x="1668" y="390"/>
                    <a:pt x="1685" y="406"/>
                    <a:pt x="1699" y="433"/>
                  </a:cubicBezTo>
                  <a:cubicBezTo>
                    <a:pt x="1695" y="466"/>
                    <a:pt x="1698" y="499"/>
                    <a:pt x="1689" y="531"/>
                  </a:cubicBezTo>
                  <a:cubicBezTo>
                    <a:pt x="1685" y="546"/>
                    <a:pt x="1656" y="557"/>
                    <a:pt x="1641" y="564"/>
                  </a:cubicBezTo>
                  <a:cubicBezTo>
                    <a:pt x="1590" y="587"/>
                    <a:pt x="1526" y="598"/>
                    <a:pt x="1468" y="610"/>
                  </a:cubicBezTo>
                  <a:cubicBezTo>
                    <a:pt x="1427" y="628"/>
                    <a:pt x="1385" y="627"/>
                    <a:pt x="1341" y="643"/>
                  </a:cubicBezTo>
                  <a:cubicBezTo>
                    <a:pt x="1241" y="676"/>
                    <a:pt x="1141" y="687"/>
                    <a:pt x="1033" y="708"/>
                  </a:cubicBezTo>
                  <a:cubicBezTo>
                    <a:pt x="885" y="737"/>
                    <a:pt x="1010" y="723"/>
                    <a:pt x="869" y="734"/>
                  </a:cubicBezTo>
                  <a:cubicBezTo>
                    <a:pt x="680" y="768"/>
                    <a:pt x="526" y="733"/>
                    <a:pt x="349" y="708"/>
                  </a:cubicBezTo>
                  <a:cubicBezTo>
                    <a:pt x="290" y="683"/>
                    <a:pt x="216" y="665"/>
                    <a:pt x="175" y="623"/>
                  </a:cubicBezTo>
                  <a:cubicBezTo>
                    <a:pt x="134" y="581"/>
                    <a:pt x="102" y="583"/>
                    <a:pt x="75" y="544"/>
                  </a:cubicBezTo>
                  <a:cubicBezTo>
                    <a:pt x="48" y="507"/>
                    <a:pt x="47" y="477"/>
                    <a:pt x="21" y="440"/>
                  </a:cubicBezTo>
                  <a:cubicBezTo>
                    <a:pt x="19" y="437"/>
                    <a:pt x="0" y="374"/>
                    <a:pt x="3" y="376"/>
                  </a:cubicBezTo>
                  <a:close/>
                </a:path>
              </a:pathLst>
            </a:custGeom>
            <a:gradFill rotWithShape="0">
              <a:gsLst>
                <a:gs pos="0">
                  <a:srgbClr val="B2B2B2"/>
                </a:gs>
                <a:gs pos="100000">
                  <a:schemeClr val="bg1"/>
                </a:gs>
              </a:gsLst>
              <a:lin ang="189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7" name="Text Box 6"/>
            <p:cNvSpPr txBox="1">
              <a:spLocks noChangeArrowheads="1"/>
            </p:cNvSpPr>
            <p:nvPr/>
          </p:nvSpPr>
          <p:spPr bwMode="auto">
            <a:xfrm>
              <a:off x="4684" y="1972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  <a:endParaRPr lang="en-US" altLang="zh-CN" b="1" dirty="0">
                <a:latin typeface="Times New Roman" pitchFamily="18" charset="0"/>
              </a:endParaRPr>
            </a:p>
          </p:txBody>
        </p:sp>
        <p:sp>
          <p:nvSpPr>
            <p:cNvPr id="8218" name="Rectangle 7"/>
            <p:cNvSpPr>
              <a:spLocks noChangeArrowheads="1"/>
            </p:cNvSpPr>
            <p:nvPr/>
          </p:nvSpPr>
          <p:spPr bwMode="auto">
            <a:xfrm>
              <a:off x="4787" y="2086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19" name="Rectangle 8"/>
            <p:cNvSpPr>
              <a:spLocks noChangeArrowheads="1"/>
            </p:cNvSpPr>
            <p:nvPr/>
          </p:nvSpPr>
          <p:spPr bwMode="auto">
            <a:xfrm>
              <a:off x="4808" y="2200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20" name="Rectangle 9"/>
            <p:cNvSpPr>
              <a:spLocks noChangeArrowheads="1"/>
            </p:cNvSpPr>
            <p:nvPr/>
          </p:nvSpPr>
          <p:spPr bwMode="auto">
            <a:xfrm>
              <a:off x="4620" y="2328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21" name="Rectangle 10"/>
            <p:cNvSpPr>
              <a:spLocks noChangeArrowheads="1"/>
            </p:cNvSpPr>
            <p:nvPr/>
          </p:nvSpPr>
          <p:spPr bwMode="auto">
            <a:xfrm>
              <a:off x="3544" y="1882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22" name="Rectangle 11"/>
            <p:cNvSpPr>
              <a:spLocks noChangeArrowheads="1"/>
            </p:cNvSpPr>
            <p:nvPr/>
          </p:nvSpPr>
          <p:spPr bwMode="auto">
            <a:xfrm>
              <a:off x="3469" y="2070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23" name="Rectangle 12"/>
            <p:cNvSpPr>
              <a:spLocks noChangeArrowheads="1"/>
            </p:cNvSpPr>
            <p:nvPr/>
          </p:nvSpPr>
          <p:spPr bwMode="auto">
            <a:xfrm>
              <a:off x="3616" y="2298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24" name="Rectangle 13"/>
            <p:cNvSpPr>
              <a:spLocks noChangeArrowheads="1"/>
            </p:cNvSpPr>
            <p:nvPr/>
          </p:nvSpPr>
          <p:spPr bwMode="auto">
            <a:xfrm>
              <a:off x="3964" y="1761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25" name="Rectangle 14"/>
            <p:cNvSpPr>
              <a:spLocks noChangeArrowheads="1"/>
            </p:cNvSpPr>
            <p:nvPr/>
          </p:nvSpPr>
          <p:spPr bwMode="auto">
            <a:xfrm>
              <a:off x="3945" y="2432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8226" name="Rectangle 44"/>
            <p:cNvSpPr>
              <a:spLocks noChangeArrowheads="1"/>
            </p:cNvSpPr>
            <p:nvPr/>
          </p:nvSpPr>
          <p:spPr bwMode="auto">
            <a:xfrm>
              <a:off x="3168" y="1152"/>
              <a:ext cx="2256" cy="192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7" name="Rectangle 47"/>
            <p:cNvSpPr>
              <a:spLocks noChangeArrowheads="1"/>
            </p:cNvSpPr>
            <p:nvPr/>
          </p:nvSpPr>
          <p:spPr bwMode="auto">
            <a:xfrm>
              <a:off x="4728" y="2272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FF3300"/>
                  </a:solidFill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18482" name="Text Box 50"/>
          <p:cNvSpPr txBox="1">
            <a:spLocks noChangeArrowheads="1"/>
          </p:cNvSpPr>
          <p:nvPr/>
        </p:nvSpPr>
        <p:spPr bwMode="auto">
          <a:xfrm>
            <a:off x="2995367" y="2526301"/>
            <a:ext cx="4321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18483" name="Text Box 51"/>
          <p:cNvSpPr txBox="1">
            <a:spLocks noChangeArrowheads="1"/>
          </p:cNvSpPr>
          <p:nvPr/>
        </p:nvSpPr>
        <p:spPr bwMode="auto">
          <a:xfrm>
            <a:off x="1838203" y="2481638"/>
            <a:ext cx="4321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1046123" y="4126413"/>
            <a:ext cx="3511153" cy="415528"/>
            <a:chOff x="385" y="2024"/>
            <a:chExt cx="2949" cy="349"/>
          </a:xfrm>
        </p:grpSpPr>
        <p:sp>
          <p:nvSpPr>
            <p:cNvPr id="8205" name="Text Box 52"/>
            <p:cNvSpPr txBox="1">
              <a:spLocks noChangeArrowheads="1"/>
            </p:cNvSpPr>
            <p:nvPr/>
          </p:nvSpPr>
          <p:spPr bwMode="auto">
            <a:xfrm>
              <a:off x="385" y="2024"/>
              <a:ext cx="2949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b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zh-CN" altLang="en-US" sz="2100" b="1" dirty="0">
                  <a:latin typeface="Times New Roman" pitchFamily="18" charset="0"/>
                  <a:cs typeface="Times New Roman" pitchFamily="18" charset="0"/>
                </a:rPr>
                <a:t>处曲率半径小，  </a:t>
              </a:r>
              <a:r>
                <a:rPr lang="zh-CN" altLang="en-US" sz="2100" b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大</a:t>
              </a:r>
              <a:r>
                <a:rPr lang="zh-CN" altLang="en-US" sz="2100" b="1" dirty="0">
                  <a:latin typeface="Times New Roman" pitchFamily="18" charset="0"/>
                  <a:cs typeface="Times New Roman" pitchFamily="18" charset="0"/>
                </a:rPr>
                <a:t>，</a:t>
              </a:r>
              <a:r>
                <a:rPr lang="en-US" altLang="zh-CN" sz="2100" b="1" i="1" dirty="0">
                  <a:latin typeface="Times New Roman" pitchFamily="18" charset="0"/>
                  <a:cs typeface="Times New Roman" pitchFamily="18" charset="0"/>
                </a:rPr>
                <a:t> E</a:t>
              </a:r>
              <a:r>
                <a:rPr lang="zh-CN" altLang="en-US" sz="2100" b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大</a:t>
              </a:r>
              <a:r>
                <a:rPr lang="zh-CN" altLang="en-US" sz="2100" b="1" dirty="0">
                  <a:latin typeface="Times New Roman" pitchFamily="18" charset="0"/>
                  <a:cs typeface="Times New Roman" pitchFamily="18" charset="0"/>
                </a:rPr>
                <a:t>。</a:t>
              </a:r>
            </a:p>
          </p:txBody>
        </p:sp>
        <p:graphicFrame>
          <p:nvGraphicFramePr>
            <p:cNvPr id="8196" name="Object 53"/>
            <p:cNvGraphicFramePr>
              <a:graphicFrameLocks noChangeAspect="1"/>
            </p:cNvGraphicFramePr>
            <p:nvPr/>
          </p:nvGraphicFramePr>
          <p:xfrm>
            <a:off x="2064" y="2069"/>
            <a:ext cx="27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4" name="公式" r:id="rId5" imgW="152280" imgH="139680" progId="Equation.3">
                    <p:embed/>
                  </p:oleObj>
                </mc:Choice>
                <mc:Fallback>
                  <p:oleObj name="公式" r:id="rId5" imgW="152280" imgH="13968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069"/>
                          <a:ext cx="275" cy="2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9"/>
          <p:cNvGrpSpPr>
            <a:grpSpLocks/>
          </p:cNvGrpSpPr>
          <p:nvPr/>
        </p:nvGrpSpPr>
        <p:grpSpPr bwMode="auto">
          <a:xfrm>
            <a:off x="4699870" y="4121650"/>
            <a:ext cx="3780234" cy="415528"/>
            <a:chOff x="476" y="2976"/>
            <a:chExt cx="3175" cy="349"/>
          </a:xfrm>
        </p:grpSpPr>
        <p:sp>
          <p:nvSpPr>
            <p:cNvPr id="8204" name="Text Box 56"/>
            <p:cNvSpPr txBox="1">
              <a:spLocks noChangeArrowheads="1"/>
            </p:cNvSpPr>
            <p:nvPr/>
          </p:nvSpPr>
          <p:spPr bwMode="auto">
            <a:xfrm>
              <a:off x="476" y="2976"/>
              <a:ext cx="3175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b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zh-CN" altLang="en-US" sz="2100" b="1" dirty="0">
                  <a:latin typeface="Times New Roman" pitchFamily="18" charset="0"/>
                  <a:cs typeface="Times New Roman" pitchFamily="18" charset="0"/>
                </a:rPr>
                <a:t>处曲率半径大</a:t>
              </a:r>
              <a:r>
                <a:rPr lang="en-US" altLang="zh-CN" sz="2100" b="1" dirty="0">
                  <a:latin typeface="Times New Roman" pitchFamily="18" charset="0"/>
                  <a:cs typeface="Times New Roman" pitchFamily="18" charset="0"/>
                </a:rPr>
                <a:t>,    </a:t>
              </a:r>
              <a:r>
                <a:rPr lang="zh-CN" altLang="en-US" sz="2100" b="1" dirty="0">
                  <a:solidFill>
                    <a:srgbClr val="3333CC"/>
                  </a:solidFill>
                  <a:latin typeface="Times New Roman" pitchFamily="18" charset="0"/>
                  <a:cs typeface="Times New Roman" pitchFamily="18" charset="0"/>
                </a:rPr>
                <a:t>小</a:t>
              </a:r>
              <a:r>
                <a:rPr lang="zh-CN" altLang="en-US" sz="2100" b="1" dirty="0">
                  <a:latin typeface="Times New Roman" pitchFamily="18" charset="0"/>
                  <a:cs typeface="Times New Roman" pitchFamily="18" charset="0"/>
                </a:rPr>
                <a:t>，</a:t>
              </a:r>
              <a:r>
                <a:rPr lang="en-US" altLang="zh-CN" sz="2100" b="1" i="1" dirty="0">
                  <a:latin typeface="Times New Roman" pitchFamily="18" charset="0"/>
                  <a:cs typeface="Times New Roman" pitchFamily="18" charset="0"/>
                </a:rPr>
                <a:t>E</a:t>
              </a:r>
              <a:r>
                <a:rPr lang="zh-CN" altLang="en-US" sz="2100" b="1" dirty="0">
                  <a:solidFill>
                    <a:srgbClr val="3333CC"/>
                  </a:solidFill>
                  <a:latin typeface="Times New Roman" pitchFamily="18" charset="0"/>
                  <a:cs typeface="Times New Roman" pitchFamily="18" charset="0"/>
                </a:rPr>
                <a:t>小</a:t>
              </a:r>
              <a:r>
                <a:rPr lang="zh-CN" altLang="en-US" sz="2100" b="1" dirty="0">
                  <a:latin typeface="Times New Roman" pitchFamily="18" charset="0"/>
                  <a:cs typeface="Times New Roman" pitchFamily="18" charset="0"/>
                </a:rPr>
                <a:t>。</a:t>
              </a:r>
            </a:p>
          </p:txBody>
        </p:sp>
        <p:graphicFrame>
          <p:nvGraphicFramePr>
            <p:cNvPr id="8195" name="Object 57"/>
            <p:cNvGraphicFramePr>
              <a:graphicFrameLocks noChangeAspect="1"/>
            </p:cNvGraphicFramePr>
            <p:nvPr/>
          </p:nvGraphicFramePr>
          <p:xfrm>
            <a:off x="2083" y="3048"/>
            <a:ext cx="27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15" name="公式" r:id="rId7" imgW="152280" imgH="139680" progId="Equation.3">
                    <p:embed/>
                  </p:oleObj>
                </mc:Choice>
                <mc:Fallback>
                  <p:oleObj name="公式" r:id="rId7" imgW="152280" imgH="13968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3" y="3048"/>
                          <a:ext cx="275" cy="2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29" name="灯片编号占位符 1"/>
          <p:cNvSpPr txBox="1">
            <a:spLocks noGrp="1" noChangeArrowheads="1"/>
          </p:cNvSpPr>
          <p:nvPr/>
        </p:nvSpPr>
        <p:spPr bwMode="auto">
          <a:xfrm>
            <a:off x="7543800" y="4869656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112D6365-7DA9-4E84-B093-F62E4955509B}" type="slidenum">
              <a:rPr lang="zh-CN" altLang="en-US" sz="1050" b="1">
                <a:latin typeface="Calibri" pitchFamily="34" charset="0"/>
              </a:rPr>
              <a:pPr algn="r"/>
              <a:t>11</a:t>
            </a:fld>
            <a:endParaRPr lang="en-US" altLang="zh-CN" sz="1050"/>
          </a:p>
        </p:txBody>
      </p:sp>
      <p:pic>
        <p:nvPicPr>
          <p:cNvPr id="36" name="图片 35"/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029" y="1312720"/>
            <a:ext cx="3492844" cy="2444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82" grpId="0"/>
      <p:bldP spid="184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77"/>
          <p:cNvGrpSpPr>
            <a:grpSpLocks/>
          </p:cNvGrpSpPr>
          <p:nvPr/>
        </p:nvGrpSpPr>
        <p:grpSpPr bwMode="auto">
          <a:xfrm>
            <a:off x="4145254" y="2442522"/>
            <a:ext cx="316707" cy="369094"/>
            <a:chOff x="5267" y="2772"/>
            <a:chExt cx="266" cy="310"/>
          </a:xfrm>
        </p:grpSpPr>
        <p:sp>
          <p:nvSpPr>
            <p:cNvPr id="19" name="Oval 78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79"/>
            <p:cNvSpPr txBox="1">
              <a:spLocks noChangeArrowheads="1"/>
            </p:cNvSpPr>
            <p:nvPr/>
          </p:nvSpPr>
          <p:spPr bwMode="auto">
            <a:xfrm>
              <a:off x="5267" y="2772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50" name="Freeform 61"/>
          <p:cNvSpPr>
            <a:spLocks/>
          </p:cNvSpPr>
          <p:nvPr/>
        </p:nvSpPr>
        <p:spPr bwMode="auto">
          <a:xfrm>
            <a:off x="5947219" y="2519054"/>
            <a:ext cx="914400" cy="514350"/>
          </a:xfrm>
          <a:custGeom>
            <a:avLst/>
            <a:gdLst>
              <a:gd name="T0" fmla="*/ 62 w 922"/>
              <a:gd name="T1" fmla="*/ 422 h 442"/>
              <a:gd name="T2" fmla="*/ 105 w 922"/>
              <a:gd name="T3" fmla="*/ 78 h 442"/>
              <a:gd name="T4" fmla="*/ 691 w 922"/>
              <a:gd name="T5" fmla="*/ 4 h 442"/>
              <a:gd name="T6" fmla="*/ 565 w 922"/>
              <a:gd name="T7" fmla="*/ 55 h 442"/>
              <a:gd name="T8" fmla="*/ 222 w 922"/>
              <a:gd name="T9" fmla="*/ 172 h 442"/>
              <a:gd name="T10" fmla="*/ 132 w 922"/>
              <a:gd name="T11" fmla="*/ 364 h 442"/>
              <a:gd name="T12" fmla="*/ 108 w 922"/>
              <a:gd name="T13" fmla="*/ 422 h 442"/>
              <a:gd name="T14" fmla="*/ 62 w 922"/>
              <a:gd name="T15" fmla="*/ 422 h 4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22"/>
              <a:gd name="T25" fmla="*/ 0 h 442"/>
              <a:gd name="T26" fmla="*/ 922 w 922"/>
              <a:gd name="T27" fmla="*/ 442 h 4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22" h="442">
                <a:moveTo>
                  <a:pt x="74" y="432"/>
                </a:moveTo>
                <a:cubicBezTo>
                  <a:pt x="73" y="373"/>
                  <a:pt x="0" y="151"/>
                  <a:pt x="126" y="80"/>
                </a:cubicBezTo>
                <a:cubicBezTo>
                  <a:pt x="252" y="9"/>
                  <a:pt x="738" y="8"/>
                  <a:pt x="830" y="4"/>
                </a:cubicBezTo>
                <a:cubicBezTo>
                  <a:pt x="922" y="0"/>
                  <a:pt x="772" y="27"/>
                  <a:pt x="678" y="56"/>
                </a:cubicBezTo>
                <a:cubicBezTo>
                  <a:pt x="584" y="85"/>
                  <a:pt x="353" y="123"/>
                  <a:pt x="266" y="176"/>
                </a:cubicBezTo>
                <a:cubicBezTo>
                  <a:pt x="179" y="229"/>
                  <a:pt x="181" y="329"/>
                  <a:pt x="158" y="372"/>
                </a:cubicBezTo>
                <a:cubicBezTo>
                  <a:pt x="135" y="415"/>
                  <a:pt x="144" y="422"/>
                  <a:pt x="130" y="432"/>
                </a:cubicBezTo>
                <a:cubicBezTo>
                  <a:pt x="116" y="442"/>
                  <a:pt x="86" y="432"/>
                  <a:pt x="74" y="432"/>
                </a:cubicBezTo>
                <a:close/>
              </a:path>
            </a:pathLst>
          </a:custGeom>
          <a:gradFill rotWithShape="0">
            <a:gsLst>
              <a:gs pos="0">
                <a:srgbClr val="FFCCCC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9966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Freeform 61"/>
          <p:cNvSpPr>
            <a:spLocks/>
          </p:cNvSpPr>
          <p:nvPr/>
        </p:nvSpPr>
        <p:spPr bwMode="auto">
          <a:xfrm>
            <a:off x="5971926" y="2161598"/>
            <a:ext cx="148931" cy="853427"/>
          </a:xfrm>
          <a:custGeom>
            <a:avLst/>
            <a:gdLst>
              <a:gd name="T0" fmla="*/ 62 w 922"/>
              <a:gd name="T1" fmla="*/ 422 h 442"/>
              <a:gd name="T2" fmla="*/ 105 w 922"/>
              <a:gd name="T3" fmla="*/ 78 h 442"/>
              <a:gd name="T4" fmla="*/ 691 w 922"/>
              <a:gd name="T5" fmla="*/ 4 h 442"/>
              <a:gd name="T6" fmla="*/ 565 w 922"/>
              <a:gd name="T7" fmla="*/ 55 h 442"/>
              <a:gd name="T8" fmla="*/ 222 w 922"/>
              <a:gd name="T9" fmla="*/ 172 h 442"/>
              <a:gd name="T10" fmla="*/ 132 w 922"/>
              <a:gd name="T11" fmla="*/ 364 h 442"/>
              <a:gd name="T12" fmla="*/ 108 w 922"/>
              <a:gd name="T13" fmla="*/ 422 h 442"/>
              <a:gd name="T14" fmla="*/ 62 w 922"/>
              <a:gd name="T15" fmla="*/ 422 h 4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22"/>
              <a:gd name="T25" fmla="*/ 0 h 442"/>
              <a:gd name="T26" fmla="*/ 922 w 922"/>
              <a:gd name="T27" fmla="*/ 442 h 442"/>
              <a:gd name="connsiteX0" fmla="*/ 239 w 8749"/>
              <a:gd name="connsiteY0" fmla="*/ 9693 h 9793"/>
              <a:gd name="connsiteX1" fmla="*/ 803 w 8749"/>
              <a:gd name="connsiteY1" fmla="*/ 1729 h 9793"/>
              <a:gd name="connsiteX2" fmla="*/ 8438 w 8749"/>
              <a:gd name="connsiteY2" fmla="*/ 9 h 9793"/>
              <a:gd name="connsiteX3" fmla="*/ 6790 w 8749"/>
              <a:gd name="connsiteY3" fmla="*/ 1186 h 9793"/>
              <a:gd name="connsiteX4" fmla="*/ 2321 w 8749"/>
              <a:gd name="connsiteY4" fmla="*/ 3901 h 9793"/>
              <a:gd name="connsiteX5" fmla="*/ 1150 w 8749"/>
              <a:gd name="connsiteY5" fmla="*/ 8335 h 9793"/>
              <a:gd name="connsiteX6" fmla="*/ 846 w 8749"/>
              <a:gd name="connsiteY6" fmla="*/ 9693 h 9793"/>
              <a:gd name="connsiteX7" fmla="*/ 239 w 8749"/>
              <a:gd name="connsiteY7" fmla="*/ 9693 h 9793"/>
              <a:gd name="connsiteX0" fmla="*/ 1 w 7490"/>
              <a:gd name="connsiteY0" fmla="*/ 15972 h 16074"/>
              <a:gd name="connsiteX1" fmla="*/ 646 w 7490"/>
              <a:gd name="connsiteY1" fmla="*/ 7840 h 16074"/>
              <a:gd name="connsiteX2" fmla="*/ 1773 w 7490"/>
              <a:gd name="connsiteY2" fmla="*/ 1 h 16074"/>
              <a:gd name="connsiteX3" fmla="*/ 7489 w 7490"/>
              <a:gd name="connsiteY3" fmla="*/ 7285 h 16074"/>
              <a:gd name="connsiteX4" fmla="*/ 2381 w 7490"/>
              <a:gd name="connsiteY4" fmla="*/ 10057 h 16074"/>
              <a:gd name="connsiteX5" fmla="*/ 1042 w 7490"/>
              <a:gd name="connsiteY5" fmla="*/ 14585 h 16074"/>
              <a:gd name="connsiteX6" fmla="*/ 695 w 7490"/>
              <a:gd name="connsiteY6" fmla="*/ 15972 h 16074"/>
              <a:gd name="connsiteX7" fmla="*/ 1 w 7490"/>
              <a:gd name="connsiteY7" fmla="*/ 15972 h 16074"/>
              <a:gd name="connsiteX0" fmla="*/ 66 w 10066"/>
              <a:gd name="connsiteY0" fmla="*/ 9937 h 10000"/>
              <a:gd name="connsiteX1" fmla="*/ 240 w 10066"/>
              <a:gd name="connsiteY1" fmla="*/ 4877 h 10000"/>
              <a:gd name="connsiteX2" fmla="*/ 2432 w 10066"/>
              <a:gd name="connsiteY2" fmla="*/ 1 h 10000"/>
              <a:gd name="connsiteX3" fmla="*/ 10064 w 10066"/>
              <a:gd name="connsiteY3" fmla="*/ 4532 h 10000"/>
              <a:gd name="connsiteX4" fmla="*/ 3244 w 10066"/>
              <a:gd name="connsiteY4" fmla="*/ 6257 h 10000"/>
              <a:gd name="connsiteX5" fmla="*/ 1456 w 10066"/>
              <a:gd name="connsiteY5" fmla="*/ 9074 h 10000"/>
              <a:gd name="connsiteX6" fmla="*/ 993 w 10066"/>
              <a:gd name="connsiteY6" fmla="*/ 9937 h 10000"/>
              <a:gd name="connsiteX7" fmla="*/ 66 w 10066"/>
              <a:gd name="connsiteY7" fmla="*/ 9937 h 10000"/>
              <a:gd name="connsiteX0" fmla="*/ 5 w 10019"/>
              <a:gd name="connsiteY0" fmla="*/ 9937 h 10000"/>
              <a:gd name="connsiteX1" fmla="*/ 179 w 10019"/>
              <a:gd name="connsiteY1" fmla="*/ 4877 h 10000"/>
              <a:gd name="connsiteX2" fmla="*/ 996 w 10019"/>
              <a:gd name="connsiteY2" fmla="*/ 1 h 10000"/>
              <a:gd name="connsiteX3" fmla="*/ 10003 w 10019"/>
              <a:gd name="connsiteY3" fmla="*/ 4532 h 10000"/>
              <a:gd name="connsiteX4" fmla="*/ 3183 w 10019"/>
              <a:gd name="connsiteY4" fmla="*/ 6257 h 10000"/>
              <a:gd name="connsiteX5" fmla="*/ 1395 w 10019"/>
              <a:gd name="connsiteY5" fmla="*/ 9074 h 10000"/>
              <a:gd name="connsiteX6" fmla="*/ 932 w 10019"/>
              <a:gd name="connsiteY6" fmla="*/ 9937 h 10000"/>
              <a:gd name="connsiteX7" fmla="*/ 5 w 10019"/>
              <a:gd name="connsiteY7" fmla="*/ 9937 h 10000"/>
              <a:gd name="connsiteX0" fmla="*/ 5 w 10019"/>
              <a:gd name="connsiteY0" fmla="*/ 9937 h 10000"/>
              <a:gd name="connsiteX1" fmla="*/ 179 w 10019"/>
              <a:gd name="connsiteY1" fmla="*/ 4877 h 10000"/>
              <a:gd name="connsiteX2" fmla="*/ 996 w 10019"/>
              <a:gd name="connsiteY2" fmla="*/ 1 h 10000"/>
              <a:gd name="connsiteX3" fmla="*/ 10003 w 10019"/>
              <a:gd name="connsiteY3" fmla="*/ 4532 h 10000"/>
              <a:gd name="connsiteX4" fmla="*/ 3183 w 10019"/>
              <a:gd name="connsiteY4" fmla="*/ 6257 h 10000"/>
              <a:gd name="connsiteX5" fmla="*/ 1395 w 10019"/>
              <a:gd name="connsiteY5" fmla="*/ 9074 h 10000"/>
              <a:gd name="connsiteX6" fmla="*/ 932 w 10019"/>
              <a:gd name="connsiteY6" fmla="*/ 9937 h 10000"/>
              <a:gd name="connsiteX7" fmla="*/ 5 w 10019"/>
              <a:gd name="connsiteY7" fmla="*/ 9937 h 10000"/>
              <a:gd name="connsiteX0" fmla="*/ 5 w 10019"/>
              <a:gd name="connsiteY0" fmla="*/ 9937 h 10000"/>
              <a:gd name="connsiteX1" fmla="*/ 179 w 10019"/>
              <a:gd name="connsiteY1" fmla="*/ 4877 h 10000"/>
              <a:gd name="connsiteX2" fmla="*/ 996 w 10019"/>
              <a:gd name="connsiteY2" fmla="*/ 1 h 10000"/>
              <a:gd name="connsiteX3" fmla="*/ 10003 w 10019"/>
              <a:gd name="connsiteY3" fmla="*/ 4532 h 10000"/>
              <a:gd name="connsiteX4" fmla="*/ 3183 w 10019"/>
              <a:gd name="connsiteY4" fmla="*/ 6257 h 10000"/>
              <a:gd name="connsiteX5" fmla="*/ 1395 w 10019"/>
              <a:gd name="connsiteY5" fmla="*/ 9074 h 10000"/>
              <a:gd name="connsiteX6" fmla="*/ 932 w 10019"/>
              <a:gd name="connsiteY6" fmla="*/ 9937 h 10000"/>
              <a:gd name="connsiteX7" fmla="*/ 5 w 10019"/>
              <a:gd name="connsiteY7" fmla="*/ 9937 h 10000"/>
              <a:gd name="connsiteX0" fmla="*/ 5 w 10019"/>
              <a:gd name="connsiteY0" fmla="*/ 9936 h 9999"/>
              <a:gd name="connsiteX1" fmla="*/ 179 w 10019"/>
              <a:gd name="connsiteY1" fmla="*/ 4876 h 9999"/>
              <a:gd name="connsiteX2" fmla="*/ 996 w 10019"/>
              <a:gd name="connsiteY2" fmla="*/ 0 h 9999"/>
              <a:gd name="connsiteX3" fmla="*/ 10003 w 10019"/>
              <a:gd name="connsiteY3" fmla="*/ 4531 h 9999"/>
              <a:gd name="connsiteX4" fmla="*/ 3183 w 10019"/>
              <a:gd name="connsiteY4" fmla="*/ 6256 h 9999"/>
              <a:gd name="connsiteX5" fmla="*/ 1395 w 10019"/>
              <a:gd name="connsiteY5" fmla="*/ 9073 h 9999"/>
              <a:gd name="connsiteX6" fmla="*/ 932 w 10019"/>
              <a:gd name="connsiteY6" fmla="*/ 9936 h 9999"/>
              <a:gd name="connsiteX7" fmla="*/ 5 w 10019"/>
              <a:gd name="connsiteY7" fmla="*/ 9936 h 9999"/>
              <a:gd name="connsiteX0" fmla="*/ 5 w 10000"/>
              <a:gd name="connsiteY0" fmla="*/ 9937 h 10000"/>
              <a:gd name="connsiteX1" fmla="*/ 179 w 10000"/>
              <a:gd name="connsiteY1" fmla="*/ 4876 h 10000"/>
              <a:gd name="connsiteX2" fmla="*/ 994 w 10000"/>
              <a:gd name="connsiteY2" fmla="*/ 0 h 10000"/>
              <a:gd name="connsiteX3" fmla="*/ 9984 w 10000"/>
              <a:gd name="connsiteY3" fmla="*/ 4531 h 10000"/>
              <a:gd name="connsiteX4" fmla="*/ 3177 w 10000"/>
              <a:gd name="connsiteY4" fmla="*/ 6257 h 10000"/>
              <a:gd name="connsiteX5" fmla="*/ 1392 w 10000"/>
              <a:gd name="connsiteY5" fmla="*/ 9074 h 10000"/>
              <a:gd name="connsiteX6" fmla="*/ 930 w 10000"/>
              <a:gd name="connsiteY6" fmla="*/ 9937 h 10000"/>
              <a:gd name="connsiteX7" fmla="*/ 5 w 10000"/>
              <a:gd name="connsiteY7" fmla="*/ 9937 h 10000"/>
              <a:gd name="connsiteX0" fmla="*/ 5 w 3189"/>
              <a:gd name="connsiteY0" fmla="*/ 9937 h 10000"/>
              <a:gd name="connsiteX1" fmla="*/ 179 w 3189"/>
              <a:gd name="connsiteY1" fmla="*/ 4876 h 10000"/>
              <a:gd name="connsiteX2" fmla="*/ 994 w 3189"/>
              <a:gd name="connsiteY2" fmla="*/ 0 h 10000"/>
              <a:gd name="connsiteX3" fmla="*/ 2136 w 3189"/>
              <a:gd name="connsiteY3" fmla="*/ 4305 h 10000"/>
              <a:gd name="connsiteX4" fmla="*/ 3177 w 3189"/>
              <a:gd name="connsiteY4" fmla="*/ 6257 h 10000"/>
              <a:gd name="connsiteX5" fmla="*/ 1392 w 3189"/>
              <a:gd name="connsiteY5" fmla="*/ 9074 h 10000"/>
              <a:gd name="connsiteX6" fmla="*/ 930 w 3189"/>
              <a:gd name="connsiteY6" fmla="*/ 9937 h 10000"/>
              <a:gd name="connsiteX7" fmla="*/ 5 w 3189"/>
              <a:gd name="connsiteY7" fmla="*/ 9937 h 10000"/>
              <a:gd name="connsiteX0" fmla="*/ 13 w 7315"/>
              <a:gd name="connsiteY0" fmla="*/ 9937 h 10000"/>
              <a:gd name="connsiteX1" fmla="*/ 558 w 7315"/>
              <a:gd name="connsiteY1" fmla="*/ 4876 h 10000"/>
              <a:gd name="connsiteX2" fmla="*/ 3114 w 7315"/>
              <a:gd name="connsiteY2" fmla="*/ 0 h 10000"/>
              <a:gd name="connsiteX3" fmla="*/ 6695 w 7315"/>
              <a:gd name="connsiteY3" fmla="*/ 4305 h 10000"/>
              <a:gd name="connsiteX4" fmla="*/ 7097 w 7315"/>
              <a:gd name="connsiteY4" fmla="*/ 6935 h 10000"/>
              <a:gd name="connsiteX5" fmla="*/ 4362 w 7315"/>
              <a:gd name="connsiteY5" fmla="*/ 9074 h 10000"/>
              <a:gd name="connsiteX6" fmla="*/ 2913 w 7315"/>
              <a:gd name="connsiteY6" fmla="*/ 9937 h 10000"/>
              <a:gd name="connsiteX7" fmla="*/ 13 w 7315"/>
              <a:gd name="connsiteY7" fmla="*/ 9937 h 10000"/>
              <a:gd name="connsiteX0" fmla="*/ 18 w 10000"/>
              <a:gd name="connsiteY0" fmla="*/ 9937 h 10000"/>
              <a:gd name="connsiteX1" fmla="*/ 763 w 10000"/>
              <a:gd name="connsiteY1" fmla="*/ 4876 h 10000"/>
              <a:gd name="connsiteX2" fmla="*/ 4257 w 10000"/>
              <a:gd name="connsiteY2" fmla="*/ 0 h 10000"/>
              <a:gd name="connsiteX3" fmla="*/ 9152 w 10000"/>
              <a:gd name="connsiteY3" fmla="*/ 4305 h 10000"/>
              <a:gd name="connsiteX4" fmla="*/ 9702 w 10000"/>
              <a:gd name="connsiteY4" fmla="*/ 6935 h 10000"/>
              <a:gd name="connsiteX5" fmla="*/ 5963 w 10000"/>
              <a:gd name="connsiteY5" fmla="*/ 9074 h 10000"/>
              <a:gd name="connsiteX6" fmla="*/ 3982 w 10000"/>
              <a:gd name="connsiteY6" fmla="*/ 9937 h 10000"/>
              <a:gd name="connsiteX7" fmla="*/ 18 w 10000"/>
              <a:gd name="connsiteY7" fmla="*/ 9937 h 10000"/>
              <a:gd name="connsiteX0" fmla="*/ 18 w 10136"/>
              <a:gd name="connsiteY0" fmla="*/ 9937 h 10000"/>
              <a:gd name="connsiteX1" fmla="*/ 763 w 10136"/>
              <a:gd name="connsiteY1" fmla="*/ 4876 h 10000"/>
              <a:gd name="connsiteX2" fmla="*/ 4257 w 10136"/>
              <a:gd name="connsiteY2" fmla="*/ 0 h 10000"/>
              <a:gd name="connsiteX3" fmla="*/ 9451 w 10136"/>
              <a:gd name="connsiteY3" fmla="*/ 4305 h 10000"/>
              <a:gd name="connsiteX4" fmla="*/ 9702 w 10136"/>
              <a:gd name="connsiteY4" fmla="*/ 6935 h 10000"/>
              <a:gd name="connsiteX5" fmla="*/ 5963 w 10136"/>
              <a:gd name="connsiteY5" fmla="*/ 9074 h 10000"/>
              <a:gd name="connsiteX6" fmla="*/ 3982 w 10136"/>
              <a:gd name="connsiteY6" fmla="*/ 9937 h 10000"/>
              <a:gd name="connsiteX7" fmla="*/ 18 w 10136"/>
              <a:gd name="connsiteY7" fmla="*/ 9937 h 10000"/>
              <a:gd name="connsiteX0" fmla="*/ 2360 w 12478"/>
              <a:gd name="connsiteY0" fmla="*/ 9937 h 10000"/>
              <a:gd name="connsiteX1" fmla="*/ 111 w 12478"/>
              <a:gd name="connsiteY1" fmla="*/ 4876 h 10000"/>
              <a:gd name="connsiteX2" fmla="*/ 6599 w 12478"/>
              <a:gd name="connsiteY2" fmla="*/ 0 h 10000"/>
              <a:gd name="connsiteX3" fmla="*/ 11793 w 12478"/>
              <a:gd name="connsiteY3" fmla="*/ 4305 h 10000"/>
              <a:gd name="connsiteX4" fmla="*/ 12044 w 12478"/>
              <a:gd name="connsiteY4" fmla="*/ 6935 h 10000"/>
              <a:gd name="connsiteX5" fmla="*/ 8305 w 12478"/>
              <a:gd name="connsiteY5" fmla="*/ 9074 h 10000"/>
              <a:gd name="connsiteX6" fmla="*/ 6324 w 12478"/>
              <a:gd name="connsiteY6" fmla="*/ 9937 h 10000"/>
              <a:gd name="connsiteX7" fmla="*/ 2360 w 12478"/>
              <a:gd name="connsiteY7" fmla="*/ 9937 h 10000"/>
              <a:gd name="connsiteX0" fmla="*/ 2360 w 11972"/>
              <a:gd name="connsiteY0" fmla="*/ 9937 h 10000"/>
              <a:gd name="connsiteX1" fmla="*/ 111 w 11972"/>
              <a:gd name="connsiteY1" fmla="*/ 4876 h 10000"/>
              <a:gd name="connsiteX2" fmla="*/ 6599 w 11972"/>
              <a:gd name="connsiteY2" fmla="*/ 0 h 10000"/>
              <a:gd name="connsiteX3" fmla="*/ 11793 w 11972"/>
              <a:gd name="connsiteY3" fmla="*/ 4305 h 10000"/>
              <a:gd name="connsiteX4" fmla="*/ 10547 w 11972"/>
              <a:gd name="connsiteY4" fmla="*/ 6822 h 10000"/>
              <a:gd name="connsiteX5" fmla="*/ 8305 w 11972"/>
              <a:gd name="connsiteY5" fmla="*/ 9074 h 10000"/>
              <a:gd name="connsiteX6" fmla="*/ 6324 w 11972"/>
              <a:gd name="connsiteY6" fmla="*/ 9937 h 10000"/>
              <a:gd name="connsiteX7" fmla="*/ 2360 w 11972"/>
              <a:gd name="connsiteY7" fmla="*/ 9937 h 10000"/>
              <a:gd name="connsiteX0" fmla="*/ 2360 w 11812"/>
              <a:gd name="connsiteY0" fmla="*/ 9937 h 10000"/>
              <a:gd name="connsiteX1" fmla="*/ 111 w 11812"/>
              <a:gd name="connsiteY1" fmla="*/ 4876 h 10000"/>
              <a:gd name="connsiteX2" fmla="*/ 6599 w 11812"/>
              <a:gd name="connsiteY2" fmla="*/ 0 h 10000"/>
              <a:gd name="connsiteX3" fmla="*/ 11793 w 11812"/>
              <a:gd name="connsiteY3" fmla="*/ 4305 h 10000"/>
              <a:gd name="connsiteX4" fmla="*/ 8305 w 11812"/>
              <a:gd name="connsiteY4" fmla="*/ 9074 h 10000"/>
              <a:gd name="connsiteX5" fmla="*/ 6324 w 11812"/>
              <a:gd name="connsiteY5" fmla="*/ 9937 h 10000"/>
              <a:gd name="connsiteX6" fmla="*/ 2360 w 11812"/>
              <a:gd name="connsiteY6" fmla="*/ 9937 h 10000"/>
              <a:gd name="connsiteX0" fmla="*/ 2360 w 11794"/>
              <a:gd name="connsiteY0" fmla="*/ 9937 h 10000"/>
              <a:gd name="connsiteX1" fmla="*/ 111 w 11794"/>
              <a:gd name="connsiteY1" fmla="*/ 4876 h 10000"/>
              <a:gd name="connsiteX2" fmla="*/ 6599 w 11794"/>
              <a:gd name="connsiteY2" fmla="*/ 0 h 10000"/>
              <a:gd name="connsiteX3" fmla="*/ 11793 w 11794"/>
              <a:gd name="connsiteY3" fmla="*/ 4305 h 10000"/>
              <a:gd name="connsiteX4" fmla="*/ 6324 w 11794"/>
              <a:gd name="connsiteY4" fmla="*/ 9937 h 10000"/>
              <a:gd name="connsiteX5" fmla="*/ 2360 w 11794"/>
              <a:gd name="connsiteY5" fmla="*/ 9937 h 10000"/>
              <a:gd name="connsiteX0" fmla="*/ 2360 w 11961"/>
              <a:gd name="connsiteY0" fmla="*/ 9937 h 10044"/>
              <a:gd name="connsiteX1" fmla="*/ 111 w 11961"/>
              <a:gd name="connsiteY1" fmla="*/ 4876 h 10044"/>
              <a:gd name="connsiteX2" fmla="*/ 6599 w 11961"/>
              <a:gd name="connsiteY2" fmla="*/ 0 h 10044"/>
              <a:gd name="connsiteX3" fmla="*/ 11793 w 11961"/>
              <a:gd name="connsiteY3" fmla="*/ 4305 h 10044"/>
              <a:gd name="connsiteX4" fmla="*/ 9917 w 11961"/>
              <a:gd name="connsiteY4" fmla="*/ 9993 h 10044"/>
              <a:gd name="connsiteX5" fmla="*/ 2360 w 11961"/>
              <a:gd name="connsiteY5" fmla="*/ 9937 h 10044"/>
              <a:gd name="connsiteX0" fmla="*/ 4365 w 11840"/>
              <a:gd name="connsiteY0" fmla="*/ 9993 h 10414"/>
              <a:gd name="connsiteX1" fmla="*/ 20 w 11840"/>
              <a:gd name="connsiteY1" fmla="*/ 4876 h 10414"/>
              <a:gd name="connsiteX2" fmla="*/ 6508 w 11840"/>
              <a:gd name="connsiteY2" fmla="*/ 0 h 10414"/>
              <a:gd name="connsiteX3" fmla="*/ 11702 w 11840"/>
              <a:gd name="connsiteY3" fmla="*/ 4305 h 10414"/>
              <a:gd name="connsiteX4" fmla="*/ 9826 w 11840"/>
              <a:gd name="connsiteY4" fmla="*/ 9993 h 10414"/>
              <a:gd name="connsiteX5" fmla="*/ 4365 w 11840"/>
              <a:gd name="connsiteY5" fmla="*/ 9993 h 10414"/>
              <a:gd name="connsiteX0" fmla="*/ 3174 w 10649"/>
              <a:gd name="connsiteY0" fmla="*/ 9993 h 10414"/>
              <a:gd name="connsiteX1" fmla="*/ 27 w 10649"/>
              <a:gd name="connsiteY1" fmla="*/ 4424 h 10414"/>
              <a:gd name="connsiteX2" fmla="*/ 5317 w 10649"/>
              <a:gd name="connsiteY2" fmla="*/ 0 h 10414"/>
              <a:gd name="connsiteX3" fmla="*/ 10511 w 10649"/>
              <a:gd name="connsiteY3" fmla="*/ 4305 h 10414"/>
              <a:gd name="connsiteX4" fmla="*/ 8635 w 10649"/>
              <a:gd name="connsiteY4" fmla="*/ 9993 h 10414"/>
              <a:gd name="connsiteX5" fmla="*/ 3174 w 10649"/>
              <a:gd name="connsiteY5" fmla="*/ 9993 h 10414"/>
              <a:gd name="connsiteX0" fmla="*/ 3174 w 10649"/>
              <a:gd name="connsiteY0" fmla="*/ 9993 h 10372"/>
              <a:gd name="connsiteX1" fmla="*/ 27 w 10649"/>
              <a:gd name="connsiteY1" fmla="*/ 4424 h 10372"/>
              <a:gd name="connsiteX2" fmla="*/ 5317 w 10649"/>
              <a:gd name="connsiteY2" fmla="*/ 0 h 10372"/>
              <a:gd name="connsiteX3" fmla="*/ 10511 w 10649"/>
              <a:gd name="connsiteY3" fmla="*/ 4870 h 10372"/>
              <a:gd name="connsiteX4" fmla="*/ 8635 w 10649"/>
              <a:gd name="connsiteY4" fmla="*/ 9993 h 10372"/>
              <a:gd name="connsiteX5" fmla="*/ 3174 w 10649"/>
              <a:gd name="connsiteY5" fmla="*/ 9993 h 10372"/>
              <a:gd name="connsiteX0" fmla="*/ 3150 w 10717"/>
              <a:gd name="connsiteY0" fmla="*/ 10162 h 10541"/>
              <a:gd name="connsiteX1" fmla="*/ 3 w 10717"/>
              <a:gd name="connsiteY1" fmla="*/ 4593 h 10541"/>
              <a:gd name="connsiteX2" fmla="*/ 3796 w 10717"/>
              <a:gd name="connsiteY2" fmla="*/ 0 h 10541"/>
              <a:gd name="connsiteX3" fmla="*/ 10487 w 10717"/>
              <a:gd name="connsiteY3" fmla="*/ 5039 h 10541"/>
              <a:gd name="connsiteX4" fmla="*/ 8611 w 10717"/>
              <a:gd name="connsiteY4" fmla="*/ 10162 h 10541"/>
              <a:gd name="connsiteX5" fmla="*/ 3150 w 10717"/>
              <a:gd name="connsiteY5" fmla="*/ 10162 h 10541"/>
              <a:gd name="connsiteX0" fmla="*/ 3150 w 10717"/>
              <a:gd name="connsiteY0" fmla="*/ 10162 h 10541"/>
              <a:gd name="connsiteX1" fmla="*/ 3 w 10717"/>
              <a:gd name="connsiteY1" fmla="*/ 4593 h 10541"/>
              <a:gd name="connsiteX2" fmla="*/ 3796 w 10717"/>
              <a:gd name="connsiteY2" fmla="*/ 0 h 10541"/>
              <a:gd name="connsiteX3" fmla="*/ 10487 w 10717"/>
              <a:gd name="connsiteY3" fmla="*/ 5039 h 10541"/>
              <a:gd name="connsiteX4" fmla="*/ 8611 w 10717"/>
              <a:gd name="connsiteY4" fmla="*/ 10162 h 10541"/>
              <a:gd name="connsiteX5" fmla="*/ 3150 w 10717"/>
              <a:gd name="connsiteY5" fmla="*/ 10162 h 10541"/>
              <a:gd name="connsiteX0" fmla="*/ 3150 w 10717"/>
              <a:gd name="connsiteY0" fmla="*/ 10162 h 10541"/>
              <a:gd name="connsiteX1" fmla="*/ 3 w 10717"/>
              <a:gd name="connsiteY1" fmla="*/ 4593 h 10541"/>
              <a:gd name="connsiteX2" fmla="*/ 3796 w 10717"/>
              <a:gd name="connsiteY2" fmla="*/ 0 h 10541"/>
              <a:gd name="connsiteX3" fmla="*/ 10487 w 10717"/>
              <a:gd name="connsiteY3" fmla="*/ 5039 h 10541"/>
              <a:gd name="connsiteX4" fmla="*/ 8611 w 10717"/>
              <a:gd name="connsiteY4" fmla="*/ 10162 h 10541"/>
              <a:gd name="connsiteX5" fmla="*/ 3150 w 10717"/>
              <a:gd name="connsiteY5" fmla="*/ 10162 h 10541"/>
              <a:gd name="connsiteX0" fmla="*/ 3150 w 10717"/>
              <a:gd name="connsiteY0" fmla="*/ 10162 h 10541"/>
              <a:gd name="connsiteX1" fmla="*/ 3 w 10717"/>
              <a:gd name="connsiteY1" fmla="*/ 4593 h 10541"/>
              <a:gd name="connsiteX2" fmla="*/ 3796 w 10717"/>
              <a:gd name="connsiteY2" fmla="*/ 0 h 10541"/>
              <a:gd name="connsiteX3" fmla="*/ 10487 w 10717"/>
              <a:gd name="connsiteY3" fmla="*/ 5039 h 10541"/>
              <a:gd name="connsiteX4" fmla="*/ 8611 w 10717"/>
              <a:gd name="connsiteY4" fmla="*/ 10162 h 10541"/>
              <a:gd name="connsiteX5" fmla="*/ 3150 w 10717"/>
              <a:gd name="connsiteY5" fmla="*/ 10162 h 10541"/>
              <a:gd name="connsiteX0" fmla="*/ 3447 w 10710"/>
              <a:gd name="connsiteY0" fmla="*/ 10162 h 10541"/>
              <a:gd name="connsiteX1" fmla="*/ 1 w 10710"/>
              <a:gd name="connsiteY1" fmla="*/ 4593 h 10541"/>
              <a:gd name="connsiteX2" fmla="*/ 3794 w 10710"/>
              <a:gd name="connsiteY2" fmla="*/ 0 h 10541"/>
              <a:gd name="connsiteX3" fmla="*/ 10485 w 10710"/>
              <a:gd name="connsiteY3" fmla="*/ 5039 h 10541"/>
              <a:gd name="connsiteX4" fmla="*/ 8609 w 10710"/>
              <a:gd name="connsiteY4" fmla="*/ 10162 h 10541"/>
              <a:gd name="connsiteX5" fmla="*/ 3447 w 10710"/>
              <a:gd name="connsiteY5" fmla="*/ 10162 h 10541"/>
              <a:gd name="connsiteX0" fmla="*/ 2549 w 9812"/>
              <a:gd name="connsiteY0" fmla="*/ 10162 h 10541"/>
              <a:gd name="connsiteX1" fmla="*/ 1 w 9812"/>
              <a:gd name="connsiteY1" fmla="*/ 5271 h 10541"/>
              <a:gd name="connsiteX2" fmla="*/ 2896 w 9812"/>
              <a:gd name="connsiteY2" fmla="*/ 0 h 10541"/>
              <a:gd name="connsiteX3" fmla="*/ 9587 w 9812"/>
              <a:gd name="connsiteY3" fmla="*/ 5039 h 10541"/>
              <a:gd name="connsiteX4" fmla="*/ 7711 w 9812"/>
              <a:gd name="connsiteY4" fmla="*/ 10162 h 10541"/>
              <a:gd name="connsiteX5" fmla="*/ 2549 w 9812"/>
              <a:gd name="connsiteY5" fmla="*/ 10162 h 10541"/>
              <a:gd name="connsiteX0" fmla="*/ 2614 w 9941"/>
              <a:gd name="connsiteY0" fmla="*/ 9640 h 10000"/>
              <a:gd name="connsiteX1" fmla="*/ 17 w 9941"/>
              <a:gd name="connsiteY1" fmla="*/ 5000 h 10000"/>
              <a:gd name="connsiteX2" fmla="*/ 4188 w 9941"/>
              <a:gd name="connsiteY2" fmla="*/ 0 h 10000"/>
              <a:gd name="connsiteX3" fmla="*/ 9787 w 9941"/>
              <a:gd name="connsiteY3" fmla="*/ 4780 h 10000"/>
              <a:gd name="connsiteX4" fmla="*/ 7875 w 9941"/>
              <a:gd name="connsiteY4" fmla="*/ 9640 h 10000"/>
              <a:gd name="connsiteX5" fmla="*/ 2614 w 9941"/>
              <a:gd name="connsiteY5" fmla="*/ 964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41" h="10000">
                <a:moveTo>
                  <a:pt x="2614" y="9640"/>
                </a:moveTo>
                <a:cubicBezTo>
                  <a:pt x="2544" y="8836"/>
                  <a:pt x="-245" y="6607"/>
                  <a:pt x="17" y="5000"/>
                </a:cubicBezTo>
                <a:cubicBezTo>
                  <a:pt x="279" y="3393"/>
                  <a:pt x="1403" y="2091"/>
                  <a:pt x="4188" y="0"/>
                </a:cubicBezTo>
                <a:cubicBezTo>
                  <a:pt x="6633" y="1499"/>
                  <a:pt x="9173" y="3173"/>
                  <a:pt x="9787" y="4780"/>
                </a:cubicBezTo>
                <a:cubicBezTo>
                  <a:pt x="10401" y="6387"/>
                  <a:pt x="9070" y="8830"/>
                  <a:pt x="7875" y="9640"/>
                </a:cubicBezTo>
                <a:cubicBezTo>
                  <a:pt x="6679" y="10451"/>
                  <a:pt x="3483" y="9640"/>
                  <a:pt x="2614" y="9640"/>
                </a:cubicBezTo>
                <a:close/>
              </a:path>
            </a:pathLst>
          </a:custGeom>
          <a:gradFill rotWithShape="0">
            <a:gsLst>
              <a:gs pos="0">
                <a:srgbClr val="FFCCCC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9966"/>
            </a:solidFill>
            <a:round/>
            <a:headEnd type="none" w="sm" len="lg"/>
            <a:tailEnd type="none" w="sm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569255" y="818160"/>
            <a:ext cx="6229277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1C1C1C"/>
                </a:solidFill>
                <a:latin typeface="Times New Roman" pitchFamily="18" charset="0"/>
              </a:rPr>
              <a:t>       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带电导体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尖端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附近的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电场特别大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，可使尖端附近的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空气发生电离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而成为导体产生</a:t>
            </a:r>
            <a:r>
              <a:rPr lang="zh-CN" altLang="en-US" sz="2100" b="1" dirty="0">
                <a:solidFill>
                  <a:srgbClr val="C00000"/>
                </a:solidFill>
                <a:latin typeface="Times New Roman" pitchFamily="18" charset="0"/>
              </a:rPr>
              <a:t>放电</a:t>
            </a:r>
            <a:r>
              <a:rPr lang="zh-CN" altLang="en-US" sz="2100" b="1" dirty="0">
                <a:solidFill>
                  <a:srgbClr val="1C1C1C"/>
                </a:solidFill>
                <a:latin typeface="Times New Roman" pitchFamily="18" charset="0"/>
              </a:rPr>
              <a:t>现象．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989999" y="340555"/>
            <a:ext cx="3143250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1C1C1C"/>
                </a:solidFill>
                <a:latin typeface="Times New Roman" pitchFamily="18" charset="0"/>
              </a:rPr>
              <a:t>   </a:t>
            </a:r>
            <a:r>
              <a:rPr lang="zh-CN" altLang="en-US" sz="2400" b="1">
                <a:solidFill>
                  <a:srgbClr val="1C1C1C"/>
                </a:solidFill>
                <a:latin typeface="Times New Roman" pitchFamily="18" charset="0"/>
              </a:rPr>
              <a:t>尖端放电现象</a:t>
            </a:r>
          </a:p>
        </p:txBody>
      </p:sp>
      <p:sp>
        <p:nvSpPr>
          <p:cNvPr id="9225" name="灯片编号占位符 1"/>
          <p:cNvSpPr txBox="1">
            <a:spLocks noGrp="1" noChangeArrowheads="1"/>
          </p:cNvSpPr>
          <p:nvPr/>
        </p:nvSpPr>
        <p:spPr bwMode="auto">
          <a:xfrm>
            <a:off x="7543800" y="4933950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0EC304BE-7CE5-492F-9151-ACE6AA74A0C2}" type="slidenum">
              <a:rPr lang="zh-CN" altLang="en-US" sz="1050" b="1">
                <a:latin typeface="Calibri" pitchFamily="34" charset="0"/>
              </a:rPr>
              <a:pPr algn="r"/>
              <a:t>12</a:t>
            </a:fld>
            <a:endParaRPr lang="en-US" altLang="zh-CN" sz="105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540894" y="4215264"/>
            <a:ext cx="2286000" cy="461665"/>
          </a:xfrm>
          <a:prstGeom prst="rect">
            <a:avLst/>
          </a:prstGeom>
          <a:noFill/>
          <a:ln w="9525">
            <a:noFill/>
            <a:miter lim="800000"/>
            <a:headEnd type="none" w="sm" len="lg"/>
            <a:tailEnd type="none" w="sm" len="lg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1C1C1C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1C1C1C"/>
                </a:solidFill>
                <a:latin typeface="Times New Roman" pitchFamily="18" charset="0"/>
              </a:rPr>
              <a:t>电风实验 </a:t>
            </a:r>
            <a:endParaRPr lang="en-US" altLang="zh-CN" sz="2400" b="1" dirty="0">
              <a:solidFill>
                <a:srgbClr val="1C1C1C"/>
              </a:solidFill>
              <a:latin typeface="Times New Roman" pitchFamily="18" charset="0"/>
            </a:endParaRPr>
          </a:p>
        </p:txBody>
      </p:sp>
      <p:grpSp>
        <p:nvGrpSpPr>
          <p:cNvPr id="10" name="Group 43"/>
          <p:cNvGrpSpPr>
            <a:grpSpLocks/>
          </p:cNvGrpSpPr>
          <p:nvPr/>
        </p:nvGrpSpPr>
        <p:grpSpPr bwMode="auto">
          <a:xfrm>
            <a:off x="2104424" y="2578368"/>
            <a:ext cx="1828800" cy="1114425"/>
            <a:chOff x="856" y="1632"/>
            <a:chExt cx="1536" cy="936"/>
          </a:xfrm>
        </p:grpSpPr>
        <p:sp>
          <p:nvSpPr>
            <p:cNvPr id="39" name="Freeform 45"/>
            <p:cNvSpPr>
              <a:spLocks/>
            </p:cNvSpPr>
            <p:nvPr/>
          </p:nvSpPr>
          <p:spPr bwMode="auto">
            <a:xfrm>
              <a:off x="856" y="2112"/>
              <a:ext cx="1300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04" y="4"/>
                </a:cxn>
                <a:cxn ang="0">
                  <a:pos x="1168" y="40"/>
                </a:cxn>
                <a:cxn ang="0">
                  <a:pos x="1224" y="72"/>
                </a:cxn>
                <a:cxn ang="0">
                  <a:pos x="1264" y="128"/>
                </a:cxn>
                <a:cxn ang="0">
                  <a:pos x="1288" y="232"/>
                </a:cxn>
                <a:cxn ang="0">
                  <a:pos x="1252" y="318"/>
                </a:cxn>
                <a:cxn ang="0">
                  <a:pos x="1188" y="391"/>
                </a:cxn>
                <a:cxn ang="0">
                  <a:pos x="1152" y="416"/>
                </a:cxn>
                <a:cxn ang="0">
                  <a:pos x="1084" y="432"/>
                </a:cxn>
                <a:cxn ang="0">
                  <a:pos x="0" y="432"/>
                </a:cxn>
                <a:cxn ang="0">
                  <a:pos x="0" y="0"/>
                </a:cxn>
              </a:cxnLst>
              <a:rect l="0" t="0" r="r" b="b"/>
              <a:pathLst>
                <a:path w="1288" h="432">
                  <a:moveTo>
                    <a:pt x="0" y="0"/>
                  </a:moveTo>
                  <a:lnTo>
                    <a:pt x="1104" y="4"/>
                  </a:lnTo>
                  <a:lnTo>
                    <a:pt x="1168" y="40"/>
                  </a:lnTo>
                  <a:lnTo>
                    <a:pt x="1224" y="72"/>
                  </a:lnTo>
                  <a:lnTo>
                    <a:pt x="1264" y="128"/>
                  </a:lnTo>
                  <a:lnTo>
                    <a:pt x="1288" y="232"/>
                  </a:lnTo>
                  <a:lnTo>
                    <a:pt x="1252" y="318"/>
                  </a:lnTo>
                  <a:lnTo>
                    <a:pt x="1188" y="391"/>
                  </a:lnTo>
                  <a:lnTo>
                    <a:pt x="1152" y="416"/>
                  </a:lnTo>
                  <a:lnTo>
                    <a:pt x="1084" y="432"/>
                  </a:lnTo>
                  <a:lnTo>
                    <a:pt x="0" y="43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0" name="Line 46"/>
            <p:cNvSpPr>
              <a:spLocks noChangeShapeType="1"/>
            </p:cNvSpPr>
            <p:nvPr/>
          </p:nvSpPr>
          <p:spPr bwMode="auto">
            <a:xfrm>
              <a:off x="856" y="2112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47"/>
            <p:cNvSpPr>
              <a:spLocks noChangeShapeType="1"/>
            </p:cNvSpPr>
            <p:nvPr/>
          </p:nvSpPr>
          <p:spPr bwMode="auto">
            <a:xfrm>
              <a:off x="856" y="2544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Arc 48"/>
            <p:cNvSpPr>
              <a:spLocks/>
            </p:cNvSpPr>
            <p:nvPr/>
          </p:nvSpPr>
          <p:spPr bwMode="auto">
            <a:xfrm>
              <a:off x="1912" y="2112"/>
              <a:ext cx="240" cy="43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4 h 43200"/>
                <a:gd name="T4" fmla="*/ 0 w 21600"/>
                <a:gd name="T5" fmla="*/ 2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77"/>
                    <a:pt x="12010" y="43125"/>
                    <a:pt x="133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77"/>
                    <a:pt x="12010" y="43125"/>
                    <a:pt x="133" y="4319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9"/>
            <p:cNvSpPr>
              <a:spLocks noChangeShapeType="1"/>
            </p:cNvSpPr>
            <p:nvPr/>
          </p:nvSpPr>
          <p:spPr bwMode="auto">
            <a:xfrm flipV="1">
              <a:off x="1816" y="1632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lg"/>
              <a:tailEnd type="none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50"/>
            <p:cNvSpPr>
              <a:spLocks noChangeShapeType="1"/>
            </p:cNvSpPr>
            <p:nvPr/>
          </p:nvSpPr>
          <p:spPr bwMode="auto">
            <a:xfrm>
              <a:off x="1816" y="1656"/>
              <a:ext cx="57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none" w="sm" len="lg"/>
              <a:tailEnd type="diamond" w="sm" len="lg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Text Box 51"/>
            <p:cNvSpPr txBox="1">
              <a:spLocks noChangeArrowheads="1"/>
            </p:cNvSpPr>
            <p:nvPr/>
          </p:nvSpPr>
          <p:spPr bwMode="auto">
            <a:xfrm>
              <a:off x="1672" y="2064"/>
              <a:ext cx="336" cy="50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300" b="1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6" name="Text Box 52"/>
            <p:cNvSpPr txBox="1">
              <a:spLocks noChangeArrowheads="1"/>
            </p:cNvSpPr>
            <p:nvPr/>
          </p:nvSpPr>
          <p:spPr bwMode="auto">
            <a:xfrm>
              <a:off x="1240" y="2064"/>
              <a:ext cx="336" cy="50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300" b="1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47" name="Text Box 53"/>
            <p:cNvSpPr txBox="1">
              <a:spLocks noChangeArrowheads="1"/>
            </p:cNvSpPr>
            <p:nvPr/>
          </p:nvSpPr>
          <p:spPr bwMode="auto">
            <a:xfrm>
              <a:off x="856" y="2064"/>
              <a:ext cx="384" cy="50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300" b="1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1" name="Group 54"/>
          <p:cNvGrpSpPr>
            <a:grpSpLocks/>
          </p:cNvGrpSpPr>
          <p:nvPr/>
        </p:nvGrpSpPr>
        <p:grpSpPr bwMode="auto">
          <a:xfrm>
            <a:off x="3733199" y="2287854"/>
            <a:ext cx="628650" cy="644128"/>
            <a:chOff x="2112" y="1161"/>
            <a:chExt cx="528" cy="541"/>
          </a:xfrm>
        </p:grpSpPr>
        <p:sp>
          <p:nvSpPr>
            <p:cNvPr id="33" name="Text Box 55"/>
            <p:cNvSpPr txBox="1">
              <a:spLocks noChangeArrowheads="1"/>
            </p:cNvSpPr>
            <p:nvPr/>
          </p:nvSpPr>
          <p:spPr bwMode="auto">
            <a:xfrm>
              <a:off x="2112" y="1161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b="1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4" name="Text Box 56"/>
            <p:cNvSpPr txBox="1">
              <a:spLocks noChangeArrowheads="1"/>
            </p:cNvSpPr>
            <p:nvPr/>
          </p:nvSpPr>
          <p:spPr bwMode="auto">
            <a:xfrm>
              <a:off x="2256" y="1161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b="1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5" name="Text Box 57"/>
            <p:cNvSpPr txBox="1">
              <a:spLocks noChangeArrowheads="1"/>
            </p:cNvSpPr>
            <p:nvPr/>
          </p:nvSpPr>
          <p:spPr bwMode="auto">
            <a:xfrm>
              <a:off x="2256" y="1353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b="1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6" name="Text Box 58"/>
            <p:cNvSpPr txBox="1">
              <a:spLocks noChangeArrowheads="1"/>
            </p:cNvSpPr>
            <p:nvPr/>
          </p:nvSpPr>
          <p:spPr bwMode="auto">
            <a:xfrm>
              <a:off x="2112" y="1344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b="1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7" name="Text Box 59"/>
            <p:cNvSpPr txBox="1">
              <a:spLocks noChangeArrowheads="1"/>
            </p:cNvSpPr>
            <p:nvPr/>
          </p:nvSpPr>
          <p:spPr bwMode="auto">
            <a:xfrm>
              <a:off x="2352" y="1257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 type="none" w="sm" len="lg"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b="1">
                  <a:solidFill>
                    <a:srgbClr val="FF0000"/>
                  </a:solidFill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32" name="Rectangle 62"/>
          <p:cNvSpPr>
            <a:spLocks noChangeArrowheads="1"/>
          </p:cNvSpPr>
          <p:nvPr/>
        </p:nvSpPr>
        <p:spPr bwMode="auto">
          <a:xfrm>
            <a:off x="5917451" y="2976254"/>
            <a:ext cx="285750" cy="1028700"/>
          </a:xfrm>
          <a:prstGeom prst="rect">
            <a:avLst/>
          </a:prstGeom>
          <a:gradFill rotWithShape="0">
            <a:gsLst>
              <a:gs pos="0">
                <a:srgbClr val="C0C0C0"/>
              </a:gs>
              <a:gs pos="50000">
                <a:schemeClr val="bg1"/>
              </a:gs>
              <a:gs pos="100000">
                <a:srgbClr val="C0C0C0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23" name="Group 64"/>
          <p:cNvGrpSpPr>
            <a:grpSpLocks/>
          </p:cNvGrpSpPr>
          <p:nvPr/>
        </p:nvGrpSpPr>
        <p:grpSpPr bwMode="auto">
          <a:xfrm>
            <a:off x="4189566" y="2520980"/>
            <a:ext cx="228600" cy="228600"/>
            <a:chOff x="5088" y="2592"/>
            <a:chExt cx="192" cy="192"/>
          </a:xfrm>
        </p:grpSpPr>
        <p:sp>
          <p:nvSpPr>
            <p:cNvPr id="29" name="Oval 65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66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67"/>
          <p:cNvGrpSpPr>
            <a:grpSpLocks/>
          </p:cNvGrpSpPr>
          <p:nvPr/>
        </p:nvGrpSpPr>
        <p:grpSpPr bwMode="auto">
          <a:xfrm>
            <a:off x="4181190" y="2511792"/>
            <a:ext cx="228600" cy="228600"/>
            <a:chOff x="5088" y="2592"/>
            <a:chExt cx="192" cy="192"/>
          </a:xfrm>
        </p:grpSpPr>
        <p:sp>
          <p:nvSpPr>
            <p:cNvPr id="27" name="Oval 68"/>
            <p:cNvSpPr>
              <a:spLocks noChangeArrowheads="1"/>
            </p:cNvSpPr>
            <p:nvPr/>
          </p:nvSpPr>
          <p:spPr bwMode="auto">
            <a:xfrm>
              <a:off x="5088" y="259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99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69"/>
            <p:cNvSpPr>
              <a:spLocks noChangeShapeType="1"/>
            </p:cNvSpPr>
            <p:nvPr/>
          </p:nvSpPr>
          <p:spPr bwMode="auto">
            <a:xfrm>
              <a:off x="5121" y="2688"/>
              <a:ext cx="1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73"/>
          <p:cNvGrpSpPr>
            <a:grpSpLocks/>
          </p:cNvGrpSpPr>
          <p:nvPr/>
        </p:nvGrpSpPr>
        <p:grpSpPr bwMode="auto">
          <a:xfrm>
            <a:off x="4146347" y="2441325"/>
            <a:ext cx="316707" cy="369094"/>
            <a:chOff x="5267" y="2768"/>
            <a:chExt cx="266" cy="310"/>
          </a:xfrm>
        </p:grpSpPr>
        <p:sp>
          <p:nvSpPr>
            <p:cNvPr id="21" name="Oval 74"/>
            <p:cNvSpPr>
              <a:spLocks noChangeArrowheads="1"/>
            </p:cNvSpPr>
            <p:nvPr/>
          </p:nvSpPr>
          <p:spPr bwMode="auto">
            <a:xfrm>
              <a:off x="5302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75"/>
            <p:cNvSpPr txBox="1">
              <a:spLocks noChangeArrowheads="1"/>
            </p:cNvSpPr>
            <p:nvPr/>
          </p:nvSpPr>
          <p:spPr bwMode="auto">
            <a:xfrm>
              <a:off x="5267" y="2768"/>
              <a:ext cx="26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itchFamily="18" charset="0"/>
                </a:rPr>
                <a:t>+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82716E-6 L 0.32622 0.0003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0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45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7 -2.46914E-6 L 0.33681 -0.0080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40" y="-40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22222E-6 1.85185E-6 L -0.0559 -0.0009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5" y="-4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-0.06945 -0.00023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7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0" name="Rectangle 46"/>
          <p:cNvSpPr>
            <a:spLocks noChangeArrowheads="1"/>
          </p:cNvSpPr>
          <p:nvPr/>
        </p:nvSpPr>
        <p:spPr bwMode="auto">
          <a:xfrm>
            <a:off x="1933575" y="1438275"/>
            <a:ext cx="5314950" cy="308610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50000">
                <a:srgbClr val="FFFFFF"/>
              </a:gs>
              <a:gs pos="100000">
                <a:srgbClr val="F2F2F2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18900000" algn="ctr" rotWithShape="0">
              <a:srgbClr val="808080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244" name="AutoShape 47"/>
          <p:cNvSpPr>
            <a:spLocks noChangeArrowheads="1"/>
          </p:cNvSpPr>
          <p:nvPr/>
        </p:nvSpPr>
        <p:spPr bwMode="auto">
          <a:xfrm>
            <a:off x="5133975" y="809625"/>
            <a:ext cx="1943100" cy="742950"/>
          </a:xfrm>
          <a:prstGeom prst="cloudCallout">
            <a:avLst>
              <a:gd name="adj1" fmla="val -57292"/>
              <a:gd name="adj2" fmla="val 46954"/>
            </a:avLst>
          </a:prstGeom>
          <a:gradFill rotWithShape="0">
            <a:gsLst>
              <a:gs pos="0">
                <a:srgbClr val="9F9FE7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kumimoji="1" lang="zh-CN" altLang="zh-CN" sz="2400" b="1">
              <a:latin typeface="Times New Roman" pitchFamily="18" charset="0"/>
            </a:endParaRPr>
          </a:p>
        </p:txBody>
      </p:sp>
      <p:graphicFrame>
        <p:nvGraphicFramePr>
          <p:cNvPr id="1024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180862"/>
              </p:ext>
            </p:extLst>
          </p:nvPr>
        </p:nvGraphicFramePr>
        <p:xfrm>
          <a:off x="2276475" y="2203847"/>
          <a:ext cx="2120504" cy="222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4" name="剪辑" r:id="rId3" imgW="2826720" imgH="3497040" progId="">
                  <p:embed/>
                </p:oleObj>
              </mc:Choice>
              <mc:Fallback>
                <p:oleObj name="剪辑" r:id="rId3" imgW="2826720" imgH="3497040" progId="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2203847"/>
                        <a:ext cx="2120504" cy="222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AutoShape 49"/>
          <p:cNvSpPr>
            <a:spLocks noChangeArrowheads="1"/>
          </p:cNvSpPr>
          <p:nvPr/>
        </p:nvSpPr>
        <p:spPr bwMode="auto">
          <a:xfrm flipH="1">
            <a:off x="3876675" y="1495425"/>
            <a:ext cx="1314450" cy="285750"/>
          </a:xfrm>
          <a:prstGeom prst="lightningBol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51"/>
          <p:cNvSpPr>
            <a:spLocks noChangeShapeType="1"/>
          </p:cNvSpPr>
          <p:nvPr/>
        </p:nvSpPr>
        <p:spPr bwMode="auto">
          <a:xfrm>
            <a:off x="3705225" y="2143125"/>
            <a:ext cx="342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52"/>
          <p:cNvSpPr>
            <a:spLocks noChangeShapeType="1"/>
          </p:cNvSpPr>
          <p:nvPr/>
        </p:nvSpPr>
        <p:spPr bwMode="auto">
          <a:xfrm>
            <a:off x="4048125" y="2124076"/>
            <a:ext cx="0" cy="22514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53"/>
          <p:cNvSpPr>
            <a:spLocks noChangeShapeType="1"/>
          </p:cNvSpPr>
          <p:nvPr/>
        </p:nvSpPr>
        <p:spPr bwMode="auto">
          <a:xfrm>
            <a:off x="3933825" y="4375547"/>
            <a:ext cx="285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54"/>
          <p:cNvSpPr>
            <a:spLocks noChangeShapeType="1"/>
          </p:cNvSpPr>
          <p:nvPr/>
        </p:nvSpPr>
        <p:spPr bwMode="auto">
          <a:xfrm flipH="1">
            <a:off x="3990975" y="4432697"/>
            <a:ext cx="171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Text Box 55"/>
          <p:cNvSpPr txBox="1">
            <a:spLocks noChangeArrowheads="1"/>
          </p:cNvSpPr>
          <p:nvPr/>
        </p:nvSpPr>
        <p:spPr bwMode="auto">
          <a:xfrm>
            <a:off x="4505325" y="3952876"/>
            <a:ext cx="2628900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1" lang="zh-CN" altLang="en-US" sz="2100" b="1">
                <a:latin typeface="Times New Roman" pitchFamily="18" charset="0"/>
              </a:rPr>
              <a:t>避雷针必须可靠接地</a:t>
            </a:r>
          </a:p>
        </p:txBody>
      </p:sp>
      <p:pic>
        <p:nvPicPr>
          <p:cNvPr id="10251" name="Picture 86" descr="QTDH18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48175" y="1227981"/>
            <a:ext cx="1353294" cy="810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91" name="Text Box 87"/>
          <p:cNvSpPr txBox="1">
            <a:spLocks noChangeArrowheads="1"/>
          </p:cNvSpPr>
          <p:nvPr/>
        </p:nvSpPr>
        <p:spPr bwMode="auto">
          <a:xfrm>
            <a:off x="5648325" y="1038225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带电云</a:t>
            </a:r>
          </a:p>
        </p:txBody>
      </p:sp>
      <p:sp>
        <p:nvSpPr>
          <p:cNvPr id="10253" name="Text Box 88"/>
          <p:cNvSpPr txBox="1">
            <a:spLocks noChangeArrowheads="1"/>
          </p:cNvSpPr>
          <p:nvPr/>
        </p:nvSpPr>
        <p:spPr bwMode="auto">
          <a:xfrm>
            <a:off x="1933575" y="660798"/>
            <a:ext cx="2686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itchFamily="18" charset="0"/>
                <a:hlinkClick r:id="rId6" action="ppaction://hlinkfile"/>
              </a:rPr>
              <a:t>避雷针的工作原理</a:t>
            </a:r>
            <a:endParaRPr kumimoji="1" lang="zh-CN" altLang="en-US" sz="2100" dirty="0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10254" name="Rectangle 89"/>
          <p:cNvSpPr>
            <a:spLocks noChangeArrowheads="1"/>
          </p:cNvSpPr>
          <p:nvPr/>
        </p:nvSpPr>
        <p:spPr bwMode="auto">
          <a:xfrm>
            <a:off x="5305425" y="92392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0255" name="Rectangle 90"/>
          <p:cNvSpPr>
            <a:spLocks noChangeArrowheads="1"/>
          </p:cNvSpPr>
          <p:nvPr/>
        </p:nvSpPr>
        <p:spPr bwMode="auto">
          <a:xfrm>
            <a:off x="5876925" y="80962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0256" name="Rectangle 91"/>
          <p:cNvSpPr>
            <a:spLocks noChangeArrowheads="1"/>
          </p:cNvSpPr>
          <p:nvPr/>
        </p:nvSpPr>
        <p:spPr bwMode="auto">
          <a:xfrm>
            <a:off x="6276975" y="75247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0257" name="Rectangle 92"/>
          <p:cNvSpPr>
            <a:spLocks noChangeArrowheads="1"/>
          </p:cNvSpPr>
          <p:nvPr/>
        </p:nvSpPr>
        <p:spPr bwMode="auto">
          <a:xfrm>
            <a:off x="6619875" y="80962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0258" name="Rectangle 93"/>
          <p:cNvSpPr>
            <a:spLocks noChangeArrowheads="1"/>
          </p:cNvSpPr>
          <p:nvPr/>
        </p:nvSpPr>
        <p:spPr bwMode="auto">
          <a:xfrm>
            <a:off x="6505575" y="1209675"/>
            <a:ext cx="28575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500" b="1">
                <a:solidFill>
                  <a:srgbClr val="333399"/>
                </a:solidFill>
                <a:latin typeface="Times New Roman" pitchFamily="18" charset="0"/>
              </a:rPr>
              <a:t>－</a:t>
            </a:r>
          </a:p>
        </p:txBody>
      </p:sp>
      <p:sp>
        <p:nvSpPr>
          <p:cNvPr id="10259" name="Rectangle 94"/>
          <p:cNvSpPr>
            <a:spLocks noChangeArrowheads="1"/>
          </p:cNvSpPr>
          <p:nvPr/>
        </p:nvSpPr>
        <p:spPr bwMode="auto">
          <a:xfrm>
            <a:off x="6162675" y="1254919"/>
            <a:ext cx="37702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500" b="1">
                <a:solidFill>
                  <a:srgbClr val="333399"/>
                </a:solidFill>
                <a:latin typeface="Times New Roman" pitchFamily="18" charset="0"/>
              </a:rPr>
              <a:t>－</a:t>
            </a:r>
          </a:p>
        </p:txBody>
      </p:sp>
      <p:sp>
        <p:nvSpPr>
          <p:cNvPr id="10260" name="Rectangle 95"/>
          <p:cNvSpPr>
            <a:spLocks noChangeArrowheads="1"/>
          </p:cNvSpPr>
          <p:nvPr/>
        </p:nvSpPr>
        <p:spPr bwMode="auto">
          <a:xfrm>
            <a:off x="5819775" y="1284685"/>
            <a:ext cx="37702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500" b="1">
                <a:solidFill>
                  <a:srgbClr val="333399"/>
                </a:solidFill>
                <a:latin typeface="Times New Roman" pitchFamily="18" charset="0"/>
              </a:rPr>
              <a:t>－</a:t>
            </a:r>
          </a:p>
        </p:txBody>
      </p:sp>
      <p:sp>
        <p:nvSpPr>
          <p:cNvPr id="10261" name="Rectangle 96"/>
          <p:cNvSpPr>
            <a:spLocks noChangeArrowheads="1"/>
          </p:cNvSpPr>
          <p:nvPr/>
        </p:nvSpPr>
        <p:spPr bwMode="auto">
          <a:xfrm>
            <a:off x="5648325" y="1381126"/>
            <a:ext cx="33855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200" b="1">
                <a:solidFill>
                  <a:srgbClr val="333399"/>
                </a:solidFill>
                <a:latin typeface="Times New Roman" pitchFamily="18" charset="0"/>
              </a:rPr>
              <a:t>－</a:t>
            </a:r>
          </a:p>
        </p:txBody>
      </p:sp>
      <p:sp>
        <p:nvSpPr>
          <p:cNvPr id="10262" name="Rectangle 97"/>
          <p:cNvSpPr>
            <a:spLocks noChangeArrowheads="1"/>
          </p:cNvSpPr>
          <p:nvPr/>
        </p:nvSpPr>
        <p:spPr bwMode="auto">
          <a:xfrm>
            <a:off x="5476875" y="1266825"/>
            <a:ext cx="37702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500" b="1">
                <a:solidFill>
                  <a:srgbClr val="333399"/>
                </a:solidFill>
                <a:latin typeface="Times New Roman" pitchFamily="18" charset="0"/>
              </a:rPr>
              <a:t>－</a:t>
            </a:r>
          </a:p>
        </p:txBody>
      </p:sp>
      <p:sp>
        <p:nvSpPr>
          <p:cNvPr id="10263" name="Rectangle 98"/>
          <p:cNvSpPr>
            <a:spLocks noChangeArrowheads="1"/>
          </p:cNvSpPr>
          <p:nvPr/>
        </p:nvSpPr>
        <p:spPr bwMode="auto">
          <a:xfrm>
            <a:off x="3705225" y="155257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0264" name="Line 99"/>
          <p:cNvSpPr>
            <a:spLocks noChangeShapeType="1"/>
          </p:cNvSpPr>
          <p:nvPr/>
        </p:nvSpPr>
        <p:spPr bwMode="auto">
          <a:xfrm rot="16200000">
            <a:off x="3448050" y="1981200"/>
            <a:ext cx="514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lg"/>
            <a:tailEnd type="diamond" w="sm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0265" name="Rectangle 100"/>
          <p:cNvSpPr>
            <a:spLocks noChangeArrowheads="1"/>
          </p:cNvSpPr>
          <p:nvPr/>
        </p:nvSpPr>
        <p:spPr bwMode="auto">
          <a:xfrm>
            <a:off x="3705225" y="178117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0266" name="Rectangle 101"/>
          <p:cNvSpPr>
            <a:spLocks noChangeArrowheads="1"/>
          </p:cNvSpPr>
          <p:nvPr/>
        </p:nvSpPr>
        <p:spPr bwMode="auto">
          <a:xfrm>
            <a:off x="5133975" y="1475185"/>
            <a:ext cx="4171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99"/>
                </a:solidFill>
                <a:latin typeface="Times New Roman" pitchFamily="18" charset="0"/>
              </a:rPr>
              <a:t>－</a:t>
            </a:r>
          </a:p>
        </p:txBody>
      </p:sp>
      <p:sp>
        <p:nvSpPr>
          <p:cNvPr id="10267" name="Rectangle 103"/>
          <p:cNvSpPr>
            <a:spLocks noChangeArrowheads="1"/>
          </p:cNvSpPr>
          <p:nvPr/>
        </p:nvSpPr>
        <p:spPr bwMode="auto">
          <a:xfrm>
            <a:off x="5591175" y="866775"/>
            <a:ext cx="3161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0270" name="灯片编号占位符 1"/>
          <p:cNvSpPr txBox="1">
            <a:spLocks noGrp="1" noChangeArrowheads="1"/>
          </p:cNvSpPr>
          <p:nvPr/>
        </p:nvSpPr>
        <p:spPr bwMode="auto">
          <a:xfrm>
            <a:off x="7469981" y="4869656"/>
            <a:ext cx="16002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E5D2A35C-F2B4-4B8C-9754-C61D20FBD4CA}" type="slidenum">
              <a:rPr lang="zh-CN" altLang="en-US" sz="1050" b="1">
                <a:latin typeface="Calibri" pitchFamily="34" charset="0"/>
              </a:rPr>
              <a:pPr algn="r"/>
              <a:t>13</a:t>
            </a:fld>
            <a:endParaRPr lang="en-US" altLang="zh-CN" sz="105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1" name="Text Box 33"/>
          <p:cNvSpPr txBox="1">
            <a:spLocks noChangeArrowheads="1"/>
          </p:cNvSpPr>
          <p:nvPr/>
        </p:nvSpPr>
        <p:spPr bwMode="auto">
          <a:xfrm>
            <a:off x="478154" y="203434"/>
            <a:ext cx="2981325" cy="476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宋体" pitchFamily="2" charset="-122"/>
              </a:rPr>
              <a:t>三、</a:t>
            </a:r>
            <a:r>
              <a:rPr lang="zh-CN" altLang="en-US" sz="2400" b="1" dirty="0">
                <a:solidFill>
                  <a:srgbClr val="CC0000"/>
                </a:solidFill>
                <a:latin typeface="宋体" pitchFamily="2" charset="-122"/>
                <a:hlinkClick r:id="rId2" action="ppaction://hlinkfile"/>
              </a:rPr>
              <a:t>静电屏蔽</a:t>
            </a:r>
            <a:endParaRPr lang="zh-CN" altLang="en-US" sz="2400" b="1" dirty="0">
              <a:solidFill>
                <a:srgbClr val="CC0000"/>
              </a:solidFill>
              <a:latin typeface="宋体" pitchFamily="2" charset="-122"/>
            </a:endParaRPr>
          </a:p>
        </p:txBody>
      </p:sp>
      <p:sp>
        <p:nvSpPr>
          <p:cNvPr id="22573" name="Text Box 45"/>
          <p:cNvSpPr txBox="1">
            <a:spLocks noChangeArrowheads="1"/>
          </p:cNvSpPr>
          <p:nvPr/>
        </p:nvSpPr>
        <p:spPr bwMode="auto">
          <a:xfrm>
            <a:off x="1087754" y="1336829"/>
            <a:ext cx="4743450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lang="en-US" altLang="zh-CN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. </a:t>
            </a:r>
            <a:r>
              <a:rPr lang="zh-CN" altLang="en-US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第一类空腔（腔内无带电体）</a:t>
            </a:r>
          </a:p>
        </p:txBody>
      </p:sp>
      <p:sp>
        <p:nvSpPr>
          <p:cNvPr id="22605" name="Text Box 77"/>
          <p:cNvSpPr txBox="1">
            <a:spLocks noChangeArrowheads="1"/>
          </p:cNvSpPr>
          <p:nvPr/>
        </p:nvSpPr>
        <p:spPr bwMode="auto">
          <a:xfrm>
            <a:off x="2586752" y="208720"/>
            <a:ext cx="6346031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在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静电场中，因导体的存在使某些特定的区域不受电场影响的现象称为</a:t>
            </a: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  <a:hlinkClick r:id="rId3" action="ppaction://hlinkfile"/>
              </a:rPr>
              <a:t>静电屏蔽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。</a:t>
            </a:r>
            <a:endParaRPr lang="en-US" altLang="zh-CN" sz="2100" b="1" dirty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2606" name="Text Box 78"/>
          <p:cNvSpPr txBox="1">
            <a:spLocks noChangeArrowheads="1"/>
          </p:cNvSpPr>
          <p:nvPr/>
        </p:nvSpPr>
        <p:spPr bwMode="auto">
          <a:xfrm>
            <a:off x="1215190" y="3993356"/>
            <a:ext cx="6735278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   </a:t>
            </a:r>
            <a:r>
              <a:rPr kumimoji="1" lang="zh-CN" altLang="en-US" sz="2100" b="1" dirty="0"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腔外带电体</a:t>
            </a:r>
            <a:r>
              <a:rPr kumimoji="1" lang="zh-CN" altLang="en-US" sz="2100" b="1" dirty="0">
                <a:latin typeface="Times New Roman" pitchFamily="18" charset="0"/>
                <a:ea typeface="宋体" charset="-122"/>
                <a:sym typeface="Symbol" pitchFamily="18" charset="2"/>
              </a:rPr>
              <a:t>与腔</a:t>
            </a:r>
            <a:r>
              <a:rPr kumimoji="1" lang="zh-CN" altLang="en-US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外表面电荷</a:t>
            </a:r>
            <a:r>
              <a:rPr kumimoji="1" lang="zh-CN" altLang="en-US" sz="2100" b="1" dirty="0">
                <a:latin typeface="Times New Roman" pitchFamily="18" charset="0"/>
                <a:ea typeface="宋体" charset="-122"/>
                <a:sym typeface="Symbol" pitchFamily="18" charset="2"/>
              </a:rPr>
              <a:t>在腔内场强</a:t>
            </a:r>
            <a:r>
              <a:rPr kumimoji="1" lang="zh-CN" altLang="en-US" sz="2100" b="1" dirty="0">
                <a:solidFill>
                  <a:srgbClr val="0000FF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总贡献为零，</a:t>
            </a:r>
            <a:r>
              <a:rPr kumimoji="1" lang="zh-CN" altLang="en-US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这是静电屏蔽的含义。</a:t>
            </a:r>
          </a:p>
        </p:txBody>
      </p:sp>
      <p:sp>
        <p:nvSpPr>
          <p:cNvPr id="22563" name="AutoShape 35"/>
          <p:cNvSpPr>
            <a:spLocks noChangeArrowheads="1"/>
          </p:cNvSpPr>
          <p:nvPr/>
        </p:nvSpPr>
        <p:spPr bwMode="auto">
          <a:xfrm>
            <a:off x="2542699" y="2228850"/>
            <a:ext cx="1295400" cy="1295400"/>
          </a:xfrm>
          <a:custGeom>
            <a:avLst/>
            <a:gdLst>
              <a:gd name="G0" fmla="+- 3482 0 0"/>
              <a:gd name="G1" fmla="+- 21600 0 3482"/>
              <a:gd name="G2" fmla="+- 21600 0 3482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482" y="10800"/>
                </a:moveTo>
                <a:cubicBezTo>
                  <a:pt x="3482" y="14842"/>
                  <a:pt x="6758" y="18118"/>
                  <a:pt x="10800" y="18118"/>
                </a:cubicBezTo>
                <a:cubicBezTo>
                  <a:pt x="14842" y="18118"/>
                  <a:pt x="18118" y="14842"/>
                  <a:pt x="18118" y="10800"/>
                </a:cubicBezTo>
                <a:cubicBezTo>
                  <a:pt x="18118" y="6758"/>
                  <a:pt x="14842" y="3482"/>
                  <a:pt x="10800" y="3482"/>
                </a:cubicBezTo>
                <a:cubicBezTo>
                  <a:pt x="6758" y="3482"/>
                  <a:pt x="3482" y="6758"/>
                  <a:pt x="3482" y="10800"/>
                </a:cubicBezTo>
                <a:close/>
              </a:path>
            </a:pathLst>
          </a:custGeom>
          <a:solidFill>
            <a:srgbClr val="969696"/>
          </a:solidFill>
          <a:ln w="9525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endParaRPr lang="zh-CN" altLang="en-US" sz="210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" name="Group 134"/>
          <p:cNvGrpSpPr>
            <a:grpSpLocks/>
          </p:cNvGrpSpPr>
          <p:nvPr/>
        </p:nvGrpSpPr>
        <p:grpSpPr bwMode="auto">
          <a:xfrm>
            <a:off x="1968817" y="2085975"/>
            <a:ext cx="2463404" cy="1585913"/>
            <a:chOff x="3560" y="1168"/>
            <a:chExt cx="2069" cy="1332"/>
          </a:xfrm>
        </p:grpSpPr>
        <p:sp>
          <p:nvSpPr>
            <p:cNvPr id="22612" name="Line 84"/>
            <p:cNvSpPr>
              <a:spLocks noChangeShapeType="1"/>
            </p:cNvSpPr>
            <p:nvPr/>
          </p:nvSpPr>
          <p:spPr bwMode="auto">
            <a:xfrm>
              <a:off x="4108" y="1423"/>
              <a:ext cx="76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13" name="Line 85"/>
            <p:cNvSpPr>
              <a:spLocks noChangeShapeType="1"/>
            </p:cNvSpPr>
            <p:nvPr/>
          </p:nvSpPr>
          <p:spPr bwMode="auto">
            <a:xfrm>
              <a:off x="3966" y="1621"/>
              <a:ext cx="7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14" name="Line 86"/>
            <p:cNvSpPr>
              <a:spLocks noChangeShapeType="1"/>
            </p:cNvSpPr>
            <p:nvPr/>
          </p:nvSpPr>
          <p:spPr bwMode="auto">
            <a:xfrm>
              <a:off x="3948" y="1877"/>
              <a:ext cx="7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16" name="Line 88"/>
            <p:cNvSpPr>
              <a:spLocks noChangeShapeType="1"/>
            </p:cNvSpPr>
            <p:nvPr/>
          </p:nvSpPr>
          <p:spPr bwMode="auto">
            <a:xfrm>
              <a:off x="4079" y="2188"/>
              <a:ext cx="76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3" name="Group 98"/>
            <p:cNvGrpSpPr>
              <a:grpSpLocks/>
            </p:cNvGrpSpPr>
            <p:nvPr/>
          </p:nvGrpSpPr>
          <p:grpSpPr bwMode="auto">
            <a:xfrm>
              <a:off x="5043" y="1395"/>
              <a:ext cx="75" cy="66"/>
              <a:chOff x="2688" y="2544"/>
              <a:chExt cx="96" cy="96"/>
            </a:xfrm>
          </p:grpSpPr>
          <p:sp>
            <p:nvSpPr>
              <p:cNvPr id="22627" name="Line 99"/>
              <p:cNvSpPr>
                <a:spLocks noChangeShapeType="1"/>
              </p:cNvSpPr>
              <p:nvPr/>
            </p:nvSpPr>
            <p:spPr bwMode="auto">
              <a:xfrm>
                <a:off x="2688" y="259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628" name="Line 100"/>
              <p:cNvSpPr>
                <a:spLocks noChangeShapeType="1"/>
              </p:cNvSpPr>
              <p:nvPr/>
            </p:nvSpPr>
            <p:spPr bwMode="auto">
              <a:xfrm>
                <a:off x="2736" y="2544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" name="Group 101"/>
            <p:cNvGrpSpPr>
              <a:grpSpLocks/>
            </p:cNvGrpSpPr>
            <p:nvPr/>
          </p:nvGrpSpPr>
          <p:grpSpPr bwMode="auto">
            <a:xfrm>
              <a:off x="5157" y="1678"/>
              <a:ext cx="76" cy="66"/>
              <a:chOff x="2688" y="2544"/>
              <a:chExt cx="96" cy="96"/>
            </a:xfrm>
          </p:grpSpPr>
          <p:sp>
            <p:nvSpPr>
              <p:cNvPr id="22630" name="Line 102"/>
              <p:cNvSpPr>
                <a:spLocks noChangeShapeType="1"/>
              </p:cNvSpPr>
              <p:nvPr/>
            </p:nvSpPr>
            <p:spPr bwMode="auto">
              <a:xfrm>
                <a:off x="2688" y="259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631" name="Line 103"/>
              <p:cNvSpPr>
                <a:spLocks noChangeShapeType="1"/>
              </p:cNvSpPr>
              <p:nvPr/>
            </p:nvSpPr>
            <p:spPr bwMode="auto">
              <a:xfrm>
                <a:off x="2736" y="2544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5" name="Group 104"/>
            <p:cNvGrpSpPr>
              <a:grpSpLocks/>
            </p:cNvGrpSpPr>
            <p:nvPr/>
          </p:nvGrpSpPr>
          <p:grpSpPr bwMode="auto">
            <a:xfrm>
              <a:off x="5128" y="1962"/>
              <a:ext cx="76" cy="65"/>
              <a:chOff x="2688" y="2544"/>
              <a:chExt cx="96" cy="96"/>
            </a:xfrm>
          </p:grpSpPr>
          <p:sp>
            <p:nvSpPr>
              <p:cNvPr id="22633" name="Line 105"/>
              <p:cNvSpPr>
                <a:spLocks noChangeShapeType="1"/>
              </p:cNvSpPr>
              <p:nvPr/>
            </p:nvSpPr>
            <p:spPr bwMode="auto">
              <a:xfrm>
                <a:off x="2688" y="259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634" name="Line 106"/>
              <p:cNvSpPr>
                <a:spLocks noChangeShapeType="1"/>
              </p:cNvSpPr>
              <p:nvPr/>
            </p:nvSpPr>
            <p:spPr bwMode="auto">
              <a:xfrm>
                <a:off x="2736" y="2544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22637" name="Freeform 109"/>
            <p:cNvSpPr>
              <a:spLocks/>
            </p:cNvSpPr>
            <p:nvPr/>
          </p:nvSpPr>
          <p:spPr bwMode="auto">
            <a:xfrm>
              <a:off x="3616" y="1168"/>
              <a:ext cx="1815" cy="57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360" y="36"/>
                </a:cxn>
                <a:cxn ang="0">
                  <a:pos x="532" y="52"/>
                </a:cxn>
                <a:cxn ang="0">
                  <a:pos x="696" y="84"/>
                </a:cxn>
                <a:cxn ang="0">
                  <a:pos x="824" y="124"/>
                </a:cxn>
                <a:cxn ang="0">
                  <a:pos x="912" y="160"/>
                </a:cxn>
                <a:cxn ang="0">
                  <a:pos x="996" y="160"/>
                </a:cxn>
                <a:cxn ang="0">
                  <a:pos x="1076" y="140"/>
                </a:cxn>
                <a:cxn ang="0">
                  <a:pos x="1220" y="92"/>
                </a:cxn>
                <a:cxn ang="0">
                  <a:pos x="1384" y="60"/>
                </a:cxn>
                <a:cxn ang="0">
                  <a:pos x="1556" y="32"/>
                </a:cxn>
                <a:cxn ang="0">
                  <a:pos x="1924" y="0"/>
                </a:cxn>
              </a:cxnLst>
              <a:rect l="0" t="0" r="r" b="b"/>
              <a:pathLst>
                <a:path w="1924" h="160">
                  <a:moveTo>
                    <a:pt x="0" y="6"/>
                  </a:moveTo>
                  <a:lnTo>
                    <a:pt x="360" y="36"/>
                  </a:lnTo>
                  <a:lnTo>
                    <a:pt x="532" y="52"/>
                  </a:lnTo>
                  <a:lnTo>
                    <a:pt x="696" y="84"/>
                  </a:lnTo>
                  <a:lnTo>
                    <a:pt x="824" y="124"/>
                  </a:lnTo>
                  <a:lnTo>
                    <a:pt x="912" y="160"/>
                  </a:lnTo>
                  <a:lnTo>
                    <a:pt x="996" y="160"/>
                  </a:lnTo>
                  <a:lnTo>
                    <a:pt x="1076" y="140"/>
                  </a:lnTo>
                  <a:lnTo>
                    <a:pt x="1220" y="92"/>
                  </a:lnTo>
                  <a:lnTo>
                    <a:pt x="1384" y="60"/>
                  </a:lnTo>
                  <a:lnTo>
                    <a:pt x="1556" y="32"/>
                  </a:lnTo>
                  <a:lnTo>
                    <a:pt x="1924" y="0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38" name="Freeform 110"/>
            <p:cNvSpPr>
              <a:spLocks/>
            </p:cNvSpPr>
            <p:nvPr/>
          </p:nvSpPr>
          <p:spPr bwMode="auto">
            <a:xfrm>
              <a:off x="3617" y="1253"/>
              <a:ext cx="624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3"/>
                </a:cxn>
                <a:cxn ang="0">
                  <a:pos x="416" y="43"/>
                </a:cxn>
                <a:cxn ang="0">
                  <a:pos x="596" y="83"/>
                </a:cxn>
                <a:cxn ang="0">
                  <a:pos x="744" y="131"/>
                </a:cxn>
                <a:cxn ang="0">
                  <a:pos x="816" y="171"/>
                </a:cxn>
                <a:cxn ang="0">
                  <a:pos x="876" y="239"/>
                </a:cxn>
              </a:cxnLst>
              <a:rect l="0" t="0" r="r" b="b"/>
              <a:pathLst>
                <a:path w="876" h="239">
                  <a:moveTo>
                    <a:pt x="0" y="0"/>
                  </a:moveTo>
                  <a:lnTo>
                    <a:pt x="240" y="23"/>
                  </a:lnTo>
                  <a:lnTo>
                    <a:pt x="416" y="43"/>
                  </a:lnTo>
                  <a:lnTo>
                    <a:pt x="596" y="83"/>
                  </a:lnTo>
                  <a:lnTo>
                    <a:pt x="744" y="131"/>
                  </a:lnTo>
                  <a:lnTo>
                    <a:pt x="816" y="171"/>
                  </a:lnTo>
                  <a:lnTo>
                    <a:pt x="876" y="239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41" name="Freeform 113"/>
            <p:cNvSpPr>
              <a:spLocks/>
            </p:cNvSpPr>
            <p:nvPr/>
          </p:nvSpPr>
          <p:spPr bwMode="auto">
            <a:xfrm>
              <a:off x="3572" y="1534"/>
              <a:ext cx="499" cy="5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84" y="0"/>
                </a:cxn>
                <a:cxn ang="0">
                  <a:pos x="408" y="24"/>
                </a:cxn>
                <a:cxn ang="0">
                  <a:pos x="612" y="84"/>
                </a:cxn>
              </a:cxnLst>
              <a:rect l="0" t="0" r="r" b="b"/>
              <a:pathLst>
                <a:path w="612" h="84">
                  <a:moveTo>
                    <a:pt x="0" y="1"/>
                  </a:moveTo>
                  <a:lnTo>
                    <a:pt x="184" y="0"/>
                  </a:lnTo>
                  <a:lnTo>
                    <a:pt x="408" y="24"/>
                  </a:lnTo>
                  <a:lnTo>
                    <a:pt x="612" y="84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42" name="Freeform 114"/>
            <p:cNvSpPr>
              <a:spLocks/>
            </p:cNvSpPr>
            <p:nvPr/>
          </p:nvSpPr>
          <p:spPr bwMode="auto">
            <a:xfrm flipV="1">
              <a:off x="3589" y="1982"/>
              <a:ext cx="444" cy="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64" y="0"/>
                </a:cxn>
                <a:cxn ang="0">
                  <a:pos x="368" y="12"/>
                </a:cxn>
                <a:cxn ang="0">
                  <a:pos x="544" y="52"/>
                </a:cxn>
              </a:cxnLst>
              <a:rect l="0" t="0" r="r" b="b"/>
              <a:pathLst>
                <a:path w="544" h="52">
                  <a:moveTo>
                    <a:pt x="0" y="3"/>
                  </a:moveTo>
                  <a:lnTo>
                    <a:pt x="164" y="0"/>
                  </a:lnTo>
                  <a:lnTo>
                    <a:pt x="368" y="12"/>
                  </a:lnTo>
                  <a:lnTo>
                    <a:pt x="544" y="52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43" name="Freeform 115"/>
            <p:cNvSpPr>
              <a:spLocks/>
            </p:cNvSpPr>
            <p:nvPr/>
          </p:nvSpPr>
          <p:spPr bwMode="auto">
            <a:xfrm>
              <a:off x="3589" y="1763"/>
              <a:ext cx="392" cy="9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44" y="0"/>
                </a:cxn>
                <a:cxn ang="0">
                  <a:pos x="480" y="12"/>
                </a:cxn>
              </a:cxnLst>
              <a:rect l="0" t="0" r="r" b="b"/>
              <a:pathLst>
                <a:path w="480" h="12">
                  <a:moveTo>
                    <a:pt x="0" y="9"/>
                  </a:moveTo>
                  <a:lnTo>
                    <a:pt x="144" y="0"/>
                  </a:lnTo>
                  <a:lnTo>
                    <a:pt x="480" y="12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44" name="Freeform 116"/>
            <p:cNvSpPr>
              <a:spLocks/>
            </p:cNvSpPr>
            <p:nvPr/>
          </p:nvSpPr>
          <p:spPr bwMode="auto">
            <a:xfrm>
              <a:off x="3617" y="2415"/>
              <a:ext cx="1956" cy="85"/>
            </a:xfrm>
            <a:custGeom>
              <a:avLst/>
              <a:gdLst/>
              <a:ahLst/>
              <a:cxnLst>
                <a:cxn ang="0">
                  <a:pos x="0" y="128"/>
                </a:cxn>
                <a:cxn ang="0">
                  <a:pos x="172" y="124"/>
                </a:cxn>
                <a:cxn ang="0">
                  <a:pos x="360" y="112"/>
                </a:cxn>
                <a:cxn ang="0">
                  <a:pos x="580" y="88"/>
                </a:cxn>
                <a:cxn ang="0">
                  <a:pos x="752" y="52"/>
                </a:cxn>
                <a:cxn ang="0">
                  <a:pos x="880" y="24"/>
                </a:cxn>
                <a:cxn ang="0">
                  <a:pos x="956" y="0"/>
                </a:cxn>
                <a:cxn ang="0">
                  <a:pos x="1032" y="8"/>
                </a:cxn>
                <a:cxn ang="0">
                  <a:pos x="1124" y="44"/>
                </a:cxn>
                <a:cxn ang="0">
                  <a:pos x="1268" y="72"/>
                </a:cxn>
                <a:cxn ang="0">
                  <a:pos x="1532" y="100"/>
                </a:cxn>
                <a:cxn ang="0">
                  <a:pos x="1924" y="136"/>
                </a:cxn>
              </a:cxnLst>
              <a:rect l="0" t="0" r="r" b="b"/>
              <a:pathLst>
                <a:path w="1924" h="136">
                  <a:moveTo>
                    <a:pt x="0" y="128"/>
                  </a:moveTo>
                  <a:lnTo>
                    <a:pt x="172" y="124"/>
                  </a:lnTo>
                  <a:lnTo>
                    <a:pt x="360" y="112"/>
                  </a:lnTo>
                  <a:lnTo>
                    <a:pt x="580" y="88"/>
                  </a:lnTo>
                  <a:lnTo>
                    <a:pt x="752" y="52"/>
                  </a:lnTo>
                  <a:lnTo>
                    <a:pt x="880" y="24"/>
                  </a:lnTo>
                  <a:lnTo>
                    <a:pt x="956" y="0"/>
                  </a:lnTo>
                  <a:lnTo>
                    <a:pt x="1032" y="8"/>
                  </a:lnTo>
                  <a:lnTo>
                    <a:pt x="1124" y="44"/>
                  </a:lnTo>
                  <a:lnTo>
                    <a:pt x="1268" y="72"/>
                  </a:lnTo>
                  <a:lnTo>
                    <a:pt x="1532" y="100"/>
                  </a:lnTo>
                  <a:lnTo>
                    <a:pt x="1924" y="136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46" name="Freeform 118"/>
            <p:cNvSpPr>
              <a:spLocks/>
            </p:cNvSpPr>
            <p:nvPr/>
          </p:nvSpPr>
          <p:spPr bwMode="auto">
            <a:xfrm>
              <a:off x="4950" y="1310"/>
              <a:ext cx="587" cy="113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80" y="136"/>
                </a:cxn>
                <a:cxn ang="0">
                  <a:pos x="152" y="100"/>
                </a:cxn>
                <a:cxn ang="0">
                  <a:pos x="264" y="68"/>
                </a:cxn>
                <a:cxn ang="0">
                  <a:pos x="368" y="48"/>
                </a:cxn>
                <a:cxn ang="0">
                  <a:pos x="484" y="32"/>
                </a:cxn>
                <a:cxn ang="0">
                  <a:pos x="836" y="0"/>
                </a:cxn>
              </a:cxnLst>
              <a:rect l="0" t="0" r="r" b="b"/>
              <a:pathLst>
                <a:path w="836" h="192">
                  <a:moveTo>
                    <a:pt x="0" y="192"/>
                  </a:moveTo>
                  <a:lnTo>
                    <a:pt x="80" y="136"/>
                  </a:lnTo>
                  <a:lnTo>
                    <a:pt x="152" y="100"/>
                  </a:lnTo>
                  <a:lnTo>
                    <a:pt x="264" y="68"/>
                  </a:lnTo>
                  <a:lnTo>
                    <a:pt x="368" y="48"/>
                  </a:lnTo>
                  <a:lnTo>
                    <a:pt x="484" y="32"/>
                  </a:lnTo>
                  <a:lnTo>
                    <a:pt x="836" y="0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49" name="Freeform 121"/>
            <p:cNvSpPr>
              <a:spLocks/>
            </p:cNvSpPr>
            <p:nvPr/>
          </p:nvSpPr>
          <p:spPr bwMode="auto">
            <a:xfrm>
              <a:off x="5120" y="1565"/>
              <a:ext cx="427" cy="33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56" y="32"/>
                </a:cxn>
                <a:cxn ang="0">
                  <a:pos x="620" y="0"/>
                </a:cxn>
              </a:cxnLst>
              <a:rect l="0" t="0" r="r" b="b"/>
              <a:pathLst>
                <a:path w="620" h="72">
                  <a:moveTo>
                    <a:pt x="0" y="72"/>
                  </a:moveTo>
                  <a:lnTo>
                    <a:pt x="256" y="32"/>
                  </a:lnTo>
                  <a:lnTo>
                    <a:pt x="620" y="0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50" name="Freeform 122"/>
            <p:cNvSpPr>
              <a:spLocks/>
            </p:cNvSpPr>
            <p:nvPr/>
          </p:nvSpPr>
          <p:spPr bwMode="auto">
            <a:xfrm>
              <a:off x="5176" y="1763"/>
              <a:ext cx="369" cy="28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560" y="0"/>
                </a:cxn>
              </a:cxnLst>
              <a:rect l="0" t="0" r="r" b="b"/>
              <a:pathLst>
                <a:path w="560" h="20">
                  <a:moveTo>
                    <a:pt x="0" y="20"/>
                  </a:moveTo>
                  <a:lnTo>
                    <a:pt x="560" y="0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52" name="Freeform 124"/>
            <p:cNvSpPr>
              <a:spLocks/>
            </p:cNvSpPr>
            <p:nvPr/>
          </p:nvSpPr>
          <p:spPr bwMode="auto">
            <a:xfrm>
              <a:off x="5148" y="1933"/>
              <a:ext cx="397" cy="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2" y="30"/>
                </a:cxn>
                <a:cxn ang="0">
                  <a:pos x="282" y="54"/>
                </a:cxn>
                <a:cxn ang="0">
                  <a:pos x="460" y="77"/>
                </a:cxn>
                <a:cxn ang="0">
                  <a:pos x="684" y="100"/>
                </a:cxn>
              </a:cxnLst>
              <a:rect l="0" t="0" r="r" b="b"/>
              <a:pathLst>
                <a:path w="684" h="100">
                  <a:moveTo>
                    <a:pt x="0" y="0"/>
                  </a:moveTo>
                  <a:lnTo>
                    <a:pt x="142" y="30"/>
                  </a:lnTo>
                  <a:lnTo>
                    <a:pt x="282" y="54"/>
                  </a:lnTo>
                  <a:lnTo>
                    <a:pt x="460" y="77"/>
                  </a:lnTo>
                  <a:lnTo>
                    <a:pt x="684" y="100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653" name="Freeform 125"/>
            <p:cNvSpPr>
              <a:spLocks/>
            </p:cNvSpPr>
            <p:nvPr/>
          </p:nvSpPr>
          <p:spPr bwMode="auto">
            <a:xfrm>
              <a:off x="5006" y="2188"/>
              <a:ext cx="623" cy="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0" y="28"/>
                </a:cxn>
                <a:cxn ang="0">
                  <a:pos x="240" y="60"/>
                </a:cxn>
                <a:cxn ang="0">
                  <a:pos x="420" y="84"/>
                </a:cxn>
                <a:cxn ang="0">
                  <a:pos x="764" y="124"/>
                </a:cxn>
              </a:cxnLst>
              <a:rect l="0" t="0" r="r" b="b"/>
              <a:pathLst>
                <a:path w="764" h="124">
                  <a:moveTo>
                    <a:pt x="0" y="0"/>
                  </a:moveTo>
                  <a:lnTo>
                    <a:pt x="80" y="28"/>
                  </a:lnTo>
                  <a:lnTo>
                    <a:pt x="240" y="60"/>
                  </a:lnTo>
                  <a:lnTo>
                    <a:pt x="420" y="84"/>
                  </a:lnTo>
                  <a:lnTo>
                    <a:pt x="764" y="124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6" name="Group 130"/>
            <p:cNvGrpSpPr>
              <a:grpSpLocks/>
            </p:cNvGrpSpPr>
            <p:nvPr/>
          </p:nvGrpSpPr>
          <p:grpSpPr bwMode="auto">
            <a:xfrm>
              <a:off x="4986" y="2208"/>
              <a:ext cx="76" cy="65"/>
              <a:chOff x="2688" y="2544"/>
              <a:chExt cx="96" cy="96"/>
            </a:xfrm>
          </p:grpSpPr>
          <p:sp>
            <p:nvSpPr>
              <p:cNvPr id="22659" name="Line 131"/>
              <p:cNvSpPr>
                <a:spLocks noChangeShapeType="1"/>
              </p:cNvSpPr>
              <p:nvPr/>
            </p:nvSpPr>
            <p:spPr bwMode="auto">
              <a:xfrm>
                <a:off x="2688" y="259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660" name="Line 132"/>
              <p:cNvSpPr>
                <a:spLocks noChangeShapeType="1"/>
              </p:cNvSpPr>
              <p:nvPr/>
            </p:nvSpPr>
            <p:spPr bwMode="auto">
              <a:xfrm>
                <a:off x="2736" y="2544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22661" name="Freeform 133"/>
            <p:cNvSpPr>
              <a:spLocks/>
            </p:cNvSpPr>
            <p:nvPr/>
          </p:nvSpPr>
          <p:spPr bwMode="auto">
            <a:xfrm flipV="1">
              <a:off x="3560" y="2217"/>
              <a:ext cx="596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3"/>
                </a:cxn>
                <a:cxn ang="0">
                  <a:pos x="416" y="43"/>
                </a:cxn>
                <a:cxn ang="0">
                  <a:pos x="596" y="83"/>
                </a:cxn>
                <a:cxn ang="0">
                  <a:pos x="744" y="131"/>
                </a:cxn>
                <a:cxn ang="0">
                  <a:pos x="816" y="171"/>
                </a:cxn>
                <a:cxn ang="0">
                  <a:pos x="876" y="239"/>
                </a:cxn>
              </a:cxnLst>
              <a:rect l="0" t="0" r="r" b="b"/>
              <a:pathLst>
                <a:path w="876" h="239">
                  <a:moveTo>
                    <a:pt x="0" y="0"/>
                  </a:moveTo>
                  <a:lnTo>
                    <a:pt x="240" y="23"/>
                  </a:lnTo>
                  <a:lnTo>
                    <a:pt x="416" y="43"/>
                  </a:lnTo>
                  <a:lnTo>
                    <a:pt x="596" y="83"/>
                  </a:lnTo>
                  <a:lnTo>
                    <a:pt x="744" y="131"/>
                  </a:lnTo>
                  <a:lnTo>
                    <a:pt x="816" y="171"/>
                  </a:lnTo>
                  <a:lnTo>
                    <a:pt x="876" y="239"/>
                  </a:lnTo>
                </a:path>
              </a:pathLst>
            </a:custGeom>
            <a:noFill/>
            <a:ln w="15875" cmpd="sng">
              <a:solidFill>
                <a:srgbClr val="009900"/>
              </a:solidFill>
              <a:round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239000" y="4842712"/>
            <a:ext cx="1905000" cy="342900"/>
          </a:xfrm>
        </p:spPr>
        <p:txBody>
          <a:bodyPr/>
          <a:lstStyle/>
          <a:p>
            <a:fld id="{AE7E5495-FB17-4743-98B2-732EA470C315}" type="slidenum">
              <a:rPr lang="zh-CN" altLang="en-US" smtClean="0">
                <a:solidFill>
                  <a:srgbClr val="578963"/>
                </a:solidFill>
              </a:rPr>
              <a:pPr/>
              <a:t>14</a:t>
            </a:fld>
            <a:endParaRPr lang="en-US" altLang="zh-CN">
              <a:solidFill>
                <a:srgbClr val="578963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94" y="1922860"/>
            <a:ext cx="2581275" cy="18859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73" grpId="0" autoUpdateAnimBg="0"/>
      <p:bldP spid="22605" grpId="0" autoUpdateAnimBg="0"/>
      <p:bldP spid="22606" grpId="0"/>
      <p:bldP spid="2256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765161" y="320649"/>
            <a:ext cx="4029075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. </a:t>
            </a:r>
            <a:r>
              <a:rPr lang="zh-CN" altLang="en-US" sz="2100" b="1" dirty="0">
                <a:solidFill>
                  <a:srgbClr val="990000"/>
                </a:solidFill>
                <a:latin typeface="Times New Roman" pitchFamily="18" charset="0"/>
                <a:ea typeface="宋体" charset="-122"/>
              </a:rPr>
              <a:t>第二类空腔（腔内有带电体）</a:t>
            </a:r>
          </a:p>
        </p:txBody>
      </p:sp>
      <p:sp>
        <p:nvSpPr>
          <p:cNvPr id="9447" name="AutoShape 231"/>
          <p:cNvSpPr>
            <a:spLocks noChangeArrowheads="1"/>
          </p:cNvSpPr>
          <p:nvPr/>
        </p:nvSpPr>
        <p:spPr bwMode="auto">
          <a:xfrm>
            <a:off x="1664083" y="1309926"/>
            <a:ext cx="2078831" cy="1924050"/>
          </a:xfrm>
          <a:custGeom>
            <a:avLst/>
            <a:gdLst>
              <a:gd name="G0" fmla="+- 3482 0 0"/>
              <a:gd name="G1" fmla="+- 21600 0 3482"/>
              <a:gd name="G2" fmla="+- 21600 0 3482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482" y="10800"/>
                </a:moveTo>
                <a:cubicBezTo>
                  <a:pt x="3482" y="14842"/>
                  <a:pt x="6758" y="18118"/>
                  <a:pt x="10800" y="18118"/>
                </a:cubicBezTo>
                <a:cubicBezTo>
                  <a:pt x="14842" y="18118"/>
                  <a:pt x="18118" y="14842"/>
                  <a:pt x="18118" y="10800"/>
                </a:cubicBezTo>
                <a:cubicBezTo>
                  <a:pt x="18118" y="6758"/>
                  <a:pt x="14842" y="3482"/>
                  <a:pt x="10800" y="3482"/>
                </a:cubicBezTo>
                <a:cubicBezTo>
                  <a:pt x="6758" y="3482"/>
                  <a:pt x="3482" y="6758"/>
                  <a:pt x="3482" y="10800"/>
                </a:cubicBezTo>
                <a:close/>
              </a:path>
            </a:pathLst>
          </a:custGeom>
          <a:solidFill>
            <a:srgbClr val="969696"/>
          </a:solidFill>
          <a:ln w="9525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endParaRPr lang="zh-CN" altLang="en-US" sz="210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" name="Group 238"/>
          <p:cNvGrpSpPr>
            <a:grpSpLocks/>
          </p:cNvGrpSpPr>
          <p:nvPr/>
        </p:nvGrpSpPr>
        <p:grpSpPr bwMode="auto">
          <a:xfrm>
            <a:off x="2534430" y="2020728"/>
            <a:ext cx="609600" cy="479822"/>
            <a:chOff x="3667" y="3069"/>
            <a:chExt cx="512" cy="403"/>
          </a:xfrm>
        </p:grpSpPr>
        <p:sp>
          <p:nvSpPr>
            <p:cNvPr id="9455" name="Oval 239"/>
            <p:cNvSpPr>
              <a:spLocks noChangeArrowheads="1"/>
            </p:cNvSpPr>
            <p:nvPr/>
          </p:nvSpPr>
          <p:spPr bwMode="auto">
            <a:xfrm>
              <a:off x="3720" y="3172"/>
              <a:ext cx="185" cy="19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</a:pPr>
              <a:endPara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56" name="Rectangle 240"/>
            <p:cNvSpPr>
              <a:spLocks noChangeArrowheads="1"/>
            </p:cNvSpPr>
            <p:nvPr/>
          </p:nvSpPr>
          <p:spPr bwMode="auto">
            <a:xfrm>
              <a:off x="3667" y="3069"/>
              <a:ext cx="512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+ </a:t>
              </a:r>
              <a:r>
                <a:rPr lang="en-US" altLang="zh-CN" sz="2100" b="1" i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</p:grpSp>
      <p:grpSp>
        <p:nvGrpSpPr>
          <p:cNvPr id="3" name="Group 281"/>
          <p:cNvGrpSpPr>
            <a:grpSpLocks/>
          </p:cNvGrpSpPr>
          <p:nvPr/>
        </p:nvGrpSpPr>
        <p:grpSpPr bwMode="auto">
          <a:xfrm>
            <a:off x="1428339" y="1074182"/>
            <a:ext cx="2599135" cy="2388394"/>
            <a:chOff x="3447" y="176"/>
            <a:chExt cx="2183" cy="2006"/>
          </a:xfrm>
        </p:grpSpPr>
        <p:grpSp>
          <p:nvGrpSpPr>
            <p:cNvPr id="4" name="Group 275"/>
            <p:cNvGrpSpPr>
              <a:grpSpLocks/>
            </p:cNvGrpSpPr>
            <p:nvPr/>
          </p:nvGrpSpPr>
          <p:grpSpPr bwMode="auto">
            <a:xfrm>
              <a:off x="3929" y="601"/>
              <a:ext cx="1150" cy="1191"/>
              <a:chOff x="3957" y="799"/>
              <a:chExt cx="1150" cy="1191"/>
            </a:xfrm>
          </p:grpSpPr>
          <p:graphicFrame>
            <p:nvGraphicFramePr>
              <p:cNvPr id="9458" name="Object 242"/>
              <p:cNvGraphicFramePr>
                <a:graphicFrameLocks noChangeAspect="1"/>
              </p:cNvGraphicFramePr>
              <p:nvPr/>
            </p:nvGraphicFramePr>
            <p:xfrm>
              <a:off x="3957" y="1229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58" name="公式" r:id="rId3" imgW="139680" imgH="75960" progId="Equation.3">
                      <p:embed/>
                    </p:oleObj>
                  </mc:Choice>
                  <mc:Fallback>
                    <p:oleObj name="公式" r:id="rId3" imgW="139680" imgH="7596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57" y="1229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59" name="Object 243"/>
              <p:cNvGraphicFramePr>
                <a:graphicFrameLocks noChangeAspect="1"/>
              </p:cNvGraphicFramePr>
              <p:nvPr/>
            </p:nvGraphicFramePr>
            <p:xfrm>
              <a:off x="4978" y="1281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59" name="公式" r:id="rId5" imgW="139680" imgH="75960" progId="Equation.3">
                      <p:embed/>
                    </p:oleObj>
                  </mc:Choice>
                  <mc:Fallback>
                    <p:oleObj name="公式" r:id="rId5" imgW="139680" imgH="75960" progId="Equation.3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78" y="1281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60" name="Object 244"/>
              <p:cNvGraphicFramePr>
                <a:graphicFrameLocks noChangeAspect="1"/>
              </p:cNvGraphicFramePr>
              <p:nvPr/>
            </p:nvGraphicFramePr>
            <p:xfrm>
              <a:off x="4864" y="941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60" name="公式" r:id="rId6" imgW="139680" imgH="75960" progId="Equation.3">
                      <p:embed/>
                    </p:oleObj>
                  </mc:Choice>
                  <mc:Fallback>
                    <p:oleObj name="公式" r:id="rId6" imgW="139680" imgH="75960" progId="Equation.3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4" y="941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61" name="Object 245"/>
              <p:cNvGraphicFramePr>
                <a:graphicFrameLocks noChangeAspect="1"/>
              </p:cNvGraphicFramePr>
              <p:nvPr/>
            </p:nvGraphicFramePr>
            <p:xfrm>
              <a:off x="4849" y="1593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61" name="公式" r:id="rId7" imgW="139680" imgH="75960" progId="Equation.3">
                      <p:embed/>
                    </p:oleObj>
                  </mc:Choice>
                  <mc:Fallback>
                    <p:oleObj name="公式" r:id="rId7" imgW="139680" imgH="75960" progId="Equation.3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9" y="1593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62" name="Object 246"/>
              <p:cNvGraphicFramePr>
                <a:graphicFrameLocks noChangeAspect="1"/>
              </p:cNvGraphicFramePr>
              <p:nvPr/>
            </p:nvGraphicFramePr>
            <p:xfrm>
              <a:off x="4099" y="941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62" name="公式" r:id="rId8" imgW="139680" imgH="75960" progId="Equation.3">
                      <p:embed/>
                    </p:oleObj>
                  </mc:Choice>
                  <mc:Fallback>
                    <p:oleObj name="公式" r:id="rId8" imgW="139680" imgH="75960" progId="Equation.3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9" y="941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63" name="Object 247"/>
              <p:cNvGraphicFramePr>
                <a:graphicFrameLocks noChangeAspect="1"/>
              </p:cNvGraphicFramePr>
              <p:nvPr/>
            </p:nvGraphicFramePr>
            <p:xfrm>
              <a:off x="4083" y="1598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63" name="公式" r:id="rId9" imgW="139680" imgH="75960" progId="Equation.3">
                      <p:embed/>
                    </p:oleObj>
                  </mc:Choice>
                  <mc:Fallback>
                    <p:oleObj name="公式" r:id="rId9" imgW="139680" imgH="75960" progId="Equation.3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3" y="1598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64" name="Object 248"/>
              <p:cNvGraphicFramePr>
                <a:graphicFrameLocks noChangeAspect="1"/>
              </p:cNvGraphicFramePr>
              <p:nvPr/>
            </p:nvGraphicFramePr>
            <p:xfrm>
              <a:off x="4496" y="1768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64" name="公式" r:id="rId10" imgW="139680" imgH="75960" progId="Equation.3">
                      <p:embed/>
                    </p:oleObj>
                  </mc:Choice>
                  <mc:Fallback>
                    <p:oleObj name="公式" r:id="rId10" imgW="139680" imgH="75960" progId="Equation.3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6" y="1768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65" name="Object 249"/>
              <p:cNvGraphicFramePr>
                <a:graphicFrameLocks noChangeAspect="1"/>
              </p:cNvGraphicFramePr>
              <p:nvPr/>
            </p:nvGraphicFramePr>
            <p:xfrm>
              <a:off x="4468" y="799"/>
              <a:ext cx="129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65" name="公式" r:id="rId11" imgW="139680" imgH="75960" progId="Equation.3">
                      <p:embed/>
                    </p:oleObj>
                  </mc:Choice>
                  <mc:Fallback>
                    <p:oleObj name="公式" r:id="rId11" imgW="139680" imgH="75960" progId="Equation.3">
                      <p:embed/>
                      <p:pic>
                        <p:nvPicPr>
                          <p:cNvPr id="0" name="Picture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8" y="799"/>
                            <a:ext cx="129" cy="2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466" name="Object 250"/>
              <p:cNvGraphicFramePr>
                <a:graphicFrameLocks noChangeAspect="1"/>
              </p:cNvGraphicFramePr>
              <p:nvPr/>
            </p:nvGraphicFramePr>
            <p:xfrm>
              <a:off x="4234" y="1649"/>
              <a:ext cx="276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66" name="公式" r:id="rId12" imgW="241200" imgH="164880" progId="Equation.3">
                      <p:embed/>
                    </p:oleObj>
                  </mc:Choice>
                  <mc:Fallback>
                    <p:oleObj name="公式" r:id="rId12" imgW="241200" imgH="164880" progId="Equation.3">
                      <p:embed/>
                      <p:pic>
                        <p:nvPicPr>
                          <p:cNvPr id="0" name="Picture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4" y="1649"/>
                            <a:ext cx="276" cy="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Group 276"/>
            <p:cNvGrpSpPr>
              <a:grpSpLocks/>
            </p:cNvGrpSpPr>
            <p:nvPr/>
          </p:nvGrpSpPr>
          <p:grpSpPr bwMode="auto">
            <a:xfrm>
              <a:off x="3447" y="176"/>
              <a:ext cx="2183" cy="2006"/>
              <a:chOff x="3475" y="374"/>
              <a:chExt cx="2183" cy="2006"/>
            </a:xfrm>
          </p:grpSpPr>
          <p:grpSp>
            <p:nvGrpSpPr>
              <p:cNvPr id="6" name="Group 263"/>
              <p:cNvGrpSpPr>
                <a:grpSpLocks/>
              </p:cNvGrpSpPr>
              <p:nvPr/>
            </p:nvGrpSpPr>
            <p:grpSpPr bwMode="auto">
              <a:xfrm>
                <a:off x="3475" y="374"/>
                <a:ext cx="2183" cy="2006"/>
                <a:chOff x="3475" y="374"/>
                <a:chExt cx="2183" cy="2006"/>
              </a:xfrm>
            </p:grpSpPr>
            <p:graphicFrame>
              <p:nvGraphicFramePr>
                <p:cNvPr id="9469" name="Object 253"/>
                <p:cNvGraphicFramePr>
                  <a:graphicFrameLocks noChangeAspect="1"/>
                </p:cNvGraphicFramePr>
                <p:nvPr/>
              </p:nvGraphicFramePr>
              <p:xfrm>
                <a:off x="3702" y="714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67" name="公式" r:id="rId14" imgW="139680" imgH="139680" progId="Equation.3">
                        <p:embed/>
                      </p:oleObj>
                    </mc:Choice>
                    <mc:Fallback>
                      <p:oleObj name="公式" r:id="rId14" imgW="139680" imgH="139680" progId="Equation.3">
                        <p:embed/>
                        <p:pic>
                          <p:nvPicPr>
                            <p:cNvPr id="0" name="Picture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02" y="714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70" name="Object 254"/>
                <p:cNvGraphicFramePr>
                  <a:graphicFrameLocks noChangeAspect="1"/>
                </p:cNvGraphicFramePr>
                <p:nvPr/>
              </p:nvGraphicFramePr>
              <p:xfrm>
                <a:off x="5431" y="1288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68" name="公式" r:id="rId16" imgW="139680" imgH="139680" progId="Equation.3">
                        <p:embed/>
                      </p:oleObj>
                    </mc:Choice>
                    <mc:Fallback>
                      <p:oleObj name="公式" r:id="rId16" imgW="139680" imgH="139680" progId="Equation.3">
                        <p:embed/>
                        <p:pic>
                          <p:nvPicPr>
                            <p:cNvPr id="0" name="Picture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31" y="1288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71" name="Object 255"/>
                <p:cNvGraphicFramePr>
                  <a:graphicFrameLocks noChangeAspect="1"/>
                </p:cNvGraphicFramePr>
                <p:nvPr/>
              </p:nvGraphicFramePr>
              <p:xfrm>
                <a:off x="5205" y="1826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69" name="公式" r:id="rId18" imgW="139680" imgH="139680" progId="Equation.3">
                        <p:embed/>
                      </p:oleObj>
                    </mc:Choice>
                    <mc:Fallback>
                      <p:oleObj name="公式" r:id="rId18" imgW="139680" imgH="139680" progId="Equation.3">
                        <p:embed/>
                        <p:pic>
                          <p:nvPicPr>
                            <p:cNvPr id="0" name="Picture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05" y="1826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72" name="Object 256"/>
                <p:cNvGraphicFramePr>
                  <a:graphicFrameLocks noChangeAspect="1"/>
                </p:cNvGraphicFramePr>
                <p:nvPr/>
              </p:nvGraphicFramePr>
              <p:xfrm>
                <a:off x="4383" y="374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0" name="公式" r:id="rId20" imgW="139680" imgH="139680" progId="Equation.3">
                        <p:embed/>
                      </p:oleObj>
                    </mc:Choice>
                    <mc:Fallback>
                      <p:oleObj name="公式" r:id="rId20" imgW="139680" imgH="139680" progId="Equation.3">
                        <p:embed/>
                        <p:pic>
                          <p:nvPicPr>
                            <p:cNvPr id="0" name="Picture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83" y="374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73" name="Object 257"/>
                <p:cNvGraphicFramePr>
                  <a:graphicFrameLocks noChangeAspect="1"/>
                </p:cNvGraphicFramePr>
                <p:nvPr/>
              </p:nvGraphicFramePr>
              <p:xfrm>
                <a:off x="3815" y="1933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1" name="公式" r:id="rId22" imgW="139680" imgH="139680" progId="Equation.3">
                        <p:embed/>
                      </p:oleObj>
                    </mc:Choice>
                    <mc:Fallback>
                      <p:oleObj name="公式" r:id="rId22" imgW="139680" imgH="139680" progId="Equation.3">
                        <p:embed/>
                        <p:pic>
                          <p:nvPicPr>
                            <p:cNvPr id="0" name="Picture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15" y="1933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75" name="Object 259"/>
                <p:cNvGraphicFramePr>
                  <a:graphicFrameLocks noChangeAspect="1"/>
                </p:cNvGraphicFramePr>
                <p:nvPr/>
              </p:nvGraphicFramePr>
              <p:xfrm>
                <a:off x="3475" y="1281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2" name="公式" r:id="rId24" imgW="139680" imgH="139680" progId="Equation.3">
                        <p:embed/>
                      </p:oleObj>
                    </mc:Choice>
                    <mc:Fallback>
                      <p:oleObj name="公式" r:id="rId24" imgW="139680" imgH="139680" progId="Equation.3">
                        <p:embed/>
                        <p:pic>
                          <p:nvPicPr>
                            <p:cNvPr id="0" name="Picture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75" y="1281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76" name="Object 260"/>
                <p:cNvGraphicFramePr>
                  <a:graphicFrameLocks noChangeAspect="1"/>
                </p:cNvGraphicFramePr>
                <p:nvPr/>
              </p:nvGraphicFramePr>
              <p:xfrm>
                <a:off x="5035" y="601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3" name="公式" r:id="rId26" imgW="139680" imgH="139680" progId="Equation.3">
                        <p:embed/>
                      </p:oleObj>
                    </mc:Choice>
                    <mc:Fallback>
                      <p:oleObj name="公式" r:id="rId26" imgW="139680" imgH="139680" progId="Equation.3">
                        <p:embed/>
                        <p:pic>
                          <p:nvPicPr>
                            <p:cNvPr id="0" name="Picture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35" y="601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477" name="Object 261"/>
                <p:cNvGraphicFramePr>
                  <a:graphicFrameLocks noChangeAspect="1"/>
                </p:cNvGraphicFramePr>
                <p:nvPr/>
              </p:nvGraphicFramePr>
              <p:xfrm>
                <a:off x="4524" y="2188"/>
                <a:ext cx="227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4" name="公式" r:id="rId28" imgW="139680" imgH="139680" progId="Equation.3">
                        <p:embed/>
                      </p:oleObj>
                    </mc:Choice>
                    <mc:Fallback>
                      <p:oleObj name="公式" r:id="rId28" imgW="139680" imgH="139680" progId="Equation.3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24" y="2188"/>
                              <a:ext cx="227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9489" name="Object 27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9352223"/>
                  </p:ext>
                </p:extLst>
              </p:nvPr>
            </p:nvGraphicFramePr>
            <p:xfrm>
              <a:off x="4965" y="2103"/>
              <a:ext cx="441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75" name="公式" r:id="rId30" imgW="241200" imgH="177480" progId="Equation.3">
                      <p:embed/>
                    </p:oleObj>
                  </mc:Choice>
                  <mc:Fallback>
                    <p:oleObj name="公式" r:id="rId30" imgW="241200" imgH="17748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5" y="2103"/>
                            <a:ext cx="441" cy="269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493" name="Text Box 277"/>
          <p:cNvSpPr txBox="1">
            <a:spLocks noChangeArrowheads="1"/>
          </p:cNvSpPr>
          <p:nvPr/>
        </p:nvSpPr>
        <p:spPr bwMode="auto">
          <a:xfrm>
            <a:off x="1189510" y="3750744"/>
            <a:ext cx="704969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FontTx/>
              <a:buChar char="•"/>
            </a:pP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空腔外表面上的电荷分布与腔内带电体的位置无关，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只取决于导体</a:t>
            </a: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外表面的形状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。</a:t>
            </a:r>
            <a:endParaRPr kumimoji="1" lang="zh-CN" altLang="en-US" sz="2100" b="1" dirty="0">
              <a:solidFill>
                <a:srgbClr val="9933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88348" y="1290809"/>
            <a:ext cx="3056366" cy="2184863"/>
            <a:chOff x="4780123" y="1510029"/>
            <a:chExt cx="4370388" cy="3124200"/>
          </a:xfrm>
        </p:grpSpPr>
        <p:sp>
          <p:nvSpPr>
            <p:cNvPr id="32" name="AutoShape 231"/>
            <p:cNvSpPr>
              <a:spLocks noChangeArrowheads="1"/>
            </p:cNvSpPr>
            <p:nvPr/>
          </p:nvSpPr>
          <p:spPr bwMode="auto">
            <a:xfrm>
              <a:off x="5072224" y="1746568"/>
              <a:ext cx="3797075" cy="2565400"/>
            </a:xfrm>
            <a:custGeom>
              <a:avLst/>
              <a:gdLst>
                <a:gd name="G0" fmla="+- 3482 0 0"/>
                <a:gd name="G1" fmla="+- 21600 0 3482"/>
                <a:gd name="G2" fmla="+- 21600 0 3482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  <a:gd name="connsiteX0" fmla="*/ 0 w 29408"/>
                <a:gd name="connsiteY0" fmla="*/ 10800 h 21600"/>
                <a:gd name="connsiteX1" fmla="*/ 10800 w 29408"/>
                <a:gd name="connsiteY1" fmla="*/ 0 h 21600"/>
                <a:gd name="connsiteX2" fmla="*/ 29408 w 29408"/>
                <a:gd name="connsiteY2" fmla="*/ 10800 h 21600"/>
                <a:gd name="connsiteX3" fmla="*/ 10800 w 29408"/>
                <a:gd name="connsiteY3" fmla="*/ 21600 h 21600"/>
                <a:gd name="connsiteX4" fmla="*/ 0 w 29408"/>
                <a:gd name="connsiteY4" fmla="*/ 10800 h 21600"/>
                <a:gd name="connsiteX5" fmla="*/ 3482 w 29408"/>
                <a:gd name="connsiteY5" fmla="*/ 10800 h 21600"/>
                <a:gd name="connsiteX6" fmla="*/ 10800 w 29408"/>
                <a:gd name="connsiteY6" fmla="*/ 18118 h 21600"/>
                <a:gd name="connsiteX7" fmla="*/ 18118 w 29408"/>
                <a:gd name="connsiteY7" fmla="*/ 10800 h 21600"/>
                <a:gd name="connsiteX8" fmla="*/ 10800 w 29408"/>
                <a:gd name="connsiteY8" fmla="*/ 3482 h 21600"/>
                <a:gd name="connsiteX9" fmla="*/ 3482 w 29408"/>
                <a:gd name="connsiteY9" fmla="*/ 10800 h 21600"/>
                <a:gd name="connsiteX0" fmla="*/ 0 w 29590"/>
                <a:gd name="connsiteY0" fmla="*/ 10800 h 21600"/>
                <a:gd name="connsiteX1" fmla="*/ 10800 w 29590"/>
                <a:gd name="connsiteY1" fmla="*/ 0 h 21600"/>
                <a:gd name="connsiteX2" fmla="*/ 29408 w 29590"/>
                <a:gd name="connsiteY2" fmla="*/ 10800 h 21600"/>
                <a:gd name="connsiteX3" fmla="*/ 10800 w 29590"/>
                <a:gd name="connsiteY3" fmla="*/ 21600 h 21600"/>
                <a:gd name="connsiteX4" fmla="*/ 0 w 29590"/>
                <a:gd name="connsiteY4" fmla="*/ 10800 h 21600"/>
                <a:gd name="connsiteX5" fmla="*/ 3482 w 29590"/>
                <a:gd name="connsiteY5" fmla="*/ 10800 h 21600"/>
                <a:gd name="connsiteX6" fmla="*/ 10800 w 29590"/>
                <a:gd name="connsiteY6" fmla="*/ 18118 h 21600"/>
                <a:gd name="connsiteX7" fmla="*/ 18118 w 29590"/>
                <a:gd name="connsiteY7" fmla="*/ 10800 h 21600"/>
                <a:gd name="connsiteX8" fmla="*/ 10800 w 29590"/>
                <a:gd name="connsiteY8" fmla="*/ 3482 h 21600"/>
                <a:gd name="connsiteX9" fmla="*/ 3482 w 29590"/>
                <a:gd name="connsiteY9" fmla="*/ 1080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90" h="21600">
                  <a:moveTo>
                    <a:pt x="0" y="10800"/>
                  </a:moveTo>
                  <a:cubicBezTo>
                    <a:pt x="0" y="4835"/>
                    <a:pt x="5899" y="0"/>
                    <a:pt x="10800" y="0"/>
                  </a:cubicBezTo>
                  <a:cubicBezTo>
                    <a:pt x="15701" y="0"/>
                    <a:pt x="27361" y="6473"/>
                    <a:pt x="29408" y="10800"/>
                  </a:cubicBezTo>
                  <a:cubicBezTo>
                    <a:pt x="31455" y="15127"/>
                    <a:pt x="15701" y="21600"/>
                    <a:pt x="10800" y="21600"/>
                  </a:cubicBezTo>
                  <a:cubicBezTo>
                    <a:pt x="5899" y="21600"/>
                    <a:pt x="0" y="16765"/>
                    <a:pt x="0" y="10800"/>
                  </a:cubicBezTo>
                  <a:close/>
                  <a:moveTo>
                    <a:pt x="3482" y="10800"/>
                  </a:moveTo>
                  <a:cubicBezTo>
                    <a:pt x="3482" y="14842"/>
                    <a:pt x="6758" y="18118"/>
                    <a:pt x="10800" y="18118"/>
                  </a:cubicBezTo>
                  <a:cubicBezTo>
                    <a:pt x="14842" y="18118"/>
                    <a:pt x="18118" y="14842"/>
                    <a:pt x="18118" y="10800"/>
                  </a:cubicBezTo>
                  <a:cubicBezTo>
                    <a:pt x="18118" y="6758"/>
                    <a:pt x="14842" y="3482"/>
                    <a:pt x="10800" y="3482"/>
                  </a:cubicBezTo>
                  <a:cubicBezTo>
                    <a:pt x="6758" y="3482"/>
                    <a:pt x="3482" y="6758"/>
                    <a:pt x="3482" y="10800"/>
                  </a:cubicBezTo>
                  <a:close/>
                </a:path>
              </a:pathLst>
            </a:custGeom>
            <a:solidFill>
              <a:srgbClr val="969696"/>
            </a:solidFill>
            <a:ln w="9525">
              <a:solidFill>
                <a:srgbClr val="0000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33" name="Group 238"/>
            <p:cNvGrpSpPr>
              <a:grpSpLocks/>
            </p:cNvGrpSpPr>
            <p:nvPr/>
          </p:nvGrpSpPr>
          <p:grpSpPr bwMode="auto">
            <a:xfrm>
              <a:off x="6224748" y="2672081"/>
              <a:ext cx="812800" cy="685800"/>
              <a:chOff x="3662" y="3055"/>
              <a:chExt cx="512" cy="432"/>
            </a:xfrm>
          </p:grpSpPr>
          <p:sp>
            <p:nvSpPr>
              <p:cNvPr id="34" name="Oval 239"/>
              <p:cNvSpPr>
                <a:spLocks noChangeArrowheads="1"/>
              </p:cNvSpPr>
              <p:nvPr/>
            </p:nvSpPr>
            <p:spPr bwMode="auto">
              <a:xfrm>
                <a:off x="3720" y="3172"/>
                <a:ext cx="185" cy="19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</a:pPr>
                <a:endParaRPr lang="en-US" altLang="zh-CN" sz="2400" b="1" i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5" name="Rectangle 240"/>
              <p:cNvSpPr>
                <a:spLocks noChangeArrowheads="1"/>
              </p:cNvSpPr>
              <p:nvPr/>
            </p:nvSpPr>
            <p:spPr bwMode="auto">
              <a:xfrm>
                <a:off x="3662" y="3055"/>
                <a:ext cx="512" cy="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100" b="1" i="1" dirty="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+ </a:t>
                </a:r>
                <a:r>
                  <a:rPr lang="en-US" altLang="zh-CN" sz="2100" b="1" i="1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q</a:t>
                </a:r>
              </a:p>
            </p:txBody>
          </p:sp>
        </p:grpSp>
        <p:grpSp>
          <p:nvGrpSpPr>
            <p:cNvPr id="36" name="Group 281"/>
            <p:cNvGrpSpPr>
              <a:grpSpLocks/>
            </p:cNvGrpSpPr>
            <p:nvPr/>
          </p:nvGrpSpPr>
          <p:grpSpPr bwMode="auto">
            <a:xfrm>
              <a:off x="4780123" y="1510029"/>
              <a:ext cx="4370388" cy="3124200"/>
              <a:chOff x="3461" y="225"/>
              <a:chExt cx="2753" cy="1968"/>
            </a:xfrm>
          </p:grpSpPr>
          <p:grpSp>
            <p:nvGrpSpPr>
              <p:cNvPr id="37" name="Group 275"/>
              <p:cNvGrpSpPr>
                <a:grpSpLocks/>
              </p:cNvGrpSpPr>
              <p:nvPr/>
            </p:nvGrpSpPr>
            <p:grpSpPr bwMode="auto">
              <a:xfrm>
                <a:off x="3929" y="601"/>
                <a:ext cx="1150" cy="1191"/>
                <a:chOff x="3957" y="799"/>
                <a:chExt cx="1150" cy="1191"/>
              </a:xfrm>
            </p:grpSpPr>
            <p:graphicFrame>
              <p:nvGraphicFramePr>
                <p:cNvPr id="49" name="Object 242"/>
                <p:cNvGraphicFramePr>
                  <a:graphicFrameLocks noChangeAspect="1"/>
                </p:cNvGraphicFramePr>
                <p:nvPr/>
              </p:nvGraphicFramePr>
              <p:xfrm>
                <a:off x="3957" y="1229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6" name="公式" r:id="rId3" imgW="139680" imgH="75960" progId="Equation.3">
                        <p:embed/>
                      </p:oleObj>
                    </mc:Choice>
                    <mc:Fallback>
                      <p:oleObj name="公式" r:id="rId3" imgW="139680" imgH="75960" progId="Equation.3">
                        <p:embed/>
                        <p:pic>
                          <p:nvPicPr>
                            <p:cNvPr id="9458" name="Object 2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57" y="1229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0" name="Object 243"/>
                <p:cNvGraphicFramePr>
                  <a:graphicFrameLocks noChangeAspect="1"/>
                </p:cNvGraphicFramePr>
                <p:nvPr/>
              </p:nvGraphicFramePr>
              <p:xfrm>
                <a:off x="4978" y="1281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7" name="公式" r:id="rId5" imgW="139680" imgH="75960" progId="Equation.3">
                        <p:embed/>
                      </p:oleObj>
                    </mc:Choice>
                    <mc:Fallback>
                      <p:oleObj name="公式" r:id="rId5" imgW="139680" imgH="75960" progId="Equation.3">
                        <p:embed/>
                        <p:pic>
                          <p:nvPicPr>
                            <p:cNvPr id="9459" name="Object 2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78" y="1281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" name="Object 244"/>
                <p:cNvGraphicFramePr>
                  <a:graphicFrameLocks noChangeAspect="1"/>
                </p:cNvGraphicFramePr>
                <p:nvPr/>
              </p:nvGraphicFramePr>
              <p:xfrm>
                <a:off x="4864" y="941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8" name="公式" r:id="rId6" imgW="139680" imgH="75960" progId="Equation.3">
                        <p:embed/>
                      </p:oleObj>
                    </mc:Choice>
                    <mc:Fallback>
                      <p:oleObj name="公式" r:id="rId6" imgW="139680" imgH="75960" progId="Equation.3">
                        <p:embed/>
                        <p:pic>
                          <p:nvPicPr>
                            <p:cNvPr id="9460" name="Object 24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64" y="941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2" name="Object 245"/>
                <p:cNvGraphicFramePr>
                  <a:graphicFrameLocks noChangeAspect="1"/>
                </p:cNvGraphicFramePr>
                <p:nvPr/>
              </p:nvGraphicFramePr>
              <p:xfrm>
                <a:off x="4849" y="1593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79" name="公式" r:id="rId7" imgW="139680" imgH="75960" progId="Equation.3">
                        <p:embed/>
                      </p:oleObj>
                    </mc:Choice>
                    <mc:Fallback>
                      <p:oleObj name="公式" r:id="rId7" imgW="139680" imgH="75960" progId="Equation.3">
                        <p:embed/>
                        <p:pic>
                          <p:nvPicPr>
                            <p:cNvPr id="9461" name="Object 24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49" y="1593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3" name="Object 246"/>
                <p:cNvGraphicFramePr>
                  <a:graphicFrameLocks noChangeAspect="1"/>
                </p:cNvGraphicFramePr>
                <p:nvPr/>
              </p:nvGraphicFramePr>
              <p:xfrm>
                <a:off x="4099" y="941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80" name="公式" r:id="rId8" imgW="139680" imgH="75960" progId="Equation.3">
                        <p:embed/>
                      </p:oleObj>
                    </mc:Choice>
                    <mc:Fallback>
                      <p:oleObj name="公式" r:id="rId8" imgW="139680" imgH="75960" progId="Equation.3">
                        <p:embed/>
                        <p:pic>
                          <p:nvPicPr>
                            <p:cNvPr id="9462" name="Object 2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99" y="941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4" name="Object 247"/>
                <p:cNvGraphicFramePr>
                  <a:graphicFrameLocks noChangeAspect="1"/>
                </p:cNvGraphicFramePr>
                <p:nvPr/>
              </p:nvGraphicFramePr>
              <p:xfrm>
                <a:off x="4083" y="1598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81" name="公式" r:id="rId9" imgW="139680" imgH="75960" progId="Equation.3">
                        <p:embed/>
                      </p:oleObj>
                    </mc:Choice>
                    <mc:Fallback>
                      <p:oleObj name="公式" r:id="rId9" imgW="139680" imgH="75960" progId="Equation.3">
                        <p:embed/>
                        <p:pic>
                          <p:nvPicPr>
                            <p:cNvPr id="9463" name="Object 24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83" y="1598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5" name="Object 248"/>
                <p:cNvGraphicFramePr>
                  <a:graphicFrameLocks noChangeAspect="1"/>
                </p:cNvGraphicFramePr>
                <p:nvPr/>
              </p:nvGraphicFramePr>
              <p:xfrm>
                <a:off x="4496" y="1768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82" name="公式" r:id="rId10" imgW="139680" imgH="75960" progId="Equation.3">
                        <p:embed/>
                      </p:oleObj>
                    </mc:Choice>
                    <mc:Fallback>
                      <p:oleObj name="公式" r:id="rId10" imgW="139680" imgH="75960" progId="Equation.3">
                        <p:embed/>
                        <p:pic>
                          <p:nvPicPr>
                            <p:cNvPr id="9464" name="Object 24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96" y="1768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6" name="Object 249"/>
                <p:cNvGraphicFramePr>
                  <a:graphicFrameLocks noChangeAspect="1"/>
                </p:cNvGraphicFramePr>
                <p:nvPr/>
              </p:nvGraphicFramePr>
              <p:xfrm>
                <a:off x="4468" y="799"/>
                <a:ext cx="129" cy="2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83" name="公式" r:id="rId11" imgW="139680" imgH="75960" progId="Equation.3">
                        <p:embed/>
                      </p:oleObj>
                    </mc:Choice>
                    <mc:Fallback>
                      <p:oleObj name="公式" r:id="rId11" imgW="139680" imgH="75960" progId="Equation.3">
                        <p:embed/>
                        <p:pic>
                          <p:nvPicPr>
                            <p:cNvPr id="9465" name="Object 2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68" y="799"/>
                              <a:ext cx="129" cy="22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7" name="Object 250"/>
                <p:cNvGraphicFramePr>
                  <a:graphicFrameLocks noChangeAspect="1"/>
                </p:cNvGraphicFramePr>
                <p:nvPr/>
              </p:nvGraphicFramePr>
              <p:xfrm>
                <a:off x="4234" y="1649"/>
                <a:ext cx="276" cy="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84" name="公式" r:id="rId12" imgW="241200" imgH="164880" progId="Equation.3">
                        <p:embed/>
                      </p:oleObj>
                    </mc:Choice>
                    <mc:Fallback>
                      <p:oleObj name="公式" r:id="rId12" imgW="241200" imgH="164880" progId="Equation.3">
                        <p:embed/>
                        <p:pic>
                          <p:nvPicPr>
                            <p:cNvPr id="9466" name="Object 2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34" y="1649"/>
                              <a:ext cx="276" cy="2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8" name="Group 276"/>
              <p:cNvGrpSpPr>
                <a:grpSpLocks/>
              </p:cNvGrpSpPr>
              <p:nvPr/>
            </p:nvGrpSpPr>
            <p:grpSpPr bwMode="auto">
              <a:xfrm>
                <a:off x="3461" y="225"/>
                <a:ext cx="2753" cy="1968"/>
                <a:chOff x="3489" y="423"/>
                <a:chExt cx="2753" cy="1968"/>
              </a:xfrm>
            </p:grpSpPr>
            <p:grpSp>
              <p:nvGrpSpPr>
                <p:cNvPr id="39" name="Group 263"/>
                <p:cNvGrpSpPr>
                  <a:grpSpLocks/>
                </p:cNvGrpSpPr>
                <p:nvPr/>
              </p:nvGrpSpPr>
              <p:grpSpPr bwMode="auto">
                <a:xfrm>
                  <a:off x="3489" y="423"/>
                  <a:ext cx="2753" cy="1916"/>
                  <a:chOff x="3489" y="423"/>
                  <a:chExt cx="2753" cy="1916"/>
                </a:xfrm>
              </p:grpSpPr>
              <p:graphicFrame>
                <p:nvGraphicFramePr>
                  <p:cNvPr id="41" name="Object 253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78207909"/>
                      </p:ext>
                    </p:extLst>
                  </p:nvPr>
                </p:nvGraphicFramePr>
                <p:xfrm>
                  <a:off x="4327" y="423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85" name="公式" r:id="rId14" imgW="139680" imgH="139680" progId="Equation.3">
                          <p:embed/>
                        </p:oleObj>
                      </mc:Choice>
                      <mc:Fallback>
                        <p:oleObj name="公式" r:id="rId14" imgW="139680" imgH="139680" progId="Equation.3">
                          <p:embed/>
                          <p:pic>
                            <p:nvPicPr>
                              <p:cNvPr id="9469" name="Object 25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327" y="423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2" name="Object 25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085486070"/>
                      </p:ext>
                    </p:extLst>
                  </p:nvPr>
                </p:nvGraphicFramePr>
                <p:xfrm>
                  <a:off x="5915" y="1557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86" name="公式" r:id="rId16" imgW="139680" imgH="139680" progId="Equation.3">
                          <p:embed/>
                        </p:oleObj>
                      </mc:Choice>
                      <mc:Fallback>
                        <p:oleObj name="公式" r:id="rId16" imgW="139680" imgH="139680" progId="Equation.3">
                          <p:embed/>
                          <p:pic>
                            <p:nvPicPr>
                              <p:cNvPr id="9470" name="Object 25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915" y="1557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3" name="Object 25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20368966"/>
                      </p:ext>
                    </p:extLst>
                  </p:nvPr>
                </p:nvGraphicFramePr>
                <p:xfrm>
                  <a:off x="5701" y="1737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87" name="公式" r:id="rId18" imgW="139680" imgH="139680" progId="Equation.3">
                          <p:embed/>
                        </p:oleObj>
                      </mc:Choice>
                      <mc:Fallback>
                        <p:oleObj name="公式" r:id="rId18" imgW="139680" imgH="139680" progId="Equation.3">
                          <p:embed/>
                          <p:pic>
                            <p:nvPicPr>
                              <p:cNvPr id="9471" name="Object 25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701" y="1737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4" name="Object 256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241950927"/>
                      </p:ext>
                    </p:extLst>
                  </p:nvPr>
                </p:nvGraphicFramePr>
                <p:xfrm>
                  <a:off x="6015" y="1369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88" name="公式" r:id="rId20" imgW="139680" imgH="139680" progId="Equation.3">
                          <p:embed/>
                        </p:oleObj>
                      </mc:Choice>
                      <mc:Fallback>
                        <p:oleObj name="公式" r:id="rId20" imgW="139680" imgH="139680" progId="Equation.3">
                          <p:embed/>
                          <p:pic>
                            <p:nvPicPr>
                              <p:cNvPr id="9472" name="Object 25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015" y="1369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5" name="Object 257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72390710"/>
                      </p:ext>
                    </p:extLst>
                  </p:nvPr>
                </p:nvGraphicFramePr>
                <p:xfrm>
                  <a:off x="4340" y="2147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89" name="公式" r:id="rId22" imgW="139680" imgH="139680" progId="Equation.3">
                          <p:embed/>
                        </p:oleObj>
                      </mc:Choice>
                      <mc:Fallback>
                        <p:oleObj name="公式" r:id="rId22" imgW="139680" imgH="139680" progId="Equation.3">
                          <p:embed/>
                          <p:pic>
                            <p:nvPicPr>
                              <p:cNvPr id="9473" name="Object 25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340" y="2147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6" name="Object 259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148115148"/>
                      </p:ext>
                    </p:extLst>
                  </p:nvPr>
                </p:nvGraphicFramePr>
                <p:xfrm>
                  <a:off x="3489" y="1281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90" name="公式" r:id="rId24" imgW="139680" imgH="139680" progId="Equation.3">
                          <p:embed/>
                        </p:oleObj>
                      </mc:Choice>
                      <mc:Fallback>
                        <p:oleObj name="公式" r:id="rId24" imgW="139680" imgH="139680" progId="Equation.3">
                          <p:embed/>
                          <p:pic>
                            <p:nvPicPr>
                              <p:cNvPr id="9475" name="Object 25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489" y="1281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7" name="Object 260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22071153"/>
                      </p:ext>
                    </p:extLst>
                  </p:nvPr>
                </p:nvGraphicFramePr>
                <p:xfrm>
                  <a:off x="5724" y="954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91" name="公式" r:id="rId26" imgW="139680" imgH="139680" progId="Equation.3">
                          <p:embed/>
                        </p:oleObj>
                      </mc:Choice>
                      <mc:Fallback>
                        <p:oleObj name="公式" r:id="rId26" imgW="139680" imgH="139680" progId="Equation.3">
                          <p:embed/>
                          <p:pic>
                            <p:nvPicPr>
                              <p:cNvPr id="9476" name="Object 26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724" y="954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8" name="Object 261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074561836"/>
                      </p:ext>
                    </p:extLst>
                  </p:nvPr>
                </p:nvGraphicFramePr>
                <p:xfrm>
                  <a:off x="5936" y="1140"/>
                  <a:ext cx="227" cy="19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1192" name="公式" r:id="rId28" imgW="139680" imgH="139680" progId="Equation.3">
                          <p:embed/>
                        </p:oleObj>
                      </mc:Choice>
                      <mc:Fallback>
                        <p:oleObj name="公式" r:id="rId28" imgW="139680" imgH="139680" progId="Equation.3">
                          <p:embed/>
                          <p:pic>
                            <p:nvPicPr>
                              <p:cNvPr id="9477" name="Object 26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936" y="1140"/>
                                <a:ext cx="227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40" name="Object 27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55161921"/>
                    </p:ext>
                  </p:extLst>
                </p:nvPr>
              </p:nvGraphicFramePr>
              <p:xfrm>
                <a:off x="5120" y="2122"/>
                <a:ext cx="417" cy="2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1193" name="公式" r:id="rId30" imgW="241200" imgH="177480" progId="Equation.3">
                        <p:embed/>
                      </p:oleObj>
                    </mc:Choice>
                    <mc:Fallback>
                      <p:oleObj name="公式" r:id="rId30" imgW="241200" imgH="177480" progId="Equation.3">
                        <p:embed/>
                        <p:pic>
                          <p:nvPicPr>
                            <p:cNvPr id="9489" name="Object 27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20" y="2122"/>
                              <a:ext cx="417" cy="269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239000" y="4892135"/>
            <a:ext cx="1905000" cy="342900"/>
          </a:xfrm>
        </p:spPr>
        <p:txBody>
          <a:bodyPr/>
          <a:lstStyle/>
          <a:p>
            <a:fld id="{AE7E5495-FB17-4743-98B2-732EA470C315}" type="slidenum">
              <a:rPr lang="zh-CN" altLang="en-US" smtClean="0">
                <a:solidFill>
                  <a:srgbClr val="578963"/>
                </a:solidFill>
              </a:rPr>
              <a:pPr/>
              <a:t>15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7" grpId="0" animBg="1"/>
      <p:bldP spid="949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47" name="Text Box 171"/>
          <p:cNvSpPr txBox="1">
            <a:spLocks noChangeArrowheads="1"/>
          </p:cNvSpPr>
          <p:nvPr/>
        </p:nvSpPr>
        <p:spPr bwMode="auto">
          <a:xfrm>
            <a:off x="1275645" y="4266378"/>
            <a:ext cx="7525455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FontTx/>
              <a:buChar char="•"/>
            </a:pPr>
            <a:r>
              <a:rPr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此时腔内的电场不影响腔外，同时也不受外界的影响。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057991" y="278173"/>
            <a:ext cx="6548438" cy="3356373"/>
            <a:chOff x="-113345" y="370897"/>
            <a:chExt cx="8731250" cy="4475164"/>
          </a:xfrm>
        </p:grpSpPr>
        <p:sp>
          <p:nvSpPr>
            <p:cNvPr id="55" name="Line 112"/>
            <p:cNvSpPr>
              <a:spLocks noChangeShapeType="1"/>
            </p:cNvSpPr>
            <p:nvPr/>
          </p:nvSpPr>
          <p:spPr bwMode="auto">
            <a:xfrm>
              <a:off x="6398581" y="4144386"/>
              <a:ext cx="174625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2" name="Group 172"/>
            <p:cNvGrpSpPr>
              <a:grpSpLocks/>
            </p:cNvGrpSpPr>
            <p:nvPr/>
          </p:nvGrpSpPr>
          <p:grpSpPr bwMode="auto">
            <a:xfrm>
              <a:off x="-113345" y="370897"/>
              <a:ext cx="8731250" cy="4475164"/>
              <a:chOff x="1366" y="520"/>
              <a:chExt cx="5500" cy="2819"/>
            </a:xfrm>
          </p:grpSpPr>
          <p:sp>
            <p:nvSpPr>
              <p:cNvPr id="50230" name="Text Box 54"/>
              <p:cNvSpPr txBox="1">
                <a:spLocks noChangeArrowheads="1"/>
              </p:cNvSpPr>
              <p:nvPr/>
            </p:nvSpPr>
            <p:spPr bwMode="auto">
              <a:xfrm>
                <a:off x="1366" y="520"/>
                <a:ext cx="5500" cy="7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buFontTx/>
                  <a:buChar char="•"/>
                </a:pPr>
                <a:r>
                  <a:rPr lang="zh-CN" altLang="en-US" sz="2100" b="1" dirty="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  <a:sym typeface="Monotype Sorts" pitchFamily="2" charset="2"/>
                  </a:rPr>
                  <a:t> 若第二类空腔导体</a:t>
                </a:r>
                <a:r>
                  <a:rPr lang="zh-CN" altLang="en-US" sz="2100" b="1" dirty="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接地，</a:t>
                </a:r>
                <a:r>
                  <a:rPr lang="zh-CN" altLang="en-US" sz="2100" b="1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金属空腔是零等势体。</a:t>
                </a:r>
                <a:endParaRPr lang="en-US" altLang="zh-CN" sz="2100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100" b="1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   空腔外部不受腔内电荷影响</a:t>
                </a:r>
                <a:r>
                  <a:rPr lang="en-US" altLang="zh-CN" sz="2100" b="1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.</a:t>
                </a:r>
                <a:endParaRPr lang="zh-CN" altLang="en-US" sz="2100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3" name="Group 125"/>
              <p:cNvGrpSpPr>
                <a:grpSpLocks/>
              </p:cNvGrpSpPr>
              <p:nvPr/>
            </p:nvGrpSpPr>
            <p:grpSpPr bwMode="auto">
              <a:xfrm>
                <a:off x="3901" y="1622"/>
                <a:ext cx="1801" cy="1717"/>
                <a:chOff x="3799" y="800"/>
                <a:chExt cx="1801" cy="1717"/>
              </a:xfrm>
            </p:grpSpPr>
            <p:grpSp>
              <p:nvGrpSpPr>
                <p:cNvPr id="4" name="Group 124"/>
                <p:cNvGrpSpPr>
                  <a:grpSpLocks/>
                </p:cNvGrpSpPr>
                <p:nvPr/>
              </p:nvGrpSpPr>
              <p:grpSpPr bwMode="auto">
                <a:xfrm>
                  <a:off x="3799" y="800"/>
                  <a:ext cx="1746" cy="1616"/>
                  <a:chOff x="3799" y="800"/>
                  <a:chExt cx="1746" cy="1616"/>
                </a:xfrm>
              </p:grpSpPr>
              <p:grpSp>
                <p:nvGrpSpPr>
                  <p:cNvPr id="5" name="Group 123"/>
                  <p:cNvGrpSpPr>
                    <a:grpSpLocks/>
                  </p:cNvGrpSpPr>
                  <p:nvPr/>
                </p:nvGrpSpPr>
                <p:grpSpPr bwMode="auto">
                  <a:xfrm>
                    <a:off x="4538" y="1399"/>
                    <a:ext cx="512" cy="403"/>
                    <a:chOff x="4538" y="1399"/>
                    <a:chExt cx="512" cy="403"/>
                  </a:xfrm>
                </p:grpSpPr>
                <p:sp>
                  <p:nvSpPr>
                    <p:cNvPr id="50263" name="Oval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82" y="1500"/>
                      <a:ext cx="185" cy="193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FF9999"/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n w="9525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en-US" altLang="zh-CN" sz="2400" b="1" i="1">
                        <a:solidFill>
                          <a:srgbClr val="000000"/>
                        </a:solidFill>
                        <a:latin typeface="Times New Roman" pitchFamily="18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50264" name="Rectangle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538" y="1399"/>
                      <a:ext cx="512" cy="40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100" b="1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 charset="-122"/>
                        </a:rPr>
                        <a:t>+</a:t>
                      </a:r>
                      <a:r>
                        <a:rPr lang="en-US" altLang="zh-CN" sz="21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lang="en-US" altLang="zh-CN" sz="2100" b="1" i="1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charset="-122"/>
                        </a:rPr>
                        <a:t>q</a:t>
                      </a:r>
                    </a:p>
                  </p:txBody>
                </p:sp>
              </p:grpSp>
              <p:grpSp>
                <p:nvGrpSpPr>
                  <p:cNvPr id="6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4082" y="1027"/>
                    <a:ext cx="1150" cy="1191"/>
                    <a:chOff x="3957" y="799"/>
                    <a:chExt cx="1150" cy="1191"/>
                  </a:xfrm>
                </p:grpSpPr>
                <p:graphicFrame>
                  <p:nvGraphicFramePr>
                    <p:cNvPr id="50266" name="Object 9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957" y="1229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84" name="公式" r:id="rId3" imgW="139680" imgH="75960" progId="Equation.3">
                            <p:embed/>
                          </p:oleObj>
                        </mc:Choice>
                        <mc:Fallback>
                          <p:oleObj name="公式" r:id="rId3" imgW="139680" imgH="75960" progId="Equation.3">
                            <p:embed/>
                            <p:pic>
                              <p:nvPicPr>
                                <p:cNvPr id="0" name="Picture 2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957" y="1229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67" name="Object 91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978" y="1281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85" name="公式" r:id="rId5" imgW="139680" imgH="75960" progId="Equation.3">
                            <p:embed/>
                          </p:oleObj>
                        </mc:Choice>
                        <mc:Fallback>
                          <p:oleObj name="公式" r:id="rId5" imgW="139680" imgH="75960" progId="Equation.3">
                            <p:embed/>
                            <p:pic>
                              <p:nvPicPr>
                                <p:cNvPr id="0" name="Picture 3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978" y="1281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68" name="Object 92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864" y="941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86" name="公式" r:id="rId6" imgW="139680" imgH="75960" progId="Equation.3">
                            <p:embed/>
                          </p:oleObj>
                        </mc:Choice>
                        <mc:Fallback>
                          <p:oleObj name="公式" r:id="rId6" imgW="139680" imgH="75960" progId="Equation.3">
                            <p:embed/>
                            <p:pic>
                              <p:nvPicPr>
                                <p:cNvPr id="0" name="Picture 4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864" y="941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69" name="Object 93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849" y="1593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87" name="公式" r:id="rId7" imgW="139680" imgH="75960" progId="Equation.3">
                            <p:embed/>
                          </p:oleObj>
                        </mc:Choice>
                        <mc:Fallback>
                          <p:oleObj name="公式" r:id="rId7" imgW="139680" imgH="75960" progId="Equation.3">
                            <p:embed/>
                            <p:pic>
                              <p:nvPicPr>
                                <p:cNvPr id="0" name="Picture 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849" y="1593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70" name="Object 94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099" y="941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88" name="公式" r:id="rId8" imgW="139680" imgH="75960" progId="Equation.3">
                            <p:embed/>
                          </p:oleObj>
                        </mc:Choice>
                        <mc:Fallback>
                          <p:oleObj name="公式" r:id="rId8" imgW="139680" imgH="75960" progId="Equation.3">
                            <p:embed/>
                            <p:pic>
                              <p:nvPicPr>
                                <p:cNvPr id="0" name="Picture 6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099" y="941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71" name="Object 9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083" y="1598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89" name="公式" r:id="rId9" imgW="139680" imgH="75960" progId="Equation.3">
                            <p:embed/>
                          </p:oleObj>
                        </mc:Choice>
                        <mc:Fallback>
                          <p:oleObj name="公式" r:id="rId9" imgW="139680" imgH="75960" progId="Equation.3">
                            <p:embed/>
                            <p:pic>
                              <p:nvPicPr>
                                <p:cNvPr id="0" name="Picture 7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083" y="1598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72" name="Object 9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496" y="1768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90" name="公式" r:id="rId10" imgW="139680" imgH="75960" progId="Equation.3">
                            <p:embed/>
                          </p:oleObj>
                        </mc:Choice>
                        <mc:Fallback>
                          <p:oleObj name="公式" r:id="rId10" imgW="139680" imgH="75960" progId="Equation.3">
                            <p:embed/>
                            <p:pic>
                              <p:nvPicPr>
                                <p:cNvPr id="0" name="Picture 8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496" y="1768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73" name="Object 97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468" y="799"/>
                    <a:ext cx="12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91" name="公式" r:id="rId11" imgW="139680" imgH="75960" progId="Equation.3">
                            <p:embed/>
                          </p:oleObj>
                        </mc:Choice>
                        <mc:Fallback>
                          <p:oleObj name="公式" r:id="rId11" imgW="139680" imgH="75960" progId="Equation.3">
                            <p:embed/>
                            <p:pic>
                              <p:nvPicPr>
                                <p:cNvPr id="0" name="Picture 9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468" y="799"/>
                                  <a:ext cx="12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50274" name="Object 9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234" y="1649"/>
                    <a:ext cx="276" cy="25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291492" name="公式" r:id="rId12" imgW="241200" imgH="164880" progId="Equation.3">
                            <p:embed/>
                          </p:oleObj>
                        </mc:Choice>
                        <mc:Fallback>
                          <p:oleObj name="公式" r:id="rId12" imgW="241200" imgH="164880" progId="Equation.3">
                            <p:embed/>
                            <p:pic>
                              <p:nvPicPr>
                                <p:cNvPr id="0" name="Picture 10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4234" y="1649"/>
                                  <a:ext cx="276" cy="250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sp>
                <p:nvSpPr>
                  <p:cNvPr id="50261" name="AutoShape 85"/>
                  <p:cNvSpPr>
                    <a:spLocks noChangeArrowheads="1"/>
                  </p:cNvSpPr>
                  <p:nvPr/>
                </p:nvSpPr>
                <p:spPr bwMode="auto">
                  <a:xfrm>
                    <a:off x="3799" y="800"/>
                    <a:ext cx="1746" cy="1616"/>
                  </a:xfrm>
                  <a:custGeom>
                    <a:avLst/>
                    <a:gdLst>
                      <a:gd name="G0" fmla="+- 3482 0 0"/>
                      <a:gd name="G1" fmla="+- 21600 0 3482"/>
                      <a:gd name="G2" fmla="+- 21600 0 3482"/>
                      <a:gd name="G3" fmla="*/ G0 2929 10000"/>
                      <a:gd name="G4" fmla="+- 21600 0 G3"/>
                      <a:gd name="G5" fmla="+- 21600 0 G3"/>
                      <a:gd name="T0" fmla="*/ 10800 w 21600"/>
                      <a:gd name="T1" fmla="*/ 0 h 21600"/>
                      <a:gd name="T2" fmla="*/ 3163 w 21600"/>
                      <a:gd name="T3" fmla="*/ 3163 h 21600"/>
                      <a:gd name="T4" fmla="*/ 0 w 21600"/>
                      <a:gd name="T5" fmla="*/ 10800 h 21600"/>
                      <a:gd name="T6" fmla="*/ 3163 w 21600"/>
                      <a:gd name="T7" fmla="*/ 18437 h 21600"/>
                      <a:gd name="T8" fmla="*/ 10800 w 21600"/>
                      <a:gd name="T9" fmla="*/ 21600 h 21600"/>
                      <a:gd name="T10" fmla="*/ 18437 w 21600"/>
                      <a:gd name="T11" fmla="*/ 18437 h 21600"/>
                      <a:gd name="T12" fmla="*/ 21600 w 21600"/>
                      <a:gd name="T13" fmla="*/ 10800 h 21600"/>
                      <a:gd name="T14" fmla="*/ 18437 w 21600"/>
                      <a:gd name="T15" fmla="*/ 3163 h 21600"/>
                      <a:gd name="T16" fmla="*/ 3163 w 21600"/>
                      <a:gd name="T17" fmla="*/ 3163 h 21600"/>
                      <a:gd name="T18" fmla="*/ 18437 w 21600"/>
                      <a:gd name="T19" fmla="*/ 18437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T16" t="T17" r="T18" b="T19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3482" y="10800"/>
                        </a:moveTo>
                        <a:cubicBezTo>
                          <a:pt x="3482" y="14842"/>
                          <a:pt x="6758" y="18118"/>
                          <a:pt x="10800" y="18118"/>
                        </a:cubicBezTo>
                        <a:cubicBezTo>
                          <a:pt x="14842" y="18118"/>
                          <a:pt x="18118" y="14842"/>
                          <a:pt x="18118" y="10800"/>
                        </a:cubicBezTo>
                        <a:cubicBezTo>
                          <a:pt x="18118" y="6758"/>
                          <a:pt x="14842" y="3482"/>
                          <a:pt x="10800" y="3482"/>
                        </a:cubicBezTo>
                        <a:cubicBezTo>
                          <a:pt x="6758" y="3482"/>
                          <a:pt x="3482" y="6758"/>
                          <a:pt x="3482" y="10800"/>
                        </a:cubicBezTo>
                        <a:close/>
                      </a:path>
                    </a:pathLst>
                  </a:custGeom>
                  <a:solidFill>
                    <a:srgbClr val="969696"/>
                  </a:solidFill>
                  <a:ln w="9525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0" hangingPunct="0"/>
                    <a:endParaRPr lang="zh-CN" altLang="en-US" sz="2100">
                      <a:solidFill>
                        <a:srgbClr val="000000"/>
                      </a:solidFill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grpSp>
              <p:nvGrpSpPr>
                <p:cNvPr id="7" name="Group 117"/>
                <p:cNvGrpSpPr>
                  <a:grpSpLocks/>
                </p:cNvGrpSpPr>
                <p:nvPr/>
              </p:nvGrpSpPr>
              <p:grpSpPr bwMode="auto">
                <a:xfrm>
                  <a:off x="5328" y="2059"/>
                  <a:ext cx="272" cy="458"/>
                  <a:chOff x="5198" y="2087"/>
                  <a:chExt cx="272" cy="458"/>
                </a:xfrm>
              </p:grpSpPr>
              <p:sp>
                <p:nvSpPr>
                  <p:cNvPr id="50289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5336" y="2087"/>
                    <a:ext cx="0" cy="365"/>
                  </a:xfrm>
                  <a:prstGeom prst="line">
                    <a:avLst/>
                  </a:prstGeom>
                  <a:noFill/>
                  <a:ln w="412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0" hangingPunct="0"/>
                    <a:endParaRPr lang="zh-CN" altLang="en-US" sz="2100">
                      <a:solidFill>
                        <a:srgbClr val="000000"/>
                      </a:solidFill>
                      <a:latin typeface="Times New Roman" pitchFamily="18" charset="0"/>
                      <a:ea typeface="宋体" charset="-122"/>
                    </a:endParaRPr>
                  </a:p>
                </p:txBody>
              </p:sp>
              <p:sp>
                <p:nvSpPr>
                  <p:cNvPr id="50290" name="Line 1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98" y="2454"/>
                    <a:ext cx="27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0" hangingPunct="0"/>
                    <a:endParaRPr lang="zh-CN" altLang="en-US" sz="2100">
                      <a:solidFill>
                        <a:srgbClr val="000000"/>
                      </a:solidFill>
                      <a:latin typeface="Times New Roman" pitchFamily="18" charset="0"/>
                      <a:ea typeface="宋体" charset="-122"/>
                    </a:endParaRPr>
                  </a:p>
                </p:txBody>
              </p:sp>
              <p:sp>
                <p:nvSpPr>
                  <p:cNvPr id="50291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5268" y="2500"/>
                    <a:ext cx="133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0" hangingPunct="0"/>
                    <a:endParaRPr lang="zh-CN" altLang="en-US" sz="2100">
                      <a:solidFill>
                        <a:srgbClr val="000000"/>
                      </a:solidFill>
                      <a:latin typeface="Times New Roman" pitchFamily="18" charset="0"/>
                      <a:ea typeface="宋体" charset="-122"/>
                    </a:endParaRPr>
                  </a:p>
                </p:txBody>
              </p:sp>
              <p:sp>
                <p:nvSpPr>
                  <p:cNvPr id="50292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5301" y="2545"/>
                    <a:ext cx="6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0" hangingPunct="0"/>
                    <a:endParaRPr lang="zh-CN" altLang="en-US" sz="2100">
                      <a:solidFill>
                        <a:srgbClr val="000000"/>
                      </a:solidFill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</p:grpSp>
        </p:grpSp>
      </p:grpSp>
      <p:grpSp>
        <p:nvGrpSpPr>
          <p:cNvPr id="41" name="Group 176"/>
          <p:cNvGrpSpPr>
            <a:grpSpLocks/>
          </p:cNvGrpSpPr>
          <p:nvPr/>
        </p:nvGrpSpPr>
        <p:grpSpPr bwMode="auto">
          <a:xfrm>
            <a:off x="2869410" y="1998149"/>
            <a:ext cx="1404938" cy="1273968"/>
            <a:chOff x="2908" y="1971"/>
            <a:chExt cx="1180" cy="1070"/>
          </a:xfrm>
        </p:grpSpPr>
        <p:sp>
          <p:nvSpPr>
            <p:cNvPr id="44" name="Line 130"/>
            <p:cNvSpPr>
              <a:spLocks noChangeShapeType="1"/>
            </p:cNvSpPr>
            <p:nvPr/>
          </p:nvSpPr>
          <p:spPr bwMode="auto">
            <a:xfrm>
              <a:off x="3833" y="2496"/>
              <a:ext cx="94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6" name="Freeform 156"/>
            <p:cNvSpPr>
              <a:spLocks/>
            </p:cNvSpPr>
            <p:nvPr/>
          </p:nvSpPr>
          <p:spPr bwMode="auto">
            <a:xfrm flipV="1">
              <a:off x="3198" y="2460"/>
              <a:ext cx="617" cy="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7" y="0"/>
                </a:cxn>
              </a:cxnLst>
              <a:rect l="0" t="0" r="r" b="b"/>
              <a:pathLst>
                <a:path w="567" h="1">
                  <a:moveTo>
                    <a:pt x="0" y="0"/>
                  </a:moveTo>
                  <a:cubicBezTo>
                    <a:pt x="236" y="0"/>
                    <a:pt x="473" y="0"/>
                    <a:pt x="56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7" name="Freeform 157"/>
            <p:cNvSpPr>
              <a:spLocks/>
            </p:cNvSpPr>
            <p:nvPr/>
          </p:nvSpPr>
          <p:spPr bwMode="auto">
            <a:xfrm rot="333599">
              <a:off x="3265" y="1984"/>
              <a:ext cx="636" cy="427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142" y="133"/>
                </a:cxn>
                <a:cxn ang="0">
                  <a:pos x="482" y="19"/>
                </a:cxn>
                <a:cxn ang="0">
                  <a:pos x="737" y="19"/>
                </a:cxn>
              </a:cxnLst>
              <a:rect l="0" t="0" r="r" b="b"/>
              <a:pathLst>
                <a:path w="737" h="360">
                  <a:moveTo>
                    <a:pt x="0" y="360"/>
                  </a:moveTo>
                  <a:cubicBezTo>
                    <a:pt x="31" y="275"/>
                    <a:pt x="62" y="190"/>
                    <a:pt x="142" y="133"/>
                  </a:cubicBezTo>
                  <a:cubicBezTo>
                    <a:pt x="222" y="76"/>
                    <a:pt x="383" y="38"/>
                    <a:pt x="482" y="19"/>
                  </a:cubicBezTo>
                  <a:cubicBezTo>
                    <a:pt x="581" y="0"/>
                    <a:pt x="659" y="9"/>
                    <a:pt x="737" y="1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8" name="Freeform 159"/>
            <p:cNvSpPr>
              <a:spLocks/>
            </p:cNvSpPr>
            <p:nvPr/>
          </p:nvSpPr>
          <p:spPr bwMode="auto">
            <a:xfrm rot="21120163" flipV="1">
              <a:off x="3267" y="2569"/>
              <a:ext cx="695" cy="472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142" y="133"/>
                </a:cxn>
                <a:cxn ang="0">
                  <a:pos x="482" y="19"/>
                </a:cxn>
                <a:cxn ang="0">
                  <a:pos x="737" y="19"/>
                </a:cxn>
              </a:cxnLst>
              <a:rect l="0" t="0" r="r" b="b"/>
              <a:pathLst>
                <a:path w="737" h="360">
                  <a:moveTo>
                    <a:pt x="0" y="360"/>
                  </a:moveTo>
                  <a:cubicBezTo>
                    <a:pt x="31" y="275"/>
                    <a:pt x="62" y="190"/>
                    <a:pt x="142" y="133"/>
                  </a:cubicBezTo>
                  <a:cubicBezTo>
                    <a:pt x="222" y="76"/>
                    <a:pt x="383" y="38"/>
                    <a:pt x="482" y="19"/>
                  </a:cubicBezTo>
                  <a:cubicBezTo>
                    <a:pt x="581" y="0"/>
                    <a:pt x="659" y="9"/>
                    <a:pt x="737" y="1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</p:spPr>
          <p:txBody>
            <a:bodyPr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9" name="Freeform 160"/>
            <p:cNvSpPr>
              <a:spLocks/>
            </p:cNvSpPr>
            <p:nvPr/>
          </p:nvSpPr>
          <p:spPr bwMode="auto">
            <a:xfrm rot="-448635">
              <a:off x="2959" y="1971"/>
              <a:ext cx="231" cy="516"/>
            </a:xfrm>
            <a:custGeom>
              <a:avLst/>
              <a:gdLst/>
              <a:ahLst/>
              <a:cxnLst>
                <a:cxn ang="0">
                  <a:pos x="255" y="397"/>
                </a:cxn>
                <a:cxn ang="0">
                  <a:pos x="142" y="113"/>
                </a:cxn>
                <a:cxn ang="0">
                  <a:pos x="0" y="0"/>
                </a:cxn>
              </a:cxnLst>
              <a:rect l="0" t="0" r="r" b="b"/>
              <a:pathLst>
                <a:path w="255" h="397">
                  <a:moveTo>
                    <a:pt x="255" y="397"/>
                  </a:moveTo>
                  <a:cubicBezTo>
                    <a:pt x="219" y="288"/>
                    <a:pt x="184" y="179"/>
                    <a:pt x="142" y="113"/>
                  </a:cubicBezTo>
                  <a:cubicBezTo>
                    <a:pt x="100" y="47"/>
                    <a:pt x="50" y="23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</p:spPr>
          <p:txBody>
            <a:bodyPr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0" name="Freeform 161"/>
            <p:cNvSpPr>
              <a:spLocks/>
            </p:cNvSpPr>
            <p:nvPr/>
          </p:nvSpPr>
          <p:spPr bwMode="auto">
            <a:xfrm rot="448635" flipV="1">
              <a:off x="2959" y="2523"/>
              <a:ext cx="231" cy="516"/>
            </a:xfrm>
            <a:custGeom>
              <a:avLst/>
              <a:gdLst/>
              <a:ahLst/>
              <a:cxnLst>
                <a:cxn ang="0">
                  <a:pos x="255" y="397"/>
                </a:cxn>
                <a:cxn ang="0">
                  <a:pos x="142" y="113"/>
                </a:cxn>
                <a:cxn ang="0">
                  <a:pos x="0" y="0"/>
                </a:cxn>
              </a:cxnLst>
              <a:rect l="0" t="0" r="r" b="b"/>
              <a:pathLst>
                <a:path w="255" h="397">
                  <a:moveTo>
                    <a:pt x="255" y="397"/>
                  </a:moveTo>
                  <a:cubicBezTo>
                    <a:pt x="219" y="288"/>
                    <a:pt x="184" y="179"/>
                    <a:pt x="142" y="113"/>
                  </a:cubicBezTo>
                  <a:cubicBezTo>
                    <a:pt x="100" y="47"/>
                    <a:pt x="50" y="23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</p:spPr>
          <p:txBody>
            <a:bodyPr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" name="Freeform 162"/>
            <p:cNvSpPr>
              <a:spLocks/>
            </p:cNvSpPr>
            <p:nvPr/>
          </p:nvSpPr>
          <p:spPr bwMode="auto">
            <a:xfrm flipH="1" flipV="1">
              <a:off x="2908" y="2449"/>
              <a:ext cx="255" cy="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7" y="0"/>
                </a:cxn>
              </a:cxnLst>
              <a:rect l="0" t="0" r="r" b="b"/>
              <a:pathLst>
                <a:path w="567" h="1">
                  <a:moveTo>
                    <a:pt x="0" y="0"/>
                  </a:moveTo>
                  <a:cubicBezTo>
                    <a:pt x="236" y="0"/>
                    <a:pt x="473" y="0"/>
                    <a:pt x="56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52" name="Group 175"/>
            <p:cNvGrpSpPr>
              <a:grpSpLocks/>
            </p:cNvGrpSpPr>
            <p:nvPr/>
          </p:nvGrpSpPr>
          <p:grpSpPr bwMode="auto">
            <a:xfrm>
              <a:off x="3076" y="2299"/>
              <a:ext cx="383" cy="403"/>
              <a:chOff x="3076" y="2299"/>
              <a:chExt cx="383" cy="403"/>
            </a:xfrm>
          </p:grpSpPr>
          <p:sp>
            <p:nvSpPr>
              <p:cNvPr id="53" name="Oval 121"/>
              <p:cNvSpPr>
                <a:spLocks noChangeArrowheads="1"/>
              </p:cNvSpPr>
              <p:nvPr/>
            </p:nvSpPr>
            <p:spPr bwMode="auto">
              <a:xfrm>
                <a:off x="3094" y="2366"/>
                <a:ext cx="246" cy="251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</a:pPr>
                <a:endParaRPr lang="en-US" altLang="zh-CN" sz="2400" b="1" i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54" name="Rectangle 122"/>
              <p:cNvSpPr>
                <a:spLocks noChangeArrowheads="1"/>
              </p:cNvSpPr>
              <p:nvPr/>
            </p:nvSpPr>
            <p:spPr bwMode="auto">
              <a:xfrm>
                <a:off x="3076" y="2299"/>
                <a:ext cx="383" cy="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100" b="1" i="1" dirty="0">
                    <a:solidFill>
                      <a:srgbClr val="000000"/>
                    </a:solidFill>
                    <a:latin typeface="Times New Roman" pitchFamily="18" charset="0"/>
                    <a:ea typeface="宋体" charset="-122"/>
                  </a:rPr>
                  <a:t>+</a:t>
                </a:r>
              </a:p>
            </p:txBody>
          </p:sp>
        </p:grpSp>
        <p:sp>
          <p:nvSpPr>
            <p:cNvPr id="42" name="Line 130"/>
            <p:cNvSpPr>
              <a:spLocks noChangeShapeType="1"/>
            </p:cNvSpPr>
            <p:nvPr/>
          </p:nvSpPr>
          <p:spPr bwMode="auto">
            <a:xfrm>
              <a:off x="3921" y="2048"/>
              <a:ext cx="94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6" name="Line 130"/>
            <p:cNvSpPr>
              <a:spLocks noChangeShapeType="1"/>
            </p:cNvSpPr>
            <p:nvPr/>
          </p:nvSpPr>
          <p:spPr bwMode="auto">
            <a:xfrm>
              <a:off x="3994" y="2955"/>
              <a:ext cx="94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5495-FB17-4743-98B2-732EA470C315}" type="slidenum">
              <a:rPr lang="zh-CN" altLang="en-US" smtClean="0">
                <a:solidFill>
                  <a:srgbClr val="578963"/>
                </a:solidFill>
              </a:rPr>
              <a:pPr/>
              <a:t>16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793665" y="257300"/>
            <a:ext cx="7940760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例</a:t>
            </a:r>
            <a:r>
              <a:rPr lang="en-US" altLang="zh-CN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两个无限大带电平面，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面积均为 </a:t>
            </a:r>
            <a:r>
              <a:rPr kumimoji="1" lang="en-US" altLang="en-US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带电量 </a:t>
            </a:r>
            <a:r>
              <a:rPr kumimoji="1" lang="en-US" altLang="en-US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Q </a:t>
            </a:r>
            <a:r>
              <a:rPr kumimoji="1" lang="zh-CN" altLang="zh-CN" sz="21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的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一个金属板，与另一不带电的金属平板平行放置。</a:t>
            </a:r>
            <a:endParaRPr lang="zh-CN" altLang="en-US" sz="2100" b="1" dirty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606746" y="2217328"/>
            <a:ext cx="1198961" cy="2093120"/>
            <a:chOff x="4073" y="1980"/>
            <a:chExt cx="1007" cy="1758"/>
          </a:xfrm>
        </p:grpSpPr>
        <p:graphicFrame>
          <p:nvGraphicFramePr>
            <p:cNvPr id="9011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8972307"/>
                </p:ext>
              </p:extLst>
            </p:nvPr>
          </p:nvGraphicFramePr>
          <p:xfrm>
            <a:off x="4073" y="1980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41" name="公式" r:id="rId3" imgW="152280" imgH="164880" progId="Equation.3">
                    <p:embed/>
                  </p:oleObj>
                </mc:Choice>
                <mc:Fallback>
                  <p:oleObj name="公式" r:id="rId3" imgW="152280" imgH="16488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1980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1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1384987"/>
                </p:ext>
              </p:extLst>
            </p:nvPr>
          </p:nvGraphicFramePr>
          <p:xfrm>
            <a:off x="4859" y="2016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42" name="公式" r:id="rId5" imgW="152280" imgH="164880" progId="Equation.3">
                    <p:embed/>
                  </p:oleObj>
                </mc:Choice>
                <mc:Fallback>
                  <p:oleObj name="公式" r:id="rId5" imgW="152280" imgH="16488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2016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1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3353238"/>
                </p:ext>
              </p:extLst>
            </p:nvPr>
          </p:nvGraphicFramePr>
          <p:xfrm>
            <a:off x="4084" y="3443"/>
            <a:ext cx="22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43" name="公式" r:id="rId7" imgW="152280" imgH="203040" progId="Equation.3">
                    <p:embed/>
                  </p:oleObj>
                </mc:Choice>
                <mc:Fallback>
                  <p:oleObj name="公式" r:id="rId7" imgW="15228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4" y="3443"/>
                          <a:ext cx="22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20" name="Rectangle 8"/>
            <p:cNvSpPr>
              <a:spLocks noChangeArrowheads="1"/>
            </p:cNvSpPr>
            <p:nvPr/>
          </p:nvSpPr>
          <p:spPr bwMode="auto">
            <a:xfrm>
              <a:off x="4134" y="2292"/>
              <a:ext cx="118" cy="1152"/>
            </a:xfrm>
            <a:prstGeom prst="rect">
              <a:avLst/>
            </a:prstGeom>
            <a:solidFill>
              <a:srgbClr val="FF9900">
                <a:alpha val="4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0121" name="Rectangle 9"/>
            <p:cNvSpPr>
              <a:spLocks noChangeArrowheads="1"/>
            </p:cNvSpPr>
            <p:nvPr/>
          </p:nvSpPr>
          <p:spPr bwMode="auto">
            <a:xfrm>
              <a:off x="4921" y="2277"/>
              <a:ext cx="114" cy="115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756016" y="1135084"/>
            <a:ext cx="6312694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求</a:t>
            </a:r>
            <a:r>
              <a:rPr kumimoji="1" lang="en-US" altLang="zh-CN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:</a:t>
            </a:r>
            <a:r>
              <a:rPr kumimoji="1" lang="zh-CN" altLang="en-US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）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静电平衡时，板上电荷分布及周围电场分布；</a:t>
            </a:r>
            <a:endParaRPr kumimoji="1" lang="en-US" altLang="zh-CN" sz="2100" b="1" dirty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  <a:p>
            <a:pPr>
              <a:lnSpc>
                <a:spcPct val="140000"/>
              </a:lnSpc>
            </a:pPr>
            <a:r>
              <a:rPr kumimoji="1"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</a:t>
            </a:r>
            <a:r>
              <a:rPr kumimoji="1" lang="zh-CN" altLang="en-US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）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若第二板接地，情况又怎样？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793665" y="2757085"/>
            <a:ext cx="4445555" cy="1449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40000"/>
              </a:lnSpc>
              <a:spcBef>
                <a:spcPct val="50000"/>
              </a:spcBef>
            </a:pPr>
            <a:r>
              <a:rPr lang="zh-CN" altLang="en-US" sz="2100" b="1" dirty="0">
                <a:solidFill>
                  <a:srgbClr val="A50021"/>
                </a:solidFill>
                <a:latin typeface="Times New Roman" pitchFamily="18" charset="0"/>
                <a:ea typeface="宋体" charset="-122"/>
              </a:rPr>
              <a:t>解：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设带电量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Q &gt; 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,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四个面的电荷面密度分别为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σ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lang="en-US" altLang="zh-CN" sz="2100" b="1" i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、σ</a:t>
            </a:r>
            <a:r>
              <a:rPr lang="en-US" altLang="zh-CN" sz="2100" b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lang="en-US" altLang="zh-CN" sz="2100" b="1" i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、σ</a:t>
            </a:r>
            <a:r>
              <a:rPr lang="en-US" altLang="zh-CN" sz="2100" b="1" i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3 </a:t>
            </a:r>
            <a:r>
              <a:rPr lang="en-US" altLang="zh-CN" sz="2100" b="1" i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、σ</a:t>
            </a:r>
            <a:r>
              <a:rPr lang="en-US" altLang="zh-CN" sz="2100" b="1" i="1" baseline="-25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4               </a:t>
            </a: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如图所示。</a:t>
            </a:r>
            <a:endParaRPr lang="en-US" altLang="zh-CN" sz="2100" b="1" dirty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397766" y="3300810"/>
            <a:ext cx="1654440" cy="396854"/>
            <a:chOff x="6599955" y="5218113"/>
            <a:chExt cx="2205920" cy="529138"/>
          </a:xfrm>
        </p:grpSpPr>
        <p:graphicFrame>
          <p:nvGraphicFramePr>
            <p:cNvPr id="1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8772470"/>
                </p:ext>
              </p:extLst>
            </p:nvPr>
          </p:nvGraphicFramePr>
          <p:xfrm>
            <a:off x="6599955" y="5218614"/>
            <a:ext cx="409575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44" name="Equation" r:id="rId9" imgW="177480" imgH="228600" progId="Equation.DSMT4">
                    <p:embed/>
                  </p:oleObj>
                </mc:Choice>
                <mc:Fallback>
                  <p:oleObj name="Equation" r:id="rId9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9955" y="5218614"/>
                          <a:ext cx="409575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0235922"/>
                </p:ext>
              </p:extLst>
            </p:nvPr>
          </p:nvGraphicFramePr>
          <p:xfrm>
            <a:off x="71342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45" name="Equation" r:id="rId11" imgW="190440" imgH="228600" progId="Equation.DSMT4">
                    <p:embed/>
                  </p:oleObj>
                </mc:Choice>
                <mc:Fallback>
                  <p:oleObj name="Equation" r:id="rId11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42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285576"/>
                </p:ext>
              </p:extLst>
            </p:nvPr>
          </p:nvGraphicFramePr>
          <p:xfrm>
            <a:off x="78470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46" name="Equation" r:id="rId13" imgW="190440" imgH="228600" progId="Equation.DSMT4">
                    <p:embed/>
                  </p:oleObj>
                </mc:Choice>
                <mc:Fallback>
                  <p:oleObj name="Equation" r:id="rId13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70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8783179"/>
                </p:ext>
              </p:extLst>
            </p:nvPr>
          </p:nvGraphicFramePr>
          <p:xfrm>
            <a:off x="8366138" y="5218113"/>
            <a:ext cx="439737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47" name="Equation" r:id="rId15" imgW="190440" imgH="228600" progId="Equation.DSMT4">
                    <p:embed/>
                  </p:oleObj>
                </mc:Choice>
                <mc:Fallback>
                  <p:oleObj name="Equation" r:id="rId1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6138" y="5218113"/>
                          <a:ext cx="439737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AutoShape 13"/>
          <p:cNvSpPr>
            <a:spLocks noChangeArrowheads="1"/>
          </p:cNvSpPr>
          <p:nvPr/>
        </p:nvSpPr>
        <p:spPr bwMode="auto">
          <a:xfrm>
            <a:off x="7059185" y="4044938"/>
            <a:ext cx="571501" cy="342900"/>
          </a:xfrm>
          <a:prstGeom prst="wedgeEllipseCallout">
            <a:avLst>
              <a:gd name="adj1" fmla="val -77086"/>
              <a:gd name="adj2" fmla="val -94843"/>
            </a:avLst>
          </a:prstGeom>
          <a:noFill/>
          <a:ln w="254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40000"/>
              </a:lnSpc>
            </a:pPr>
            <a:r>
              <a:rPr kumimoji="1" lang="en-US" altLang="zh-CN" sz="2100" b="1" i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4"/>
          <p:cNvGrpSpPr>
            <a:grpSpLocks/>
          </p:cNvGrpSpPr>
          <p:nvPr/>
        </p:nvGrpSpPr>
        <p:grpSpPr bwMode="auto">
          <a:xfrm>
            <a:off x="6882971" y="2142048"/>
            <a:ext cx="1198961" cy="2163366"/>
            <a:chOff x="4073" y="1980"/>
            <a:chExt cx="1007" cy="1817"/>
          </a:xfrm>
        </p:grpSpPr>
        <p:graphicFrame>
          <p:nvGraphicFramePr>
            <p:cNvPr id="3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1463858"/>
                </p:ext>
              </p:extLst>
            </p:nvPr>
          </p:nvGraphicFramePr>
          <p:xfrm>
            <a:off x="4073" y="1980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07" name="公式" r:id="rId4" imgW="152280" imgH="164880" progId="Equation.3">
                    <p:embed/>
                  </p:oleObj>
                </mc:Choice>
                <mc:Fallback>
                  <p:oleObj name="公式" r:id="rId4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1980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6143512"/>
                </p:ext>
              </p:extLst>
            </p:nvPr>
          </p:nvGraphicFramePr>
          <p:xfrm>
            <a:off x="4859" y="2016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08" name="公式" r:id="rId6" imgW="152280" imgH="164880" progId="Equation.3">
                    <p:embed/>
                  </p:oleObj>
                </mc:Choice>
                <mc:Fallback>
                  <p:oleObj name="公式" r:id="rId6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2016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4332375"/>
                </p:ext>
              </p:extLst>
            </p:nvPr>
          </p:nvGraphicFramePr>
          <p:xfrm>
            <a:off x="4084" y="3443"/>
            <a:ext cx="22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09" name="公式" r:id="rId8" imgW="152280" imgH="203040" progId="Equation.3">
                    <p:embed/>
                  </p:oleObj>
                </mc:Choice>
                <mc:Fallback>
                  <p:oleObj name="公式" r:id="rId8" imgW="1522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4" y="3443"/>
                          <a:ext cx="22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Rectangle 8"/>
            <p:cNvSpPr>
              <a:spLocks noChangeArrowheads="1"/>
            </p:cNvSpPr>
            <p:nvPr/>
          </p:nvSpPr>
          <p:spPr bwMode="auto">
            <a:xfrm>
              <a:off x="4134" y="2292"/>
              <a:ext cx="118" cy="1152"/>
            </a:xfrm>
            <a:prstGeom prst="rect">
              <a:avLst/>
            </a:prstGeom>
            <a:solidFill>
              <a:srgbClr val="FF9900">
                <a:alpha val="4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1" name="Rectangle 9"/>
            <p:cNvSpPr>
              <a:spLocks noChangeArrowheads="1"/>
            </p:cNvSpPr>
            <p:nvPr/>
          </p:nvSpPr>
          <p:spPr bwMode="auto">
            <a:xfrm>
              <a:off x="4921" y="2277"/>
              <a:ext cx="114" cy="115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2" name="AutoShape 13"/>
            <p:cNvSpPr>
              <a:spLocks noChangeArrowheads="1"/>
            </p:cNvSpPr>
            <p:nvPr/>
          </p:nvSpPr>
          <p:spPr bwMode="auto">
            <a:xfrm>
              <a:off x="4445" y="3509"/>
              <a:ext cx="480" cy="288"/>
            </a:xfrm>
            <a:prstGeom prst="wedgeEllipseCallout">
              <a:avLst>
                <a:gd name="adj1" fmla="val -77086"/>
                <a:gd name="adj2" fmla="val -94843"/>
              </a:avLst>
            </a:prstGeom>
            <a:noFill/>
            <a:ln w="25400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40000"/>
                </a:lnSpc>
              </a:pPr>
              <a:r>
                <a:rPr kumimoji="1" lang="en-US" altLang="zh-CN" sz="2100" b="1" i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S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673991" y="3276328"/>
            <a:ext cx="1654440" cy="396854"/>
            <a:chOff x="6599955" y="5218113"/>
            <a:chExt cx="2205920" cy="529138"/>
          </a:xfrm>
        </p:grpSpPr>
        <p:graphicFrame>
          <p:nvGraphicFramePr>
            <p:cNvPr id="4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6546767"/>
                </p:ext>
              </p:extLst>
            </p:nvPr>
          </p:nvGraphicFramePr>
          <p:xfrm>
            <a:off x="6599955" y="5218614"/>
            <a:ext cx="409575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10" name="Equation" r:id="rId10" imgW="177480" imgH="228600" progId="Equation.DSMT4">
                    <p:embed/>
                  </p:oleObj>
                </mc:Choice>
                <mc:Fallback>
                  <p:oleObj name="Equation" r:id="rId10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9955" y="5218614"/>
                          <a:ext cx="409575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4686689"/>
                </p:ext>
              </p:extLst>
            </p:nvPr>
          </p:nvGraphicFramePr>
          <p:xfrm>
            <a:off x="71342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11" name="Equation" r:id="rId12" imgW="190440" imgH="228600" progId="Equation.DSMT4">
                    <p:embed/>
                  </p:oleObj>
                </mc:Choice>
                <mc:Fallback>
                  <p:oleObj name="Equation" r:id="rId12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42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293149"/>
                </p:ext>
              </p:extLst>
            </p:nvPr>
          </p:nvGraphicFramePr>
          <p:xfrm>
            <a:off x="78470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12" name="Equation" r:id="rId14" imgW="190440" imgH="228600" progId="Equation.DSMT4">
                    <p:embed/>
                  </p:oleObj>
                </mc:Choice>
                <mc:Fallback>
                  <p:oleObj name="Equation" r:id="rId14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70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5116665"/>
                </p:ext>
              </p:extLst>
            </p:nvPr>
          </p:nvGraphicFramePr>
          <p:xfrm>
            <a:off x="8366138" y="5218113"/>
            <a:ext cx="439737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13" name="Equation" r:id="rId16" imgW="190440" imgH="228600" progId="Equation.DSMT4">
                    <p:embed/>
                  </p:oleObj>
                </mc:Choice>
                <mc:Fallback>
                  <p:oleObj name="Equation" r:id="rId16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6138" y="5218113"/>
                          <a:ext cx="439737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" name="Group 52"/>
          <p:cNvGrpSpPr>
            <a:grpSpLocks/>
          </p:cNvGrpSpPr>
          <p:nvPr/>
        </p:nvGrpSpPr>
        <p:grpSpPr bwMode="auto">
          <a:xfrm>
            <a:off x="1334016" y="151363"/>
            <a:ext cx="3886200" cy="829865"/>
            <a:chOff x="158" y="23"/>
            <a:chExt cx="3264" cy="697"/>
          </a:xfrm>
        </p:grpSpPr>
        <p:sp>
          <p:nvSpPr>
            <p:cNvPr id="49" name="Text Box 53"/>
            <p:cNvSpPr txBox="1">
              <a:spLocks noChangeArrowheads="1"/>
            </p:cNvSpPr>
            <p:nvPr/>
          </p:nvSpPr>
          <p:spPr bwMode="auto">
            <a:xfrm>
              <a:off x="158" y="147"/>
              <a:ext cx="2212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由已知条件得：</a:t>
              </a:r>
            </a:p>
          </p:txBody>
        </p:sp>
        <p:grpSp>
          <p:nvGrpSpPr>
            <p:cNvPr id="50" name="Group 54"/>
            <p:cNvGrpSpPr>
              <a:grpSpLocks/>
            </p:cNvGrpSpPr>
            <p:nvPr/>
          </p:nvGrpSpPr>
          <p:grpSpPr bwMode="auto">
            <a:xfrm>
              <a:off x="1777" y="23"/>
              <a:ext cx="1645" cy="697"/>
              <a:chOff x="1777" y="-6"/>
              <a:chExt cx="1645" cy="697"/>
            </a:xfrm>
          </p:grpSpPr>
          <p:graphicFrame>
            <p:nvGraphicFramePr>
              <p:cNvPr id="51" name="Object 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6279807"/>
                  </p:ext>
                </p:extLst>
              </p:nvPr>
            </p:nvGraphicFramePr>
            <p:xfrm>
              <a:off x="1883" y="-6"/>
              <a:ext cx="1539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214" name="公式" r:id="rId18" imgW="990360" imgH="215640" progId="Equation.3">
                      <p:embed/>
                    </p:oleObj>
                  </mc:Choice>
                  <mc:Fallback>
                    <p:oleObj name="公式" r:id="rId18" imgW="99036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83" y="-6"/>
                            <a:ext cx="1539" cy="3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Object 5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0125781"/>
                  </p:ext>
                </p:extLst>
              </p:nvPr>
            </p:nvGraphicFramePr>
            <p:xfrm>
              <a:off x="1882" y="336"/>
              <a:ext cx="1114" cy="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215" name="公式" r:id="rId20" imgW="749160" imgH="228600" progId="Equation.3">
                      <p:embed/>
                    </p:oleObj>
                  </mc:Choice>
                  <mc:Fallback>
                    <p:oleObj name="公式" r:id="rId20" imgW="74916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82" y="336"/>
                            <a:ext cx="1114" cy="3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" name="AutoShape 57"/>
              <p:cNvSpPr>
                <a:spLocks/>
              </p:cNvSpPr>
              <p:nvPr/>
            </p:nvSpPr>
            <p:spPr bwMode="auto">
              <a:xfrm>
                <a:off x="1777" y="75"/>
                <a:ext cx="79" cy="467"/>
              </a:xfrm>
              <a:prstGeom prst="leftBrace">
                <a:avLst>
                  <a:gd name="adj1" fmla="val 49262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  <p:grpSp>
        <p:nvGrpSpPr>
          <p:cNvPr id="54" name="Group 43"/>
          <p:cNvGrpSpPr>
            <a:grpSpLocks/>
          </p:cNvGrpSpPr>
          <p:nvPr/>
        </p:nvGrpSpPr>
        <p:grpSpPr bwMode="auto">
          <a:xfrm>
            <a:off x="1334016" y="1086939"/>
            <a:ext cx="5692379" cy="495301"/>
            <a:chOff x="130" y="1160"/>
            <a:chExt cx="4781" cy="416"/>
          </a:xfrm>
        </p:grpSpPr>
        <p:sp>
          <p:nvSpPr>
            <p:cNvPr id="55" name="Text Box 44"/>
            <p:cNvSpPr txBox="1">
              <a:spLocks noChangeArrowheads="1"/>
            </p:cNvSpPr>
            <p:nvPr/>
          </p:nvSpPr>
          <p:spPr bwMode="auto">
            <a:xfrm>
              <a:off x="130" y="1173"/>
              <a:ext cx="4781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由</a:t>
              </a:r>
              <a:r>
                <a:rPr kumimoji="1" lang="zh-CN" altLang="en-US" sz="21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静电平衡条件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和</a:t>
              </a:r>
              <a:r>
                <a:rPr kumimoji="1" lang="zh-CN" altLang="en-US" sz="2100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高斯定理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可得： </a:t>
              </a:r>
            </a:p>
          </p:txBody>
        </p:sp>
        <p:graphicFrame>
          <p:nvGraphicFramePr>
            <p:cNvPr id="5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7072399"/>
                </p:ext>
              </p:extLst>
            </p:nvPr>
          </p:nvGraphicFramePr>
          <p:xfrm>
            <a:off x="3508" y="1160"/>
            <a:ext cx="1043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16" name="公式" r:id="rId22" imgW="749160" imgH="228600" progId="Equation.3">
                    <p:embed/>
                  </p:oleObj>
                </mc:Choice>
                <mc:Fallback>
                  <p:oleObj name="公式" r:id="rId22" imgW="749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8" y="1160"/>
                          <a:ext cx="1043" cy="3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6435692" y="2925584"/>
            <a:ext cx="2120528" cy="228600"/>
            <a:chOff x="6294922" y="4750453"/>
            <a:chExt cx="2827371" cy="304800"/>
          </a:xfrm>
        </p:grpSpPr>
        <p:grpSp>
          <p:nvGrpSpPr>
            <p:cNvPr id="58" name="Group 3"/>
            <p:cNvGrpSpPr>
              <a:grpSpLocks/>
            </p:cNvGrpSpPr>
            <p:nvPr/>
          </p:nvGrpSpPr>
          <p:grpSpPr bwMode="auto">
            <a:xfrm flipH="1">
              <a:off x="8582293" y="4750453"/>
              <a:ext cx="540000" cy="304800"/>
              <a:chOff x="1008" y="2496"/>
              <a:chExt cx="432" cy="192"/>
            </a:xfrm>
          </p:grpSpPr>
          <p:sp>
            <p:nvSpPr>
              <p:cNvPr id="79" name="Line 8"/>
              <p:cNvSpPr>
                <a:spLocks noChangeShapeType="1"/>
              </p:cNvSpPr>
              <p:nvPr/>
            </p:nvSpPr>
            <p:spPr bwMode="auto">
              <a:xfrm flipH="1">
                <a:off x="1008" y="2496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0" name="Line 9"/>
              <p:cNvSpPr>
                <a:spLocks noChangeShapeType="1"/>
              </p:cNvSpPr>
              <p:nvPr/>
            </p:nvSpPr>
            <p:spPr bwMode="auto">
              <a:xfrm flipH="1">
                <a:off x="1008" y="2688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59" name="Group 11"/>
            <p:cNvGrpSpPr>
              <a:grpSpLocks/>
            </p:cNvGrpSpPr>
            <p:nvPr/>
          </p:nvGrpSpPr>
          <p:grpSpPr bwMode="auto">
            <a:xfrm>
              <a:off x="6294922" y="4750453"/>
              <a:ext cx="540000" cy="304800"/>
              <a:chOff x="1008" y="2496"/>
              <a:chExt cx="432" cy="192"/>
            </a:xfrm>
          </p:grpSpPr>
          <p:sp>
            <p:nvSpPr>
              <p:cNvPr id="72" name="Line 16"/>
              <p:cNvSpPr>
                <a:spLocks noChangeShapeType="1"/>
              </p:cNvSpPr>
              <p:nvPr/>
            </p:nvSpPr>
            <p:spPr bwMode="auto">
              <a:xfrm flipH="1">
                <a:off x="1008" y="2496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73" name="Line 17"/>
              <p:cNvSpPr>
                <a:spLocks noChangeShapeType="1"/>
              </p:cNvSpPr>
              <p:nvPr/>
            </p:nvSpPr>
            <p:spPr bwMode="auto">
              <a:xfrm flipH="1">
                <a:off x="1008" y="2688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60" name="Group 19"/>
            <p:cNvGrpSpPr>
              <a:grpSpLocks/>
            </p:cNvGrpSpPr>
            <p:nvPr/>
          </p:nvGrpSpPr>
          <p:grpSpPr bwMode="auto">
            <a:xfrm flipH="1">
              <a:off x="7437706" y="4750453"/>
              <a:ext cx="540000" cy="304800"/>
              <a:chOff x="1008" y="2496"/>
              <a:chExt cx="432" cy="192"/>
            </a:xfrm>
          </p:grpSpPr>
          <p:sp>
            <p:nvSpPr>
              <p:cNvPr id="65" name="Line 24"/>
              <p:cNvSpPr>
                <a:spLocks noChangeShapeType="1"/>
              </p:cNvSpPr>
              <p:nvPr/>
            </p:nvSpPr>
            <p:spPr bwMode="auto">
              <a:xfrm flipH="1">
                <a:off x="1008" y="2496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66" name="Line 25"/>
              <p:cNvSpPr>
                <a:spLocks noChangeShapeType="1"/>
              </p:cNvSpPr>
              <p:nvPr/>
            </p:nvSpPr>
            <p:spPr bwMode="auto">
              <a:xfrm flipH="1">
                <a:off x="1008" y="2688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 bwMode="auto">
          <a:xfrm>
            <a:off x="7021295" y="2842276"/>
            <a:ext cx="936000" cy="397043"/>
          </a:xfrm>
          <a:prstGeom prst="rect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326797" y="1628063"/>
            <a:ext cx="5602816" cy="1770182"/>
            <a:chOff x="393700" y="3874413"/>
            <a:chExt cx="7470421" cy="2360242"/>
          </a:xfrm>
        </p:grpSpPr>
        <p:sp>
          <p:nvSpPr>
            <p:cNvPr id="89" name="Text Box 46"/>
            <p:cNvSpPr txBox="1">
              <a:spLocks noChangeArrowheads="1"/>
            </p:cNvSpPr>
            <p:nvPr/>
          </p:nvSpPr>
          <p:spPr bwMode="auto">
            <a:xfrm>
              <a:off x="393700" y="3874413"/>
              <a:ext cx="7470421" cy="640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金属板内任一点的场强为零，由叠加原理得：</a:t>
              </a:r>
            </a:p>
          </p:txBody>
        </p:sp>
        <p:graphicFrame>
          <p:nvGraphicFramePr>
            <p:cNvPr id="90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9980890"/>
                </p:ext>
              </p:extLst>
            </p:nvPr>
          </p:nvGraphicFramePr>
          <p:xfrm>
            <a:off x="697277" y="4584863"/>
            <a:ext cx="3785173" cy="593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17" name="Equation" r:id="rId24" imgW="1714320" imgH="228600" progId="Equation.DSMT4">
                    <p:embed/>
                  </p:oleObj>
                </mc:Choice>
                <mc:Fallback>
                  <p:oleObj name="Equation" r:id="rId24" imgW="1714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277" y="4584863"/>
                          <a:ext cx="3785173" cy="59351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164021"/>
                </p:ext>
              </p:extLst>
            </p:nvPr>
          </p:nvGraphicFramePr>
          <p:xfrm>
            <a:off x="759841" y="5264441"/>
            <a:ext cx="3354404" cy="970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18" name="Equation" r:id="rId26" imgW="1638000" imgH="431640" progId="Equation.DSMT4">
                    <p:embed/>
                  </p:oleObj>
                </mc:Choice>
                <mc:Fallback>
                  <p:oleObj name="Equation" r:id="rId26" imgW="16380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841" y="5264441"/>
                          <a:ext cx="3354404" cy="97021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rgbClr val="FF0000"/>
                          </a:solidFill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" name="Text Box 47"/>
          <p:cNvSpPr txBox="1">
            <a:spLocks noChangeArrowheads="1"/>
          </p:cNvSpPr>
          <p:nvPr/>
        </p:nvSpPr>
        <p:spPr bwMode="auto">
          <a:xfrm>
            <a:off x="1391453" y="3515003"/>
            <a:ext cx="3435556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以上四个方程联立可求出：</a:t>
            </a:r>
          </a:p>
        </p:txBody>
      </p:sp>
      <p:graphicFrame>
        <p:nvGraphicFramePr>
          <p:cNvPr id="9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041358"/>
              </p:ext>
            </p:extLst>
          </p:nvPr>
        </p:nvGraphicFramePr>
        <p:xfrm>
          <a:off x="1609925" y="4145239"/>
          <a:ext cx="791034" cy="62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19" name="公式" r:id="rId28" imgW="545760" imgH="393480" progId="Equation.3">
                  <p:embed/>
                </p:oleObj>
              </mc:Choice>
              <mc:Fallback>
                <p:oleObj name="公式" r:id="rId28" imgW="545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925" y="4145239"/>
                        <a:ext cx="791034" cy="6227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846731"/>
              </p:ext>
            </p:extLst>
          </p:nvPr>
        </p:nvGraphicFramePr>
        <p:xfrm>
          <a:off x="2573271" y="4116069"/>
          <a:ext cx="818349" cy="6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20" name="公式" r:id="rId30" imgW="558720" imgH="393480" progId="Equation.3">
                  <p:embed/>
                </p:oleObj>
              </mc:Choice>
              <mc:Fallback>
                <p:oleObj name="公式" r:id="rId30" imgW="558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271" y="4116069"/>
                        <a:ext cx="818349" cy="676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985052"/>
              </p:ext>
            </p:extLst>
          </p:nvPr>
        </p:nvGraphicFramePr>
        <p:xfrm>
          <a:off x="3664085" y="4130356"/>
          <a:ext cx="947274" cy="650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21" name="公式" r:id="rId32" imgW="660240" imgH="393480" progId="Equation.3">
                  <p:embed/>
                </p:oleObj>
              </mc:Choice>
              <mc:Fallback>
                <p:oleObj name="公式" r:id="rId32" imgW="660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085" y="4130356"/>
                        <a:ext cx="947274" cy="65009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84432"/>
              </p:ext>
            </p:extLst>
          </p:nvPr>
        </p:nvGraphicFramePr>
        <p:xfrm>
          <a:off x="4829005" y="4141667"/>
          <a:ext cx="819441" cy="62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22" name="公式" r:id="rId34" imgW="558720" imgH="393480" progId="Equation.3">
                  <p:embed/>
                </p:oleObj>
              </mc:Choice>
              <mc:Fallback>
                <p:oleObj name="公式" r:id="rId34" imgW="558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005" y="4141667"/>
                        <a:ext cx="819441" cy="62933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256829" y="4860600"/>
            <a:ext cx="1905000" cy="342900"/>
          </a:xfrm>
        </p:spPr>
        <p:txBody>
          <a:bodyPr/>
          <a:lstStyle/>
          <a:p>
            <a:fld id="{AE7E5495-FB17-4743-98B2-732EA470C315}" type="slidenum">
              <a:rPr lang="zh-CN" altLang="en-US" smtClean="0">
                <a:solidFill>
                  <a:srgbClr val="578963"/>
                </a:solidFill>
              </a:rPr>
              <a:pPr/>
              <a:t>18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03366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7" name="Text Box 37"/>
          <p:cNvSpPr txBox="1">
            <a:spLocks noChangeArrowheads="1"/>
          </p:cNvSpPr>
          <p:nvPr/>
        </p:nvSpPr>
        <p:spPr bwMode="auto">
          <a:xfrm>
            <a:off x="1482091" y="156541"/>
            <a:ext cx="6346031" cy="93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由各板上的电荷面密度分布、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金属板内场强为零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以及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高斯定理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可得各区间的场强： </a:t>
            </a:r>
          </a:p>
        </p:txBody>
      </p:sp>
      <p:graphicFrame>
        <p:nvGraphicFramePr>
          <p:cNvPr id="9219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018658"/>
              </p:ext>
            </p:extLst>
          </p:nvPr>
        </p:nvGraphicFramePr>
        <p:xfrm>
          <a:off x="1785938" y="1246585"/>
          <a:ext cx="163711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52" name="Equation" r:id="rId3" imgW="977760" imgH="431640" progId="Equation.DSMT4">
                  <p:embed/>
                </p:oleObj>
              </mc:Choice>
              <mc:Fallback>
                <p:oleObj name="Equation" r:id="rId3" imgW="97776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1246585"/>
                        <a:ext cx="1637110" cy="7191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203985"/>
              </p:ext>
            </p:extLst>
          </p:nvPr>
        </p:nvGraphicFramePr>
        <p:xfrm>
          <a:off x="1779985" y="2116931"/>
          <a:ext cx="170140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53" name="Equation" r:id="rId5" imgW="1028520" imgH="431640" progId="Equation.DSMT4">
                  <p:embed/>
                </p:oleObj>
              </mc:Choice>
              <mc:Fallback>
                <p:oleObj name="Equation" r:id="rId5" imgW="102852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985" y="2116931"/>
                        <a:ext cx="1701403" cy="7096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993602"/>
              </p:ext>
            </p:extLst>
          </p:nvPr>
        </p:nvGraphicFramePr>
        <p:xfrm>
          <a:off x="1789510" y="2977754"/>
          <a:ext cx="1682353" cy="68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54" name="Equation" r:id="rId7" imgW="1054080" imgH="431640" progId="Equation.DSMT4">
                  <p:embed/>
                </p:oleObj>
              </mc:Choice>
              <mc:Fallback>
                <p:oleObj name="Equation" r:id="rId7" imgW="1054080" imgH="4316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510" y="2977754"/>
                        <a:ext cx="1682353" cy="6846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4"/>
          <p:cNvGrpSpPr>
            <a:grpSpLocks/>
          </p:cNvGrpSpPr>
          <p:nvPr/>
        </p:nvGrpSpPr>
        <p:grpSpPr bwMode="auto">
          <a:xfrm>
            <a:off x="6570551" y="1644842"/>
            <a:ext cx="1198961" cy="1743075"/>
            <a:chOff x="4073" y="1980"/>
            <a:chExt cx="1007" cy="1464"/>
          </a:xfrm>
        </p:grpSpPr>
        <p:graphicFrame>
          <p:nvGraphicFramePr>
            <p:cNvPr id="6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7969675"/>
                </p:ext>
              </p:extLst>
            </p:nvPr>
          </p:nvGraphicFramePr>
          <p:xfrm>
            <a:off x="4073" y="1980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55" name="公式" r:id="rId9" imgW="152280" imgH="164880" progId="Equation.3">
                    <p:embed/>
                  </p:oleObj>
                </mc:Choice>
                <mc:Fallback>
                  <p:oleObj name="公式" r:id="rId9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1980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9133794"/>
                </p:ext>
              </p:extLst>
            </p:nvPr>
          </p:nvGraphicFramePr>
          <p:xfrm>
            <a:off x="4859" y="2016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56" name="公式" r:id="rId11" imgW="152280" imgH="164880" progId="Equation.3">
                    <p:embed/>
                  </p:oleObj>
                </mc:Choice>
                <mc:Fallback>
                  <p:oleObj name="公式" r:id="rId11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2016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Rectangle 8"/>
            <p:cNvSpPr>
              <a:spLocks noChangeArrowheads="1"/>
            </p:cNvSpPr>
            <p:nvPr/>
          </p:nvSpPr>
          <p:spPr bwMode="auto">
            <a:xfrm>
              <a:off x="4134" y="2292"/>
              <a:ext cx="118" cy="1152"/>
            </a:xfrm>
            <a:prstGeom prst="rect">
              <a:avLst/>
            </a:prstGeom>
            <a:solidFill>
              <a:srgbClr val="FF9900">
                <a:alpha val="4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8" name="Rectangle 9"/>
            <p:cNvSpPr>
              <a:spLocks noChangeArrowheads="1"/>
            </p:cNvSpPr>
            <p:nvPr/>
          </p:nvSpPr>
          <p:spPr bwMode="auto">
            <a:xfrm>
              <a:off x="4921" y="2277"/>
              <a:ext cx="114" cy="115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359666" y="3007723"/>
            <a:ext cx="1654440" cy="396854"/>
            <a:chOff x="6599955" y="5218113"/>
            <a:chExt cx="2205920" cy="529138"/>
          </a:xfrm>
        </p:grpSpPr>
        <p:graphicFrame>
          <p:nvGraphicFramePr>
            <p:cNvPr id="7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1497925"/>
                </p:ext>
              </p:extLst>
            </p:nvPr>
          </p:nvGraphicFramePr>
          <p:xfrm>
            <a:off x="6599955" y="5218614"/>
            <a:ext cx="409575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57" name="Equation" r:id="rId13" imgW="177480" imgH="228600" progId="Equation.DSMT4">
                    <p:embed/>
                  </p:oleObj>
                </mc:Choice>
                <mc:Fallback>
                  <p:oleObj name="Equation" r:id="rId1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9955" y="5218614"/>
                          <a:ext cx="409575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151664"/>
                </p:ext>
              </p:extLst>
            </p:nvPr>
          </p:nvGraphicFramePr>
          <p:xfrm>
            <a:off x="71342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58" name="Equation" r:id="rId15" imgW="190440" imgH="228600" progId="Equation.DSMT4">
                    <p:embed/>
                  </p:oleObj>
                </mc:Choice>
                <mc:Fallback>
                  <p:oleObj name="Equation" r:id="rId1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42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3850189"/>
                </p:ext>
              </p:extLst>
            </p:nvPr>
          </p:nvGraphicFramePr>
          <p:xfrm>
            <a:off x="78470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59" name="Equation" r:id="rId17" imgW="190440" imgH="228600" progId="Equation.DSMT4">
                    <p:embed/>
                  </p:oleObj>
                </mc:Choice>
                <mc:Fallback>
                  <p:oleObj name="Equation" r:id="rId1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70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103364"/>
                </p:ext>
              </p:extLst>
            </p:nvPr>
          </p:nvGraphicFramePr>
          <p:xfrm>
            <a:off x="8366138" y="5218113"/>
            <a:ext cx="439737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60" name="Equation" r:id="rId19" imgW="190440" imgH="228600" progId="Equation.DSMT4">
                    <p:embed/>
                  </p:oleObj>
                </mc:Choice>
                <mc:Fallback>
                  <p:oleObj name="Equation" r:id="rId19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6138" y="5218113"/>
                          <a:ext cx="439737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" name="组合 74"/>
          <p:cNvGrpSpPr/>
          <p:nvPr/>
        </p:nvGrpSpPr>
        <p:grpSpPr>
          <a:xfrm>
            <a:off x="6123272" y="2557919"/>
            <a:ext cx="2120528" cy="228600"/>
            <a:chOff x="6294922" y="4750453"/>
            <a:chExt cx="2827371" cy="304800"/>
          </a:xfrm>
        </p:grpSpPr>
        <p:grpSp>
          <p:nvGrpSpPr>
            <p:cNvPr id="76" name="Group 3"/>
            <p:cNvGrpSpPr>
              <a:grpSpLocks/>
            </p:cNvGrpSpPr>
            <p:nvPr/>
          </p:nvGrpSpPr>
          <p:grpSpPr bwMode="auto">
            <a:xfrm flipH="1">
              <a:off x="8582293" y="4750453"/>
              <a:ext cx="540000" cy="304800"/>
              <a:chOff x="1008" y="2496"/>
              <a:chExt cx="432" cy="192"/>
            </a:xfrm>
          </p:grpSpPr>
          <p:sp>
            <p:nvSpPr>
              <p:cNvPr id="83" name="Line 8"/>
              <p:cNvSpPr>
                <a:spLocks noChangeShapeType="1"/>
              </p:cNvSpPr>
              <p:nvPr/>
            </p:nvSpPr>
            <p:spPr bwMode="auto">
              <a:xfrm flipH="1">
                <a:off x="1008" y="2496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4" name="Line 9"/>
              <p:cNvSpPr>
                <a:spLocks noChangeShapeType="1"/>
              </p:cNvSpPr>
              <p:nvPr/>
            </p:nvSpPr>
            <p:spPr bwMode="auto">
              <a:xfrm flipH="1">
                <a:off x="1008" y="2688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77" name="Group 11"/>
            <p:cNvGrpSpPr>
              <a:grpSpLocks/>
            </p:cNvGrpSpPr>
            <p:nvPr/>
          </p:nvGrpSpPr>
          <p:grpSpPr bwMode="auto">
            <a:xfrm>
              <a:off x="6294922" y="4750453"/>
              <a:ext cx="540000" cy="304800"/>
              <a:chOff x="1008" y="2496"/>
              <a:chExt cx="432" cy="192"/>
            </a:xfrm>
          </p:grpSpPr>
          <p:sp>
            <p:nvSpPr>
              <p:cNvPr id="81" name="Line 16"/>
              <p:cNvSpPr>
                <a:spLocks noChangeShapeType="1"/>
              </p:cNvSpPr>
              <p:nvPr/>
            </p:nvSpPr>
            <p:spPr bwMode="auto">
              <a:xfrm flipH="1">
                <a:off x="1008" y="2496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2" name="Line 17"/>
              <p:cNvSpPr>
                <a:spLocks noChangeShapeType="1"/>
              </p:cNvSpPr>
              <p:nvPr/>
            </p:nvSpPr>
            <p:spPr bwMode="auto">
              <a:xfrm flipH="1">
                <a:off x="1008" y="2688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78" name="Group 19"/>
            <p:cNvGrpSpPr>
              <a:grpSpLocks/>
            </p:cNvGrpSpPr>
            <p:nvPr/>
          </p:nvGrpSpPr>
          <p:grpSpPr bwMode="auto">
            <a:xfrm flipH="1">
              <a:off x="7437706" y="4750453"/>
              <a:ext cx="540000" cy="304800"/>
              <a:chOff x="1008" y="2496"/>
              <a:chExt cx="432" cy="192"/>
            </a:xfrm>
          </p:grpSpPr>
          <p:sp>
            <p:nvSpPr>
              <p:cNvPr id="79" name="Line 24"/>
              <p:cNvSpPr>
                <a:spLocks noChangeShapeType="1"/>
              </p:cNvSpPr>
              <p:nvPr/>
            </p:nvSpPr>
            <p:spPr bwMode="auto">
              <a:xfrm flipH="1">
                <a:off x="1008" y="2496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80" name="Line 25"/>
              <p:cNvSpPr>
                <a:spLocks noChangeShapeType="1"/>
              </p:cNvSpPr>
              <p:nvPr/>
            </p:nvSpPr>
            <p:spPr bwMode="auto">
              <a:xfrm flipH="1">
                <a:off x="1008" y="2688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lg"/>
              </a:ln>
              <a:effectLst/>
            </p:spPr>
            <p:txBody>
              <a:bodyPr wrap="none" anchor="ctr"/>
              <a:lstStyle/>
              <a:p>
                <a:pPr eaLnBrk="0" hangingPunct="0"/>
                <a:endParaRPr lang="zh-CN" altLang="en-US" sz="2100">
                  <a:solidFill>
                    <a:srgbClr val="000000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  <p:sp>
        <p:nvSpPr>
          <p:cNvPr id="85" name="矩形 84"/>
          <p:cNvSpPr/>
          <p:nvPr/>
        </p:nvSpPr>
        <p:spPr bwMode="auto">
          <a:xfrm>
            <a:off x="6329680" y="2459371"/>
            <a:ext cx="365207" cy="397043"/>
          </a:xfrm>
          <a:prstGeom prst="rect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158628" y="2010728"/>
            <a:ext cx="2107481" cy="413105"/>
            <a:chOff x="6199823" y="5406390"/>
            <a:chExt cx="2809975" cy="550807"/>
          </a:xfrm>
        </p:grpSpPr>
        <p:graphicFrame>
          <p:nvGraphicFramePr>
            <p:cNvPr id="8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5121866"/>
                </p:ext>
              </p:extLst>
            </p:nvPr>
          </p:nvGraphicFramePr>
          <p:xfrm>
            <a:off x="8485506" y="5406390"/>
            <a:ext cx="524292" cy="496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61" name="Equation" r:id="rId21" imgW="241200" imgH="228600" progId="Equation.DSMT4">
                    <p:embed/>
                  </p:oleObj>
                </mc:Choice>
                <mc:Fallback>
                  <p:oleObj name="Equation" r:id="rId21" imgW="241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85506" y="5406390"/>
                          <a:ext cx="524292" cy="49657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799983"/>
                </p:ext>
              </p:extLst>
            </p:nvPr>
          </p:nvGraphicFramePr>
          <p:xfrm>
            <a:off x="6199823" y="5406390"/>
            <a:ext cx="431485" cy="5508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62" name="Equation" r:id="rId23" imgW="177480" imgH="228600" progId="Equation.DSMT4">
                    <p:embed/>
                  </p:oleObj>
                </mc:Choice>
                <mc:Fallback>
                  <p:oleObj name="Equation" r:id="rId2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9823" y="5406390"/>
                          <a:ext cx="431485" cy="55080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27477"/>
                </p:ext>
              </p:extLst>
            </p:nvPr>
          </p:nvGraphicFramePr>
          <p:xfrm>
            <a:off x="7398031" y="5406390"/>
            <a:ext cx="483312" cy="5110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63" name="Equation" r:id="rId25" imgW="215640" imgH="228600" progId="Equation.DSMT4">
                    <p:embed/>
                  </p:oleObj>
                </mc:Choice>
                <mc:Fallback>
                  <p:oleObj name="Equation" r:id="rId25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8031" y="5406390"/>
                          <a:ext cx="483312" cy="51103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304777"/>
              </p:ext>
            </p:extLst>
          </p:nvPr>
        </p:nvGraphicFramePr>
        <p:xfrm>
          <a:off x="1609726" y="4145756"/>
          <a:ext cx="764381" cy="601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64" name="Equation" r:id="rId27" imgW="545863" imgH="393529" progId="Equation.DSMT4">
                  <p:embed/>
                </p:oleObj>
              </mc:Choice>
              <mc:Fallback>
                <p:oleObj name="Equation" r:id="rId27" imgW="545863" imgH="393529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6" y="4145756"/>
                        <a:ext cx="764381" cy="60126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408277"/>
              </p:ext>
            </p:extLst>
          </p:nvPr>
        </p:nvGraphicFramePr>
        <p:xfrm>
          <a:off x="2572942" y="4115991"/>
          <a:ext cx="791765" cy="653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65" name="Equation" r:id="rId29" imgW="558558" imgH="393529" progId="Equation.DSMT4">
                  <p:embed/>
                </p:oleObj>
              </mc:Choice>
              <mc:Fallback>
                <p:oleObj name="Equation" r:id="rId29" imgW="558558" imgH="393529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942" y="4115991"/>
                        <a:ext cx="791765" cy="65365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557538"/>
              </p:ext>
            </p:extLst>
          </p:nvPr>
        </p:nvGraphicFramePr>
        <p:xfrm>
          <a:off x="3663554" y="4130279"/>
          <a:ext cx="916781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66" name="Equation" r:id="rId31" imgW="660113" imgH="393529" progId="Equation.DSMT4">
                  <p:embed/>
                </p:oleObj>
              </mc:Choice>
              <mc:Fallback>
                <p:oleObj name="Equation" r:id="rId31" imgW="660113" imgH="393529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554" y="4130279"/>
                        <a:ext cx="916781" cy="6286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255997"/>
              </p:ext>
            </p:extLst>
          </p:nvPr>
        </p:nvGraphicFramePr>
        <p:xfrm>
          <a:off x="4829175" y="4142185"/>
          <a:ext cx="791766" cy="608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67" name="Equation" r:id="rId33" imgW="558558" imgH="393529" progId="Equation.DSMT4">
                  <p:embed/>
                </p:oleObj>
              </mc:Choice>
              <mc:Fallback>
                <p:oleObj name="Equation" r:id="rId33" imgW="558558" imgH="393529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175" y="4142185"/>
                        <a:ext cx="791766" cy="60840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 bwMode="auto">
          <a:xfrm>
            <a:off x="6737350" y="2459371"/>
            <a:ext cx="382270" cy="397043"/>
          </a:xfrm>
          <a:prstGeom prst="rect">
            <a:avLst/>
          </a:prstGeom>
          <a:noFill/>
          <a:ln w="254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7651750" y="2459371"/>
            <a:ext cx="403860" cy="397043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207537" y="4893469"/>
            <a:ext cx="1905000" cy="342900"/>
          </a:xfrm>
        </p:spPr>
        <p:txBody>
          <a:bodyPr/>
          <a:lstStyle/>
          <a:p>
            <a:fld id="{AE7E5495-FB17-4743-98B2-732EA470C315}" type="slidenum">
              <a:rPr lang="zh-CN" altLang="en-US" smtClean="0">
                <a:solidFill>
                  <a:srgbClr val="578963"/>
                </a:solidFill>
              </a:rPr>
              <a:pPr/>
              <a:t>19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  <p:bldP spid="93" grpId="0" animBg="1"/>
      <p:bldP spid="93" grpId="1" animBg="1"/>
      <p:bldP spid="9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7175898" y="3347494"/>
            <a:ext cx="192642" cy="317963"/>
            <a:chOff x="7779704" y="4770438"/>
            <a:chExt cx="533400" cy="880398"/>
          </a:xfrm>
        </p:grpSpPr>
        <p:sp>
          <p:nvSpPr>
            <p:cNvPr id="77" name="Line 22"/>
            <p:cNvSpPr>
              <a:spLocks noChangeShapeType="1"/>
            </p:cNvSpPr>
            <p:nvPr/>
          </p:nvSpPr>
          <p:spPr bwMode="auto">
            <a:xfrm>
              <a:off x="8055929" y="4770438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8" name="Line 23"/>
            <p:cNvSpPr>
              <a:spLocks noChangeShapeType="1"/>
            </p:cNvSpPr>
            <p:nvPr/>
          </p:nvSpPr>
          <p:spPr bwMode="auto">
            <a:xfrm>
              <a:off x="7779704" y="538003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9" name="Line 24"/>
            <p:cNvSpPr>
              <a:spLocks noChangeShapeType="1"/>
            </p:cNvSpPr>
            <p:nvPr/>
          </p:nvSpPr>
          <p:spPr bwMode="auto">
            <a:xfrm>
              <a:off x="7903528" y="5523836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0" name="Line 25"/>
            <p:cNvSpPr>
              <a:spLocks noChangeShapeType="1"/>
            </p:cNvSpPr>
            <p:nvPr/>
          </p:nvSpPr>
          <p:spPr bwMode="auto">
            <a:xfrm>
              <a:off x="7979729" y="5650836"/>
              <a:ext cx="152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1364457" y="1597515"/>
            <a:ext cx="3563540" cy="520303"/>
            <a:chOff x="240" y="948"/>
            <a:chExt cx="2993" cy="437"/>
          </a:xfrm>
        </p:grpSpPr>
        <p:graphicFrame>
          <p:nvGraphicFramePr>
            <p:cNvPr id="93211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4655611"/>
                </p:ext>
              </p:extLst>
            </p:nvPr>
          </p:nvGraphicFramePr>
          <p:xfrm>
            <a:off x="1803" y="948"/>
            <a:ext cx="1430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0" name="公式" r:id="rId3" imgW="749160" imgH="228600" progId="Equation.3">
                    <p:embed/>
                  </p:oleObj>
                </mc:Choice>
                <mc:Fallback>
                  <p:oleObj name="公式" r:id="rId3" imgW="749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" y="948"/>
                          <a:ext cx="1430" cy="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12" name="Text Box 28"/>
            <p:cNvSpPr txBox="1">
              <a:spLocks noChangeArrowheads="1"/>
            </p:cNvSpPr>
            <p:nvPr/>
          </p:nvSpPr>
          <p:spPr bwMode="auto">
            <a:xfrm>
              <a:off x="240" y="971"/>
              <a:ext cx="1748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由高斯定理得：</a:t>
              </a:r>
            </a:p>
          </p:txBody>
        </p:sp>
      </p:grpSp>
      <p:sp>
        <p:nvSpPr>
          <p:cNvPr id="93213" name="Text Box 29"/>
          <p:cNvSpPr txBox="1">
            <a:spLocks noChangeArrowheads="1"/>
          </p:cNvSpPr>
          <p:nvPr/>
        </p:nvSpPr>
        <p:spPr bwMode="auto">
          <a:xfrm>
            <a:off x="1364457" y="2301010"/>
            <a:ext cx="3207544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由金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属板内场强为零得：</a:t>
            </a:r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1364456" y="242716"/>
            <a:ext cx="2983707" cy="484583"/>
            <a:chOff x="374" y="91"/>
            <a:chExt cx="2506" cy="407"/>
          </a:xfrm>
        </p:grpSpPr>
        <p:graphicFrame>
          <p:nvGraphicFramePr>
            <p:cNvPr id="93215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0467274"/>
                </p:ext>
              </p:extLst>
            </p:nvPr>
          </p:nvGraphicFramePr>
          <p:xfrm>
            <a:off x="2121" y="91"/>
            <a:ext cx="759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1" name="Equation" r:id="rId5" imgW="431640" imgH="228600" progId="Equation.DSMT4">
                    <p:embed/>
                  </p:oleObj>
                </mc:Choice>
                <mc:Fallback>
                  <p:oleObj name="Equation" r:id="rId5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" y="91"/>
                          <a:ext cx="759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16" name="Text Box 32"/>
            <p:cNvSpPr txBox="1">
              <a:spLocks noChangeArrowheads="1"/>
            </p:cNvSpPr>
            <p:nvPr/>
          </p:nvSpPr>
          <p:spPr bwMode="auto">
            <a:xfrm>
              <a:off x="374" y="95"/>
              <a:ext cx="1689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设</a:t>
              </a:r>
              <a:r>
                <a:rPr kumimoji="1" lang="zh-CN" altLang="en-US" sz="2100" b="1" i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100" b="1" i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B</a:t>
              </a:r>
              <a:r>
                <a: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zh-CN" altLang="en-US" sz="2100" b="1" dirty="0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板接地,则:</a:t>
              </a:r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1364457" y="949631"/>
            <a:ext cx="3698081" cy="479821"/>
            <a:chOff x="240" y="547"/>
            <a:chExt cx="3106" cy="403"/>
          </a:xfrm>
        </p:grpSpPr>
        <p:graphicFrame>
          <p:nvGraphicFramePr>
            <p:cNvPr id="93218" name="Object 34"/>
            <p:cNvGraphicFramePr>
              <a:graphicFrameLocks noChangeAspect="1"/>
            </p:cNvGraphicFramePr>
            <p:nvPr/>
          </p:nvGraphicFramePr>
          <p:xfrm>
            <a:off x="1599" y="560"/>
            <a:ext cx="1747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2" name="公式" r:id="rId7" imgW="990360" imgH="215640" progId="Equation.3">
                    <p:embed/>
                  </p:oleObj>
                </mc:Choice>
                <mc:Fallback>
                  <p:oleObj name="公式" r:id="rId7" imgW="9903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9" y="560"/>
                          <a:ext cx="1747" cy="3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19" name="Text Box 35"/>
            <p:cNvSpPr txBox="1">
              <a:spLocks noChangeArrowheads="1"/>
            </p:cNvSpPr>
            <p:nvPr/>
          </p:nvSpPr>
          <p:spPr bwMode="auto">
            <a:xfrm>
              <a:off x="240" y="547"/>
              <a:ext cx="1368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100" b="1">
                  <a:solidFill>
                    <a:srgbClr val="000000"/>
                  </a:solidFill>
                  <a:latin typeface="Times New Roman" pitchFamily="18" charset="0"/>
                  <a:ea typeface="宋体" charset="-122"/>
                </a:rPr>
                <a:t>由电荷守恒:</a:t>
              </a:r>
            </a:p>
          </p:txBody>
        </p:sp>
      </p:grpSp>
      <p:graphicFrame>
        <p:nvGraphicFramePr>
          <p:cNvPr id="9322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579644"/>
              </p:ext>
            </p:extLst>
          </p:nvPr>
        </p:nvGraphicFramePr>
        <p:xfrm>
          <a:off x="2216373" y="2803454"/>
          <a:ext cx="257770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33" name="公式" r:id="rId9" imgW="1447560" imgH="228600" progId="Equation.3">
                  <p:embed/>
                </p:oleObj>
              </mc:Choice>
              <mc:Fallback>
                <p:oleObj name="公式" r:id="rId9" imgW="1447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373" y="2803454"/>
                        <a:ext cx="2577703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4"/>
          <p:cNvGrpSpPr>
            <a:grpSpLocks/>
          </p:cNvGrpSpPr>
          <p:nvPr/>
        </p:nvGrpSpPr>
        <p:grpSpPr bwMode="auto">
          <a:xfrm>
            <a:off x="6204791" y="1636303"/>
            <a:ext cx="1198961" cy="2093120"/>
            <a:chOff x="4073" y="1980"/>
            <a:chExt cx="1007" cy="1758"/>
          </a:xfrm>
        </p:grpSpPr>
        <p:graphicFrame>
          <p:nvGraphicFramePr>
            <p:cNvPr id="8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5398577"/>
                </p:ext>
              </p:extLst>
            </p:nvPr>
          </p:nvGraphicFramePr>
          <p:xfrm>
            <a:off x="4073" y="1980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4" name="公式" r:id="rId11" imgW="152280" imgH="164880" progId="Equation.3">
                    <p:embed/>
                  </p:oleObj>
                </mc:Choice>
                <mc:Fallback>
                  <p:oleObj name="公式" r:id="rId11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1980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5378074"/>
                </p:ext>
              </p:extLst>
            </p:nvPr>
          </p:nvGraphicFramePr>
          <p:xfrm>
            <a:off x="4859" y="2016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5" name="公式" r:id="rId13" imgW="152280" imgH="164880" progId="Equation.3">
                    <p:embed/>
                  </p:oleObj>
                </mc:Choice>
                <mc:Fallback>
                  <p:oleObj name="公式" r:id="rId13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2016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3014359"/>
                </p:ext>
              </p:extLst>
            </p:nvPr>
          </p:nvGraphicFramePr>
          <p:xfrm>
            <a:off x="4084" y="3443"/>
            <a:ext cx="221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6" name="公式" r:id="rId15" imgW="152280" imgH="203040" progId="Equation.3">
                    <p:embed/>
                  </p:oleObj>
                </mc:Choice>
                <mc:Fallback>
                  <p:oleObj name="公式" r:id="rId15" imgW="15228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4" y="3443"/>
                          <a:ext cx="221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Rectangle 8"/>
            <p:cNvSpPr>
              <a:spLocks noChangeArrowheads="1"/>
            </p:cNvSpPr>
            <p:nvPr/>
          </p:nvSpPr>
          <p:spPr bwMode="auto">
            <a:xfrm>
              <a:off x="4134" y="2292"/>
              <a:ext cx="118" cy="1152"/>
            </a:xfrm>
            <a:prstGeom prst="rect">
              <a:avLst/>
            </a:prstGeom>
            <a:solidFill>
              <a:srgbClr val="FF9900">
                <a:alpha val="4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" name="Rectangle 9"/>
            <p:cNvSpPr>
              <a:spLocks noChangeArrowheads="1"/>
            </p:cNvSpPr>
            <p:nvPr/>
          </p:nvSpPr>
          <p:spPr bwMode="auto">
            <a:xfrm>
              <a:off x="4921" y="2277"/>
              <a:ext cx="114" cy="115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>
                  <a:lumMod val="85000"/>
                  <a:lumOff val="1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5995812" y="2978091"/>
            <a:ext cx="1663121" cy="396854"/>
            <a:chOff x="6599955" y="5218113"/>
            <a:chExt cx="2217495" cy="529138"/>
          </a:xfrm>
        </p:grpSpPr>
        <p:graphicFrame>
          <p:nvGraphicFramePr>
            <p:cNvPr id="8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9559283"/>
                </p:ext>
              </p:extLst>
            </p:nvPr>
          </p:nvGraphicFramePr>
          <p:xfrm>
            <a:off x="6599955" y="5218614"/>
            <a:ext cx="409575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7" name="Equation" r:id="rId17" imgW="177480" imgH="228600" progId="Equation.DSMT4">
                    <p:embed/>
                  </p:oleObj>
                </mc:Choice>
                <mc:Fallback>
                  <p:oleObj name="Equation" r:id="rId17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9955" y="5218614"/>
                          <a:ext cx="409575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4047365"/>
                </p:ext>
              </p:extLst>
            </p:nvPr>
          </p:nvGraphicFramePr>
          <p:xfrm>
            <a:off x="7145800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8" name="Equation" r:id="rId19" imgW="190440" imgH="228600" progId="Equation.DSMT4">
                    <p:embed/>
                  </p:oleObj>
                </mc:Choice>
                <mc:Fallback>
                  <p:oleObj name="Equation" r:id="rId19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5800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166800"/>
                </p:ext>
              </p:extLst>
            </p:nvPr>
          </p:nvGraphicFramePr>
          <p:xfrm>
            <a:off x="78470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39" name="Equation" r:id="rId21" imgW="190440" imgH="228600" progId="Equation.DSMT4">
                    <p:embed/>
                  </p:oleObj>
                </mc:Choice>
                <mc:Fallback>
                  <p:oleObj name="Equation" r:id="rId21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70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442088"/>
                </p:ext>
              </p:extLst>
            </p:nvPr>
          </p:nvGraphicFramePr>
          <p:xfrm>
            <a:off x="8377713" y="5218113"/>
            <a:ext cx="439737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40" name="Equation" r:id="rId23" imgW="190440" imgH="228600" progId="Equation.DSMT4">
                    <p:embed/>
                  </p:oleObj>
                </mc:Choice>
                <mc:Fallback>
                  <p:oleObj name="Equation" r:id="rId23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7713" y="5218113"/>
                          <a:ext cx="439737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47"/>
          <p:cNvSpPr txBox="1">
            <a:spLocks noChangeArrowheads="1"/>
          </p:cNvSpPr>
          <p:nvPr/>
        </p:nvSpPr>
        <p:spPr bwMode="auto">
          <a:xfrm>
            <a:off x="1391453" y="3575772"/>
            <a:ext cx="3435556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以上四个方程联立可求出：</a:t>
            </a:r>
          </a:p>
        </p:txBody>
      </p:sp>
      <p:graphicFrame>
        <p:nvGraphicFramePr>
          <p:cNvPr id="45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399715"/>
              </p:ext>
            </p:extLst>
          </p:nvPr>
        </p:nvGraphicFramePr>
        <p:xfrm>
          <a:off x="1697831" y="4271962"/>
          <a:ext cx="694127" cy="412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41" name="Equation" r:id="rId25" imgW="419040" imgH="228600" progId="Equation.DSMT4">
                  <p:embed/>
                </p:oleObj>
              </mc:Choice>
              <mc:Fallback>
                <p:oleObj name="Equation" r:id="rId25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831" y="4271962"/>
                        <a:ext cx="694127" cy="41253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943172"/>
              </p:ext>
            </p:extLst>
          </p:nvPr>
        </p:nvGraphicFramePr>
        <p:xfrm>
          <a:off x="2618185" y="4115991"/>
          <a:ext cx="829289" cy="772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42" name="Equation" r:id="rId27" imgW="495000" imgH="393480" progId="Equation.DSMT4">
                  <p:embed/>
                </p:oleObj>
              </mc:Choice>
              <mc:Fallback>
                <p:oleObj name="Equation" r:id="rId27" imgW="495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85" y="4115991"/>
                        <a:ext cx="829289" cy="77297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77171"/>
              </p:ext>
            </p:extLst>
          </p:nvPr>
        </p:nvGraphicFramePr>
        <p:xfrm>
          <a:off x="3707606" y="4130278"/>
          <a:ext cx="979943" cy="74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43" name="Equation" r:id="rId29" imgW="596880" imgH="393480" progId="Equation.DSMT4">
                  <p:embed/>
                </p:oleObj>
              </mc:Choice>
              <mc:Fallback>
                <p:oleObj name="Equation" r:id="rId29" imgW="596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606" y="4130278"/>
                        <a:ext cx="979943" cy="74340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815501"/>
              </p:ext>
            </p:extLst>
          </p:nvPr>
        </p:nvGraphicFramePr>
        <p:xfrm>
          <a:off x="4918472" y="4269581"/>
          <a:ext cx="723693" cy="418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44" name="Equation" r:id="rId31" imgW="431640" imgH="228600" progId="Equation.DSMT4">
                  <p:embed/>
                </p:oleObj>
              </mc:Choice>
              <mc:Fallback>
                <p:oleObj name="Equation" r:id="rId31" imgW="43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472" y="4269581"/>
                        <a:ext cx="723693" cy="41816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19"/>
          <p:cNvGrpSpPr>
            <a:grpSpLocks/>
          </p:cNvGrpSpPr>
          <p:nvPr/>
        </p:nvGrpSpPr>
        <p:grpSpPr bwMode="auto">
          <a:xfrm flipH="1">
            <a:off x="6553066" y="2491244"/>
            <a:ext cx="588512" cy="228600"/>
            <a:chOff x="1008" y="2496"/>
            <a:chExt cx="432" cy="192"/>
          </a:xfrm>
        </p:grpSpPr>
        <p:sp>
          <p:nvSpPr>
            <p:cNvPr id="54" name="Line 24"/>
            <p:cNvSpPr>
              <a:spLocks noChangeShapeType="1"/>
            </p:cNvSpPr>
            <p:nvPr/>
          </p:nvSpPr>
          <p:spPr bwMode="auto">
            <a:xfrm flipH="1">
              <a:off x="1008" y="2496"/>
              <a:ext cx="4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lg"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5" name="Line 25"/>
            <p:cNvSpPr>
              <a:spLocks noChangeShapeType="1"/>
            </p:cNvSpPr>
            <p:nvPr/>
          </p:nvSpPr>
          <p:spPr bwMode="auto">
            <a:xfrm flipH="1">
              <a:off x="1008" y="2688"/>
              <a:ext cx="4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lg"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0" name="矩形 59"/>
          <p:cNvSpPr/>
          <p:nvPr/>
        </p:nvSpPr>
        <p:spPr bwMode="auto">
          <a:xfrm>
            <a:off x="6341094" y="2401378"/>
            <a:ext cx="948063" cy="397043"/>
          </a:xfrm>
          <a:prstGeom prst="rect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289157" y="4888962"/>
            <a:ext cx="1905000" cy="342900"/>
          </a:xfrm>
        </p:spPr>
        <p:txBody>
          <a:bodyPr/>
          <a:lstStyle/>
          <a:p>
            <a:fld id="{AE7E5495-FB17-4743-98B2-732EA470C315}" type="slidenum">
              <a:rPr lang="zh-CN" altLang="en-US" smtClean="0">
                <a:solidFill>
                  <a:srgbClr val="578963"/>
                </a:solidFill>
              </a:rPr>
              <a:pPr/>
              <a:t>20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10155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13" grpId="0" autoUpdateAnimBg="0"/>
      <p:bldP spid="44" grpId="0" autoUpdateAnimBg="0"/>
      <p:bldP spid="6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组合 165"/>
          <p:cNvGrpSpPr/>
          <p:nvPr/>
        </p:nvGrpSpPr>
        <p:grpSpPr>
          <a:xfrm>
            <a:off x="6950186" y="3260681"/>
            <a:ext cx="192642" cy="317963"/>
            <a:chOff x="7779704" y="4770438"/>
            <a:chExt cx="533400" cy="880398"/>
          </a:xfrm>
        </p:grpSpPr>
        <p:sp>
          <p:nvSpPr>
            <p:cNvPr id="167" name="Line 22"/>
            <p:cNvSpPr>
              <a:spLocks noChangeShapeType="1"/>
            </p:cNvSpPr>
            <p:nvPr/>
          </p:nvSpPr>
          <p:spPr bwMode="auto">
            <a:xfrm>
              <a:off x="8055929" y="4770438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8" name="Line 23"/>
            <p:cNvSpPr>
              <a:spLocks noChangeShapeType="1"/>
            </p:cNvSpPr>
            <p:nvPr/>
          </p:nvSpPr>
          <p:spPr bwMode="auto">
            <a:xfrm>
              <a:off x="7779704" y="538003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9" name="Line 24"/>
            <p:cNvSpPr>
              <a:spLocks noChangeShapeType="1"/>
            </p:cNvSpPr>
            <p:nvPr/>
          </p:nvSpPr>
          <p:spPr bwMode="auto">
            <a:xfrm>
              <a:off x="7903528" y="5523836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70" name="Line 25"/>
            <p:cNvSpPr>
              <a:spLocks noChangeShapeType="1"/>
            </p:cNvSpPr>
            <p:nvPr/>
          </p:nvSpPr>
          <p:spPr bwMode="auto">
            <a:xfrm>
              <a:off x="7979729" y="5650836"/>
              <a:ext cx="152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947226"/>
              </p:ext>
            </p:extLst>
          </p:nvPr>
        </p:nvGraphicFramePr>
        <p:xfrm>
          <a:off x="1697831" y="4271962"/>
          <a:ext cx="586979" cy="3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08" name="Equation" r:id="rId3" imgW="419040" imgH="228600" progId="Equation.DSMT4">
                  <p:embed/>
                </p:oleObj>
              </mc:Choice>
              <mc:Fallback>
                <p:oleObj name="Equation" r:id="rId3" imgW="419040" imgH="2286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831" y="4271962"/>
                        <a:ext cx="586979" cy="34885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532931"/>
              </p:ext>
            </p:extLst>
          </p:nvPr>
        </p:nvGraphicFramePr>
        <p:xfrm>
          <a:off x="2618185" y="4115991"/>
          <a:ext cx="701278" cy="653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09" name="Equation" r:id="rId5" imgW="495000" imgH="393480" progId="Equation.DSMT4">
                  <p:embed/>
                </p:oleObj>
              </mc:Choice>
              <mc:Fallback>
                <p:oleObj name="Equation" r:id="rId5" imgW="495000" imgH="39348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85" y="4115991"/>
                        <a:ext cx="701278" cy="65365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539205"/>
              </p:ext>
            </p:extLst>
          </p:nvPr>
        </p:nvGraphicFramePr>
        <p:xfrm>
          <a:off x="3707606" y="4130279"/>
          <a:ext cx="8286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10" name="Equation" r:id="rId7" imgW="596880" imgH="393480" progId="Equation.DSMT4">
                  <p:embed/>
                </p:oleObj>
              </mc:Choice>
              <mc:Fallback>
                <p:oleObj name="Equation" r:id="rId7" imgW="596880" imgH="39348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606" y="4130279"/>
                        <a:ext cx="828675" cy="628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36165"/>
              </p:ext>
            </p:extLst>
          </p:nvPr>
        </p:nvGraphicFramePr>
        <p:xfrm>
          <a:off x="4918473" y="4269581"/>
          <a:ext cx="611981" cy="353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11" name="Equation" r:id="rId9" imgW="431640" imgH="228600" progId="Equation.DSMT4">
                  <p:embed/>
                </p:oleObj>
              </mc:Choice>
              <mc:Fallback>
                <p:oleObj name="Equation" r:id="rId9" imgW="431640" imgH="2286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473" y="4269581"/>
                        <a:ext cx="611981" cy="35361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" name="Text Box 37"/>
          <p:cNvSpPr txBox="1">
            <a:spLocks noChangeArrowheads="1"/>
          </p:cNvSpPr>
          <p:nvPr/>
        </p:nvSpPr>
        <p:spPr bwMode="auto">
          <a:xfrm>
            <a:off x="1482091" y="156541"/>
            <a:ext cx="6346031" cy="93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       由各板上的电荷面密度分布、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金属板内场强为零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以及</a:t>
            </a:r>
            <a:r>
              <a:rPr kumimoji="1" lang="zh-CN" altLang="en-US" sz="21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高斯定理</a:t>
            </a:r>
            <a:r>
              <a:rPr kumimoji="1" lang="zh-CN" altLang="en-US" sz="21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可得各区间的场强： </a:t>
            </a:r>
          </a:p>
        </p:txBody>
      </p:sp>
      <p:graphicFrame>
        <p:nvGraphicFramePr>
          <p:cNvPr id="136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213913"/>
              </p:ext>
            </p:extLst>
          </p:nvPr>
        </p:nvGraphicFramePr>
        <p:xfrm>
          <a:off x="1802607" y="1415653"/>
          <a:ext cx="781520" cy="42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12" name="Equation" r:id="rId11" imgW="419040" imgH="228600" progId="Equation.DSMT4">
                  <p:embed/>
                </p:oleObj>
              </mc:Choice>
              <mc:Fallback>
                <p:oleObj name="Equation" r:id="rId11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607" y="1415653"/>
                        <a:ext cx="781520" cy="42459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088231"/>
              </p:ext>
            </p:extLst>
          </p:nvPr>
        </p:nvGraphicFramePr>
        <p:xfrm>
          <a:off x="1814512" y="2116931"/>
          <a:ext cx="1729979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13" name="Equation" r:id="rId13" imgW="939600" imgH="431640" progId="Equation.DSMT4">
                  <p:embed/>
                </p:oleObj>
              </mc:Choice>
              <mc:Fallback>
                <p:oleObj name="Equation" r:id="rId13" imgW="93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2" y="2116931"/>
                        <a:ext cx="1729979" cy="790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162936"/>
              </p:ext>
            </p:extLst>
          </p:nvPr>
        </p:nvGraphicFramePr>
        <p:xfrm>
          <a:off x="1812925" y="3138488"/>
          <a:ext cx="8366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14" name="Equation" r:id="rId15" imgW="469800" imgH="228600" progId="Equation.DSMT4">
                  <p:embed/>
                </p:oleObj>
              </mc:Choice>
              <mc:Fallback>
                <p:oleObj name="Equation" r:id="rId15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138488"/>
                        <a:ext cx="836613" cy="4032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9" name="Group 4"/>
          <p:cNvGrpSpPr>
            <a:grpSpLocks/>
          </p:cNvGrpSpPr>
          <p:nvPr/>
        </p:nvGrpSpPr>
        <p:grpSpPr bwMode="auto">
          <a:xfrm>
            <a:off x="5960951" y="1578167"/>
            <a:ext cx="1198961" cy="1743075"/>
            <a:chOff x="4073" y="1980"/>
            <a:chExt cx="1007" cy="1464"/>
          </a:xfrm>
        </p:grpSpPr>
        <p:graphicFrame>
          <p:nvGraphicFramePr>
            <p:cNvPr id="14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140363"/>
                </p:ext>
              </p:extLst>
            </p:nvPr>
          </p:nvGraphicFramePr>
          <p:xfrm>
            <a:off x="4073" y="1980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15" name="公式" r:id="rId17" imgW="152280" imgH="164880" progId="Equation.3">
                    <p:embed/>
                  </p:oleObj>
                </mc:Choice>
                <mc:Fallback>
                  <p:oleObj name="公式" r:id="rId17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1980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270550"/>
                </p:ext>
              </p:extLst>
            </p:nvPr>
          </p:nvGraphicFramePr>
          <p:xfrm>
            <a:off x="4859" y="2016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16" name="公式" r:id="rId19" imgW="152280" imgH="164880" progId="Equation.3">
                    <p:embed/>
                  </p:oleObj>
                </mc:Choice>
                <mc:Fallback>
                  <p:oleObj name="公式" r:id="rId19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2016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" name="Rectangle 8"/>
            <p:cNvSpPr>
              <a:spLocks noChangeArrowheads="1"/>
            </p:cNvSpPr>
            <p:nvPr/>
          </p:nvSpPr>
          <p:spPr bwMode="auto">
            <a:xfrm>
              <a:off x="4134" y="2292"/>
              <a:ext cx="118" cy="1152"/>
            </a:xfrm>
            <a:prstGeom prst="rect">
              <a:avLst/>
            </a:prstGeom>
            <a:solidFill>
              <a:srgbClr val="FF9900">
                <a:alpha val="4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3" name="Rectangle 9"/>
            <p:cNvSpPr>
              <a:spLocks noChangeArrowheads="1"/>
            </p:cNvSpPr>
            <p:nvPr/>
          </p:nvSpPr>
          <p:spPr bwMode="auto">
            <a:xfrm>
              <a:off x="4921" y="2277"/>
              <a:ext cx="114" cy="1152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750066" y="2941048"/>
            <a:ext cx="1654440" cy="396854"/>
            <a:chOff x="6599955" y="5218113"/>
            <a:chExt cx="2205920" cy="529138"/>
          </a:xfrm>
        </p:grpSpPr>
        <p:graphicFrame>
          <p:nvGraphicFramePr>
            <p:cNvPr id="14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5578899"/>
                </p:ext>
              </p:extLst>
            </p:nvPr>
          </p:nvGraphicFramePr>
          <p:xfrm>
            <a:off x="6599955" y="5218614"/>
            <a:ext cx="409575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17" name="Equation" r:id="rId21" imgW="177480" imgH="228600" progId="Equation.DSMT4">
                    <p:embed/>
                  </p:oleObj>
                </mc:Choice>
                <mc:Fallback>
                  <p:oleObj name="Equation" r:id="rId21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9955" y="5218614"/>
                          <a:ext cx="409575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4739684"/>
                </p:ext>
              </p:extLst>
            </p:nvPr>
          </p:nvGraphicFramePr>
          <p:xfrm>
            <a:off x="71342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18" name="Equation" r:id="rId23" imgW="190440" imgH="228600" progId="Equation.DSMT4">
                    <p:embed/>
                  </p:oleObj>
                </mc:Choice>
                <mc:Fallback>
                  <p:oleObj name="Equation" r:id="rId23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42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7173752"/>
                </p:ext>
              </p:extLst>
            </p:nvPr>
          </p:nvGraphicFramePr>
          <p:xfrm>
            <a:off x="7847025" y="5218113"/>
            <a:ext cx="438150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19" name="Equation" r:id="rId25" imgW="190440" imgH="228600" progId="Equation.DSMT4">
                    <p:embed/>
                  </p:oleObj>
                </mc:Choice>
                <mc:Fallback>
                  <p:oleObj name="Equation" r:id="rId2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7025" y="5218113"/>
                          <a:ext cx="438150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6323377"/>
                </p:ext>
              </p:extLst>
            </p:nvPr>
          </p:nvGraphicFramePr>
          <p:xfrm>
            <a:off x="8366138" y="5218113"/>
            <a:ext cx="439737" cy="528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20" name="Equation" r:id="rId27" imgW="190440" imgH="228600" progId="Equation.DSMT4">
                    <p:embed/>
                  </p:oleObj>
                </mc:Choice>
                <mc:Fallback>
                  <p:oleObj name="Equation" r:id="rId2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6138" y="5218113"/>
                          <a:ext cx="439737" cy="5286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2" name="Group 19"/>
          <p:cNvGrpSpPr>
            <a:grpSpLocks/>
          </p:cNvGrpSpPr>
          <p:nvPr/>
        </p:nvGrpSpPr>
        <p:grpSpPr bwMode="auto">
          <a:xfrm flipH="1">
            <a:off x="6292628" y="2491244"/>
            <a:ext cx="588519" cy="228600"/>
            <a:chOff x="1008" y="2496"/>
            <a:chExt cx="432" cy="192"/>
          </a:xfrm>
        </p:grpSpPr>
        <p:sp>
          <p:nvSpPr>
            <p:cNvPr id="153" name="Line 24"/>
            <p:cNvSpPr>
              <a:spLocks noChangeShapeType="1"/>
            </p:cNvSpPr>
            <p:nvPr/>
          </p:nvSpPr>
          <p:spPr bwMode="auto">
            <a:xfrm flipH="1">
              <a:off x="1008" y="2496"/>
              <a:ext cx="4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lg"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4" name="Line 25"/>
            <p:cNvSpPr>
              <a:spLocks noChangeShapeType="1"/>
            </p:cNvSpPr>
            <p:nvPr/>
          </p:nvSpPr>
          <p:spPr bwMode="auto">
            <a:xfrm flipH="1">
              <a:off x="1008" y="2688"/>
              <a:ext cx="4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lg"/>
            </a:ln>
            <a:effectLst/>
          </p:spPr>
          <p:txBody>
            <a:bodyPr wrap="none" anchor="ctr"/>
            <a:lstStyle/>
            <a:p>
              <a:pPr eaLnBrk="0" hangingPunct="0"/>
              <a:endParaRPr lang="zh-CN" altLang="en-US" sz="2100">
                <a:solidFill>
                  <a:srgbClr val="000000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59" name="矩形 158"/>
          <p:cNvSpPr/>
          <p:nvPr/>
        </p:nvSpPr>
        <p:spPr bwMode="auto">
          <a:xfrm>
            <a:off x="5676900" y="2392696"/>
            <a:ext cx="403860" cy="397043"/>
          </a:xfrm>
          <a:prstGeom prst="rect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5549028" y="1944053"/>
            <a:ext cx="2107481" cy="413105"/>
            <a:chOff x="6199823" y="5406390"/>
            <a:chExt cx="2809975" cy="550807"/>
          </a:xfrm>
        </p:grpSpPr>
        <p:graphicFrame>
          <p:nvGraphicFramePr>
            <p:cNvPr id="16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6791627"/>
                </p:ext>
              </p:extLst>
            </p:nvPr>
          </p:nvGraphicFramePr>
          <p:xfrm>
            <a:off x="8485506" y="5406390"/>
            <a:ext cx="524292" cy="496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21" name="Equation" r:id="rId29" imgW="241200" imgH="228600" progId="Equation.DSMT4">
                    <p:embed/>
                  </p:oleObj>
                </mc:Choice>
                <mc:Fallback>
                  <p:oleObj name="Equation" r:id="rId29" imgW="241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85506" y="5406390"/>
                          <a:ext cx="524292" cy="49657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2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0522328"/>
                </p:ext>
              </p:extLst>
            </p:nvPr>
          </p:nvGraphicFramePr>
          <p:xfrm>
            <a:off x="6199823" y="5406390"/>
            <a:ext cx="431485" cy="5508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22" name="Equation" r:id="rId31" imgW="177480" imgH="228600" progId="Equation.DSMT4">
                    <p:embed/>
                  </p:oleObj>
                </mc:Choice>
                <mc:Fallback>
                  <p:oleObj name="Equation" r:id="rId31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9823" y="5406390"/>
                          <a:ext cx="431485" cy="55080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7985425"/>
                </p:ext>
              </p:extLst>
            </p:nvPr>
          </p:nvGraphicFramePr>
          <p:xfrm>
            <a:off x="7398031" y="5406390"/>
            <a:ext cx="483312" cy="5110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23" name="Equation" r:id="rId33" imgW="215640" imgH="228600" progId="Equation.DSMT4">
                    <p:embed/>
                  </p:oleObj>
                </mc:Choice>
                <mc:Fallback>
                  <p:oleObj name="Equation" r:id="rId33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8031" y="5406390"/>
                          <a:ext cx="483312" cy="51103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" name="矩形 163"/>
          <p:cNvSpPr/>
          <p:nvPr/>
        </p:nvSpPr>
        <p:spPr bwMode="auto">
          <a:xfrm>
            <a:off x="6126480" y="2392696"/>
            <a:ext cx="403860" cy="397043"/>
          </a:xfrm>
          <a:prstGeom prst="rect">
            <a:avLst/>
          </a:prstGeom>
          <a:noFill/>
          <a:ln w="254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sp>
        <p:nvSpPr>
          <p:cNvPr id="165" name="矩形 164"/>
          <p:cNvSpPr/>
          <p:nvPr/>
        </p:nvSpPr>
        <p:spPr bwMode="auto">
          <a:xfrm>
            <a:off x="7048500" y="2392696"/>
            <a:ext cx="403860" cy="397043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zh-CN" altLang="en-US" sz="2100"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250430" y="4893469"/>
            <a:ext cx="1905000" cy="342900"/>
          </a:xfrm>
        </p:spPr>
        <p:txBody>
          <a:bodyPr/>
          <a:lstStyle/>
          <a:p>
            <a:fld id="{AE7E5495-FB17-4743-98B2-732EA470C315}" type="slidenum">
              <a:rPr lang="zh-CN" altLang="en-US" smtClean="0">
                <a:solidFill>
                  <a:srgbClr val="578963"/>
                </a:solidFill>
              </a:rPr>
              <a:pPr/>
              <a:t>21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59" grpId="1" animBg="1"/>
      <p:bldP spid="164" grpId="0" animBg="1"/>
      <p:bldP spid="164" grpId="1" animBg="1"/>
      <p:bldP spid="165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7_第六版PPT主题模板">
  <a:themeElements>
    <a:clrScheme name="7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lin ang="0" scaled="0"/>
        </a:gradFill>
        <a:ln>
          <a:headEnd/>
          <a:tailEnd/>
        </a:ln>
      </a:spPr>
      <a:bodyPr>
        <a:spAutoFit/>
      </a:bodyPr>
      <a:lstStyle>
        <a:defPPr eaLnBrk="0" hangingPunct="0">
          <a:lnSpc>
            <a:spcPct val="130000"/>
          </a:lnSpc>
          <a:defRPr kumimoji="1" sz="3200" b="1" dirty="0">
            <a:latin typeface="Times New Roman" pitchFamily="18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</a:objectDefaults>
  <a:extraClrSchemeLst>
    <a:extraClrScheme>
      <a:clrScheme name="7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第六版PPT主题模板">
  <a:themeElements>
    <a:clrScheme name="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第六版PPT主题模板">
  <a:themeElements>
    <a:clrScheme name="1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第六版PPT主题模板">
  <a:themeElements>
    <a:clrScheme name="2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第六版PPT主题模板">
  <a:themeElements>
    <a:clrScheme name="3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4_第六版PPT主题模板">
  <a:themeElements>
    <a:clrScheme name="4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第六版PPT主题模板">
  <a:themeElements>
    <a:clrScheme name="5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6_第六版PPT主题模板">
  <a:themeElements>
    <a:clrScheme name="6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第六版PPT主题模板">
  <a:themeElements>
    <a:clrScheme name="8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8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第六版PPT主题模板">
  <a:themeElements>
    <a:clrScheme name="9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第六版PPT主题模板">
  <a:themeElements>
    <a:clrScheme name="10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0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第六版PPT主题模板">
  <a:themeElements>
    <a:clrScheme name="11_第六版PPT主题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_第六版PPT主题模板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1_第六版PPT主题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场景型模板">
  <a:themeElements>
    <a:clrScheme name="场景型模板 5">
      <a:dk1>
        <a:srgbClr val="000000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000000"/>
      </a:accent4>
      <a:accent5>
        <a:srgbClr val="EED8D8"/>
      </a:accent5>
      <a:accent6>
        <a:srgbClr val="A2CCA2"/>
      </a:accent6>
      <a:hlink>
        <a:srgbClr val="DB0B29"/>
      </a:hlink>
      <a:folHlink>
        <a:srgbClr val="2004EE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5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DB0B29"/>
        </a:hlink>
        <a:folHlink>
          <a:srgbClr val="2004E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_场景型模板">
  <a:themeElements>
    <a:clrScheme name="场景型模板 5">
      <a:dk1>
        <a:srgbClr val="000000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000000"/>
      </a:accent4>
      <a:accent5>
        <a:srgbClr val="EED8D8"/>
      </a:accent5>
      <a:accent6>
        <a:srgbClr val="A2CCA2"/>
      </a:accent6>
      <a:hlink>
        <a:srgbClr val="DB0B29"/>
      </a:hlink>
      <a:folHlink>
        <a:srgbClr val="2004EE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5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DB0B29"/>
        </a:hlink>
        <a:folHlink>
          <a:srgbClr val="2004E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2_场景型模板">
  <a:themeElements>
    <a:clrScheme name="场景型模板 5">
      <a:dk1>
        <a:srgbClr val="000000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000000"/>
      </a:accent4>
      <a:accent5>
        <a:srgbClr val="EED8D8"/>
      </a:accent5>
      <a:accent6>
        <a:srgbClr val="A2CCA2"/>
      </a:accent6>
      <a:hlink>
        <a:srgbClr val="DB0B29"/>
      </a:hlink>
      <a:folHlink>
        <a:srgbClr val="2004EE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5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DB0B29"/>
        </a:hlink>
        <a:folHlink>
          <a:srgbClr val="2004E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832</Words>
  <Application>Microsoft Office PowerPoint</Application>
  <PresentationFormat>全屏显示(16:9)</PresentationFormat>
  <Paragraphs>183</Paragraphs>
  <Slides>21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17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51" baseType="lpstr">
      <vt:lpstr>Monotype Sorts</vt:lpstr>
      <vt:lpstr>楷体</vt:lpstr>
      <vt:lpstr>楷体_GB2312</vt:lpstr>
      <vt:lpstr>宋体</vt:lpstr>
      <vt:lpstr>Arial</vt:lpstr>
      <vt:lpstr>Bookman Old Style</vt:lpstr>
      <vt:lpstr>Calibri</vt:lpstr>
      <vt:lpstr>Symbol</vt:lpstr>
      <vt:lpstr>Times New Roman</vt:lpstr>
      <vt:lpstr>默认设计模板</vt:lpstr>
      <vt:lpstr>1_默认设计模板</vt:lpstr>
      <vt:lpstr>7_第六版PPT主题模板</vt:lpstr>
      <vt:lpstr>第六版PPT主题模板</vt:lpstr>
      <vt:lpstr>1_第六版PPT主题模板</vt:lpstr>
      <vt:lpstr>2_第六版PPT主题模板</vt:lpstr>
      <vt:lpstr>3_第六版PPT主题模板</vt:lpstr>
      <vt:lpstr>4_第六版PPT主题模板</vt:lpstr>
      <vt:lpstr>5_第六版PPT主题模板</vt:lpstr>
      <vt:lpstr>6_第六版PPT主题模板</vt:lpstr>
      <vt:lpstr>8_第六版PPT主题模板</vt:lpstr>
      <vt:lpstr>9_第六版PPT主题模板</vt:lpstr>
      <vt:lpstr>10_第六版PPT主题模板</vt:lpstr>
      <vt:lpstr>11_第六版PPT主题模板</vt:lpstr>
      <vt:lpstr>场景型模板</vt:lpstr>
      <vt:lpstr>1_场景型模板</vt:lpstr>
      <vt:lpstr>2_场景型模板</vt:lpstr>
      <vt:lpstr>Equation</vt:lpstr>
      <vt:lpstr>MathType 6.7 Equation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sytu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  学  物  理</dc:title>
  <dc:creator>chenjian</dc:creator>
  <cp:lastModifiedBy>Administrator</cp:lastModifiedBy>
  <cp:revision>233</cp:revision>
  <dcterms:created xsi:type="dcterms:W3CDTF">2005-09-11T15:39:18Z</dcterms:created>
  <dcterms:modified xsi:type="dcterms:W3CDTF">2024-04-19T13:36:36Z</dcterms:modified>
</cp:coreProperties>
</file>