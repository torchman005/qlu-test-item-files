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7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8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37" r:id="rId2"/>
    <p:sldMasterId id="2147483740" r:id="rId3"/>
    <p:sldMasterId id="2147483743" r:id="rId4"/>
    <p:sldMasterId id="2147483748" r:id="rId5"/>
    <p:sldMasterId id="2147483751" r:id="rId6"/>
    <p:sldMasterId id="2147483799" r:id="rId7"/>
    <p:sldMasterId id="2147483859" r:id="rId8"/>
    <p:sldMasterId id="2147483883" r:id="rId9"/>
    <p:sldMasterId id="2147483895" r:id="rId10"/>
  </p:sldMasterIdLst>
  <p:notesMasterIdLst>
    <p:notesMasterId r:id="rId38"/>
  </p:notesMasterIdLst>
  <p:sldIdLst>
    <p:sldId id="336" r:id="rId11"/>
    <p:sldId id="374" r:id="rId12"/>
    <p:sldId id="297" r:id="rId13"/>
    <p:sldId id="298" r:id="rId14"/>
    <p:sldId id="373" r:id="rId15"/>
    <p:sldId id="306" r:id="rId16"/>
    <p:sldId id="307" r:id="rId17"/>
    <p:sldId id="380" r:id="rId18"/>
    <p:sldId id="345" r:id="rId19"/>
    <p:sldId id="314" r:id="rId20"/>
    <p:sldId id="315" r:id="rId21"/>
    <p:sldId id="316" r:id="rId22"/>
    <p:sldId id="317" r:id="rId23"/>
    <p:sldId id="318" r:id="rId24"/>
    <p:sldId id="324" r:id="rId25"/>
    <p:sldId id="353" r:id="rId26"/>
    <p:sldId id="377" r:id="rId27"/>
    <p:sldId id="362" r:id="rId28"/>
    <p:sldId id="363" r:id="rId29"/>
    <p:sldId id="368" r:id="rId30"/>
    <p:sldId id="369" r:id="rId31"/>
    <p:sldId id="371" r:id="rId32"/>
    <p:sldId id="370" r:id="rId33"/>
    <p:sldId id="375" r:id="rId34"/>
    <p:sldId id="376" r:id="rId35"/>
    <p:sldId id="378" r:id="rId36"/>
    <p:sldId id="379" r:id="rId37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FFFFFF"/>
    <a:srgbClr val="F5FBA3"/>
    <a:srgbClr val="CC9900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 autoAdjust="0"/>
    <p:restoredTop sz="94211" autoAdjust="0"/>
  </p:normalViewPr>
  <p:slideViewPr>
    <p:cSldViewPr snapToGrid="0" snapToObjects="1">
      <p:cViewPr varScale="1">
        <p:scale>
          <a:sx n="126" d="100"/>
          <a:sy n="126" d="100"/>
        </p:scale>
        <p:origin x="648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e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wmf"/><Relationship Id="rId7" Type="http://schemas.openxmlformats.org/officeDocument/2006/relationships/image" Target="../media/image32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3.e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2.e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5.wmf"/><Relationship Id="rId7" Type="http://schemas.openxmlformats.org/officeDocument/2006/relationships/image" Target="../media/image1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1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1.wmf"/><Relationship Id="rId7" Type="http://schemas.openxmlformats.org/officeDocument/2006/relationships/image" Target="../media/image64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18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4" Type="http://schemas.openxmlformats.org/officeDocument/2006/relationships/image" Target="../media/image8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12" Type="http://schemas.openxmlformats.org/officeDocument/2006/relationships/image" Target="../media/image102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11" Type="http://schemas.openxmlformats.org/officeDocument/2006/relationships/image" Target="../media/image101.wmf"/><Relationship Id="rId5" Type="http://schemas.openxmlformats.org/officeDocument/2006/relationships/image" Target="../media/image95.wmf"/><Relationship Id="rId10" Type="http://schemas.openxmlformats.org/officeDocument/2006/relationships/image" Target="../media/image100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105.wmf"/><Relationship Id="rId7" Type="http://schemas.openxmlformats.org/officeDocument/2006/relationships/image" Target="../media/image92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91.wmf"/><Relationship Id="rId11" Type="http://schemas.openxmlformats.org/officeDocument/2006/relationships/image" Target="../media/image108.wmf"/><Relationship Id="rId5" Type="http://schemas.openxmlformats.org/officeDocument/2006/relationships/image" Target="../media/image107.wmf"/><Relationship Id="rId10" Type="http://schemas.openxmlformats.org/officeDocument/2006/relationships/image" Target="../media/image96.wmf"/><Relationship Id="rId4" Type="http://schemas.openxmlformats.org/officeDocument/2006/relationships/image" Target="../media/image106.wmf"/><Relationship Id="rId9" Type="http://schemas.openxmlformats.org/officeDocument/2006/relationships/image" Target="../media/image9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7.wmf"/><Relationship Id="rId3" Type="http://schemas.openxmlformats.org/officeDocument/2006/relationships/image" Target="../media/image111.wmf"/><Relationship Id="rId7" Type="http://schemas.openxmlformats.org/officeDocument/2006/relationships/image" Target="../media/image92.wmf"/><Relationship Id="rId12" Type="http://schemas.openxmlformats.org/officeDocument/2006/relationships/image" Target="../media/image113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112.wmf"/><Relationship Id="rId10" Type="http://schemas.openxmlformats.org/officeDocument/2006/relationships/image" Target="../media/image95.wmf"/><Relationship Id="rId4" Type="http://schemas.openxmlformats.org/officeDocument/2006/relationships/image" Target="../media/image106.wmf"/><Relationship Id="rId9" Type="http://schemas.openxmlformats.org/officeDocument/2006/relationships/image" Target="../media/image9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image" Target="../media/image97.wmf"/><Relationship Id="rId3" Type="http://schemas.openxmlformats.org/officeDocument/2006/relationships/image" Target="../media/image116.wmf"/><Relationship Id="rId7" Type="http://schemas.openxmlformats.org/officeDocument/2006/relationships/image" Target="../media/image93.wmf"/><Relationship Id="rId12" Type="http://schemas.openxmlformats.org/officeDocument/2006/relationships/image" Target="../media/image118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92.wmf"/><Relationship Id="rId11" Type="http://schemas.openxmlformats.org/officeDocument/2006/relationships/image" Target="../media/image113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117.wmf"/><Relationship Id="rId9" Type="http://schemas.openxmlformats.org/officeDocument/2006/relationships/image" Target="../media/image9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0915FC19-B475-4580-855A-5E6C99C18C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25437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54E10-7276-4B8E-97B2-09A409F130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F9B55-6119-476A-97C2-FE11083478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748B5-4BD1-4425-8BD5-4D1EFCF1E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5E85E-EF93-4773-9888-E5818A63D1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56969-584F-4F0E-962E-B6E7152F71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8BBEB-47DE-4D05-8706-74F707964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2BF8B-D01A-4926-ABD2-EE5A5963CF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DC160-1E24-49F8-BACB-8DD7178B19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771AE-4983-4BA4-B49F-7FD0B8F020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8801-BEE5-4264-A3E6-49B63A9B1F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7E7A3-092A-4C76-8D64-729CF5795A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508883-FFEE-4926-BD5E-0FECA2542A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7031038" y="67866"/>
            <a:ext cx="156686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180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000892" y="447675"/>
            <a:ext cx="1548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8E1B08-6D89-4BAD-9171-5E76744B5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D947833-33B3-457F-A628-0754AF1C95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7031038" y="67866"/>
            <a:ext cx="156686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180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000892" y="447675"/>
            <a:ext cx="1548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08E8DD-D7D7-4029-ADAD-212263D1EC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F73A45-D694-465B-B3FD-ECC8AC33D8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7031038" y="67866"/>
            <a:ext cx="156686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180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000892" y="447675"/>
            <a:ext cx="1548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50B83D-1F25-415E-AED1-08DE8D6A98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E04ED9-454F-4391-B0CB-870534FB70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684963" y="4830366"/>
            <a:ext cx="2133600" cy="309563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9B4A3F-6AD0-490A-989F-2224D6A121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7CDA36-1E23-4FB8-85A7-AD6D7F7E69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7031038" y="67866"/>
            <a:ext cx="156686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1800" smtClean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000892" y="447675"/>
            <a:ext cx="1548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FE1AD3-0BF2-4A0F-A699-FD443C9819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 smtClean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9AFF0AE5-BCAE-41D9-B59F-47DD4649182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91D26-6CA4-4D90-97AE-88462455F77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57B6B4-BAC1-40E0-8495-E07869FB87A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EF26E-35B8-4468-A6E5-F420BD8766B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F33BB-0CB6-4C58-B2C8-BA3A430A3C6F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4C873-967A-4FD0-8FD8-CB0B9D36D8A9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A0E9C-0142-4B43-9BF0-1763D0F9C0D3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78D55-886F-4677-BAC9-D9010256E8D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AE461-A040-4117-9F40-754541EA3491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0E668-41D3-43C8-B8C6-3C3E88E68FC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BD3A8-0115-4D01-9277-7E7FE94A2229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 b="1" smtClean="0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3EA54E76-3B79-4366-9CC1-9AC290568F7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BAAD9E-8BD2-46B4-A5D1-D70250531F82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22B6A21-27C6-4F1E-8A93-8C3A15B13810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A57296-0BE2-4AFA-AA3F-3D9A539FEE74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0F60DF-4232-47AE-BEBC-BA6C38257E9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9AE1A5-8FB0-4AC3-9DE2-1668B8C79D9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958393-2E44-44B3-9612-6191A961989F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67AB373-8CD4-4DE9-B49C-3EEAE2D7570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4CA3AB-B3BD-48BD-B3FB-1F7E5F64812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035CA6B-A745-454F-9141-158BFB47911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F94768-F846-4188-A5F0-AE1C5D0F6CCF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 b="1" smtClean="0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7267575" y="4911329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spcBef>
                <a:spcPct val="50000"/>
              </a:spcBef>
            </a:pPr>
            <a:fld id="{AD8ADF0D-9C9C-4084-9E6A-3E78115CD229}" type="slidenum">
              <a:rPr lang="zh-CN" altLang="en-US" sz="1050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zh-CN" sz="1050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C42B8C8-72EF-4A57-8084-BECFDF1923B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B9D258-FC53-48AD-8180-C1A33BF4BAD2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533ADE-4CBD-442F-B8B1-966CF5CB065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C8490A-EDF7-4B37-99DD-8C0A67FD7BD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68FA69-99F7-409E-9DEB-31E07E766AD9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9DA50E-7DEF-49FB-8463-78A0ED18CD6B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98DC83-3659-4F02-B5C7-14906EF14469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6E655A-E993-496D-963F-67B058DFDF03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9ADC2E-A009-4F7B-9649-F644B09D109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6A7F21-C17F-4B79-AC85-C95FD84CD8B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 b="1" smtClean="0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0F8D2A8E-2ECE-4DC8-BC66-7C609D1E47A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0B79AF1-3CAD-47CB-8F6F-F3852D86682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D8B8F6-5F0F-4344-BBD5-365B28C958A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1C0EB5-7947-46D2-811D-A9C8BBBBA9C4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955F826-26DE-4709-9C25-CA3E40B4A0A7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4F8843-14A4-4CE2-AF54-56315CAE9F74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BB9A2A-12A2-4D42-B58F-5485464EC55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80845D9-A6FE-4CCC-8CD0-366E05717EC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13B318-B650-42C5-95E9-D42618FE1DA2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32B6D3-366F-42AB-A36B-C32405ACC5C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E6FC8C-CC8D-4F34-BBD3-9D305D5F368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>
              <a:gd name="T0" fmla="*/ 163 w 4128"/>
              <a:gd name="T1" fmla="*/ 200 h 479"/>
              <a:gd name="T2" fmla="*/ 4128 w 4128"/>
              <a:gd name="T3" fmla="*/ 200 h 479"/>
              <a:gd name="T4" fmla="*/ 4128 w 4128"/>
              <a:gd name="T5" fmla="*/ 429 h 479"/>
              <a:gd name="T6" fmla="*/ 0 w 4128"/>
              <a:gd name="T7" fmla="*/ 441 h 479"/>
              <a:gd name="T8" fmla="*/ 163 w 4128"/>
              <a:gd name="T9" fmla="*/ 20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100" b="1" smtClean="0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rgbClr val="578963"/>
                </a:solidFill>
              </a:defRPr>
            </a:lvl1pPr>
          </a:lstStyle>
          <a:p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BFF0D9B3-AE78-4639-BD8A-B4101DAF8C7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71036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BA89C9-CCAF-459D-A444-179F007B00E7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73452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58EE97-0648-44A1-A732-DCA96DDEE95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2697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BA34A9-D368-4953-B813-CC83BAFE169B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9330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3B4D3F-B0A0-47ED-962F-B1045FB10AA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25926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FB7EC6-84AB-45F3-821F-891BF836842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7378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139031-FDE9-4207-AE6F-6461D4D88660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8597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718B1E-61C9-45EC-9526-8BA9ACEA6A74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4673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C3052B-F519-43D0-A1FF-1C18BD14935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956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0147B5-72E9-4685-A6DE-C9DCD656C55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1675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6115752-665F-435D-970D-5F75D4AB43C7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07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84963" y="4830366"/>
            <a:ext cx="213360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smtClean="0">
                <a:latin typeface="Arial" pitchFamily="34" charset="0"/>
              </a:defRPr>
            </a:lvl1pPr>
          </a:lstStyle>
          <a:p>
            <a:pPr>
              <a:defRPr/>
            </a:pPr>
            <a:fld id="{284E3A70-5452-4271-89D8-37DABA34A4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974904" y="4890195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50" b="1" smtClean="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D5962F3-ED27-4980-98DC-FF6B344DCEF9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983905" y="4896945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50" b="1" smtClean="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0A75A7F3-F3A3-4764-9912-E4CFDFCF770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957265" y="4900759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50" b="1" smtClean="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F6D54696-E7F3-4042-8950-8FB52B080B6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983905" y="4900759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50" b="1" smtClean="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09C111BD-02CC-403C-8C3C-48AD8D7554E0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fld id="{CF78A67E-C595-4472-8E47-D7CE75BE2839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989283AD-F86E-4DB0-834C-B1BB0DB92BE1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67575" y="4911329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216C31CE-F95F-428F-AB19-4027DBC1C5A0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B214C84A-5D4D-469E-8C59-048C50B34AC7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07D26A4E-1A4A-4922-ABCE-36D98E5301D6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73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9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61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.w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9.bin"/><Relationship Id="rId10" Type="http://schemas.openxmlformats.org/officeDocument/2006/relationships/oleObject" Target="../embeddings/oleObject26.bin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0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7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9.emf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3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4.wmf"/><Relationship Id="rId2" Type="http://schemas.openxmlformats.org/officeDocument/2006/relationships/slideLayout" Target="../slideLayouts/slideLayout16.xml"/><Relationship Id="rId16" Type="http://schemas.openxmlformats.org/officeDocument/2006/relationships/oleObject" Target="../embeddings/oleObject62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0.wmf"/><Relationship Id="rId11" Type="http://schemas.openxmlformats.org/officeDocument/2006/relationships/image" Target="../media/image40.png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18.wmf"/><Relationship Id="rId10" Type="http://schemas.openxmlformats.org/officeDocument/2006/relationships/image" Target="../media/image62.wmf"/><Relationship Id="rId19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0.bin"/><Relationship Id="rId14" Type="http://schemas.openxmlformats.org/officeDocument/2006/relationships/oleObject" Target="../embeddings/oleObject5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5.wmf"/><Relationship Id="rId3" Type="http://schemas.openxmlformats.org/officeDocument/2006/relationships/image" Target="../media/image40.png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4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6.emf"/><Relationship Id="rId3" Type="http://schemas.openxmlformats.org/officeDocument/2006/relationships/oleObject" Target="../embeddings/oleObject66.bin"/><Relationship Id="rId21" Type="http://schemas.openxmlformats.org/officeDocument/2006/relationships/image" Target="../media/image77.emf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75.wmf"/><Relationship Id="rId20" Type="http://schemas.openxmlformats.org/officeDocument/2006/relationships/oleObject" Target="../embeddings/oleObject74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80.jpeg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image" Target="../media/image78.wmf"/><Relationship Id="rId10" Type="http://schemas.openxmlformats.org/officeDocument/2006/relationships/image" Target="../media/image72.wmf"/><Relationship Id="rId19" Type="http://schemas.openxmlformats.org/officeDocument/2006/relationships/image" Target="../media/image79.png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4.wmf"/><Relationship Id="rId22" Type="http://schemas.openxmlformats.org/officeDocument/2006/relationships/oleObject" Target="../embeddings/oleObject7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5.wmf"/><Relationship Id="rId3" Type="http://schemas.openxmlformats.org/officeDocument/2006/relationships/image" Target="../media/image40.png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7.wmf"/><Relationship Id="rId2" Type="http://schemas.openxmlformats.org/officeDocument/2006/relationships/slideLayout" Target="../slideLayouts/slideLayout20.xml"/><Relationship Id="rId16" Type="http://schemas.openxmlformats.org/officeDocument/2006/relationships/oleObject" Target="../embeddings/oleObject82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oleObject" Target="../embeddings/oleObject83.bin"/><Relationship Id="rId7" Type="http://schemas.openxmlformats.org/officeDocument/2006/relationships/image" Target="../media/image89.wmf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2.wmf"/><Relationship Id="rId5" Type="http://schemas.openxmlformats.org/officeDocument/2006/relationships/image" Target="../media/image40.png"/><Relationship Id="rId10" Type="http://schemas.openxmlformats.org/officeDocument/2006/relationships/oleObject" Target="../embeddings/oleObject77.bin"/><Relationship Id="rId4" Type="http://schemas.openxmlformats.org/officeDocument/2006/relationships/image" Target="../media/image88.wmf"/><Relationship Id="rId9" Type="http://schemas.openxmlformats.org/officeDocument/2006/relationships/image" Target="../media/image9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8.wmf"/><Relationship Id="rId26" Type="http://schemas.openxmlformats.org/officeDocument/2006/relationships/image" Target="../media/image102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97.wmf"/><Relationship Id="rId20" Type="http://schemas.openxmlformats.org/officeDocument/2006/relationships/image" Target="../media/image9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101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6.wmf"/><Relationship Id="rId22" Type="http://schemas.openxmlformats.org/officeDocument/2006/relationships/image" Target="../media/image10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92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108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1.wmf"/><Relationship Id="rId22" Type="http://schemas.openxmlformats.org/officeDocument/2006/relationships/image" Target="../media/image9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93.wmf"/><Relationship Id="rId26" Type="http://schemas.openxmlformats.org/officeDocument/2006/relationships/image" Target="../media/image113.w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6.bin"/><Relationship Id="rId25" Type="http://schemas.openxmlformats.org/officeDocument/2006/relationships/oleObject" Target="../embeddings/oleObject120.bin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96.wmf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28" Type="http://schemas.openxmlformats.org/officeDocument/2006/relationships/image" Target="../media/image97.wmf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Relationship Id="rId27" Type="http://schemas.openxmlformats.org/officeDocument/2006/relationships/oleObject" Target="../embeddings/oleObject12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94.wmf"/><Relationship Id="rId26" Type="http://schemas.openxmlformats.org/officeDocument/2006/relationships/image" Target="../media/image118.wmf"/><Relationship Id="rId3" Type="http://schemas.openxmlformats.org/officeDocument/2006/relationships/oleObject" Target="../embeddings/oleObject122.bin"/><Relationship Id="rId21" Type="http://schemas.openxmlformats.org/officeDocument/2006/relationships/oleObject" Target="../embeddings/oleObject131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33.bin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13.wmf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97.wmf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30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92.wmf"/><Relationship Id="rId22" Type="http://schemas.openxmlformats.org/officeDocument/2006/relationships/image" Target="../media/image96.wmf"/><Relationship Id="rId27" Type="http://schemas.openxmlformats.org/officeDocument/2006/relationships/oleObject" Target="../embeddings/oleObject13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23.wmf"/><Relationship Id="rId3" Type="http://schemas.openxmlformats.org/officeDocument/2006/relationships/oleObject" Target="../embeddings/oleObject135.bin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7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22.wmf"/><Relationship Id="rId5" Type="http://schemas.openxmlformats.org/officeDocument/2006/relationships/image" Target="../media/image40.png"/><Relationship Id="rId15" Type="http://schemas.openxmlformats.org/officeDocument/2006/relationships/image" Target="../media/image124.wmf"/><Relationship Id="rId10" Type="http://schemas.openxmlformats.org/officeDocument/2006/relationships/oleObject" Target="../embeddings/oleObject138.bin"/><Relationship Id="rId4" Type="http://schemas.openxmlformats.org/officeDocument/2006/relationships/image" Target="../media/image119.wmf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4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7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4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2656880" y="573529"/>
            <a:ext cx="45074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7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第八章  电磁感应、电磁场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2681790" y="1934480"/>
            <a:ext cx="5076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.2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动生电动势、感生电动势</a:t>
            </a:r>
          </a:p>
        </p:txBody>
      </p:sp>
      <p:sp>
        <p:nvSpPr>
          <p:cNvPr id="105480" name="Text Box 8"/>
          <p:cNvSpPr txBox="1">
            <a:spLocks noChangeArrowheads="1"/>
          </p:cNvSpPr>
          <p:nvPr/>
        </p:nvSpPr>
        <p:spPr bwMode="auto">
          <a:xfrm>
            <a:off x="2681791" y="1372077"/>
            <a:ext cx="37748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8.1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电磁感应定律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681790" y="2485341"/>
            <a:ext cx="3709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自感和互感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681791" y="3036203"/>
            <a:ext cx="2798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.4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RL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电路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2681790" y="3587064"/>
            <a:ext cx="34494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.5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磁场的能量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2681790" y="4137924"/>
            <a:ext cx="34494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.6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麦克斯韦方程组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944" y="397196"/>
            <a:ext cx="941350" cy="87235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7" t="2624" r="22721" b="1099"/>
          <a:stretch/>
        </p:blipFill>
        <p:spPr>
          <a:xfrm>
            <a:off x="5874907" y="171231"/>
            <a:ext cx="1964430" cy="2196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692" y="78183"/>
            <a:ext cx="1330185" cy="160033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357" y="1997003"/>
            <a:ext cx="3137343" cy="28527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811" y="2633846"/>
            <a:ext cx="2084108" cy="19183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7"/>
          <a:srcRect l="5930" t="9707"/>
          <a:stretch/>
        </p:blipFill>
        <p:spPr>
          <a:xfrm>
            <a:off x="1199693" y="327111"/>
            <a:ext cx="1009498" cy="114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7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EE00279-FF4C-4F49-BB91-54D67E776DA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004785" y="625004"/>
            <a:ext cx="4385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smtClean="0">
                <a:solidFill>
                  <a:srgbClr val="CC0000"/>
                </a:solidFill>
                <a:latin typeface="宋体" pitchFamily="2" charset="-122"/>
              </a:rPr>
              <a:t>一、自</a:t>
            </a:r>
            <a:r>
              <a:rPr kumimoji="1" lang="zh-CN" altLang="en-US" sz="2400" b="1" dirty="0">
                <a:solidFill>
                  <a:srgbClr val="CC0000"/>
                </a:solidFill>
                <a:latin typeface="宋体" pitchFamily="2" charset="-122"/>
              </a:rPr>
              <a:t>感电动势和自感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275089"/>
              </p:ext>
            </p:extLst>
          </p:nvPr>
        </p:nvGraphicFramePr>
        <p:xfrm>
          <a:off x="1634392" y="1815666"/>
          <a:ext cx="1129904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68" name="Equation" r:id="rId3" imgW="444114" imgH="164957" progId="Equation.3">
                  <p:embed/>
                </p:oleObj>
              </mc:Choice>
              <mc:Fallback>
                <p:oleObj name="Equation" r:id="rId3" imgW="444114" imgH="16495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4392" y="1815666"/>
                        <a:ext cx="1129904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853353" y="1165064"/>
            <a:ext cx="18919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kumimoji="1" lang="zh-CN" altLang="en-US" sz="2400" b="1" dirty="0">
                <a:latin typeface="Times New Roman" pitchFamily="18" charset="0"/>
              </a:rPr>
              <a:t>自感</a:t>
            </a:r>
            <a:r>
              <a:rPr kumimoji="1"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526380" y="2461208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若线圈有 </a:t>
            </a:r>
            <a:r>
              <a:rPr kumimoji="1" lang="en-US" altLang="zh-CN" sz="2400" b="1" i="1" dirty="0">
                <a:latin typeface="Times New Roman" pitchFamily="18" charset="0"/>
              </a:rPr>
              <a:t>N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</a:rPr>
              <a:t>匝，</a:t>
            </a:r>
          </a:p>
        </p:txBody>
      </p:sp>
      <p:graphicFrame>
        <p:nvGraphicFramePr>
          <p:cNvPr id="9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207441"/>
              </p:ext>
            </p:extLst>
          </p:nvPr>
        </p:nvGraphicFramePr>
        <p:xfrm>
          <a:off x="3595592" y="2489634"/>
          <a:ext cx="1225154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69" name="Equation" r:id="rId5" imgW="545626" imgH="203024" progId="Equation.3">
                  <p:embed/>
                </p:oleObj>
              </mc:Choice>
              <mc:Fallback>
                <p:oleObj name="Equation" r:id="rId5" imgW="545626" imgH="2030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592" y="2489634"/>
                        <a:ext cx="1225154" cy="403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181354" y="1604201"/>
            <a:ext cx="1779984" cy="1385888"/>
            <a:chOff x="3696" y="1805"/>
            <a:chExt cx="1495" cy="1164"/>
          </a:xfrm>
        </p:grpSpPr>
        <p:sp>
          <p:nvSpPr>
            <p:cNvPr id="6165" name="Oval 17"/>
            <p:cNvSpPr>
              <a:spLocks noChangeArrowheads="1"/>
            </p:cNvSpPr>
            <p:nvPr/>
          </p:nvSpPr>
          <p:spPr bwMode="auto">
            <a:xfrm>
              <a:off x="4334" y="1937"/>
              <a:ext cx="283" cy="96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166" name="Line 18"/>
            <p:cNvSpPr>
              <a:spLocks noChangeShapeType="1"/>
            </p:cNvSpPr>
            <p:nvPr/>
          </p:nvSpPr>
          <p:spPr bwMode="auto">
            <a:xfrm flipV="1">
              <a:off x="4334" y="2378"/>
              <a:ext cx="0" cy="79"/>
            </a:xfrm>
            <a:prstGeom prst="line">
              <a:avLst/>
            </a:prstGeom>
            <a:noFill/>
            <a:ln w="38100">
              <a:solidFill>
                <a:srgbClr val="F4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Line 19"/>
            <p:cNvSpPr>
              <a:spLocks noChangeShapeType="1"/>
            </p:cNvSpPr>
            <p:nvPr/>
          </p:nvSpPr>
          <p:spPr bwMode="auto">
            <a:xfrm flipH="1">
              <a:off x="3696" y="2418"/>
              <a:ext cx="602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Line 20"/>
            <p:cNvSpPr>
              <a:spLocks noChangeShapeType="1"/>
            </p:cNvSpPr>
            <p:nvPr/>
          </p:nvSpPr>
          <p:spPr bwMode="auto">
            <a:xfrm>
              <a:off x="4475" y="2418"/>
              <a:ext cx="709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9" name="Arc 21"/>
            <p:cNvSpPr>
              <a:spLocks/>
            </p:cNvSpPr>
            <p:nvPr/>
          </p:nvSpPr>
          <p:spPr bwMode="auto">
            <a:xfrm flipH="1">
              <a:off x="3873" y="2576"/>
              <a:ext cx="496" cy="393"/>
            </a:xfrm>
            <a:custGeom>
              <a:avLst/>
              <a:gdLst>
                <a:gd name="T0" fmla="*/ 0 w 21600"/>
                <a:gd name="T1" fmla="*/ 0 h 21526"/>
                <a:gd name="T2" fmla="*/ 0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0" name="Arc 22"/>
            <p:cNvSpPr>
              <a:spLocks/>
            </p:cNvSpPr>
            <p:nvPr/>
          </p:nvSpPr>
          <p:spPr bwMode="auto">
            <a:xfrm flipH="1" flipV="1">
              <a:off x="3873" y="1904"/>
              <a:ext cx="496" cy="356"/>
            </a:xfrm>
            <a:custGeom>
              <a:avLst/>
              <a:gdLst>
                <a:gd name="T0" fmla="*/ 0 w 21600"/>
                <a:gd name="T1" fmla="*/ 0 h 21526"/>
                <a:gd name="T2" fmla="*/ 0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1" name="Arc 23"/>
            <p:cNvSpPr>
              <a:spLocks/>
            </p:cNvSpPr>
            <p:nvPr/>
          </p:nvSpPr>
          <p:spPr bwMode="auto">
            <a:xfrm>
              <a:off x="4440" y="2576"/>
              <a:ext cx="562" cy="393"/>
            </a:xfrm>
            <a:custGeom>
              <a:avLst/>
              <a:gdLst>
                <a:gd name="T0" fmla="*/ 0 w 21422"/>
                <a:gd name="T1" fmla="*/ 0 h 21526"/>
                <a:gd name="T2" fmla="*/ 0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2" name="Arc 24"/>
            <p:cNvSpPr>
              <a:spLocks/>
            </p:cNvSpPr>
            <p:nvPr/>
          </p:nvSpPr>
          <p:spPr bwMode="auto">
            <a:xfrm flipV="1">
              <a:off x="4440" y="1865"/>
              <a:ext cx="562" cy="395"/>
            </a:xfrm>
            <a:custGeom>
              <a:avLst/>
              <a:gdLst>
                <a:gd name="T0" fmla="*/ 0 w 21422"/>
                <a:gd name="T1" fmla="*/ 0 h 21526"/>
                <a:gd name="T2" fmla="*/ 0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73" name="Object 25"/>
            <p:cNvGraphicFramePr>
              <a:graphicFrameLocks noChangeAspect="1"/>
            </p:cNvGraphicFramePr>
            <p:nvPr/>
          </p:nvGraphicFramePr>
          <p:xfrm>
            <a:off x="4967" y="2069"/>
            <a:ext cx="22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70" name="Equation" r:id="rId7" imgW="215619" imgH="266353" progId="Equation.3">
                    <p:embed/>
                  </p:oleObj>
                </mc:Choice>
                <mc:Fallback>
                  <p:oleObj name="Equation" r:id="rId7" imgW="215619" imgH="26635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2069"/>
                          <a:ext cx="224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6202575"/>
                </p:ext>
              </p:extLst>
            </p:nvPr>
          </p:nvGraphicFramePr>
          <p:xfrm>
            <a:off x="4549" y="1805"/>
            <a:ext cx="16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71" name="Equation" r:id="rId9" imgW="165028" imgH="228501" progId="Equation.3">
                    <p:embed/>
                  </p:oleObj>
                </mc:Choice>
                <mc:Fallback>
                  <p:oleObj name="Equation" r:id="rId9" imgW="165028" imgH="228501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9" y="1805"/>
                          <a:ext cx="169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5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115502"/>
              </p:ext>
            </p:extLst>
          </p:nvPr>
        </p:nvGraphicFramePr>
        <p:xfrm>
          <a:off x="3237651" y="1793509"/>
          <a:ext cx="1151047" cy="454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72" name="Equation" r:id="rId11" imgW="545760" imgH="215640" progId="Equation.DSMT4">
                  <p:embed/>
                </p:oleObj>
              </mc:Choice>
              <mc:Fallback>
                <p:oleObj name="Equation" r:id="rId11" imgW="545760" imgH="2156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651" y="1793509"/>
                        <a:ext cx="1151047" cy="454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907972" y="3885884"/>
            <a:ext cx="6588920" cy="800100"/>
            <a:chOff x="308" y="3180"/>
            <a:chExt cx="5534" cy="672"/>
          </a:xfrm>
        </p:grpSpPr>
        <p:sp>
          <p:nvSpPr>
            <p:cNvPr id="6159" name="Text Box 40"/>
            <p:cNvSpPr txBox="1">
              <a:spLocks noChangeArrowheads="1"/>
            </p:cNvSpPr>
            <p:nvPr/>
          </p:nvSpPr>
          <p:spPr bwMode="auto">
            <a:xfrm>
              <a:off x="1215" y="3341"/>
              <a:ext cx="462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</a:rPr>
                <a:t> 自感仅与线圈形状、</a:t>
              </a:r>
              <a:r>
                <a:rPr kumimoji="1" lang="en-US" altLang="zh-CN" sz="2400" b="1" dirty="0"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latin typeface="Times New Roman" pitchFamily="18" charset="0"/>
                </a:rPr>
                <a:t>磁介质及 </a:t>
              </a:r>
              <a:r>
                <a:rPr kumimoji="1" lang="en-US" altLang="zh-CN" sz="2400" i="1" dirty="0">
                  <a:latin typeface="Times New Roman" pitchFamily="18" charset="0"/>
                </a:rPr>
                <a:t>N</a:t>
              </a:r>
              <a:r>
                <a:rPr kumimoji="1" lang="en-US" altLang="zh-CN" sz="2400" b="1" i="1" dirty="0"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latin typeface="Times New Roman" pitchFamily="18" charset="0"/>
                </a:rPr>
                <a:t>有关</a:t>
              </a:r>
              <a:r>
                <a:rPr kumimoji="1" lang="en-US" altLang="zh-CN" sz="2400" b="1" dirty="0">
                  <a:latin typeface="Times New Roman" pitchFamily="18" charset="0"/>
                </a:rPr>
                <a:t>.</a:t>
              </a:r>
            </a:p>
          </p:txBody>
        </p:sp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308" y="3180"/>
              <a:ext cx="998" cy="672"/>
              <a:chOff x="499" y="540"/>
              <a:chExt cx="999" cy="672"/>
            </a:xfrm>
          </p:grpSpPr>
          <p:sp>
            <p:nvSpPr>
              <p:cNvPr id="6161" name="AutoShape 42"/>
              <p:cNvSpPr>
                <a:spLocks noChangeArrowheads="1"/>
              </p:cNvSpPr>
              <p:nvPr/>
            </p:nvSpPr>
            <p:spPr bwMode="auto">
              <a:xfrm>
                <a:off x="499" y="540"/>
                <a:ext cx="999" cy="672"/>
              </a:xfrm>
              <a:prstGeom prst="irregularSeal1">
                <a:avLst/>
              </a:prstGeom>
              <a:solidFill>
                <a:srgbClr val="FDE3EC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6162" name="Text Box 43"/>
              <p:cNvSpPr txBox="1">
                <a:spLocks noChangeArrowheads="1"/>
              </p:cNvSpPr>
              <p:nvPr/>
            </p:nvSpPr>
            <p:spPr bwMode="auto">
              <a:xfrm>
                <a:off x="680" y="658"/>
                <a:ext cx="690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注意</a:t>
                </a:r>
              </a:p>
            </p:txBody>
          </p:sp>
        </p:grp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1562743" y="3210143"/>
            <a:ext cx="3040862" cy="461962"/>
            <a:chOff x="1131" y="2784"/>
            <a:chExt cx="2554" cy="388"/>
          </a:xfrm>
        </p:grpSpPr>
        <p:sp>
          <p:nvSpPr>
            <p:cNvPr id="6157" name="Text Box 13"/>
            <p:cNvSpPr txBox="1">
              <a:spLocks noChangeArrowheads="1"/>
            </p:cNvSpPr>
            <p:nvPr/>
          </p:nvSpPr>
          <p:spPr bwMode="auto">
            <a:xfrm>
              <a:off x="1131" y="2784"/>
              <a:ext cx="152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自感（系数）</a:t>
              </a:r>
              <a:r>
                <a:rPr kumimoji="1" lang="zh-CN" altLang="en-US" sz="2100" b="1" dirty="0">
                  <a:solidFill>
                    <a:srgbClr val="F40000"/>
                  </a:solidFill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6158" name="Object 44"/>
            <p:cNvGraphicFramePr>
              <a:graphicFrameLocks noChangeAspect="1"/>
            </p:cNvGraphicFramePr>
            <p:nvPr/>
          </p:nvGraphicFramePr>
          <p:xfrm>
            <a:off x="2656" y="2795"/>
            <a:ext cx="102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73" name="Equation" r:id="rId13" imgW="545626" imgH="215713" progId="Equation.3">
                    <p:embed/>
                  </p:oleObj>
                </mc:Choice>
                <mc:Fallback>
                  <p:oleObj name="Equation" r:id="rId13" imgW="545626" imgH="215713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" y="2795"/>
                          <a:ext cx="1029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2627784" y="87474"/>
            <a:ext cx="3709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自感和互感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utoUpdateAnimBg="0"/>
      <p:bldP spid="922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C689B4-E226-4AE9-8097-FCAB2CE044F8}" type="slidenum">
              <a:rPr lang="en-US" altLang="zh-CN"/>
              <a:pPr/>
              <a:t>4</a:t>
            </a:fld>
            <a:endParaRPr lang="en-US" altLang="zh-CN" dirty="0"/>
          </a:p>
        </p:txBody>
      </p:sp>
      <p:graphicFrame>
        <p:nvGraphicFramePr>
          <p:cNvPr id="102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959516"/>
              </p:ext>
            </p:extLst>
          </p:nvPr>
        </p:nvGraphicFramePr>
        <p:xfrm>
          <a:off x="1372516" y="843558"/>
          <a:ext cx="3957638" cy="77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80" name="公式" r:id="rId3" imgW="1701800" imgH="393700" progId="Equation.3">
                  <p:embed/>
                </p:oleObj>
              </mc:Choice>
              <mc:Fallback>
                <p:oleObj name="公式" r:id="rId3" imgW="1701800" imgH="3937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516" y="843558"/>
                        <a:ext cx="3957638" cy="7798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21"/>
          <p:cNvSpPr txBox="1">
            <a:spLocks noChangeArrowheads="1"/>
          </p:cNvSpPr>
          <p:nvPr/>
        </p:nvSpPr>
        <p:spPr bwMode="auto">
          <a:xfrm>
            <a:off x="707050" y="19548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kumimoji="1" lang="zh-CN" altLang="en-US" sz="2400" b="1">
                <a:latin typeface="Times New Roman" pitchFamily="18" charset="0"/>
              </a:rPr>
              <a:t>自感电动势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 </a:t>
            </a:r>
          </a:p>
        </p:txBody>
      </p: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247501" y="1869673"/>
            <a:ext cx="2397919" cy="726281"/>
            <a:chOff x="567" y="1641"/>
            <a:chExt cx="2014" cy="610"/>
          </a:xfrm>
        </p:grpSpPr>
        <p:graphicFrame>
          <p:nvGraphicFramePr>
            <p:cNvPr id="7179" name="Object 49"/>
            <p:cNvGraphicFramePr>
              <a:graphicFrameLocks noChangeAspect="1"/>
            </p:cNvGraphicFramePr>
            <p:nvPr/>
          </p:nvGraphicFramePr>
          <p:xfrm>
            <a:off x="981" y="1641"/>
            <a:ext cx="946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81" name="Equation" r:id="rId5" imgW="710891" imgH="609336" progId="Equation.3">
                    <p:embed/>
                  </p:oleObj>
                </mc:Choice>
                <mc:Fallback>
                  <p:oleObj name="Equation" r:id="rId5" imgW="710891" imgH="609336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1641"/>
                          <a:ext cx="946" cy="6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Text Box 50"/>
            <p:cNvSpPr txBox="1">
              <a:spLocks noChangeArrowheads="1"/>
            </p:cNvSpPr>
            <p:nvPr/>
          </p:nvSpPr>
          <p:spPr bwMode="auto">
            <a:xfrm>
              <a:off x="567" y="1717"/>
              <a:ext cx="4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当</a:t>
              </a:r>
            </a:p>
          </p:txBody>
        </p:sp>
        <p:sp>
          <p:nvSpPr>
            <p:cNvPr id="7181" name="Text Box 51"/>
            <p:cNvSpPr txBox="1">
              <a:spLocks noChangeArrowheads="1"/>
            </p:cNvSpPr>
            <p:nvPr/>
          </p:nvSpPr>
          <p:spPr bwMode="auto">
            <a:xfrm>
              <a:off x="1927" y="1750"/>
              <a:ext cx="65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时，</a:t>
              </a:r>
            </a:p>
          </p:txBody>
        </p:sp>
      </p:grpSp>
      <p:graphicFrame>
        <p:nvGraphicFramePr>
          <p:cNvPr id="1029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07630"/>
              </p:ext>
            </p:extLst>
          </p:nvPr>
        </p:nvGraphicFramePr>
        <p:xfrm>
          <a:off x="1424903" y="2787774"/>
          <a:ext cx="1874435" cy="822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82" name="Equation" r:id="rId7" imgW="736560" imgH="393480" progId="Equation.DSMT4">
                  <p:embed/>
                </p:oleObj>
              </mc:Choice>
              <mc:Fallback>
                <p:oleObj name="Equation" r:id="rId7" imgW="736560" imgH="39348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903" y="2787774"/>
                        <a:ext cx="1874435" cy="822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922702" y="3839784"/>
            <a:ext cx="7870778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6858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kumimoji="1" lang="zh-CN" altLang="en-US" sz="2100" b="1" kern="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zh-CN" altLang="en-US" sz="2100" b="1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自感</a:t>
            </a:r>
            <a:r>
              <a:rPr kumimoji="1" lang="zh-CN" altLang="en-US" sz="21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100" b="1" i="1" kern="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具有</a:t>
            </a:r>
            <a:r>
              <a:rPr kumimoji="1" lang="zh-CN" altLang="en-US" sz="21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维持</a:t>
            </a: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原电路</a:t>
            </a:r>
            <a:r>
              <a:rPr kumimoji="1" lang="zh-CN" altLang="en-US" sz="21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电磁状态</a:t>
            </a: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的能力，</a:t>
            </a:r>
            <a:r>
              <a:rPr kumimoji="1" lang="en-US" altLang="zh-CN" sz="2100" b="1" i="1" kern="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就是这种能力大小的量度，它表征回路</a:t>
            </a:r>
            <a:r>
              <a:rPr kumimoji="1" lang="zh-CN" altLang="en-US" sz="21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电磁惯性</a:t>
            </a:r>
            <a:r>
              <a:rPr kumimoji="1" lang="zh-CN" altLang="en-US" sz="2100" b="1" kern="0" dirty="0">
                <a:latin typeface="Times New Roman" pitchFamily="18" charset="0"/>
                <a:cs typeface="Times New Roman" pitchFamily="18" charset="0"/>
              </a:rPr>
              <a:t>的大小。</a:t>
            </a:r>
          </a:p>
        </p:txBody>
      </p:sp>
      <p:grpSp>
        <p:nvGrpSpPr>
          <p:cNvPr id="25" name="Group 33"/>
          <p:cNvGrpSpPr>
            <a:grpSpLocks/>
          </p:cNvGrpSpPr>
          <p:nvPr/>
        </p:nvGrpSpPr>
        <p:grpSpPr bwMode="auto">
          <a:xfrm>
            <a:off x="6612435" y="1377688"/>
            <a:ext cx="1779984" cy="1385888"/>
            <a:chOff x="3696" y="1805"/>
            <a:chExt cx="1495" cy="1164"/>
          </a:xfrm>
        </p:grpSpPr>
        <p:sp>
          <p:nvSpPr>
            <p:cNvPr id="28" name="Oval 17"/>
            <p:cNvSpPr>
              <a:spLocks noChangeArrowheads="1"/>
            </p:cNvSpPr>
            <p:nvPr/>
          </p:nvSpPr>
          <p:spPr bwMode="auto">
            <a:xfrm>
              <a:off x="4334" y="1937"/>
              <a:ext cx="283" cy="96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 flipV="1">
              <a:off x="4334" y="2378"/>
              <a:ext cx="0" cy="79"/>
            </a:xfrm>
            <a:prstGeom prst="line">
              <a:avLst/>
            </a:prstGeom>
            <a:noFill/>
            <a:ln w="38100">
              <a:solidFill>
                <a:srgbClr val="F4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9"/>
            <p:cNvSpPr>
              <a:spLocks noChangeShapeType="1"/>
            </p:cNvSpPr>
            <p:nvPr/>
          </p:nvSpPr>
          <p:spPr bwMode="auto">
            <a:xfrm flipH="1">
              <a:off x="3696" y="2418"/>
              <a:ext cx="602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0"/>
            <p:cNvSpPr>
              <a:spLocks noChangeShapeType="1"/>
            </p:cNvSpPr>
            <p:nvPr/>
          </p:nvSpPr>
          <p:spPr bwMode="auto">
            <a:xfrm>
              <a:off x="4475" y="2418"/>
              <a:ext cx="709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rc 21"/>
            <p:cNvSpPr>
              <a:spLocks/>
            </p:cNvSpPr>
            <p:nvPr/>
          </p:nvSpPr>
          <p:spPr bwMode="auto">
            <a:xfrm flipH="1">
              <a:off x="3873" y="2576"/>
              <a:ext cx="496" cy="393"/>
            </a:xfrm>
            <a:custGeom>
              <a:avLst/>
              <a:gdLst>
                <a:gd name="T0" fmla="*/ 0 w 21600"/>
                <a:gd name="T1" fmla="*/ 0 h 21526"/>
                <a:gd name="T2" fmla="*/ 0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rc 22"/>
            <p:cNvSpPr>
              <a:spLocks/>
            </p:cNvSpPr>
            <p:nvPr/>
          </p:nvSpPr>
          <p:spPr bwMode="auto">
            <a:xfrm flipH="1" flipV="1">
              <a:off x="3873" y="1904"/>
              <a:ext cx="496" cy="356"/>
            </a:xfrm>
            <a:custGeom>
              <a:avLst/>
              <a:gdLst>
                <a:gd name="T0" fmla="*/ 0 w 21600"/>
                <a:gd name="T1" fmla="*/ 0 h 21526"/>
                <a:gd name="T2" fmla="*/ 0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rc 23"/>
            <p:cNvSpPr>
              <a:spLocks/>
            </p:cNvSpPr>
            <p:nvPr/>
          </p:nvSpPr>
          <p:spPr bwMode="auto">
            <a:xfrm>
              <a:off x="4440" y="2576"/>
              <a:ext cx="562" cy="393"/>
            </a:xfrm>
            <a:custGeom>
              <a:avLst/>
              <a:gdLst>
                <a:gd name="T0" fmla="*/ 0 w 21422"/>
                <a:gd name="T1" fmla="*/ 0 h 21526"/>
                <a:gd name="T2" fmla="*/ 0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rc 24"/>
            <p:cNvSpPr>
              <a:spLocks/>
            </p:cNvSpPr>
            <p:nvPr/>
          </p:nvSpPr>
          <p:spPr bwMode="auto">
            <a:xfrm flipV="1">
              <a:off x="4440" y="1865"/>
              <a:ext cx="562" cy="395"/>
            </a:xfrm>
            <a:custGeom>
              <a:avLst/>
              <a:gdLst>
                <a:gd name="T0" fmla="*/ 0 w 21422"/>
                <a:gd name="T1" fmla="*/ 0 h 21526"/>
                <a:gd name="T2" fmla="*/ 0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28575">
              <a:solidFill>
                <a:srgbClr val="33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" name="Object 25"/>
            <p:cNvGraphicFramePr>
              <a:graphicFrameLocks noChangeAspect="1"/>
            </p:cNvGraphicFramePr>
            <p:nvPr/>
          </p:nvGraphicFramePr>
          <p:xfrm>
            <a:off x="4967" y="2069"/>
            <a:ext cx="22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83" name="Equation" r:id="rId9" imgW="215619" imgH="266353" progId="Equation.3">
                    <p:embed/>
                  </p:oleObj>
                </mc:Choice>
                <mc:Fallback>
                  <p:oleObj name="Equation" r:id="rId9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2069"/>
                          <a:ext cx="224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0024053"/>
                </p:ext>
              </p:extLst>
            </p:nvPr>
          </p:nvGraphicFramePr>
          <p:xfrm>
            <a:off x="4549" y="1805"/>
            <a:ext cx="16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84" name="Equation" r:id="rId11" imgW="165028" imgH="228501" progId="Equation.3">
                    <p:embed/>
                  </p:oleObj>
                </mc:Choice>
                <mc:Fallback>
                  <p:oleObj name="Equation" r:id="rId11" imgW="165028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9" y="1805"/>
                          <a:ext cx="169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244954" y="4857750"/>
            <a:ext cx="1905000" cy="342900"/>
          </a:xfrm>
        </p:spPr>
        <p:txBody>
          <a:bodyPr/>
          <a:lstStyle/>
          <a:p>
            <a:fld id="{429014A3-8B69-45B2-8B6C-077BA1AB792E}" type="slidenum">
              <a:rPr lang="zh-CN" altLang="en-US">
                <a:solidFill>
                  <a:srgbClr val="578963"/>
                </a:solidFill>
              </a:rPr>
              <a:pPr/>
              <a:t>5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2710" name="AutoShape 6"/>
          <p:cNvSpPr>
            <a:spLocks noChangeArrowheads="1"/>
          </p:cNvSpPr>
          <p:nvPr/>
        </p:nvSpPr>
        <p:spPr bwMode="auto">
          <a:xfrm rot="16209433">
            <a:off x="6706885" y="1250648"/>
            <a:ext cx="533400" cy="2431256"/>
          </a:xfrm>
          <a:prstGeom prst="can">
            <a:avLst>
              <a:gd name="adj" fmla="val 46572"/>
            </a:avLst>
          </a:prstGeom>
          <a:solidFill>
            <a:schemeClr val="accent5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27" name="Line 23"/>
          <p:cNvSpPr>
            <a:spLocks noChangeShapeType="1"/>
          </p:cNvSpPr>
          <p:nvPr/>
        </p:nvSpPr>
        <p:spPr bwMode="auto">
          <a:xfrm>
            <a:off x="6144910" y="2732976"/>
            <a:ext cx="0" cy="42624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28" name="Freeform 24"/>
          <p:cNvSpPr>
            <a:spLocks/>
          </p:cNvSpPr>
          <p:nvPr/>
        </p:nvSpPr>
        <p:spPr bwMode="auto">
          <a:xfrm>
            <a:off x="7888986" y="2165699"/>
            <a:ext cx="133541" cy="570850"/>
          </a:xfrm>
          <a:custGeom>
            <a:avLst/>
            <a:gdLst>
              <a:gd name="connsiteX0" fmla="*/ 0 w 9669"/>
              <a:gd name="connsiteY0" fmla="*/ 714 h 9862"/>
              <a:gd name="connsiteX1" fmla="*/ 6446 w 9669"/>
              <a:gd name="connsiteY1" fmla="*/ 127 h 9862"/>
              <a:gd name="connsiteX2" fmla="*/ 9008 w 9669"/>
              <a:gd name="connsiteY2" fmla="*/ 8839 h 9862"/>
              <a:gd name="connsiteX3" fmla="*/ 9669 w 9669"/>
              <a:gd name="connsiteY3" fmla="*/ 9862 h 9862"/>
              <a:gd name="connsiteX0" fmla="*/ 0 w 10000"/>
              <a:gd name="connsiteY0" fmla="*/ 724 h 10000"/>
              <a:gd name="connsiteX1" fmla="*/ 6667 w 10000"/>
              <a:gd name="connsiteY1" fmla="*/ 129 h 10000"/>
              <a:gd name="connsiteX2" fmla="*/ 10000 w 10000"/>
              <a:gd name="connsiteY2" fmla="*/ 10000 h 10000"/>
              <a:gd name="connsiteX0" fmla="*/ 0 w 10000"/>
              <a:gd name="connsiteY0" fmla="*/ 724 h 10000"/>
              <a:gd name="connsiteX1" fmla="*/ 6667 w 10000"/>
              <a:gd name="connsiteY1" fmla="*/ 129 h 10000"/>
              <a:gd name="connsiteX2" fmla="*/ 10000 w 10000"/>
              <a:gd name="connsiteY2" fmla="*/ 10000 h 10000"/>
              <a:gd name="connsiteX0" fmla="*/ 0 w 10000"/>
              <a:gd name="connsiteY0" fmla="*/ 0 h 9276"/>
              <a:gd name="connsiteX1" fmla="*/ 10000 w 10000"/>
              <a:gd name="connsiteY1" fmla="*/ 9276 h 9276"/>
              <a:gd name="connsiteX0" fmla="*/ 0 w 10000"/>
              <a:gd name="connsiteY0" fmla="*/ 923 h 10923"/>
              <a:gd name="connsiteX1" fmla="*/ 10000 w 10000"/>
              <a:gd name="connsiteY1" fmla="*/ 10923 h 10923"/>
              <a:gd name="connsiteX0" fmla="*/ 0 w 10000"/>
              <a:gd name="connsiteY0" fmla="*/ 612 h 10612"/>
              <a:gd name="connsiteX1" fmla="*/ 10000 w 10000"/>
              <a:gd name="connsiteY1" fmla="*/ 10612 h 10612"/>
              <a:gd name="connsiteX0" fmla="*/ 0 w 10000"/>
              <a:gd name="connsiteY0" fmla="*/ 631 h 10631"/>
              <a:gd name="connsiteX1" fmla="*/ 10000 w 10000"/>
              <a:gd name="connsiteY1" fmla="*/ 10631 h 10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631">
                <a:moveTo>
                  <a:pt x="0" y="631"/>
                </a:moveTo>
                <a:cubicBezTo>
                  <a:pt x="5472" y="-2510"/>
                  <a:pt x="9342" y="6899"/>
                  <a:pt x="10000" y="10631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29" name="Line 25"/>
          <p:cNvSpPr>
            <a:spLocks noChangeShapeType="1"/>
          </p:cNvSpPr>
          <p:nvPr/>
        </p:nvSpPr>
        <p:spPr bwMode="auto">
          <a:xfrm flipH="1">
            <a:off x="8022526" y="2732976"/>
            <a:ext cx="0" cy="64055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0" name="Rectangle 26"/>
          <p:cNvSpPr>
            <a:spLocks noChangeArrowheads="1"/>
          </p:cNvSpPr>
          <p:nvPr/>
        </p:nvSpPr>
        <p:spPr bwMode="auto">
          <a:xfrm>
            <a:off x="6088951" y="3319955"/>
            <a:ext cx="1160860" cy="105965"/>
          </a:xfrm>
          <a:prstGeom prst="rect">
            <a:avLst/>
          </a:prstGeom>
          <a:gradFill rotWithShape="0">
            <a:gsLst>
              <a:gs pos="0">
                <a:srgbClr val="003366"/>
              </a:gs>
              <a:gs pos="50000">
                <a:srgbClr val="003366">
                  <a:gamma/>
                  <a:tint val="6667"/>
                  <a:invGamma/>
                </a:srgbClr>
              </a:gs>
              <a:gs pos="100000">
                <a:srgbClr val="003366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>
            <a:off x="6144911" y="3159219"/>
            <a:ext cx="60721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>
            <a:off x="6752129" y="3159220"/>
            <a:ext cx="0" cy="16073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3" name="Line 29"/>
          <p:cNvSpPr>
            <a:spLocks noChangeShapeType="1"/>
          </p:cNvSpPr>
          <p:nvPr/>
        </p:nvSpPr>
        <p:spPr bwMode="auto">
          <a:xfrm>
            <a:off x="7581995" y="3373532"/>
            <a:ext cx="440531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4" name="Line 30"/>
          <p:cNvSpPr>
            <a:spLocks noChangeShapeType="1"/>
          </p:cNvSpPr>
          <p:nvPr/>
        </p:nvSpPr>
        <p:spPr bwMode="auto">
          <a:xfrm>
            <a:off x="7249811" y="3373532"/>
            <a:ext cx="22145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5" name="Line 31"/>
          <p:cNvSpPr>
            <a:spLocks noChangeShapeType="1"/>
          </p:cNvSpPr>
          <p:nvPr/>
        </p:nvSpPr>
        <p:spPr bwMode="auto">
          <a:xfrm>
            <a:off x="7471267" y="3212798"/>
            <a:ext cx="0" cy="32027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6" name="Line 32"/>
          <p:cNvSpPr>
            <a:spLocks noChangeShapeType="1"/>
          </p:cNvSpPr>
          <p:nvPr/>
        </p:nvSpPr>
        <p:spPr bwMode="auto">
          <a:xfrm>
            <a:off x="7581994" y="3266376"/>
            <a:ext cx="0" cy="21312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7" name="Line 33"/>
          <p:cNvSpPr>
            <a:spLocks noChangeShapeType="1"/>
          </p:cNvSpPr>
          <p:nvPr/>
        </p:nvSpPr>
        <p:spPr bwMode="auto">
          <a:xfrm>
            <a:off x="6144911" y="2946098"/>
            <a:ext cx="187761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2738" name="Line 34"/>
          <p:cNvSpPr>
            <a:spLocks noChangeShapeType="1"/>
          </p:cNvSpPr>
          <p:nvPr/>
        </p:nvSpPr>
        <p:spPr bwMode="auto">
          <a:xfrm>
            <a:off x="5868685" y="2199576"/>
            <a:ext cx="0" cy="533400"/>
          </a:xfrm>
          <a:prstGeom prst="line">
            <a:avLst/>
          </a:prstGeom>
          <a:noFill/>
          <a:ln w="19050">
            <a:solidFill>
              <a:srgbClr val="CC0099"/>
            </a:solidFill>
            <a:prstDash val="dash"/>
            <a:round/>
            <a:headEnd type="triangl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7273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870491"/>
              </p:ext>
            </p:extLst>
          </p:nvPr>
        </p:nvGraphicFramePr>
        <p:xfrm>
          <a:off x="7137891" y="2786555"/>
          <a:ext cx="223838" cy="37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69" name="公式" r:id="rId3" imgW="114120" imgH="253800" progId="Equation.3">
                  <p:embed/>
                </p:oleObj>
              </mc:Choice>
              <mc:Fallback>
                <p:oleObj name="公式" r:id="rId3" imgW="11412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891" y="2786555"/>
                        <a:ext cx="223838" cy="37266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71965"/>
              </p:ext>
            </p:extLst>
          </p:nvPr>
        </p:nvGraphicFramePr>
        <p:xfrm>
          <a:off x="5497210" y="2253155"/>
          <a:ext cx="332184" cy="372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0" name="Equation" r:id="rId5" imgW="139680" imgH="177480" progId="Equation.3">
                  <p:embed/>
                </p:oleObj>
              </mc:Choice>
              <mc:Fallback>
                <p:oleObj name="Equation" r:id="rId5" imgW="13968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210" y="2253155"/>
                        <a:ext cx="332184" cy="372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277383"/>
              </p:ext>
            </p:extLst>
          </p:nvPr>
        </p:nvGraphicFramePr>
        <p:xfrm>
          <a:off x="5948457" y="2419627"/>
          <a:ext cx="346472" cy="29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1" name="公式" r:id="rId7" imgW="215640" imgH="241200" progId="Equation.3">
                  <p:embed/>
                </p:oleObj>
              </mc:Choice>
              <mc:Fallback>
                <p:oleObj name="公式" r:id="rId7" imgW="21564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457" y="2419627"/>
                        <a:ext cx="346472" cy="292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4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071077"/>
              </p:ext>
            </p:extLst>
          </p:nvPr>
        </p:nvGraphicFramePr>
        <p:xfrm>
          <a:off x="7581995" y="3053254"/>
          <a:ext cx="350044" cy="31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2" name="Equation" r:id="rId9" imgW="139680" imgH="152280" progId="Equation.3">
                  <p:embed/>
                </p:oleObj>
              </mc:Choice>
              <mc:Fallback>
                <p:oleObj name="Equation" r:id="rId9" imgW="139680" imgH="152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95" y="3053254"/>
                        <a:ext cx="350044" cy="3107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4" name="Text Box 40"/>
          <p:cNvSpPr txBox="1">
            <a:spLocks noChangeArrowheads="1"/>
          </p:cNvSpPr>
          <p:nvPr/>
        </p:nvSpPr>
        <p:spPr bwMode="auto">
          <a:xfrm>
            <a:off x="1206741" y="1190626"/>
            <a:ext cx="6311504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100" b="1">
                <a:solidFill>
                  <a:srgbClr val="CC0000"/>
                </a:solidFill>
                <a:latin typeface="Times New Roman" pitchFamily="18" charset="0"/>
                <a:ea typeface="宋体" charset="-122"/>
              </a:rPr>
              <a:t>解： </a:t>
            </a:r>
            <a:r>
              <a:rPr kumimoji="1" lang="zh-CN" altLang="en-US" sz="21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假设线圈中通有电流</a:t>
            </a:r>
            <a:r>
              <a:rPr kumimoji="1" lang="zh-CN" altLang="zh-CN" sz="21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100" i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zh-CN" altLang="en-US" sz="21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由安培环路定理得：</a:t>
            </a:r>
          </a:p>
        </p:txBody>
      </p:sp>
      <p:graphicFrame>
        <p:nvGraphicFramePr>
          <p:cNvPr id="7275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522967"/>
              </p:ext>
            </p:extLst>
          </p:nvPr>
        </p:nvGraphicFramePr>
        <p:xfrm>
          <a:off x="1376055" y="1890714"/>
          <a:ext cx="1261880" cy="439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3" name="Equation" r:id="rId11" imgW="545760" imgH="190440" progId="Equation.DSMT4">
                  <p:embed/>
                </p:oleObj>
              </mc:Choice>
              <mc:Fallback>
                <p:oleObj name="Equation" r:id="rId11" imgW="545760" imgH="1904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055" y="1890714"/>
                        <a:ext cx="1261880" cy="439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206742" y="401241"/>
            <a:ext cx="6048375" cy="867966"/>
            <a:chOff x="414" y="407"/>
            <a:chExt cx="5080" cy="729"/>
          </a:xfrm>
        </p:grpSpPr>
        <p:grpSp>
          <p:nvGrpSpPr>
            <p:cNvPr id="3" name="Group 62"/>
            <p:cNvGrpSpPr>
              <a:grpSpLocks/>
            </p:cNvGrpSpPr>
            <p:nvPr/>
          </p:nvGrpSpPr>
          <p:grpSpPr bwMode="auto">
            <a:xfrm>
              <a:off x="414" y="407"/>
              <a:ext cx="5080" cy="729"/>
              <a:chOff x="567" y="549"/>
              <a:chExt cx="5080" cy="729"/>
            </a:xfrm>
          </p:grpSpPr>
          <p:sp>
            <p:nvSpPr>
              <p:cNvPr id="72755" name="Text Box 51"/>
              <p:cNvSpPr txBox="1">
                <a:spLocks noChangeArrowheads="1"/>
              </p:cNvSpPr>
              <p:nvPr/>
            </p:nvSpPr>
            <p:spPr bwMode="auto">
              <a:xfrm>
                <a:off x="567" y="549"/>
                <a:ext cx="5080" cy="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kumimoji="1" lang="zh-CN" altLang="en-US" sz="2100" b="1">
                    <a:solidFill>
                      <a:srgbClr val="CC0000"/>
                    </a:solidFill>
                    <a:latin typeface="Times New Roman" pitchFamily="18" charset="0"/>
                    <a:ea typeface="宋体" charset="-122"/>
                  </a:rPr>
                  <a:t>例</a:t>
                </a:r>
                <a:r>
                  <a:rPr kumimoji="1" lang="en-US" altLang="zh-CN" sz="2100" b="1">
                    <a:solidFill>
                      <a:srgbClr val="CC0000"/>
                    </a:solidFill>
                    <a:latin typeface="Times New Roman" pitchFamily="18" charset="0"/>
                    <a:ea typeface="宋体" charset="-122"/>
                  </a:rPr>
                  <a:t>1  </a:t>
                </a:r>
                <a:r>
                  <a:rPr kumimoji="1" lang="zh-CN" altLang="en-US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如图的长直密绕螺线管</a:t>
                </a:r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,</a:t>
                </a:r>
                <a:r>
                  <a:rPr kumimoji="1" lang="zh-CN" altLang="en-US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已知                        </a:t>
                </a:r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,   </a:t>
                </a:r>
                <a:r>
                  <a:rPr kumimoji="1" lang="zh-CN" altLang="en-US" sz="2100" b="1">
                    <a:solidFill>
                      <a:srgbClr val="CC0000"/>
                    </a:solidFill>
                    <a:latin typeface="Times New Roman" pitchFamily="18" charset="0"/>
                    <a:ea typeface="宋体" charset="-122"/>
                  </a:rPr>
                  <a:t>求</a:t>
                </a:r>
                <a:r>
                  <a:rPr kumimoji="1" lang="en-US" altLang="zh-CN" sz="2100" b="1">
                    <a:solidFill>
                      <a:srgbClr val="CC0000"/>
                    </a:solidFill>
                    <a:latin typeface="Times New Roman" pitchFamily="18" charset="0"/>
                    <a:ea typeface="宋体" charset="-122"/>
                  </a:rPr>
                  <a:t>:</a:t>
                </a:r>
                <a:r>
                  <a:rPr kumimoji="1" lang="zh-CN" altLang="en-US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其自感    （忽略边缘效应） </a:t>
                </a:r>
                <a:r>
                  <a:rPr kumimoji="1" lang="en-US" altLang="zh-CN" sz="2100" b="1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.</a:t>
                </a:r>
              </a:p>
            </p:txBody>
          </p:sp>
          <p:graphicFrame>
            <p:nvGraphicFramePr>
              <p:cNvPr id="72756" name="Object 52"/>
              <p:cNvGraphicFramePr>
                <a:graphicFrameLocks noChangeAspect="1"/>
              </p:cNvGraphicFramePr>
              <p:nvPr/>
            </p:nvGraphicFramePr>
            <p:xfrm>
              <a:off x="3923" y="617"/>
              <a:ext cx="1179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7774" name="公式" r:id="rId13" imgW="622080" imgH="203040" progId="Equation.3">
                      <p:embed/>
                    </p:oleObj>
                  </mc:Choice>
                  <mc:Fallback>
                    <p:oleObj name="公式" r:id="rId13" imgW="622080" imgH="203040" progId="Equation.3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3" y="617"/>
                            <a:ext cx="1179" cy="3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2762" name="Rectangle 58"/>
            <p:cNvSpPr>
              <a:spLocks noChangeArrowheads="1"/>
            </p:cNvSpPr>
            <p:nvPr/>
          </p:nvSpPr>
          <p:spPr bwMode="auto">
            <a:xfrm>
              <a:off x="1541" y="785"/>
              <a:ext cx="125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i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lang="en-US" altLang="zh-CN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1431491" y="2657909"/>
            <a:ext cx="1830315" cy="456816"/>
            <a:chOff x="583" y="2387"/>
            <a:chExt cx="1467" cy="322"/>
          </a:xfrm>
        </p:grpSpPr>
        <p:graphicFrame>
          <p:nvGraphicFramePr>
            <p:cNvPr id="72757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12327"/>
                </p:ext>
              </p:extLst>
            </p:nvPr>
          </p:nvGraphicFramePr>
          <p:xfrm>
            <a:off x="1195" y="2400"/>
            <a:ext cx="79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775" name="Equation" r:id="rId15" imgW="812520" imgH="317160" progId="Equation.3">
                    <p:embed/>
                  </p:oleObj>
                </mc:Choice>
                <mc:Fallback>
                  <p:oleObj name="Equation" r:id="rId15" imgW="812520" imgH="31716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5" y="2400"/>
                          <a:ext cx="794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72" name="Rectangle 68"/>
            <p:cNvSpPr>
              <a:spLocks noChangeArrowheads="1"/>
            </p:cNvSpPr>
            <p:nvPr/>
          </p:nvSpPr>
          <p:spPr bwMode="auto">
            <a:xfrm>
              <a:off x="583" y="2387"/>
              <a:ext cx="1467" cy="29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其中</a:t>
              </a:r>
            </a:p>
          </p:txBody>
        </p:sp>
      </p:grpSp>
      <p:graphicFrame>
        <p:nvGraphicFramePr>
          <p:cNvPr id="7277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946798"/>
              </p:ext>
            </p:extLst>
          </p:nvPr>
        </p:nvGraphicFramePr>
        <p:xfrm>
          <a:off x="3483032" y="3431990"/>
          <a:ext cx="1385889" cy="421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6" name="Equation" r:id="rId17" imgW="609480" imgH="203040" progId="Equation.DSMT4">
                  <p:embed/>
                </p:oleObj>
              </mc:Choice>
              <mc:Fallback>
                <p:oleObj name="Equation" r:id="rId17" imgW="609480" imgH="203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032" y="3431990"/>
                        <a:ext cx="1385889" cy="4218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77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314723"/>
              </p:ext>
            </p:extLst>
          </p:nvPr>
        </p:nvGraphicFramePr>
        <p:xfrm>
          <a:off x="1429389" y="3979069"/>
          <a:ext cx="4177903" cy="73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7" name="Equation" r:id="rId19" imgW="1955520" imgH="393480" progId="Equation.DSMT4">
                  <p:embed/>
                </p:oleObj>
              </mc:Choice>
              <mc:Fallback>
                <p:oleObj name="Equation" r:id="rId19" imgW="1955520" imgH="393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389" y="3979069"/>
                        <a:ext cx="4177903" cy="73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78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449659"/>
              </p:ext>
            </p:extLst>
          </p:nvPr>
        </p:nvGraphicFramePr>
        <p:xfrm>
          <a:off x="1376055" y="3431027"/>
          <a:ext cx="2191724" cy="43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8" name="Equation" r:id="rId21" imgW="965160" imgH="203040" progId="Equation.3">
                  <p:embed/>
                </p:oleObj>
              </mc:Choice>
              <mc:Fallback>
                <p:oleObj name="Equation" r:id="rId21" imgW="96516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055" y="3431027"/>
                        <a:ext cx="2191724" cy="43363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Freeform 7"/>
          <p:cNvSpPr>
            <a:spLocks/>
          </p:cNvSpPr>
          <p:nvPr/>
        </p:nvSpPr>
        <p:spPr bwMode="auto">
          <a:xfrm rot="176951">
            <a:off x="616253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6" name="Freeform 7"/>
          <p:cNvSpPr>
            <a:spLocks/>
          </p:cNvSpPr>
          <p:nvPr/>
        </p:nvSpPr>
        <p:spPr bwMode="auto">
          <a:xfrm rot="176951">
            <a:off x="626152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7" name="Freeform 7"/>
          <p:cNvSpPr>
            <a:spLocks/>
          </p:cNvSpPr>
          <p:nvPr/>
        </p:nvSpPr>
        <p:spPr bwMode="auto">
          <a:xfrm rot="176951">
            <a:off x="636052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8" name="Freeform 7"/>
          <p:cNvSpPr>
            <a:spLocks/>
          </p:cNvSpPr>
          <p:nvPr/>
        </p:nvSpPr>
        <p:spPr bwMode="auto">
          <a:xfrm rot="176951">
            <a:off x="645951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9" name="Freeform 7"/>
          <p:cNvSpPr>
            <a:spLocks/>
          </p:cNvSpPr>
          <p:nvPr/>
        </p:nvSpPr>
        <p:spPr bwMode="auto">
          <a:xfrm rot="176951">
            <a:off x="655851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0" name="Freeform 7"/>
          <p:cNvSpPr>
            <a:spLocks/>
          </p:cNvSpPr>
          <p:nvPr/>
        </p:nvSpPr>
        <p:spPr bwMode="auto">
          <a:xfrm rot="176951">
            <a:off x="665750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1" name="Freeform 7"/>
          <p:cNvSpPr>
            <a:spLocks/>
          </p:cNvSpPr>
          <p:nvPr/>
        </p:nvSpPr>
        <p:spPr bwMode="auto">
          <a:xfrm rot="176951">
            <a:off x="675650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2" name="Freeform 7"/>
          <p:cNvSpPr>
            <a:spLocks/>
          </p:cNvSpPr>
          <p:nvPr/>
        </p:nvSpPr>
        <p:spPr bwMode="auto">
          <a:xfrm rot="176951">
            <a:off x="685549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3" name="Freeform 7"/>
          <p:cNvSpPr>
            <a:spLocks/>
          </p:cNvSpPr>
          <p:nvPr/>
        </p:nvSpPr>
        <p:spPr bwMode="auto">
          <a:xfrm rot="176951">
            <a:off x="695449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4" name="Freeform 7"/>
          <p:cNvSpPr>
            <a:spLocks/>
          </p:cNvSpPr>
          <p:nvPr/>
        </p:nvSpPr>
        <p:spPr bwMode="auto">
          <a:xfrm rot="176951">
            <a:off x="705348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5" name="Freeform 7"/>
          <p:cNvSpPr>
            <a:spLocks/>
          </p:cNvSpPr>
          <p:nvPr/>
        </p:nvSpPr>
        <p:spPr bwMode="auto">
          <a:xfrm rot="176951">
            <a:off x="715248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6" name="Freeform 7"/>
          <p:cNvSpPr>
            <a:spLocks/>
          </p:cNvSpPr>
          <p:nvPr/>
        </p:nvSpPr>
        <p:spPr bwMode="auto">
          <a:xfrm rot="176951">
            <a:off x="725147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7" name="Freeform 7"/>
          <p:cNvSpPr>
            <a:spLocks/>
          </p:cNvSpPr>
          <p:nvPr/>
        </p:nvSpPr>
        <p:spPr bwMode="auto">
          <a:xfrm rot="176951">
            <a:off x="735047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8" name="Freeform 7"/>
          <p:cNvSpPr>
            <a:spLocks/>
          </p:cNvSpPr>
          <p:nvPr/>
        </p:nvSpPr>
        <p:spPr bwMode="auto">
          <a:xfrm rot="176951">
            <a:off x="744946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9" name="Freeform 7"/>
          <p:cNvSpPr>
            <a:spLocks/>
          </p:cNvSpPr>
          <p:nvPr/>
        </p:nvSpPr>
        <p:spPr bwMode="auto">
          <a:xfrm rot="176951">
            <a:off x="7548462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0" name="Freeform 7"/>
          <p:cNvSpPr>
            <a:spLocks/>
          </p:cNvSpPr>
          <p:nvPr/>
        </p:nvSpPr>
        <p:spPr bwMode="auto">
          <a:xfrm rot="176951">
            <a:off x="7647457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1" name="Freeform 7"/>
          <p:cNvSpPr>
            <a:spLocks/>
          </p:cNvSpPr>
          <p:nvPr/>
        </p:nvSpPr>
        <p:spPr bwMode="auto">
          <a:xfrm rot="176951">
            <a:off x="7746445" y="2172325"/>
            <a:ext cx="179814" cy="579067"/>
          </a:xfrm>
          <a:custGeom>
            <a:avLst/>
            <a:gdLst>
              <a:gd name="connsiteX0" fmla="*/ 0 w 9958"/>
              <a:gd name="connsiteY0" fmla="*/ 584 h 9922"/>
              <a:gd name="connsiteX1" fmla="*/ 2773 w 9958"/>
              <a:gd name="connsiteY1" fmla="*/ 9 h 9922"/>
              <a:gd name="connsiteX2" fmla="*/ 4706 w 9958"/>
              <a:gd name="connsiteY2" fmla="*/ 1629 h 9922"/>
              <a:gd name="connsiteX3" fmla="*/ 6681 w 9958"/>
              <a:gd name="connsiteY3" fmla="*/ 8145 h 9922"/>
              <a:gd name="connsiteX4" fmla="*/ 8319 w 9958"/>
              <a:gd name="connsiteY4" fmla="*/ 9922 h 9922"/>
              <a:gd name="connsiteX5" fmla="*/ 9958 w 9958"/>
              <a:gd name="connsiteY5" fmla="*/ 9243 h 9922"/>
              <a:gd name="connsiteX0" fmla="*/ 0 w 10000"/>
              <a:gd name="connsiteY0" fmla="*/ 589 h 10000"/>
              <a:gd name="connsiteX1" fmla="*/ 2785 w 10000"/>
              <a:gd name="connsiteY1" fmla="*/ 9 h 10000"/>
              <a:gd name="connsiteX2" fmla="*/ 4726 w 10000"/>
              <a:gd name="connsiteY2" fmla="*/ 1642 h 10000"/>
              <a:gd name="connsiteX3" fmla="*/ 6709 w 10000"/>
              <a:gd name="connsiteY3" fmla="*/ 8209 h 10000"/>
              <a:gd name="connsiteX4" fmla="*/ 8354 w 10000"/>
              <a:gd name="connsiteY4" fmla="*/ 10000 h 10000"/>
              <a:gd name="connsiteX5" fmla="*/ 10000 w 10000"/>
              <a:gd name="connsiteY5" fmla="*/ 9316 h 10000"/>
              <a:gd name="connsiteX0" fmla="*/ 0 w 10000"/>
              <a:gd name="connsiteY0" fmla="*/ 638 h 10049"/>
              <a:gd name="connsiteX1" fmla="*/ 2785 w 10000"/>
              <a:gd name="connsiteY1" fmla="*/ 58 h 10049"/>
              <a:gd name="connsiteX2" fmla="*/ 4726 w 10000"/>
              <a:gd name="connsiteY2" fmla="*/ 1691 h 10049"/>
              <a:gd name="connsiteX3" fmla="*/ 6709 w 10000"/>
              <a:gd name="connsiteY3" fmla="*/ 8258 h 10049"/>
              <a:gd name="connsiteX4" fmla="*/ 8354 w 10000"/>
              <a:gd name="connsiteY4" fmla="*/ 10049 h 10049"/>
              <a:gd name="connsiteX5" fmla="*/ 10000 w 10000"/>
              <a:gd name="connsiteY5" fmla="*/ 9365 h 10049"/>
              <a:gd name="connsiteX0" fmla="*/ 0 w 10000"/>
              <a:gd name="connsiteY0" fmla="*/ 1030 h 10441"/>
              <a:gd name="connsiteX1" fmla="*/ 2785 w 10000"/>
              <a:gd name="connsiteY1" fmla="*/ 450 h 10441"/>
              <a:gd name="connsiteX2" fmla="*/ 6709 w 10000"/>
              <a:gd name="connsiteY2" fmla="*/ 8650 h 10441"/>
              <a:gd name="connsiteX3" fmla="*/ 8354 w 10000"/>
              <a:gd name="connsiteY3" fmla="*/ 10441 h 10441"/>
              <a:gd name="connsiteX4" fmla="*/ 10000 w 10000"/>
              <a:gd name="connsiteY4" fmla="*/ 9757 h 10441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771 h 10182"/>
              <a:gd name="connsiteX1" fmla="*/ 2785 w 10000"/>
              <a:gd name="connsiteY1" fmla="*/ 191 h 10182"/>
              <a:gd name="connsiteX2" fmla="*/ 5137 w 10000"/>
              <a:gd name="connsiteY2" fmla="*/ 4630 h 10182"/>
              <a:gd name="connsiteX3" fmla="*/ 8354 w 10000"/>
              <a:gd name="connsiteY3" fmla="*/ 10182 h 10182"/>
              <a:gd name="connsiteX4" fmla="*/ 10000 w 10000"/>
              <a:gd name="connsiteY4" fmla="*/ 9498 h 10182"/>
              <a:gd name="connsiteX0" fmla="*/ 0 w 10000"/>
              <a:gd name="connsiteY0" fmla="*/ 0 h 9411"/>
              <a:gd name="connsiteX1" fmla="*/ 5137 w 10000"/>
              <a:gd name="connsiteY1" fmla="*/ 3859 h 9411"/>
              <a:gd name="connsiteX2" fmla="*/ 8354 w 10000"/>
              <a:gd name="connsiteY2" fmla="*/ 9411 h 9411"/>
              <a:gd name="connsiteX3" fmla="*/ 10000 w 10000"/>
              <a:gd name="connsiteY3" fmla="*/ 8727 h 9411"/>
              <a:gd name="connsiteX0" fmla="*/ 0 w 10000"/>
              <a:gd name="connsiteY0" fmla="*/ 473 h 10473"/>
              <a:gd name="connsiteX1" fmla="*/ 5137 w 10000"/>
              <a:gd name="connsiteY1" fmla="*/ 4574 h 10473"/>
              <a:gd name="connsiteX2" fmla="*/ 8354 w 10000"/>
              <a:gd name="connsiteY2" fmla="*/ 10473 h 10473"/>
              <a:gd name="connsiteX3" fmla="*/ 10000 w 10000"/>
              <a:gd name="connsiteY3" fmla="*/ 9746 h 10473"/>
              <a:gd name="connsiteX0" fmla="*/ 0 w 10000"/>
              <a:gd name="connsiteY0" fmla="*/ 473 h 9746"/>
              <a:gd name="connsiteX1" fmla="*/ 5137 w 10000"/>
              <a:gd name="connsiteY1" fmla="*/ 4574 h 9746"/>
              <a:gd name="connsiteX2" fmla="*/ 10000 w 10000"/>
              <a:gd name="connsiteY2" fmla="*/ 9746 h 9746"/>
              <a:gd name="connsiteX0" fmla="*/ 0 w 10000"/>
              <a:gd name="connsiteY0" fmla="*/ 485 h 10321"/>
              <a:gd name="connsiteX1" fmla="*/ 5137 w 10000"/>
              <a:gd name="connsiteY1" fmla="*/ 4693 h 10321"/>
              <a:gd name="connsiteX2" fmla="*/ 10000 w 10000"/>
              <a:gd name="connsiteY2" fmla="*/ 10000 h 10321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441 h 10254"/>
              <a:gd name="connsiteX1" fmla="*/ 5137 w 10000"/>
              <a:gd name="connsiteY1" fmla="*/ 4649 h 10254"/>
              <a:gd name="connsiteX2" fmla="*/ 10000 w 10000"/>
              <a:gd name="connsiteY2" fmla="*/ 9956 h 10254"/>
              <a:gd name="connsiteX0" fmla="*/ 0 w 10000"/>
              <a:gd name="connsiteY0" fmla="*/ 0 h 9515"/>
              <a:gd name="connsiteX1" fmla="*/ 10000 w 10000"/>
              <a:gd name="connsiteY1" fmla="*/ 9515 h 9515"/>
              <a:gd name="connsiteX0" fmla="*/ 0 w 10000"/>
              <a:gd name="connsiteY0" fmla="*/ 661 h 10661"/>
              <a:gd name="connsiteX1" fmla="*/ 10000 w 10000"/>
              <a:gd name="connsiteY1" fmla="*/ 10661 h 10661"/>
              <a:gd name="connsiteX0" fmla="*/ 0 w 10000"/>
              <a:gd name="connsiteY0" fmla="*/ 450 h 10775"/>
              <a:gd name="connsiteX1" fmla="*/ 10000 w 10000"/>
              <a:gd name="connsiteY1" fmla="*/ 10450 h 10775"/>
              <a:gd name="connsiteX0" fmla="*/ 0 w 10000"/>
              <a:gd name="connsiteY0" fmla="*/ 469 h 10793"/>
              <a:gd name="connsiteX1" fmla="*/ 10000 w 10000"/>
              <a:gd name="connsiteY1" fmla="*/ 10469 h 10793"/>
              <a:gd name="connsiteX0" fmla="*/ 0 w 6594"/>
              <a:gd name="connsiteY0" fmla="*/ 471 h 10710"/>
              <a:gd name="connsiteX1" fmla="*/ 6594 w 6594"/>
              <a:gd name="connsiteY1" fmla="*/ 10385 h 1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94" h="10710">
                <a:moveTo>
                  <a:pt x="0" y="471"/>
                </a:moveTo>
                <a:cubicBezTo>
                  <a:pt x="1936" y="-2918"/>
                  <a:pt x="3960" y="13171"/>
                  <a:pt x="6594" y="103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2235E5E-7932-48C1-81C8-AAC81E2B338D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559053" y="241597"/>
            <a:ext cx="438864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700" b="1" dirty="0">
                <a:solidFill>
                  <a:srgbClr val="CC0000"/>
                </a:solidFill>
                <a:latin typeface="Times New Roman" pitchFamily="18" charset="0"/>
              </a:rPr>
              <a:t>二、互感电动势  互感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89916" y="891378"/>
            <a:ext cx="6815138" cy="461963"/>
            <a:chOff x="240" y="1024"/>
            <a:chExt cx="5724" cy="388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40" y="1024"/>
              <a:ext cx="5135" cy="388"/>
              <a:chOff x="240" y="1024"/>
              <a:chExt cx="5135" cy="388"/>
            </a:xfrm>
          </p:grpSpPr>
          <p:sp>
            <p:nvSpPr>
              <p:cNvPr id="15398" name="Text Box 7"/>
              <p:cNvSpPr txBox="1">
                <a:spLocks noChangeArrowheads="1"/>
              </p:cNvSpPr>
              <p:nvPr/>
            </p:nvSpPr>
            <p:spPr bwMode="auto">
              <a:xfrm>
                <a:off x="240" y="1024"/>
                <a:ext cx="5135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100" b="1">
                    <a:latin typeface="Times New Roman" pitchFamily="18" charset="0"/>
                  </a:rPr>
                  <a:t>             </a:t>
                </a:r>
                <a:r>
                  <a:rPr kumimoji="1" lang="zh-CN" altLang="en-US" sz="2400" b="1">
                    <a:latin typeface="Times New Roman" pitchFamily="18" charset="0"/>
                  </a:rPr>
                  <a:t>在     电流回路中所产生的磁通量    </a:t>
                </a:r>
              </a:p>
            </p:txBody>
          </p:sp>
          <p:graphicFrame>
            <p:nvGraphicFramePr>
              <p:cNvPr id="15399" name="Object 8"/>
              <p:cNvGraphicFramePr>
                <a:graphicFrameLocks noChangeAspect="1"/>
              </p:cNvGraphicFramePr>
              <p:nvPr/>
            </p:nvGraphicFramePr>
            <p:xfrm>
              <a:off x="713" y="1048"/>
              <a:ext cx="217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68" name="公式" r:id="rId3" imgW="203024" imgH="317225" progId="Equation.3">
                      <p:embed/>
                    </p:oleObj>
                  </mc:Choice>
                  <mc:Fallback>
                    <p:oleObj name="公式" r:id="rId3" imgW="203024" imgH="317225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3" y="1048"/>
                            <a:ext cx="217" cy="3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00" name="Object 9"/>
              <p:cNvGraphicFramePr>
                <a:graphicFrameLocks noChangeAspect="1"/>
              </p:cNvGraphicFramePr>
              <p:nvPr/>
            </p:nvGraphicFramePr>
            <p:xfrm>
              <a:off x="1383" y="1048"/>
              <a:ext cx="246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69" name="公式" r:id="rId5" imgW="228501" imgH="317362" progId="Equation.3">
                      <p:embed/>
                    </p:oleObj>
                  </mc:Choice>
                  <mc:Fallback>
                    <p:oleObj name="公式" r:id="rId5" imgW="228501" imgH="317362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3" y="1048"/>
                            <a:ext cx="246" cy="3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9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1930247"/>
                </p:ext>
              </p:extLst>
            </p:nvPr>
          </p:nvGraphicFramePr>
          <p:xfrm>
            <a:off x="4785" y="1039"/>
            <a:ext cx="1179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0" name="Equation" r:id="rId7" imgW="710891" imgH="215806" progId="Equation.3">
                    <p:embed/>
                  </p:oleObj>
                </mc:Choice>
                <mc:Fallback>
                  <p:oleObj name="Equation" r:id="rId7" imgW="710891" imgH="215806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039"/>
                          <a:ext cx="1179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200374" y="1648479"/>
            <a:ext cx="6410324" cy="490538"/>
            <a:chOff x="691" y="1797"/>
            <a:chExt cx="5384" cy="412"/>
          </a:xfrm>
        </p:grpSpPr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691" y="1797"/>
              <a:ext cx="4865" cy="412"/>
              <a:chOff x="691" y="1929"/>
              <a:chExt cx="4865" cy="412"/>
            </a:xfrm>
          </p:grpSpPr>
          <p:sp>
            <p:nvSpPr>
              <p:cNvPr id="15393" name="Text Box 13"/>
              <p:cNvSpPr txBox="1">
                <a:spLocks noChangeArrowheads="1"/>
              </p:cNvSpPr>
              <p:nvPr/>
            </p:nvSpPr>
            <p:spPr bwMode="auto">
              <a:xfrm>
                <a:off x="691" y="1929"/>
                <a:ext cx="4865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100" b="1" dirty="0">
                    <a:latin typeface="Times New Roman" pitchFamily="18" charset="0"/>
                  </a:rPr>
                  <a:t>     </a:t>
                </a:r>
                <a:r>
                  <a:rPr kumimoji="1" lang="zh-CN" altLang="en-US" sz="2400" b="1" dirty="0">
                    <a:latin typeface="Times New Roman" pitchFamily="18" charset="0"/>
                  </a:rPr>
                  <a:t>在      电流回路 中所产生的磁通量</a:t>
                </a:r>
                <a:r>
                  <a:rPr kumimoji="1" lang="zh-CN" altLang="en-US" sz="2100" b="1" dirty="0">
                    <a:latin typeface="Times New Roman" pitchFamily="18" charset="0"/>
                  </a:rPr>
                  <a:t>    </a:t>
                </a:r>
              </a:p>
            </p:txBody>
          </p:sp>
          <p:graphicFrame>
            <p:nvGraphicFramePr>
              <p:cNvPr id="15394" name="Object 14"/>
              <p:cNvGraphicFramePr>
                <a:graphicFrameLocks noChangeAspect="1"/>
              </p:cNvGraphicFramePr>
              <p:nvPr/>
            </p:nvGraphicFramePr>
            <p:xfrm>
              <a:off x="1383" y="1979"/>
              <a:ext cx="217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71" name="公式" r:id="rId9" imgW="203024" imgH="317225" progId="Equation.3">
                      <p:embed/>
                    </p:oleObj>
                  </mc:Choice>
                  <mc:Fallback>
                    <p:oleObj name="公式" r:id="rId9" imgW="203024" imgH="317225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3" y="1979"/>
                            <a:ext cx="217" cy="3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95" name="Object 15"/>
              <p:cNvGraphicFramePr>
                <a:graphicFrameLocks noChangeAspect="1"/>
              </p:cNvGraphicFramePr>
              <p:nvPr/>
            </p:nvGraphicFramePr>
            <p:xfrm>
              <a:off x="703" y="2001"/>
              <a:ext cx="246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72" name="公式" r:id="rId10" imgW="228501" imgH="317362" progId="Equation.3">
                      <p:embed/>
                    </p:oleObj>
                  </mc:Choice>
                  <mc:Fallback>
                    <p:oleObj name="公式" r:id="rId10" imgW="228501" imgH="317362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" y="2001"/>
                            <a:ext cx="246" cy="3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9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403786"/>
                </p:ext>
              </p:extLst>
            </p:nvPr>
          </p:nvGraphicFramePr>
          <p:xfrm>
            <a:off x="4850" y="1805"/>
            <a:ext cx="1225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3" name="Equation" r:id="rId11" imgW="723586" imgH="215806" progId="Equation.3">
                    <p:embed/>
                  </p:oleObj>
                </mc:Choice>
                <mc:Fallback>
                  <p:oleObj name="Equation" r:id="rId11" imgW="723586" imgH="21580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0" y="1805"/>
                          <a:ext cx="1225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4" name="AutoShape 24"/>
          <p:cNvSpPr>
            <a:spLocks noChangeArrowheads="1"/>
          </p:cNvSpPr>
          <p:nvPr/>
        </p:nvSpPr>
        <p:spPr bwMode="auto">
          <a:xfrm>
            <a:off x="4091003" y="3228409"/>
            <a:ext cx="400050" cy="731044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50 w 21600"/>
              <a:gd name="T25" fmla="*/ 3166 h 21600"/>
              <a:gd name="T26" fmla="*/ 18450 w 21600"/>
              <a:gd name="T27" fmla="*/ 1843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64" y="10800"/>
                </a:moveTo>
                <a:cubicBezTo>
                  <a:pt x="1864" y="15735"/>
                  <a:pt x="5865" y="19736"/>
                  <a:pt x="10800" y="19736"/>
                </a:cubicBezTo>
                <a:cubicBezTo>
                  <a:pt x="15735" y="19736"/>
                  <a:pt x="19736" y="15735"/>
                  <a:pt x="19736" y="10800"/>
                </a:cubicBezTo>
                <a:cubicBezTo>
                  <a:pt x="19736" y="5865"/>
                  <a:pt x="15735" y="1864"/>
                  <a:pt x="10800" y="1864"/>
                </a:cubicBezTo>
                <a:cubicBezTo>
                  <a:pt x="5865" y="1864"/>
                  <a:pt x="1864" y="5865"/>
                  <a:pt x="1864" y="10800"/>
                </a:cubicBezTo>
                <a:close/>
              </a:path>
            </a:pathLst>
          </a:custGeom>
          <a:gradFill rotWithShape="0">
            <a:gsLst>
              <a:gs pos="0">
                <a:srgbClr val="A467C2"/>
              </a:gs>
              <a:gs pos="50000">
                <a:srgbClr val="D787FF"/>
              </a:gs>
              <a:gs pos="100000">
                <a:srgbClr val="A467C2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021822" y="2904559"/>
            <a:ext cx="2646759" cy="1495425"/>
            <a:chOff x="3021822" y="2904559"/>
            <a:chExt cx="2646759" cy="1495425"/>
          </a:xfrm>
        </p:grpSpPr>
        <p:sp>
          <p:nvSpPr>
            <p:cNvPr id="15369" name="Line 19"/>
            <p:cNvSpPr>
              <a:spLocks noChangeShapeType="1"/>
            </p:cNvSpPr>
            <p:nvPr/>
          </p:nvSpPr>
          <p:spPr bwMode="auto">
            <a:xfrm flipH="1">
              <a:off x="3021822" y="3645128"/>
              <a:ext cx="1038225" cy="238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Arc 20"/>
            <p:cNvSpPr>
              <a:spLocks/>
            </p:cNvSpPr>
            <p:nvPr/>
          </p:nvSpPr>
          <p:spPr bwMode="auto">
            <a:xfrm flipH="1">
              <a:off x="3268281" y="3818959"/>
              <a:ext cx="904875" cy="465534"/>
            </a:xfrm>
            <a:custGeom>
              <a:avLst/>
              <a:gdLst>
                <a:gd name="T0" fmla="*/ 0 w 21600"/>
                <a:gd name="T1" fmla="*/ 0 h 21526"/>
                <a:gd name="T2" fmla="*/ 1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1" name="Arc 21"/>
            <p:cNvSpPr>
              <a:spLocks/>
            </p:cNvSpPr>
            <p:nvPr/>
          </p:nvSpPr>
          <p:spPr bwMode="auto">
            <a:xfrm flipH="1" flipV="1">
              <a:off x="3262328" y="3076009"/>
              <a:ext cx="904875" cy="400050"/>
            </a:xfrm>
            <a:custGeom>
              <a:avLst/>
              <a:gdLst>
                <a:gd name="T0" fmla="*/ 0 w 21600"/>
                <a:gd name="T1" fmla="*/ 0 h 21526"/>
                <a:gd name="T2" fmla="*/ 1 w 21600"/>
                <a:gd name="T3" fmla="*/ 0 h 21526"/>
                <a:gd name="T4" fmla="*/ 0 w 21600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26" fill="none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</a:path>
                <a:path w="21600" h="21526" stroke="0" extrusionOk="0">
                  <a:moveTo>
                    <a:pt x="1790" y="0"/>
                  </a:moveTo>
                  <a:cubicBezTo>
                    <a:pt x="12987" y="931"/>
                    <a:pt x="21600" y="10291"/>
                    <a:pt x="21600" y="21526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5372" name="Line 22"/>
            <p:cNvSpPr>
              <a:spLocks noChangeShapeType="1"/>
            </p:cNvSpPr>
            <p:nvPr/>
          </p:nvSpPr>
          <p:spPr bwMode="auto">
            <a:xfrm>
              <a:off x="4239831" y="3645129"/>
              <a:ext cx="142875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3" name="Arc 23"/>
            <p:cNvSpPr>
              <a:spLocks/>
            </p:cNvSpPr>
            <p:nvPr/>
          </p:nvSpPr>
          <p:spPr bwMode="auto">
            <a:xfrm>
              <a:off x="4125531" y="3818959"/>
              <a:ext cx="1133475" cy="581025"/>
            </a:xfrm>
            <a:custGeom>
              <a:avLst/>
              <a:gdLst>
                <a:gd name="T0" fmla="*/ 0 w 21422"/>
                <a:gd name="T1" fmla="*/ 0 h 21526"/>
                <a:gd name="T2" fmla="*/ 2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Arc 25"/>
            <p:cNvSpPr>
              <a:spLocks/>
            </p:cNvSpPr>
            <p:nvPr/>
          </p:nvSpPr>
          <p:spPr bwMode="auto">
            <a:xfrm flipV="1">
              <a:off x="4125531" y="2904559"/>
              <a:ext cx="1076325" cy="576263"/>
            </a:xfrm>
            <a:custGeom>
              <a:avLst/>
              <a:gdLst>
                <a:gd name="T0" fmla="*/ 0 w 21422"/>
                <a:gd name="T1" fmla="*/ 0 h 21526"/>
                <a:gd name="T2" fmla="*/ 2 w 21422"/>
                <a:gd name="T3" fmla="*/ 0 h 21526"/>
                <a:gd name="T4" fmla="*/ 0 w 21422"/>
                <a:gd name="T5" fmla="*/ 0 h 215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2" h="21526" fill="none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</a:path>
                <a:path w="21422" h="21526" stroke="0" extrusionOk="0">
                  <a:moveTo>
                    <a:pt x="1790" y="0"/>
                  </a:moveTo>
                  <a:cubicBezTo>
                    <a:pt x="11937" y="844"/>
                    <a:pt x="20116" y="8659"/>
                    <a:pt x="21421" y="18757"/>
                  </a:cubicBezTo>
                  <a:lnTo>
                    <a:pt x="0" y="21526"/>
                  </a:lnTo>
                  <a:lnTo>
                    <a:pt x="1790" y="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1994131"/>
                </p:ext>
              </p:extLst>
            </p:nvPr>
          </p:nvGraphicFramePr>
          <p:xfrm>
            <a:off x="3737860" y="3856493"/>
            <a:ext cx="260747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4" name="公式" r:id="rId13" imgW="241195" imgH="330057" progId="Equation.3">
                    <p:embed/>
                  </p:oleObj>
                </mc:Choice>
                <mc:Fallback>
                  <p:oleObj name="公式" r:id="rId13" imgW="241195" imgH="33005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860" y="3856493"/>
                          <a:ext cx="260747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7" name="AutoShape 27"/>
          <p:cNvSpPr>
            <a:spLocks noChangeArrowheads="1"/>
          </p:cNvSpPr>
          <p:nvPr/>
        </p:nvSpPr>
        <p:spPr bwMode="auto">
          <a:xfrm>
            <a:off x="5529793" y="3256418"/>
            <a:ext cx="400050" cy="8001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1 h 21600"/>
              <a:gd name="T8" fmla="*/ 0 w 21600"/>
              <a:gd name="T9" fmla="*/ 1 h 21600"/>
              <a:gd name="T10" fmla="*/ 0 w 21600"/>
              <a:gd name="T11" fmla="*/ 1 h 21600"/>
              <a:gd name="T12" fmla="*/ 0 w 21600"/>
              <a:gd name="T13" fmla="*/ 0 h 21600"/>
              <a:gd name="T14" fmla="*/ 0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50 w 21600"/>
              <a:gd name="T25" fmla="*/ 3150 h 21600"/>
              <a:gd name="T26" fmla="*/ 18450 w 21600"/>
              <a:gd name="T27" fmla="*/ 18450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64" y="10800"/>
                </a:moveTo>
                <a:cubicBezTo>
                  <a:pt x="1864" y="15735"/>
                  <a:pt x="5865" y="19736"/>
                  <a:pt x="10800" y="19736"/>
                </a:cubicBezTo>
                <a:cubicBezTo>
                  <a:pt x="15735" y="19736"/>
                  <a:pt x="19736" y="15735"/>
                  <a:pt x="19736" y="10800"/>
                </a:cubicBezTo>
                <a:cubicBezTo>
                  <a:pt x="19736" y="5865"/>
                  <a:pt x="15735" y="1864"/>
                  <a:pt x="10800" y="1864"/>
                </a:cubicBezTo>
                <a:cubicBezTo>
                  <a:pt x="5865" y="1864"/>
                  <a:pt x="1864" y="5865"/>
                  <a:pt x="1864" y="10800"/>
                </a:cubicBezTo>
                <a:close/>
              </a:path>
            </a:pathLst>
          </a:custGeom>
          <a:gradFill rotWithShape="0">
            <a:gsLst>
              <a:gs pos="0">
                <a:srgbClr val="A9A900"/>
              </a:gs>
              <a:gs pos="50000">
                <a:srgbClr val="FFFF00"/>
              </a:gs>
              <a:gs pos="100000">
                <a:srgbClr val="A9A9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175522" y="2970668"/>
            <a:ext cx="2455599" cy="1371600"/>
            <a:chOff x="5950758" y="2856368"/>
            <a:chExt cx="2455599" cy="1371600"/>
          </a:xfrm>
        </p:grpSpPr>
        <p:graphicFrame>
          <p:nvGraphicFramePr>
            <p:cNvPr id="15378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540815"/>
                </p:ext>
              </p:extLst>
            </p:nvPr>
          </p:nvGraphicFramePr>
          <p:xfrm>
            <a:off x="7674636" y="2892086"/>
            <a:ext cx="282178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5" name="公式" r:id="rId15" imgW="266584" imgH="330057" progId="Equation.3">
                    <p:embed/>
                  </p:oleObj>
                </mc:Choice>
                <mc:Fallback>
                  <p:oleObj name="公式" r:id="rId15" imgW="266584" imgH="330057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4636" y="2892086"/>
                          <a:ext cx="282178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/>
            <p:cNvGrpSpPr/>
            <p:nvPr/>
          </p:nvGrpSpPr>
          <p:grpSpPr>
            <a:xfrm>
              <a:off x="5950758" y="2856368"/>
              <a:ext cx="2455599" cy="1371600"/>
              <a:chOff x="3655895" y="3018859"/>
              <a:chExt cx="2455599" cy="1371600"/>
            </a:xfrm>
          </p:grpSpPr>
          <p:sp>
            <p:nvSpPr>
              <p:cNvPr id="15379" name="Line 29"/>
              <p:cNvSpPr>
                <a:spLocks noChangeShapeType="1"/>
              </p:cNvSpPr>
              <p:nvPr/>
            </p:nvSpPr>
            <p:spPr bwMode="auto">
              <a:xfrm flipH="1">
                <a:off x="3655895" y="3761809"/>
                <a:ext cx="1322123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0" name="Line 30"/>
              <p:cNvSpPr>
                <a:spLocks noChangeShapeType="1"/>
              </p:cNvSpPr>
              <p:nvPr/>
            </p:nvSpPr>
            <p:spPr bwMode="auto">
              <a:xfrm>
                <a:off x="5139944" y="3761809"/>
                <a:ext cx="952500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1" name="Arc 31"/>
              <p:cNvSpPr>
                <a:spLocks/>
              </p:cNvSpPr>
              <p:nvPr/>
            </p:nvSpPr>
            <p:spPr bwMode="auto">
              <a:xfrm flipH="1" flipV="1">
                <a:off x="4182681" y="3018859"/>
                <a:ext cx="904875" cy="564356"/>
              </a:xfrm>
              <a:custGeom>
                <a:avLst/>
                <a:gdLst>
                  <a:gd name="T0" fmla="*/ 0 w 21600"/>
                  <a:gd name="T1" fmla="*/ 0 h 21526"/>
                  <a:gd name="T2" fmla="*/ 1 w 21600"/>
                  <a:gd name="T3" fmla="*/ 0 h 21526"/>
                  <a:gd name="T4" fmla="*/ 0 w 21600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26" fill="none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</a:path>
                  <a:path w="21600" h="21526" stroke="0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2" name="Arc 32"/>
              <p:cNvSpPr>
                <a:spLocks/>
              </p:cNvSpPr>
              <p:nvPr/>
            </p:nvSpPr>
            <p:spPr bwMode="auto">
              <a:xfrm flipH="1">
                <a:off x="4120769" y="3942784"/>
                <a:ext cx="1019175" cy="447675"/>
              </a:xfrm>
              <a:custGeom>
                <a:avLst/>
                <a:gdLst>
                  <a:gd name="T0" fmla="*/ 0 w 21600"/>
                  <a:gd name="T1" fmla="*/ 0 h 21526"/>
                  <a:gd name="T2" fmla="*/ 1 w 21600"/>
                  <a:gd name="T3" fmla="*/ 0 h 21526"/>
                  <a:gd name="T4" fmla="*/ 0 w 21600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26" fill="none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</a:path>
                  <a:path w="21600" h="21526" stroke="0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3" name="Arc 33"/>
              <p:cNvSpPr>
                <a:spLocks/>
              </p:cNvSpPr>
              <p:nvPr/>
            </p:nvSpPr>
            <p:spPr bwMode="auto">
              <a:xfrm>
                <a:off x="5082794" y="3933259"/>
                <a:ext cx="1028700" cy="447675"/>
              </a:xfrm>
              <a:custGeom>
                <a:avLst/>
                <a:gdLst>
                  <a:gd name="T0" fmla="*/ 0 w 21422"/>
                  <a:gd name="T1" fmla="*/ 0 h 21526"/>
                  <a:gd name="T2" fmla="*/ 1 w 21422"/>
                  <a:gd name="T3" fmla="*/ 0 h 21526"/>
                  <a:gd name="T4" fmla="*/ 0 w 21422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22" h="21526" fill="none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4" name="Arc 34"/>
              <p:cNvSpPr>
                <a:spLocks/>
              </p:cNvSpPr>
              <p:nvPr/>
            </p:nvSpPr>
            <p:spPr bwMode="auto">
              <a:xfrm flipV="1">
                <a:off x="5039931" y="3133159"/>
                <a:ext cx="942975" cy="450056"/>
              </a:xfrm>
              <a:custGeom>
                <a:avLst/>
                <a:gdLst>
                  <a:gd name="T0" fmla="*/ 0 w 21422"/>
                  <a:gd name="T1" fmla="*/ 0 h 21526"/>
                  <a:gd name="T2" fmla="*/ 1 w 21422"/>
                  <a:gd name="T3" fmla="*/ 0 h 21526"/>
                  <a:gd name="T4" fmla="*/ 0 w 21422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22" h="21526" fill="none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566702" y="4056518"/>
            <a:ext cx="363141" cy="543521"/>
            <a:chOff x="5047075" y="4104709"/>
            <a:chExt cx="363141" cy="543521"/>
          </a:xfrm>
        </p:grpSpPr>
        <p:sp>
          <p:nvSpPr>
            <p:cNvPr id="15385" name="Freeform 35"/>
            <p:cNvSpPr>
              <a:spLocks/>
            </p:cNvSpPr>
            <p:nvPr/>
          </p:nvSpPr>
          <p:spPr bwMode="auto">
            <a:xfrm>
              <a:off x="5047075" y="4104709"/>
              <a:ext cx="342900" cy="133350"/>
            </a:xfrm>
            <a:custGeom>
              <a:avLst/>
              <a:gdLst>
                <a:gd name="T0" fmla="*/ 162 w 384"/>
                <a:gd name="T1" fmla="*/ 48 h 112"/>
                <a:gd name="T2" fmla="*/ 122 w 384"/>
                <a:gd name="T3" fmla="*/ 96 h 112"/>
                <a:gd name="T4" fmla="*/ 61 w 384"/>
                <a:gd name="T5" fmla="*/ 96 h 112"/>
                <a:gd name="T6" fmla="*/ 0 w 384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112">
                  <a:moveTo>
                    <a:pt x="384" y="48"/>
                  </a:moveTo>
                  <a:cubicBezTo>
                    <a:pt x="356" y="68"/>
                    <a:pt x="328" y="88"/>
                    <a:pt x="288" y="96"/>
                  </a:cubicBezTo>
                  <a:cubicBezTo>
                    <a:pt x="248" y="104"/>
                    <a:pt x="192" y="112"/>
                    <a:pt x="144" y="96"/>
                  </a:cubicBezTo>
                  <a:cubicBezTo>
                    <a:pt x="96" y="80"/>
                    <a:pt x="24" y="16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8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0787434"/>
                </p:ext>
              </p:extLst>
            </p:nvPr>
          </p:nvGraphicFramePr>
          <p:xfrm>
            <a:off x="5159524" y="4256514"/>
            <a:ext cx="250692" cy="391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6" name="公式" r:id="rId17" imgW="253800" imgH="381240" progId="Equation.3">
                    <p:embed/>
                  </p:oleObj>
                </mc:Choice>
                <mc:Fallback>
                  <p:oleObj name="公式" r:id="rId17" imgW="253800" imgH="38124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9524" y="4256514"/>
                          <a:ext cx="250692" cy="39171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4067191" y="2731353"/>
            <a:ext cx="342900" cy="573256"/>
            <a:chOff x="4067191" y="2731353"/>
            <a:chExt cx="342900" cy="573256"/>
          </a:xfrm>
        </p:grpSpPr>
        <p:graphicFrame>
          <p:nvGraphicFramePr>
            <p:cNvPr id="1538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209001"/>
                </p:ext>
              </p:extLst>
            </p:nvPr>
          </p:nvGraphicFramePr>
          <p:xfrm>
            <a:off x="4089811" y="2731353"/>
            <a:ext cx="254795" cy="391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7" name="公式" r:id="rId19" imgW="228600" imgH="381240" progId="Equation.3">
                    <p:embed/>
                  </p:oleObj>
                </mc:Choice>
                <mc:Fallback>
                  <p:oleObj name="公式" r:id="rId19" imgW="228600" imgH="38124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9811" y="2731353"/>
                          <a:ext cx="254795" cy="39171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8" name="Freeform 38"/>
            <p:cNvSpPr>
              <a:spLocks/>
            </p:cNvSpPr>
            <p:nvPr/>
          </p:nvSpPr>
          <p:spPr bwMode="auto">
            <a:xfrm flipV="1">
              <a:off x="4067191" y="3133159"/>
              <a:ext cx="342900" cy="171450"/>
            </a:xfrm>
            <a:custGeom>
              <a:avLst/>
              <a:gdLst>
                <a:gd name="T0" fmla="*/ 162 w 384"/>
                <a:gd name="T1" fmla="*/ 103 h 112"/>
                <a:gd name="T2" fmla="*/ 122 w 384"/>
                <a:gd name="T3" fmla="*/ 203 h 112"/>
                <a:gd name="T4" fmla="*/ 61 w 384"/>
                <a:gd name="T5" fmla="*/ 203 h 112"/>
                <a:gd name="T6" fmla="*/ 0 w 384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112">
                  <a:moveTo>
                    <a:pt x="384" y="48"/>
                  </a:moveTo>
                  <a:cubicBezTo>
                    <a:pt x="356" y="68"/>
                    <a:pt x="328" y="88"/>
                    <a:pt x="288" y="96"/>
                  </a:cubicBezTo>
                  <a:cubicBezTo>
                    <a:pt x="248" y="104"/>
                    <a:pt x="192" y="112"/>
                    <a:pt x="144" y="96"/>
                  </a:cubicBezTo>
                  <a:cubicBezTo>
                    <a:pt x="96" y="80"/>
                    <a:pt x="24" y="16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1CE7C3-2FFB-4D93-B8B9-6B2951744B7A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768112" y="297390"/>
            <a:ext cx="2353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（</a:t>
            </a:r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 </a:t>
            </a:r>
            <a:r>
              <a:rPr kumimoji="1" lang="zh-CN" altLang="en-US" sz="2400" b="1">
                <a:solidFill>
                  <a:srgbClr val="CC0000"/>
                </a:solidFill>
                <a:latin typeface="Times New Roman" pitchFamily="18" charset="0"/>
              </a:rPr>
              <a:t>）</a:t>
            </a:r>
            <a:r>
              <a:rPr kumimoji="1" lang="zh-CN" altLang="en-US" sz="2400" b="1">
                <a:latin typeface="Times New Roman" pitchFamily="18" charset="0"/>
              </a:rPr>
              <a:t>互感系数 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83182"/>
              </p:ext>
            </p:extLst>
          </p:nvPr>
        </p:nvGraphicFramePr>
        <p:xfrm>
          <a:off x="3508641" y="216526"/>
          <a:ext cx="3509963" cy="86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78" name="Equation" r:id="rId3" imgW="1701800" imgH="431800" progId="Equation.3">
                  <p:embed/>
                </p:oleObj>
              </mc:Choice>
              <mc:Fallback>
                <p:oleObj name="Equation" r:id="rId3" imgW="1701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641" y="216526"/>
                        <a:ext cx="3509963" cy="86558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21001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21001"/>
                            </a:schemeClr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381487" y="1172411"/>
            <a:ext cx="8467725" cy="978693"/>
            <a:chOff x="349" y="1717"/>
            <a:chExt cx="7112" cy="82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49" y="1778"/>
              <a:ext cx="1021" cy="672"/>
              <a:chOff x="803" y="674"/>
              <a:chExt cx="903" cy="672"/>
            </a:xfrm>
          </p:grpSpPr>
          <p:sp>
            <p:nvSpPr>
              <p:cNvPr id="16417" name="AutoShape 8"/>
              <p:cNvSpPr>
                <a:spLocks noChangeArrowheads="1"/>
              </p:cNvSpPr>
              <p:nvPr/>
            </p:nvSpPr>
            <p:spPr bwMode="auto">
              <a:xfrm>
                <a:off x="803" y="674"/>
                <a:ext cx="903" cy="672"/>
              </a:xfrm>
              <a:prstGeom prst="irregularSeal1">
                <a:avLst/>
              </a:prstGeom>
              <a:solidFill>
                <a:srgbClr val="FDE3EC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6418" name="Text Box 9"/>
              <p:cNvSpPr txBox="1">
                <a:spLocks noChangeArrowheads="1"/>
              </p:cNvSpPr>
              <p:nvPr/>
            </p:nvSpPr>
            <p:spPr bwMode="auto">
              <a:xfrm>
                <a:off x="979" y="816"/>
                <a:ext cx="690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注意</a:t>
                </a:r>
              </a:p>
            </p:txBody>
          </p:sp>
        </p:grpSp>
        <p:sp>
          <p:nvSpPr>
            <p:cNvPr id="16416" name="Text Box 6"/>
            <p:cNvSpPr txBox="1">
              <a:spLocks noChangeArrowheads="1"/>
            </p:cNvSpPr>
            <p:nvPr/>
          </p:nvSpPr>
          <p:spPr bwMode="auto">
            <a:xfrm>
              <a:off x="1339" y="1717"/>
              <a:ext cx="6122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kumimoji="1" lang="zh-CN" altLang="en-US" sz="2400" b="1" dirty="0">
                  <a:latin typeface="Times New Roman" pitchFamily="18" charset="0"/>
                </a:rPr>
                <a:t>互感仅与两个线圈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形状</a:t>
              </a:r>
              <a:r>
                <a:rPr kumimoji="1" lang="zh-CN" altLang="en-US" sz="2400" b="1" dirty="0">
                  <a:latin typeface="Times New Roman" pitchFamily="18" charset="0"/>
                </a:rPr>
                <a:t>、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大小</a:t>
              </a:r>
              <a:r>
                <a:rPr kumimoji="1" lang="zh-CN" altLang="en-US" sz="2400" b="1" dirty="0">
                  <a:latin typeface="Times New Roman" pitchFamily="18" charset="0"/>
                </a:rPr>
                <a:t>、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匝数</a:t>
              </a:r>
              <a:r>
                <a:rPr kumimoji="1" lang="zh-CN" altLang="en-US" sz="2400" b="1" dirty="0">
                  <a:latin typeface="Times New Roman" pitchFamily="18" charset="0"/>
                </a:rPr>
                <a:t>、</a:t>
              </a:r>
              <a:r>
                <a:rPr kumimoji="1" lang="zh-CN" altLang="en-US" sz="2400" b="1" dirty="0">
                  <a:solidFill>
                    <a:srgbClr val="0000FF"/>
                  </a:solidFill>
                  <a:latin typeface="Times New Roman" pitchFamily="18" charset="0"/>
                </a:rPr>
                <a:t>相对位置</a:t>
              </a:r>
              <a:r>
                <a:rPr kumimoji="1" lang="zh-CN" altLang="en-US" sz="2400" b="1" dirty="0">
                  <a:latin typeface="Times New Roman" pitchFamily="18" charset="0"/>
                </a:rPr>
                <a:t>以及周围的</a:t>
              </a:r>
              <a:r>
                <a:rPr kumimoji="1" lang="zh-CN" altLang="en-US" sz="2400" b="1" dirty="0">
                  <a:solidFill>
                    <a:srgbClr val="0000FF"/>
                  </a:solidFill>
                </a:rPr>
                <a:t>磁介质</a:t>
              </a:r>
              <a:r>
                <a:rPr kumimoji="1" lang="zh-CN" altLang="en-US" sz="2400" b="1" dirty="0"/>
                <a:t>有关</a:t>
              </a:r>
              <a:r>
                <a:rPr kumimoji="1" lang="en-US" altLang="zh-CN" sz="2400" b="1" dirty="0">
                  <a:latin typeface="Times New Roman" pitchFamily="18" charset="0"/>
                </a:rPr>
                <a:t>.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8112" y="2407181"/>
            <a:ext cx="2891079" cy="2321590"/>
            <a:chOff x="768112" y="2407181"/>
            <a:chExt cx="2891079" cy="2321590"/>
          </a:xfrm>
        </p:grpSpPr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768112" y="2407181"/>
              <a:ext cx="281106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CC0000"/>
                  </a:solidFill>
                  <a:latin typeface="Times New Roman" pitchFamily="18" charset="0"/>
                </a:rPr>
                <a:t>（</a:t>
              </a:r>
              <a:r>
                <a:rPr kumimoji="1" lang="en-US" altLang="zh-CN" sz="2400" b="1">
                  <a:solidFill>
                    <a:srgbClr val="CC0000"/>
                  </a:solidFill>
                  <a:latin typeface="Times New Roman" pitchFamily="18" charset="0"/>
                </a:rPr>
                <a:t>2</a:t>
              </a:r>
              <a:r>
                <a:rPr kumimoji="1" lang="zh-CN" altLang="en-US" sz="2400" b="1">
                  <a:solidFill>
                    <a:srgbClr val="CC0000"/>
                  </a:solidFill>
                  <a:latin typeface="Times New Roman" pitchFamily="18" charset="0"/>
                </a:rPr>
                <a:t>）</a:t>
              </a:r>
              <a:r>
                <a:rPr kumimoji="1" lang="zh-CN" altLang="en-US" sz="2400" b="1">
                  <a:latin typeface="Times New Roman" pitchFamily="18" charset="0"/>
                </a:rPr>
                <a:t>互感电动势</a:t>
              </a:r>
              <a:r>
                <a:rPr kumimoji="1" lang="zh-CN" altLang="en-US" sz="2100" b="1">
                  <a:solidFill>
                    <a:srgbClr val="CC0000"/>
                  </a:solidFill>
                  <a:latin typeface="Times New Roman" pitchFamily="18" charset="0"/>
                </a:rPr>
                <a:t> </a:t>
              </a:r>
            </a:p>
          </p:txBody>
        </p:sp>
        <p:graphicFrame>
          <p:nvGraphicFramePr>
            <p:cNvPr id="36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6486663"/>
                </p:ext>
              </p:extLst>
            </p:nvPr>
          </p:nvGraphicFramePr>
          <p:xfrm>
            <a:off x="1735141" y="3073390"/>
            <a:ext cx="1924050" cy="791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379" name="Equation" r:id="rId5" imgW="838080" imgH="393480" progId="Equation.DSMT4">
                    <p:embed/>
                  </p:oleObj>
                </mc:Choice>
                <mc:Fallback>
                  <p:oleObj name="Equation" r:id="rId5" imgW="838080" imgH="393480" progId="Equation.DSMT4">
                    <p:embed/>
                    <p:pic>
                      <p:nvPicPr>
                        <p:cNvPr id="2049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141" y="3073390"/>
                          <a:ext cx="1924050" cy="7917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6619658"/>
                </p:ext>
              </p:extLst>
            </p:nvPr>
          </p:nvGraphicFramePr>
          <p:xfrm>
            <a:off x="1735141" y="3940577"/>
            <a:ext cx="1639491" cy="788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380" name="Equation" r:id="rId7" imgW="825480" imgH="393480" progId="Equation.DSMT4">
                    <p:embed/>
                  </p:oleObj>
                </mc:Choice>
                <mc:Fallback>
                  <p:oleObj name="Equation" r:id="rId7" imgW="825480" imgH="393480" progId="Equation.DSMT4">
                    <p:embed/>
                    <p:pic>
                      <p:nvPicPr>
                        <p:cNvPr id="2049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141" y="3940577"/>
                          <a:ext cx="1639491" cy="788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4702308" y="2779275"/>
            <a:ext cx="3609299" cy="1868686"/>
            <a:chOff x="3021822" y="2731353"/>
            <a:chExt cx="3609299" cy="1868686"/>
          </a:xfrm>
        </p:grpSpPr>
        <p:sp>
          <p:nvSpPr>
            <p:cNvPr id="38" name="AutoShape 24"/>
            <p:cNvSpPr>
              <a:spLocks noChangeArrowheads="1"/>
            </p:cNvSpPr>
            <p:nvPr/>
          </p:nvSpPr>
          <p:spPr bwMode="auto">
            <a:xfrm>
              <a:off x="4091003" y="3228409"/>
              <a:ext cx="400050" cy="7310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66 h 21600"/>
                <a:gd name="T26" fmla="*/ 18450 w 21600"/>
                <a:gd name="T27" fmla="*/ 1843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64" y="10800"/>
                  </a:moveTo>
                  <a:cubicBezTo>
                    <a:pt x="1864" y="15735"/>
                    <a:pt x="5865" y="19736"/>
                    <a:pt x="10800" y="19736"/>
                  </a:cubicBezTo>
                  <a:cubicBezTo>
                    <a:pt x="15735" y="19736"/>
                    <a:pt x="19736" y="15735"/>
                    <a:pt x="19736" y="10800"/>
                  </a:cubicBezTo>
                  <a:cubicBezTo>
                    <a:pt x="19736" y="5865"/>
                    <a:pt x="15735" y="1864"/>
                    <a:pt x="10800" y="1864"/>
                  </a:cubicBezTo>
                  <a:cubicBezTo>
                    <a:pt x="5865" y="1864"/>
                    <a:pt x="1864" y="5865"/>
                    <a:pt x="1864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A467C2"/>
                </a:gs>
                <a:gs pos="50000">
                  <a:srgbClr val="D787FF"/>
                </a:gs>
                <a:gs pos="100000">
                  <a:srgbClr val="A467C2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021822" y="2904559"/>
              <a:ext cx="2646759" cy="1495425"/>
              <a:chOff x="3021822" y="2904559"/>
              <a:chExt cx="2646759" cy="1495425"/>
            </a:xfrm>
          </p:grpSpPr>
          <p:sp>
            <p:nvSpPr>
              <p:cNvPr id="40" name="Line 19"/>
              <p:cNvSpPr>
                <a:spLocks noChangeShapeType="1"/>
              </p:cNvSpPr>
              <p:nvPr/>
            </p:nvSpPr>
            <p:spPr bwMode="auto">
              <a:xfrm flipH="1">
                <a:off x="3021822" y="3645128"/>
                <a:ext cx="1038225" cy="238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41" name="Arc 20"/>
              <p:cNvSpPr>
                <a:spLocks/>
              </p:cNvSpPr>
              <p:nvPr/>
            </p:nvSpPr>
            <p:spPr bwMode="auto">
              <a:xfrm flipH="1">
                <a:off x="3268281" y="3818959"/>
                <a:ext cx="904875" cy="465534"/>
              </a:xfrm>
              <a:custGeom>
                <a:avLst/>
                <a:gdLst>
                  <a:gd name="T0" fmla="*/ 0 w 21600"/>
                  <a:gd name="T1" fmla="*/ 0 h 21526"/>
                  <a:gd name="T2" fmla="*/ 1 w 21600"/>
                  <a:gd name="T3" fmla="*/ 0 h 21526"/>
                  <a:gd name="T4" fmla="*/ 0 w 21600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26" fill="none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</a:path>
                  <a:path w="21600" h="21526" stroke="0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42" name="Arc 21"/>
              <p:cNvSpPr>
                <a:spLocks/>
              </p:cNvSpPr>
              <p:nvPr/>
            </p:nvSpPr>
            <p:spPr bwMode="auto">
              <a:xfrm flipH="1" flipV="1">
                <a:off x="3262328" y="3076009"/>
                <a:ext cx="904875" cy="400050"/>
              </a:xfrm>
              <a:custGeom>
                <a:avLst/>
                <a:gdLst>
                  <a:gd name="T0" fmla="*/ 0 w 21600"/>
                  <a:gd name="T1" fmla="*/ 0 h 21526"/>
                  <a:gd name="T2" fmla="*/ 1 w 21600"/>
                  <a:gd name="T3" fmla="*/ 0 h 21526"/>
                  <a:gd name="T4" fmla="*/ 0 w 21600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26" fill="none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</a:path>
                  <a:path w="21600" h="21526" stroke="0" extrusionOk="0">
                    <a:moveTo>
                      <a:pt x="1790" y="0"/>
                    </a:moveTo>
                    <a:cubicBezTo>
                      <a:pt x="12987" y="931"/>
                      <a:pt x="21600" y="10291"/>
                      <a:pt x="21600" y="21526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 type="none" w="sm" len="lg"/>
              </a:ln>
              <a:effectLst/>
            </p:spPr>
            <p:txBody>
              <a:bodyPr rot="10800000" wrap="none" anchor="ctr"/>
              <a:lstStyle/>
              <a:p>
                <a:endParaRPr lang="zh-CN" altLang="en-US" b="1"/>
              </a:p>
            </p:txBody>
          </p:sp>
          <p:sp>
            <p:nvSpPr>
              <p:cNvPr id="43" name="Line 22"/>
              <p:cNvSpPr>
                <a:spLocks noChangeShapeType="1"/>
              </p:cNvSpPr>
              <p:nvPr/>
            </p:nvSpPr>
            <p:spPr bwMode="auto">
              <a:xfrm>
                <a:off x="4239831" y="3645129"/>
                <a:ext cx="142875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44" name="Arc 23"/>
              <p:cNvSpPr>
                <a:spLocks/>
              </p:cNvSpPr>
              <p:nvPr/>
            </p:nvSpPr>
            <p:spPr bwMode="auto">
              <a:xfrm>
                <a:off x="4125531" y="3818959"/>
                <a:ext cx="1133475" cy="581025"/>
              </a:xfrm>
              <a:custGeom>
                <a:avLst/>
                <a:gdLst>
                  <a:gd name="T0" fmla="*/ 0 w 21422"/>
                  <a:gd name="T1" fmla="*/ 0 h 21526"/>
                  <a:gd name="T2" fmla="*/ 2 w 21422"/>
                  <a:gd name="T3" fmla="*/ 0 h 21526"/>
                  <a:gd name="T4" fmla="*/ 0 w 21422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22" h="21526" fill="none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45" name="Arc 25"/>
              <p:cNvSpPr>
                <a:spLocks/>
              </p:cNvSpPr>
              <p:nvPr/>
            </p:nvSpPr>
            <p:spPr bwMode="auto">
              <a:xfrm flipV="1">
                <a:off x="4125531" y="2904559"/>
                <a:ext cx="1076325" cy="576263"/>
              </a:xfrm>
              <a:custGeom>
                <a:avLst/>
                <a:gdLst>
                  <a:gd name="T0" fmla="*/ 0 w 21422"/>
                  <a:gd name="T1" fmla="*/ 0 h 21526"/>
                  <a:gd name="T2" fmla="*/ 2 w 21422"/>
                  <a:gd name="T3" fmla="*/ 0 h 21526"/>
                  <a:gd name="T4" fmla="*/ 0 w 21422"/>
                  <a:gd name="T5" fmla="*/ 0 h 21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22" h="21526" fill="none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 extrusionOk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aphicFrame>
            <p:nvGraphicFramePr>
              <p:cNvPr id="46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900964"/>
                  </p:ext>
                </p:extLst>
              </p:nvPr>
            </p:nvGraphicFramePr>
            <p:xfrm>
              <a:off x="3737860" y="3856493"/>
              <a:ext cx="260747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81" name="公式" r:id="rId9" imgW="241195" imgH="330057" progId="Equation.3">
                      <p:embed/>
                    </p:oleObj>
                  </mc:Choice>
                  <mc:Fallback>
                    <p:oleObj name="公式" r:id="rId9" imgW="241195" imgH="330057" progId="Equation.3">
                      <p:embed/>
                      <p:pic>
                        <p:nvPicPr>
                          <p:cNvPr id="15376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7860" y="3856493"/>
                            <a:ext cx="260747" cy="4000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7" name="AutoShape 27"/>
            <p:cNvSpPr>
              <a:spLocks noChangeArrowheads="1"/>
            </p:cNvSpPr>
            <p:nvPr/>
          </p:nvSpPr>
          <p:spPr bwMode="auto">
            <a:xfrm>
              <a:off x="5529793" y="3256418"/>
              <a:ext cx="400050" cy="8001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1 h 21600"/>
                <a:gd name="T8" fmla="*/ 0 w 21600"/>
                <a:gd name="T9" fmla="*/ 1 h 21600"/>
                <a:gd name="T10" fmla="*/ 0 w 21600"/>
                <a:gd name="T11" fmla="*/ 1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64" y="10800"/>
                  </a:moveTo>
                  <a:cubicBezTo>
                    <a:pt x="1864" y="15735"/>
                    <a:pt x="5865" y="19736"/>
                    <a:pt x="10800" y="19736"/>
                  </a:cubicBezTo>
                  <a:cubicBezTo>
                    <a:pt x="15735" y="19736"/>
                    <a:pt x="19736" y="15735"/>
                    <a:pt x="19736" y="10800"/>
                  </a:cubicBezTo>
                  <a:cubicBezTo>
                    <a:pt x="19736" y="5865"/>
                    <a:pt x="15735" y="1864"/>
                    <a:pt x="10800" y="1864"/>
                  </a:cubicBezTo>
                  <a:cubicBezTo>
                    <a:pt x="5865" y="1864"/>
                    <a:pt x="1864" y="5865"/>
                    <a:pt x="1864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A9A900"/>
                </a:gs>
                <a:gs pos="50000">
                  <a:srgbClr val="FFFF00"/>
                </a:gs>
                <a:gs pos="100000">
                  <a:srgbClr val="A9A9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4175522" y="2970668"/>
              <a:ext cx="2455599" cy="1371600"/>
              <a:chOff x="5950758" y="2856368"/>
              <a:chExt cx="2455599" cy="1371600"/>
            </a:xfrm>
          </p:grpSpPr>
          <p:graphicFrame>
            <p:nvGraphicFramePr>
              <p:cNvPr id="49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803692"/>
                  </p:ext>
                </p:extLst>
              </p:nvPr>
            </p:nvGraphicFramePr>
            <p:xfrm>
              <a:off x="7674636" y="2892086"/>
              <a:ext cx="282178" cy="4095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82" name="公式" r:id="rId11" imgW="266584" imgH="330057" progId="Equation.3">
                      <p:embed/>
                    </p:oleObj>
                  </mc:Choice>
                  <mc:Fallback>
                    <p:oleObj name="公式" r:id="rId11" imgW="266584" imgH="330057" progId="Equation.3">
                      <p:embed/>
                      <p:pic>
                        <p:nvPicPr>
                          <p:cNvPr id="15378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74636" y="2892086"/>
                            <a:ext cx="282178" cy="4095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0" name="组合 49"/>
              <p:cNvGrpSpPr/>
              <p:nvPr/>
            </p:nvGrpSpPr>
            <p:grpSpPr>
              <a:xfrm>
                <a:off x="5950758" y="2856368"/>
                <a:ext cx="2455599" cy="1371600"/>
                <a:chOff x="3655895" y="3018859"/>
                <a:chExt cx="2455599" cy="1371600"/>
              </a:xfrm>
            </p:grpSpPr>
            <p:sp>
              <p:nvSpPr>
                <p:cNvPr id="51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655895" y="3761809"/>
                  <a:ext cx="1322123" cy="0"/>
                </a:xfrm>
                <a:prstGeom prst="line">
                  <a:avLst/>
                </a:prstGeom>
                <a:noFill/>
                <a:ln w="19050">
                  <a:solidFill>
                    <a:srgbClr val="C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2" name="Line 30"/>
                <p:cNvSpPr>
                  <a:spLocks noChangeShapeType="1"/>
                </p:cNvSpPr>
                <p:nvPr/>
              </p:nvSpPr>
              <p:spPr bwMode="auto">
                <a:xfrm>
                  <a:off x="5139944" y="3761809"/>
                  <a:ext cx="952500" cy="0"/>
                </a:xfrm>
                <a:prstGeom prst="line">
                  <a:avLst/>
                </a:prstGeom>
                <a:noFill/>
                <a:ln w="19050">
                  <a:solidFill>
                    <a:srgbClr val="C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3" name="Arc 31"/>
                <p:cNvSpPr>
                  <a:spLocks/>
                </p:cNvSpPr>
                <p:nvPr/>
              </p:nvSpPr>
              <p:spPr bwMode="auto">
                <a:xfrm flipH="1" flipV="1">
                  <a:off x="4182681" y="3018859"/>
                  <a:ext cx="904875" cy="564356"/>
                </a:xfrm>
                <a:custGeom>
                  <a:avLst/>
                  <a:gdLst>
                    <a:gd name="T0" fmla="*/ 0 w 21600"/>
                    <a:gd name="T1" fmla="*/ 0 h 21526"/>
                    <a:gd name="T2" fmla="*/ 1 w 21600"/>
                    <a:gd name="T3" fmla="*/ 0 h 21526"/>
                    <a:gd name="T4" fmla="*/ 0 w 21600"/>
                    <a:gd name="T5" fmla="*/ 0 h 21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526" fill="none" extrusionOk="0">
                      <a:moveTo>
                        <a:pt x="1790" y="0"/>
                      </a:moveTo>
                      <a:cubicBezTo>
                        <a:pt x="12987" y="931"/>
                        <a:pt x="21600" y="10291"/>
                        <a:pt x="21600" y="21526"/>
                      </a:cubicBezTo>
                    </a:path>
                    <a:path w="21600" h="21526" stroke="0" extrusionOk="0">
                      <a:moveTo>
                        <a:pt x="1790" y="0"/>
                      </a:moveTo>
                      <a:cubicBezTo>
                        <a:pt x="12987" y="931"/>
                        <a:pt x="21600" y="10291"/>
                        <a:pt x="21600" y="21526"/>
                      </a:cubicBezTo>
                      <a:lnTo>
                        <a:pt x="0" y="21526"/>
                      </a:lnTo>
                      <a:lnTo>
                        <a:pt x="179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4" name="Arc 32"/>
                <p:cNvSpPr>
                  <a:spLocks/>
                </p:cNvSpPr>
                <p:nvPr/>
              </p:nvSpPr>
              <p:spPr bwMode="auto">
                <a:xfrm flipH="1">
                  <a:off x="4120769" y="3942784"/>
                  <a:ext cx="1019175" cy="447675"/>
                </a:xfrm>
                <a:custGeom>
                  <a:avLst/>
                  <a:gdLst>
                    <a:gd name="T0" fmla="*/ 0 w 21600"/>
                    <a:gd name="T1" fmla="*/ 0 h 21526"/>
                    <a:gd name="T2" fmla="*/ 1 w 21600"/>
                    <a:gd name="T3" fmla="*/ 0 h 21526"/>
                    <a:gd name="T4" fmla="*/ 0 w 21600"/>
                    <a:gd name="T5" fmla="*/ 0 h 21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526" fill="none" extrusionOk="0">
                      <a:moveTo>
                        <a:pt x="1790" y="0"/>
                      </a:moveTo>
                      <a:cubicBezTo>
                        <a:pt x="12987" y="931"/>
                        <a:pt x="21600" y="10291"/>
                        <a:pt x="21600" y="21526"/>
                      </a:cubicBezTo>
                    </a:path>
                    <a:path w="21600" h="21526" stroke="0" extrusionOk="0">
                      <a:moveTo>
                        <a:pt x="1790" y="0"/>
                      </a:moveTo>
                      <a:cubicBezTo>
                        <a:pt x="12987" y="931"/>
                        <a:pt x="21600" y="10291"/>
                        <a:pt x="21600" y="21526"/>
                      </a:cubicBezTo>
                      <a:lnTo>
                        <a:pt x="0" y="21526"/>
                      </a:lnTo>
                      <a:lnTo>
                        <a:pt x="179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5" name="Arc 33"/>
                <p:cNvSpPr>
                  <a:spLocks/>
                </p:cNvSpPr>
                <p:nvPr/>
              </p:nvSpPr>
              <p:spPr bwMode="auto">
                <a:xfrm>
                  <a:off x="5082794" y="3933259"/>
                  <a:ext cx="1028700" cy="447675"/>
                </a:xfrm>
                <a:custGeom>
                  <a:avLst/>
                  <a:gdLst>
                    <a:gd name="T0" fmla="*/ 0 w 21422"/>
                    <a:gd name="T1" fmla="*/ 0 h 21526"/>
                    <a:gd name="T2" fmla="*/ 1 w 21422"/>
                    <a:gd name="T3" fmla="*/ 0 h 21526"/>
                    <a:gd name="T4" fmla="*/ 0 w 21422"/>
                    <a:gd name="T5" fmla="*/ 0 h 21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422" h="21526" fill="none" extrusionOk="0">
                      <a:moveTo>
                        <a:pt x="1790" y="0"/>
                      </a:moveTo>
                      <a:cubicBezTo>
                        <a:pt x="11937" y="844"/>
                        <a:pt x="20116" y="8659"/>
                        <a:pt x="21421" y="18757"/>
                      </a:cubicBezTo>
                    </a:path>
                    <a:path w="21422" h="21526" stroke="0" extrusionOk="0">
                      <a:moveTo>
                        <a:pt x="1790" y="0"/>
                      </a:moveTo>
                      <a:cubicBezTo>
                        <a:pt x="11937" y="844"/>
                        <a:pt x="20116" y="8659"/>
                        <a:pt x="21421" y="18757"/>
                      </a:cubicBezTo>
                      <a:lnTo>
                        <a:pt x="0" y="21526"/>
                      </a:lnTo>
                      <a:lnTo>
                        <a:pt x="179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6" name="Arc 34"/>
                <p:cNvSpPr>
                  <a:spLocks/>
                </p:cNvSpPr>
                <p:nvPr/>
              </p:nvSpPr>
              <p:spPr bwMode="auto">
                <a:xfrm flipV="1">
                  <a:off x="5039931" y="3133159"/>
                  <a:ext cx="942975" cy="450056"/>
                </a:xfrm>
                <a:custGeom>
                  <a:avLst/>
                  <a:gdLst>
                    <a:gd name="T0" fmla="*/ 0 w 21422"/>
                    <a:gd name="T1" fmla="*/ 0 h 21526"/>
                    <a:gd name="T2" fmla="*/ 1 w 21422"/>
                    <a:gd name="T3" fmla="*/ 0 h 21526"/>
                    <a:gd name="T4" fmla="*/ 0 w 21422"/>
                    <a:gd name="T5" fmla="*/ 0 h 21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422" h="21526" fill="none" extrusionOk="0">
                      <a:moveTo>
                        <a:pt x="1790" y="0"/>
                      </a:moveTo>
                      <a:cubicBezTo>
                        <a:pt x="11937" y="844"/>
                        <a:pt x="20116" y="8659"/>
                        <a:pt x="21421" y="18757"/>
                      </a:cubicBezTo>
                    </a:path>
                    <a:path w="21422" h="21526" stroke="0" extrusionOk="0">
                      <a:moveTo>
                        <a:pt x="1790" y="0"/>
                      </a:moveTo>
                      <a:cubicBezTo>
                        <a:pt x="11937" y="844"/>
                        <a:pt x="20116" y="8659"/>
                        <a:pt x="21421" y="18757"/>
                      </a:cubicBezTo>
                      <a:lnTo>
                        <a:pt x="0" y="21526"/>
                      </a:lnTo>
                      <a:lnTo>
                        <a:pt x="1790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round/>
                  <a:headEnd/>
                  <a:tailEnd type="non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b="1"/>
                </a:p>
              </p:txBody>
            </p:sp>
          </p:grpSp>
        </p:grpSp>
        <p:grpSp>
          <p:nvGrpSpPr>
            <p:cNvPr id="57" name="组合 56"/>
            <p:cNvGrpSpPr/>
            <p:nvPr/>
          </p:nvGrpSpPr>
          <p:grpSpPr>
            <a:xfrm>
              <a:off x="5566702" y="4056518"/>
              <a:ext cx="363141" cy="543521"/>
              <a:chOff x="5047075" y="4104709"/>
              <a:chExt cx="363141" cy="543521"/>
            </a:xfrm>
          </p:grpSpPr>
          <p:sp>
            <p:nvSpPr>
              <p:cNvPr id="58" name="Freeform 35"/>
              <p:cNvSpPr>
                <a:spLocks/>
              </p:cNvSpPr>
              <p:nvPr/>
            </p:nvSpPr>
            <p:spPr bwMode="auto">
              <a:xfrm>
                <a:off x="5047075" y="4104709"/>
                <a:ext cx="342900" cy="133350"/>
              </a:xfrm>
              <a:custGeom>
                <a:avLst/>
                <a:gdLst>
                  <a:gd name="T0" fmla="*/ 162 w 384"/>
                  <a:gd name="T1" fmla="*/ 48 h 112"/>
                  <a:gd name="T2" fmla="*/ 122 w 384"/>
                  <a:gd name="T3" fmla="*/ 96 h 112"/>
                  <a:gd name="T4" fmla="*/ 61 w 384"/>
                  <a:gd name="T5" fmla="*/ 96 h 112"/>
                  <a:gd name="T6" fmla="*/ 0 w 384"/>
                  <a:gd name="T7" fmla="*/ 0 h 1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4" h="112">
                    <a:moveTo>
                      <a:pt x="384" y="48"/>
                    </a:moveTo>
                    <a:cubicBezTo>
                      <a:pt x="356" y="68"/>
                      <a:pt x="328" y="88"/>
                      <a:pt x="288" y="96"/>
                    </a:cubicBezTo>
                    <a:cubicBezTo>
                      <a:pt x="248" y="104"/>
                      <a:pt x="192" y="112"/>
                      <a:pt x="144" y="96"/>
                    </a:cubicBezTo>
                    <a:cubicBezTo>
                      <a:pt x="96" y="80"/>
                      <a:pt x="24" y="16"/>
                      <a:pt x="0" y="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aphicFrame>
            <p:nvGraphicFramePr>
              <p:cNvPr id="59" name="Object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8863445"/>
                  </p:ext>
                </p:extLst>
              </p:nvPr>
            </p:nvGraphicFramePr>
            <p:xfrm>
              <a:off x="5159524" y="4256514"/>
              <a:ext cx="250692" cy="3917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83" name="公式" r:id="rId13" imgW="253800" imgH="381240" progId="Equation.3">
                      <p:embed/>
                    </p:oleObj>
                  </mc:Choice>
                  <mc:Fallback>
                    <p:oleObj name="公式" r:id="rId13" imgW="253800" imgH="381240" progId="Equation.3">
                      <p:embed/>
                      <p:pic>
                        <p:nvPicPr>
                          <p:cNvPr id="15386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9524" y="4256514"/>
                            <a:ext cx="250692" cy="391716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0" name="组合 59"/>
            <p:cNvGrpSpPr/>
            <p:nvPr/>
          </p:nvGrpSpPr>
          <p:grpSpPr>
            <a:xfrm>
              <a:off x="4067191" y="2731353"/>
              <a:ext cx="342900" cy="573256"/>
              <a:chOff x="4067191" y="2731353"/>
              <a:chExt cx="342900" cy="573256"/>
            </a:xfrm>
          </p:grpSpPr>
          <p:graphicFrame>
            <p:nvGraphicFramePr>
              <p:cNvPr id="62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9602575"/>
                  </p:ext>
                </p:extLst>
              </p:nvPr>
            </p:nvGraphicFramePr>
            <p:xfrm>
              <a:off x="4089811" y="2731353"/>
              <a:ext cx="254795" cy="3917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84" name="公式" r:id="rId15" imgW="228600" imgH="381240" progId="Equation.3">
                      <p:embed/>
                    </p:oleObj>
                  </mc:Choice>
                  <mc:Fallback>
                    <p:oleObj name="公式" r:id="rId15" imgW="228600" imgH="381240" progId="Equation.3">
                      <p:embed/>
                      <p:pic>
                        <p:nvPicPr>
                          <p:cNvPr id="15387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9811" y="2731353"/>
                            <a:ext cx="254795" cy="391716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5" name="Freeform 38"/>
              <p:cNvSpPr>
                <a:spLocks/>
              </p:cNvSpPr>
              <p:nvPr/>
            </p:nvSpPr>
            <p:spPr bwMode="auto">
              <a:xfrm flipV="1">
                <a:off x="4067191" y="3133159"/>
                <a:ext cx="342900" cy="171450"/>
              </a:xfrm>
              <a:custGeom>
                <a:avLst/>
                <a:gdLst>
                  <a:gd name="T0" fmla="*/ 162 w 384"/>
                  <a:gd name="T1" fmla="*/ 103 h 112"/>
                  <a:gd name="T2" fmla="*/ 122 w 384"/>
                  <a:gd name="T3" fmla="*/ 203 h 112"/>
                  <a:gd name="T4" fmla="*/ 61 w 384"/>
                  <a:gd name="T5" fmla="*/ 203 h 112"/>
                  <a:gd name="T6" fmla="*/ 0 w 384"/>
                  <a:gd name="T7" fmla="*/ 0 h 1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4" h="112">
                    <a:moveTo>
                      <a:pt x="384" y="48"/>
                    </a:moveTo>
                    <a:cubicBezTo>
                      <a:pt x="356" y="68"/>
                      <a:pt x="328" y="88"/>
                      <a:pt x="288" y="96"/>
                    </a:cubicBezTo>
                    <a:cubicBezTo>
                      <a:pt x="248" y="104"/>
                      <a:pt x="192" y="112"/>
                      <a:pt x="144" y="96"/>
                    </a:cubicBezTo>
                    <a:cubicBezTo>
                      <a:pt x="96" y="80"/>
                      <a:pt x="24" y="16"/>
                      <a:pt x="0" y="0"/>
                    </a:cubicBez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909638" y="2090142"/>
            <a:ext cx="385762" cy="385763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909638" y="2815630"/>
            <a:ext cx="385762" cy="385762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909638" y="3541117"/>
            <a:ext cx="385762" cy="385763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909638" y="4266605"/>
            <a:ext cx="385762" cy="385762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7843838" y="4756395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47" name="Group 7"/>
          <p:cNvGrpSpPr>
            <a:grpSpLocks/>
          </p:cNvGrpSpPr>
          <p:nvPr/>
        </p:nvGrpSpPr>
        <p:grpSpPr bwMode="auto">
          <a:xfrm>
            <a:off x="6427787" y="2468317"/>
            <a:ext cx="1090613" cy="2221939"/>
            <a:chOff x="624" y="1720"/>
            <a:chExt cx="1008" cy="2360"/>
          </a:xfrm>
        </p:grpSpPr>
        <p:sp>
          <p:nvSpPr>
            <p:cNvPr id="48" name="Line 9"/>
            <p:cNvSpPr>
              <a:spLocks noChangeShapeType="1"/>
            </p:cNvSpPr>
            <p:nvPr/>
          </p:nvSpPr>
          <p:spPr bwMode="auto">
            <a:xfrm>
              <a:off x="624" y="2256"/>
              <a:ext cx="0" cy="15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912" y="2400"/>
              <a:ext cx="720" cy="912"/>
            </a:xfrm>
            <a:prstGeom prst="rect">
              <a:avLst/>
            </a:prstGeom>
            <a:noFill/>
            <a:ln w="28575">
              <a:solidFill>
                <a:srgbClr val="00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>
              <a:off x="1248" y="2064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1104" y="1720"/>
              <a:ext cx="288" cy="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1091" y="3633"/>
              <a:ext cx="240" cy="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624" y="1872"/>
              <a:ext cx="0" cy="38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15"/>
            <p:cNvSpPr>
              <a:spLocks noChangeShapeType="1"/>
            </p:cNvSpPr>
            <p:nvPr/>
          </p:nvSpPr>
          <p:spPr bwMode="auto">
            <a:xfrm flipV="1">
              <a:off x="624" y="3744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1322568" y="838795"/>
            <a:ext cx="660087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latin typeface="Times New Roman" pitchFamily="18" charset="0"/>
              </a:rPr>
              <a:t>如</a:t>
            </a:r>
            <a:r>
              <a:rPr kumimoji="1" lang="zh-CN" altLang="en-US" sz="2400" b="1" smtClean="0">
                <a:latin typeface="Times New Roman" pitchFamily="18" charset="0"/>
              </a:rPr>
              <a:t>图所示，长直导线旁边放置一个矩形线框，下列</a:t>
            </a:r>
            <a:r>
              <a:rPr kumimoji="1" lang="zh-CN" altLang="en-US" sz="2400" b="1" dirty="0">
                <a:latin typeface="Times New Roman" pitchFamily="18" charset="0"/>
              </a:rPr>
              <a:t>几种</a:t>
            </a:r>
            <a:r>
              <a:rPr kumimoji="1" lang="zh-CN" altLang="en-US" sz="2400" b="1">
                <a:latin typeface="Times New Roman" pitchFamily="18" charset="0"/>
              </a:rPr>
              <a:t>情</a:t>
            </a:r>
            <a:r>
              <a:rPr kumimoji="1" lang="zh-CN" altLang="en-US" sz="2400" b="1" smtClean="0">
                <a:latin typeface="Times New Roman" pitchFamily="18" charset="0"/>
              </a:rPr>
              <a:t>况，其互感</a:t>
            </a:r>
            <a:r>
              <a:rPr kumimoji="1" lang="zh-CN" altLang="en-US" sz="2400" b="1">
                <a:latin typeface="Times New Roman" pitchFamily="18" charset="0"/>
              </a:rPr>
              <a:t>发生</a:t>
            </a:r>
            <a:r>
              <a:rPr kumimoji="1" lang="zh-CN" altLang="en-US" sz="2400" b="1" smtClean="0">
                <a:latin typeface="Times New Roman" pitchFamily="18" charset="0"/>
              </a:rPr>
              <a:t>变化的是（   ）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1363980" y="1804898"/>
            <a:ext cx="483155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zh-CN" altLang="en-US" sz="2400" b="1" smtClean="0">
                <a:latin typeface="Times New Roman" pitchFamily="18" charset="0"/>
              </a:rPr>
              <a:t>线</a:t>
            </a:r>
            <a:r>
              <a:rPr kumimoji="1" lang="zh-CN" altLang="en-US" sz="2400" b="1" dirty="0">
                <a:latin typeface="Times New Roman" pitchFamily="18" charset="0"/>
              </a:rPr>
              <a:t>框平行于直</a:t>
            </a:r>
            <a:r>
              <a:rPr kumimoji="1" lang="zh-CN" altLang="en-US" sz="2400" b="1">
                <a:latin typeface="Times New Roman" pitchFamily="18" charset="0"/>
              </a:rPr>
              <a:t>导</a:t>
            </a:r>
            <a:r>
              <a:rPr kumimoji="1" lang="zh-CN" altLang="en-US" sz="2400" b="1" smtClean="0">
                <a:latin typeface="Times New Roman" pitchFamily="18" charset="0"/>
              </a:rPr>
              <a:t>线上下移动</a:t>
            </a:r>
            <a:endParaRPr kumimoji="1" lang="zh-CN" altLang="en-US" sz="2400" b="1" dirty="0">
              <a:latin typeface="Times New Roman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kumimoji="1" lang="zh-CN" altLang="en-US" sz="2400" b="1" smtClean="0">
                <a:latin typeface="Times New Roman" pitchFamily="18" charset="0"/>
              </a:rPr>
              <a:t>线</a:t>
            </a:r>
            <a:r>
              <a:rPr kumimoji="1" lang="zh-CN" altLang="en-US" sz="2400" b="1" dirty="0">
                <a:latin typeface="Times New Roman" pitchFamily="18" charset="0"/>
              </a:rPr>
              <a:t>框垂直于直</a:t>
            </a:r>
            <a:r>
              <a:rPr kumimoji="1" lang="zh-CN" altLang="en-US" sz="2400" b="1">
                <a:latin typeface="Times New Roman" pitchFamily="18" charset="0"/>
              </a:rPr>
              <a:t>导</a:t>
            </a:r>
            <a:r>
              <a:rPr kumimoji="1" lang="zh-CN" altLang="en-US" sz="2400" b="1" smtClean="0">
                <a:latin typeface="Times New Roman" pitchFamily="18" charset="0"/>
              </a:rPr>
              <a:t>线左右移动          </a:t>
            </a:r>
            <a:endParaRPr kumimoji="1" lang="zh-CN" altLang="en-US" sz="2400" b="1" dirty="0">
              <a:latin typeface="Times New Roman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kumimoji="1" lang="zh-CN" altLang="en-US" sz="2400" b="1" smtClean="0">
                <a:latin typeface="Times New Roman" pitchFamily="18" charset="0"/>
              </a:rPr>
              <a:t>线</a:t>
            </a:r>
            <a:r>
              <a:rPr kumimoji="1" lang="zh-CN" altLang="en-US" sz="2400" b="1" dirty="0">
                <a:latin typeface="Times New Roman" pitchFamily="18" charset="0"/>
              </a:rPr>
              <a:t>框绕 </a:t>
            </a:r>
            <a:r>
              <a:rPr kumimoji="1" lang="en-US" altLang="zh-CN" sz="2400" i="1" dirty="0">
                <a:latin typeface="Times New Roman" pitchFamily="18" charset="0"/>
              </a:rPr>
              <a:t>OC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</a:rPr>
              <a:t>轴</a:t>
            </a:r>
            <a:r>
              <a:rPr kumimoji="1" lang="zh-CN" altLang="en-US" sz="2400" b="1">
                <a:latin typeface="Times New Roman" pitchFamily="18" charset="0"/>
              </a:rPr>
              <a:t>转</a:t>
            </a:r>
            <a:r>
              <a:rPr kumimoji="1" lang="zh-CN" altLang="en-US" sz="2400" b="1" smtClean="0">
                <a:latin typeface="Times New Roman" pitchFamily="18" charset="0"/>
              </a:rPr>
              <a:t>动                      </a:t>
            </a:r>
            <a:endParaRPr kumimoji="1" lang="zh-CN" altLang="en-US" sz="2400" b="1" dirty="0">
              <a:latin typeface="Times New Roman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kumimoji="1" lang="zh-CN" altLang="en-US" sz="2400" b="1" smtClean="0">
                <a:latin typeface="Times New Roman" pitchFamily="18" charset="0"/>
              </a:rPr>
              <a:t>直</a:t>
            </a:r>
            <a:r>
              <a:rPr kumimoji="1" lang="zh-CN" altLang="en-US" sz="2400" b="1" dirty="0">
                <a:latin typeface="Times New Roman" pitchFamily="18" charset="0"/>
              </a:rPr>
              <a:t>导线中电流</a:t>
            </a:r>
            <a:r>
              <a:rPr kumimoji="1" lang="zh-CN" altLang="en-US" sz="2400" b="1">
                <a:latin typeface="Times New Roman" pitchFamily="18" charset="0"/>
              </a:rPr>
              <a:t>变</a:t>
            </a:r>
            <a:r>
              <a:rPr kumimoji="1" lang="zh-CN" altLang="en-US" sz="2400" b="1" smtClean="0">
                <a:latin typeface="Times New Roman" pitchFamily="18" charset="0"/>
              </a:rPr>
              <a:t>化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grpSp>
        <p:nvGrpSpPr>
          <p:cNvPr id="64" name="组合 63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3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0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62" name="图片 61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50" name="Text Box 66"/>
          <p:cNvSpPr txBox="1">
            <a:spLocks noChangeArrowheads="1"/>
          </p:cNvSpPr>
          <p:nvPr/>
        </p:nvSpPr>
        <p:spPr bwMode="auto">
          <a:xfrm>
            <a:off x="1163559" y="198000"/>
            <a:ext cx="2044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Blip>
                <a:blip r:embed="rId3"/>
              </a:buBlip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感应圈：</a:t>
            </a:r>
          </a:p>
        </p:txBody>
      </p:sp>
      <p:sp>
        <p:nvSpPr>
          <p:cNvPr id="67653" name="Text Box 69"/>
          <p:cNvSpPr txBox="1">
            <a:spLocks noChangeArrowheads="1"/>
          </p:cNvSpPr>
          <p:nvPr/>
        </p:nvSpPr>
        <p:spPr bwMode="auto">
          <a:xfrm>
            <a:off x="1263500" y="822198"/>
            <a:ext cx="7448903" cy="1417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通过互感获得感应电动势，从而在次级线圈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中获得达几万伏的高压。</a:t>
            </a:r>
            <a:endParaRPr lang="en-US" altLang="zh-CN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汽车和煤气炉的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点火器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电警棍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等都是感应圈的应用。</a:t>
            </a:r>
          </a:p>
        </p:txBody>
      </p:sp>
      <p:sp>
        <p:nvSpPr>
          <p:cNvPr id="58" name="灯片编号占位符 1"/>
          <p:cNvSpPr>
            <a:spLocks noGrp="1"/>
          </p:cNvSpPr>
          <p:nvPr>
            <p:ph type="sldNum" sz="quarter" idx="10"/>
          </p:nvPr>
        </p:nvSpPr>
        <p:spPr bwMode="auto">
          <a:xfrm>
            <a:off x="7543800" y="4923097"/>
            <a:ext cx="1600200" cy="273844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8963020F-97E4-4250-BB53-A6BE6461C44A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59" name="矩形 58"/>
          <p:cNvSpPr/>
          <p:nvPr/>
        </p:nvSpPr>
        <p:spPr>
          <a:xfrm>
            <a:off x="2716232" y="198000"/>
            <a:ext cx="1313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&gt;&gt; N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1</a:t>
            </a:r>
            <a:endParaRPr lang="zh-CN" altLang="en-US" sz="2400" dirty="0"/>
          </a:p>
        </p:txBody>
      </p:sp>
      <p:sp>
        <p:nvSpPr>
          <p:cNvPr id="67605" name="Line 21"/>
          <p:cNvSpPr>
            <a:spLocks noChangeShapeType="1"/>
          </p:cNvSpPr>
          <p:nvPr/>
        </p:nvSpPr>
        <p:spPr bwMode="auto">
          <a:xfrm>
            <a:off x="3193781" y="3317460"/>
            <a:ext cx="25005" cy="843925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42" name="Rectangle 58"/>
          <p:cNvSpPr>
            <a:spLocks noChangeArrowheads="1"/>
          </p:cNvSpPr>
          <p:nvPr/>
        </p:nvSpPr>
        <p:spPr bwMode="auto">
          <a:xfrm>
            <a:off x="5253582" y="3730045"/>
            <a:ext cx="75016" cy="37507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40" name="Rectangle 56"/>
          <p:cNvSpPr>
            <a:spLocks noChangeArrowheads="1"/>
          </p:cNvSpPr>
          <p:nvPr/>
        </p:nvSpPr>
        <p:spPr bwMode="auto">
          <a:xfrm>
            <a:off x="2553023" y="4105123"/>
            <a:ext cx="3750777" cy="75016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2779632" y="3290892"/>
            <a:ext cx="2698996" cy="439153"/>
          </a:xfrm>
          <a:prstGeom prst="rect">
            <a:avLst/>
          </a:prstGeom>
          <a:gradFill>
            <a:gsLst>
              <a:gs pos="28000">
                <a:schemeClr val="tx1">
                  <a:lumMod val="50000"/>
                  <a:lumOff val="50000"/>
                </a:schemeClr>
              </a:gs>
              <a:gs pos="81000">
                <a:srgbClr val="E6E6E6">
                  <a:alpha val="72000"/>
                </a:srgbClr>
              </a:gs>
              <a:gs pos="49000">
                <a:srgbClr val="7D8496">
                  <a:alpha val="64000"/>
                </a:srgbClr>
              </a:gs>
            </a:gsLst>
            <a:lin ang="16200000" scaled="0"/>
          </a:gradFill>
          <a:ln w="508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107825" y="3264324"/>
            <a:ext cx="2001977" cy="500104"/>
            <a:chOff x="4603" y="1939"/>
            <a:chExt cx="760" cy="218"/>
          </a:xfrm>
        </p:grpSpPr>
        <p:sp>
          <p:nvSpPr>
            <p:cNvPr id="67597" name="Freeform 13"/>
            <p:cNvSpPr>
              <a:spLocks/>
            </p:cNvSpPr>
            <p:nvPr/>
          </p:nvSpPr>
          <p:spPr bwMode="auto">
            <a:xfrm>
              <a:off x="4603" y="1958"/>
              <a:ext cx="38" cy="188"/>
            </a:xfrm>
            <a:custGeom>
              <a:avLst/>
              <a:gdLst>
                <a:gd name="connsiteX0" fmla="*/ 209 w 10209"/>
                <a:gd name="connsiteY0" fmla="*/ 735 h 8823"/>
                <a:gd name="connsiteX1" fmla="*/ 1707 w 10209"/>
                <a:gd name="connsiteY1" fmla="*/ 1360 h 8823"/>
                <a:gd name="connsiteX2" fmla="*/ 6388 w 10209"/>
                <a:gd name="connsiteY2" fmla="*/ 7830 h 8823"/>
                <a:gd name="connsiteX3" fmla="*/ 9640 w 10209"/>
                <a:gd name="connsiteY3" fmla="*/ 7352 h 8823"/>
                <a:gd name="connsiteX4" fmla="*/ 9640 w 10209"/>
                <a:gd name="connsiteY4" fmla="*/ 7242 h 8823"/>
                <a:gd name="connsiteX0" fmla="*/ 0 w 9795"/>
                <a:gd name="connsiteY0" fmla="*/ 998 h 10165"/>
                <a:gd name="connsiteX1" fmla="*/ 1467 w 9795"/>
                <a:gd name="connsiteY1" fmla="*/ 1706 h 10165"/>
                <a:gd name="connsiteX2" fmla="*/ 6052 w 9795"/>
                <a:gd name="connsiteY2" fmla="*/ 9040 h 10165"/>
                <a:gd name="connsiteX3" fmla="*/ 9238 w 9795"/>
                <a:gd name="connsiteY3" fmla="*/ 8498 h 10165"/>
                <a:gd name="connsiteX4" fmla="*/ 9238 w 9795"/>
                <a:gd name="connsiteY4" fmla="*/ 8373 h 10165"/>
                <a:gd name="connsiteX0" fmla="*/ 2326 w 12326"/>
                <a:gd name="connsiteY0" fmla="*/ 2913 h 11931"/>
                <a:gd name="connsiteX1" fmla="*/ 250 w 12326"/>
                <a:gd name="connsiteY1" fmla="*/ 116 h 11931"/>
                <a:gd name="connsiteX2" fmla="*/ 3824 w 12326"/>
                <a:gd name="connsiteY2" fmla="*/ 3609 h 11931"/>
                <a:gd name="connsiteX3" fmla="*/ 8505 w 12326"/>
                <a:gd name="connsiteY3" fmla="*/ 10824 h 11931"/>
                <a:gd name="connsiteX4" fmla="*/ 11757 w 12326"/>
                <a:gd name="connsiteY4" fmla="*/ 10291 h 11931"/>
                <a:gd name="connsiteX5" fmla="*/ 11757 w 12326"/>
                <a:gd name="connsiteY5" fmla="*/ 10168 h 11931"/>
                <a:gd name="connsiteX0" fmla="*/ 0 w 10000"/>
                <a:gd name="connsiteY0" fmla="*/ 622 h 9640"/>
                <a:gd name="connsiteX1" fmla="*/ 1498 w 10000"/>
                <a:gd name="connsiteY1" fmla="*/ 1318 h 9640"/>
                <a:gd name="connsiteX2" fmla="*/ 6179 w 10000"/>
                <a:gd name="connsiteY2" fmla="*/ 8533 h 9640"/>
                <a:gd name="connsiteX3" fmla="*/ 9431 w 10000"/>
                <a:gd name="connsiteY3" fmla="*/ 8000 h 9640"/>
                <a:gd name="connsiteX4" fmla="*/ 9431 w 10000"/>
                <a:gd name="connsiteY4" fmla="*/ 7877 h 9640"/>
                <a:gd name="connsiteX0" fmla="*/ 0 w 10000"/>
                <a:gd name="connsiteY0" fmla="*/ 0 h 9355"/>
                <a:gd name="connsiteX1" fmla="*/ 1146 w 10000"/>
                <a:gd name="connsiteY1" fmla="*/ 2758 h 9355"/>
                <a:gd name="connsiteX2" fmla="*/ 6179 w 10000"/>
                <a:gd name="connsiteY2" fmla="*/ 8207 h 9355"/>
                <a:gd name="connsiteX3" fmla="*/ 9431 w 10000"/>
                <a:gd name="connsiteY3" fmla="*/ 7654 h 9355"/>
                <a:gd name="connsiteX4" fmla="*/ 9431 w 10000"/>
                <a:gd name="connsiteY4" fmla="*/ 7526 h 9355"/>
                <a:gd name="connsiteX0" fmla="*/ 0 w 10000"/>
                <a:gd name="connsiteY0" fmla="*/ 228 h 10228"/>
                <a:gd name="connsiteX1" fmla="*/ 2182 w 10000"/>
                <a:gd name="connsiteY1" fmla="*/ 491 h 10228"/>
                <a:gd name="connsiteX2" fmla="*/ 1146 w 10000"/>
                <a:gd name="connsiteY2" fmla="*/ 3176 h 10228"/>
                <a:gd name="connsiteX3" fmla="*/ 6179 w 10000"/>
                <a:gd name="connsiteY3" fmla="*/ 9001 h 10228"/>
                <a:gd name="connsiteX4" fmla="*/ 9431 w 10000"/>
                <a:gd name="connsiteY4" fmla="*/ 8410 h 10228"/>
                <a:gd name="connsiteX5" fmla="*/ 9431 w 10000"/>
                <a:gd name="connsiteY5" fmla="*/ 8273 h 10228"/>
                <a:gd name="connsiteX0" fmla="*/ 254 w 10254"/>
                <a:gd name="connsiteY0" fmla="*/ 0 h 10000"/>
                <a:gd name="connsiteX1" fmla="*/ 364 w 10254"/>
                <a:gd name="connsiteY1" fmla="*/ 2277 h 10000"/>
                <a:gd name="connsiteX2" fmla="*/ 2436 w 10254"/>
                <a:gd name="connsiteY2" fmla="*/ 263 h 10000"/>
                <a:gd name="connsiteX3" fmla="*/ 1400 w 10254"/>
                <a:gd name="connsiteY3" fmla="*/ 2948 h 10000"/>
                <a:gd name="connsiteX4" fmla="*/ 6433 w 10254"/>
                <a:gd name="connsiteY4" fmla="*/ 8773 h 10000"/>
                <a:gd name="connsiteX5" fmla="*/ 9685 w 10254"/>
                <a:gd name="connsiteY5" fmla="*/ 8182 h 10000"/>
                <a:gd name="connsiteX6" fmla="*/ 9685 w 10254"/>
                <a:gd name="connsiteY6" fmla="*/ 8045 h 10000"/>
                <a:gd name="connsiteX0" fmla="*/ 254 w 10254"/>
                <a:gd name="connsiteY0" fmla="*/ 0 h 10000"/>
                <a:gd name="connsiteX1" fmla="*/ 364 w 10254"/>
                <a:gd name="connsiteY1" fmla="*/ 2277 h 10000"/>
                <a:gd name="connsiteX2" fmla="*/ 1400 w 10254"/>
                <a:gd name="connsiteY2" fmla="*/ 2948 h 10000"/>
                <a:gd name="connsiteX3" fmla="*/ 6433 w 10254"/>
                <a:gd name="connsiteY3" fmla="*/ 8773 h 10000"/>
                <a:gd name="connsiteX4" fmla="*/ 9685 w 10254"/>
                <a:gd name="connsiteY4" fmla="*/ 8182 h 10000"/>
                <a:gd name="connsiteX5" fmla="*/ 9685 w 10254"/>
                <a:gd name="connsiteY5" fmla="*/ 8045 h 10000"/>
                <a:gd name="connsiteX0" fmla="*/ 0 w 10000"/>
                <a:gd name="connsiteY0" fmla="*/ 0 h 10000"/>
                <a:gd name="connsiteX1" fmla="*/ 1146 w 10000"/>
                <a:gd name="connsiteY1" fmla="*/ 2948 h 10000"/>
                <a:gd name="connsiteX2" fmla="*/ 6179 w 10000"/>
                <a:gd name="connsiteY2" fmla="*/ 8773 h 10000"/>
                <a:gd name="connsiteX3" fmla="*/ 9431 w 10000"/>
                <a:gd name="connsiteY3" fmla="*/ 8182 h 10000"/>
                <a:gd name="connsiteX4" fmla="*/ 9431 w 10000"/>
                <a:gd name="connsiteY4" fmla="*/ 8045 h 10000"/>
                <a:gd name="connsiteX0" fmla="*/ 0 w 10000"/>
                <a:gd name="connsiteY0" fmla="*/ 0 h 10000"/>
                <a:gd name="connsiteX1" fmla="*/ 1284 w 10000"/>
                <a:gd name="connsiteY1" fmla="*/ 3631 h 10000"/>
                <a:gd name="connsiteX2" fmla="*/ 6179 w 10000"/>
                <a:gd name="connsiteY2" fmla="*/ 8773 h 10000"/>
                <a:gd name="connsiteX3" fmla="*/ 9431 w 10000"/>
                <a:gd name="connsiteY3" fmla="*/ 8182 h 10000"/>
                <a:gd name="connsiteX4" fmla="*/ 9431 w 10000"/>
                <a:gd name="connsiteY4" fmla="*/ 8045 h 10000"/>
                <a:gd name="connsiteX0" fmla="*/ 0 w 10000"/>
                <a:gd name="connsiteY0" fmla="*/ 0 h 10000"/>
                <a:gd name="connsiteX1" fmla="*/ 1284 w 10000"/>
                <a:gd name="connsiteY1" fmla="*/ 3631 h 10000"/>
                <a:gd name="connsiteX2" fmla="*/ 2302 w 10000"/>
                <a:gd name="connsiteY2" fmla="*/ 5000 h 10000"/>
                <a:gd name="connsiteX3" fmla="*/ 6179 w 10000"/>
                <a:gd name="connsiteY3" fmla="*/ 8773 h 10000"/>
                <a:gd name="connsiteX4" fmla="*/ 9431 w 10000"/>
                <a:gd name="connsiteY4" fmla="*/ 8182 h 10000"/>
                <a:gd name="connsiteX5" fmla="*/ 9431 w 10000"/>
                <a:gd name="connsiteY5" fmla="*/ 8045 h 10000"/>
                <a:gd name="connsiteX0" fmla="*/ 0 w 10000"/>
                <a:gd name="connsiteY0" fmla="*/ 0 h 10000"/>
                <a:gd name="connsiteX1" fmla="*/ 1284 w 10000"/>
                <a:gd name="connsiteY1" fmla="*/ 3631 h 10000"/>
                <a:gd name="connsiteX2" fmla="*/ 2302 w 10000"/>
                <a:gd name="connsiteY2" fmla="*/ 5000 h 10000"/>
                <a:gd name="connsiteX3" fmla="*/ 6179 w 10000"/>
                <a:gd name="connsiteY3" fmla="*/ 8773 h 10000"/>
                <a:gd name="connsiteX4" fmla="*/ 9431 w 10000"/>
                <a:gd name="connsiteY4" fmla="*/ 8182 h 10000"/>
                <a:gd name="connsiteX5" fmla="*/ 9431 w 10000"/>
                <a:gd name="connsiteY5" fmla="*/ 8045 h 10000"/>
                <a:gd name="connsiteX0" fmla="*/ 6720 w 16720"/>
                <a:gd name="connsiteY0" fmla="*/ 0 h 10000"/>
                <a:gd name="connsiteX1" fmla="*/ 8004 w 16720"/>
                <a:gd name="connsiteY1" fmla="*/ 3631 h 10000"/>
                <a:gd name="connsiteX2" fmla="*/ 9022 w 16720"/>
                <a:gd name="connsiteY2" fmla="*/ 5000 h 10000"/>
                <a:gd name="connsiteX3" fmla="*/ 12899 w 16720"/>
                <a:gd name="connsiteY3" fmla="*/ 8773 h 10000"/>
                <a:gd name="connsiteX4" fmla="*/ 16151 w 16720"/>
                <a:gd name="connsiteY4" fmla="*/ 8182 h 10000"/>
                <a:gd name="connsiteX5" fmla="*/ 16151 w 16720"/>
                <a:gd name="connsiteY5" fmla="*/ 8045 h 10000"/>
                <a:gd name="connsiteX0" fmla="*/ 1824 w 11824"/>
                <a:gd name="connsiteY0" fmla="*/ 0 h 10000"/>
                <a:gd name="connsiteX1" fmla="*/ 3108 w 11824"/>
                <a:gd name="connsiteY1" fmla="*/ 3631 h 10000"/>
                <a:gd name="connsiteX2" fmla="*/ 170 w 11824"/>
                <a:gd name="connsiteY2" fmla="*/ 5830 h 10000"/>
                <a:gd name="connsiteX3" fmla="*/ 4126 w 11824"/>
                <a:gd name="connsiteY3" fmla="*/ 5000 h 10000"/>
                <a:gd name="connsiteX4" fmla="*/ 8003 w 11824"/>
                <a:gd name="connsiteY4" fmla="*/ 8773 h 10000"/>
                <a:gd name="connsiteX5" fmla="*/ 11255 w 11824"/>
                <a:gd name="connsiteY5" fmla="*/ 8182 h 10000"/>
                <a:gd name="connsiteX6" fmla="*/ 11255 w 11824"/>
                <a:gd name="connsiteY6" fmla="*/ 8045 h 10000"/>
                <a:gd name="connsiteX0" fmla="*/ 0 w 10000"/>
                <a:gd name="connsiteY0" fmla="*/ 0 h 10000"/>
                <a:gd name="connsiteX1" fmla="*/ 1284 w 10000"/>
                <a:gd name="connsiteY1" fmla="*/ 3631 h 10000"/>
                <a:gd name="connsiteX2" fmla="*/ 1284 w 10000"/>
                <a:gd name="connsiteY2" fmla="*/ 4795 h 10000"/>
                <a:gd name="connsiteX3" fmla="*/ 2302 w 10000"/>
                <a:gd name="connsiteY3" fmla="*/ 5000 h 10000"/>
                <a:gd name="connsiteX4" fmla="*/ 6179 w 10000"/>
                <a:gd name="connsiteY4" fmla="*/ 8773 h 10000"/>
                <a:gd name="connsiteX5" fmla="*/ 9431 w 10000"/>
                <a:gd name="connsiteY5" fmla="*/ 8182 h 10000"/>
                <a:gd name="connsiteX6" fmla="*/ 9431 w 10000"/>
                <a:gd name="connsiteY6" fmla="*/ 8045 h 10000"/>
                <a:gd name="connsiteX0" fmla="*/ 170 w 10170"/>
                <a:gd name="connsiteY0" fmla="*/ 0 h 10000"/>
                <a:gd name="connsiteX1" fmla="*/ 1454 w 10170"/>
                <a:gd name="connsiteY1" fmla="*/ 3631 h 10000"/>
                <a:gd name="connsiteX2" fmla="*/ 170 w 10170"/>
                <a:gd name="connsiteY2" fmla="*/ 4795 h 10000"/>
                <a:gd name="connsiteX3" fmla="*/ 2472 w 10170"/>
                <a:gd name="connsiteY3" fmla="*/ 5000 h 10000"/>
                <a:gd name="connsiteX4" fmla="*/ 6349 w 10170"/>
                <a:gd name="connsiteY4" fmla="*/ 8773 h 10000"/>
                <a:gd name="connsiteX5" fmla="*/ 9601 w 10170"/>
                <a:gd name="connsiteY5" fmla="*/ 8182 h 10000"/>
                <a:gd name="connsiteX6" fmla="*/ 9601 w 10170"/>
                <a:gd name="connsiteY6" fmla="*/ 8045 h 10000"/>
                <a:gd name="connsiteX0" fmla="*/ 170 w 10170"/>
                <a:gd name="connsiteY0" fmla="*/ 0 h 10000"/>
                <a:gd name="connsiteX1" fmla="*/ 1454 w 10170"/>
                <a:gd name="connsiteY1" fmla="*/ 3631 h 10000"/>
                <a:gd name="connsiteX2" fmla="*/ 170 w 10170"/>
                <a:gd name="connsiteY2" fmla="*/ 4795 h 10000"/>
                <a:gd name="connsiteX3" fmla="*/ 2472 w 10170"/>
                <a:gd name="connsiteY3" fmla="*/ 5000 h 10000"/>
                <a:gd name="connsiteX4" fmla="*/ 6349 w 10170"/>
                <a:gd name="connsiteY4" fmla="*/ 8773 h 10000"/>
                <a:gd name="connsiteX5" fmla="*/ 9601 w 10170"/>
                <a:gd name="connsiteY5" fmla="*/ 8182 h 10000"/>
                <a:gd name="connsiteX6" fmla="*/ 9601 w 10170"/>
                <a:gd name="connsiteY6" fmla="*/ 8045 h 10000"/>
                <a:gd name="connsiteX0" fmla="*/ 27304 w 37304"/>
                <a:gd name="connsiteY0" fmla="*/ 0 h 10000"/>
                <a:gd name="connsiteX1" fmla="*/ 28588 w 37304"/>
                <a:gd name="connsiteY1" fmla="*/ 3631 h 10000"/>
                <a:gd name="connsiteX2" fmla="*/ 27304 w 37304"/>
                <a:gd name="connsiteY2" fmla="*/ 4795 h 10000"/>
                <a:gd name="connsiteX3" fmla="*/ 29606 w 37304"/>
                <a:gd name="connsiteY3" fmla="*/ 5000 h 10000"/>
                <a:gd name="connsiteX4" fmla="*/ 33483 w 37304"/>
                <a:gd name="connsiteY4" fmla="*/ 8773 h 10000"/>
                <a:gd name="connsiteX5" fmla="*/ 36735 w 37304"/>
                <a:gd name="connsiteY5" fmla="*/ 8182 h 10000"/>
                <a:gd name="connsiteX6" fmla="*/ 36735 w 37304"/>
                <a:gd name="connsiteY6" fmla="*/ 8045 h 10000"/>
                <a:gd name="connsiteX0" fmla="*/ 0 w 10000"/>
                <a:gd name="connsiteY0" fmla="*/ 0 h 10000"/>
                <a:gd name="connsiteX1" fmla="*/ 1284 w 10000"/>
                <a:gd name="connsiteY1" fmla="*/ 3631 h 10000"/>
                <a:gd name="connsiteX2" fmla="*/ 2302 w 10000"/>
                <a:gd name="connsiteY2" fmla="*/ 5000 h 10000"/>
                <a:gd name="connsiteX3" fmla="*/ 6179 w 10000"/>
                <a:gd name="connsiteY3" fmla="*/ 8773 h 10000"/>
                <a:gd name="connsiteX4" fmla="*/ 9431 w 10000"/>
                <a:gd name="connsiteY4" fmla="*/ 8182 h 10000"/>
                <a:gd name="connsiteX5" fmla="*/ 9431 w 10000"/>
                <a:gd name="connsiteY5" fmla="*/ 8045 h 10000"/>
                <a:gd name="connsiteX0" fmla="*/ 0 w 10000"/>
                <a:gd name="connsiteY0" fmla="*/ 0 h 9368"/>
                <a:gd name="connsiteX1" fmla="*/ 1284 w 10000"/>
                <a:gd name="connsiteY1" fmla="*/ 3631 h 9368"/>
                <a:gd name="connsiteX2" fmla="*/ 2302 w 10000"/>
                <a:gd name="connsiteY2" fmla="*/ 5000 h 9368"/>
                <a:gd name="connsiteX3" fmla="*/ 6179 w 10000"/>
                <a:gd name="connsiteY3" fmla="*/ 8773 h 9368"/>
                <a:gd name="connsiteX4" fmla="*/ 9431 w 10000"/>
                <a:gd name="connsiteY4" fmla="*/ 8182 h 9368"/>
                <a:gd name="connsiteX5" fmla="*/ 9431 w 10000"/>
                <a:gd name="connsiteY5" fmla="*/ 8045 h 9368"/>
                <a:gd name="connsiteX0" fmla="*/ 0 w 10000"/>
                <a:gd name="connsiteY0" fmla="*/ 0 h 10000"/>
                <a:gd name="connsiteX1" fmla="*/ 1284 w 10000"/>
                <a:gd name="connsiteY1" fmla="*/ 3876 h 10000"/>
                <a:gd name="connsiteX2" fmla="*/ 2302 w 10000"/>
                <a:gd name="connsiteY2" fmla="*/ 5337 h 10000"/>
                <a:gd name="connsiteX3" fmla="*/ 6179 w 10000"/>
                <a:gd name="connsiteY3" fmla="*/ 9365 h 10000"/>
                <a:gd name="connsiteX4" fmla="*/ 9431 w 10000"/>
                <a:gd name="connsiteY4" fmla="*/ 8734 h 10000"/>
                <a:gd name="connsiteX5" fmla="*/ 9431 w 10000"/>
                <a:gd name="connsiteY5" fmla="*/ 8588 h 10000"/>
                <a:gd name="connsiteX0" fmla="*/ 0 w 9683"/>
                <a:gd name="connsiteY0" fmla="*/ 0 h 9558"/>
                <a:gd name="connsiteX1" fmla="*/ 1284 w 9683"/>
                <a:gd name="connsiteY1" fmla="*/ 3876 h 9558"/>
                <a:gd name="connsiteX2" fmla="*/ 6179 w 9683"/>
                <a:gd name="connsiteY2" fmla="*/ 9365 h 9558"/>
                <a:gd name="connsiteX3" fmla="*/ 9431 w 9683"/>
                <a:gd name="connsiteY3" fmla="*/ 8734 h 9558"/>
                <a:gd name="connsiteX4" fmla="*/ 9431 w 9683"/>
                <a:gd name="connsiteY4" fmla="*/ 8588 h 9558"/>
                <a:gd name="connsiteX0" fmla="*/ 0 w 10000"/>
                <a:gd name="connsiteY0" fmla="*/ 0 h 10000"/>
                <a:gd name="connsiteX1" fmla="*/ 6381 w 10000"/>
                <a:gd name="connsiteY1" fmla="*/ 9798 h 10000"/>
                <a:gd name="connsiteX2" fmla="*/ 9740 w 10000"/>
                <a:gd name="connsiteY2" fmla="*/ 9138 h 10000"/>
                <a:gd name="connsiteX3" fmla="*/ 9740 w 10000"/>
                <a:gd name="connsiteY3" fmla="*/ 8985 h 10000"/>
                <a:gd name="connsiteX0" fmla="*/ 0 w 10000"/>
                <a:gd name="connsiteY0" fmla="*/ 0 h 9138"/>
                <a:gd name="connsiteX1" fmla="*/ 9740 w 10000"/>
                <a:gd name="connsiteY1" fmla="*/ 9138 h 9138"/>
                <a:gd name="connsiteX2" fmla="*/ 9740 w 10000"/>
                <a:gd name="connsiteY2" fmla="*/ 8985 h 9138"/>
                <a:gd name="connsiteX0" fmla="*/ 0 w 9740"/>
                <a:gd name="connsiteY0" fmla="*/ 0 h 10000"/>
                <a:gd name="connsiteX1" fmla="*/ 9740 w 9740"/>
                <a:gd name="connsiteY1" fmla="*/ 10000 h 10000"/>
                <a:gd name="connsiteX0" fmla="*/ 0 w 10000"/>
                <a:gd name="connsiteY0" fmla="*/ 0 h 10482"/>
                <a:gd name="connsiteX1" fmla="*/ 10000 w 10000"/>
                <a:gd name="connsiteY1" fmla="*/ 10000 h 10482"/>
                <a:gd name="connsiteX0" fmla="*/ 0 w 10000"/>
                <a:gd name="connsiteY0" fmla="*/ 0 h 10476"/>
                <a:gd name="connsiteX1" fmla="*/ 10000 w 10000"/>
                <a:gd name="connsiteY1" fmla="*/ 10000 h 10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476">
                  <a:moveTo>
                    <a:pt x="0" y="0"/>
                  </a:moveTo>
                  <a:cubicBezTo>
                    <a:pt x="432" y="3179"/>
                    <a:pt x="5797" y="12702"/>
                    <a:pt x="10000" y="10000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7598" name="Freeform 14"/>
            <p:cNvSpPr>
              <a:spLocks/>
            </p:cNvSpPr>
            <p:nvPr/>
          </p:nvSpPr>
          <p:spPr bwMode="auto">
            <a:xfrm>
              <a:off x="4645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4718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9" name="Freeform 14"/>
            <p:cNvSpPr>
              <a:spLocks/>
            </p:cNvSpPr>
            <p:nvPr/>
          </p:nvSpPr>
          <p:spPr bwMode="auto">
            <a:xfrm>
              <a:off x="4790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4863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Freeform 14"/>
            <p:cNvSpPr>
              <a:spLocks/>
            </p:cNvSpPr>
            <p:nvPr/>
          </p:nvSpPr>
          <p:spPr bwMode="auto">
            <a:xfrm>
              <a:off x="4935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2" name="Freeform 14"/>
            <p:cNvSpPr>
              <a:spLocks/>
            </p:cNvSpPr>
            <p:nvPr/>
          </p:nvSpPr>
          <p:spPr bwMode="auto">
            <a:xfrm>
              <a:off x="5007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5080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auto">
            <a:xfrm>
              <a:off x="5152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5225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6" name="Freeform 14"/>
            <p:cNvSpPr>
              <a:spLocks/>
            </p:cNvSpPr>
            <p:nvPr/>
          </p:nvSpPr>
          <p:spPr bwMode="auto">
            <a:xfrm>
              <a:off x="5297" y="1939"/>
              <a:ext cx="66" cy="218"/>
            </a:xfrm>
            <a:custGeom>
              <a:avLst/>
              <a:gdLst>
                <a:gd name="connsiteX0" fmla="*/ 0 w 9683"/>
                <a:gd name="connsiteY0" fmla="*/ 0 h 7455"/>
                <a:gd name="connsiteX1" fmla="*/ 6179 w 9683"/>
                <a:gd name="connsiteY1" fmla="*/ 7095 h 7455"/>
                <a:gd name="connsiteX2" fmla="*/ 9431 w 9683"/>
                <a:gd name="connsiteY2" fmla="*/ 6617 h 7455"/>
                <a:gd name="connsiteX3" fmla="*/ 9431 w 9683"/>
                <a:gd name="connsiteY3" fmla="*/ 6507 h 7455"/>
                <a:gd name="connsiteX0" fmla="*/ 0 w 10000"/>
                <a:gd name="connsiteY0" fmla="*/ 0 h 8876"/>
                <a:gd name="connsiteX1" fmla="*/ 9740 w 10000"/>
                <a:gd name="connsiteY1" fmla="*/ 8876 h 8876"/>
                <a:gd name="connsiteX2" fmla="*/ 9740 w 10000"/>
                <a:gd name="connsiteY2" fmla="*/ 8728 h 8876"/>
                <a:gd name="connsiteX0" fmla="*/ 0 w 10000"/>
                <a:gd name="connsiteY0" fmla="*/ 1783 h 11783"/>
                <a:gd name="connsiteX1" fmla="*/ 9740 w 10000"/>
                <a:gd name="connsiteY1" fmla="*/ 11783 h 11783"/>
                <a:gd name="connsiteX2" fmla="*/ 9740 w 10000"/>
                <a:gd name="connsiteY2" fmla="*/ 11616 h 11783"/>
                <a:gd name="connsiteX0" fmla="*/ 0 w 9780"/>
                <a:gd name="connsiteY0" fmla="*/ 1783 h 15465"/>
                <a:gd name="connsiteX1" fmla="*/ 9740 w 9780"/>
                <a:gd name="connsiteY1" fmla="*/ 11783 h 15465"/>
                <a:gd name="connsiteX2" fmla="*/ 4275 w 9780"/>
                <a:gd name="connsiteY2" fmla="*/ 15465 h 15465"/>
                <a:gd name="connsiteX0" fmla="*/ 0 w 9959"/>
                <a:gd name="connsiteY0" fmla="*/ 1153 h 7619"/>
                <a:gd name="connsiteX1" fmla="*/ 9959 w 9959"/>
                <a:gd name="connsiteY1" fmla="*/ 7619 h 7619"/>
                <a:gd name="connsiteX0" fmla="*/ 0 w 10000"/>
                <a:gd name="connsiteY0" fmla="*/ 1036 h 10266"/>
                <a:gd name="connsiteX1" fmla="*/ 10000 w 10000"/>
                <a:gd name="connsiteY1" fmla="*/ 9523 h 1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266">
                  <a:moveTo>
                    <a:pt x="0" y="1036"/>
                  </a:moveTo>
                  <a:cubicBezTo>
                    <a:pt x="2294" y="-4493"/>
                    <a:pt x="5835" y="14142"/>
                    <a:pt x="10000" y="9523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7606" name="Line 22"/>
          <p:cNvSpPr>
            <a:spLocks noChangeShapeType="1"/>
          </p:cNvSpPr>
          <p:nvPr/>
        </p:nvSpPr>
        <p:spPr bwMode="auto">
          <a:xfrm>
            <a:off x="3110951" y="2739215"/>
            <a:ext cx="0" cy="600124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07" name="Line 23"/>
          <p:cNvSpPr>
            <a:spLocks noChangeShapeType="1"/>
          </p:cNvSpPr>
          <p:nvPr/>
        </p:nvSpPr>
        <p:spPr bwMode="auto">
          <a:xfrm>
            <a:off x="5103551" y="2754843"/>
            <a:ext cx="0" cy="525109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09" name="Line 25"/>
          <p:cNvSpPr>
            <a:spLocks noChangeShapeType="1"/>
          </p:cNvSpPr>
          <p:nvPr/>
        </p:nvSpPr>
        <p:spPr bwMode="auto">
          <a:xfrm>
            <a:off x="3096886" y="2759532"/>
            <a:ext cx="81266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13" name="Line 29"/>
          <p:cNvSpPr>
            <a:spLocks noChangeShapeType="1"/>
          </p:cNvSpPr>
          <p:nvPr/>
        </p:nvSpPr>
        <p:spPr bwMode="auto">
          <a:xfrm>
            <a:off x="5628660" y="3354968"/>
            <a:ext cx="0" cy="359449"/>
          </a:xfrm>
          <a:prstGeom prst="line">
            <a:avLst/>
          </a:prstGeom>
          <a:noFill/>
          <a:ln w="50800">
            <a:solidFill>
              <a:schemeClr val="accent3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15" name="Line 31"/>
          <p:cNvSpPr>
            <a:spLocks noChangeShapeType="1"/>
          </p:cNvSpPr>
          <p:nvPr/>
        </p:nvSpPr>
        <p:spPr bwMode="auto">
          <a:xfrm>
            <a:off x="3203158" y="4555216"/>
            <a:ext cx="1193997" cy="0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17" name="Line 33"/>
          <p:cNvSpPr>
            <a:spLocks noChangeShapeType="1"/>
          </p:cNvSpPr>
          <p:nvPr/>
        </p:nvSpPr>
        <p:spPr bwMode="auto">
          <a:xfrm>
            <a:off x="6078753" y="3508421"/>
            <a:ext cx="0" cy="1070533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4411220" y="4342672"/>
            <a:ext cx="128152" cy="437591"/>
            <a:chOff x="4896" y="2208"/>
            <a:chExt cx="48" cy="192"/>
          </a:xfrm>
        </p:grpSpPr>
        <p:sp>
          <p:nvSpPr>
            <p:cNvPr id="67620" name="Line 36"/>
            <p:cNvSpPr>
              <a:spLocks noChangeShapeType="1"/>
            </p:cNvSpPr>
            <p:nvPr/>
          </p:nvSpPr>
          <p:spPr bwMode="auto">
            <a:xfrm>
              <a:off x="4896" y="2208"/>
              <a:ext cx="0" cy="192"/>
            </a:xfrm>
            <a:prstGeom prst="line">
              <a:avLst/>
            </a:prstGeom>
            <a:noFill/>
            <a:ln w="508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7621" name="Line 37"/>
            <p:cNvSpPr>
              <a:spLocks noChangeShapeType="1"/>
            </p:cNvSpPr>
            <p:nvPr/>
          </p:nvSpPr>
          <p:spPr bwMode="auto">
            <a:xfrm>
              <a:off x="4944" y="2256"/>
              <a:ext cx="0" cy="96"/>
            </a:xfrm>
            <a:prstGeom prst="line">
              <a:avLst/>
            </a:prstGeom>
            <a:noFill/>
            <a:ln w="508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7622" name="Line 38"/>
          <p:cNvSpPr>
            <a:spLocks noChangeShapeType="1"/>
          </p:cNvSpPr>
          <p:nvPr/>
        </p:nvSpPr>
        <p:spPr bwMode="auto">
          <a:xfrm flipV="1">
            <a:off x="4539372" y="4555216"/>
            <a:ext cx="1539381" cy="4688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23" name="Line 39"/>
          <p:cNvSpPr>
            <a:spLocks noChangeShapeType="1"/>
          </p:cNvSpPr>
          <p:nvPr/>
        </p:nvSpPr>
        <p:spPr bwMode="auto">
          <a:xfrm>
            <a:off x="5053467" y="3725430"/>
            <a:ext cx="598636" cy="0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25" name="Line 41"/>
          <p:cNvSpPr>
            <a:spLocks noChangeShapeType="1"/>
          </p:cNvSpPr>
          <p:nvPr/>
        </p:nvSpPr>
        <p:spPr bwMode="auto">
          <a:xfrm flipV="1">
            <a:off x="5628660" y="3504999"/>
            <a:ext cx="150031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67628" name="Object 44"/>
          <p:cNvGraphicFramePr>
            <a:graphicFrameLocks noChangeAspect="1"/>
          </p:cNvGraphicFramePr>
          <p:nvPr/>
        </p:nvGraphicFramePr>
        <p:xfrm>
          <a:off x="2579591" y="2687642"/>
          <a:ext cx="459470" cy="48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38"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591" y="2687642"/>
                        <a:ext cx="459470" cy="48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6106884" y="3600331"/>
          <a:ext cx="442279" cy="495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39"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6884" y="3600331"/>
                        <a:ext cx="442279" cy="4954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31" name="Line 47"/>
          <p:cNvSpPr>
            <a:spLocks noChangeShapeType="1"/>
          </p:cNvSpPr>
          <p:nvPr/>
        </p:nvSpPr>
        <p:spPr bwMode="auto">
          <a:xfrm>
            <a:off x="4456542" y="2754843"/>
            <a:ext cx="68139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33" name="Oval 49"/>
          <p:cNvSpPr>
            <a:spLocks noChangeArrowheads="1"/>
          </p:cNvSpPr>
          <p:nvPr/>
        </p:nvSpPr>
        <p:spPr bwMode="auto">
          <a:xfrm>
            <a:off x="3842352" y="2717336"/>
            <a:ext cx="75016" cy="75016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34" name="Oval 50"/>
          <p:cNvSpPr>
            <a:spLocks noChangeArrowheads="1"/>
          </p:cNvSpPr>
          <p:nvPr/>
        </p:nvSpPr>
        <p:spPr bwMode="auto">
          <a:xfrm>
            <a:off x="4428411" y="2717336"/>
            <a:ext cx="75016" cy="75016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35" name="Rectangle 51"/>
          <p:cNvSpPr>
            <a:spLocks noChangeArrowheads="1"/>
          </p:cNvSpPr>
          <p:nvPr/>
        </p:nvSpPr>
        <p:spPr bwMode="auto">
          <a:xfrm>
            <a:off x="5577087" y="3354968"/>
            <a:ext cx="75016" cy="300062"/>
          </a:xfrm>
          <a:prstGeom prst="rect">
            <a:avLst/>
          </a:prstGeom>
          <a:solidFill>
            <a:srgbClr val="CC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37" name="Oval 53"/>
          <p:cNvSpPr>
            <a:spLocks noChangeArrowheads="1"/>
          </p:cNvSpPr>
          <p:nvPr/>
        </p:nvSpPr>
        <p:spPr bwMode="auto">
          <a:xfrm>
            <a:off x="5778691" y="3354968"/>
            <a:ext cx="75016" cy="300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38" name="Line 54"/>
          <p:cNvSpPr>
            <a:spLocks noChangeShapeType="1"/>
          </p:cNvSpPr>
          <p:nvPr/>
        </p:nvSpPr>
        <p:spPr bwMode="auto">
          <a:xfrm flipV="1">
            <a:off x="5853706" y="3504999"/>
            <a:ext cx="253178" cy="0"/>
          </a:xfrm>
          <a:prstGeom prst="line">
            <a:avLst/>
          </a:prstGeom>
          <a:noFill/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41" name="Rectangle 57"/>
          <p:cNvSpPr>
            <a:spLocks noChangeArrowheads="1"/>
          </p:cNvSpPr>
          <p:nvPr/>
        </p:nvSpPr>
        <p:spPr bwMode="auto">
          <a:xfrm>
            <a:off x="2853085" y="3730045"/>
            <a:ext cx="75016" cy="37507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643" name="Text Box 59"/>
          <p:cNvSpPr txBox="1">
            <a:spLocks noChangeArrowheads="1"/>
          </p:cNvSpPr>
          <p:nvPr/>
        </p:nvSpPr>
        <p:spPr bwMode="auto">
          <a:xfrm>
            <a:off x="5403613" y="2979890"/>
            <a:ext cx="600124" cy="41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M</a:t>
            </a:r>
          </a:p>
        </p:txBody>
      </p:sp>
      <p:sp>
        <p:nvSpPr>
          <p:cNvPr id="67644" name="Text Box 60"/>
          <p:cNvSpPr txBox="1">
            <a:spLocks noChangeArrowheads="1"/>
          </p:cNvSpPr>
          <p:nvPr/>
        </p:nvSpPr>
        <p:spPr bwMode="auto">
          <a:xfrm>
            <a:off x="5778691" y="2951759"/>
            <a:ext cx="375078" cy="41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D</a:t>
            </a:r>
          </a:p>
        </p:txBody>
      </p:sp>
      <p:sp>
        <p:nvSpPr>
          <p:cNvPr id="67645" name="Text Box 61"/>
          <p:cNvSpPr txBox="1">
            <a:spLocks noChangeArrowheads="1"/>
          </p:cNvSpPr>
          <p:nvPr/>
        </p:nvSpPr>
        <p:spPr bwMode="auto">
          <a:xfrm>
            <a:off x="3753272" y="2782974"/>
            <a:ext cx="525109" cy="41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A</a:t>
            </a:r>
          </a:p>
        </p:txBody>
      </p:sp>
      <p:sp>
        <p:nvSpPr>
          <p:cNvPr id="67646" name="Text Box 62"/>
          <p:cNvSpPr txBox="1">
            <a:spLocks noChangeArrowheads="1"/>
          </p:cNvSpPr>
          <p:nvPr/>
        </p:nvSpPr>
        <p:spPr bwMode="auto">
          <a:xfrm>
            <a:off x="4278380" y="2782974"/>
            <a:ext cx="525109" cy="415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B</a:t>
            </a:r>
          </a:p>
        </p:txBody>
      </p:sp>
      <p:sp>
        <p:nvSpPr>
          <p:cNvPr id="67589" name="Freeform 5"/>
          <p:cNvSpPr>
            <a:spLocks/>
          </p:cNvSpPr>
          <p:nvPr/>
        </p:nvSpPr>
        <p:spPr bwMode="auto">
          <a:xfrm>
            <a:off x="3198483" y="3266869"/>
            <a:ext cx="392031" cy="489488"/>
          </a:xfrm>
          <a:custGeom>
            <a:avLst/>
            <a:gdLst>
              <a:gd name="connsiteX0" fmla="*/ 0 w 9683"/>
              <a:gd name="connsiteY0" fmla="*/ 0 h 7455"/>
              <a:gd name="connsiteX1" fmla="*/ 6179 w 9683"/>
              <a:gd name="connsiteY1" fmla="*/ 7095 h 7455"/>
              <a:gd name="connsiteX2" fmla="*/ 9431 w 9683"/>
              <a:gd name="connsiteY2" fmla="*/ 6617 h 7455"/>
              <a:gd name="connsiteX3" fmla="*/ 9431 w 9683"/>
              <a:gd name="connsiteY3" fmla="*/ 6507 h 7455"/>
              <a:gd name="connsiteX0" fmla="*/ 0 w 10000"/>
              <a:gd name="connsiteY0" fmla="*/ 0 h 8876"/>
              <a:gd name="connsiteX1" fmla="*/ 9740 w 10000"/>
              <a:gd name="connsiteY1" fmla="*/ 8876 h 8876"/>
              <a:gd name="connsiteX2" fmla="*/ 9740 w 10000"/>
              <a:gd name="connsiteY2" fmla="*/ 8728 h 8876"/>
              <a:gd name="connsiteX0" fmla="*/ 0 w 10000"/>
              <a:gd name="connsiteY0" fmla="*/ 3984 h 13984"/>
              <a:gd name="connsiteX1" fmla="*/ 9740 w 10000"/>
              <a:gd name="connsiteY1" fmla="*/ 13984 h 13984"/>
              <a:gd name="connsiteX2" fmla="*/ 9740 w 10000"/>
              <a:gd name="connsiteY2" fmla="*/ 13817 h 13984"/>
              <a:gd name="connsiteX0" fmla="*/ 0 w 9798"/>
              <a:gd name="connsiteY0" fmla="*/ 3984 h 18436"/>
              <a:gd name="connsiteX1" fmla="*/ 9740 w 9798"/>
              <a:gd name="connsiteY1" fmla="*/ 13984 h 18436"/>
              <a:gd name="connsiteX2" fmla="*/ 6325 w 9798"/>
              <a:gd name="connsiteY2" fmla="*/ 18436 h 18436"/>
              <a:gd name="connsiteX0" fmla="*/ 0 w 9941"/>
              <a:gd name="connsiteY0" fmla="*/ 2161 h 7585"/>
              <a:gd name="connsiteX1" fmla="*/ 9941 w 9941"/>
              <a:gd name="connsiteY1" fmla="*/ 7585 h 7585"/>
              <a:gd name="connsiteX0" fmla="*/ 0 w 10000"/>
              <a:gd name="connsiteY0" fmla="*/ 2078 h 10141"/>
              <a:gd name="connsiteX1" fmla="*/ 10000 w 10000"/>
              <a:gd name="connsiteY1" fmla="*/ 9229 h 10141"/>
              <a:gd name="connsiteX0" fmla="*/ 0 w 10000"/>
              <a:gd name="connsiteY0" fmla="*/ 1111 h 9292"/>
              <a:gd name="connsiteX1" fmla="*/ 10000 w 10000"/>
              <a:gd name="connsiteY1" fmla="*/ 8262 h 9292"/>
              <a:gd name="connsiteX0" fmla="*/ 0 w 10000"/>
              <a:gd name="connsiteY0" fmla="*/ 1284 h 9614"/>
              <a:gd name="connsiteX1" fmla="*/ 10000 w 10000"/>
              <a:gd name="connsiteY1" fmla="*/ 8980 h 9614"/>
              <a:gd name="connsiteX0" fmla="*/ 0 w 9648"/>
              <a:gd name="connsiteY0" fmla="*/ 1296 h 10630"/>
              <a:gd name="connsiteX1" fmla="*/ 9648 w 9648"/>
              <a:gd name="connsiteY1" fmla="*/ 9991 h 10630"/>
              <a:gd name="connsiteX0" fmla="*/ 0 w 10000"/>
              <a:gd name="connsiteY0" fmla="*/ 883 h 9697"/>
              <a:gd name="connsiteX1" fmla="*/ 10000 w 10000"/>
              <a:gd name="connsiteY1" fmla="*/ 9063 h 9697"/>
              <a:gd name="connsiteX0" fmla="*/ 0 w 10000"/>
              <a:gd name="connsiteY0" fmla="*/ 947 h 9827"/>
              <a:gd name="connsiteX1" fmla="*/ 10000 w 10000"/>
              <a:gd name="connsiteY1" fmla="*/ 9382 h 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827">
                <a:moveTo>
                  <a:pt x="0" y="947"/>
                </a:moveTo>
                <a:cubicBezTo>
                  <a:pt x="2056" y="-4085"/>
                  <a:pt x="7045" y="12731"/>
                  <a:pt x="10000" y="9382"/>
                </a:cubicBezTo>
              </a:path>
            </a:pathLst>
          </a:custGeom>
          <a:noFill/>
          <a:ln w="50800">
            <a:solidFill>
              <a:schemeClr val="bg1">
                <a:lumMod val="75000"/>
              </a:schemeClr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Line 21"/>
          <p:cNvSpPr>
            <a:spLocks noChangeShapeType="1"/>
          </p:cNvSpPr>
          <p:nvPr/>
        </p:nvSpPr>
        <p:spPr bwMode="auto">
          <a:xfrm>
            <a:off x="3207924" y="3815549"/>
            <a:ext cx="22055" cy="744355"/>
          </a:xfrm>
          <a:prstGeom prst="line">
            <a:avLst/>
          </a:prstGeom>
          <a:noFill/>
          <a:ln w="508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5" name="Freeform 5"/>
          <p:cNvSpPr>
            <a:spLocks/>
          </p:cNvSpPr>
          <p:nvPr/>
        </p:nvSpPr>
        <p:spPr bwMode="auto">
          <a:xfrm>
            <a:off x="3687721" y="3266869"/>
            <a:ext cx="392031" cy="489488"/>
          </a:xfrm>
          <a:custGeom>
            <a:avLst/>
            <a:gdLst>
              <a:gd name="connsiteX0" fmla="*/ 0 w 9683"/>
              <a:gd name="connsiteY0" fmla="*/ 0 h 7455"/>
              <a:gd name="connsiteX1" fmla="*/ 6179 w 9683"/>
              <a:gd name="connsiteY1" fmla="*/ 7095 h 7455"/>
              <a:gd name="connsiteX2" fmla="*/ 9431 w 9683"/>
              <a:gd name="connsiteY2" fmla="*/ 6617 h 7455"/>
              <a:gd name="connsiteX3" fmla="*/ 9431 w 9683"/>
              <a:gd name="connsiteY3" fmla="*/ 6507 h 7455"/>
              <a:gd name="connsiteX0" fmla="*/ 0 w 10000"/>
              <a:gd name="connsiteY0" fmla="*/ 0 h 8876"/>
              <a:gd name="connsiteX1" fmla="*/ 9740 w 10000"/>
              <a:gd name="connsiteY1" fmla="*/ 8876 h 8876"/>
              <a:gd name="connsiteX2" fmla="*/ 9740 w 10000"/>
              <a:gd name="connsiteY2" fmla="*/ 8728 h 8876"/>
              <a:gd name="connsiteX0" fmla="*/ 0 w 10000"/>
              <a:gd name="connsiteY0" fmla="*/ 3984 h 13984"/>
              <a:gd name="connsiteX1" fmla="*/ 9740 w 10000"/>
              <a:gd name="connsiteY1" fmla="*/ 13984 h 13984"/>
              <a:gd name="connsiteX2" fmla="*/ 9740 w 10000"/>
              <a:gd name="connsiteY2" fmla="*/ 13817 h 13984"/>
              <a:gd name="connsiteX0" fmla="*/ 0 w 9798"/>
              <a:gd name="connsiteY0" fmla="*/ 3984 h 18436"/>
              <a:gd name="connsiteX1" fmla="*/ 9740 w 9798"/>
              <a:gd name="connsiteY1" fmla="*/ 13984 h 18436"/>
              <a:gd name="connsiteX2" fmla="*/ 6325 w 9798"/>
              <a:gd name="connsiteY2" fmla="*/ 18436 h 18436"/>
              <a:gd name="connsiteX0" fmla="*/ 0 w 9941"/>
              <a:gd name="connsiteY0" fmla="*/ 2161 h 7585"/>
              <a:gd name="connsiteX1" fmla="*/ 9941 w 9941"/>
              <a:gd name="connsiteY1" fmla="*/ 7585 h 7585"/>
              <a:gd name="connsiteX0" fmla="*/ 0 w 10000"/>
              <a:gd name="connsiteY0" fmla="*/ 2078 h 10141"/>
              <a:gd name="connsiteX1" fmla="*/ 10000 w 10000"/>
              <a:gd name="connsiteY1" fmla="*/ 9229 h 10141"/>
              <a:gd name="connsiteX0" fmla="*/ 0 w 10000"/>
              <a:gd name="connsiteY0" fmla="*/ 1111 h 9292"/>
              <a:gd name="connsiteX1" fmla="*/ 10000 w 10000"/>
              <a:gd name="connsiteY1" fmla="*/ 8262 h 9292"/>
              <a:gd name="connsiteX0" fmla="*/ 0 w 10000"/>
              <a:gd name="connsiteY0" fmla="*/ 1284 h 9614"/>
              <a:gd name="connsiteX1" fmla="*/ 10000 w 10000"/>
              <a:gd name="connsiteY1" fmla="*/ 8980 h 9614"/>
              <a:gd name="connsiteX0" fmla="*/ 0 w 9648"/>
              <a:gd name="connsiteY0" fmla="*/ 1296 h 10630"/>
              <a:gd name="connsiteX1" fmla="*/ 9648 w 9648"/>
              <a:gd name="connsiteY1" fmla="*/ 9991 h 10630"/>
              <a:gd name="connsiteX0" fmla="*/ 0 w 10000"/>
              <a:gd name="connsiteY0" fmla="*/ 883 h 9697"/>
              <a:gd name="connsiteX1" fmla="*/ 10000 w 10000"/>
              <a:gd name="connsiteY1" fmla="*/ 9063 h 9697"/>
              <a:gd name="connsiteX0" fmla="*/ 0 w 10000"/>
              <a:gd name="connsiteY0" fmla="*/ 947 h 9827"/>
              <a:gd name="connsiteX1" fmla="*/ 10000 w 10000"/>
              <a:gd name="connsiteY1" fmla="*/ 9382 h 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827">
                <a:moveTo>
                  <a:pt x="0" y="947"/>
                </a:moveTo>
                <a:cubicBezTo>
                  <a:pt x="2056" y="-4085"/>
                  <a:pt x="7045" y="12731"/>
                  <a:pt x="10000" y="9382"/>
                </a:cubicBezTo>
              </a:path>
            </a:pathLst>
          </a:custGeom>
          <a:noFill/>
          <a:ln w="50800">
            <a:solidFill>
              <a:schemeClr val="bg1">
                <a:lumMod val="75000"/>
              </a:schemeClr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7" name="Freeform 5"/>
          <p:cNvSpPr>
            <a:spLocks/>
          </p:cNvSpPr>
          <p:nvPr/>
        </p:nvSpPr>
        <p:spPr bwMode="auto">
          <a:xfrm>
            <a:off x="4176959" y="3266869"/>
            <a:ext cx="392031" cy="489488"/>
          </a:xfrm>
          <a:custGeom>
            <a:avLst/>
            <a:gdLst>
              <a:gd name="connsiteX0" fmla="*/ 0 w 9683"/>
              <a:gd name="connsiteY0" fmla="*/ 0 h 7455"/>
              <a:gd name="connsiteX1" fmla="*/ 6179 w 9683"/>
              <a:gd name="connsiteY1" fmla="*/ 7095 h 7455"/>
              <a:gd name="connsiteX2" fmla="*/ 9431 w 9683"/>
              <a:gd name="connsiteY2" fmla="*/ 6617 h 7455"/>
              <a:gd name="connsiteX3" fmla="*/ 9431 w 9683"/>
              <a:gd name="connsiteY3" fmla="*/ 6507 h 7455"/>
              <a:gd name="connsiteX0" fmla="*/ 0 w 10000"/>
              <a:gd name="connsiteY0" fmla="*/ 0 h 8876"/>
              <a:gd name="connsiteX1" fmla="*/ 9740 w 10000"/>
              <a:gd name="connsiteY1" fmla="*/ 8876 h 8876"/>
              <a:gd name="connsiteX2" fmla="*/ 9740 w 10000"/>
              <a:gd name="connsiteY2" fmla="*/ 8728 h 8876"/>
              <a:gd name="connsiteX0" fmla="*/ 0 w 10000"/>
              <a:gd name="connsiteY0" fmla="*/ 3984 h 13984"/>
              <a:gd name="connsiteX1" fmla="*/ 9740 w 10000"/>
              <a:gd name="connsiteY1" fmla="*/ 13984 h 13984"/>
              <a:gd name="connsiteX2" fmla="*/ 9740 w 10000"/>
              <a:gd name="connsiteY2" fmla="*/ 13817 h 13984"/>
              <a:gd name="connsiteX0" fmla="*/ 0 w 9798"/>
              <a:gd name="connsiteY0" fmla="*/ 3984 h 18436"/>
              <a:gd name="connsiteX1" fmla="*/ 9740 w 9798"/>
              <a:gd name="connsiteY1" fmla="*/ 13984 h 18436"/>
              <a:gd name="connsiteX2" fmla="*/ 6325 w 9798"/>
              <a:gd name="connsiteY2" fmla="*/ 18436 h 18436"/>
              <a:gd name="connsiteX0" fmla="*/ 0 w 9941"/>
              <a:gd name="connsiteY0" fmla="*/ 2161 h 7585"/>
              <a:gd name="connsiteX1" fmla="*/ 9941 w 9941"/>
              <a:gd name="connsiteY1" fmla="*/ 7585 h 7585"/>
              <a:gd name="connsiteX0" fmla="*/ 0 w 10000"/>
              <a:gd name="connsiteY0" fmla="*/ 2078 h 10141"/>
              <a:gd name="connsiteX1" fmla="*/ 10000 w 10000"/>
              <a:gd name="connsiteY1" fmla="*/ 9229 h 10141"/>
              <a:gd name="connsiteX0" fmla="*/ 0 w 10000"/>
              <a:gd name="connsiteY0" fmla="*/ 1111 h 9292"/>
              <a:gd name="connsiteX1" fmla="*/ 10000 w 10000"/>
              <a:gd name="connsiteY1" fmla="*/ 8262 h 9292"/>
              <a:gd name="connsiteX0" fmla="*/ 0 w 10000"/>
              <a:gd name="connsiteY0" fmla="*/ 1284 h 9614"/>
              <a:gd name="connsiteX1" fmla="*/ 10000 w 10000"/>
              <a:gd name="connsiteY1" fmla="*/ 8980 h 9614"/>
              <a:gd name="connsiteX0" fmla="*/ 0 w 9648"/>
              <a:gd name="connsiteY0" fmla="*/ 1296 h 10630"/>
              <a:gd name="connsiteX1" fmla="*/ 9648 w 9648"/>
              <a:gd name="connsiteY1" fmla="*/ 9991 h 10630"/>
              <a:gd name="connsiteX0" fmla="*/ 0 w 10000"/>
              <a:gd name="connsiteY0" fmla="*/ 883 h 9697"/>
              <a:gd name="connsiteX1" fmla="*/ 10000 w 10000"/>
              <a:gd name="connsiteY1" fmla="*/ 9063 h 9697"/>
              <a:gd name="connsiteX0" fmla="*/ 0 w 10000"/>
              <a:gd name="connsiteY0" fmla="*/ 947 h 9827"/>
              <a:gd name="connsiteX1" fmla="*/ 10000 w 10000"/>
              <a:gd name="connsiteY1" fmla="*/ 9382 h 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827">
                <a:moveTo>
                  <a:pt x="0" y="947"/>
                </a:moveTo>
                <a:cubicBezTo>
                  <a:pt x="2056" y="-4085"/>
                  <a:pt x="7045" y="12731"/>
                  <a:pt x="10000" y="9382"/>
                </a:cubicBezTo>
              </a:path>
            </a:pathLst>
          </a:custGeom>
          <a:noFill/>
          <a:ln w="50800">
            <a:solidFill>
              <a:schemeClr val="bg1">
                <a:lumMod val="75000"/>
              </a:schemeClr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8" name="Freeform 5"/>
          <p:cNvSpPr>
            <a:spLocks/>
          </p:cNvSpPr>
          <p:nvPr/>
        </p:nvSpPr>
        <p:spPr bwMode="auto">
          <a:xfrm>
            <a:off x="4666198" y="3261215"/>
            <a:ext cx="392031" cy="463934"/>
          </a:xfrm>
          <a:custGeom>
            <a:avLst/>
            <a:gdLst>
              <a:gd name="connsiteX0" fmla="*/ 0 w 9683"/>
              <a:gd name="connsiteY0" fmla="*/ 0 h 7455"/>
              <a:gd name="connsiteX1" fmla="*/ 6179 w 9683"/>
              <a:gd name="connsiteY1" fmla="*/ 7095 h 7455"/>
              <a:gd name="connsiteX2" fmla="*/ 9431 w 9683"/>
              <a:gd name="connsiteY2" fmla="*/ 6617 h 7455"/>
              <a:gd name="connsiteX3" fmla="*/ 9431 w 9683"/>
              <a:gd name="connsiteY3" fmla="*/ 6507 h 7455"/>
              <a:gd name="connsiteX0" fmla="*/ 0 w 10000"/>
              <a:gd name="connsiteY0" fmla="*/ 0 h 8876"/>
              <a:gd name="connsiteX1" fmla="*/ 9740 w 10000"/>
              <a:gd name="connsiteY1" fmla="*/ 8876 h 8876"/>
              <a:gd name="connsiteX2" fmla="*/ 9740 w 10000"/>
              <a:gd name="connsiteY2" fmla="*/ 8728 h 8876"/>
              <a:gd name="connsiteX0" fmla="*/ 0 w 10000"/>
              <a:gd name="connsiteY0" fmla="*/ 3984 h 13984"/>
              <a:gd name="connsiteX1" fmla="*/ 9740 w 10000"/>
              <a:gd name="connsiteY1" fmla="*/ 13984 h 13984"/>
              <a:gd name="connsiteX2" fmla="*/ 9740 w 10000"/>
              <a:gd name="connsiteY2" fmla="*/ 13817 h 13984"/>
              <a:gd name="connsiteX0" fmla="*/ 0 w 9798"/>
              <a:gd name="connsiteY0" fmla="*/ 3984 h 18436"/>
              <a:gd name="connsiteX1" fmla="*/ 9740 w 9798"/>
              <a:gd name="connsiteY1" fmla="*/ 13984 h 18436"/>
              <a:gd name="connsiteX2" fmla="*/ 6325 w 9798"/>
              <a:gd name="connsiteY2" fmla="*/ 18436 h 18436"/>
              <a:gd name="connsiteX0" fmla="*/ 0 w 9941"/>
              <a:gd name="connsiteY0" fmla="*/ 2161 h 7585"/>
              <a:gd name="connsiteX1" fmla="*/ 9941 w 9941"/>
              <a:gd name="connsiteY1" fmla="*/ 7585 h 7585"/>
              <a:gd name="connsiteX0" fmla="*/ 0 w 10000"/>
              <a:gd name="connsiteY0" fmla="*/ 2078 h 10141"/>
              <a:gd name="connsiteX1" fmla="*/ 10000 w 10000"/>
              <a:gd name="connsiteY1" fmla="*/ 9229 h 10141"/>
              <a:gd name="connsiteX0" fmla="*/ 0 w 10000"/>
              <a:gd name="connsiteY0" fmla="*/ 1111 h 9292"/>
              <a:gd name="connsiteX1" fmla="*/ 10000 w 10000"/>
              <a:gd name="connsiteY1" fmla="*/ 8262 h 9292"/>
              <a:gd name="connsiteX0" fmla="*/ 0 w 10000"/>
              <a:gd name="connsiteY0" fmla="*/ 1284 h 9614"/>
              <a:gd name="connsiteX1" fmla="*/ 10000 w 10000"/>
              <a:gd name="connsiteY1" fmla="*/ 8980 h 9614"/>
              <a:gd name="connsiteX0" fmla="*/ 0 w 9648"/>
              <a:gd name="connsiteY0" fmla="*/ 1296 h 10630"/>
              <a:gd name="connsiteX1" fmla="*/ 9648 w 9648"/>
              <a:gd name="connsiteY1" fmla="*/ 9991 h 10630"/>
              <a:gd name="connsiteX0" fmla="*/ 0 w 10000"/>
              <a:gd name="connsiteY0" fmla="*/ 883 h 9697"/>
              <a:gd name="connsiteX1" fmla="*/ 10000 w 10000"/>
              <a:gd name="connsiteY1" fmla="*/ 9063 h 9697"/>
              <a:gd name="connsiteX0" fmla="*/ 0 w 10000"/>
              <a:gd name="connsiteY0" fmla="*/ 947 h 9827"/>
              <a:gd name="connsiteX1" fmla="*/ 10000 w 10000"/>
              <a:gd name="connsiteY1" fmla="*/ 9382 h 9827"/>
              <a:gd name="connsiteX0" fmla="*/ 0 w 10000"/>
              <a:gd name="connsiteY0" fmla="*/ 1118 h 9711"/>
              <a:gd name="connsiteX1" fmla="*/ 10000 w 10000"/>
              <a:gd name="connsiteY1" fmla="*/ 9701 h 9711"/>
              <a:gd name="connsiteX0" fmla="*/ 0 w 10000"/>
              <a:gd name="connsiteY0" fmla="*/ 911 h 9760"/>
              <a:gd name="connsiteX1" fmla="*/ 10000 w 10000"/>
              <a:gd name="connsiteY1" fmla="*/ 9750 h 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9760">
                <a:moveTo>
                  <a:pt x="0" y="911"/>
                </a:moveTo>
                <a:cubicBezTo>
                  <a:pt x="1813" y="-3611"/>
                  <a:pt x="5162" y="10203"/>
                  <a:pt x="10000" y="9750"/>
                </a:cubicBezTo>
              </a:path>
            </a:pathLst>
          </a:custGeom>
          <a:noFill/>
          <a:ln w="50800">
            <a:solidFill>
              <a:schemeClr val="bg1">
                <a:lumMod val="75000"/>
              </a:schemeClr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2100" b="1">
              <a:solidFill>
                <a:srgbClr val="FFFF66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5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8E68A29-D2A6-46BE-B8D6-6AE37748A55F}" type="slidenum">
              <a:rPr lang="en-US" altLang="zh-CN"/>
              <a:pPr/>
              <a:t>10</a:t>
            </a:fld>
            <a:endParaRPr lang="en-US" altLang="zh-CN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041064"/>
              </p:ext>
            </p:extLst>
          </p:nvPr>
        </p:nvGraphicFramePr>
        <p:xfrm>
          <a:off x="5307408" y="857648"/>
          <a:ext cx="1931787" cy="913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4" name="Equation" r:id="rId3" imgW="1143000" imgH="571320" progId="Equation.DSMT4">
                  <p:embed/>
                </p:oleObj>
              </mc:Choice>
              <mc:Fallback>
                <p:oleObj name="Equation" r:id="rId3" imgW="1143000" imgH="571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408" y="857648"/>
                        <a:ext cx="1931787" cy="913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763194"/>
              </p:ext>
            </p:extLst>
          </p:nvPr>
        </p:nvGraphicFramePr>
        <p:xfrm>
          <a:off x="1525668" y="1992906"/>
          <a:ext cx="1934908" cy="133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5" name="Equation" r:id="rId5" imgW="1002960" imgH="736560" progId="Equation.DSMT4">
                  <p:embed/>
                </p:oleObj>
              </mc:Choice>
              <mc:Fallback>
                <p:oleObj name="Equation" r:id="rId5" imgW="1002960" imgH="736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668" y="1992906"/>
                        <a:ext cx="1934908" cy="13318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642586"/>
              </p:ext>
            </p:extLst>
          </p:nvPr>
        </p:nvGraphicFramePr>
        <p:xfrm>
          <a:off x="1432902" y="3612475"/>
          <a:ext cx="2787968" cy="87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6" name="公式" r:id="rId7" imgW="952087" imgH="418918" progId="Equation.3">
                  <p:embed/>
                </p:oleObj>
              </mc:Choice>
              <mc:Fallback>
                <p:oleObj name="公式" r:id="rId7" imgW="952087" imgH="418918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902" y="3612475"/>
                        <a:ext cx="2787968" cy="8720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392529"/>
              </p:ext>
            </p:extLst>
          </p:nvPr>
        </p:nvGraphicFramePr>
        <p:xfrm>
          <a:off x="2950396" y="901108"/>
          <a:ext cx="1479055" cy="6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37" name="公式" r:id="rId9" imgW="875920" imgH="393529" progId="Equation.3">
                  <p:embed/>
                </p:oleObj>
              </mc:Choice>
              <mc:Fallback>
                <p:oleObj name="公式" r:id="rId9" imgW="875920" imgH="393529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0396" y="901108"/>
                        <a:ext cx="1479055" cy="628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5336387" y="2641314"/>
            <a:ext cx="2975477" cy="1823760"/>
            <a:chOff x="657" y="2024"/>
            <a:chExt cx="2351" cy="1441"/>
          </a:xfrm>
        </p:grpSpPr>
        <p:sp>
          <p:nvSpPr>
            <p:cNvPr id="5128" name="Line 5"/>
            <p:cNvSpPr>
              <a:spLocks noChangeShapeType="1"/>
            </p:cNvSpPr>
            <p:nvPr/>
          </p:nvSpPr>
          <p:spPr bwMode="auto">
            <a:xfrm>
              <a:off x="793" y="2659"/>
              <a:ext cx="0" cy="4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29" name="Line 6"/>
            <p:cNvSpPr>
              <a:spLocks noChangeShapeType="1"/>
            </p:cNvSpPr>
            <p:nvPr/>
          </p:nvSpPr>
          <p:spPr bwMode="auto">
            <a:xfrm>
              <a:off x="657" y="261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0" name="Line 7"/>
            <p:cNvSpPr>
              <a:spLocks noChangeShapeType="1"/>
            </p:cNvSpPr>
            <p:nvPr/>
          </p:nvSpPr>
          <p:spPr bwMode="auto">
            <a:xfrm>
              <a:off x="702" y="2659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1" name="Line 8"/>
            <p:cNvSpPr>
              <a:spLocks noChangeShapeType="1"/>
            </p:cNvSpPr>
            <p:nvPr/>
          </p:nvSpPr>
          <p:spPr bwMode="auto">
            <a:xfrm>
              <a:off x="657" y="252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2" name="Line 9"/>
            <p:cNvSpPr>
              <a:spLocks noChangeShapeType="1"/>
            </p:cNvSpPr>
            <p:nvPr/>
          </p:nvSpPr>
          <p:spPr bwMode="auto">
            <a:xfrm>
              <a:off x="703" y="2569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3" name="Line 10"/>
            <p:cNvSpPr>
              <a:spLocks noChangeShapeType="1"/>
            </p:cNvSpPr>
            <p:nvPr/>
          </p:nvSpPr>
          <p:spPr bwMode="auto">
            <a:xfrm flipV="1">
              <a:off x="793" y="2160"/>
              <a:ext cx="0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4" name="Line 11"/>
            <p:cNvSpPr>
              <a:spLocks noChangeShapeType="1"/>
            </p:cNvSpPr>
            <p:nvPr/>
          </p:nvSpPr>
          <p:spPr bwMode="auto">
            <a:xfrm>
              <a:off x="793" y="2160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5" name="Line 12"/>
            <p:cNvSpPr>
              <a:spLocks noChangeShapeType="1"/>
            </p:cNvSpPr>
            <p:nvPr/>
          </p:nvSpPr>
          <p:spPr bwMode="auto">
            <a:xfrm flipV="1">
              <a:off x="1338" y="2024"/>
              <a:ext cx="272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6" name="Line 13"/>
            <p:cNvSpPr>
              <a:spLocks noChangeShapeType="1"/>
            </p:cNvSpPr>
            <p:nvPr/>
          </p:nvSpPr>
          <p:spPr bwMode="auto">
            <a:xfrm>
              <a:off x="1564" y="2160"/>
              <a:ext cx="4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7" name="Rectangle 14"/>
            <p:cNvSpPr>
              <a:spLocks noChangeArrowheads="1"/>
            </p:cNvSpPr>
            <p:nvPr/>
          </p:nvSpPr>
          <p:spPr bwMode="auto">
            <a:xfrm>
              <a:off x="1973" y="2115"/>
              <a:ext cx="272" cy="9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8" name="Line 15"/>
            <p:cNvSpPr>
              <a:spLocks noChangeShapeType="1"/>
            </p:cNvSpPr>
            <p:nvPr/>
          </p:nvSpPr>
          <p:spPr bwMode="auto">
            <a:xfrm>
              <a:off x="2245" y="216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39" name="Line 16"/>
            <p:cNvSpPr>
              <a:spLocks noChangeShapeType="1"/>
            </p:cNvSpPr>
            <p:nvPr/>
          </p:nvSpPr>
          <p:spPr bwMode="auto">
            <a:xfrm>
              <a:off x="2517" y="2160"/>
              <a:ext cx="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0" name="Oval 17"/>
            <p:cNvSpPr>
              <a:spLocks noChangeArrowheads="1"/>
            </p:cNvSpPr>
            <p:nvPr/>
          </p:nvSpPr>
          <p:spPr bwMode="auto">
            <a:xfrm>
              <a:off x="2471" y="2387"/>
              <a:ext cx="137" cy="13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1" name="Oval 18"/>
            <p:cNvSpPr>
              <a:spLocks noChangeArrowheads="1"/>
            </p:cNvSpPr>
            <p:nvPr/>
          </p:nvSpPr>
          <p:spPr bwMode="auto">
            <a:xfrm>
              <a:off x="2472" y="2523"/>
              <a:ext cx="137" cy="13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2" name="Oval 19"/>
            <p:cNvSpPr>
              <a:spLocks noChangeArrowheads="1"/>
            </p:cNvSpPr>
            <p:nvPr/>
          </p:nvSpPr>
          <p:spPr bwMode="auto">
            <a:xfrm>
              <a:off x="2472" y="2659"/>
              <a:ext cx="137" cy="13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3" name="Oval 20"/>
            <p:cNvSpPr>
              <a:spLocks noChangeArrowheads="1"/>
            </p:cNvSpPr>
            <p:nvPr/>
          </p:nvSpPr>
          <p:spPr bwMode="auto">
            <a:xfrm>
              <a:off x="2472" y="2795"/>
              <a:ext cx="137" cy="13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4" name="Rectangle 21"/>
            <p:cNvSpPr>
              <a:spLocks noChangeArrowheads="1"/>
            </p:cNvSpPr>
            <p:nvPr/>
          </p:nvSpPr>
          <p:spPr bwMode="auto">
            <a:xfrm>
              <a:off x="2336" y="2387"/>
              <a:ext cx="181" cy="544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5" name="Line 22"/>
            <p:cNvSpPr>
              <a:spLocks noChangeShapeType="1"/>
            </p:cNvSpPr>
            <p:nvPr/>
          </p:nvSpPr>
          <p:spPr bwMode="auto">
            <a:xfrm>
              <a:off x="2517" y="2931"/>
              <a:ext cx="0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6" name="Line 23"/>
            <p:cNvSpPr>
              <a:spLocks noChangeShapeType="1"/>
            </p:cNvSpPr>
            <p:nvPr/>
          </p:nvSpPr>
          <p:spPr bwMode="auto">
            <a:xfrm>
              <a:off x="793" y="3158"/>
              <a:ext cx="17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7" name="Line 24"/>
            <p:cNvSpPr>
              <a:spLocks noChangeShapeType="1"/>
            </p:cNvSpPr>
            <p:nvPr/>
          </p:nvSpPr>
          <p:spPr bwMode="auto">
            <a:xfrm>
              <a:off x="2653" y="2342"/>
              <a:ext cx="0" cy="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8" name="Line 25"/>
            <p:cNvSpPr>
              <a:spLocks noChangeShapeType="1"/>
            </p:cNvSpPr>
            <p:nvPr/>
          </p:nvSpPr>
          <p:spPr bwMode="auto">
            <a:xfrm flipH="1">
              <a:off x="1610" y="3158"/>
              <a:ext cx="22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49" name="Text Box 27"/>
            <p:cNvSpPr txBox="1">
              <a:spLocks noChangeArrowheads="1"/>
            </p:cNvSpPr>
            <p:nvPr/>
          </p:nvSpPr>
          <p:spPr bwMode="auto">
            <a:xfrm>
              <a:off x="2744" y="2478"/>
              <a:ext cx="264" cy="3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100" i="1">
                  <a:solidFill>
                    <a:srgbClr val="1C1C1C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5150" name="Text Box 28"/>
            <p:cNvSpPr txBox="1">
              <a:spLocks noChangeArrowheads="1"/>
            </p:cNvSpPr>
            <p:nvPr/>
          </p:nvSpPr>
          <p:spPr bwMode="auto">
            <a:xfrm>
              <a:off x="1325" y="2128"/>
              <a:ext cx="278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1C1C1C"/>
                  </a:solidFill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5151" name="Text Box 29"/>
            <p:cNvSpPr txBox="1">
              <a:spLocks noChangeArrowheads="1"/>
            </p:cNvSpPr>
            <p:nvPr/>
          </p:nvSpPr>
          <p:spPr bwMode="auto">
            <a:xfrm>
              <a:off x="2005" y="2144"/>
              <a:ext cx="257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1C1C1C"/>
                  </a:solidFill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5152" name="Text Box 30"/>
            <p:cNvSpPr txBox="1">
              <a:spLocks noChangeArrowheads="1"/>
            </p:cNvSpPr>
            <p:nvPr/>
          </p:nvSpPr>
          <p:spPr bwMode="auto">
            <a:xfrm>
              <a:off x="1461" y="3137"/>
              <a:ext cx="217" cy="3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1C1C1C"/>
                  </a:solidFill>
                  <a:latin typeface="Times New Roman" pitchFamily="18" charset="0"/>
                </a:rPr>
                <a:t>I</a:t>
              </a:r>
            </a:p>
          </p:txBody>
        </p:sp>
        <p:graphicFrame>
          <p:nvGraphicFramePr>
            <p:cNvPr id="5154" name="Object 34"/>
            <p:cNvGraphicFramePr>
              <a:graphicFrameLocks noChangeAspect="1"/>
            </p:cNvGraphicFramePr>
            <p:nvPr/>
          </p:nvGraphicFramePr>
          <p:xfrm>
            <a:off x="931" y="2432"/>
            <a:ext cx="277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38" name="公式" r:id="rId11" imgW="139639" imgH="152334" progId="Equation.3">
                    <p:embed/>
                  </p:oleObj>
                </mc:Choice>
                <mc:Fallback>
                  <p:oleObj name="公式" r:id="rId11" imgW="139639" imgH="152334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" y="2432"/>
                          <a:ext cx="277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5" name="Oval 40"/>
            <p:cNvSpPr>
              <a:spLocks noChangeArrowheads="1"/>
            </p:cNvSpPr>
            <p:nvPr/>
          </p:nvSpPr>
          <p:spPr bwMode="auto">
            <a:xfrm>
              <a:off x="1519" y="2142"/>
              <a:ext cx="46" cy="4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56" name="Oval 41"/>
            <p:cNvSpPr>
              <a:spLocks noChangeArrowheads="1"/>
            </p:cNvSpPr>
            <p:nvPr/>
          </p:nvSpPr>
          <p:spPr bwMode="auto">
            <a:xfrm>
              <a:off x="1292" y="2142"/>
              <a:ext cx="46" cy="4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57" name="Text Box 43"/>
            <p:cNvSpPr txBox="1">
              <a:spLocks noChangeArrowheads="1"/>
            </p:cNvSpPr>
            <p:nvPr/>
          </p:nvSpPr>
          <p:spPr bwMode="auto">
            <a:xfrm>
              <a:off x="2656" y="2190"/>
              <a:ext cx="250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prstClr val="black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5158" name="Text Box 44"/>
            <p:cNvSpPr txBox="1">
              <a:spLocks noChangeArrowheads="1"/>
            </p:cNvSpPr>
            <p:nvPr/>
          </p:nvSpPr>
          <p:spPr bwMode="auto">
            <a:xfrm>
              <a:off x="2664" y="2779"/>
              <a:ext cx="237" cy="2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prstClr val="black"/>
                  </a:solidFill>
                  <a:latin typeface="Times New Roman" pitchFamily="18" charset="0"/>
                </a:rPr>
                <a:t>_</a:t>
              </a:r>
            </a:p>
          </p:txBody>
        </p:sp>
        <p:graphicFrame>
          <p:nvGraphicFramePr>
            <p:cNvPr id="5159" name="Object 45"/>
            <p:cNvGraphicFramePr>
              <a:graphicFrameLocks noChangeAspect="1"/>
            </p:cNvGraphicFramePr>
            <p:nvPr/>
          </p:nvGraphicFramePr>
          <p:xfrm>
            <a:off x="1449" y="2451"/>
            <a:ext cx="987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739" name="Equation" r:id="rId13" imgW="698400" imgH="393480" progId="Equation.DSMT4">
                    <p:embed/>
                  </p:oleObj>
                </mc:Choice>
                <mc:Fallback>
                  <p:oleObj name="Equation" r:id="rId13" imgW="698400" imgH="39348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2451"/>
                          <a:ext cx="987" cy="5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921010" y="141480"/>
            <a:ext cx="2798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.4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RL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电路</a:t>
            </a:r>
          </a:p>
        </p:txBody>
      </p:sp>
      <p:sp>
        <p:nvSpPr>
          <p:cNvPr id="41" name="右箭头 40"/>
          <p:cNvSpPr/>
          <p:nvPr/>
        </p:nvSpPr>
        <p:spPr>
          <a:xfrm>
            <a:off x="4437314" y="1113989"/>
            <a:ext cx="493065" cy="1687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1459299" y="1019078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欧姆定律</a:t>
            </a:r>
          </a:p>
        </p:txBody>
      </p:sp>
      <p:graphicFrame>
        <p:nvGraphicFramePr>
          <p:cNvPr id="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303779"/>
              </p:ext>
            </p:extLst>
          </p:nvPr>
        </p:nvGraphicFramePr>
        <p:xfrm>
          <a:off x="5094287" y="681039"/>
          <a:ext cx="1687116" cy="1012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0" name="Equation" r:id="rId15" imgW="761760" imgH="482400" progId="Equation.DSMT4">
                  <p:embed/>
                </p:oleObj>
              </mc:Choice>
              <mc:Fallback>
                <p:oleObj name="Equation" r:id="rId15" imgW="761760" imgH="482400" progId="Equation.DSMT4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7" y="681039"/>
                        <a:ext cx="1687116" cy="10120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6985765-79B6-4CAB-95C3-952A96C3A943}" type="slidenum">
              <a:rPr lang="en-US" altLang="zh-CN"/>
              <a:pPr/>
              <a:t>11</a:t>
            </a:fld>
            <a:endParaRPr lang="en-US" altLang="zh-CN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44759"/>
              </p:ext>
            </p:extLst>
          </p:nvPr>
        </p:nvGraphicFramePr>
        <p:xfrm>
          <a:off x="1511616" y="1895645"/>
          <a:ext cx="1626394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35" name="公式" r:id="rId3" imgW="761669" imgH="393529" progId="Equation.3">
                  <p:embed/>
                </p:oleObj>
              </mc:Choice>
              <mc:Fallback>
                <p:oleObj name="公式" r:id="rId3" imgW="761669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16" y="1895645"/>
                        <a:ext cx="1626394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34"/>
          <p:cNvSpPr txBox="1">
            <a:spLocks noChangeArrowheads="1"/>
          </p:cNvSpPr>
          <p:nvPr/>
        </p:nvSpPr>
        <p:spPr bwMode="auto">
          <a:xfrm>
            <a:off x="1468275" y="1336698"/>
            <a:ext cx="152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欧姆定律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:</a:t>
            </a:r>
            <a:endParaRPr lang="zh-CN" altLang="en-US" sz="24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graphicFrame>
        <p:nvGraphicFramePr>
          <p:cNvPr id="1027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206584"/>
              </p:ext>
            </p:extLst>
          </p:nvPr>
        </p:nvGraphicFramePr>
        <p:xfrm>
          <a:off x="1601650" y="2905314"/>
          <a:ext cx="1626394" cy="79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36" name="公式" r:id="rId5" imgW="748975" imgH="393529" progId="Equation.3">
                  <p:embed/>
                </p:oleObj>
              </mc:Choice>
              <mc:Fallback>
                <p:oleObj name="公式" r:id="rId5" imgW="748975" imgH="39352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650" y="2905314"/>
                        <a:ext cx="1626394" cy="7989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727102"/>
              </p:ext>
            </p:extLst>
          </p:nvPr>
        </p:nvGraphicFramePr>
        <p:xfrm>
          <a:off x="1600720" y="3895895"/>
          <a:ext cx="1936121" cy="88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37" name="公式" r:id="rId7" imgW="660400" imgH="419100" progId="Equation.3">
                  <p:embed/>
                </p:oleObj>
              </mc:Choice>
              <mc:Fallback>
                <p:oleObj name="公式" r:id="rId7" imgW="660400" imgH="4191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20" y="3895895"/>
                        <a:ext cx="1936121" cy="8893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5404721" y="2465610"/>
            <a:ext cx="2538413" cy="1870472"/>
            <a:chOff x="801" y="1934"/>
            <a:chExt cx="2132" cy="1571"/>
          </a:xfrm>
        </p:grpSpPr>
        <p:grpSp>
          <p:nvGrpSpPr>
            <p:cNvPr id="3" name="Group 82"/>
            <p:cNvGrpSpPr>
              <a:grpSpLocks/>
            </p:cNvGrpSpPr>
            <p:nvPr/>
          </p:nvGrpSpPr>
          <p:grpSpPr bwMode="auto">
            <a:xfrm>
              <a:off x="801" y="1934"/>
              <a:ext cx="2132" cy="1571"/>
              <a:chOff x="801" y="1934"/>
              <a:chExt cx="2132" cy="1571"/>
            </a:xfrm>
          </p:grpSpPr>
          <p:sp>
            <p:nvSpPr>
              <p:cNvPr id="6160" name="Line 4"/>
              <p:cNvSpPr>
                <a:spLocks noChangeShapeType="1"/>
              </p:cNvSpPr>
              <p:nvPr/>
            </p:nvSpPr>
            <p:spPr bwMode="auto">
              <a:xfrm>
                <a:off x="801" y="2478"/>
                <a:ext cx="0" cy="6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1" name="Line 5"/>
              <p:cNvSpPr>
                <a:spLocks noChangeShapeType="1"/>
              </p:cNvSpPr>
              <p:nvPr/>
            </p:nvSpPr>
            <p:spPr bwMode="auto">
              <a:xfrm flipV="1">
                <a:off x="801" y="1979"/>
                <a:ext cx="0" cy="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2" name="Line 6"/>
              <p:cNvSpPr>
                <a:spLocks noChangeShapeType="1"/>
              </p:cNvSpPr>
              <p:nvPr/>
            </p:nvSpPr>
            <p:spPr bwMode="auto">
              <a:xfrm>
                <a:off x="801" y="1979"/>
                <a:ext cx="118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3" name="Rectangle 7"/>
              <p:cNvSpPr>
                <a:spLocks noChangeArrowheads="1"/>
              </p:cNvSpPr>
              <p:nvPr/>
            </p:nvSpPr>
            <p:spPr bwMode="auto">
              <a:xfrm>
                <a:off x="1984" y="1934"/>
                <a:ext cx="273" cy="9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4" name="Line 8"/>
              <p:cNvSpPr>
                <a:spLocks noChangeShapeType="1"/>
              </p:cNvSpPr>
              <p:nvPr/>
            </p:nvSpPr>
            <p:spPr bwMode="auto">
              <a:xfrm>
                <a:off x="2257" y="1979"/>
                <a:ext cx="2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5" name="Line 9"/>
              <p:cNvSpPr>
                <a:spLocks noChangeShapeType="1"/>
              </p:cNvSpPr>
              <p:nvPr/>
            </p:nvSpPr>
            <p:spPr bwMode="auto">
              <a:xfrm>
                <a:off x="2530" y="1979"/>
                <a:ext cx="0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6" name="Oval 10"/>
              <p:cNvSpPr>
                <a:spLocks noChangeArrowheads="1"/>
              </p:cNvSpPr>
              <p:nvPr/>
            </p:nvSpPr>
            <p:spPr bwMode="auto">
              <a:xfrm>
                <a:off x="2483" y="2206"/>
                <a:ext cx="138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7" name="Oval 11"/>
              <p:cNvSpPr>
                <a:spLocks noChangeArrowheads="1"/>
              </p:cNvSpPr>
              <p:nvPr/>
            </p:nvSpPr>
            <p:spPr bwMode="auto">
              <a:xfrm>
                <a:off x="2485" y="2342"/>
                <a:ext cx="137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8" name="Oval 12"/>
              <p:cNvSpPr>
                <a:spLocks noChangeArrowheads="1"/>
              </p:cNvSpPr>
              <p:nvPr/>
            </p:nvSpPr>
            <p:spPr bwMode="auto">
              <a:xfrm>
                <a:off x="2485" y="2478"/>
                <a:ext cx="137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69" name="Oval 13"/>
              <p:cNvSpPr>
                <a:spLocks noChangeArrowheads="1"/>
              </p:cNvSpPr>
              <p:nvPr/>
            </p:nvSpPr>
            <p:spPr bwMode="auto">
              <a:xfrm>
                <a:off x="2485" y="2614"/>
                <a:ext cx="137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0" name="Rectangle 14"/>
              <p:cNvSpPr>
                <a:spLocks noChangeArrowheads="1"/>
              </p:cNvSpPr>
              <p:nvPr/>
            </p:nvSpPr>
            <p:spPr bwMode="auto">
              <a:xfrm>
                <a:off x="2348" y="2206"/>
                <a:ext cx="182" cy="5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1" name="Line 15"/>
              <p:cNvSpPr>
                <a:spLocks noChangeShapeType="1"/>
              </p:cNvSpPr>
              <p:nvPr/>
            </p:nvSpPr>
            <p:spPr bwMode="auto">
              <a:xfrm>
                <a:off x="2530" y="2750"/>
                <a:ext cx="0" cy="2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2" name="Line 16"/>
              <p:cNvSpPr>
                <a:spLocks noChangeShapeType="1"/>
              </p:cNvSpPr>
              <p:nvPr/>
            </p:nvSpPr>
            <p:spPr bwMode="auto">
              <a:xfrm>
                <a:off x="1574" y="2977"/>
                <a:ext cx="9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3" name="Line 17"/>
              <p:cNvSpPr>
                <a:spLocks noChangeShapeType="1"/>
              </p:cNvSpPr>
              <p:nvPr/>
            </p:nvSpPr>
            <p:spPr bwMode="auto">
              <a:xfrm>
                <a:off x="2666" y="2161"/>
                <a:ext cx="0" cy="6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4" name="Line 18"/>
              <p:cNvSpPr>
                <a:spLocks noChangeShapeType="1"/>
              </p:cNvSpPr>
              <p:nvPr/>
            </p:nvSpPr>
            <p:spPr bwMode="auto">
              <a:xfrm flipH="1">
                <a:off x="2121" y="2977"/>
                <a:ext cx="227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75" name="Text Box 19"/>
              <p:cNvSpPr txBox="1">
                <a:spLocks noChangeArrowheads="1"/>
              </p:cNvSpPr>
              <p:nvPr/>
            </p:nvSpPr>
            <p:spPr bwMode="auto">
              <a:xfrm>
                <a:off x="2653" y="2288"/>
                <a:ext cx="280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 i="1">
                    <a:solidFill>
                      <a:srgbClr val="1C1C1C"/>
                    </a:solidFill>
                    <a:latin typeface="Times New Roman" pitchFamily="18" charset="0"/>
                  </a:rPr>
                  <a:t>L</a:t>
                </a:r>
              </a:p>
            </p:txBody>
          </p:sp>
          <p:sp>
            <p:nvSpPr>
              <p:cNvPr id="6176" name="Text Box 20"/>
              <p:cNvSpPr txBox="1">
                <a:spLocks noChangeArrowheads="1"/>
              </p:cNvSpPr>
              <p:nvPr/>
            </p:nvSpPr>
            <p:spPr bwMode="auto">
              <a:xfrm>
                <a:off x="1532" y="3053"/>
                <a:ext cx="295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1C1C1C"/>
                    </a:solidFill>
                    <a:latin typeface="Times New Roman" pitchFamily="18" charset="0"/>
                  </a:rPr>
                  <a:t>K</a:t>
                </a:r>
              </a:p>
            </p:txBody>
          </p:sp>
          <p:sp>
            <p:nvSpPr>
              <p:cNvPr id="6177" name="Text Box 21"/>
              <p:cNvSpPr txBox="1">
                <a:spLocks noChangeArrowheads="1"/>
              </p:cNvSpPr>
              <p:nvPr/>
            </p:nvSpPr>
            <p:spPr bwMode="auto">
              <a:xfrm>
                <a:off x="2008" y="2004"/>
                <a:ext cx="27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i="1" dirty="0">
                    <a:solidFill>
                      <a:srgbClr val="1C1C1C"/>
                    </a:solidFill>
                    <a:latin typeface="Times New Roman" pitchFamily="18" charset="0"/>
                  </a:rPr>
                  <a:t>R</a:t>
                </a:r>
              </a:p>
            </p:txBody>
          </p:sp>
          <p:sp>
            <p:nvSpPr>
              <p:cNvPr id="6178" name="Text Box 22"/>
              <p:cNvSpPr txBox="1">
                <a:spLocks noChangeArrowheads="1"/>
              </p:cNvSpPr>
              <p:nvPr/>
            </p:nvSpPr>
            <p:spPr bwMode="auto">
              <a:xfrm>
                <a:off x="2135" y="3043"/>
                <a:ext cx="230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 i="1" dirty="0">
                    <a:solidFill>
                      <a:srgbClr val="1C1C1C"/>
                    </a:solidFill>
                    <a:latin typeface="Times New Roman" pitchFamily="18" charset="0"/>
                  </a:rPr>
                  <a:t>I</a:t>
                </a:r>
              </a:p>
            </p:txBody>
          </p:sp>
          <p:sp>
            <p:nvSpPr>
              <p:cNvPr id="6180" name="Line 24"/>
              <p:cNvSpPr>
                <a:spLocks noChangeShapeType="1"/>
              </p:cNvSpPr>
              <p:nvPr/>
            </p:nvSpPr>
            <p:spPr bwMode="auto">
              <a:xfrm>
                <a:off x="937" y="3000"/>
                <a:ext cx="0" cy="2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1" name="Line 25"/>
              <p:cNvSpPr>
                <a:spLocks noChangeShapeType="1"/>
              </p:cNvSpPr>
              <p:nvPr/>
            </p:nvSpPr>
            <p:spPr bwMode="auto">
              <a:xfrm>
                <a:off x="983" y="3045"/>
                <a:ext cx="1" cy="1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2" name="Line 26"/>
              <p:cNvSpPr>
                <a:spLocks noChangeShapeType="1"/>
              </p:cNvSpPr>
              <p:nvPr/>
            </p:nvSpPr>
            <p:spPr bwMode="auto">
              <a:xfrm>
                <a:off x="983" y="3113"/>
                <a:ext cx="27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3" name="Line 27"/>
              <p:cNvSpPr>
                <a:spLocks noChangeShapeType="1"/>
              </p:cNvSpPr>
              <p:nvPr/>
            </p:nvSpPr>
            <p:spPr bwMode="auto">
              <a:xfrm flipH="1">
                <a:off x="1256" y="2977"/>
                <a:ext cx="318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4" name="Line 28"/>
              <p:cNvSpPr>
                <a:spLocks noChangeShapeType="1"/>
              </p:cNvSpPr>
              <p:nvPr/>
            </p:nvSpPr>
            <p:spPr bwMode="auto">
              <a:xfrm>
                <a:off x="801" y="3113"/>
                <a:ext cx="1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5" name="Line 29"/>
              <p:cNvSpPr>
                <a:spLocks noChangeShapeType="1"/>
              </p:cNvSpPr>
              <p:nvPr/>
            </p:nvSpPr>
            <p:spPr bwMode="auto">
              <a:xfrm>
                <a:off x="801" y="2750"/>
                <a:ext cx="4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86" name="Text Box 30"/>
              <p:cNvSpPr txBox="1">
                <a:spLocks noChangeArrowheads="1"/>
              </p:cNvSpPr>
              <p:nvPr/>
            </p:nvSpPr>
            <p:spPr bwMode="auto">
              <a:xfrm>
                <a:off x="879" y="3156"/>
                <a:ext cx="278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>
                    <a:solidFill>
                      <a:srgbClr val="1C1C1C"/>
                    </a:solidFill>
                    <a:latin typeface="CommercialScript BT" pitchFamily="66" charset="0"/>
                  </a:rPr>
                  <a:t>E</a:t>
                </a:r>
              </a:p>
            </p:txBody>
          </p:sp>
          <p:sp>
            <p:nvSpPr>
              <p:cNvPr id="6187" name="Text Box 31"/>
              <p:cNvSpPr txBox="1">
                <a:spLocks noChangeArrowheads="1"/>
              </p:cNvSpPr>
              <p:nvPr/>
            </p:nvSpPr>
            <p:spPr bwMode="auto">
              <a:xfrm>
                <a:off x="1198" y="3058"/>
                <a:ext cx="252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1C1C1C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6188" name="Text Box 32"/>
              <p:cNvSpPr txBox="1">
                <a:spLocks noChangeArrowheads="1"/>
              </p:cNvSpPr>
              <p:nvPr/>
            </p:nvSpPr>
            <p:spPr bwMode="auto">
              <a:xfrm>
                <a:off x="1165" y="2469"/>
                <a:ext cx="252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1C1C1C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6154" name="Oval 74"/>
            <p:cNvSpPr>
              <a:spLocks noChangeArrowheads="1"/>
            </p:cNvSpPr>
            <p:nvPr/>
          </p:nvSpPr>
          <p:spPr bwMode="auto">
            <a:xfrm>
              <a:off x="1256" y="3085"/>
              <a:ext cx="46" cy="4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55" name="Oval 75"/>
            <p:cNvSpPr>
              <a:spLocks noChangeArrowheads="1"/>
            </p:cNvSpPr>
            <p:nvPr/>
          </p:nvSpPr>
          <p:spPr bwMode="auto">
            <a:xfrm>
              <a:off x="1264" y="2722"/>
              <a:ext cx="46" cy="4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56" name="Oval 76"/>
            <p:cNvSpPr>
              <a:spLocks noChangeArrowheads="1"/>
            </p:cNvSpPr>
            <p:nvPr/>
          </p:nvSpPr>
          <p:spPr bwMode="auto">
            <a:xfrm>
              <a:off x="1528" y="2958"/>
              <a:ext cx="46" cy="4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57" name="Text Box 80"/>
            <p:cNvSpPr txBox="1">
              <a:spLocks noChangeArrowheads="1"/>
            </p:cNvSpPr>
            <p:nvPr/>
          </p:nvSpPr>
          <p:spPr bwMode="auto">
            <a:xfrm>
              <a:off x="2656" y="1963"/>
              <a:ext cx="266" cy="3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prstClr val="black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6158" name="Text Box 81"/>
            <p:cNvSpPr txBox="1">
              <a:spLocks noChangeArrowheads="1"/>
            </p:cNvSpPr>
            <p:nvPr/>
          </p:nvSpPr>
          <p:spPr bwMode="auto">
            <a:xfrm>
              <a:off x="2664" y="2598"/>
              <a:ext cx="252" cy="3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prstClr val="black"/>
                  </a:solidFill>
                  <a:latin typeface="Times New Roman" pitchFamily="18" charset="0"/>
                </a:rPr>
                <a:t>_</a:t>
              </a:r>
            </a:p>
          </p:txBody>
        </p:sp>
        <p:graphicFrame>
          <p:nvGraphicFramePr>
            <p:cNvPr id="6159" name="Object 83"/>
            <p:cNvGraphicFramePr>
              <a:graphicFrameLocks noChangeAspect="1"/>
            </p:cNvGraphicFramePr>
            <p:nvPr/>
          </p:nvGraphicFramePr>
          <p:xfrm>
            <a:off x="2215" y="2267"/>
            <a:ext cx="422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38" name="Equation" r:id="rId9" imgW="215640" imgH="228600" progId="Equation.DSMT4">
                    <p:embed/>
                  </p:oleObj>
                </mc:Choice>
                <mc:Fallback>
                  <p:oleObj name="Equation" r:id="rId9" imgW="215640" imgH="228600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5" y="2267"/>
                          <a:ext cx="422" cy="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833933" y="152019"/>
            <a:ext cx="7746796" cy="978729"/>
            <a:chOff x="716890" y="51197"/>
            <a:chExt cx="7746796" cy="978729"/>
          </a:xfrm>
        </p:grpSpPr>
        <p:sp>
          <p:nvSpPr>
            <p:cNvPr id="6148" name="Text Box 33"/>
            <p:cNvSpPr txBox="1">
              <a:spLocks noChangeArrowheads="1"/>
            </p:cNvSpPr>
            <p:nvPr/>
          </p:nvSpPr>
          <p:spPr bwMode="auto">
            <a:xfrm>
              <a:off x="716890" y="51197"/>
              <a:ext cx="7746796" cy="978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>        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将开关</a:t>
              </a:r>
              <a:r>
                <a:rPr lang="en-US" altLang="zh-CN" sz="2400" dirty="0">
                  <a:solidFill>
                    <a:srgbClr val="1C1C1C"/>
                  </a:solidFill>
                  <a:latin typeface="Times New Roman" pitchFamily="18" charset="0"/>
                </a:rPr>
                <a:t>K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与位置</a:t>
              </a:r>
              <a:r>
                <a:rPr lang="en-US" altLang="zh-CN" sz="2400" dirty="0">
                  <a:solidFill>
                    <a:srgbClr val="1C1C1C"/>
                  </a:solidFill>
                  <a:latin typeface="Times New Roman" pitchFamily="18" charset="0"/>
                </a:rPr>
                <a:t>1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接通相当长时间后，电路中的电流已达稳定值         ，然后，迅速把开关放到位置</a:t>
              </a:r>
              <a:r>
                <a:rPr lang="en-US" altLang="zh-CN" sz="2400" dirty="0">
                  <a:solidFill>
                    <a:srgbClr val="1C1C1C"/>
                  </a:solidFill>
                  <a:latin typeface="Times New Roman" pitchFamily="18" charset="0"/>
                </a:rPr>
                <a:t>2</a:t>
              </a: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>.</a:t>
              </a:r>
            </a:p>
          </p:txBody>
        </p:sp>
        <p:graphicFrame>
          <p:nvGraphicFramePr>
            <p:cNvPr id="45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3482779"/>
                </p:ext>
              </p:extLst>
            </p:nvPr>
          </p:nvGraphicFramePr>
          <p:xfrm>
            <a:off x="2387818" y="546525"/>
            <a:ext cx="661988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39" name="Equation" r:id="rId11" imgW="304560" imgH="215640" progId="Equation.DSMT4">
                    <p:embed/>
                  </p:oleObj>
                </mc:Choice>
                <mc:Fallback>
                  <p:oleObj name="Equation" r:id="rId11" imgW="304560" imgH="2156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7818" y="546525"/>
                          <a:ext cx="661988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9F071C-3481-4451-9058-182C6C7661DB}" type="slidenum">
              <a:rPr lang="en-US" altLang="zh-CN"/>
              <a:pPr/>
              <a:t>12</a:t>
            </a:fld>
            <a:endParaRPr lang="en-US" altLang="zh-CN"/>
          </a:p>
        </p:txBody>
      </p:sp>
      <p:graphicFrame>
        <p:nvGraphicFramePr>
          <p:cNvPr id="72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126879"/>
              </p:ext>
            </p:extLst>
          </p:nvPr>
        </p:nvGraphicFramePr>
        <p:xfrm>
          <a:off x="5827721" y="3710072"/>
          <a:ext cx="1713479" cy="819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79" name="Equation" r:id="rId3" imgW="736280" imgH="393529" progId="Equation.DSMT4">
                  <p:embed/>
                </p:oleObj>
              </mc:Choice>
              <mc:Fallback>
                <p:oleObj name="Equation" r:id="rId3" imgW="736280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721" y="3710072"/>
                        <a:ext cx="1713479" cy="819924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39999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39999"/>
                            </a:schemeClr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3988631" y="3044303"/>
            <a:ext cx="476642" cy="1714500"/>
            <a:chOff x="4656" y="2352"/>
            <a:chExt cx="912" cy="1440"/>
          </a:xfrm>
        </p:grpSpPr>
        <p:sp>
          <p:nvSpPr>
            <p:cNvPr id="7220" name="Freeform 6"/>
            <p:cNvSpPr>
              <a:spLocks/>
            </p:cNvSpPr>
            <p:nvPr/>
          </p:nvSpPr>
          <p:spPr bwMode="auto">
            <a:xfrm>
              <a:off x="4656" y="2352"/>
              <a:ext cx="768" cy="1440"/>
            </a:xfrm>
            <a:custGeom>
              <a:avLst/>
              <a:gdLst>
                <a:gd name="T0" fmla="*/ 0 w 720"/>
                <a:gd name="T1" fmla="*/ 1778 h 1296"/>
                <a:gd name="T2" fmla="*/ 0 w 720"/>
                <a:gd name="T3" fmla="*/ 309 h 1296"/>
                <a:gd name="T4" fmla="*/ 304 w 720"/>
                <a:gd name="T5" fmla="*/ 303 h 1296"/>
                <a:gd name="T6" fmla="*/ 380 w 720"/>
                <a:gd name="T7" fmla="*/ 0 h 1296"/>
                <a:gd name="T8" fmla="*/ 466 w 720"/>
                <a:gd name="T9" fmla="*/ 303 h 1296"/>
                <a:gd name="T10" fmla="*/ 874 w 720"/>
                <a:gd name="T11" fmla="*/ 309 h 1296"/>
                <a:gd name="T12" fmla="*/ 874 w 720"/>
                <a:gd name="T13" fmla="*/ 1778 h 1296"/>
                <a:gd name="T14" fmla="*/ 0 w 720"/>
                <a:gd name="T15" fmla="*/ 1778 h 12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0" h="1296">
                  <a:moveTo>
                    <a:pt x="0" y="1296"/>
                  </a:moveTo>
                  <a:lnTo>
                    <a:pt x="0" y="225"/>
                  </a:lnTo>
                  <a:lnTo>
                    <a:pt x="250" y="221"/>
                  </a:lnTo>
                  <a:cubicBezTo>
                    <a:pt x="329" y="4"/>
                    <a:pt x="313" y="85"/>
                    <a:pt x="313" y="0"/>
                  </a:cubicBezTo>
                  <a:lnTo>
                    <a:pt x="384" y="221"/>
                  </a:lnTo>
                  <a:lnTo>
                    <a:pt x="720" y="225"/>
                  </a:lnTo>
                  <a:lnTo>
                    <a:pt x="720" y="1296"/>
                  </a:lnTo>
                  <a:lnTo>
                    <a:pt x="0" y="129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0195"/>
              </a:schemeClr>
            </a:solidFill>
            <a:ln w="9525">
              <a:solidFill>
                <a:srgbClr val="9A16A4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21" name="Rectangle 7"/>
            <p:cNvSpPr>
              <a:spLocks noChangeArrowheads="1"/>
            </p:cNvSpPr>
            <p:nvPr/>
          </p:nvSpPr>
          <p:spPr bwMode="auto">
            <a:xfrm>
              <a:off x="4656" y="2743"/>
              <a:ext cx="912" cy="9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ts val="1875"/>
                </a:lnSpc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prstClr val="black"/>
                  </a:solidFill>
                  <a:latin typeface="Times New Roman" pitchFamily="18" charset="0"/>
                </a:rPr>
                <a:t>焦</a:t>
              </a:r>
              <a:endParaRPr kumimoji="1" lang="en-US" altLang="zh-CN" sz="2100" b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ts val="1875"/>
                </a:lnSpc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prstClr val="black"/>
                  </a:solidFill>
                  <a:latin typeface="Times New Roman" pitchFamily="18" charset="0"/>
                </a:rPr>
                <a:t>耳</a:t>
              </a:r>
              <a:endParaRPr kumimoji="1" lang="en-US" altLang="zh-CN" sz="2100" b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ts val="1875"/>
                </a:lnSpc>
                <a:spcBef>
                  <a:spcPct val="50000"/>
                </a:spcBef>
              </a:pPr>
              <a:r>
                <a:rPr kumimoji="1" lang="zh-CN" altLang="en-US" sz="2100" b="1" dirty="0">
                  <a:solidFill>
                    <a:prstClr val="black"/>
                  </a:solidFill>
                  <a:latin typeface="Times New Roman" pitchFamily="18" charset="0"/>
                </a:rPr>
                <a:t>热</a:t>
              </a:r>
            </a:p>
          </p:txBody>
        </p:sp>
      </p:grp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2641890" y="827387"/>
          <a:ext cx="18716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0" name="Equation" r:id="rId5" imgW="875920" imgH="393529" progId="Equation.3">
                  <p:embed/>
                </p:oleObj>
              </mc:Choice>
              <mc:Fallback>
                <p:oleObj name="Equation" r:id="rId5" imgW="875920" imgH="3935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890" y="827387"/>
                        <a:ext cx="1871663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1318139" y="2436784"/>
          <a:ext cx="3456384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1" name="Equation" r:id="rId7" imgW="1574800" imgH="393700" progId="Equation.3">
                  <p:embed/>
                </p:oleObj>
              </mc:Choice>
              <mc:Fallback>
                <p:oleObj name="Equation" r:id="rId7" imgW="15748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139" y="2436784"/>
                        <a:ext cx="3456384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373979"/>
              </p:ext>
            </p:extLst>
          </p:nvPr>
        </p:nvGraphicFramePr>
        <p:xfrm>
          <a:off x="2338575" y="1868497"/>
          <a:ext cx="2538413" cy="39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2" name="Equation" r:id="rId9" imgW="1218960" imgH="203040" progId="Equation.DSMT4">
                  <p:embed/>
                </p:oleObj>
              </mc:Choice>
              <mc:Fallback>
                <p:oleObj name="Equation" r:id="rId9" imgW="121896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575" y="1868497"/>
                        <a:ext cx="2538413" cy="3964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526119" y="3044303"/>
            <a:ext cx="514350" cy="1749028"/>
            <a:chOff x="2880" y="2352"/>
            <a:chExt cx="432" cy="1469"/>
          </a:xfrm>
        </p:grpSpPr>
        <p:sp>
          <p:nvSpPr>
            <p:cNvPr id="7218" name="Freeform 12"/>
            <p:cNvSpPr>
              <a:spLocks/>
            </p:cNvSpPr>
            <p:nvPr/>
          </p:nvSpPr>
          <p:spPr bwMode="auto">
            <a:xfrm>
              <a:off x="2880" y="2352"/>
              <a:ext cx="384" cy="1440"/>
            </a:xfrm>
            <a:custGeom>
              <a:avLst/>
              <a:gdLst>
                <a:gd name="T0" fmla="*/ 0 w 442"/>
                <a:gd name="T1" fmla="*/ 2212 h 1162"/>
                <a:gd name="T2" fmla="*/ 0 w 442"/>
                <a:gd name="T3" fmla="*/ 384 h 1162"/>
                <a:gd name="T4" fmla="*/ 95 w 442"/>
                <a:gd name="T5" fmla="*/ 384 h 1162"/>
                <a:gd name="T6" fmla="*/ 126 w 442"/>
                <a:gd name="T7" fmla="*/ 0 h 1162"/>
                <a:gd name="T8" fmla="*/ 169 w 442"/>
                <a:gd name="T9" fmla="*/ 384 h 1162"/>
                <a:gd name="T10" fmla="*/ 290 w 442"/>
                <a:gd name="T11" fmla="*/ 384 h 1162"/>
                <a:gd name="T12" fmla="*/ 290 w 442"/>
                <a:gd name="T13" fmla="*/ 2212 h 1162"/>
                <a:gd name="T14" fmla="*/ 0 w 442"/>
                <a:gd name="T15" fmla="*/ 2212 h 11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2" h="1162">
                  <a:moveTo>
                    <a:pt x="0" y="1162"/>
                  </a:moveTo>
                  <a:lnTo>
                    <a:pt x="0" y="202"/>
                  </a:lnTo>
                  <a:lnTo>
                    <a:pt x="144" y="202"/>
                  </a:lnTo>
                  <a:cubicBezTo>
                    <a:pt x="193" y="7"/>
                    <a:pt x="192" y="76"/>
                    <a:pt x="192" y="0"/>
                  </a:cubicBezTo>
                  <a:lnTo>
                    <a:pt x="259" y="202"/>
                  </a:lnTo>
                  <a:lnTo>
                    <a:pt x="442" y="202"/>
                  </a:lnTo>
                  <a:lnTo>
                    <a:pt x="442" y="1162"/>
                  </a:lnTo>
                  <a:lnTo>
                    <a:pt x="0" y="116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mpd="sng">
              <a:solidFill>
                <a:srgbClr val="CC00CC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19" name="Text Box 13"/>
            <p:cNvSpPr txBox="1">
              <a:spLocks noChangeArrowheads="1"/>
            </p:cNvSpPr>
            <p:nvPr/>
          </p:nvSpPr>
          <p:spPr bwMode="auto">
            <a:xfrm>
              <a:off x="2880" y="2658"/>
              <a:ext cx="432" cy="1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100" b="1">
                  <a:solidFill>
                    <a:prstClr val="black"/>
                  </a:solidFill>
                  <a:latin typeface="Times New Roman" pitchFamily="18" charset="0"/>
                </a:rPr>
                <a:t>电源作功</a:t>
              </a:r>
              <a:endParaRPr lang="zh-CN" altLang="en-US" sz="2100" b="1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774734" y="3044304"/>
            <a:ext cx="483202" cy="1749029"/>
            <a:chOff x="3696" y="2352"/>
            <a:chExt cx="864" cy="1469"/>
          </a:xfrm>
        </p:grpSpPr>
        <p:sp>
          <p:nvSpPr>
            <p:cNvPr id="7216" name="Freeform 15"/>
            <p:cNvSpPr>
              <a:spLocks/>
            </p:cNvSpPr>
            <p:nvPr/>
          </p:nvSpPr>
          <p:spPr bwMode="auto">
            <a:xfrm>
              <a:off x="3696" y="2352"/>
              <a:ext cx="816" cy="1440"/>
            </a:xfrm>
            <a:custGeom>
              <a:avLst/>
              <a:gdLst>
                <a:gd name="T0" fmla="*/ 0 w 720"/>
                <a:gd name="T1" fmla="*/ 1778 h 1296"/>
                <a:gd name="T2" fmla="*/ 0 w 720"/>
                <a:gd name="T3" fmla="*/ 309 h 1296"/>
                <a:gd name="T4" fmla="*/ 364 w 720"/>
                <a:gd name="T5" fmla="*/ 303 h 1296"/>
                <a:gd name="T6" fmla="*/ 456 w 720"/>
                <a:gd name="T7" fmla="*/ 0 h 1296"/>
                <a:gd name="T8" fmla="*/ 559 w 720"/>
                <a:gd name="T9" fmla="*/ 303 h 1296"/>
                <a:gd name="T10" fmla="*/ 1048 w 720"/>
                <a:gd name="T11" fmla="*/ 309 h 1296"/>
                <a:gd name="T12" fmla="*/ 1048 w 720"/>
                <a:gd name="T13" fmla="*/ 1778 h 1296"/>
                <a:gd name="T14" fmla="*/ 0 w 720"/>
                <a:gd name="T15" fmla="*/ 1778 h 12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0" h="1296">
                  <a:moveTo>
                    <a:pt x="0" y="1296"/>
                  </a:moveTo>
                  <a:lnTo>
                    <a:pt x="0" y="225"/>
                  </a:lnTo>
                  <a:lnTo>
                    <a:pt x="250" y="221"/>
                  </a:lnTo>
                  <a:cubicBezTo>
                    <a:pt x="329" y="4"/>
                    <a:pt x="313" y="85"/>
                    <a:pt x="313" y="0"/>
                  </a:cubicBezTo>
                  <a:lnTo>
                    <a:pt x="384" y="221"/>
                  </a:lnTo>
                  <a:lnTo>
                    <a:pt x="720" y="225"/>
                  </a:lnTo>
                  <a:lnTo>
                    <a:pt x="720" y="1296"/>
                  </a:lnTo>
                  <a:lnTo>
                    <a:pt x="0" y="1296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mpd="sng">
              <a:solidFill>
                <a:srgbClr val="0DADB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17" name="Text Box 16"/>
            <p:cNvSpPr txBox="1">
              <a:spLocks noChangeArrowheads="1"/>
            </p:cNvSpPr>
            <p:nvPr/>
          </p:nvSpPr>
          <p:spPr bwMode="auto">
            <a:xfrm>
              <a:off x="3696" y="2690"/>
              <a:ext cx="864" cy="1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磁</a:t>
              </a:r>
              <a:endParaRPr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场</a:t>
              </a:r>
              <a:endParaRPr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能</a:t>
              </a:r>
              <a:endParaRPr lang="en-US" altLang="zh-CN" sz="2100" b="1" dirty="0">
                <a:solidFill>
                  <a:srgbClr val="1C1C1C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ts val="1500"/>
                </a:lnSpc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  <a:latin typeface="Times New Roman" pitchFamily="18" charset="0"/>
                </a:rPr>
                <a:t>量</a:t>
              </a:r>
            </a:p>
          </p:txBody>
        </p:sp>
      </p:grp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2980136" y="113869"/>
            <a:ext cx="34494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.5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磁场的能量</a:t>
            </a:r>
          </a:p>
        </p:txBody>
      </p:sp>
      <p:sp>
        <p:nvSpPr>
          <p:cNvPr id="55" name="Text Box 34"/>
          <p:cNvSpPr txBox="1">
            <a:spLocks noChangeArrowheads="1"/>
          </p:cNvSpPr>
          <p:nvPr/>
        </p:nvSpPr>
        <p:spPr bwMode="auto">
          <a:xfrm>
            <a:off x="1247175" y="1005837"/>
            <a:ext cx="17329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欧姆定律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:</a:t>
            </a:r>
            <a:endParaRPr lang="zh-CN" altLang="en-US" sz="24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48072" y="1024234"/>
            <a:ext cx="2280047" cy="2066710"/>
            <a:chOff x="6048072" y="673714"/>
            <a:chExt cx="2280047" cy="2066710"/>
          </a:xfrm>
        </p:grpSpPr>
        <p:sp>
          <p:nvSpPr>
            <p:cNvPr id="9237" name="AutoShape 21"/>
            <p:cNvSpPr>
              <a:spLocks noChangeArrowheads="1"/>
            </p:cNvSpPr>
            <p:nvPr/>
          </p:nvSpPr>
          <p:spPr bwMode="auto">
            <a:xfrm rot="16209433">
              <a:off x="6905322" y="217489"/>
              <a:ext cx="565547" cy="2280047"/>
            </a:xfrm>
            <a:prstGeom prst="can">
              <a:avLst>
                <a:gd name="adj" fmla="val 411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84" name="Freeform 22"/>
            <p:cNvSpPr>
              <a:spLocks/>
            </p:cNvSpPr>
            <p:nvPr/>
          </p:nvSpPr>
          <p:spPr bwMode="auto">
            <a:xfrm>
              <a:off x="6409625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0" name="Line 38"/>
            <p:cNvSpPr>
              <a:spLocks noChangeShapeType="1"/>
            </p:cNvSpPr>
            <p:nvPr/>
          </p:nvSpPr>
          <p:spPr bwMode="auto">
            <a:xfrm>
              <a:off x="6409625" y="1640286"/>
              <a:ext cx="0" cy="453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1" name="Freeform 39"/>
            <p:cNvSpPr>
              <a:spLocks/>
            </p:cNvSpPr>
            <p:nvPr/>
          </p:nvSpPr>
          <p:spPr bwMode="auto">
            <a:xfrm rot="191358">
              <a:off x="8063143" y="1057742"/>
              <a:ext cx="126634" cy="590435"/>
            </a:xfrm>
            <a:custGeom>
              <a:avLst/>
              <a:gdLst>
                <a:gd name="T0" fmla="*/ 4 w 121"/>
                <a:gd name="T1" fmla="*/ 45 h 528"/>
                <a:gd name="T2" fmla="*/ 62 w 121"/>
                <a:gd name="T3" fmla="*/ 14 h 528"/>
                <a:gd name="T4" fmla="*/ 78 w 121"/>
                <a:gd name="T5" fmla="*/ 368 h 528"/>
                <a:gd name="T6" fmla="*/ 85 w 121"/>
                <a:gd name="T7" fmla="*/ 462 h 528"/>
                <a:gd name="T8" fmla="*/ 91 w 121"/>
                <a:gd name="T9" fmla="*/ 51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0 w 9669"/>
                <a:gd name="connsiteY0" fmla="*/ 0 h 9148"/>
                <a:gd name="connsiteX1" fmla="*/ 8347 w 9669"/>
                <a:gd name="connsiteY1" fmla="*/ 6345 h 9148"/>
                <a:gd name="connsiteX2" fmla="*/ 9008 w 9669"/>
                <a:gd name="connsiteY2" fmla="*/ 8125 h 9148"/>
                <a:gd name="connsiteX3" fmla="*/ 9669 w 9669"/>
                <a:gd name="connsiteY3" fmla="*/ 9148 h 9148"/>
                <a:gd name="connsiteX0" fmla="*/ 0 w 10000"/>
                <a:gd name="connsiteY0" fmla="*/ 0 h 10000"/>
                <a:gd name="connsiteX1" fmla="*/ 9316 w 10000"/>
                <a:gd name="connsiteY1" fmla="*/ 8882 h 10000"/>
                <a:gd name="connsiteX2" fmla="*/ 10000 w 10000"/>
                <a:gd name="connsiteY2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331 h 10331"/>
                <a:gd name="connsiteX1" fmla="*/ 10000 w 10000"/>
                <a:gd name="connsiteY1" fmla="*/ 10331 h 10331"/>
                <a:gd name="connsiteX0" fmla="*/ 0 w 10000"/>
                <a:gd name="connsiteY0" fmla="*/ 367 h 10367"/>
                <a:gd name="connsiteX1" fmla="*/ 10000 w 10000"/>
                <a:gd name="connsiteY1" fmla="*/ 10367 h 10367"/>
                <a:gd name="connsiteX0" fmla="*/ 0 w 10000"/>
                <a:gd name="connsiteY0" fmla="*/ 365 h 10365"/>
                <a:gd name="connsiteX1" fmla="*/ 10000 w 10000"/>
                <a:gd name="connsiteY1" fmla="*/ 10365 h 1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365">
                  <a:moveTo>
                    <a:pt x="0" y="365"/>
                  </a:moveTo>
                  <a:cubicBezTo>
                    <a:pt x="4085" y="-1778"/>
                    <a:pt x="8679" y="6044"/>
                    <a:pt x="10000" y="10365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2" name="Line 40"/>
            <p:cNvSpPr>
              <a:spLocks noChangeShapeType="1"/>
            </p:cNvSpPr>
            <p:nvPr/>
          </p:nvSpPr>
          <p:spPr bwMode="auto">
            <a:xfrm flipH="1">
              <a:off x="8172940" y="1649810"/>
              <a:ext cx="0" cy="67984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3" name="Rectangle 41"/>
            <p:cNvSpPr>
              <a:spLocks noChangeArrowheads="1"/>
            </p:cNvSpPr>
            <p:nvPr/>
          </p:nvSpPr>
          <p:spPr bwMode="auto">
            <a:xfrm>
              <a:off x="6358825" y="2262983"/>
              <a:ext cx="1088232" cy="114300"/>
            </a:xfrm>
            <a:prstGeom prst="rect">
              <a:avLst/>
            </a:prstGeom>
            <a:gradFill rotWithShape="0">
              <a:gsLst>
                <a:gs pos="0">
                  <a:srgbClr val="000066"/>
                </a:gs>
                <a:gs pos="50000">
                  <a:srgbClr val="F5F5F9"/>
                </a:gs>
                <a:gs pos="100000">
                  <a:srgbClr val="000066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4" name="Line 42"/>
            <p:cNvSpPr>
              <a:spLocks noChangeShapeType="1"/>
            </p:cNvSpPr>
            <p:nvPr/>
          </p:nvSpPr>
          <p:spPr bwMode="auto">
            <a:xfrm>
              <a:off x="6395339" y="2093914"/>
              <a:ext cx="60311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5" name="Line 43"/>
            <p:cNvSpPr>
              <a:spLocks noChangeShapeType="1"/>
            </p:cNvSpPr>
            <p:nvPr/>
          </p:nvSpPr>
          <p:spPr bwMode="auto">
            <a:xfrm>
              <a:off x="6983903" y="2093914"/>
              <a:ext cx="0" cy="16906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6" name="Line 44"/>
            <p:cNvSpPr>
              <a:spLocks noChangeShapeType="1"/>
            </p:cNvSpPr>
            <p:nvPr/>
          </p:nvSpPr>
          <p:spPr bwMode="auto">
            <a:xfrm>
              <a:off x="7764952" y="2320133"/>
              <a:ext cx="41433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7" name="Line 45"/>
            <p:cNvSpPr>
              <a:spLocks noChangeShapeType="1"/>
            </p:cNvSpPr>
            <p:nvPr/>
          </p:nvSpPr>
          <p:spPr bwMode="auto">
            <a:xfrm>
              <a:off x="7447056" y="2320133"/>
              <a:ext cx="20716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8" name="Line 46"/>
            <p:cNvSpPr>
              <a:spLocks noChangeShapeType="1"/>
            </p:cNvSpPr>
            <p:nvPr/>
          </p:nvSpPr>
          <p:spPr bwMode="auto">
            <a:xfrm>
              <a:off x="7654225" y="2149874"/>
              <a:ext cx="0" cy="34051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09" name="Line 47"/>
            <p:cNvSpPr>
              <a:spLocks noChangeShapeType="1"/>
            </p:cNvSpPr>
            <p:nvPr/>
          </p:nvSpPr>
          <p:spPr bwMode="auto">
            <a:xfrm>
              <a:off x="7757809" y="2207024"/>
              <a:ext cx="0" cy="22621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212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4103876"/>
                </p:ext>
              </p:extLst>
            </p:nvPr>
          </p:nvGraphicFramePr>
          <p:xfrm>
            <a:off x="7236987" y="673714"/>
            <a:ext cx="329751" cy="332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83"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987" y="673714"/>
                          <a:ext cx="329751" cy="33212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4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505054"/>
                </p:ext>
              </p:extLst>
            </p:nvPr>
          </p:nvGraphicFramePr>
          <p:xfrm>
            <a:off x="6256034" y="1381920"/>
            <a:ext cx="267891" cy="255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84" name="公式" r:id="rId13" imgW="215640" imgH="241200" progId="Equation.3">
                    <p:embed/>
                  </p:oleObj>
                </mc:Choice>
                <mc:Fallback>
                  <p:oleObj name="公式" r:id="rId13" imgW="215640" imgH="2412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6034" y="1381920"/>
                          <a:ext cx="267891" cy="2559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5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648081"/>
                </p:ext>
              </p:extLst>
            </p:nvPr>
          </p:nvGraphicFramePr>
          <p:xfrm>
            <a:off x="7706613" y="2377283"/>
            <a:ext cx="329803" cy="330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85" name="Equation" r:id="rId15" imgW="139680" imgH="152280" progId="Equation.3">
                    <p:embed/>
                  </p:oleObj>
                </mc:Choice>
                <mc:Fallback>
                  <p:oleObj name="Equation" r:id="rId15" imgW="139680" imgH="15228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6613" y="2377283"/>
                          <a:ext cx="329803" cy="3309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0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1787426"/>
                </p:ext>
              </p:extLst>
            </p:nvPr>
          </p:nvGraphicFramePr>
          <p:xfrm>
            <a:off x="6565994" y="2377283"/>
            <a:ext cx="344091" cy="363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86" name="Equation" r:id="rId17" imgW="152268" imgH="164957" progId="Equation.3">
                    <p:embed/>
                  </p:oleObj>
                </mc:Choice>
                <mc:Fallback>
                  <p:oleObj name="Equation" r:id="rId17" imgW="152268" imgH="164957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5994" y="2377283"/>
                          <a:ext cx="344091" cy="363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Freeform 22"/>
            <p:cNvSpPr>
              <a:spLocks/>
            </p:cNvSpPr>
            <p:nvPr/>
          </p:nvSpPr>
          <p:spPr bwMode="auto">
            <a:xfrm>
              <a:off x="6507763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22"/>
            <p:cNvSpPr>
              <a:spLocks/>
            </p:cNvSpPr>
            <p:nvPr/>
          </p:nvSpPr>
          <p:spPr bwMode="auto">
            <a:xfrm>
              <a:off x="6605901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22"/>
            <p:cNvSpPr>
              <a:spLocks/>
            </p:cNvSpPr>
            <p:nvPr/>
          </p:nvSpPr>
          <p:spPr bwMode="auto">
            <a:xfrm>
              <a:off x="6704039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22"/>
            <p:cNvSpPr>
              <a:spLocks/>
            </p:cNvSpPr>
            <p:nvPr/>
          </p:nvSpPr>
          <p:spPr bwMode="auto">
            <a:xfrm>
              <a:off x="6802177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6900315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22"/>
            <p:cNvSpPr>
              <a:spLocks/>
            </p:cNvSpPr>
            <p:nvPr/>
          </p:nvSpPr>
          <p:spPr bwMode="auto">
            <a:xfrm>
              <a:off x="7096591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22"/>
            <p:cNvSpPr>
              <a:spLocks/>
            </p:cNvSpPr>
            <p:nvPr/>
          </p:nvSpPr>
          <p:spPr bwMode="auto">
            <a:xfrm>
              <a:off x="7292867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22"/>
            <p:cNvSpPr>
              <a:spLocks/>
            </p:cNvSpPr>
            <p:nvPr/>
          </p:nvSpPr>
          <p:spPr bwMode="auto">
            <a:xfrm>
              <a:off x="7391005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22"/>
            <p:cNvSpPr>
              <a:spLocks/>
            </p:cNvSpPr>
            <p:nvPr/>
          </p:nvSpPr>
          <p:spPr bwMode="auto">
            <a:xfrm>
              <a:off x="7587281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22"/>
            <p:cNvSpPr>
              <a:spLocks/>
            </p:cNvSpPr>
            <p:nvPr/>
          </p:nvSpPr>
          <p:spPr bwMode="auto">
            <a:xfrm>
              <a:off x="7685419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22"/>
            <p:cNvSpPr>
              <a:spLocks/>
            </p:cNvSpPr>
            <p:nvPr/>
          </p:nvSpPr>
          <p:spPr bwMode="auto">
            <a:xfrm>
              <a:off x="7881695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22"/>
            <p:cNvSpPr>
              <a:spLocks/>
            </p:cNvSpPr>
            <p:nvPr/>
          </p:nvSpPr>
          <p:spPr bwMode="auto">
            <a:xfrm>
              <a:off x="7979839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22"/>
            <p:cNvSpPr>
              <a:spLocks/>
            </p:cNvSpPr>
            <p:nvPr/>
          </p:nvSpPr>
          <p:spPr bwMode="auto">
            <a:xfrm>
              <a:off x="7489143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22"/>
            <p:cNvSpPr>
              <a:spLocks/>
            </p:cNvSpPr>
            <p:nvPr/>
          </p:nvSpPr>
          <p:spPr bwMode="auto">
            <a:xfrm>
              <a:off x="6998453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22"/>
            <p:cNvSpPr>
              <a:spLocks/>
            </p:cNvSpPr>
            <p:nvPr/>
          </p:nvSpPr>
          <p:spPr bwMode="auto">
            <a:xfrm>
              <a:off x="7194729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22"/>
            <p:cNvSpPr>
              <a:spLocks/>
            </p:cNvSpPr>
            <p:nvPr/>
          </p:nvSpPr>
          <p:spPr bwMode="auto">
            <a:xfrm>
              <a:off x="7783557" y="1055735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62B0E74-A076-4804-9041-B4867F45AD77}" type="slidenum">
              <a:rPr lang="en-US" altLang="zh-CN"/>
              <a:pPr/>
              <a:t>13</a:t>
            </a:fld>
            <a:endParaRPr lang="en-US" altLang="zh-CN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977179"/>
              </p:ext>
            </p:extLst>
          </p:nvPr>
        </p:nvGraphicFramePr>
        <p:xfrm>
          <a:off x="1523204" y="2764252"/>
          <a:ext cx="2987278" cy="426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2" name="公式" r:id="rId3" imgW="2133600" imgH="355600" progId="Equation.3">
                  <p:embed/>
                </p:oleObj>
              </mc:Choice>
              <mc:Fallback>
                <p:oleObj name="公式" r:id="rId3" imgW="2133600" imgH="35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204" y="2764252"/>
                        <a:ext cx="2987278" cy="4262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635544"/>
              </p:ext>
            </p:extLst>
          </p:nvPr>
        </p:nvGraphicFramePr>
        <p:xfrm>
          <a:off x="1586849" y="3524975"/>
          <a:ext cx="3673078" cy="832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3" name="Equation" r:id="rId5" imgW="1701800" imgH="419100" progId="Equation.3">
                  <p:embed/>
                </p:oleObj>
              </mc:Choice>
              <mc:Fallback>
                <p:oleObj name="Equation" r:id="rId5" imgW="17018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849" y="3524975"/>
                        <a:ext cx="3673078" cy="8322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386598"/>
              </p:ext>
            </p:extLst>
          </p:nvPr>
        </p:nvGraphicFramePr>
        <p:xfrm>
          <a:off x="5218460" y="3479986"/>
          <a:ext cx="1283493" cy="89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4" name="Equation" r:id="rId7" imgW="596880" imgH="444240" progId="Equation.DSMT4">
                  <p:embed/>
                </p:oleObj>
              </mc:Choice>
              <mc:Fallback>
                <p:oleObj name="Equation" r:id="rId7" imgW="59688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460" y="3479986"/>
                        <a:ext cx="1283493" cy="891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93163"/>
              </p:ext>
            </p:extLst>
          </p:nvPr>
        </p:nvGraphicFramePr>
        <p:xfrm>
          <a:off x="6468831" y="3676602"/>
          <a:ext cx="1011866" cy="528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5" name="Equation" r:id="rId9" imgW="457200" imgH="228600" progId="Equation.DSMT4">
                  <p:embed/>
                </p:oleObj>
              </mc:Choice>
              <mc:Fallback>
                <p:oleObj name="Equation" r:id="rId9" imgW="457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831" y="3676602"/>
                        <a:ext cx="1011866" cy="5289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1123755" y="695412"/>
            <a:ext cx="2971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Blip>
                <a:blip r:embed="rId11"/>
              </a:buBlip>
            </a:pPr>
            <a:r>
              <a:rPr kumimoji="1" lang="en-US" altLang="zh-CN" sz="2100" b="1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>
                <a:solidFill>
                  <a:prstClr val="black"/>
                </a:solidFill>
                <a:latin typeface="Times New Roman" pitchFamily="18" charset="0"/>
              </a:rPr>
              <a:t>自感线圈磁能</a:t>
            </a:r>
            <a:endParaRPr kumimoji="1" lang="zh-CN" altLang="en-US" sz="2400" b="1">
              <a:solidFill>
                <a:srgbClr val="CC0000"/>
              </a:solidFill>
              <a:latin typeface="Times New Roman" pitchFamily="18" charset="0"/>
            </a:endParaRPr>
          </a:p>
        </p:txBody>
      </p:sp>
      <p:graphicFrame>
        <p:nvGraphicFramePr>
          <p:cNvPr id="82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781805"/>
              </p:ext>
            </p:extLst>
          </p:nvPr>
        </p:nvGraphicFramePr>
        <p:xfrm>
          <a:off x="1586849" y="1426213"/>
          <a:ext cx="1674019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26" name="Equation" r:id="rId12" imgW="736280" imgH="393529" progId="Equation.DSMT4">
                  <p:embed/>
                </p:oleObj>
              </mc:Choice>
              <mc:Fallback>
                <p:oleObj name="Equation" r:id="rId12" imgW="736280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849" y="1426213"/>
                        <a:ext cx="1674019" cy="7905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39999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39999"/>
                            </a:schemeClr>
                          </a:gs>
                        </a:gsLst>
                        <a:lin ang="54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158508" y="872565"/>
            <a:ext cx="2280047" cy="1441944"/>
            <a:chOff x="8439327" y="489667"/>
            <a:chExt cx="2280047" cy="1441944"/>
          </a:xfrm>
        </p:grpSpPr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 rot="16209433">
              <a:off x="9296577" y="55185"/>
              <a:ext cx="565547" cy="2280047"/>
            </a:xfrm>
            <a:prstGeom prst="can">
              <a:avLst>
                <a:gd name="adj" fmla="val 411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22"/>
            <p:cNvSpPr>
              <a:spLocks/>
            </p:cNvSpPr>
            <p:nvPr/>
          </p:nvSpPr>
          <p:spPr bwMode="auto">
            <a:xfrm>
              <a:off x="880088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8802467" y="1477982"/>
              <a:ext cx="0" cy="453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 rot="191358">
              <a:off x="10454398" y="895438"/>
              <a:ext cx="126634" cy="590435"/>
            </a:xfrm>
            <a:custGeom>
              <a:avLst/>
              <a:gdLst>
                <a:gd name="T0" fmla="*/ 4 w 121"/>
                <a:gd name="T1" fmla="*/ 45 h 528"/>
                <a:gd name="T2" fmla="*/ 62 w 121"/>
                <a:gd name="T3" fmla="*/ 14 h 528"/>
                <a:gd name="T4" fmla="*/ 78 w 121"/>
                <a:gd name="T5" fmla="*/ 368 h 528"/>
                <a:gd name="T6" fmla="*/ 85 w 121"/>
                <a:gd name="T7" fmla="*/ 462 h 528"/>
                <a:gd name="T8" fmla="*/ 91 w 121"/>
                <a:gd name="T9" fmla="*/ 51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0 w 9669"/>
                <a:gd name="connsiteY0" fmla="*/ 0 h 9148"/>
                <a:gd name="connsiteX1" fmla="*/ 8347 w 9669"/>
                <a:gd name="connsiteY1" fmla="*/ 6345 h 9148"/>
                <a:gd name="connsiteX2" fmla="*/ 9008 w 9669"/>
                <a:gd name="connsiteY2" fmla="*/ 8125 h 9148"/>
                <a:gd name="connsiteX3" fmla="*/ 9669 w 9669"/>
                <a:gd name="connsiteY3" fmla="*/ 9148 h 9148"/>
                <a:gd name="connsiteX0" fmla="*/ 0 w 10000"/>
                <a:gd name="connsiteY0" fmla="*/ 0 h 10000"/>
                <a:gd name="connsiteX1" fmla="*/ 9316 w 10000"/>
                <a:gd name="connsiteY1" fmla="*/ 8882 h 10000"/>
                <a:gd name="connsiteX2" fmla="*/ 10000 w 10000"/>
                <a:gd name="connsiteY2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331 h 10331"/>
                <a:gd name="connsiteX1" fmla="*/ 10000 w 10000"/>
                <a:gd name="connsiteY1" fmla="*/ 10331 h 10331"/>
                <a:gd name="connsiteX0" fmla="*/ 0 w 10000"/>
                <a:gd name="connsiteY0" fmla="*/ 367 h 10367"/>
                <a:gd name="connsiteX1" fmla="*/ 10000 w 10000"/>
                <a:gd name="connsiteY1" fmla="*/ 10367 h 10367"/>
                <a:gd name="connsiteX0" fmla="*/ 0 w 10000"/>
                <a:gd name="connsiteY0" fmla="*/ 365 h 10365"/>
                <a:gd name="connsiteX1" fmla="*/ 10000 w 10000"/>
                <a:gd name="connsiteY1" fmla="*/ 10365 h 1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365">
                  <a:moveTo>
                    <a:pt x="0" y="365"/>
                  </a:moveTo>
                  <a:cubicBezTo>
                    <a:pt x="4085" y="-1778"/>
                    <a:pt x="8679" y="6044"/>
                    <a:pt x="10000" y="10365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H="1">
              <a:off x="10563402" y="1477983"/>
              <a:ext cx="0" cy="453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2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891823"/>
                </p:ext>
              </p:extLst>
            </p:nvPr>
          </p:nvGraphicFramePr>
          <p:xfrm>
            <a:off x="8647289" y="1219616"/>
            <a:ext cx="267891" cy="255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27" name="公式" r:id="rId14" imgW="215640" imgH="241200" progId="Equation.3">
                    <p:embed/>
                  </p:oleObj>
                </mc:Choice>
                <mc:Fallback>
                  <p:oleObj name="公式" r:id="rId14" imgW="215640" imgH="241200" progId="Equation.3">
                    <p:embed/>
                    <p:pic>
                      <p:nvPicPr>
                        <p:cNvPr id="7214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7289" y="1219616"/>
                          <a:ext cx="267891" cy="2559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Freeform 22"/>
            <p:cNvSpPr>
              <a:spLocks/>
            </p:cNvSpPr>
            <p:nvPr/>
          </p:nvSpPr>
          <p:spPr bwMode="auto">
            <a:xfrm>
              <a:off x="889901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22"/>
            <p:cNvSpPr>
              <a:spLocks/>
            </p:cNvSpPr>
            <p:nvPr/>
          </p:nvSpPr>
          <p:spPr bwMode="auto">
            <a:xfrm>
              <a:off x="899715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22"/>
            <p:cNvSpPr>
              <a:spLocks/>
            </p:cNvSpPr>
            <p:nvPr/>
          </p:nvSpPr>
          <p:spPr bwMode="auto">
            <a:xfrm>
              <a:off x="909529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22"/>
            <p:cNvSpPr>
              <a:spLocks/>
            </p:cNvSpPr>
            <p:nvPr/>
          </p:nvSpPr>
          <p:spPr bwMode="auto">
            <a:xfrm>
              <a:off x="919343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22"/>
            <p:cNvSpPr>
              <a:spLocks/>
            </p:cNvSpPr>
            <p:nvPr/>
          </p:nvSpPr>
          <p:spPr bwMode="auto">
            <a:xfrm>
              <a:off x="929157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22"/>
            <p:cNvSpPr>
              <a:spLocks/>
            </p:cNvSpPr>
            <p:nvPr/>
          </p:nvSpPr>
          <p:spPr bwMode="auto">
            <a:xfrm>
              <a:off x="948784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968412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22"/>
            <p:cNvSpPr>
              <a:spLocks/>
            </p:cNvSpPr>
            <p:nvPr/>
          </p:nvSpPr>
          <p:spPr bwMode="auto">
            <a:xfrm>
              <a:off x="978226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22"/>
            <p:cNvSpPr>
              <a:spLocks/>
            </p:cNvSpPr>
            <p:nvPr/>
          </p:nvSpPr>
          <p:spPr bwMode="auto">
            <a:xfrm>
              <a:off x="997853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22"/>
            <p:cNvSpPr>
              <a:spLocks/>
            </p:cNvSpPr>
            <p:nvPr/>
          </p:nvSpPr>
          <p:spPr bwMode="auto">
            <a:xfrm>
              <a:off x="1007667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22"/>
            <p:cNvSpPr>
              <a:spLocks/>
            </p:cNvSpPr>
            <p:nvPr/>
          </p:nvSpPr>
          <p:spPr bwMode="auto">
            <a:xfrm>
              <a:off x="1027295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22"/>
            <p:cNvSpPr>
              <a:spLocks/>
            </p:cNvSpPr>
            <p:nvPr/>
          </p:nvSpPr>
          <p:spPr bwMode="auto">
            <a:xfrm>
              <a:off x="1037109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22"/>
            <p:cNvSpPr>
              <a:spLocks/>
            </p:cNvSpPr>
            <p:nvPr/>
          </p:nvSpPr>
          <p:spPr bwMode="auto">
            <a:xfrm>
              <a:off x="988039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22"/>
            <p:cNvSpPr>
              <a:spLocks/>
            </p:cNvSpPr>
            <p:nvPr/>
          </p:nvSpPr>
          <p:spPr bwMode="auto">
            <a:xfrm>
              <a:off x="938970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22"/>
            <p:cNvSpPr>
              <a:spLocks/>
            </p:cNvSpPr>
            <p:nvPr/>
          </p:nvSpPr>
          <p:spPr bwMode="auto">
            <a:xfrm>
              <a:off x="958598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22"/>
            <p:cNvSpPr>
              <a:spLocks/>
            </p:cNvSpPr>
            <p:nvPr/>
          </p:nvSpPr>
          <p:spPr bwMode="auto">
            <a:xfrm>
              <a:off x="1017481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1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5886786"/>
                </p:ext>
              </p:extLst>
            </p:nvPr>
          </p:nvGraphicFramePr>
          <p:xfrm>
            <a:off x="9459000" y="489667"/>
            <a:ext cx="355997" cy="340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28" name="公式" r:id="rId16" imgW="190500" imgH="228600" progId="Equation.3">
                    <p:embed/>
                  </p:oleObj>
                </mc:Choice>
                <mc:Fallback>
                  <p:oleObj name="公式" r:id="rId16" imgW="190500" imgH="228600" progId="Equation.3">
                    <p:embed/>
                    <p:pic>
                      <p:nvPicPr>
                        <p:cNvPr id="8225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9000" y="489667"/>
                          <a:ext cx="355997" cy="3405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Line 32"/>
            <p:cNvSpPr>
              <a:spLocks noChangeShapeType="1"/>
            </p:cNvSpPr>
            <p:nvPr/>
          </p:nvSpPr>
          <p:spPr bwMode="auto">
            <a:xfrm flipV="1">
              <a:off x="8804394" y="1650877"/>
              <a:ext cx="0" cy="16311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Line 33"/>
            <p:cNvSpPr>
              <a:spLocks noChangeShapeType="1"/>
            </p:cNvSpPr>
            <p:nvPr/>
          </p:nvSpPr>
          <p:spPr bwMode="auto">
            <a:xfrm flipV="1">
              <a:off x="10567134" y="1650877"/>
              <a:ext cx="0" cy="16311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4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1780586"/>
                </p:ext>
              </p:extLst>
            </p:nvPr>
          </p:nvGraphicFramePr>
          <p:xfrm>
            <a:off x="8497610" y="1596108"/>
            <a:ext cx="219075" cy="327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29" name="公式" r:id="rId18" imgW="165028" imgH="228501" progId="Equation.3">
                    <p:embed/>
                  </p:oleObj>
                </mc:Choice>
                <mc:Fallback>
                  <p:oleObj name="公式" r:id="rId18" imgW="165028" imgH="228501" progId="Equation.3">
                    <p:embed/>
                    <p:pic>
                      <p:nvPicPr>
                        <p:cNvPr id="822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7610" y="1596108"/>
                          <a:ext cx="219075" cy="327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080046C-874A-4CD6-AE41-67F93299FEC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1231028" y="788790"/>
            <a:ext cx="2534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sz="2100" b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磁场能量密度</a:t>
            </a:r>
            <a:endParaRPr kumimoji="1" lang="zh-CN" altLang="en-US" sz="2400" b="1" dirty="0">
              <a:solidFill>
                <a:srgbClr val="CC0000"/>
              </a:solidFill>
              <a:latin typeface="Times New Roman" pitchFamily="18" charset="0"/>
            </a:endParaRP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105484"/>
              </p:ext>
            </p:extLst>
          </p:nvPr>
        </p:nvGraphicFramePr>
        <p:xfrm>
          <a:off x="1231028" y="1884471"/>
          <a:ext cx="3671888" cy="918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07" name="Equation" r:id="rId4" imgW="1777680" imgH="444240" progId="Equation.DSMT4">
                  <p:embed/>
                </p:oleObj>
              </mc:Choice>
              <mc:Fallback>
                <p:oleObj name="Equation" r:id="rId4" imgW="177768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028" y="1884471"/>
                        <a:ext cx="3671888" cy="918281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41000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41000"/>
                            </a:schemeClr>
                          </a:gs>
                        </a:gsLst>
                        <a:lin ang="5400000" scaled="1"/>
                      </a:gradFill>
                      <a:ln w="127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1236040" y="3452252"/>
            <a:ext cx="5275660" cy="908447"/>
            <a:chOff x="671" y="2750"/>
            <a:chExt cx="4431" cy="763"/>
          </a:xfrm>
        </p:grpSpPr>
        <p:sp>
          <p:nvSpPr>
            <p:cNvPr id="9250" name="Text Box 5"/>
            <p:cNvSpPr txBox="1">
              <a:spLocks noChangeArrowheads="1"/>
            </p:cNvSpPr>
            <p:nvPr/>
          </p:nvSpPr>
          <p:spPr bwMode="auto">
            <a:xfrm>
              <a:off x="671" y="2929"/>
              <a:ext cx="1488" cy="3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kumimoji="1" lang="en-US" altLang="zh-CN" sz="2100" b="1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400" b="1">
                  <a:solidFill>
                    <a:prstClr val="black"/>
                  </a:solidFill>
                  <a:latin typeface="Times New Roman" pitchFamily="18" charset="0"/>
                </a:rPr>
                <a:t>磁场能量</a:t>
              </a:r>
            </a:p>
          </p:txBody>
        </p:sp>
        <p:graphicFrame>
          <p:nvGraphicFramePr>
            <p:cNvPr id="9251" name="Object 6"/>
            <p:cNvGraphicFramePr>
              <a:graphicFrameLocks noChangeAspect="1"/>
            </p:cNvGraphicFramePr>
            <p:nvPr/>
          </p:nvGraphicFramePr>
          <p:xfrm>
            <a:off x="2086" y="2750"/>
            <a:ext cx="3016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08" name="公式" r:id="rId6" imgW="1612900" imgH="444500" progId="Equation.3">
                    <p:embed/>
                  </p:oleObj>
                </mc:Choice>
                <mc:Fallback>
                  <p:oleObj name="公式" r:id="rId6" imgW="1612900" imgH="444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2750"/>
                          <a:ext cx="3016" cy="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组合 86"/>
          <p:cNvGrpSpPr/>
          <p:nvPr/>
        </p:nvGrpSpPr>
        <p:grpSpPr>
          <a:xfrm>
            <a:off x="6173748" y="1070685"/>
            <a:ext cx="2280047" cy="1441944"/>
            <a:chOff x="8439327" y="489667"/>
            <a:chExt cx="2280047" cy="1441944"/>
          </a:xfrm>
        </p:grpSpPr>
        <p:sp>
          <p:nvSpPr>
            <p:cNvPr id="88" name="AutoShape 21"/>
            <p:cNvSpPr>
              <a:spLocks noChangeArrowheads="1"/>
            </p:cNvSpPr>
            <p:nvPr/>
          </p:nvSpPr>
          <p:spPr bwMode="auto">
            <a:xfrm rot="16209433">
              <a:off x="9296577" y="55185"/>
              <a:ext cx="565547" cy="2280047"/>
            </a:xfrm>
            <a:prstGeom prst="can">
              <a:avLst>
                <a:gd name="adj" fmla="val 41193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22"/>
            <p:cNvSpPr>
              <a:spLocks/>
            </p:cNvSpPr>
            <p:nvPr/>
          </p:nvSpPr>
          <p:spPr bwMode="auto">
            <a:xfrm>
              <a:off x="880088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Line 38"/>
            <p:cNvSpPr>
              <a:spLocks noChangeShapeType="1"/>
            </p:cNvSpPr>
            <p:nvPr/>
          </p:nvSpPr>
          <p:spPr bwMode="auto">
            <a:xfrm>
              <a:off x="8802467" y="1477982"/>
              <a:ext cx="0" cy="453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39"/>
            <p:cNvSpPr>
              <a:spLocks/>
            </p:cNvSpPr>
            <p:nvPr/>
          </p:nvSpPr>
          <p:spPr bwMode="auto">
            <a:xfrm rot="191358">
              <a:off x="10454398" y="895438"/>
              <a:ext cx="126634" cy="590435"/>
            </a:xfrm>
            <a:custGeom>
              <a:avLst/>
              <a:gdLst>
                <a:gd name="T0" fmla="*/ 4 w 121"/>
                <a:gd name="T1" fmla="*/ 45 h 528"/>
                <a:gd name="T2" fmla="*/ 62 w 121"/>
                <a:gd name="T3" fmla="*/ 14 h 528"/>
                <a:gd name="T4" fmla="*/ 78 w 121"/>
                <a:gd name="T5" fmla="*/ 368 h 528"/>
                <a:gd name="T6" fmla="*/ 85 w 121"/>
                <a:gd name="T7" fmla="*/ 462 h 528"/>
                <a:gd name="T8" fmla="*/ 91 w 121"/>
                <a:gd name="T9" fmla="*/ 513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0 w 9669"/>
                <a:gd name="connsiteY0" fmla="*/ 0 h 9148"/>
                <a:gd name="connsiteX1" fmla="*/ 8347 w 9669"/>
                <a:gd name="connsiteY1" fmla="*/ 6345 h 9148"/>
                <a:gd name="connsiteX2" fmla="*/ 9008 w 9669"/>
                <a:gd name="connsiteY2" fmla="*/ 8125 h 9148"/>
                <a:gd name="connsiteX3" fmla="*/ 9669 w 9669"/>
                <a:gd name="connsiteY3" fmla="*/ 9148 h 9148"/>
                <a:gd name="connsiteX0" fmla="*/ 0 w 10000"/>
                <a:gd name="connsiteY0" fmla="*/ 0 h 10000"/>
                <a:gd name="connsiteX1" fmla="*/ 9316 w 10000"/>
                <a:gd name="connsiteY1" fmla="*/ 8882 h 10000"/>
                <a:gd name="connsiteX2" fmla="*/ 10000 w 10000"/>
                <a:gd name="connsiteY2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331 h 10331"/>
                <a:gd name="connsiteX1" fmla="*/ 10000 w 10000"/>
                <a:gd name="connsiteY1" fmla="*/ 10331 h 10331"/>
                <a:gd name="connsiteX0" fmla="*/ 0 w 10000"/>
                <a:gd name="connsiteY0" fmla="*/ 367 h 10367"/>
                <a:gd name="connsiteX1" fmla="*/ 10000 w 10000"/>
                <a:gd name="connsiteY1" fmla="*/ 10367 h 10367"/>
                <a:gd name="connsiteX0" fmla="*/ 0 w 10000"/>
                <a:gd name="connsiteY0" fmla="*/ 365 h 10365"/>
                <a:gd name="connsiteX1" fmla="*/ 10000 w 10000"/>
                <a:gd name="connsiteY1" fmla="*/ 10365 h 1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365">
                  <a:moveTo>
                    <a:pt x="0" y="365"/>
                  </a:moveTo>
                  <a:cubicBezTo>
                    <a:pt x="4085" y="-1778"/>
                    <a:pt x="8679" y="6044"/>
                    <a:pt x="10000" y="10365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Line 40"/>
            <p:cNvSpPr>
              <a:spLocks noChangeShapeType="1"/>
            </p:cNvSpPr>
            <p:nvPr/>
          </p:nvSpPr>
          <p:spPr bwMode="auto">
            <a:xfrm flipH="1">
              <a:off x="10563402" y="1477983"/>
              <a:ext cx="0" cy="453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93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2071237"/>
                </p:ext>
              </p:extLst>
            </p:nvPr>
          </p:nvGraphicFramePr>
          <p:xfrm>
            <a:off x="8647289" y="1219616"/>
            <a:ext cx="267891" cy="255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09" name="公式" r:id="rId8" imgW="215640" imgH="241200" progId="Equation.3">
                    <p:embed/>
                  </p:oleObj>
                </mc:Choice>
                <mc:Fallback>
                  <p:oleObj name="公式" r:id="rId8" imgW="215640" imgH="241200" progId="Equation.3">
                    <p:embed/>
                    <p:pic>
                      <p:nvPicPr>
                        <p:cNvPr id="52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7289" y="1219616"/>
                          <a:ext cx="267891" cy="2559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" name="Freeform 22"/>
            <p:cNvSpPr>
              <a:spLocks/>
            </p:cNvSpPr>
            <p:nvPr/>
          </p:nvSpPr>
          <p:spPr bwMode="auto">
            <a:xfrm>
              <a:off x="889901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22"/>
            <p:cNvSpPr>
              <a:spLocks/>
            </p:cNvSpPr>
            <p:nvPr/>
          </p:nvSpPr>
          <p:spPr bwMode="auto">
            <a:xfrm>
              <a:off x="899715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22"/>
            <p:cNvSpPr>
              <a:spLocks/>
            </p:cNvSpPr>
            <p:nvPr/>
          </p:nvSpPr>
          <p:spPr bwMode="auto">
            <a:xfrm>
              <a:off x="909529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22"/>
            <p:cNvSpPr>
              <a:spLocks/>
            </p:cNvSpPr>
            <p:nvPr/>
          </p:nvSpPr>
          <p:spPr bwMode="auto">
            <a:xfrm>
              <a:off x="919343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22"/>
            <p:cNvSpPr>
              <a:spLocks/>
            </p:cNvSpPr>
            <p:nvPr/>
          </p:nvSpPr>
          <p:spPr bwMode="auto">
            <a:xfrm>
              <a:off x="929157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22"/>
            <p:cNvSpPr>
              <a:spLocks/>
            </p:cNvSpPr>
            <p:nvPr/>
          </p:nvSpPr>
          <p:spPr bwMode="auto">
            <a:xfrm>
              <a:off x="948784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22"/>
            <p:cNvSpPr>
              <a:spLocks/>
            </p:cNvSpPr>
            <p:nvPr/>
          </p:nvSpPr>
          <p:spPr bwMode="auto">
            <a:xfrm>
              <a:off x="968412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22"/>
            <p:cNvSpPr>
              <a:spLocks/>
            </p:cNvSpPr>
            <p:nvPr/>
          </p:nvSpPr>
          <p:spPr bwMode="auto">
            <a:xfrm>
              <a:off x="978226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22"/>
            <p:cNvSpPr>
              <a:spLocks/>
            </p:cNvSpPr>
            <p:nvPr/>
          </p:nvSpPr>
          <p:spPr bwMode="auto">
            <a:xfrm>
              <a:off x="9978536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2"/>
            <p:cNvSpPr>
              <a:spLocks/>
            </p:cNvSpPr>
            <p:nvPr/>
          </p:nvSpPr>
          <p:spPr bwMode="auto">
            <a:xfrm>
              <a:off x="1007667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2"/>
            <p:cNvSpPr>
              <a:spLocks/>
            </p:cNvSpPr>
            <p:nvPr/>
          </p:nvSpPr>
          <p:spPr bwMode="auto">
            <a:xfrm>
              <a:off x="10272950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2"/>
            <p:cNvSpPr>
              <a:spLocks/>
            </p:cNvSpPr>
            <p:nvPr/>
          </p:nvSpPr>
          <p:spPr bwMode="auto">
            <a:xfrm>
              <a:off x="1037109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22"/>
            <p:cNvSpPr>
              <a:spLocks/>
            </p:cNvSpPr>
            <p:nvPr/>
          </p:nvSpPr>
          <p:spPr bwMode="auto">
            <a:xfrm>
              <a:off x="988039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22"/>
            <p:cNvSpPr>
              <a:spLocks/>
            </p:cNvSpPr>
            <p:nvPr/>
          </p:nvSpPr>
          <p:spPr bwMode="auto">
            <a:xfrm>
              <a:off x="9389708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22"/>
            <p:cNvSpPr>
              <a:spLocks/>
            </p:cNvSpPr>
            <p:nvPr/>
          </p:nvSpPr>
          <p:spPr bwMode="auto">
            <a:xfrm>
              <a:off x="9585984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22"/>
            <p:cNvSpPr>
              <a:spLocks/>
            </p:cNvSpPr>
            <p:nvPr/>
          </p:nvSpPr>
          <p:spPr bwMode="auto">
            <a:xfrm>
              <a:off x="10174812" y="893431"/>
              <a:ext cx="130875" cy="594189"/>
            </a:xfrm>
            <a:custGeom>
              <a:avLst/>
              <a:gdLst>
                <a:gd name="T0" fmla="*/ 0 w 219"/>
                <a:gd name="T1" fmla="*/ 28 h 574"/>
                <a:gd name="T2" fmla="*/ 35 w 219"/>
                <a:gd name="T3" fmla="*/ 5 h 574"/>
                <a:gd name="T4" fmla="*/ 70 w 219"/>
                <a:gd name="T5" fmla="*/ 95 h 574"/>
                <a:gd name="T6" fmla="*/ 104 w 219"/>
                <a:gd name="T7" fmla="*/ 460 h 574"/>
                <a:gd name="T8" fmla="*/ 134 w 219"/>
                <a:gd name="T9" fmla="*/ 559 h 574"/>
                <a:gd name="T10" fmla="*/ 164 w 219"/>
                <a:gd name="T11" fmla="*/ 52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54"/>
                <a:gd name="connsiteY0" fmla="*/ 413 h 9925"/>
                <a:gd name="connsiteX1" fmla="*/ 2146 w 9954"/>
                <a:gd name="connsiteY1" fmla="*/ 12 h 9925"/>
                <a:gd name="connsiteX2" fmla="*/ 6393 w 9954"/>
                <a:gd name="connsiteY2" fmla="*/ 8148 h 9925"/>
                <a:gd name="connsiteX3" fmla="*/ 8174 w 9954"/>
                <a:gd name="connsiteY3" fmla="*/ 9925 h 9925"/>
                <a:gd name="connsiteX4" fmla="*/ 9954 w 9954"/>
                <a:gd name="connsiteY4" fmla="*/ 9246 h 9925"/>
                <a:gd name="connsiteX0" fmla="*/ 0 w 10000"/>
                <a:gd name="connsiteY0" fmla="*/ 0 h 9584"/>
                <a:gd name="connsiteX1" fmla="*/ 6423 w 10000"/>
                <a:gd name="connsiteY1" fmla="*/ 7794 h 9584"/>
                <a:gd name="connsiteX2" fmla="*/ 8212 w 10000"/>
                <a:gd name="connsiteY2" fmla="*/ 9584 h 9584"/>
                <a:gd name="connsiteX3" fmla="*/ 10000 w 10000"/>
                <a:gd name="connsiteY3" fmla="*/ 8900 h 9584"/>
                <a:gd name="connsiteX0" fmla="*/ 0 w 10000"/>
                <a:gd name="connsiteY0" fmla="*/ 0 h 10000"/>
                <a:gd name="connsiteX1" fmla="*/ 8212 w 10000"/>
                <a:gd name="connsiteY1" fmla="*/ 10000 h 10000"/>
                <a:gd name="connsiteX2" fmla="*/ 10000 w 10000"/>
                <a:gd name="connsiteY2" fmla="*/ 9286 h 10000"/>
                <a:gd name="connsiteX0" fmla="*/ 0 w 10000"/>
                <a:gd name="connsiteY0" fmla="*/ 0 h 9286"/>
                <a:gd name="connsiteX1" fmla="*/ 10000 w 10000"/>
                <a:gd name="connsiteY1" fmla="*/ 9286 h 9286"/>
                <a:gd name="connsiteX0" fmla="*/ 0 w 10000"/>
                <a:gd name="connsiteY0" fmla="*/ 471 h 10471"/>
                <a:gd name="connsiteX1" fmla="*/ 10000 w 10000"/>
                <a:gd name="connsiteY1" fmla="*/ 10471 h 10471"/>
                <a:gd name="connsiteX0" fmla="*/ 0 w 10000"/>
                <a:gd name="connsiteY0" fmla="*/ 316 h 10596"/>
                <a:gd name="connsiteX1" fmla="*/ 10000 w 10000"/>
                <a:gd name="connsiteY1" fmla="*/ 10316 h 10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596">
                  <a:moveTo>
                    <a:pt x="0" y="316"/>
                  </a:moveTo>
                  <a:cubicBezTo>
                    <a:pt x="2121" y="-2347"/>
                    <a:pt x="8148" y="12819"/>
                    <a:pt x="10000" y="10316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1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0540703"/>
                </p:ext>
              </p:extLst>
            </p:nvPr>
          </p:nvGraphicFramePr>
          <p:xfrm>
            <a:off x="9459000" y="489667"/>
            <a:ext cx="355997" cy="340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10" name="公式" r:id="rId10" imgW="190500" imgH="228600" progId="Equation.3">
                    <p:embed/>
                  </p:oleObj>
                </mc:Choice>
                <mc:Fallback>
                  <p:oleObj name="公式" r:id="rId10" imgW="190500" imgH="228600" progId="Equation.3">
                    <p:embed/>
                    <p:pic>
                      <p:nvPicPr>
                        <p:cNvPr id="7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9000" y="489667"/>
                          <a:ext cx="355997" cy="3405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" name="Line 32"/>
            <p:cNvSpPr>
              <a:spLocks noChangeShapeType="1"/>
            </p:cNvSpPr>
            <p:nvPr/>
          </p:nvSpPr>
          <p:spPr bwMode="auto">
            <a:xfrm flipV="1">
              <a:off x="8801219" y="1650877"/>
              <a:ext cx="0" cy="1631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Line 33"/>
            <p:cNvSpPr>
              <a:spLocks noChangeShapeType="1"/>
            </p:cNvSpPr>
            <p:nvPr/>
          </p:nvSpPr>
          <p:spPr bwMode="auto">
            <a:xfrm flipV="1">
              <a:off x="10560784" y="1650877"/>
              <a:ext cx="0" cy="1631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13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712872"/>
                </p:ext>
              </p:extLst>
            </p:nvPr>
          </p:nvGraphicFramePr>
          <p:xfrm>
            <a:off x="8497610" y="1596108"/>
            <a:ext cx="219075" cy="327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811" name="公式" r:id="rId12" imgW="165028" imgH="228501" progId="Equation.3">
                    <p:embed/>
                  </p:oleObj>
                </mc:Choice>
                <mc:Fallback>
                  <p:oleObj name="公式" r:id="rId12" imgW="165028" imgH="228501" progId="Equation.3">
                    <p:embed/>
                    <p:pic>
                      <p:nvPicPr>
                        <p:cNvPr id="74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7610" y="1596108"/>
                          <a:ext cx="219075" cy="327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E2D2A04-FDC9-48D3-B4B5-E1B09E8079B2}" type="slidenum">
              <a:rPr lang="en-US" altLang="zh-CN"/>
              <a:pPr/>
              <a:t>15</a:t>
            </a:fld>
            <a:endParaRPr lang="en-US" altLang="zh-CN"/>
          </a:p>
        </p:txBody>
      </p:sp>
      <p:pic>
        <p:nvPicPr>
          <p:cNvPr id="5123" name="Picture 2" descr="Z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5306" y="1425739"/>
            <a:ext cx="2190750" cy="324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3562502" y="1595331"/>
            <a:ext cx="5325466" cy="27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smtClean="0">
                <a:solidFill>
                  <a:srgbClr val="1C1C1C"/>
                </a:solidFill>
                <a:latin typeface="Times New Roman" pitchFamily="18" charset="0"/>
              </a:rPr>
              <a:t>        经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典电磁理论的奠基人，气体动理论创始人之一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.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提出了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有旋电场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位移电流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的概念，建立了经典电磁理论，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预言了以光速传播的电磁波的存在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.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在气体动理论方面，提出了气体分子按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速率分布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的统计规律</a:t>
            </a: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2002136" y="782801"/>
            <a:ext cx="5436104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</a:rPr>
              <a:t>麦克斯韦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（</a:t>
            </a:r>
            <a:r>
              <a:rPr lang="en-US" altLang="zh-CN" sz="2400">
                <a:solidFill>
                  <a:srgbClr val="1C1C1C"/>
                </a:solidFill>
                <a:latin typeface="Times New Roman" pitchFamily="18" charset="0"/>
              </a:rPr>
              <a:t>1831</a:t>
            </a:r>
            <a:r>
              <a:rPr lang="zh-CN" altLang="en-US" sz="2400">
                <a:solidFill>
                  <a:srgbClr val="1C1C1C"/>
                </a:solidFill>
                <a:latin typeface="Times New Roman" pitchFamily="18" charset="0"/>
              </a:rPr>
              <a:t>－</a:t>
            </a:r>
            <a:r>
              <a:rPr lang="en-US" altLang="zh-CN" sz="2400">
                <a:solidFill>
                  <a:srgbClr val="1C1C1C"/>
                </a:solidFill>
                <a:latin typeface="Times New Roman" pitchFamily="18" charset="0"/>
              </a:rPr>
              <a:t>1879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）英国物理学家</a:t>
            </a:r>
          </a:p>
          <a:p>
            <a:pPr eaLnBrk="1" hangingPunct="1"/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53081" y="141480"/>
            <a:ext cx="34494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§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8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.6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麦克斯韦方程组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3"/>
          <p:cNvSpPr txBox="1"/>
          <p:nvPr/>
        </p:nvSpPr>
        <p:spPr>
          <a:xfrm>
            <a:off x="1761554" y="1523400"/>
            <a:ext cx="825052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400" b="1" spc="-19" dirty="0">
                <a:latin typeface="黑体"/>
                <a:cs typeface="黑体"/>
              </a:rPr>
              <a:t>电</a:t>
            </a:r>
            <a:r>
              <a:rPr sz="2400" b="1" spc="-38" dirty="0">
                <a:latin typeface="黑体"/>
                <a:cs typeface="黑体"/>
              </a:rPr>
              <a:t>场</a:t>
            </a:r>
            <a:endParaRPr sz="2400" b="1">
              <a:latin typeface="黑体"/>
              <a:cs typeface="黑体"/>
            </a:endParaRPr>
          </a:p>
        </p:txBody>
      </p:sp>
      <p:sp>
        <p:nvSpPr>
          <p:cNvPr id="43" name="object 4"/>
          <p:cNvSpPr txBox="1"/>
          <p:nvPr/>
        </p:nvSpPr>
        <p:spPr>
          <a:xfrm>
            <a:off x="1761554" y="3183354"/>
            <a:ext cx="825761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400" b="1" spc="-19" dirty="0">
                <a:latin typeface="黑体"/>
                <a:cs typeface="黑体"/>
              </a:rPr>
              <a:t>磁</a:t>
            </a:r>
            <a:r>
              <a:rPr sz="2400" b="1" spc="-38" dirty="0">
                <a:latin typeface="黑体"/>
                <a:cs typeface="黑体"/>
              </a:rPr>
              <a:t>场</a:t>
            </a:r>
            <a:endParaRPr sz="2400" b="1">
              <a:latin typeface="黑体"/>
              <a:cs typeface="黑体"/>
            </a:endParaRPr>
          </a:p>
        </p:txBody>
      </p:sp>
      <p:sp>
        <p:nvSpPr>
          <p:cNvPr id="44" name="object 5"/>
          <p:cNvSpPr/>
          <p:nvPr/>
        </p:nvSpPr>
        <p:spPr>
          <a:xfrm>
            <a:off x="2464396" y="1250915"/>
            <a:ext cx="186862" cy="936689"/>
          </a:xfrm>
          <a:custGeom>
            <a:avLst/>
            <a:gdLst/>
            <a:ahLst/>
            <a:cxnLst/>
            <a:rect l="l" t="t" r="r" b="b"/>
            <a:pathLst>
              <a:path w="144780" h="1080135">
                <a:moveTo>
                  <a:pt x="144525" y="1079881"/>
                </a:moveTo>
                <a:lnTo>
                  <a:pt x="116357" y="1070451"/>
                </a:lnTo>
                <a:lnTo>
                  <a:pt x="93392" y="1044733"/>
                </a:lnTo>
                <a:lnTo>
                  <a:pt x="77928" y="1006586"/>
                </a:lnTo>
                <a:lnTo>
                  <a:pt x="72262" y="959866"/>
                </a:lnTo>
                <a:lnTo>
                  <a:pt x="72262" y="659892"/>
                </a:lnTo>
                <a:lnTo>
                  <a:pt x="66579" y="613245"/>
                </a:lnTo>
                <a:lnTo>
                  <a:pt x="51085" y="575135"/>
                </a:lnTo>
                <a:lnTo>
                  <a:pt x="28114" y="549431"/>
                </a:lnTo>
                <a:lnTo>
                  <a:pt x="0" y="540004"/>
                </a:lnTo>
                <a:lnTo>
                  <a:pt x="28114" y="530574"/>
                </a:lnTo>
                <a:lnTo>
                  <a:pt x="51085" y="504856"/>
                </a:lnTo>
                <a:lnTo>
                  <a:pt x="66579" y="466709"/>
                </a:lnTo>
                <a:lnTo>
                  <a:pt x="72262" y="419988"/>
                </a:lnTo>
                <a:lnTo>
                  <a:pt x="72262" y="120014"/>
                </a:lnTo>
                <a:lnTo>
                  <a:pt x="77928" y="73294"/>
                </a:lnTo>
                <a:lnTo>
                  <a:pt x="93392" y="35147"/>
                </a:lnTo>
                <a:lnTo>
                  <a:pt x="116357" y="9429"/>
                </a:lnTo>
                <a:lnTo>
                  <a:pt x="1445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b="1"/>
          </a:p>
        </p:txBody>
      </p:sp>
      <p:grpSp>
        <p:nvGrpSpPr>
          <p:cNvPr id="3" name="组合 2"/>
          <p:cNvGrpSpPr/>
          <p:nvPr/>
        </p:nvGrpSpPr>
        <p:grpSpPr>
          <a:xfrm>
            <a:off x="2714606" y="1809136"/>
            <a:ext cx="4038505" cy="385784"/>
            <a:chOff x="2127866" y="1809136"/>
            <a:chExt cx="4038505" cy="385784"/>
          </a:xfrm>
        </p:grpSpPr>
        <p:sp>
          <p:nvSpPr>
            <p:cNvPr id="46" name="object 7"/>
            <p:cNvSpPr txBox="1"/>
            <p:nvPr/>
          </p:nvSpPr>
          <p:spPr>
            <a:xfrm flipH="1">
              <a:off x="4550290" y="1816451"/>
              <a:ext cx="1616081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19" dirty="0">
                  <a:latin typeface="黑体"/>
                  <a:cs typeface="黑体"/>
                </a:rPr>
                <a:t>感</a:t>
              </a:r>
              <a:r>
                <a:rPr sz="2400" b="1" spc="-26" dirty="0">
                  <a:latin typeface="黑体"/>
                  <a:cs typeface="黑体"/>
                </a:rPr>
                <a:t>生电</a:t>
              </a:r>
              <a:r>
                <a:rPr sz="2400" b="1" spc="-38" dirty="0">
                  <a:latin typeface="黑体"/>
                  <a:cs typeface="黑体"/>
                </a:rPr>
                <a:t>场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48" name="object 9"/>
            <p:cNvSpPr txBox="1"/>
            <p:nvPr/>
          </p:nvSpPr>
          <p:spPr>
            <a:xfrm>
              <a:off x="2127866" y="1809136"/>
              <a:ext cx="2013014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23" dirty="0">
                  <a:latin typeface="黑体"/>
                  <a:cs typeface="黑体"/>
                </a:rPr>
                <a:t>变</a:t>
              </a:r>
              <a:r>
                <a:rPr sz="2400" b="1" spc="-26" dirty="0">
                  <a:latin typeface="黑体"/>
                  <a:cs typeface="黑体"/>
                </a:rPr>
                <a:t>化的磁</a:t>
              </a:r>
              <a:r>
                <a:rPr sz="2400" b="1" spc="-45" dirty="0">
                  <a:latin typeface="黑体"/>
                  <a:cs typeface="黑体"/>
                </a:rPr>
                <a:t>场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51" name="object 12"/>
            <p:cNvSpPr/>
            <p:nvPr/>
          </p:nvSpPr>
          <p:spPr>
            <a:xfrm flipH="1">
              <a:off x="3813449" y="1980319"/>
              <a:ext cx="643597" cy="81439"/>
            </a:xfrm>
            <a:custGeom>
              <a:avLst/>
              <a:gdLst/>
              <a:ahLst/>
              <a:cxnLst/>
              <a:rect l="l" t="t" r="r" b="b"/>
              <a:pathLst>
                <a:path w="576579" h="108585">
                  <a:moveTo>
                    <a:pt x="0" y="54229"/>
                  </a:moveTo>
                  <a:lnTo>
                    <a:pt x="107950" y="0"/>
                  </a:lnTo>
                  <a:lnTo>
                    <a:pt x="107950" y="27177"/>
                  </a:lnTo>
                  <a:lnTo>
                    <a:pt x="576199" y="27177"/>
                  </a:lnTo>
                  <a:lnTo>
                    <a:pt x="576199" y="81280"/>
                  </a:lnTo>
                  <a:lnTo>
                    <a:pt x="107950" y="81280"/>
                  </a:lnTo>
                  <a:lnTo>
                    <a:pt x="107950" y="108331"/>
                  </a:lnTo>
                  <a:lnTo>
                    <a:pt x="0" y="5422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 b="1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14606" y="1115671"/>
            <a:ext cx="3642282" cy="385784"/>
            <a:chOff x="2127866" y="1115671"/>
            <a:chExt cx="3642282" cy="385784"/>
          </a:xfrm>
        </p:grpSpPr>
        <p:sp>
          <p:nvSpPr>
            <p:cNvPr id="45" name="object 6"/>
            <p:cNvSpPr txBox="1"/>
            <p:nvPr/>
          </p:nvSpPr>
          <p:spPr>
            <a:xfrm flipH="1">
              <a:off x="4550290" y="1122986"/>
              <a:ext cx="1219858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23" dirty="0">
                  <a:latin typeface="黑体"/>
                  <a:cs typeface="黑体"/>
                </a:rPr>
                <a:t>静</a:t>
              </a:r>
              <a:r>
                <a:rPr sz="2400" b="1" spc="-26" dirty="0">
                  <a:latin typeface="黑体"/>
                  <a:cs typeface="黑体"/>
                </a:rPr>
                <a:t>电</a:t>
              </a:r>
              <a:r>
                <a:rPr sz="2400" b="1" spc="-38" dirty="0">
                  <a:latin typeface="黑体"/>
                  <a:cs typeface="黑体"/>
                </a:rPr>
                <a:t>场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47" name="object 8"/>
            <p:cNvSpPr txBox="1"/>
            <p:nvPr/>
          </p:nvSpPr>
          <p:spPr>
            <a:xfrm flipH="1">
              <a:off x="2127866" y="1115671"/>
              <a:ext cx="2013014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23" dirty="0">
                  <a:latin typeface="黑体"/>
                  <a:cs typeface="黑体"/>
                </a:rPr>
                <a:t>静</a:t>
              </a:r>
              <a:r>
                <a:rPr sz="2400" b="1" spc="-26" dirty="0">
                  <a:latin typeface="黑体"/>
                  <a:cs typeface="黑体"/>
                </a:rPr>
                <a:t>止的电</a:t>
              </a:r>
              <a:r>
                <a:rPr sz="2400" b="1" spc="-45" dirty="0">
                  <a:latin typeface="黑体"/>
                  <a:cs typeface="黑体"/>
                </a:rPr>
                <a:t>荷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54" name="object 15"/>
            <p:cNvSpPr/>
            <p:nvPr/>
          </p:nvSpPr>
          <p:spPr>
            <a:xfrm flipH="1">
              <a:off x="3813449" y="1286873"/>
              <a:ext cx="643597" cy="81439"/>
            </a:xfrm>
            <a:custGeom>
              <a:avLst/>
              <a:gdLst/>
              <a:ahLst/>
              <a:cxnLst/>
              <a:rect l="l" t="t" r="r" b="b"/>
              <a:pathLst>
                <a:path w="576579" h="108584">
                  <a:moveTo>
                    <a:pt x="0" y="54229"/>
                  </a:moveTo>
                  <a:lnTo>
                    <a:pt x="107950" y="0"/>
                  </a:lnTo>
                  <a:lnTo>
                    <a:pt x="107950" y="27051"/>
                  </a:lnTo>
                  <a:lnTo>
                    <a:pt x="576199" y="27051"/>
                  </a:lnTo>
                  <a:lnTo>
                    <a:pt x="576199" y="81280"/>
                  </a:lnTo>
                  <a:lnTo>
                    <a:pt x="107950" y="81280"/>
                  </a:lnTo>
                  <a:lnTo>
                    <a:pt x="107950" y="108331"/>
                  </a:lnTo>
                  <a:lnTo>
                    <a:pt x="0" y="5422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 b="1"/>
            </a:p>
          </p:txBody>
        </p:sp>
      </p:grpSp>
      <p:sp>
        <p:nvSpPr>
          <p:cNvPr id="55" name="object 16"/>
          <p:cNvSpPr/>
          <p:nvPr/>
        </p:nvSpPr>
        <p:spPr>
          <a:xfrm>
            <a:off x="2464396" y="2927154"/>
            <a:ext cx="186862" cy="936689"/>
          </a:xfrm>
          <a:custGeom>
            <a:avLst/>
            <a:gdLst/>
            <a:ahLst/>
            <a:cxnLst/>
            <a:rect l="l" t="t" r="r" b="b"/>
            <a:pathLst>
              <a:path w="144780" h="1080135">
                <a:moveTo>
                  <a:pt x="144525" y="1079855"/>
                </a:moveTo>
                <a:lnTo>
                  <a:pt x="116357" y="1070426"/>
                </a:lnTo>
                <a:lnTo>
                  <a:pt x="93392" y="1044711"/>
                </a:lnTo>
                <a:lnTo>
                  <a:pt x="77928" y="1006571"/>
                </a:lnTo>
                <a:lnTo>
                  <a:pt x="72262" y="959866"/>
                </a:lnTo>
                <a:lnTo>
                  <a:pt x="72262" y="659892"/>
                </a:lnTo>
                <a:lnTo>
                  <a:pt x="66579" y="613171"/>
                </a:lnTo>
                <a:lnTo>
                  <a:pt x="51085" y="575024"/>
                </a:lnTo>
                <a:lnTo>
                  <a:pt x="28114" y="549306"/>
                </a:lnTo>
                <a:lnTo>
                  <a:pt x="0" y="539877"/>
                </a:lnTo>
                <a:lnTo>
                  <a:pt x="28114" y="530447"/>
                </a:lnTo>
                <a:lnTo>
                  <a:pt x="51085" y="504729"/>
                </a:lnTo>
                <a:lnTo>
                  <a:pt x="66579" y="466582"/>
                </a:lnTo>
                <a:lnTo>
                  <a:pt x="72262" y="419862"/>
                </a:lnTo>
                <a:lnTo>
                  <a:pt x="72262" y="119887"/>
                </a:lnTo>
                <a:lnTo>
                  <a:pt x="77928" y="73241"/>
                </a:lnTo>
                <a:lnTo>
                  <a:pt x="93392" y="35131"/>
                </a:lnTo>
                <a:lnTo>
                  <a:pt x="116357" y="9427"/>
                </a:lnTo>
                <a:lnTo>
                  <a:pt x="1445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b="1"/>
          </a:p>
        </p:txBody>
      </p:sp>
      <p:grpSp>
        <p:nvGrpSpPr>
          <p:cNvPr id="5" name="组合 4"/>
          <p:cNvGrpSpPr/>
          <p:nvPr/>
        </p:nvGrpSpPr>
        <p:grpSpPr>
          <a:xfrm>
            <a:off x="2714606" y="3532563"/>
            <a:ext cx="4037796" cy="385785"/>
            <a:chOff x="2127866" y="3393575"/>
            <a:chExt cx="4037796" cy="385785"/>
          </a:xfrm>
        </p:grpSpPr>
        <p:sp>
          <p:nvSpPr>
            <p:cNvPr id="57" name="object 18"/>
            <p:cNvSpPr txBox="1"/>
            <p:nvPr/>
          </p:nvSpPr>
          <p:spPr>
            <a:xfrm flipH="1">
              <a:off x="4550290" y="3400890"/>
              <a:ext cx="1615372" cy="378470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23" smtClean="0">
                  <a:solidFill>
                    <a:srgbClr val="C00000"/>
                  </a:solidFill>
                  <a:latin typeface="黑体"/>
                  <a:cs typeface="黑体"/>
                </a:rPr>
                <a:t>感</a:t>
              </a:r>
              <a:r>
                <a:rPr sz="2400" b="1" spc="-26" smtClean="0">
                  <a:solidFill>
                    <a:srgbClr val="C00000"/>
                  </a:solidFill>
                  <a:latin typeface="黑体"/>
                  <a:cs typeface="黑体"/>
                </a:rPr>
                <a:t>生磁</a:t>
              </a:r>
              <a:r>
                <a:rPr sz="2400" b="1" spc="-38" smtClean="0">
                  <a:solidFill>
                    <a:srgbClr val="C00000"/>
                  </a:solidFill>
                  <a:latin typeface="黑体"/>
                  <a:cs typeface="黑体"/>
                </a:rPr>
                <a:t>场</a:t>
              </a:r>
              <a:r>
                <a:rPr lang="en-US" sz="2400" b="1" spc="-38" smtClean="0">
                  <a:solidFill>
                    <a:srgbClr val="C00000"/>
                  </a:solidFill>
                  <a:latin typeface="黑体"/>
                  <a:cs typeface="黑体"/>
                </a:rPr>
                <a:t>?</a:t>
              </a:r>
              <a:endParaRPr sz="2400" b="1">
                <a:solidFill>
                  <a:srgbClr val="C00000"/>
                </a:solidFill>
                <a:latin typeface="黑体"/>
                <a:cs typeface="黑体"/>
              </a:endParaRPr>
            </a:p>
          </p:txBody>
        </p:sp>
        <p:sp>
          <p:nvSpPr>
            <p:cNvPr id="59" name="object 20"/>
            <p:cNvSpPr txBox="1"/>
            <p:nvPr/>
          </p:nvSpPr>
          <p:spPr>
            <a:xfrm flipH="1">
              <a:off x="2127866" y="3393575"/>
              <a:ext cx="2012303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19" dirty="0">
                  <a:latin typeface="黑体"/>
                  <a:cs typeface="黑体"/>
                </a:rPr>
                <a:t>变</a:t>
              </a:r>
              <a:r>
                <a:rPr sz="2400" b="1" spc="-26" dirty="0">
                  <a:latin typeface="黑体"/>
                  <a:cs typeface="黑体"/>
                </a:rPr>
                <a:t>化的电</a:t>
              </a:r>
              <a:r>
                <a:rPr sz="2400" b="1" spc="-38" dirty="0">
                  <a:latin typeface="黑体"/>
                  <a:cs typeface="黑体"/>
                </a:rPr>
                <a:t>场</a:t>
              </a:r>
              <a:endParaRPr sz="2400" b="1">
                <a:latin typeface="黑体"/>
                <a:cs typeface="黑体"/>
              </a:endParaRPr>
            </a:p>
          </p:txBody>
        </p:sp>
        <p:grpSp>
          <p:nvGrpSpPr>
            <p:cNvPr id="60" name="object 21"/>
            <p:cNvGrpSpPr/>
            <p:nvPr/>
          </p:nvGrpSpPr>
          <p:grpSpPr>
            <a:xfrm flipH="1">
              <a:off x="3813449" y="3564720"/>
              <a:ext cx="657773" cy="90964"/>
              <a:chOff x="4781550" y="4148937"/>
              <a:chExt cx="589280" cy="121285"/>
            </a:xfrm>
          </p:grpSpPr>
          <p:sp>
            <p:nvSpPr>
              <p:cNvPr id="61" name="object 22"/>
              <p:cNvSpPr/>
              <p:nvPr/>
            </p:nvSpPr>
            <p:spPr>
              <a:xfrm>
                <a:off x="4787900" y="4155287"/>
                <a:ext cx="57658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576579" h="108585">
                    <a:moveTo>
                      <a:pt x="108076" y="0"/>
                    </a:moveTo>
                    <a:lnTo>
                      <a:pt x="0" y="54165"/>
                    </a:lnTo>
                    <a:lnTo>
                      <a:pt x="108076" y="108343"/>
                    </a:lnTo>
                    <a:lnTo>
                      <a:pt x="108076" y="81254"/>
                    </a:lnTo>
                    <a:lnTo>
                      <a:pt x="576326" y="81254"/>
                    </a:lnTo>
                    <a:lnTo>
                      <a:pt x="576326" y="27076"/>
                    </a:lnTo>
                    <a:lnTo>
                      <a:pt x="108076" y="27076"/>
                    </a:lnTo>
                    <a:lnTo>
                      <a:pt x="108076" y="0"/>
                    </a:lnTo>
                    <a:close/>
                  </a:path>
                </a:pathLst>
              </a:custGeom>
              <a:solidFill>
                <a:srgbClr val="FFFFCC"/>
              </a:solidFill>
            </p:spPr>
            <p:txBody>
              <a:bodyPr wrap="square" lIns="0" tIns="0" rIns="0" bIns="0" rtlCol="0"/>
              <a:lstStyle/>
              <a:p>
                <a:endParaRPr sz="2400" b="1"/>
              </a:p>
            </p:txBody>
          </p:sp>
          <p:sp>
            <p:nvSpPr>
              <p:cNvPr id="62" name="object 23"/>
              <p:cNvSpPr/>
              <p:nvPr/>
            </p:nvSpPr>
            <p:spPr>
              <a:xfrm>
                <a:off x="4787900" y="4155287"/>
                <a:ext cx="57658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576579" h="108585">
                    <a:moveTo>
                      <a:pt x="0" y="54165"/>
                    </a:moveTo>
                    <a:lnTo>
                      <a:pt x="108076" y="0"/>
                    </a:lnTo>
                    <a:lnTo>
                      <a:pt x="108076" y="27076"/>
                    </a:lnTo>
                    <a:lnTo>
                      <a:pt x="576326" y="27076"/>
                    </a:lnTo>
                    <a:lnTo>
                      <a:pt x="576326" y="81254"/>
                    </a:lnTo>
                    <a:lnTo>
                      <a:pt x="108076" y="81254"/>
                    </a:lnTo>
                    <a:lnTo>
                      <a:pt x="108076" y="108343"/>
                    </a:lnTo>
                    <a:lnTo>
                      <a:pt x="0" y="54165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 b="1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2714606" y="2839099"/>
            <a:ext cx="4037796" cy="385784"/>
            <a:chOff x="2127866" y="2700111"/>
            <a:chExt cx="4037796" cy="385784"/>
          </a:xfrm>
        </p:grpSpPr>
        <p:sp>
          <p:nvSpPr>
            <p:cNvPr id="56" name="object 17"/>
            <p:cNvSpPr txBox="1"/>
            <p:nvPr/>
          </p:nvSpPr>
          <p:spPr>
            <a:xfrm flipH="1">
              <a:off x="4550290" y="2707426"/>
              <a:ext cx="1615372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23" dirty="0">
                  <a:latin typeface="黑体"/>
                  <a:cs typeface="黑体"/>
                </a:rPr>
                <a:t>稳</a:t>
              </a:r>
              <a:r>
                <a:rPr sz="2400" b="1" spc="-26" dirty="0">
                  <a:latin typeface="黑体"/>
                  <a:cs typeface="黑体"/>
                </a:rPr>
                <a:t>恒磁</a:t>
              </a:r>
              <a:r>
                <a:rPr sz="2400" b="1" spc="-38" dirty="0">
                  <a:latin typeface="黑体"/>
                  <a:cs typeface="黑体"/>
                </a:rPr>
                <a:t>场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58" name="object 19"/>
            <p:cNvSpPr txBox="1"/>
            <p:nvPr/>
          </p:nvSpPr>
          <p:spPr>
            <a:xfrm flipH="1">
              <a:off x="2127866" y="2700111"/>
              <a:ext cx="2012303" cy="378469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400" b="1" spc="-19" dirty="0">
                  <a:latin typeface="黑体"/>
                  <a:cs typeface="黑体"/>
                </a:rPr>
                <a:t>恒</a:t>
              </a:r>
              <a:r>
                <a:rPr sz="2400" b="1" spc="-26" dirty="0">
                  <a:latin typeface="黑体"/>
                  <a:cs typeface="黑体"/>
                </a:rPr>
                <a:t>定的电</a:t>
              </a:r>
              <a:r>
                <a:rPr sz="2400" b="1" spc="-38" dirty="0">
                  <a:latin typeface="黑体"/>
                  <a:cs typeface="黑体"/>
                </a:rPr>
                <a:t>流</a:t>
              </a:r>
              <a:endParaRPr sz="2400" b="1">
                <a:latin typeface="黑体"/>
                <a:cs typeface="黑体"/>
              </a:endParaRPr>
            </a:p>
          </p:txBody>
        </p:sp>
        <p:sp>
          <p:nvSpPr>
            <p:cNvPr id="65" name="object 26"/>
            <p:cNvSpPr/>
            <p:nvPr/>
          </p:nvSpPr>
          <p:spPr>
            <a:xfrm flipH="1">
              <a:off x="3813449" y="2871275"/>
              <a:ext cx="643597" cy="81439"/>
            </a:xfrm>
            <a:custGeom>
              <a:avLst/>
              <a:gdLst/>
              <a:ahLst/>
              <a:cxnLst/>
              <a:rect l="l" t="t" r="r" b="b"/>
              <a:pathLst>
                <a:path w="576579" h="108585">
                  <a:moveTo>
                    <a:pt x="0" y="54229"/>
                  </a:moveTo>
                  <a:lnTo>
                    <a:pt x="108076" y="0"/>
                  </a:lnTo>
                  <a:lnTo>
                    <a:pt x="108076" y="27177"/>
                  </a:lnTo>
                  <a:lnTo>
                    <a:pt x="576326" y="27177"/>
                  </a:lnTo>
                  <a:lnTo>
                    <a:pt x="576326" y="81280"/>
                  </a:lnTo>
                  <a:lnTo>
                    <a:pt x="108076" y="81280"/>
                  </a:lnTo>
                  <a:lnTo>
                    <a:pt x="108076" y="108331"/>
                  </a:lnTo>
                  <a:lnTo>
                    <a:pt x="0" y="5422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 b="1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865211" y="264529"/>
            <a:ext cx="567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一、位移电流   全电流安培环路定理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908120" y="2641671"/>
            <a:ext cx="2233613" cy="1976438"/>
            <a:chOff x="3645" y="1633"/>
            <a:chExt cx="1876" cy="1660"/>
          </a:xfrm>
        </p:grpSpPr>
        <p:sp>
          <p:nvSpPr>
            <p:cNvPr id="102407" name="Rectangle 7"/>
            <p:cNvSpPr>
              <a:spLocks noChangeArrowheads="1"/>
            </p:cNvSpPr>
            <p:nvPr/>
          </p:nvSpPr>
          <p:spPr bwMode="auto">
            <a:xfrm>
              <a:off x="4327" y="1788"/>
              <a:ext cx="58" cy="90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08" name="Rectangle 8"/>
            <p:cNvSpPr>
              <a:spLocks noChangeArrowheads="1"/>
            </p:cNvSpPr>
            <p:nvPr/>
          </p:nvSpPr>
          <p:spPr bwMode="auto">
            <a:xfrm>
              <a:off x="4855" y="1788"/>
              <a:ext cx="58" cy="90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09" name="Text Box 9"/>
            <p:cNvSpPr txBox="1">
              <a:spLocks noChangeArrowheads="1"/>
            </p:cNvSpPr>
            <p:nvPr/>
          </p:nvSpPr>
          <p:spPr bwMode="auto">
            <a:xfrm>
              <a:off x="4698" y="1641"/>
              <a:ext cx="287" cy="1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14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++++</a:t>
              </a:r>
              <a:endParaRPr kumimoji="1" lang="en-US" altLang="zh-CN" sz="1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0" name="Text Box 10"/>
            <p:cNvSpPr txBox="1">
              <a:spLocks noChangeArrowheads="1"/>
            </p:cNvSpPr>
            <p:nvPr/>
          </p:nvSpPr>
          <p:spPr bwMode="auto">
            <a:xfrm>
              <a:off x="4322" y="1633"/>
              <a:ext cx="184" cy="1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1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----</a:t>
              </a:r>
            </a:p>
          </p:txBody>
        </p:sp>
        <p:sp>
          <p:nvSpPr>
            <p:cNvPr id="102411" name="Line 11"/>
            <p:cNvSpPr>
              <a:spLocks noChangeShapeType="1"/>
            </p:cNvSpPr>
            <p:nvPr/>
          </p:nvSpPr>
          <p:spPr bwMode="auto">
            <a:xfrm>
              <a:off x="4913" y="2270"/>
              <a:ext cx="40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2" name="Line 12"/>
            <p:cNvSpPr>
              <a:spLocks noChangeShapeType="1"/>
            </p:cNvSpPr>
            <p:nvPr/>
          </p:nvSpPr>
          <p:spPr bwMode="auto">
            <a:xfrm>
              <a:off x="3645" y="2270"/>
              <a:ext cx="6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3" name="Line 13"/>
            <p:cNvSpPr>
              <a:spLocks noChangeShapeType="1"/>
            </p:cNvSpPr>
            <p:nvPr/>
          </p:nvSpPr>
          <p:spPr bwMode="auto">
            <a:xfrm>
              <a:off x="3647" y="3287"/>
              <a:ext cx="1663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4" name="Line 14"/>
            <p:cNvSpPr>
              <a:spLocks noChangeShapeType="1"/>
            </p:cNvSpPr>
            <p:nvPr/>
          </p:nvSpPr>
          <p:spPr bwMode="auto">
            <a:xfrm>
              <a:off x="3653" y="2270"/>
              <a:ext cx="0" cy="102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5" name="Line 15"/>
            <p:cNvSpPr>
              <a:spLocks noChangeShapeType="1"/>
            </p:cNvSpPr>
            <p:nvPr/>
          </p:nvSpPr>
          <p:spPr bwMode="auto">
            <a:xfrm>
              <a:off x="5304" y="2268"/>
              <a:ext cx="0" cy="102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6" name="Line 16"/>
            <p:cNvSpPr>
              <a:spLocks noChangeShapeType="1"/>
            </p:cNvSpPr>
            <p:nvPr/>
          </p:nvSpPr>
          <p:spPr bwMode="auto">
            <a:xfrm>
              <a:off x="5303" y="2751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417" name="Text Box 17"/>
            <p:cNvSpPr txBox="1">
              <a:spLocks noChangeArrowheads="1"/>
            </p:cNvSpPr>
            <p:nvPr/>
          </p:nvSpPr>
          <p:spPr bwMode="auto">
            <a:xfrm>
              <a:off x="5336" y="2691"/>
              <a:ext cx="18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 b="1" i="1" dirty="0">
                  <a:latin typeface="Times New Roman" pitchFamily="18" charset="0"/>
                  <a:ea typeface="宋体" charset="-122"/>
                </a:rPr>
                <a:t>I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1370648" y="2252654"/>
            <a:ext cx="3844529" cy="1137048"/>
            <a:chOff x="524" y="1878"/>
            <a:chExt cx="3229" cy="955"/>
          </a:xfrm>
        </p:grpSpPr>
        <p:graphicFrame>
          <p:nvGraphicFramePr>
            <p:cNvPr id="10240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3565743"/>
                </p:ext>
              </p:extLst>
            </p:nvPr>
          </p:nvGraphicFramePr>
          <p:xfrm>
            <a:off x="524" y="2390"/>
            <a:ext cx="1116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290" name="公式" r:id="rId3" imgW="761760" imgH="304560" progId="Equation.3">
                    <p:embed/>
                  </p:oleObj>
                </mc:Choice>
                <mc:Fallback>
                  <p:oleObj name="公式" r:id="rId3" imgW="761760" imgH="304560" progId="Equation.3">
                    <p:embed/>
                    <p:pic>
                      <p:nvPicPr>
                        <p:cNvPr id="10240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2390"/>
                          <a:ext cx="1116" cy="44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8" name="Text Box 18"/>
            <p:cNvSpPr txBox="1">
              <a:spLocks noChangeArrowheads="1"/>
            </p:cNvSpPr>
            <p:nvPr/>
          </p:nvSpPr>
          <p:spPr bwMode="auto">
            <a:xfrm>
              <a:off x="533" y="1878"/>
              <a:ext cx="322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Wingdings" pitchFamily="2" charset="2"/>
                <a:buChar char="l"/>
              </a:pPr>
              <a:r>
                <a:rPr kumimoji="1" lang="zh-CN" altLang="en-US" sz="2400" b="1">
                  <a:latin typeface="Times New Roman" pitchFamily="18" charset="0"/>
                  <a:ea typeface="宋体" charset="-122"/>
                </a:rPr>
                <a:t> 作</a:t>
              </a:r>
              <a:r>
                <a:rPr kumimoji="1" lang="zh-CN" altLang="zh-CN" sz="2400" b="1"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zh-CN" sz="2400" b="1" i="1"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zh-CN" altLang="en-US" sz="2400" b="1" baseline="-25000">
                  <a:latin typeface="Times New Roman" pitchFamily="18" charset="0"/>
                  <a:ea typeface="宋体" charset="-122"/>
                </a:rPr>
                <a:t>1</a:t>
              </a:r>
              <a:r>
                <a:rPr kumimoji="1" lang="zh-CN" altLang="zh-CN" sz="2400" i="1"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en-US" sz="2400" b="1">
                  <a:latin typeface="Times New Roman" pitchFamily="18" charset="0"/>
                  <a:ea typeface="宋体" charset="-122"/>
                </a:rPr>
                <a:t>安培环路 </a:t>
              </a:r>
              <a:endParaRPr kumimoji="1" lang="zh-CN" altLang="zh-CN" sz="2400" b="1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1353979" y="868389"/>
            <a:ext cx="4412175" cy="1225037"/>
            <a:chOff x="624" y="743"/>
            <a:chExt cx="3484" cy="901"/>
          </a:xfrm>
        </p:grpSpPr>
        <p:grpSp>
          <p:nvGrpSpPr>
            <p:cNvPr id="5" name="Group 39"/>
            <p:cNvGrpSpPr>
              <a:grpSpLocks/>
            </p:cNvGrpSpPr>
            <p:nvPr/>
          </p:nvGrpSpPr>
          <p:grpSpPr bwMode="auto">
            <a:xfrm>
              <a:off x="624" y="1240"/>
              <a:ext cx="2230" cy="404"/>
              <a:chOff x="588" y="1123"/>
              <a:chExt cx="2230" cy="404"/>
            </a:xfrm>
          </p:grpSpPr>
          <p:graphicFrame>
            <p:nvGraphicFramePr>
              <p:cNvPr id="102419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097392"/>
                  </p:ext>
                </p:extLst>
              </p:nvPr>
            </p:nvGraphicFramePr>
            <p:xfrm>
              <a:off x="588" y="1123"/>
              <a:ext cx="1136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291" name="Equation" r:id="rId5" imgW="901440" imgH="291960" progId="Equation.3">
                      <p:embed/>
                    </p:oleObj>
                  </mc:Choice>
                  <mc:Fallback>
                    <p:oleObj name="Equation" r:id="rId5" imgW="901440" imgH="291960" progId="Equation.3">
                      <p:embed/>
                      <p:pic>
                        <p:nvPicPr>
                          <p:cNvPr id="10241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8" y="1123"/>
                            <a:ext cx="1136" cy="35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20" name="Object 20"/>
              <p:cNvGraphicFramePr>
                <a:graphicFrameLocks noChangeAspect="1"/>
              </p:cNvGraphicFramePr>
              <p:nvPr/>
            </p:nvGraphicFramePr>
            <p:xfrm>
              <a:off x="2656" y="1160"/>
              <a:ext cx="162" cy="3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292" name="公式" r:id="rId7" imgW="114120" imgH="215640" progId="Equation.3">
                      <p:embed/>
                    </p:oleObj>
                  </mc:Choice>
                  <mc:Fallback>
                    <p:oleObj name="公式" r:id="rId7" imgW="114120" imgH="215640" progId="Equation.3">
                      <p:embed/>
                      <p:pic>
                        <p:nvPicPr>
                          <p:cNvPr id="10242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56" y="1160"/>
                            <a:ext cx="162" cy="3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421" name="Text Box 21"/>
            <p:cNvSpPr txBox="1">
              <a:spLocks noChangeArrowheads="1"/>
            </p:cNvSpPr>
            <p:nvPr/>
          </p:nvSpPr>
          <p:spPr bwMode="auto">
            <a:xfrm>
              <a:off x="724" y="743"/>
              <a:ext cx="3384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安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培环路定理：</a:t>
              </a:r>
              <a:endPara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1370649" y="3467012"/>
            <a:ext cx="3865960" cy="1183482"/>
            <a:chOff x="470" y="2889"/>
            <a:chExt cx="3247" cy="994"/>
          </a:xfrm>
        </p:grpSpPr>
        <p:graphicFrame>
          <p:nvGraphicFramePr>
            <p:cNvPr id="10242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5405356"/>
                </p:ext>
              </p:extLst>
            </p:nvPr>
          </p:nvGraphicFramePr>
          <p:xfrm>
            <a:off x="470" y="3431"/>
            <a:ext cx="1112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293" name="公式" r:id="rId9" imgW="749160" imgH="304560" progId="Equation.3">
                    <p:embed/>
                  </p:oleObj>
                </mc:Choice>
                <mc:Fallback>
                  <p:oleObj name="公式" r:id="rId9" imgW="749160" imgH="304560" progId="Equation.3">
                    <p:embed/>
                    <p:pic>
                      <p:nvPicPr>
                        <p:cNvPr id="102422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" y="3431"/>
                          <a:ext cx="1112" cy="4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43" name="Text Box 43"/>
            <p:cNvSpPr txBox="1">
              <a:spLocks noChangeArrowheads="1"/>
            </p:cNvSpPr>
            <p:nvPr/>
          </p:nvSpPr>
          <p:spPr bwMode="auto">
            <a:xfrm>
              <a:off x="497" y="2889"/>
              <a:ext cx="322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Wingdings" pitchFamily="2" charset="2"/>
                <a:buChar char="l"/>
              </a:pPr>
              <a:r>
                <a:rPr kumimoji="1" lang="zh-CN" altLang="en-US" sz="2400" b="1">
                  <a:latin typeface="Times New Roman" pitchFamily="18" charset="0"/>
                  <a:ea typeface="宋体" charset="-122"/>
                </a:rPr>
                <a:t> 作</a:t>
              </a:r>
              <a:r>
                <a:rPr kumimoji="1" lang="zh-CN" altLang="zh-CN" sz="2400" b="1"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zh-CN" sz="2400" b="1" i="1"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400" b="1" baseline="-25000">
                  <a:latin typeface="Times New Roman" pitchFamily="18" charset="0"/>
                  <a:ea typeface="宋体" charset="-122"/>
                </a:rPr>
                <a:t>2</a:t>
              </a:r>
              <a:r>
                <a:rPr kumimoji="1" lang="zh-CN" altLang="zh-CN" sz="2400" i="1"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en-US" sz="2400" b="1">
                  <a:latin typeface="Times New Roman" pitchFamily="18" charset="0"/>
                  <a:ea typeface="宋体" charset="-122"/>
                </a:rPr>
                <a:t>安培环路</a:t>
              </a:r>
              <a:endParaRPr kumimoji="1" lang="zh-CN" altLang="zh-CN" sz="2400" b="1">
                <a:latin typeface="Times New Roman" pitchFamily="18" charset="0"/>
                <a:ea typeface="宋体" charset="-122"/>
              </a:endParaRPr>
            </a:p>
          </p:txBody>
        </p:sp>
      </p:grpSp>
      <p:graphicFrame>
        <p:nvGraphicFramePr>
          <p:cNvPr id="3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988359"/>
              </p:ext>
            </p:extLst>
          </p:nvPr>
        </p:nvGraphicFramePr>
        <p:xfrm>
          <a:off x="3074988" y="1509713"/>
          <a:ext cx="17764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294" name="Equation" r:id="rId11" imgW="1079280" imgH="291960" progId="Equation.DSMT4">
                  <p:embed/>
                </p:oleObj>
              </mc:Choice>
              <mc:Fallback>
                <p:oleObj name="Equation" r:id="rId11" imgW="1079280" imgH="291960" progId="Equation.DSMT4">
                  <p:embed/>
                  <p:pic>
                    <p:nvPicPr>
                      <p:cNvPr id="3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509713"/>
                        <a:ext cx="1776412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939285"/>
              </p:ext>
            </p:extLst>
          </p:nvPr>
        </p:nvGraphicFramePr>
        <p:xfrm>
          <a:off x="3024188" y="2851150"/>
          <a:ext cx="163988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295" name="Equation" r:id="rId13" imgW="939600" imgH="317160" progId="Equation.DSMT4">
                  <p:embed/>
                </p:oleObj>
              </mc:Choice>
              <mc:Fallback>
                <p:oleObj name="Equation" r:id="rId13" imgW="939600" imgH="317160" progId="Equation.DSMT4">
                  <p:embed/>
                  <p:pic>
                    <p:nvPicPr>
                      <p:cNvPr id="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2851150"/>
                        <a:ext cx="1639887" cy="547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958026"/>
              </p:ext>
            </p:extLst>
          </p:nvPr>
        </p:nvGraphicFramePr>
        <p:xfrm>
          <a:off x="3108325" y="4114800"/>
          <a:ext cx="1266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296" name="Equation" r:id="rId15" imgW="799920" imgH="317160" progId="Equation.DSMT4">
                  <p:embed/>
                </p:oleObj>
              </mc:Choice>
              <mc:Fallback>
                <p:oleObj name="Equation" r:id="rId15" imgW="799920" imgH="317160" progId="Equation.DSMT4">
                  <p:embed/>
                  <p:pic>
                    <p:nvPicPr>
                      <p:cNvPr id="3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4114800"/>
                        <a:ext cx="1266825" cy="503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952062" y="3067916"/>
            <a:ext cx="294085" cy="1181100"/>
            <a:chOff x="7491416" y="4252915"/>
            <a:chExt cx="392113" cy="1574800"/>
          </a:xfrm>
        </p:grpSpPr>
        <p:grpSp>
          <p:nvGrpSpPr>
            <p:cNvPr id="8" name="Group 54"/>
            <p:cNvGrpSpPr>
              <a:grpSpLocks/>
            </p:cNvGrpSpPr>
            <p:nvPr/>
          </p:nvGrpSpPr>
          <p:grpSpPr bwMode="auto">
            <a:xfrm>
              <a:off x="7491416" y="4252915"/>
              <a:ext cx="392113" cy="1574800"/>
              <a:chOff x="4527" y="1847"/>
              <a:chExt cx="247" cy="992"/>
            </a:xfrm>
          </p:grpSpPr>
          <p:sp>
            <p:nvSpPr>
              <p:cNvPr id="102451" name="Oval 51"/>
              <p:cNvSpPr>
                <a:spLocks noChangeArrowheads="1"/>
              </p:cNvSpPr>
              <p:nvPr/>
            </p:nvSpPr>
            <p:spPr bwMode="auto">
              <a:xfrm flipH="1">
                <a:off x="4538" y="1847"/>
                <a:ext cx="175" cy="542"/>
              </a:xfrm>
              <a:prstGeom prst="ellipse">
                <a:avLst/>
              </a:prstGeom>
              <a:noFill/>
              <a:ln w="412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aphicFrame>
            <p:nvGraphicFramePr>
              <p:cNvPr id="102452" name="Object 5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2876478"/>
                  </p:ext>
                </p:extLst>
              </p:nvPr>
            </p:nvGraphicFramePr>
            <p:xfrm>
              <a:off x="4527" y="2448"/>
              <a:ext cx="247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297" name="公式" r:id="rId17" imgW="190440" imgH="215640" progId="Equation.3">
                      <p:embed/>
                    </p:oleObj>
                  </mc:Choice>
                  <mc:Fallback>
                    <p:oleObj name="公式" r:id="rId17" imgW="190440" imgH="215640" progId="Equation.3">
                      <p:embed/>
                      <p:pic>
                        <p:nvPicPr>
                          <p:cNvPr id="102452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7" y="2448"/>
                            <a:ext cx="247" cy="391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7528623" y="4876800"/>
              <a:ext cx="13019" cy="1006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pic>
        <p:nvPicPr>
          <p:cNvPr id="40" name="object 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509142" y="4112332"/>
            <a:ext cx="321465" cy="44683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6178392" y="3067915"/>
            <a:ext cx="518399" cy="1201340"/>
            <a:chOff x="6480175" y="4435993"/>
            <a:chExt cx="691199" cy="1601787"/>
          </a:xfrm>
        </p:grpSpPr>
        <p:grpSp>
          <p:nvGrpSpPr>
            <p:cNvPr id="10" name="组合 9"/>
            <p:cNvGrpSpPr/>
            <p:nvPr/>
          </p:nvGrpSpPr>
          <p:grpSpPr>
            <a:xfrm>
              <a:off x="6480175" y="4435993"/>
              <a:ext cx="403225" cy="1601787"/>
              <a:chOff x="6480175" y="4252914"/>
              <a:chExt cx="403225" cy="1601787"/>
            </a:xfrm>
          </p:grpSpPr>
          <p:grpSp>
            <p:nvGrpSpPr>
              <p:cNvPr id="6" name="Group 53"/>
              <p:cNvGrpSpPr>
                <a:grpSpLocks/>
              </p:cNvGrpSpPr>
              <p:nvPr/>
            </p:nvGrpSpPr>
            <p:grpSpPr bwMode="auto">
              <a:xfrm>
                <a:off x="6480175" y="4252914"/>
                <a:ext cx="403225" cy="1601787"/>
                <a:chOff x="3890" y="1847"/>
                <a:chExt cx="254" cy="1009"/>
              </a:xfrm>
            </p:grpSpPr>
            <p:graphicFrame>
              <p:nvGraphicFramePr>
                <p:cNvPr id="102424" name="Object 2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30131833"/>
                    </p:ext>
                  </p:extLst>
                </p:nvPr>
              </p:nvGraphicFramePr>
              <p:xfrm>
                <a:off x="3890" y="2465"/>
                <a:ext cx="254" cy="39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3298" name="公式" r:id="rId20" imgW="177480" imgH="215640" progId="Equation.3">
                        <p:embed/>
                      </p:oleObj>
                    </mc:Choice>
                    <mc:Fallback>
                      <p:oleObj name="公式" r:id="rId20" imgW="177480" imgH="215640" progId="Equation.3">
                        <p:embed/>
                        <p:pic>
                          <p:nvPicPr>
                            <p:cNvPr id="102424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90" y="2465"/>
                              <a:ext cx="254" cy="391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425" name="Oval 25"/>
                <p:cNvSpPr>
                  <a:spLocks noChangeArrowheads="1"/>
                </p:cNvSpPr>
                <p:nvPr/>
              </p:nvSpPr>
              <p:spPr bwMode="auto">
                <a:xfrm flipH="1">
                  <a:off x="3913" y="1847"/>
                  <a:ext cx="175" cy="542"/>
                </a:xfrm>
                <a:prstGeom prst="ellipse">
                  <a:avLst/>
                </a:prstGeom>
                <a:noFill/>
                <a:ln w="41275">
                  <a:solidFill>
                    <a:srgbClr val="C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 b="1">
                    <a:solidFill>
                      <a:srgbClr val="FFFF66"/>
                    </a:solidFill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37" name="Line 16"/>
              <p:cNvSpPr>
                <a:spLocks noChangeShapeType="1"/>
              </p:cNvSpPr>
              <p:nvPr/>
            </p:nvSpPr>
            <p:spPr bwMode="auto">
              <a:xfrm>
                <a:off x="6522784" y="4816478"/>
                <a:ext cx="6096" cy="11826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>
              <a:off x="6601461" y="4878906"/>
              <a:ext cx="569913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08121" y="1252582"/>
            <a:ext cx="2233613" cy="966178"/>
            <a:chOff x="6119814" y="2015549"/>
            <a:chExt cx="2978151" cy="1288237"/>
          </a:xfrm>
        </p:grpSpPr>
        <p:sp>
          <p:nvSpPr>
            <p:cNvPr id="48" name="Line 11"/>
            <p:cNvSpPr>
              <a:spLocks noChangeShapeType="1"/>
            </p:cNvSpPr>
            <p:nvPr/>
          </p:nvSpPr>
          <p:spPr bwMode="auto">
            <a:xfrm>
              <a:off x="7721287" y="2105985"/>
              <a:ext cx="1048065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9" name="Line 12"/>
            <p:cNvSpPr>
              <a:spLocks noChangeShapeType="1"/>
            </p:cNvSpPr>
            <p:nvPr/>
          </p:nvSpPr>
          <p:spPr bwMode="auto">
            <a:xfrm>
              <a:off x="6119814" y="2105985"/>
              <a:ext cx="109220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0" name="Line 13"/>
            <p:cNvSpPr>
              <a:spLocks noChangeShapeType="1"/>
            </p:cNvSpPr>
            <p:nvPr/>
          </p:nvSpPr>
          <p:spPr bwMode="auto">
            <a:xfrm>
              <a:off x="6122989" y="3303784"/>
              <a:ext cx="1048385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6128450" y="2105986"/>
              <a:ext cx="0" cy="11978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2" name="Line 15"/>
            <p:cNvSpPr>
              <a:spLocks noChangeShapeType="1"/>
            </p:cNvSpPr>
            <p:nvPr/>
          </p:nvSpPr>
          <p:spPr bwMode="auto">
            <a:xfrm>
              <a:off x="8753477" y="2102811"/>
              <a:ext cx="0" cy="120097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3" name="Line 16"/>
            <p:cNvSpPr>
              <a:spLocks noChangeShapeType="1"/>
            </p:cNvSpPr>
            <p:nvPr/>
          </p:nvSpPr>
          <p:spPr bwMode="auto">
            <a:xfrm>
              <a:off x="8752418" y="2661227"/>
              <a:ext cx="0" cy="28733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4" name="Text Box 17"/>
            <p:cNvSpPr txBox="1">
              <a:spLocks noChangeArrowheads="1"/>
            </p:cNvSpPr>
            <p:nvPr/>
          </p:nvSpPr>
          <p:spPr bwMode="auto">
            <a:xfrm>
              <a:off x="8804277" y="2415508"/>
              <a:ext cx="293688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 b="1" i="1" dirty="0">
                  <a:latin typeface="Times New Roman" pitchFamily="18" charset="0"/>
                  <a:ea typeface="宋体" charset="-122"/>
                </a:rPr>
                <a:t>I</a:t>
              </a: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7186784" y="2015549"/>
              <a:ext cx="534503" cy="174521"/>
            </a:xfrm>
            <a:prstGeom prst="rect">
              <a:avLst/>
            </a:prstGeom>
            <a:solidFill>
              <a:srgbClr val="FF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1" name="Line 13"/>
            <p:cNvSpPr>
              <a:spLocks noChangeShapeType="1"/>
            </p:cNvSpPr>
            <p:nvPr/>
          </p:nvSpPr>
          <p:spPr bwMode="auto">
            <a:xfrm>
              <a:off x="7294565" y="3303784"/>
              <a:ext cx="146843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204243" y="994730"/>
            <a:ext cx="491006" cy="997811"/>
            <a:chOff x="6514643" y="1671747"/>
            <a:chExt cx="654675" cy="1330414"/>
          </a:xfrm>
        </p:grpSpPr>
        <p:grpSp>
          <p:nvGrpSpPr>
            <p:cNvPr id="16" name="组合 15"/>
            <p:cNvGrpSpPr/>
            <p:nvPr/>
          </p:nvGrpSpPr>
          <p:grpSpPr>
            <a:xfrm>
              <a:off x="6514643" y="1671747"/>
              <a:ext cx="654675" cy="1330414"/>
              <a:chOff x="6516699" y="1663073"/>
              <a:chExt cx="654675" cy="1330414"/>
            </a:xfrm>
          </p:grpSpPr>
          <p:graphicFrame>
            <p:nvGraphicFramePr>
              <p:cNvPr id="60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7629935"/>
                  </p:ext>
                </p:extLst>
              </p:nvPr>
            </p:nvGraphicFramePr>
            <p:xfrm>
              <a:off x="6538913" y="2611438"/>
              <a:ext cx="369590" cy="3820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299" name="Equation" r:id="rId22" imgW="139680" imgH="152280" progId="Equation.DSMT4">
                      <p:embed/>
                    </p:oleObj>
                  </mc:Choice>
                  <mc:Fallback>
                    <p:oleObj name="Equation" r:id="rId22" imgW="139680" imgH="152280" progId="Equation.DSMT4">
                      <p:embed/>
                      <p:pic>
                        <p:nvPicPr>
                          <p:cNvPr id="102424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8913" y="2611438"/>
                            <a:ext cx="369590" cy="382049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Oval 25"/>
              <p:cNvSpPr>
                <a:spLocks noChangeArrowheads="1"/>
              </p:cNvSpPr>
              <p:nvPr/>
            </p:nvSpPr>
            <p:spPr bwMode="auto">
              <a:xfrm flipH="1">
                <a:off x="6516699" y="1663073"/>
                <a:ext cx="277813" cy="860425"/>
              </a:xfrm>
              <a:prstGeom prst="ellips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62" name="Line 12"/>
              <p:cNvSpPr>
                <a:spLocks noChangeShapeType="1"/>
              </p:cNvSpPr>
              <p:nvPr/>
            </p:nvSpPr>
            <p:spPr bwMode="auto">
              <a:xfrm>
                <a:off x="6601461" y="2098365"/>
                <a:ext cx="569913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63" name="Line 16"/>
            <p:cNvSpPr>
              <a:spLocks noChangeShapeType="1"/>
            </p:cNvSpPr>
            <p:nvPr/>
          </p:nvSpPr>
          <p:spPr bwMode="auto">
            <a:xfrm>
              <a:off x="6522784" y="2226636"/>
              <a:ext cx="6096" cy="118268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719340" y="2031537"/>
            <a:ext cx="231365" cy="36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3781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408D08-4877-42CE-ADBC-CE9E2F978E8A}" type="slidenum">
              <a:rPr lang="en-US" altLang="zh-CN"/>
              <a:pPr/>
              <a:t>18</a:t>
            </a:fld>
            <a:endParaRPr lang="en-US" altLang="zh-CN"/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513955" y="2301759"/>
            <a:ext cx="1876425" cy="1350169"/>
            <a:chOff x="2393" y="1477"/>
            <a:chExt cx="1576" cy="1134"/>
          </a:xfrm>
        </p:grpSpPr>
        <p:sp>
          <p:nvSpPr>
            <p:cNvPr id="10264" name="Text Box 3"/>
            <p:cNvSpPr txBox="1">
              <a:spLocks noChangeArrowheads="1"/>
            </p:cNvSpPr>
            <p:nvPr/>
          </p:nvSpPr>
          <p:spPr bwMode="auto">
            <a:xfrm>
              <a:off x="2393" y="1477"/>
              <a:ext cx="1576" cy="3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kumimoji="1" lang="en-US" altLang="zh-CN" sz="2100" b="1" dirty="0">
                  <a:solidFill>
                    <a:prstClr val="black"/>
                  </a:solidFill>
                  <a:latin typeface="Times New Roman" pitchFamily="18" charset="0"/>
                </a:rPr>
                <a:t>   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Times New Roman" pitchFamily="18" charset="0"/>
                </a:rPr>
                <a:t>位移电流  </a:t>
              </a:r>
              <a:endParaRPr kumimoji="1" lang="zh-CN" altLang="en-US" sz="2400" b="1" dirty="0">
                <a:solidFill>
                  <a:srgbClr val="CC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0265" name="Object 4"/>
            <p:cNvGraphicFramePr>
              <a:graphicFrameLocks noChangeAspect="1"/>
            </p:cNvGraphicFramePr>
            <p:nvPr/>
          </p:nvGraphicFramePr>
          <p:xfrm>
            <a:off x="2495" y="1977"/>
            <a:ext cx="877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83" name="Equation" r:id="rId4" imgW="558720" imgH="393480" progId="Equation.DSMT4">
                    <p:embed/>
                  </p:oleObj>
                </mc:Choice>
                <mc:Fallback>
                  <p:oleObj name="Equation" r:id="rId4" imgW="558720" imgH="3934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" y="1977"/>
                          <a:ext cx="877" cy="6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357259" y="3945113"/>
            <a:ext cx="6868973" cy="978729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通过</a:t>
            </a:r>
            <a:r>
              <a:rPr kumimoji="1" lang="zh-CN" altLang="zh-CN" sz="2400" b="1" dirty="0">
                <a:solidFill>
                  <a:prstClr val="black"/>
                </a:solidFill>
                <a:latin typeface="Times New Roman" pitchFamily="18" charset="0"/>
              </a:rPr>
              <a:t>电场中某一截面的</a:t>
            </a:r>
            <a:r>
              <a:rPr kumimoji="1" lang="zh-CN" altLang="zh-CN" sz="2400" b="1" dirty="0">
                <a:solidFill>
                  <a:srgbClr val="C00000"/>
                </a:solidFill>
                <a:latin typeface="Times New Roman" pitchFamily="18" charset="0"/>
              </a:rPr>
              <a:t>位移电流</a:t>
            </a:r>
            <a:r>
              <a:rPr kumimoji="1" lang="zh-CN" altLang="zh-CN" sz="2400" b="1" dirty="0">
                <a:solidFill>
                  <a:prstClr val="black"/>
                </a:solidFill>
                <a:latin typeface="Times New Roman" pitchFamily="18" charset="0"/>
              </a:rPr>
              <a:t>等于通过该截面</a:t>
            </a:r>
            <a:r>
              <a:rPr kumimoji="1" lang="zh-CN" altLang="zh-CN" sz="2400" b="1" dirty="0">
                <a:solidFill>
                  <a:srgbClr val="C00000"/>
                </a:solidFill>
                <a:latin typeface="Times New Roman" pitchFamily="18" charset="0"/>
              </a:rPr>
              <a:t>电位移通量对时间的变化率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itchFamily="18" charset="0"/>
              </a:rPr>
              <a:t>.</a:t>
            </a:r>
          </a:p>
        </p:txBody>
      </p:sp>
      <p:grpSp>
        <p:nvGrpSpPr>
          <p:cNvPr id="26" name="Group 46"/>
          <p:cNvGrpSpPr>
            <a:grpSpLocks/>
          </p:cNvGrpSpPr>
          <p:nvPr/>
        </p:nvGrpSpPr>
        <p:grpSpPr bwMode="auto">
          <a:xfrm>
            <a:off x="5681472" y="706399"/>
            <a:ext cx="2434828" cy="1797844"/>
            <a:chOff x="3651" y="1783"/>
            <a:chExt cx="2045" cy="1510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4275" y="1788"/>
              <a:ext cx="58" cy="90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4855" y="1788"/>
              <a:ext cx="58" cy="90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4671" y="1822"/>
              <a:ext cx="287" cy="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1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++++</a:t>
              </a:r>
              <a:endParaRPr kumimoji="1" lang="en-US" altLang="zh-CN" sz="2100" dirty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4275" y="1783"/>
              <a:ext cx="184" cy="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100" b="1" dirty="0">
                  <a:solidFill>
                    <a:srgbClr val="0033CC"/>
                  </a:solidFill>
                  <a:latin typeface="Times New Roman" pitchFamily="18" charset="0"/>
                  <a:ea typeface="宋体" charset="-122"/>
                </a:rPr>
                <a:t>----</a:t>
              </a:r>
              <a:endParaRPr kumimoji="1"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4913" y="2270"/>
              <a:ext cx="40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3651" y="2270"/>
              <a:ext cx="62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3" name="Line 13"/>
            <p:cNvSpPr>
              <a:spLocks noChangeShapeType="1"/>
            </p:cNvSpPr>
            <p:nvPr/>
          </p:nvSpPr>
          <p:spPr bwMode="auto">
            <a:xfrm>
              <a:off x="3651" y="3293"/>
              <a:ext cx="1663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>
              <a:off x="3651" y="2270"/>
              <a:ext cx="0" cy="102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5314" y="2270"/>
              <a:ext cx="0" cy="102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>
              <a:off x="5314" y="2751"/>
              <a:ext cx="0" cy="181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5352" y="2691"/>
              <a:ext cx="34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 dirty="0" err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400" b="1" baseline="-25000" dirty="0" err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626568" y="766004"/>
            <a:ext cx="310734" cy="566505"/>
            <a:chOff x="7047275" y="1046738"/>
            <a:chExt cx="414312" cy="755340"/>
          </a:xfrm>
        </p:grpSpPr>
        <p:graphicFrame>
          <p:nvGraphicFramePr>
            <p:cNvPr id="46" name="Object 39"/>
            <p:cNvGraphicFramePr>
              <a:graphicFrameLocks noChangeAspect="1"/>
            </p:cNvGraphicFramePr>
            <p:nvPr/>
          </p:nvGraphicFramePr>
          <p:xfrm>
            <a:off x="7047275" y="1046738"/>
            <a:ext cx="414312" cy="627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84" name="Equation" r:id="rId6" imgW="165028" imgH="228501" progId="Equation.3">
                    <p:embed/>
                  </p:oleObj>
                </mc:Choice>
                <mc:Fallback>
                  <p:oleObj name="Equation" r:id="rId6" imgW="165028" imgH="228501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7275" y="1046738"/>
                          <a:ext cx="414312" cy="6270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AutoShape 41"/>
            <p:cNvSpPr>
              <a:spLocks noChangeArrowheads="1"/>
            </p:cNvSpPr>
            <p:nvPr/>
          </p:nvSpPr>
          <p:spPr bwMode="auto">
            <a:xfrm flipV="1">
              <a:off x="7122842" y="1704478"/>
              <a:ext cx="329733" cy="97600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000000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389039"/>
              </p:ext>
            </p:extLst>
          </p:nvPr>
        </p:nvGraphicFramePr>
        <p:xfrm>
          <a:off x="1612900" y="1289050"/>
          <a:ext cx="236855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85" name="Equation" r:id="rId8" imgW="1244520" imgH="393480" progId="Equation.DSMT4">
                  <p:embed/>
                </p:oleObj>
              </mc:Choice>
              <mc:Fallback>
                <p:oleObj name="Equation" r:id="rId8" imgW="1244520" imgH="3934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1289050"/>
                        <a:ext cx="2368550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46103"/>
              </p:ext>
            </p:extLst>
          </p:nvPr>
        </p:nvGraphicFramePr>
        <p:xfrm>
          <a:off x="4033794" y="411510"/>
          <a:ext cx="879872" cy="33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86" name="公式" r:id="rId10" imgW="469800" imgH="177480" progId="Equation.3">
                  <p:embed/>
                </p:oleObj>
              </mc:Choice>
              <mc:Fallback>
                <p:oleObj name="公式" r:id="rId10" imgW="469800" imgH="177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794" y="411510"/>
                        <a:ext cx="879872" cy="33218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74652"/>
              </p:ext>
            </p:extLst>
          </p:nvPr>
        </p:nvGraphicFramePr>
        <p:xfrm>
          <a:off x="1557338" y="242888"/>
          <a:ext cx="20415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87" name="Equation" r:id="rId12" imgW="1091880" imgH="393480" progId="Equation.DSMT4">
                  <p:embed/>
                </p:oleObj>
              </mc:Choice>
              <mc:Fallback>
                <p:oleObj name="Equation" r:id="rId12" imgW="1091880" imgH="3934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242888"/>
                        <a:ext cx="2041525" cy="76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352784"/>
              </p:ext>
            </p:extLst>
          </p:nvPr>
        </p:nvGraphicFramePr>
        <p:xfrm>
          <a:off x="1729163" y="1421267"/>
          <a:ext cx="190500" cy="441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88" name="Equation" r:id="rId14" imgW="101520" imgH="228600" progId="Equation.DSMT4">
                  <p:embed/>
                </p:oleObj>
              </mc:Choice>
              <mc:Fallback>
                <p:oleObj name="Equation" r:id="rId14" imgW="101520" imgH="2286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163" y="1421267"/>
                        <a:ext cx="190500" cy="4417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组合 58"/>
          <p:cNvGrpSpPr/>
          <p:nvPr/>
        </p:nvGrpSpPr>
        <p:grpSpPr>
          <a:xfrm>
            <a:off x="3255604" y="2846003"/>
            <a:ext cx="3442185" cy="929997"/>
            <a:chOff x="2816805" y="3794667"/>
            <a:chExt cx="4589580" cy="1239995"/>
          </a:xfrm>
        </p:grpSpPr>
        <p:graphicFrame>
          <p:nvGraphicFramePr>
            <p:cNvPr id="55" name="Object 4"/>
            <p:cNvGraphicFramePr>
              <a:graphicFrameLocks noChangeAspect="1"/>
            </p:cNvGraphicFramePr>
            <p:nvPr/>
          </p:nvGraphicFramePr>
          <p:xfrm>
            <a:off x="2962160" y="4014788"/>
            <a:ext cx="4175125" cy="779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89" name="Equation" r:id="rId16" imgW="1676160" imgH="304560" progId="Equation.DSMT4">
                    <p:embed/>
                  </p:oleObj>
                </mc:Choice>
                <mc:Fallback>
                  <p:oleObj name="Equation" r:id="rId16" imgW="1676160" imgH="30456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2160" y="4014788"/>
                          <a:ext cx="4175125" cy="779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Text Box 3"/>
            <p:cNvSpPr txBox="1">
              <a:spLocks noChangeArrowheads="1"/>
            </p:cNvSpPr>
            <p:nvPr/>
          </p:nvSpPr>
          <p:spPr bwMode="auto">
            <a:xfrm>
              <a:off x="5132065" y="3794667"/>
              <a:ext cx="1737745" cy="6155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CC0000"/>
                  </a:solidFill>
                  <a:latin typeface="Times New Roman" pitchFamily="18" charset="0"/>
                </a:rPr>
                <a:t>D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均匀</a:t>
              </a:r>
            </a:p>
          </p:txBody>
        </p:sp>
        <p:sp>
          <p:nvSpPr>
            <p:cNvPr id="57" name="Text Box 3"/>
            <p:cNvSpPr txBox="1">
              <a:spLocks noChangeArrowheads="1"/>
            </p:cNvSpPr>
            <p:nvPr/>
          </p:nvSpPr>
          <p:spPr bwMode="auto">
            <a:xfrm>
              <a:off x="5132065" y="4419109"/>
              <a:ext cx="1737745" cy="6155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CC0000"/>
                  </a:solidFill>
                  <a:latin typeface="Times New Roman" pitchFamily="18" charset="0"/>
                </a:rPr>
                <a:t>S</a:t>
              </a:r>
              <a:r>
                <a:rPr kumimoji="1"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平面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2816805" y="3794667"/>
              <a:ext cx="4589580" cy="1203881"/>
            </a:xfrm>
            <a:prstGeom prst="rect">
              <a:avLst/>
            </a:prstGeom>
            <a:noFill/>
            <a:ln w="31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FA96A7-1184-4C23-8B4B-6F81FD031237}" type="slidenum">
              <a:rPr lang="en-US" altLang="zh-CN"/>
              <a:pPr/>
              <a:t>19</a:t>
            </a:fld>
            <a:endParaRPr lang="en-US" altLang="zh-CN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014910"/>
              </p:ext>
            </p:extLst>
          </p:nvPr>
        </p:nvGraphicFramePr>
        <p:xfrm>
          <a:off x="1428412" y="1067429"/>
          <a:ext cx="2191841" cy="55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54" name="Equation" r:id="rId3" imgW="1104840" imgH="304560" progId="Equation.DSMT4">
                  <p:embed/>
                </p:oleObj>
              </mc:Choice>
              <mc:Fallback>
                <p:oleObj name="Equation" r:id="rId3" imgW="110484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12" y="1067429"/>
                        <a:ext cx="2191841" cy="5587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264133" y="3182978"/>
            <a:ext cx="6736868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(1)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全电流是连续的；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CC0000"/>
                </a:solidFill>
                <a:latin typeface="Times New Roman" pitchFamily="18" charset="0"/>
              </a:rPr>
              <a:t>(2)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位移电流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和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传导电流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一样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激发磁场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itchFamily="18" charset="0"/>
              </a:rPr>
              <a:t>(3)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传导电流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产生</a:t>
            </a:r>
            <a:r>
              <a:rPr kumimoji="1" lang="zh-CN" altLang="en-US" sz="2400" b="1" dirty="0">
                <a:latin typeface="Times New Roman" pitchFamily="18" charset="0"/>
              </a:rPr>
              <a:t>焦耳热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，位移电流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不产生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itchFamily="18" charset="0"/>
              </a:rPr>
              <a:t>焦耳热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itchFamily="18" charset="0"/>
              </a:rPr>
              <a:t>.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920286" y="354677"/>
            <a:ext cx="3028951" cy="482203"/>
            <a:chOff x="2304" y="649"/>
            <a:chExt cx="2544" cy="405"/>
          </a:xfrm>
        </p:grpSpPr>
        <p:sp>
          <p:nvSpPr>
            <p:cNvPr id="11272" name="Text Box 22"/>
            <p:cNvSpPr txBox="1">
              <a:spLocks noChangeArrowheads="1"/>
            </p:cNvSpPr>
            <p:nvPr/>
          </p:nvSpPr>
          <p:spPr bwMode="auto">
            <a:xfrm>
              <a:off x="2304" y="666"/>
              <a:ext cx="134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kumimoji="1" lang="en-US" altLang="zh-CN" sz="2100" b="1">
                  <a:solidFill>
                    <a:prstClr val="black"/>
                  </a:solidFill>
                  <a:latin typeface="Times New Roman" pitchFamily="18" charset="0"/>
                </a:rPr>
                <a:t>  </a:t>
              </a:r>
              <a:r>
                <a:rPr kumimoji="1" lang="zh-CN" altLang="en-US" sz="2400" b="1">
                  <a:solidFill>
                    <a:prstClr val="black"/>
                  </a:solidFill>
                  <a:latin typeface="Times New Roman" pitchFamily="18" charset="0"/>
                </a:rPr>
                <a:t>全电流</a:t>
              </a:r>
            </a:p>
          </p:txBody>
        </p:sp>
        <p:graphicFrame>
          <p:nvGraphicFramePr>
            <p:cNvPr id="11273" name="Object 23"/>
            <p:cNvGraphicFramePr>
              <a:graphicFrameLocks noChangeAspect="1"/>
            </p:cNvGraphicFramePr>
            <p:nvPr/>
          </p:nvGraphicFramePr>
          <p:xfrm>
            <a:off x="3575" y="649"/>
            <a:ext cx="1273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255" name="Equation" r:id="rId6" imgW="685800" imgH="228600" progId="Equation.DSMT4">
                    <p:embed/>
                  </p:oleObj>
                </mc:Choice>
                <mc:Fallback>
                  <p:oleObj name="Equation" r:id="rId6" imgW="685800" imgH="2286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5" y="649"/>
                          <a:ext cx="1273" cy="38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>
                                <a:alpha val="47000"/>
                              </a:schemeClr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>
                                <a:alpha val="47000"/>
                              </a:schemeClr>
                            </a:gs>
                          </a:gsLst>
                          <a:lin ang="5400000" scaled="1"/>
                        </a:gradFill>
                        <a:ln w="1270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矩形 40"/>
          <p:cNvSpPr/>
          <p:nvPr/>
        </p:nvSpPr>
        <p:spPr>
          <a:xfrm>
            <a:off x="1534163" y="2550019"/>
            <a:ext cx="3746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全电流安培环路定理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453821"/>
              </p:ext>
            </p:extLst>
          </p:nvPr>
        </p:nvGraphicFramePr>
        <p:xfrm>
          <a:off x="1376076" y="1812157"/>
          <a:ext cx="2670572" cy="55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256" name="Equation" r:id="rId8" imgW="1346040" imgH="304560" progId="Equation.DSMT4">
                  <p:embed/>
                </p:oleObj>
              </mc:Choice>
              <mc:Fallback>
                <p:oleObj name="Equation" r:id="rId8" imgW="1346040" imgH="304560" progId="Equation.DSMT4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076" y="1812157"/>
                        <a:ext cx="2670572" cy="5584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0606" y="3599619"/>
            <a:ext cx="1215628" cy="800099"/>
            <a:chOff x="10606" y="3599619"/>
            <a:chExt cx="1215628" cy="800099"/>
          </a:xfrm>
        </p:grpSpPr>
        <p:sp>
          <p:nvSpPr>
            <p:cNvPr id="43" name="AutoShape 8"/>
            <p:cNvSpPr>
              <a:spLocks noChangeArrowheads="1"/>
            </p:cNvSpPr>
            <p:nvPr/>
          </p:nvSpPr>
          <p:spPr bwMode="auto">
            <a:xfrm>
              <a:off x="10606" y="3599619"/>
              <a:ext cx="1215628" cy="800099"/>
            </a:xfrm>
            <a:prstGeom prst="irregularSeal1">
              <a:avLst/>
            </a:prstGeom>
            <a:solidFill>
              <a:srgbClr val="FDE3E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247539" y="3768688"/>
              <a:ext cx="928885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注意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833872" y="706399"/>
            <a:ext cx="2434828" cy="1797844"/>
            <a:chOff x="5483352" y="706399"/>
            <a:chExt cx="2434828" cy="1797844"/>
          </a:xfrm>
        </p:grpSpPr>
        <p:grpSp>
          <p:nvGrpSpPr>
            <p:cNvPr id="45" name="Group 46"/>
            <p:cNvGrpSpPr>
              <a:grpSpLocks/>
            </p:cNvGrpSpPr>
            <p:nvPr/>
          </p:nvGrpSpPr>
          <p:grpSpPr bwMode="auto">
            <a:xfrm>
              <a:off x="5483352" y="706399"/>
              <a:ext cx="2434828" cy="1797844"/>
              <a:chOff x="3651" y="1783"/>
              <a:chExt cx="2045" cy="1510"/>
            </a:xfrm>
          </p:grpSpPr>
          <p:sp>
            <p:nvSpPr>
              <p:cNvPr id="46" name="Rectangle 7"/>
              <p:cNvSpPr>
                <a:spLocks noChangeArrowheads="1"/>
              </p:cNvSpPr>
              <p:nvPr/>
            </p:nvSpPr>
            <p:spPr bwMode="auto">
              <a:xfrm>
                <a:off x="4275" y="1788"/>
                <a:ext cx="58" cy="90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7" name="Rectangle 8"/>
              <p:cNvSpPr>
                <a:spLocks noChangeArrowheads="1"/>
              </p:cNvSpPr>
              <p:nvPr/>
            </p:nvSpPr>
            <p:spPr bwMode="auto">
              <a:xfrm>
                <a:off x="4855" y="1788"/>
                <a:ext cx="58" cy="90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8" name="Text Box 9"/>
              <p:cNvSpPr txBox="1">
                <a:spLocks noChangeArrowheads="1"/>
              </p:cNvSpPr>
              <p:nvPr/>
            </p:nvSpPr>
            <p:spPr bwMode="auto">
              <a:xfrm>
                <a:off x="4671" y="1822"/>
                <a:ext cx="287" cy="9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kumimoji="1" lang="en-US" altLang="zh-CN" sz="21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++++</a:t>
                </a:r>
                <a:endParaRPr kumimoji="1" lang="en-US" altLang="zh-CN" sz="21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9" name="Text Box 10"/>
              <p:cNvSpPr txBox="1">
                <a:spLocks noChangeArrowheads="1"/>
              </p:cNvSpPr>
              <p:nvPr/>
            </p:nvSpPr>
            <p:spPr bwMode="auto">
              <a:xfrm>
                <a:off x="4275" y="1783"/>
                <a:ext cx="184" cy="9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kumimoji="1" lang="en-US" altLang="zh-CN" sz="2100" b="1" dirty="0">
                    <a:solidFill>
                      <a:srgbClr val="0033CC"/>
                    </a:solidFill>
                    <a:latin typeface="Times New Roman" pitchFamily="18" charset="0"/>
                    <a:ea typeface="宋体" charset="-122"/>
                  </a:rPr>
                  <a:t>----</a:t>
                </a:r>
                <a:endPara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0" name="Line 11"/>
              <p:cNvSpPr>
                <a:spLocks noChangeShapeType="1"/>
              </p:cNvSpPr>
              <p:nvPr/>
            </p:nvSpPr>
            <p:spPr bwMode="auto">
              <a:xfrm>
                <a:off x="4913" y="2270"/>
                <a:ext cx="401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1" name="Line 12"/>
              <p:cNvSpPr>
                <a:spLocks noChangeShapeType="1"/>
              </p:cNvSpPr>
              <p:nvPr/>
            </p:nvSpPr>
            <p:spPr bwMode="auto">
              <a:xfrm>
                <a:off x="3651" y="2270"/>
                <a:ext cx="624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2" name="Line 13"/>
              <p:cNvSpPr>
                <a:spLocks noChangeShapeType="1"/>
              </p:cNvSpPr>
              <p:nvPr/>
            </p:nvSpPr>
            <p:spPr bwMode="auto">
              <a:xfrm>
                <a:off x="3651" y="3293"/>
                <a:ext cx="1663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3" name="Line 14"/>
              <p:cNvSpPr>
                <a:spLocks noChangeShapeType="1"/>
              </p:cNvSpPr>
              <p:nvPr/>
            </p:nvSpPr>
            <p:spPr bwMode="auto">
              <a:xfrm>
                <a:off x="3651" y="2270"/>
                <a:ext cx="0" cy="1023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4" name="Line 15"/>
              <p:cNvSpPr>
                <a:spLocks noChangeShapeType="1"/>
              </p:cNvSpPr>
              <p:nvPr/>
            </p:nvSpPr>
            <p:spPr bwMode="auto">
              <a:xfrm>
                <a:off x="5314" y="2270"/>
                <a:ext cx="0" cy="1023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5" name="Line 16"/>
              <p:cNvSpPr>
                <a:spLocks noChangeShapeType="1"/>
              </p:cNvSpPr>
              <p:nvPr/>
            </p:nvSpPr>
            <p:spPr bwMode="auto">
              <a:xfrm>
                <a:off x="5314" y="2751"/>
                <a:ext cx="0" cy="181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 b="1">
                  <a:solidFill>
                    <a:srgbClr val="FFFF66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6" name="Text Box 17"/>
              <p:cNvSpPr txBox="1">
                <a:spLocks noChangeArrowheads="1"/>
              </p:cNvSpPr>
              <p:nvPr/>
            </p:nvSpPr>
            <p:spPr bwMode="auto">
              <a:xfrm>
                <a:off x="5352" y="2691"/>
                <a:ext cx="344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 dirty="0" err="1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r>
                  <a:rPr kumimoji="1" lang="en-US" altLang="zh-CN" sz="2400" b="1" baseline="-25000" dirty="0" err="1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400" b="1" baseline="-250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6428448" y="766004"/>
              <a:ext cx="310734" cy="566505"/>
              <a:chOff x="7047275" y="1046738"/>
              <a:chExt cx="414312" cy="755340"/>
            </a:xfrm>
          </p:grpSpPr>
          <p:graphicFrame>
            <p:nvGraphicFramePr>
              <p:cNvPr id="58" name="Object 39"/>
              <p:cNvGraphicFramePr>
                <a:graphicFrameLocks noChangeAspect="1"/>
              </p:cNvGraphicFramePr>
              <p:nvPr/>
            </p:nvGraphicFramePr>
            <p:xfrm>
              <a:off x="7047275" y="1046738"/>
              <a:ext cx="414312" cy="6270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3257" name="Equation" r:id="rId10" imgW="165028" imgH="228501" progId="Equation.3">
                      <p:embed/>
                    </p:oleObj>
                  </mc:Choice>
                  <mc:Fallback>
                    <p:oleObj name="Equation" r:id="rId10" imgW="165028" imgH="228501" progId="Equation.3">
                      <p:embed/>
                      <p:pic>
                        <p:nvPicPr>
                          <p:cNvPr id="46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7275" y="1046738"/>
                            <a:ext cx="414312" cy="6270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AutoShape 41"/>
              <p:cNvSpPr>
                <a:spLocks noChangeArrowheads="1"/>
              </p:cNvSpPr>
              <p:nvPr/>
            </p:nvSpPr>
            <p:spPr bwMode="auto">
              <a:xfrm flipV="1">
                <a:off x="7122842" y="1704478"/>
                <a:ext cx="329733" cy="97600"/>
              </a:xfrm>
              <a:prstGeom prst="rightArrow">
                <a:avLst>
                  <a:gd name="adj1" fmla="val 50000"/>
                  <a:gd name="adj2" fmla="val 87500"/>
                </a:avLst>
              </a:prstGeom>
              <a:solidFill>
                <a:srgbClr val="000000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E6608D-9026-4700-B5B9-7E5660C615AB}" type="slidenum">
              <a:rPr lang="en-US" altLang="zh-CN"/>
              <a:pPr/>
              <a:t>20</a:t>
            </a:fld>
            <a:endParaRPr lang="en-US" altLang="zh-CN"/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3134539" y="2848489"/>
            <a:ext cx="2947988" cy="1685925"/>
            <a:chOff x="2740" y="2352"/>
            <a:chExt cx="2476" cy="1416"/>
          </a:xfrm>
        </p:grpSpPr>
        <p:sp>
          <p:nvSpPr>
            <p:cNvPr id="12299" name="Rectangle 4"/>
            <p:cNvSpPr>
              <a:spLocks noChangeArrowheads="1"/>
            </p:cNvSpPr>
            <p:nvPr/>
          </p:nvSpPr>
          <p:spPr bwMode="auto">
            <a:xfrm>
              <a:off x="4537" y="3203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0" name="Oval 5"/>
            <p:cNvSpPr>
              <a:spLocks noChangeArrowheads="1"/>
            </p:cNvSpPr>
            <p:nvPr/>
          </p:nvSpPr>
          <p:spPr bwMode="auto">
            <a:xfrm rot="5327005">
              <a:off x="293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A25100"/>
                </a:gs>
                <a:gs pos="50000">
                  <a:srgbClr val="F9E4CF"/>
                </a:gs>
                <a:gs pos="100000">
                  <a:srgbClr val="A251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1" name="Oval 6"/>
            <p:cNvSpPr>
              <a:spLocks noChangeArrowheads="1"/>
            </p:cNvSpPr>
            <p:nvPr/>
          </p:nvSpPr>
          <p:spPr bwMode="auto">
            <a:xfrm rot="5363275">
              <a:off x="288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EBD6C1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2" name="Line 7"/>
            <p:cNvSpPr>
              <a:spLocks noChangeShapeType="1"/>
            </p:cNvSpPr>
            <p:nvPr/>
          </p:nvSpPr>
          <p:spPr bwMode="auto">
            <a:xfrm rot="-10494445">
              <a:off x="3250" y="2919"/>
              <a:ext cx="170" cy="2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230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2298869"/>
                </p:ext>
              </p:extLst>
            </p:nvPr>
          </p:nvGraphicFramePr>
          <p:xfrm>
            <a:off x="3359" y="2868"/>
            <a:ext cx="14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18" name="公式" r:id="rId3" imgW="152268" imgH="164957" progId="Equation.3">
                    <p:embed/>
                  </p:oleObj>
                </mc:Choice>
                <mc:Fallback>
                  <p:oleObj name="公式" r:id="rId3" imgW="152268" imgH="164957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9" y="2868"/>
                          <a:ext cx="144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9"/>
            <p:cNvGraphicFramePr>
              <a:graphicFrameLocks noChangeAspect="1"/>
            </p:cNvGraphicFramePr>
            <p:nvPr/>
          </p:nvGraphicFramePr>
          <p:xfrm>
            <a:off x="2828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19" name="Equation" r:id="rId5" imgW="152334" imgH="228501" progId="Equation.3">
                    <p:embed/>
                  </p:oleObj>
                </mc:Choice>
                <mc:Fallback>
                  <p:oleObj name="Equation" r:id="rId5" imgW="152334" imgH="22850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10"/>
            <p:cNvGraphicFramePr>
              <a:graphicFrameLocks noChangeAspect="1"/>
            </p:cNvGraphicFramePr>
            <p:nvPr/>
          </p:nvGraphicFramePr>
          <p:xfrm>
            <a:off x="3667" y="2668"/>
            <a:ext cx="25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20" name="Equation" r:id="rId7" imgW="152268" imgH="164957" progId="Equation.3">
                    <p:embed/>
                  </p:oleObj>
                </mc:Choice>
                <mc:Fallback>
                  <p:oleObj name="Equation" r:id="rId7" imgW="152268" imgH="164957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" y="2668"/>
                          <a:ext cx="256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Oval 11"/>
            <p:cNvSpPr>
              <a:spLocks noChangeArrowheads="1"/>
            </p:cNvSpPr>
            <p:nvPr/>
          </p:nvSpPr>
          <p:spPr bwMode="auto">
            <a:xfrm rot="5327005">
              <a:off x="378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B25900"/>
                </a:gs>
                <a:gs pos="50000">
                  <a:srgbClr val="FBEAD9"/>
                </a:gs>
                <a:gs pos="100000">
                  <a:srgbClr val="B259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7" name="Oval 12"/>
            <p:cNvSpPr>
              <a:spLocks noChangeArrowheads="1"/>
            </p:cNvSpPr>
            <p:nvPr/>
          </p:nvSpPr>
          <p:spPr bwMode="auto">
            <a:xfrm rot="5363275">
              <a:off x="373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F0E0D0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8" name="Line 13"/>
            <p:cNvSpPr>
              <a:spLocks noChangeShapeType="1"/>
            </p:cNvSpPr>
            <p:nvPr/>
          </p:nvSpPr>
          <p:spPr bwMode="auto">
            <a:xfrm flipV="1">
              <a:off x="3589" y="2799"/>
              <a:ext cx="734" cy="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09" name="Line 14"/>
            <p:cNvSpPr>
              <a:spLocks noChangeShapeType="1"/>
            </p:cNvSpPr>
            <p:nvPr/>
          </p:nvSpPr>
          <p:spPr bwMode="auto">
            <a:xfrm flipV="1">
              <a:off x="3651" y="2916"/>
              <a:ext cx="751" cy="1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0" name="Line 15"/>
            <p:cNvSpPr>
              <a:spLocks noChangeShapeType="1"/>
            </p:cNvSpPr>
            <p:nvPr/>
          </p:nvSpPr>
          <p:spPr bwMode="auto">
            <a:xfrm flipV="1">
              <a:off x="3696" y="3067"/>
              <a:ext cx="73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1" name="Line 16"/>
            <p:cNvSpPr>
              <a:spLocks noChangeShapeType="1"/>
            </p:cNvSpPr>
            <p:nvPr/>
          </p:nvSpPr>
          <p:spPr bwMode="auto">
            <a:xfrm>
              <a:off x="3544" y="3729"/>
              <a:ext cx="72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2" name="Line 17"/>
            <p:cNvSpPr>
              <a:spLocks noChangeShapeType="1"/>
            </p:cNvSpPr>
            <p:nvPr/>
          </p:nvSpPr>
          <p:spPr bwMode="auto">
            <a:xfrm>
              <a:off x="3623" y="3613"/>
              <a:ext cx="75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3" name="Line 18"/>
            <p:cNvSpPr>
              <a:spLocks noChangeShapeType="1"/>
            </p:cNvSpPr>
            <p:nvPr/>
          </p:nvSpPr>
          <p:spPr bwMode="auto">
            <a:xfrm flipV="1">
              <a:off x="3830" y="3497"/>
              <a:ext cx="59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4" name="Line 19"/>
            <p:cNvSpPr>
              <a:spLocks noChangeShapeType="1"/>
            </p:cNvSpPr>
            <p:nvPr/>
          </p:nvSpPr>
          <p:spPr bwMode="auto">
            <a:xfrm>
              <a:off x="3804" y="3362"/>
              <a:ext cx="64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5" name="Line 20"/>
            <p:cNvSpPr>
              <a:spLocks noChangeShapeType="1"/>
            </p:cNvSpPr>
            <p:nvPr/>
          </p:nvSpPr>
          <p:spPr bwMode="auto">
            <a:xfrm>
              <a:off x="3683" y="3215"/>
              <a:ext cx="77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16" name="Line 21"/>
            <p:cNvSpPr>
              <a:spLocks noChangeShapeType="1"/>
            </p:cNvSpPr>
            <p:nvPr/>
          </p:nvSpPr>
          <p:spPr bwMode="auto">
            <a:xfrm>
              <a:off x="2740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2317" name="Object 22"/>
            <p:cNvGraphicFramePr>
              <a:graphicFrameLocks noChangeAspect="1"/>
            </p:cNvGraphicFramePr>
            <p:nvPr/>
          </p:nvGraphicFramePr>
          <p:xfrm>
            <a:off x="3294" y="2380"/>
            <a:ext cx="3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21" name="Equation" r:id="rId9" imgW="266469" imgH="203024" progId="Equation.3">
                    <p:embed/>
                  </p:oleObj>
                </mc:Choice>
                <mc:Fallback>
                  <p:oleObj name="Equation" r:id="rId9" imgW="266469" imgH="203024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4" y="2380"/>
                          <a:ext cx="320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8" name="Object 23"/>
            <p:cNvGraphicFramePr>
              <a:graphicFrameLocks noChangeAspect="1"/>
            </p:cNvGraphicFramePr>
            <p:nvPr/>
          </p:nvGraphicFramePr>
          <p:xfrm>
            <a:off x="4124" y="2352"/>
            <a:ext cx="3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22" name="Equation" r:id="rId11" imgW="266469" imgH="203024" progId="Equation.3">
                    <p:embed/>
                  </p:oleObj>
                </mc:Choice>
                <mc:Fallback>
                  <p:oleObj name="Equation" r:id="rId11" imgW="266469" imgH="203024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2352"/>
                          <a:ext cx="381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9" name="Object 24"/>
            <p:cNvGraphicFramePr>
              <a:graphicFrameLocks noChangeAspect="1"/>
            </p:cNvGraphicFramePr>
            <p:nvPr/>
          </p:nvGraphicFramePr>
          <p:xfrm>
            <a:off x="4974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23" name="Equation" r:id="rId13" imgW="152334" imgH="228501" progId="Equation.3">
                    <p:embed/>
                  </p:oleObj>
                </mc:Choice>
                <mc:Fallback>
                  <p:oleObj name="Equation" r:id="rId13" imgW="152334" imgH="228501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0" name="Line 25"/>
            <p:cNvSpPr>
              <a:spLocks noChangeShapeType="1"/>
            </p:cNvSpPr>
            <p:nvPr/>
          </p:nvSpPr>
          <p:spPr bwMode="auto">
            <a:xfrm>
              <a:off x="4925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21" name="Line 27"/>
            <p:cNvSpPr>
              <a:spLocks noChangeShapeType="1"/>
            </p:cNvSpPr>
            <p:nvPr/>
          </p:nvSpPr>
          <p:spPr bwMode="auto">
            <a:xfrm flipH="1" flipV="1">
              <a:off x="3662" y="3490"/>
              <a:ext cx="220" cy="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22" name="Line 28"/>
            <p:cNvSpPr>
              <a:spLocks noChangeShapeType="1"/>
            </p:cNvSpPr>
            <p:nvPr/>
          </p:nvSpPr>
          <p:spPr bwMode="auto">
            <a:xfrm flipH="1">
              <a:off x="3662" y="3362"/>
              <a:ext cx="22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23" name="Line 30"/>
            <p:cNvSpPr>
              <a:spLocks noChangeShapeType="1"/>
            </p:cNvSpPr>
            <p:nvPr/>
          </p:nvSpPr>
          <p:spPr bwMode="auto">
            <a:xfrm flipV="1">
              <a:off x="3519" y="2683"/>
              <a:ext cx="75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24" name="Rectangle 31"/>
            <p:cNvSpPr>
              <a:spLocks noChangeArrowheads="1"/>
            </p:cNvSpPr>
            <p:nvPr/>
          </p:nvSpPr>
          <p:spPr bwMode="auto">
            <a:xfrm>
              <a:off x="3051" y="3187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3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041040"/>
              </p:ext>
            </p:extLst>
          </p:nvPr>
        </p:nvGraphicFramePr>
        <p:xfrm>
          <a:off x="4425933" y="3473609"/>
          <a:ext cx="117398" cy="12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824" name="Equation" r:id="rId15" imgW="114120" imgH="126720" progId="Equation.DSMT4">
                  <p:embed/>
                </p:oleObj>
              </mc:Choice>
              <mc:Fallback>
                <p:oleObj name="Equation" r:id="rId15" imgW="114120" imgH="126720" progId="Equation.DSMT4">
                  <p:embed/>
                  <p:pic>
                    <p:nvPicPr>
                      <p:cNvPr id="43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33" y="3473609"/>
                        <a:ext cx="117398" cy="1241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76155" y="344056"/>
            <a:ext cx="8404620" cy="1865709"/>
            <a:chOff x="712375" y="211226"/>
            <a:chExt cx="8404620" cy="1865709"/>
          </a:xfrm>
        </p:grpSpPr>
        <p:grpSp>
          <p:nvGrpSpPr>
            <p:cNvPr id="3" name="Group 48"/>
            <p:cNvGrpSpPr>
              <a:grpSpLocks/>
            </p:cNvGrpSpPr>
            <p:nvPr/>
          </p:nvGrpSpPr>
          <p:grpSpPr bwMode="auto">
            <a:xfrm>
              <a:off x="712375" y="211226"/>
              <a:ext cx="8404620" cy="1865709"/>
              <a:chOff x="431" y="436"/>
              <a:chExt cx="7059" cy="1567"/>
            </a:xfrm>
          </p:grpSpPr>
          <p:sp>
            <p:nvSpPr>
              <p:cNvPr id="12293" name="Text Box 38"/>
              <p:cNvSpPr txBox="1">
                <a:spLocks noChangeArrowheads="1"/>
              </p:cNvSpPr>
              <p:nvPr/>
            </p:nvSpPr>
            <p:spPr bwMode="auto">
              <a:xfrm>
                <a:off x="431" y="436"/>
                <a:ext cx="7059" cy="15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100" b="1" dirty="0">
                    <a:solidFill>
                      <a:srgbClr val="CC0000"/>
                    </a:solidFill>
                    <a:latin typeface="Times New Roman" pitchFamily="18" charset="0"/>
                  </a:rPr>
                  <a:t> </a:t>
                </a: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例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1  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有一圆形平行平板电容器，                 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， 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现对其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充电，</a:t>
                </a:r>
                <a:r>
                  <a:rPr lang="en-US" altLang="zh-CN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/>
                </a:r>
                <a:br>
                  <a:rPr lang="en-US" altLang="zh-CN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</a:br>
                <a:r>
                  <a:rPr lang="en-US" altLang="zh-CN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         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使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电路上的传导电流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，</a:t>
                </a:r>
                <a:r>
                  <a:rPr lang="en-US" altLang="zh-CN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                            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，略去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边缘效应</a:t>
                </a:r>
                <a:r>
                  <a:rPr lang="en-US" altLang="zh-CN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.</a:t>
                </a:r>
                <a:br>
                  <a:rPr lang="en-US" altLang="zh-CN" sz="2400" b="1" dirty="0">
                    <a:solidFill>
                      <a:srgbClr val="1C1C1C"/>
                    </a:solidFill>
                    <a:latin typeface="Times New Roman" pitchFamily="18" charset="0"/>
                  </a:rPr>
                </a:b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求（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）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两极板间的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itchFamily="18" charset="0"/>
                  </a:rPr>
                  <a:t>位移电流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；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    （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2</a:t>
                </a: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itchFamily="18" charset="0"/>
                  </a:rPr>
                  <a:t>）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两极板间离开轴线的距离为       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          的</a:t>
                </a:r>
                <a:r>
                  <a:rPr lang="zh-CN" altLang="en-US" sz="2400" b="1" dirty="0">
                    <a:solidFill>
                      <a:srgbClr val="1C1C1C"/>
                    </a:solidFill>
                    <a:latin typeface="Times New Roman" pitchFamily="18" charset="0"/>
                  </a:rPr>
                  <a:t>点     </a:t>
                </a:r>
                <a:r>
                  <a:rPr lang="zh-CN" altLang="en-US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处的</a:t>
                </a:r>
                <a:r>
                  <a:rPr lang="en-US" altLang="zh-CN" sz="2400" b="1" dirty="0" smtClean="0">
                    <a:solidFill>
                      <a:srgbClr val="1C1C1C"/>
                    </a:solidFill>
                    <a:latin typeface="Times New Roman" pitchFamily="18" charset="0"/>
                  </a:rPr>
                  <a:t>   .</a:t>
                </a:r>
                <a:endParaRPr lang="en-US" altLang="zh-CN" sz="2400" b="1" dirty="0">
                  <a:solidFill>
                    <a:srgbClr val="1C1C1C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12294" name="Object 39"/>
              <p:cNvGraphicFramePr>
                <a:graphicFrameLocks noChangeAspect="1"/>
              </p:cNvGraphicFramePr>
              <p:nvPr/>
            </p:nvGraphicFramePr>
            <p:xfrm>
              <a:off x="4062" y="464"/>
              <a:ext cx="1270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825" name="公式" r:id="rId17" imgW="710891" imgH="203112" progId="Equation.3">
                      <p:embed/>
                    </p:oleObj>
                  </mc:Choice>
                  <mc:Fallback>
                    <p:oleObj name="公式" r:id="rId17" imgW="710891" imgH="203112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2" y="464"/>
                            <a:ext cx="1270" cy="3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5" name="Object 4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6761251"/>
                  </p:ext>
                </p:extLst>
              </p:nvPr>
            </p:nvGraphicFramePr>
            <p:xfrm>
              <a:off x="3555" y="853"/>
              <a:ext cx="1899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826" name="公式" r:id="rId19" imgW="1193800" imgH="228600" progId="Equation.3">
                      <p:embed/>
                    </p:oleObj>
                  </mc:Choice>
                  <mc:Fallback>
                    <p:oleObj name="公式" r:id="rId19" imgW="1193800" imgH="22860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5" y="853"/>
                            <a:ext cx="1899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6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5026724"/>
                  </p:ext>
                </p:extLst>
              </p:nvPr>
            </p:nvGraphicFramePr>
            <p:xfrm>
              <a:off x="4516" y="1624"/>
              <a:ext cx="1055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827" name="Equation" r:id="rId21" imgW="647419" imgH="177723" progId="Equation.3">
                      <p:embed/>
                    </p:oleObj>
                  </mc:Choice>
                  <mc:Fallback>
                    <p:oleObj name="Equation" r:id="rId21" imgW="647419" imgH="177723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6" y="1624"/>
                            <a:ext cx="1055" cy="2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7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8314916"/>
                  </p:ext>
                </p:extLst>
              </p:nvPr>
            </p:nvGraphicFramePr>
            <p:xfrm>
              <a:off x="6116" y="1608"/>
              <a:ext cx="314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6828" name="Equation" r:id="rId23" imgW="152268" imgH="164957" progId="Equation.3">
                      <p:embed/>
                    </p:oleObj>
                  </mc:Choice>
                  <mc:Fallback>
                    <p:oleObj name="Equation" r:id="rId23" imgW="152268" imgH="164957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16" y="1608"/>
                            <a:ext cx="314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7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386245"/>
                </p:ext>
              </p:extLst>
            </p:nvPr>
          </p:nvGraphicFramePr>
          <p:xfrm>
            <a:off x="8424863" y="1575285"/>
            <a:ext cx="288925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829" name="Equation" r:id="rId25" imgW="152280" imgH="203040" progId="Equation.DSMT4">
                    <p:embed/>
                  </p:oleObj>
                </mc:Choice>
                <mc:Fallback>
                  <p:oleObj name="Equation" r:id="rId25" imgW="152280" imgH="203040" progId="Equation.DSMT4">
                    <p:embed/>
                    <p:pic>
                      <p:nvPicPr>
                        <p:cNvPr id="12295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4863" y="1575285"/>
                          <a:ext cx="288925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162872" y="141481"/>
            <a:ext cx="6701950" cy="1200151"/>
            <a:chOff x="384" y="572"/>
            <a:chExt cx="5374" cy="1008"/>
          </a:xfrm>
        </p:grpSpPr>
        <p:sp>
          <p:nvSpPr>
            <p:cNvPr id="13353" name="Text Box 42"/>
            <p:cNvSpPr txBox="1">
              <a:spLocks noChangeArrowheads="1"/>
            </p:cNvSpPr>
            <p:nvPr/>
          </p:nvSpPr>
          <p:spPr bwMode="auto">
            <a:xfrm>
              <a:off x="384" y="572"/>
              <a:ext cx="5374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解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(1) 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如图作一半径为    平行于极板的</a:t>
              </a: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</a:rPr>
                <a:t>圆形环路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， </a:t>
              </a: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/>
              </a:r>
              <a:b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</a:b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>         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通过此圆面积的电</a:t>
              </a:r>
              <a:r>
                <a:rPr lang="zh-CN" altLang="en-US" sz="2400" b="1" dirty="0">
                  <a:solidFill>
                    <a:srgbClr val="1C1C1C"/>
                  </a:solidFill>
                  <a:latin typeface="宋体" pitchFamily="2" charset="-122"/>
                </a:rPr>
                <a:t>位移通量为</a:t>
              </a:r>
              <a:r>
                <a:rPr lang="en-US" altLang="zh-CN" sz="2400" b="1" dirty="0">
                  <a:solidFill>
                    <a:srgbClr val="1C1C1C"/>
                  </a:solidFill>
                  <a:latin typeface="宋体" pitchFamily="2" charset="-122"/>
                </a:rPr>
                <a:t>:</a:t>
              </a:r>
              <a:endParaRPr lang="zh-CN" altLang="en-US" sz="2400" b="1" dirty="0">
                <a:solidFill>
                  <a:srgbClr val="1C1C1C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335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4710194"/>
                </p:ext>
              </p:extLst>
            </p:nvPr>
          </p:nvGraphicFramePr>
          <p:xfrm>
            <a:off x="2736" y="702"/>
            <a:ext cx="31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0" name="Equation" r:id="rId3" imgW="152280" imgH="152280" progId="Equation.DSMT4">
                    <p:embed/>
                  </p:oleObj>
                </mc:Choice>
                <mc:Fallback>
                  <p:oleObj name="Equation" r:id="rId3" imgW="152280" imgH="15228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702"/>
                          <a:ext cx="311" cy="2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80D391-08A2-44A8-BF14-CFA66124C7FA}" type="slidenum">
              <a:rPr lang="en-US" altLang="zh-CN"/>
              <a:pPr/>
              <a:t>21</a:t>
            </a:fld>
            <a:endParaRPr lang="en-US" altLang="zh-CN"/>
          </a:p>
        </p:txBody>
      </p:sp>
      <p:graphicFrame>
        <p:nvGraphicFramePr>
          <p:cNvPr id="17445" name="Object 37"/>
          <p:cNvGraphicFramePr>
            <a:graphicFrameLocks noChangeAspect="1"/>
          </p:cNvGraphicFramePr>
          <p:nvPr/>
        </p:nvGraphicFramePr>
        <p:xfrm>
          <a:off x="1608078" y="3719378"/>
          <a:ext cx="3672751" cy="919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91" name="Equation" r:id="rId5" imgW="1549080" imgH="393480" progId="Equation.DSMT4">
                  <p:embed/>
                </p:oleObj>
              </mc:Choice>
              <mc:Fallback>
                <p:oleObj name="Equation" r:id="rId5" imgW="1549080" imgH="3934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078" y="3719378"/>
                        <a:ext cx="3672751" cy="9193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1500409" y="2808027"/>
          <a:ext cx="2657594" cy="528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92" name="Equation" r:id="rId7" imgW="1066680" imgH="228600" progId="Equation.DSMT4">
                  <p:embed/>
                </p:oleObj>
              </mc:Choice>
              <mc:Fallback>
                <p:oleObj name="Equation" r:id="rId7" imgW="1066680" imgH="228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409" y="2808027"/>
                        <a:ext cx="2657594" cy="5280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Object 39"/>
          <p:cNvGraphicFramePr>
            <a:graphicFrameLocks noChangeAspect="1"/>
          </p:cNvGraphicFramePr>
          <p:nvPr/>
        </p:nvGraphicFramePr>
        <p:xfrm>
          <a:off x="1567917" y="2151520"/>
          <a:ext cx="1315610" cy="386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93" name="Equation" r:id="rId9" imgW="558720" imgH="164880" progId="Equation.DSMT4">
                  <p:embed/>
                </p:oleObj>
              </mc:Choice>
              <mc:Fallback>
                <p:oleObj name="Equation" r:id="rId9" imgW="558720" imgH="1648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917" y="2151520"/>
                        <a:ext cx="1315610" cy="3864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Object 40"/>
          <p:cNvGraphicFramePr>
            <a:graphicFrameLocks noChangeAspect="1"/>
          </p:cNvGraphicFramePr>
          <p:nvPr/>
        </p:nvGraphicFramePr>
        <p:xfrm>
          <a:off x="1669178" y="1451358"/>
          <a:ext cx="1594247" cy="484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94" name="Equation" r:id="rId11" imgW="698400" imgH="228600" progId="Equation.DSMT4">
                  <p:embed/>
                </p:oleObj>
              </mc:Choice>
              <mc:Fallback>
                <p:oleObj name="Equation" r:id="rId11" imgW="698400" imgH="2286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9178" y="1451358"/>
                        <a:ext cx="1594247" cy="4845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4836435" y="1760324"/>
            <a:ext cx="2947988" cy="1685925"/>
            <a:chOff x="2740" y="2352"/>
            <a:chExt cx="2476" cy="1416"/>
          </a:xfrm>
        </p:grpSpPr>
        <p:sp>
          <p:nvSpPr>
            <p:cNvPr id="13326" name="Rectangle 48"/>
            <p:cNvSpPr>
              <a:spLocks noChangeArrowheads="1"/>
            </p:cNvSpPr>
            <p:nvPr/>
          </p:nvSpPr>
          <p:spPr bwMode="auto">
            <a:xfrm>
              <a:off x="4537" y="3203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27" name="Oval 49"/>
            <p:cNvSpPr>
              <a:spLocks noChangeArrowheads="1"/>
            </p:cNvSpPr>
            <p:nvPr/>
          </p:nvSpPr>
          <p:spPr bwMode="auto">
            <a:xfrm rot="5327005">
              <a:off x="2828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A25100"/>
                </a:gs>
                <a:gs pos="50000">
                  <a:srgbClr val="F9E4CF"/>
                </a:gs>
                <a:gs pos="100000">
                  <a:srgbClr val="A251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28" name="Oval 50"/>
            <p:cNvSpPr>
              <a:spLocks noChangeArrowheads="1"/>
            </p:cNvSpPr>
            <p:nvPr/>
          </p:nvSpPr>
          <p:spPr bwMode="auto">
            <a:xfrm rot="5363275">
              <a:off x="2776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EBD6C1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29" name="Line 51"/>
            <p:cNvSpPr>
              <a:spLocks noChangeShapeType="1"/>
            </p:cNvSpPr>
            <p:nvPr/>
          </p:nvSpPr>
          <p:spPr bwMode="auto">
            <a:xfrm rot="11105555">
              <a:off x="3180" y="2807"/>
              <a:ext cx="245" cy="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3330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4526779"/>
                </p:ext>
              </p:extLst>
            </p:nvPr>
          </p:nvGraphicFramePr>
          <p:xfrm>
            <a:off x="3301" y="2820"/>
            <a:ext cx="14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5" name="公式" r:id="rId13" imgW="152268" imgH="164957" progId="Equation.3">
                    <p:embed/>
                  </p:oleObj>
                </mc:Choice>
                <mc:Fallback>
                  <p:oleObj name="公式" r:id="rId13" imgW="152268" imgH="164957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1" y="2820"/>
                          <a:ext cx="144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53"/>
            <p:cNvGraphicFramePr>
              <a:graphicFrameLocks noChangeAspect="1"/>
            </p:cNvGraphicFramePr>
            <p:nvPr/>
          </p:nvGraphicFramePr>
          <p:xfrm>
            <a:off x="2828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6" name="Equation" r:id="rId15" imgW="152334" imgH="228501" progId="Equation.3">
                    <p:embed/>
                  </p:oleObj>
                </mc:Choice>
                <mc:Fallback>
                  <p:oleObj name="Equation" r:id="rId15" imgW="152334" imgH="228501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Oval 55"/>
            <p:cNvSpPr>
              <a:spLocks noChangeArrowheads="1"/>
            </p:cNvSpPr>
            <p:nvPr/>
          </p:nvSpPr>
          <p:spPr bwMode="auto">
            <a:xfrm rot="5327005">
              <a:off x="378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B25900"/>
                </a:gs>
                <a:gs pos="50000">
                  <a:srgbClr val="FBEAD9"/>
                </a:gs>
                <a:gs pos="100000">
                  <a:srgbClr val="B259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4" name="Oval 56"/>
            <p:cNvSpPr>
              <a:spLocks noChangeArrowheads="1"/>
            </p:cNvSpPr>
            <p:nvPr/>
          </p:nvSpPr>
          <p:spPr bwMode="auto">
            <a:xfrm rot="5363275">
              <a:off x="373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F0E0D0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5" name="Line 57"/>
            <p:cNvSpPr>
              <a:spLocks noChangeShapeType="1"/>
            </p:cNvSpPr>
            <p:nvPr/>
          </p:nvSpPr>
          <p:spPr bwMode="auto">
            <a:xfrm flipV="1">
              <a:off x="3519" y="2799"/>
              <a:ext cx="804" cy="1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6" name="Line 58"/>
            <p:cNvSpPr>
              <a:spLocks noChangeShapeType="1"/>
            </p:cNvSpPr>
            <p:nvPr/>
          </p:nvSpPr>
          <p:spPr bwMode="auto">
            <a:xfrm flipV="1">
              <a:off x="3538" y="2916"/>
              <a:ext cx="864" cy="1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7" name="Line 59"/>
            <p:cNvSpPr>
              <a:spLocks noChangeShapeType="1"/>
            </p:cNvSpPr>
            <p:nvPr/>
          </p:nvSpPr>
          <p:spPr bwMode="auto">
            <a:xfrm flipV="1">
              <a:off x="3589" y="3067"/>
              <a:ext cx="8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8" name="Line 60"/>
            <p:cNvSpPr>
              <a:spLocks noChangeShapeType="1"/>
            </p:cNvSpPr>
            <p:nvPr/>
          </p:nvSpPr>
          <p:spPr bwMode="auto">
            <a:xfrm>
              <a:off x="3470" y="3729"/>
              <a:ext cx="8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39" name="Line 61"/>
            <p:cNvSpPr>
              <a:spLocks noChangeShapeType="1"/>
            </p:cNvSpPr>
            <p:nvPr/>
          </p:nvSpPr>
          <p:spPr bwMode="auto">
            <a:xfrm>
              <a:off x="3538" y="3613"/>
              <a:ext cx="837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40" name="Line 62"/>
            <p:cNvSpPr>
              <a:spLocks noChangeShapeType="1"/>
            </p:cNvSpPr>
            <p:nvPr/>
          </p:nvSpPr>
          <p:spPr bwMode="auto">
            <a:xfrm flipV="1">
              <a:off x="3567" y="3487"/>
              <a:ext cx="83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41" name="Line 63"/>
            <p:cNvSpPr>
              <a:spLocks noChangeShapeType="1"/>
            </p:cNvSpPr>
            <p:nvPr/>
          </p:nvSpPr>
          <p:spPr bwMode="auto">
            <a:xfrm>
              <a:off x="3595" y="3362"/>
              <a:ext cx="85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42" name="Line 64"/>
            <p:cNvSpPr>
              <a:spLocks noChangeShapeType="1"/>
            </p:cNvSpPr>
            <p:nvPr/>
          </p:nvSpPr>
          <p:spPr bwMode="auto">
            <a:xfrm>
              <a:off x="3589" y="3215"/>
              <a:ext cx="87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43" name="Line 65"/>
            <p:cNvSpPr>
              <a:spLocks noChangeShapeType="1"/>
            </p:cNvSpPr>
            <p:nvPr/>
          </p:nvSpPr>
          <p:spPr bwMode="auto">
            <a:xfrm>
              <a:off x="2740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3344" name="Object 66"/>
            <p:cNvGraphicFramePr>
              <a:graphicFrameLocks noChangeAspect="1"/>
            </p:cNvGraphicFramePr>
            <p:nvPr/>
          </p:nvGraphicFramePr>
          <p:xfrm>
            <a:off x="3294" y="2380"/>
            <a:ext cx="3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7" name="Equation" r:id="rId17" imgW="266469" imgH="203024" progId="Equation.3">
                    <p:embed/>
                  </p:oleObj>
                </mc:Choice>
                <mc:Fallback>
                  <p:oleObj name="Equation" r:id="rId17" imgW="266469" imgH="203024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4" y="2380"/>
                          <a:ext cx="320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67"/>
            <p:cNvGraphicFramePr>
              <a:graphicFrameLocks noChangeAspect="1"/>
            </p:cNvGraphicFramePr>
            <p:nvPr/>
          </p:nvGraphicFramePr>
          <p:xfrm>
            <a:off x="4124" y="2352"/>
            <a:ext cx="3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8" name="Equation" r:id="rId19" imgW="266469" imgH="203024" progId="Equation.3">
                    <p:embed/>
                  </p:oleObj>
                </mc:Choice>
                <mc:Fallback>
                  <p:oleObj name="Equation" r:id="rId19" imgW="266469" imgH="203024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2352"/>
                          <a:ext cx="381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68"/>
            <p:cNvGraphicFramePr>
              <a:graphicFrameLocks noChangeAspect="1"/>
            </p:cNvGraphicFramePr>
            <p:nvPr/>
          </p:nvGraphicFramePr>
          <p:xfrm>
            <a:off x="4974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799" name="Equation" r:id="rId21" imgW="152334" imgH="228501" progId="Equation.3">
                    <p:embed/>
                  </p:oleObj>
                </mc:Choice>
                <mc:Fallback>
                  <p:oleObj name="Equation" r:id="rId21" imgW="152334" imgH="228501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7" name="Line 69"/>
            <p:cNvSpPr>
              <a:spLocks noChangeShapeType="1"/>
            </p:cNvSpPr>
            <p:nvPr/>
          </p:nvSpPr>
          <p:spPr bwMode="auto">
            <a:xfrm>
              <a:off x="4925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50" name="Line 72"/>
            <p:cNvSpPr>
              <a:spLocks noChangeShapeType="1"/>
            </p:cNvSpPr>
            <p:nvPr/>
          </p:nvSpPr>
          <p:spPr bwMode="auto">
            <a:xfrm flipV="1">
              <a:off x="3415" y="2683"/>
              <a:ext cx="857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51" name="Rectangle 73"/>
            <p:cNvSpPr>
              <a:spLocks noChangeArrowheads="1"/>
            </p:cNvSpPr>
            <p:nvPr/>
          </p:nvSpPr>
          <p:spPr bwMode="auto">
            <a:xfrm>
              <a:off x="3051" y="3187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5887420" y="2115570"/>
            <a:ext cx="492632" cy="1333363"/>
            <a:chOff x="3842" y="2288"/>
            <a:chExt cx="269" cy="733"/>
          </a:xfrm>
        </p:grpSpPr>
        <p:sp>
          <p:nvSpPr>
            <p:cNvPr id="13322" name="Oval 76"/>
            <p:cNvSpPr>
              <a:spLocks noChangeArrowheads="1"/>
            </p:cNvSpPr>
            <p:nvPr/>
          </p:nvSpPr>
          <p:spPr bwMode="auto">
            <a:xfrm>
              <a:off x="3842" y="2288"/>
              <a:ext cx="269" cy="733"/>
            </a:xfrm>
            <a:prstGeom prst="ellipse">
              <a:avLst/>
            </a:prstGeom>
            <a:solidFill>
              <a:srgbClr val="F5FBA3">
                <a:alpha val="49804"/>
              </a:srgbClr>
            </a:solidFill>
            <a:ln w="28575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zh-CN" altLang="zh-CN" sz="2100" b="1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sp>
          <p:nvSpPr>
            <p:cNvPr id="13323" name="Line 77"/>
            <p:cNvSpPr>
              <a:spLocks noChangeShapeType="1"/>
            </p:cNvSpPr>
            <p:nvPr/>
          </p:nvSpPr>
          <p:spPr bwMode="auto">
            <a:xfrm>
              <a:off x="3888" y="2352"/>
              <a:ext cx="103" cy="322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solid"/>
              <a:round/>
              <a:headEnd type="triangle" w="med" len="lg"/>
              <a:tailEnd type="none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3324" name="Object 78"/>
            <p:cNvGraphicFramePr>
              <a:graphicFrameLocks noChangeAspect="1"/>
            </p:cNvGraphicFramePr>
            <p:nvPr/>
          </p:nvGraphicFramePr>
          <p:xfrm>
            <a:off x="3935" y="2372"/>
            <a:ext cx="118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800" name="Equation" r:id="rId23" imgW="152280" imgH="152280" progId="Equation.DSMT4">
                    <p:embed/>
                  </p:oleObj>
                </mc:Choice>
                <mc:Fallback>
                  <p:oleObj name="Equation" r:id="rId23" imgW="152280" imgH="15228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5" y="2372"/>
                          <a:ext cx="118" cy="1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5" name="直接连接符 44"/>
          <p:cNvCxnSpPr/>
          <p:nvPr/>
        </p:nvCxnSpPr>
        <p:spPr>
          <a:xfrm>
            <a:off x="5787135" y="2152372"/>
            <a:ext cx="337637" cy="2903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763932" y="2306300"/>
            <a:ext cx="33763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5802846" y="2452079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821083" y="2611622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5847276" y="2787835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5847276" y="2962856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5821083" y="3111685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5821083" y="3261704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5886468" y="3399816"/>
            <a:ext cx="19219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603069" y="4012042"/>
            <a:ext cx="2081019" cy="41549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CN" altLang="en-US" sz="2100" b="1">
                <a:solidFill>
                  <a:prstClr val="black"/>
                </a:solidFill>
                <a:latin typeface="Times New Roman" pitchFamily="18" charset="0"/>
              </a:rPr>
              <a:t>全电流是连续的</a:t>
            </a:r>
            <a:endParaRPr lang="zh-CN" altLang="en-US"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162872" y="141481"/>
            <a:ext cx="6683243" cy="1200151"/>
            <a:chOff x="384" y="572"/>
            <a:chExt cx="5359" cy="1008"/>
          </a:xfrm>
        </p:grpSpPr>
        <p:sp>
          <p:nvSpPr>
            <p:cNvPr id="13353" name="Text Box 42"/>
            <p:cNvSpPr txBox="1">
              <a:spLocks noChangeArrowheads="1"/>
            </p:cNvSpPr>
            <p:nvPr/>
          </p:nvSpPr>
          <p:spPr bwMode="auto">
            <a:xfrm>
              <a:off x="384" y="572"/>
              <a:ext cx="5359" cy="1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itchFamily="18" charset="0"/>
                </a:rPr>
                <a:t>解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itchFamily="18" charset="0"/>
                </a:rPr>
                <a:t>(2) 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如图作一半径为    平行于极板的</a:t>
              </a: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</a:rPr>
                <a:t>圆形环路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， </a:t>
              </a: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/>
              </a:r>
              <a:b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</a:br>
              <a:r>
                <a:rPr lang="en-US" altLang="zh-CN" sz="2400" b="1" dirty="0">
                  <a:solidFill>
                    <a:srgbClr val="1C1C1C"/>
                  </a:solidFill>
                  <a:latin typeface="Times New Roman" pitchFamily="18" charset="0"/>
                </a:rPr>
                <a:t>         </a:t>
              </a:r>
              <a:r>
                <a:rPr lang="zh-CN" altLang="en-US" sz="2400" b="1" dirty="0">
                  <a:solidFill>
                    <a:srgbClr val="1C1C1C"/>
                  </a:solidFill>
                  <a:latin typeface="Times New Roman" pitchFamily="18" charset="0"/>
                </a:rPr>
                <a:t>通过此圆面积的电</a:t>
              </a:r>
              <a:r>
                <a:rPr lang="zh-CN" altLang="en-US" sz="2400" b="1" dirty="0">
                  <a:solidFill>
                    <a:srgbClr val="1C1C1C"/>
                  </a:solidFill>
                  <a:latin typeface="宋体" pitchFamily="2" charset="-122"/>
                </a:rPr>
                <a:t>位移通量为</a:t>
              </a:r>
              <a:r>
                <a:rPr lang="en-US" altLang="zh-CN" sz="2400" b="1" dirty="0">
                  <a:solidFill>
                    <a:srgbClr val="1C1C1C"/>
                  </a:solidFill>
                  <a:latin typeface="宋体" pitchFamily="2" charset="-122"/>
                </a:rPr>
                <a:t>:</a:t>
              </a:r>
              <a:endParaRPr lang="zh-CN" altLang="en-US" sz="2400" b="1" dirty="0">
                <a:solidFill>
                  <a:srgbClr val="1C1C1C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3354" name="Object 43"/>
            <p:cNvGraphicFramePr>
              <a:graphicFrameLocks noChangeAspect="1"/>
            </p:cNvGraphicFramePr>
            <p:nvPr/>
          </p:nvGraphicFramePr>
          <p:xfrm>
            <a:off x="2758" y="685"/>
            <a:ext cx="2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87" name="Equation" r:id="rId3" imgW="114120" imgH="126720" progId="Equation.DSMT4">
                    <p:embed/>
                  </p:oleObj>
                </mc:Choice>
                <mc:Fallback>
                  <p:oleObj name="Equation" r:id="rId3" imgW="114120" imgH="12672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8" y="685"/>
                          <a:ext cx="28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B80D391-08A2-44A8-BF14-CFA66124C7FA}" type="slidenum">
              <a:rPr lang="en-US" altLang="zh-CN"/>
              <a:pPr/>
              <a:t>22</a:t>
            </a:fld>
            <a:endParaRPr lang="en-US" altLang="zh-CN"/>
          </a:p>
        </p:txBody>
      </p:sp>
      <p:graphicFrame>
        <p:nvGraphicFramePr>
          <p:cNvPr id="17445" name="Object 37"/>
          <p:cNvGraphicFramePr>
            <a:graphicFrameLocks noChangeAspect="1"/>
          </p:cNvGraphicFramePr>
          <p:nvPr/>
        </p:nvGraphicFramePr>
        <p:xfrm>
          <a:off x="1432323" y="3732610"/>
          <a:ext cx="4093369" cy="97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88" name="Equation" r:id="rId5" imgW="1726920" imgH="419040" progId="Equation.DSMT4">
                  <p:embed/>
                </p:oleObj>
              </mc:Choice>
              <mc:Fallback>
                <p:oleObj name="Equation" r:id="rId5" imgW="1726920" imgH="4190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323" y="3732610"/>
                        <a:ext cx="4093369" cy="978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6" name="Object 38"/>
          <p:cNvGraphicFramePr>
            <a:graphicFrameLocks noChangeAspect="1"/>
          </p:cNvGraphicFramePr>
          <p:nvPr/>
        </p:nvGraphicFramePr>
        <p:xfrm>
          <a:off x="1329629" y="2587229"/>
          <a:ext cx="3101578" cy="96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89" name="Equation" r:id="rId7" imgW="1244520" imgH="419040" progId="Equation.DSMT4">
                  <p:embed/>
                </p:oleObj>
              </mc:Choice>
              <mc:Fallback>
                <p:oleObj name="Equation" r:id="rId7" imgW="1244520" imgH="41904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9629" y="2587229"/>
                        <a:ext cx="3101578" cy="9691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Object 39"/>
          <p:cNvGraphicFramePr>
            <a:graphicFrameLocks noChangeAspect="1"/>
          </p:cNvGraphicFramePr>
          <p:nvPr/>
        </p:nvGraphicFramePr>
        <p:xfrm>
          <a:off x="1411654" y="2151520"/>
          <a:ext cx="1315610" cy="386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90" name="Equation" r:id="rId9" imgW="558720" imgH="164880" progId="Equation.DSMT4">
                  <p:embed/>
                </p:oleObj>
              </mc:Choice>
              <mc:Fallback>
                <p:oleObj name="Equation" r:id="rId9" imgW="558720" imgH="1648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654" y="2151520"/>
                        <a:ext cx="1315610" cy="3864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Object 40"/>
          <p:cNvGraphicFramePr>
            <a:graphicFrameLocks noChangeAspect="1"/>
          </p:cNvGraphicFramePr>
          <p:nvPr/>
        </p:nvGraphicFramePr>
        <p:xfrm>
          <a:off x="1538494" y="1451372"/>
          <a:ext cx="1507331" cy="484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91" name="Equation" r:id="rId11" imgW="660240" imgH="228600" progId="Equation.DSMT4">
                  <p:embed/>
                </p:oleObj>
              </mc:Choice>
              <mc:Fallback>
                <p:oleObj name="Equation" r:id="rId11" imgW="660240" imgH="2286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494" y="1451372"/>
                        <a:ext cx="1507331" cy="484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49"/>
          <p:cNvGrpSpPr>
            <a:grpSpLocks/>
          </p:cNvGrpSpPr>
          <p:nvPr/>
        </p:nvGrpSpPr>
        <p:grpSpPr bwMode="auto">
          <a:xfrm>
            <a:off x="4882782" y="1749918"/>
            <a:ext cx="2947988" cy="1685925"/>
            <a:chOff x="2740" y="2352"/>
            <a:chExt cx="2476" cy="1416"/>
          </a:xfrm>
        </p:grpSpPr>
        <p:sp>
          <p:nvSpPr>
            <p:cNvPr id="58" name="Rectangle 51"/>
            <p:cNvSpPr>
              <a:spLocks noChangeArrowheads="1"/>
            </p:cNvSpPr>
            <p:nvPr/>
          </p:nvSpPr>
          <p:spPr bwMode="auto">
            <a:xfrm>
              <a:off x="4537" y="3203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52"/>
            <p:cNvSpPr>
              <a:spLocks noChangeArrowheads="1"/>
            </p:cNvSpPr>
            <p:nvPr/>
          </p:nvSpPr>
          <p:spPr bwMode="auto">
            <a:xfrm rot="5327005">
              <a:off x="293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A25100"/>
                </a:gs>
                <a:gs pos="50000">
                  <a:srgbClr val="F9E4CF"/>
                </a:gs>
                <a:gs pos="100000">
                  <a:srgbClr val="A251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Oval 53"/>
            <p:cNvSpPr>
              <a:spLocks noChangeArrowheads="1"/>
            </p:cNvSpPr>
            <p:nvPr/>
          </p:nvSpPr>
          <p:spPr bwMode="auto">
            <a:xfrm rot="5363275">
              <a:off x="288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EBD6C1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Line 54"/>
            <p:cNvSpPr>
              <a:spLocks noChangeShapeType="1"/>
            </p:cNvSpPr>
            <p:nvPr/>
          </p:nvSpPr>
          <p:spPr bwMode="auto">
            <a:xfrm rot="-10494445">
              <a:off x="3250" y="2919"/>
              <a:ext cx="170" cy="24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solid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62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5841574"/>
                </p:ext>
              </p:extLst>
            </p:nvPr>
          </p:nvGraphicFramePr>
          <p:xfrm>
            <a:off x="3326" y="2842"/>
            <a:ext cx="14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2" name="公式" r:id="rId13" imgW="152268" imgH="164957" progId="Equation.3">
                    <p:embed/>
                  </p:oleObj>
                </mc:Choice>
                <mc:Fallback>
                  <p:oleObj name="公式" r:id="rId13" imgW="152268" imgH="164957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6" y="2842"/>
                          <a:ext cx="144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56"/>
            <p:cNvGraphicFramePr>
              <a:graphicFrameLocks noChangeAspect="1"/>
            </p:cNvGraphicFramePr>
            <p:nvPr/>
          </p:nvGraphicFramePr>
          <p:xfrm>
            <a:off x="2828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3" name="Equation" r:id="rId15" imgW="152334" imgH="228501" progId="Equation.3">
                    <p:embed/>
                  </p:oleObj>
                </mc:Choice>
                <mc:Fallback>
                  <p:oleObj name="Equation" r:id="rId15" imgW="152334" imgH="228501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57"/>
            <p:cNvGraphicFramePr>
              <a:graphicFrameLocks noChangeAspect="1"/>
            </p:cNvGraphicFramePr>
            <p:nvPr/>
          </p:nvGraphicFramePr>
          <p:xfrm>
            <a:off x="3667" y="2668"/>
            <a:ext cx="25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4" name="Equation" r:id="rId17" imgW="152268" imgH="164957" progId="Equation.3">
                    <p:embed/>
                  </p:oleObj>
                </mc:Choice>
                <mc:Fallback>
                  <p:oleObj name="Equation" r:id="rId17" imgW="152268" imgH="164957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" y="2668"/>
                          <a:ext cx="256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Oval 58"/>
            <p:cNvSpPr>
              <a:spLocks noChangeArrowheads="1"/>
            </p:cNvSpPr>
            <p:nvPr/>
          </p:nvSpPr>
          <p:spPr bwMode="auto">
            <a:xfrm rot="5327005">
              <a:off x="378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B25900"/>
                </a:gs>
                <a:gs pos="50000">
                  <a:srgbClr val="FBEAD9"/>
                </a:gs>
                <a:gs pos="100000">
                  <a:srgbClr val="B259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59"/>
            <p:cNvSpPr>
              <a:spLocks noChangeArrowheads="1"/>
            </p:cNvSpPr>
            <p:nvPr/>
          </p:nvSpPr>
          <p:spPr bwMode="auto">
            <a:xfrm rot="5363275">
              <a:off x="373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F0E0D0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Line 60"/>
            <p:cNvSpPr>
              <a:spLocks noChangeShapeType="1"/>
            </p:cNvSpPr>
            <p:nvPr/>
          </p:nvSpPr>
          <p:spPr bwMode="auto">
            <a:xfrm flipV="1">
              <a:off x="3589" y="2799"/>
              <a:ext cx="734" cy="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Line 61"/>
            <p:cNvSpPr>
              <a:spLocks noChangeShapeType="1"/>
            </p:cNvSpPr>
            <p:nvPr/>
          </p:nvSpPr>
          <p:spPr bwMode="auto">
            <a:xfrm flipV="1">
              <a:off x="3651" y="2916"/>
              <a:ext cx="751" cy="1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Line 62"/>
            <p:cNvSpPr>
              <a:spLocks noChangeShapeType="1"/>
            </p:cNvSpPr>
            <p:nvPr/>
          </p:nvSpPr>
          <p:spPr bwMode="auto">
            <a:xfrm flipV="1">
              <a:off x="3696" y="3067"/>
              <a:ext cx="73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Line 63"/>
            <p:cNvSpPr>
              <a:spLocks noChangeShapeType="1"/>
            </p:cNvSpPr>
            <p:nvPr/>
          </p:nvSpPr>
          <p:spPr bwMode="auto">
            <a:xfrm>
              <a:off x="3544" y="3729"/>
              <a:ext cx="72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Line 64"/>
            <p:cNvSpPr>
              <a:spLocks noChangeShapeType="1"/>
            </p:cNvSpPr>
            <p:nvPr/>
          </p:nvSpPr>
          <p:spPr bwMode="auto">
            <a:xfrm>
              <a:off x="3623" y="3613"/>
              <a:ext cx="75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Line 65"/>
            <p:cNvSpPr>
              <a:spLocks noChangeShapeType="1"/>
            </p:cNvSpPr>
            <p:nvPr/>
          </p:nvSpPr>
          <p:spPr bwMode="auto">
            <a:xfrm flipV="1">
              <a:off x="3830" y="3497"/>
              <a:ext cx="59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Line 66"/>
            <p:cNvSpPr>
              <a:spLocks noChangeShapeType="1"/>
            </p:cNvSpPr>
            <p:nvPr/>
          </p:nvSpPr>
          <p:spPr bwMode="auto">
            <a:xfrm>
              <a:off x="3804" y="3362"/>
              <a:ext cx="64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Line 67"/>
            <p:cNvSpPr>
              <a:spLocks noChangeShapeType="1"/>
            </p:cNvSpPr>
            <p:nvPr/>
          </p:nvSpPr>
          <p:spPr bwMode="auto">
            <a:xfrm>
              <a:off x="3683" y="3215"/>
              <a:ext cx="77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Line 68"/>
            <p:cNvSpPr>
              <a:spLocks noChangeShapeType="1"/>
            </p:cNvSpPr>
            <p:nvPr/>
          </p:nvSpPr>
          <p:spPr bwMode="auto">
            <a:xfrm>
              <a:off x="2740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6" name="Object 69"/>
            <p:cNvGraphicFramePr>
              <a:graphicFrameLocks noChangeAspect="1"/>
            </p:cNvGraphicFramePr>
            <p:nvPr/>
          </p:nvGraphicFramePr>
          <p:xfrm>
            <a:off x="3294" y="2380"/>
            <a:ext cx="37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5" name="Equation" r:id="rId19" imgW="266469" imgH="203024" progId="Equation.3">
                    <p:embed/>
                  </p:oleObj>
                </mc:Choice>
                <mc:Fallback>
                  <p:oleObj name="Equation" r:id="rId19" imgW="266469" imgH="203024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4" y="2380"/>
                          <a:ext cx="373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70"/>
            <p:cNvGraphicFramePr>
              <a:graphicFrameLocks noChangeAspect="1"/>
            </p:cNvGraphicFramePr>
            <p:nvPr/>
          </p:nvGraphicFramePr>
          <p:xfrm>
            <a:off x="4124" y="2352"/>
            <a:ext cx="3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6" name="Equation" r:id="rId21" imgW="266469" imgH="203024" progId="Equation.3">
                    <p:embed/>
                  </p:oleObj>
                </mc:Choice>
                <mc:Fallback>
                  <p:oleObj name="Equation" r:id="rId21" imgW="266469" imgH="203024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2352"/>
                          <a:ext cx="381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1"/>
            <p:cNvGraphicFramePr>
              <a:graphicFrameLocks noChangeAspect="1"/>
            </p:cNvGraphicFramePr>
            <p:nvPr/>
          </p:nvGraphicFramePr>
          <p:xfrm>
            <a:off x="4974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7" name="Equation" r:id="rId23" imgW="152334" imgH="228501" progId="Equation.3">
                    <p:embed/>
                  </p:oleObj>
                </mc:Choice>
                <mc:Fallback>
                  <p:oleObj name="Equation" r:id="rId23" imgW="152334" imgH="228501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Line 72"/>
            <p:cNvSpPr>
              <a:spLocks noChangeShapeType="1"/>
            </p:cNvSpPr>
            <p:nvPr/>
          </p:nvSpPr>
          <p:spPr bwMode="auto">
            <a:xfrm>
              <a:off x="4925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Line 73"/>
            <p:cNvSpPr>
              <a:spLocks noChangeShapeType="1"/>
            </p:cNvSpPr>
            <p:nvPr/>
          </p:nvSpPr>
          <p:spPr bwMode="auto">
            <a:xfrm flipH="1" flipV="1">
              <a:off x="3662" y="3490"/>
              <a:ext cx="220" cy="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Line 74"/>
            <p:cNvSpPr>
              <a:spLocks noChangeShapeType="1"/>
            </p:cNvSpPr>
            <p:nvPr/>
          </p:nvSpPr>
          <p:spPr bwMode="auto">
            <a:xfrm flipH="1">
              <a:off x="3662" y="3362"/>
              <a:ext cx="22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Line 75"/>
            <p:cNvSpPr>
              <a:spLocks noChangeShapeType="1"/>
            </p:cNvSpPr>
            <p:nvPr/>
          </p:nvSpPr>
          <p:spPr bwMode="auto">
            <a:xfrm flipV="1">
              <a:off x="3519" y="2683"/>
              <a:ext cx="75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Rectangle 76"/>
            <p:cNvSpPr>
              <a:spLocks noChangeArrowheads="1"/>
            </p:cNvSpPr>
            <p:nvPr/>
          </p:nvSpPr>
          <p:spPr bwMode="auto">
            <a:xfrm>
              <a:off x="3051" y="3187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5" name="Group 78"/>
          <p:cNvGrpSpPr>
            <a:grpSpLocks/>
          </p:cNvGrpSpPr>
          <p:nvPr/>
        </p:nvGrpSpPr>
        <p:grpSpPr bwMode="auto">
          <a:xfrm>
            <a:off x="6129367" y="2361900"/>
            <a:ext cx="288131" cy="779860"/>
            <a:chOff x="3850" y="2291"/>
            <a:chExt cx="269" cy="733"/>
          </a:xfrm>
        </p:grpSpPr>
        <p:sp>
          <p:nvSpPr>
            <p:cNvPr id="86" name="Oval 79"/>
            <p:cNvSpPr>
              <a:spLocks noChangeArrowheads="1"/>
            </p:cNvSpPr>
            <p:nvPr/>
          </p:nvSpPr>
          <p:spPr bwMode="auto">
            <a:xfrm>
              <a:off x="3850" y="2291"/>
              <a:ext cx="269" cy="733"/>
            </a:xfrm>
            <a:prstGeom prst="ellipse">
              <a:avLst/>
            </a:prstGeom>
            <a:solidFill>
              <a:srgbClr val="F5FBA3">
                <a:alpha val="50195"/>
              </a:srgbClr>
            </a:solidFill>
            <a:ln w="28575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zh-CN" altLang="zh-CN" sz="2100" b="1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sp>
          <p:nvSpPr>
            <p:cNvPr id="87" name="Line 80"/>
            <p:cNvSpPr>
              <a:spLocks noChangeShapeType="1"/>
            </p:cNvSpPr>
            <p:nvPr/>
          </p:nvSpPr>
          <p:spPr bwMode="auto">
            <a:xfrm>
              <a:off x="3888" y="2352"/>
              <a:ext cx="103" cy="322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solid"/>
              <a:round/>
              <a:headEnd type="triangle" w="med" len="lg"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88" name="Object 81"/>
            <p:cNvGraphicFramePr>
              <a:graphicFrameLocks noChangeAspect="1"/>
            </p:cNvGraphicFramePr>
            <p:nvPr/>
          </p:nvGraphicFramePr>
          <p:xfrm>
            <a:off x="3937" y="2348"/>
            <a:ext cx="12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998" name="Equation" r:id="rId25" imgW="114102" imgH="126780" progId="Equation.3">
                    <p:embed/>
                  </p:oleObj>
                </mc:Choice>
                <mc:Fallback>
                  <p:oleObj name="Equation" r:id="rId25" imgW="114102" imgH="126780" progId="Equation.3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" y="2348"/>
                          <a:ext cx="12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136240"/>
              </p:ext>
            </p:extLst>
          </p:nvPr>
        </p:nvGraphicFramePr>
        <p:xfrm>
          <a:off x="6127358" y="2397796"/>
          <a:ext cx="117398" cy="12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99" name="Equation" r:id="rId27" imgW="114120" imgH="126720" progId="Equation.DSMT4">
                  <p:embed/>
                </p:oleObj>
              </mc:Choice>
              <mc:Fallback>
                <p:oleObj name="Equation" r:id="rId27" imgW="114120" imgH="126720" progId="Equation.DSMT4">
                  <p:embed/>
                  <p:pic>
                    <p:nvPicPr>
                      <p:cNvPr id="3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358" y="2397796"/>
                        <a:ext cx="117398" cy="1241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8F441BB-861E-458A-A68D-69D0043204A2}" type="slidenum">
              <a:rPr lang="en-US" altLang="zh-CN"/>
              <a:pPr/>
              <a:t>23</a:t>
            </a:fld>
            <a:endParaRPr lang="en-US" altLang="zh-CN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684903"/>
              </p:ext>
            </p:extLst>
          </p:nvPr>
        </p:nvGraphicFramePr>
        <p:xfrm>
          <a:off x="1447003" y="951787"/>
          <a:ext cx="3238107" cy="59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6" name="Equation" r:id="rId3" imgW="1739880" imgH="304560" progId="Equation.DSMT4">
                  <p:embed/>
                </p:oleObj>
              </mc:Choice>
              <mc:Fallback>
                <p:oleObj name="Equation" r:id="rId3" imgW="173988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003" y="951787"/>
                        <a:ext cx="3238107" cy="599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982654"/>
              </p:ext>
            </p:extLst>
          </p:nvPr>
        </p:nvGraphicFramePr>
        <p:xfrm>
          <a:off x="1409635" y="2059181"/>
          <a:ext cx="2821700" cy="442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7" name="Equation" r:id="rId5" imgW="1485720" imgH="228600" progId="Equation.DSMT4">
                  <p:embed/>
                </p:oleObj>
              </mc:Choice>
              <mc:Fallback>
                <p:oleObj name="Equation" r:id="rId5" imgW="14857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635" y="2059181"/>
                        <a:ext cx="2821700" cy="4420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427192"/>
              </p:ext>
            </p:extLst>
          </p:nvPr>
        </p:nvGraphicFramePr>
        <p:xfrm>
          <a:off x="2314575" y="2705100"/>
          <a:ext cx="14859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8" name="Equation" r:id="rId7" imgW="774360" imgH="393480" progId="Equation.DSMT4">
                  <p:embed/>
                </p:oleObj>
              </mc:Choice>
              <mc:Fallback>
                <p:oleObj name="Equation" r:id="rId7" imgW="77436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2705100"/>
                        <a:ext cx="1485900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080793"/>
              </p:ext>
            </p:extLst>
          </p:nvPr>
        </p:nvGraphicFramePr>
        <p:xfrm>
          <a:off x="2815829" y="3787379"/>
          <a:ext cx="1806178" cy="456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9" name="Equation" r:id="rId9" imgW="1015920" imgH="228600" progId="Equation.DSMT4">
                  <p:embed/>
                </p:oleObj>
              </mc:Choice>
              <mc:Fallback>
                <p:oleObj name="Equation" r:id="rId9" imgW="101592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829" y="3787379"/>
                        <a:ext cx="1806178" cy="4560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/>
          <p:cNvSpPr/>
          <p:nvPr/>
        </p:nvSpPr>
        <p:spPr>
          <a:xfrm>
            <a:off x="1447003" y="208344"/>
            <a:ext cx="4933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根据全电流安培环路定理得：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47" name="Group 49"/>
          <p:cNvGrpSpPr>
            <a:grpSpLocks/>
          </p:cNvGrpSpPr>
          <p:nvPr/>
        </p:nvGrpSpPr>
        <p:grpSpPr bwMode="auto">
          <a:xfrm>
            <a:off x="5291167" y="1026554"/>
            <a:ext cx="2947988" cy="1685925"/>
            <a:chOff x="2740" y="2352"/>
            <a:chExt cx="2476" cy="1416"/>
          </a:xfrm>
        </p:grpSpPr>
        <p:sp>
          <p:nvSpPr>
            <p:cNvPr id="49" name="Rectangle 51"/>
            <p:cNvSpPr>
              <a:spLocks noChangeArrowheads="1"/>
            </p:cNvSpPr>
            <p:nvPr/>
          </p:nvSpPr>
          <p:spPr bwMode="auto">
            <a:xfrm>
              <a:off x="4537" y="3203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52"/>
            <p:cNvSpPr>
              <a:spLocks noChangeArrowheads="1"/>
            </p:cNvSpPr>
            <p:nvPr/>
          </p:nvSpPr>
          <p:spPr bwMode="auto">
            <a:xfrm rot="5327005">
              <a:off x="293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A25100"/>
                </a:gs>
                <a:gs pos="50000">
                  <a:srgbClr val="F9E4CF"/>
                </a:gs>
                <a:gs pos="100000">
                  <a:srgbClr val="A251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53"/>
            <p:cNvSpPr>
              <a:spLocks noChangeArrowheads="1"/>
            </p:cNvSpPr>
            <p:nvPr/>
          </p:nvSpPr>
          <p:spPr bwMode="auto">
            <a:xfrm rot="5363275">
              <a:off x="288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EBD6C1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 rot="-10494445">
              <a:off x="3250" y="2919"/>
              <a:ext cx="170" cy="2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3" name="Object 55"/>
            <p:cNvGraphicFramePr>
              <a:graphicFrameLocks noChangeAspect="1"/>
            </p:cNvGraphicFramePr>
            <p:nvPr/>
          </p:nvGraphicFramePr>
          <p:xfrm>
            <a:off x="3326" y="2886"/>
            <a:ext cx="14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0" name="公式" r:id="rId11" imgW="152268" imgH="164957" progId="Equation.3">
                    <p:embed/>
                  </p:oleObj>
                </mc:Choice>
                <mc:Fallback>
                  <p:oleObj name="公式" r:id="rId11" imgW="152268" imgH="164957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6" y="2886"/>
                          <a:ext cx="144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56"/>
            <p:cNvGraphicFramePr>
              <a:graphicFrameLocks noChangeAspect="1"/>
            </p:cNvGraphicFramePr>
            <p:nvPr/>
          </p:nvGraphicFramePr>
          <p:xfrm>
            <a:off x="2828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1" name="Equation" r:id="rId13" imgW="152334" imgH="228501" progId="Equation.3">
                    <p:embed/>
                  </p:oleObj>
                </mc:Choice>
                <mc:Fallback>
                  <p:oleObj name="Equation" r:id="rId13" imgW="152334" imgH="228501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57"/>
            <p:cNvGraphicFramePr>
              <a:graphicFrameLocks noChangeAspect="1"/>
            </p:cNvGraphicFramePr>
            <p:nvPr/>
          </p:nvGraphicFramePr>
          <p:xfrm>
            <a:off x="3667" y="2668"/>
            <a:ext cx="25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2" name="Equation" r:id="rId15" imgW="152268" imgH="164957" progId="Equation.3">
                    <p:embed/>
                  </p:oleObj>
                </mc:Choice>
                <mc:Fallback>
                  <p:oleObj name="Equation" r:id="rId15" imgW="152268" imgH="164957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" y="2668"/>
                          <a:ext cx="256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Oval 58"/>
            <p:cNvSpPr>
              <a:spLocks noChangeArrowheads="1"/>
            </p:cNvSpPr>
            <p:nvPr/>
          </p:nvSpPr>
          <p:spPr bwMode="auto">
            <a:xfrm rot="5327005">
              <a:off x="3781" y="3012"/>
              <a:ext cx="1099" cy="413"/>
            </a:xfrm>
            <a:prstGeom prst="ellipse">
              <a:avLst/>
            </a:prstGeom>
            <a:gradFill rotWithShape="0">
              <a:gsLst>
                <a:gs pos="0">
                  <a:srgbClr val="B25900"/>
                </a:gs>
                <a:gs pos="50000">
                  <a:srgbClr val="FBEAD9"/>
                </a:gs>
                <a:gs pos="100000">
                  <a:srgbClr val="B25900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59"/>
            <p:cNvSpPr>
              <a:spLocks noChangeArrowheads="1"/>
            </p:cNvSpPr>
            <p:nvPr/>
          </p:nvSpPr>
          <p:spPr bwMode="auto">
            <a:xfrm rot="5363275">
              <a:off x="3732" y="3008"/>
              <a:ext cx="1100" cy="413"/>
            </a:xfrm>
            <a:prstGeom prst="ellipse">
              <a:avLst/>
            </a:prstGeom>
            <a:gradFill rotWithShape="0">
              <a:gsLst>
                <a:gs pos="0">
                  <a:srgbClr val="F0E0D0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19050">
              <a:solidFill>
                <a:srgbClr val="321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 flipV="1">
              <a:off x="3589" y="2799"/>
              <a:ext cx="734" cy="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Line 61"/>
            <p:cNvSpPr>
              <a:spLocks noChangeShapeType="1"/>
            </p:cNvSpPr>
            <p:nvPr/>
          </p:nvSpPr>
          <p:spPr bwMode="auto">
            <a:xfrm flipV="1">
              <a:off x="3651" y="2916"/>
              <a:ext cx="751" cy="1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 flipV="1">
              <a:off x="3696" y="3067"/>
              <a:ext cx="73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Line 63"/>
            <p:cNvSpPr>
              <a:spLocks noChangeShapeType="1"/>
            </p:cNvSpPr>
            <p:nvPr/>
          </p:nvSpPr>
          <p:spPr bwMode="auto">
            <a:xfrm>
              <a:off x="3544" y="3729"/>
              <a:ext cx="72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>
              <a:off x="3623" y="3613"/>
              <a:ext cx="75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 flipV="1">
              <a:off x="3830" y="3497"/>
              <a:ext cx="59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Line 66"/>
            <p:cNvSpPr>
              <a:spLocks noChangeShapeType="1"/>
            </p:cNvSpPr>
            <p:nvPr/>
          </p:nvSpPr>
          <p:spPr bwMode="auto">
            <a:xfrm>
              <a:off x="3804" y="3362"/>
              <a:ext cx="64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Line 67"/>
            <p:cNvSpPr>
              <a:spLocks noChangeShapeType="1"/>
            </p:cNvSpPr>
            <p:nvPr/>
          </p:nvSpPr>
          <p:spPr bwMode="auto">
            <a:xfrm>
              <a:off x="3683" y="3215"/>
              <a:ext cx="779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Line 68"/>
            <p:cNvSpPr>
              <a:spLocks noChangeShapeType="1"/>
            </p:cNvSpPr>
            <p:nvPr/>
          </p:nvSpPr>
          <p:spPr bwMode="auto">
            <a:xfrm>
              <a:off x="2740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67" name="Object 69"/>
            <p:cNvGraphicFramePr>
              <a:graphicFrameLocks noChangeAspect="1"/>
            </p:cNvGraphicFramePr>
            <p:nvPr/>
          </p:nvGraphicFramePr>
          <p:xfrm>
            <a:off x="3294" y="2380"/>
            <a:ext cx="37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3" name="Equation" r:id="rId17" imgW="266469" imgH="203024" progId="Equation.3">
                    <p:embed/>
                  </p:oleObj>
                </mc:Choice>
                <mc:Fallback>
                  <p:oleObj name="Equation" r:id="rId17" imgW="266469" imgH="203024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4" y="2380"/>
                          <a:ext cx="373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70"/>
            <p:cNvGraphicFramePr>
              <a:graphicFrameLocks noChangeAspect="1"/>
            </p:cNvGraphicFramePr>
            <p:nvPr/>
          </p:nvGraphicFramePr>
          <p:xfrm>
            <a:off x="4124" y="2352"/>
            <a:ext cx="3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4" name="Equation" r:id="rId19" imgW="266469" imgH="203024" progId="Equation.3">
                    <p:embed/>
                  </p:oleObj>
                </mc:Choice>
                <mc:Fallback>
                  <p:oleObj name="Equation" r:id="rId19" imgW="266469" imgH="203024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2352"/>
                          <a:ext cx="381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71"/>
            <p:cNvGraphicFramePr>
              <a:graphicFrameLocks noChangeAspect="1"/>
            </p:cNvGraphicFramePr>
            <p:nvPr/>
          </p:nvGraphicFramePr>
          <p:xfrm>
            <a:off x="4974" y="2884"/>
            <a:ext cx="15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5" name="Equation" r:id="rId21" imgW="152334" imgH="228501" progId="Equation.3">
                    <p:embed/>
                  </p:oleObj>
                </mc:Choice>
                <mc:Fallback>
                  <p:oleObj name="Equation" r:id="rId21" imgW="152334" imgH="228501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4" y="2884"/>
                          <a:ext cx="15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Line 72"/>
            <p:cNvSpPr>
              <a:spLocks noChangeShapeType="1"/>
            </p:cNvSpPr>
            <p:nvPr/>
          </p:nvSpPr>
          <p:spPr bwMode="auto">
            <a:xfrm>
              <a:off x="4925" y="3239"/>
              <a:ext cx="2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Line 73"/>
            <p:cNvSpPr>
              <a:spLocks noChangeShapeType="1"/>
            </p:cNvSpPr>
            <p:nvPr/>
          </p:nvSpPr>
          <p:spPr bwMode="auto">
            <a:xfrm flipH="1" flipV="1">
              <a:off x="3662" y="3490"/>
              <a:ext cx="220" cy="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H="1">
              <a:off x="3662" y="3362"/>
              <a:ext cx="22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Line 75"/>
            <p:cNvSpPr>
              <a:spLocks noChangeShapeType="1"/>
            </p:cNvSpPr>
            <p:nvPr/>
          </p:nvSpPr>
          <p:spPr bwMode="auto">
            <a:xfrm flipV="1">
              <a:off x="3519" y="2683"/>
              <a:ext cx="75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Rectangle 76"/>
            <p:cNvSpPr>
              <a:spLocks noChangeArrowheads="1"/>
            </p:cNvSpPr>
            <p:nvPr/>
          </p:nvSpPr>
          <p:spPr bwMode="auto">
            <a:xfrm>
              <a:off x="3051" y="3187"/>
              <a:ext cx="364" cy="71"/>
            </a:xfrm>
            <a:prstGeom prst="rect">
              <a:avLst/>
            </a:prstGeom>
            <a:gradFill rotWithShape="0">
              <a:gsLst>
                <a:gs pos="0">
                  <a:srgbClr val="979797"/>
                </a:gs>
                <a:gs pos="50000">
                  <a:srgbClr val="EAEAEA"/>
                </a:gs>
                <a:gs pos="100000">
                  <a:srgbClr val="979797"/>
                </a:gs>
              </a:gsLst>
              <a:lin ang="5400000" scaled="1"/>
            </a:gradFill>
            <a:ln w="9525">
              <a:solidFill>
                <a:srgbClr val="5F5F5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6" name="Group 78"/>
          <p:cNvGrpSpPr>
            <a:grpSpLocks/>
          </p:cNvGrpSpPr>
          <p:nvPr/>
        </p:nvGrpSpPr>
        <p:grpSpPr bwMode="auto">
          <a:xfrm>
            <a:off x="6537752" y="1638537"/>
            <a:ext cx="288131" cy="779860"/>
            <a:chOff x="3850" y="2291"/>
            <a:chExt cx="269" cy="733"/>
          </a:xfrm>
        </p:grpSpPr>
        <p:sp>
          <p:nvSpPr>
            <p:cNvPr id="77" name="Oval 79"/>
            <p:cNvSpPr>
              <a:spLocks noChangeArrowheads="1"/>
            </p:cNvSpPr>
            <p:nvPr/>
          </p:nvSpPr>
          <p:spPr bwMode="auto">
            <a:xfrm>
              <a:off x="3850" y="2291"/>
              <a:ext cx="269" cy="733"/>
            </a:xfrm>
            <a:prstGeom prst="ellipse">
              <a:avLst/>
            </a:prstGeom>
            <a:solidFill>
              <a:srgbClr val="F5FBA3">
                <a:alpha val="50195"/>
              </a:srgbClr>
            </a:solidFill>
            <a:ln w="28575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zh-CN" altLang="zh-CN" sz="2100" b="1">
                <a:solidFill>
                  <a:srgbClr val="1C1C1C"/>
                </a:solidFill>
                <a:latin typeface="Times New Roman" pitchFamily="18" charset="0"/>
              </a:endParaRPr>
            </a:p>
          </p:txBody>
        </p:sp>
        <p:sp>
          <p:nvSpPr>
            <p:cNvPr id="78" name="Line 80"/>
            <p:cNvSpPr>
              <a:spLocks noChangeShapeType="1"/>
            </p:cNvSpPr>
            <p:nvPr/>
          </p:nvSpPr>
          <p:spPr bwMode="auto">
            <a:xfrm>
              <a:off x="3888" y="2352"/>
              <a:ext cx="103" cy="322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solid"/>
              <a:round/>
              <a:headEnd type="triangle" w="med" len="lg"/>
              <a:tailEnd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9" name="Object 81"/>
            <p:cNvGraphicFramePr>
              <a:graphicFrameLocks noChangeAspect="1"/>
            </p:cNvGraphicFramePr>
            <p:nvPr/>
          </p:nvGraphicFramePr>
          <p:xfrm>
            <a:off x="3937" y="2348"/>
            <a:ext cx="12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986" name="Equation" r:id="rId23" imgW="114102" imgH="126780" progId="Equation.3">
                    <p:embed/>
                  </p:oleObj>
                </mc:Choice>
                <mc:Fallback>
                  <p:oleObj name="Equation" r:id="rId23" imgW="114102" imgH="126780" progId="Equation.3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" y="2348"/>
                          <a:ext cx="12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4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579057"/>
              </p:ext>
            </p:extLst>
          </p:nvPr>
        </p:nvGraphicFramePr>
        <p:xfrm>
          <a:off x="5965060" y="3519814"/>
          <a:ext cx="1546622" cy="845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87" name="Equation" r:id="rId25" imgW="799920" imgH="444240" progId="Equation.DSMT4">
                  <p:embed/>
                </p:oleObj>
              </mc:Choice>
              <mc:Fallback>
                <p:oleObj name="Equation" r:id="rId25" imgW="799920" imgH="4442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060" y="3519814"/>
                        <a:ext cx="1546622" cy="84534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382162"/>
              </p:ext>
            </p:extLst>
          </p:nvPr>
        </p:nvGraphicFramePr>
        <p:xfrm>
          <a:off x="6541067" y="1669201"/>
          <a:ext cx="117398" cy="12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88" name="Equation" r:id="rId27" imgW="114120" imgH="126720" progId="Equation.DSMT4">
                  <p:embed/>
                </p:oleObj>
              </mc:Choice>
              <mc:Fallback>
                <p:oleObj name="Equation" r:id="rId27" imgW="114120" imgH="126720" progId="Equation.DSMT4">
                  <p:embed/>
                  <p:pic>
                    <p:nvPicPr>
                      <p:cNvPr id="3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1067" y="1669201"/>
                        <a:ext cx="117398" cy="1241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90" name="Group 22"/>
          <p:cNvGrpSpPr>
            <a:grpSpLocks/>
          </p:cNvGrpSpPr>
          <p:nvPr/>
        </p:nvGrpSpPr>
        <p:grpSpPr bwMode="auto">
          <a:xfrm>
            <a:off x="1493283" y="2157173"/>
            <a:ext cx="3973115" cy="576263"/>
            <a:chOff x="339" y="2216"/>
            <a:chExt cx="3337" cy="484"/>
          </a:xfrm>
        </p:grpSpPr>
        <p:graphicFrame>
          <p:nvGraphicFramePr>
            <p:cNvPr id="1095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953041"/>
                </p:ext>
              </p:extLst>
            </p:nvPr>
          </p:nvGraphicFramePr>
          <p:xfrm>
            <a:off x="2408" y="2216"/>
            <a:ext cx="1268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0" name="Equation" r:id="rId3" imgW="761760" imgH="291960" progId="Equation.DSMT4">
                    <p:embed/>
                  </p:oleObj>
                </mc:Choice>
                <mc:Fallback>
                  <p:oleObj name="Equation" r:id="rId3" imgW="7617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" y="2216"/>
                          <a:ext cx="1268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3" name="Rectangle 5"/>
            <p:cNvSpPr>
              <a:spLocks noChangeArrowheads="1"/>
            </p:cNvSpPr>
            <p:nvPr/>
          </p:nvSpPr>
          <p:spPr bwMode="auto">
            <a:xfrm>
              <a:off x="339" y="2218"/>
              <a:ext cx="2064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 磁场高斯定理</a:t>
              </a:r>
            </a:p>
          </p:txBody>
        </p:sp>
      </p:grpSp>
      <p:grpSp>
        <p:nvGrpSpPr>
          <p:cNvPr id="109591" name="Group 23"/>
          <p:cNvGrpSpPr>
            <a:grpSpLocks/>
          </p:cNvGrpSpPr>
          <p:nvPr/>
        </p:nvGrpSpPr>
        <p:grpSpPr bwMode="auto">
          <a:xfrm>
            <a:off x="1493282" y="2808447"/>
            <a:ext cx="6129340" cy="591741"/>
            <a:chOff x="339" y="2882"/>
            <a:chExt cx="5148" cy="497"/>
          </a:xfrm>
        </p:grpSpPr>
        <p:graphicFrame>
          <p:nvGraphicFramePr>
            <p:cNvPr id="10957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591033"/>
                </p:ext>
              </p:extLst>
            </p:nvPr>
          </p:nvGraphicFramePr>
          <p:xfrm>
            <a:off x="2431" y="2887"/>
            <a:ext cx="3056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1" name="Equation" r:id="rId6" imgW="1600200" imgH="291960" progId="Equation.DSMT4">
                    <p:embed/>
                  </p:oleObj>
                </mc:Choice>
                <mc:Fallback>
                  <p:oleObj name="Equation" r:id="rId6" imgW="160020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1" y="2887"/>
                          <a:ext cx="3056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8" name="Text Box 10"/>
            <p:cNvSpPr txBox="1">
              <a:spLocks noChangeArrowheads="1"/>
            </p:cNvSpPr>
            <p:nvPr/>
          </p:nvSpPr>
          <p:spPr bwMode="auto">
            <a:xfrm>
              <a:off x="339" y="2882"/>
              <a:ext cx="193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DDCDB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 安培环路定理</a:t>
              </a:r>
            </a:p>
          </p:txBody>
        </p:sp>
      </p:grpSp>
      <p:grpSp>
        <p:nvGrpSpPr>
          <p:cNvPr id="109589" name="Group 21"/>
          <p:cNvGrpSpPr>
            <a:grpSpLocks/>
          </p:cNvGrpSpPr>
          <p:nvPr/>
        </p:nvGrpSpPr>
        <p:grpSpPr bwMode="auto">
          <a:xfrm>
            <a:off x="1493283" y="1473757"/>
            <a:ext cx="4119562" cy="596504"/>
            <a:chOff x="339" y="1526"/>
            <a:chExt cx="3460" cy="501"/>
          </a:xfrm>
        </p:grpSpPr>
        <p:sp>
          <p:nvSpPr>
            <p:cNvPr id="109580" name="Rectangle 12"/>
            <p:cNvSpPr>
              <a:spLocks noChangeArrowheads="1"/>
            </p:cNvSpPr>
            <p:nvPr/>
          </p:nvSpPr>
          <p:spPr bwMode="auto">
            <a:xfrm>
              <a:off x="339" y="1554"/>
              <a:ext cx="2323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 静电场环流定理</a:t>
              </a:r>
              <a:endParaRPr kumimoji="1" lang="zh-CN" altLang="en-US" sz="2100" b="1">
                <a:solidFill>
                  <a:srgbClr val="9C349A"/>
                </a:solidFill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10958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964029"/>
                </p:ext>
              </p:extLst>
            </p:nvPr>
          </p:nvGraphicFramePr>
          <p:xfrm>
            <a:off x="2424" y="1526"/>
            <a:ext cx="1375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2" name="Equation" r:id="rId8" imgW="749160" imgH="291960" progId="Equation.DSMT4">
                    <p:embed/>
                  </p:oleObj>
                </mc:Choice>
                <mc:Fallback>
                  <p:oleObj name="Equation" r:id="rId8" imgW="7491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4" y="1526"/>
                          <a:ext cx="1375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9588" name="Group 20"/>
          <p:cNvGrpSpPr>
            <a:grpSpLocks/>
          </p:cNvGrpSpPr>
          <p:nvPr/>
        </p:nvGrpSpPr>
        <p:grpSpPr bwMode="auto">
          <a:xfrm>
            <a:off x="1493282" y="829628"/>
            <a:ext cx="5668566" cy="581025"/>
            <a:chOff x="339" y="851"/>
            <a:chExt cx="4761" cy="488"/>
          </a:xfrm>
        </p:grpSpPr>
        <p:sp>
          <p:nvSpPr>
            <p:cNvPr id="109583" name="Text Box 15"/>
            <p:cNvSpPr txBox="1">
              <a:spLocks noChangeArrowheads="1"/>
            </p:cNvSpPr>
            <p:nvPr/>
          </p:nvSpPr>
          <p:spPr bwMode="auto">
            <a:xfrm>
              <a:off x="339" y="890"/>
              <a:ext cx="222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Tx/>
                <a:buBlip>
                  <a:blip r:embed="rId5"/>
                </a:buBlip>
              </a:pP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 静电场高斯定理</a:t>
              </a:r>
            </a:p>
          </p:txBody>
        </p:sp>
        <p:graphicFrame>
          <p:nvGraphicFramePr>
            <p:cNvPr id="10958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9048816"/>
                </p:ext>
              </p:extLst>
            </p:nvPr>
          </p:nvGraphicFramePr>
          <p:xfrm>
            <a:off x="2393" y="851"/>
            <a:ext cx="270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3" name="Equation" r:id="rId10" imgW="1549080" imgH="291960" progId="Equation.DSMT4">
                    <p:embed/>
                  </p:oleObj>
                </mc:Choice>
                <mc:Fallback>
                  <p:oleObj name="Equation" r:id="rId10" imgW="154908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3" y="851"/>
                          <a:ext cx="2707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9592" name="Group 24"/>
          <p:cNvGrpSpPr>
            <a:grpSpLocks/>
          </p:cNvGrpSpPr>
          <p:nvPr/>
        </p:nvGrpSpPr>
        <p:grpSpPr bwMode="auto">
          <a:xfrm>
            <a:off x="1536145" y="3552587"/>
            <a:ext cx="5830490" cy="1200150"/>
            <a:chOff x="480" y="528"/>
            <a:chExt cx="4897" cy="1008"/>
          </a:xfrm>
        </p:grpSpPr>
        <p:sp>
          <p:nvSpPr>
            <p:cNvPr id="109593" name="Text Box 25"/>
            <p:cNvSpPr txBox="1">
              <a:spLocks noChangeArrowheads="1"/>
            </p:cNvSpPr>
            <p:nvPr/>
          </p:nvSpPr>
          <p:spPr bwMode="auto">
            <a:xfrm>
              <a:off x="2310" y="575"/>
              <a:ext cx="3067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kumimoji="1" lang="en-US" altLang="zh-CN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kumimoji="1" lang="zh-CN" altLang="en-US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）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有旋电场</a:t>
              </a:r>
            </a:p>
          </p:txBody>
        </p:sp>
        <p:graphicFrame>
          <p:nvGraphicFramePr>
            <p:cNvPr id="109594" name="Object 26"/>
            <p:cNvGraphicFramePr>
              <a:graphicFrameLocks noChangeAspect="1"/>
            </p:cNvGraphicFramePr>
            <p:nvPr/>
          </p:nvGraphicFramePr>
          <p:xfrm>
            <a:off x="4094" y="838"/>
            <a:ext cx="1099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4" name="Equation" r:id="rId12" imgW="545760" imgH="419040" progId="Equation.3">
                    <p:embed/>
                  </p:oleObj>
                </mc:Choice>
                <mc:Fallback>
                  <p:oleObj name="Equation" r:id="rId12" imgW="54576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4" y="838"/>
                          <a:ext cx="1099" cy="6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5" name="Object 27"/>
            <p:cNvGraphicFramePr>
              <a:graphicFrameLocks noChangeAspect="1"/>
            </p:cNvGraphicFramePr>
            <p:nvPr/>
          </p:nvGraphicFramePr>
          <p:xfrm>
            <a:off x="4121" y="528"/>
            <a:ext cx="37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5" name="Equation" r:id="rId14" imgW="203040" imgH="228600" progId="Equation.3">
                    <p:embed/>
                  </p:oleObj>
                </mc:Choice>
                <mc:Fallback>
                  <p:oleObj name="Equation" r:id="rId14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528"/>
                          <a:ext cx="37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96" name="Rectangle 28"/>
            <p:cNvSpPr>
              <a:spLocks noChangeArrowheads="1"/>
            </p:cNvSpPr>
            <p:nvPr/>
          </p:nvSpPr>
          <p:spPr bwMode="auto">
            <a:xfrm>
              <a:off x="480" y="623"/>
              <a:ext cx="1682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1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麦克斯韦提出</a:t>
              </a:r>
            </a:p>
          </p:txBody>
        </p:sp>
        <p:sp>
          <p:nvSpPr>
            <p:cNvPr id="109597" name="Rectangle 29"/>
            <p:cNvSpPr>
              <a:spLocks noChangeArrowheads="1"/>
            </p:cNvSpPr>
            <p:nvPr/>
          </p:nvSpPr>
          <p:spPr bwMode="auto">
            <a:xfrm>
              <a:off x="2310" y="1064"/>
              <a:ext cx="2276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kumimoji="1" lang="en-US" altLang="zh-CN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2</a:t>
              </a:r>
              <a:r>
                <a:rPr kumimoji="1" lang="zh-CN" altLang="en-US" sz="2100" b="1">
                  <a:solidFill>
                    <a:srgbClr val="CC0000"/>
                  </a:solidFill>
                  <a:latin typeface="Times New Roman" pitchFamily="18" charset="0"/>
                  <a:ea typeface="宋体" charset="-122"/>
                </a:rPr>
                <a:t>）</a:t>
              </a: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位移电流</a:t>
              </a:r>
            </a:p>
          </p:txBody>
        </p:sp>
      </p:grp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795576" y="327005"/>
            <a:ext cx="6286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kumimoji="1" sz="3200" b="1">
                <a:solidFill>
                  <a:srgbClr val="0000FF"/>
                </a:solidFill>
                <a:latin typeface="Times New Roman" pitchFamily="18" charset="0"/>
                <a:ea typeface="宋体" charset="-122"/>
              </a:defRPr>
            </a:lvl1pPr>
          </a:lstStyle>
          <a:p>
            <a:r>
              <a:rPr lang="zh-CN" altLang="en-US" sz="2400"/>
              <a:t>二、电磁场基本方程</a:t>
            </a:r>
            <a:endParaRPr lang="zh-CN" altLang="en-US" sz="2400" dirty="0"/>
          </a:p>
        </p:txBody>
      </p:sp>
      <p:sp>
        <p:nvSpPr>
          <p:cNvPr id="26" name="灯片编号占位符 1"/>
          <p:cNvSpPr txBox="1">
            <a:spLocks/>
          </p:cNvSpPr>
          <p:nvPr/>
        </p:nvSpPr>
        <p:spPr bwMode="auto">
          <a:xfrm>
            <a:off x="7543800" y="4900759"/>
            <a:ext cx="1600200" cy="27384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1" kern="1200" smtClean="0">
                <a:solidFill>
                  <a:srgbClr val="0000CC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685800">
              <a:defRPr/>
            </a:pPr>
            <a:fld id="{B8F441BB-861E-458A-A68D-69D0043204A2}" type="slidenum">
              <a:rPr lang="en-US" altLang="zh-CN" sz="1050"/>
              <a:pPr defTabSz="685800">
                <a:defRPr/>
              </a:pPr>
              <a:t>24</a:t>
            </a:fld>
            <a:endParaRPr lang="en-US" altLang="zh-CN" sz="1050"/>
          </a:p>
        </p:txBody>
      </p:sp>
    </p:spTree>
    <p:extLst>
      <p:ext uri="{BB962C8B-B14F-4D97-AF65-F5344CB8AC3E}">
        <p14:creationId xmlns:p14="http://schemas.microsoft.com/office/powerpoint/2010/main" val="84592278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10" name="Group 18"/>
          <p:cNvGrpSpPr>
            <a:grpSpLocks/>
          </p:cNvGrpSpPr>
          <p:nvPr/>
        </p:nvGrpSpPr>
        <p:grpSpPr bwMode="auto">
          <a:xfrm>
            <a:off x="3273743" y="1200628"/>
            <a:ext cx="3832623" cy="2876549"/>
            <a:chOff x="1828" y="796"/>
            <a:chExt cx="3219" cy="2416"/>
          </a:xfrm>
        </p:grpSpPr>
        <p:graphicFrame>
          <p:nvGraphicFramePr>
            <p:cNvPr id="11059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390313"/>
                </p:ext>
              </p:extLst>
            </p:nvPr>
          </p:nvGraphicFramePr>
          <p:xfrm>
            <a:off x="2128" y="2025"/>
            <a:ext cx="1293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34" name="Equation" r:id="rId3" imgW="761760" imgH="291960" progId="Equation.DSMT4">
                    <p:embed/>
                  </p:oleObj>
                </mc:Choice>
                <mc:Fallback>
                  <p:oleObj name="Equation" r:id="rId3" imgW="7617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2025"/>
                          <a:ext cx="1293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59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9314823"/>
                </p:ext>
              </p:extLst>
            </p:nvPr>
          </p:nvGraphicFramePr>
          <p:xfrm>
            <a:off x="2128" y="2520"/>
            <a:ext cx="2675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35" name="Equation" r:id="rId5" imgW="1638000" imgH="419040" progId="Equation.DSMT4">
                    <p:embed/>
                  </p:oleObj>
                </mc:Choice>
                <mc:Fallback>
                  <p:oleObj name="Equation" r:id="rId5" imgW="163800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2520"/>
                          <a:ext cx="2675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59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4447972"/>
                </p:ext>
              </p:extLst>
            </p:nvPr>
          </p:nvGraphicFramePr>
          <p:xfrm>
            <a:off x="2128" y="1298"/>
            <a:ext cx="2533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36" name="Equation" r:id="rId7" imgW="1307880" imgH="419040" progId="Equation.DSMT4">
                    <p:embed/>
                  </p:oleObj>
                </mc:Choice>
                <mc:Fallback>
                  <p:oleObj name="Equation" r:id="rId7" imgW="130788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1298"/>
                          <a:ext cx="2533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59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330494"/>
                </p:ext>
              </p:extLst>
            </p:nvPr>
          </p:nvGraphicFramePr>
          <p:xfrm>
            <a:off x="2128" y="796"/>
            <a:ext cx="2919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837" name="Equation" r:id="rId9" imgW="1549080" imgH="291960" progId="Equation.DSMT4">
                    <p:embed/>
                  </p:oleObj>
                </mc:Choice>
                <mc:Fallback>
                  <p:oleObj name="Equation" r:id="rId9" imgW="154908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796"/>
                          <a:ext cx="2919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00" name="AutoShape 8"/>
            <p:cNvSpPr>
              <a:spLocks/>
            </p:cNvSpPr>
            <p:nvPr/>
          </p:nvSpPr>
          <p:spPr bwMode="auto">
            <a:xfrm>
              <a:off x="1828" y="895"/>
              <a:ext cx="192" cy="2160"/>
            </a:xfrm>
            <a:prstGeom prst="leftBrace">
              <a:avLst>
                <a:gd name="adj1" fmla="val 9375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100" b="1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2" name="灯片编号占位符 1"/>
          <p:cNvSpPr txBox="1">
            <a:spLocks/>
          </p:cNvSpPr>
          <p:nvPr/>
        </p:nvSpPr>
        <p:spPr bwMode="auto">
          <a:xfrm>
            <a:off x="7543800" y="4900759"/>
            <a:ext cx="1600200" cy="27384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1" kern="1200" smtClean="0">
                <a:solidFill>
                  <a:srgbClr val="0000CC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685800">
              <a:defRPr/>
            </a:pPr>
            <a:fld id="{B8F441BB-861E-458A-A68D-69D0043204A2}" type="slidenum">
              <a:rPr lang="en-US" altLang="zh-CN" sz="1050"/>
              <a:pPr defTabSz="685800">
                <a:defRPr/>
              </a:pPr>
              <a:t>25</a:t>
            </a:fld>
            <a:endParaRPr lang="en-US" altLang="zh-CN" sz="1050"/>
          </a:p>
        </p:txBody>
      </p:sp>
      <p:grpSp>
        <p:nvGrpSpPr>
          <p:cNvPr id="4" name="组合 3"/>
          <p:cNvGrpSpPr/>
          <p:nvPr/>
        </p:nvGrpSpPr>
        <p:grpSpPr>
          <a:xfrm>
            <a:off x="2057400" y="1544956"/>
            <a:ext cx="685800" cy="2257425"/>
            <a:chOff x="1483360" y="2456181"/>
            <a:chExt cx="914400" cy="3009900"/>
          </a:xfrm>
        </p:grpSpPr>
        <p:sp>
          <p:nvSpPr>
            <p:cNvPr id="110609" name="AutoShape 17"/>
            <p:cNvSpPr>
              <a:spLocks noChangeArrowheads="1"/>
            </p:cNvSpPr>
            <p:nvPr/>
          </p:nvSpPr>
          <p:spPr bwMode="auto">
            <a:xfrm>
              <a:off x="1483360" y="2456181"/>
              <a:ext cx="914400" cy="3009900"/>
            </a:xfrm>
            <a:prstGeom prst="verticalScroll">
              <a:avLst>
                <a:gd name="adj" fmla="val 12500"/>
              </a:avLst>
            </a:prstGeom>
            <a:solidFill>
              <a:schemeClr val="accent3">
                <a:alpha val="2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/>
            <a:p>
              <a:pPr algn="ctr"/>
              <a:endParaRPr lang="zh-CN" altLang="en-US" sz="2100" b="1" dirty="0">
                <a:solidFill>
                  <a:srgbClr val="FFFF66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593037" y="2763838"/>
              <a:ext cx="677108" cy="259173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麦克斯韦方程组</a:t>
              </a:r>
              <a:endParaRPr lang="zh-CN" altLang="en-US" sz="2100" dirty="0"/>
            </a:p>
          </p:txBody>
        </p:sp>
      </p:grp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1101805" y="419623"/>
            <a:ext cx="57864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麦克斯韦把上述方程修改为：</a:t>
            </a:r>
          </a:p>
        </p:txBody>
      </p:sp>
    </p:spTree>
    <p:extLst>
      <p:ext uri="{BB962C8B-B14F-4D97-AF65-F5344CB8AC3E}">
        <p14:creationId xmlns:p14="http://schemas.microsoft.com/office/powerpoint/2010/main" val="32071507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71550" y="4918518"/>
            <a:ext cx="1428750" cy="342900"/>
          </a:xfrm>
        </p:spPr>
        <p:txBody>
          <a:bodyPr/>
          <a:lstStyle/>
          <a:p>
            <a:fld id="{34139031-FDE9-4207-AE6F-6461D4D88660}" type="slidenum">
              <a:rPr lang="zh-CN" altLang="en-US" smtClean="0">
                <a:solidFill>
                  <a:srgbClr val="578963"/>
                </a:solidFill>
              </a:rPr>
              <a:pPr/>
              <a:t>26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object 2"/>
          <p:cNvSpPr txBox="1"/>
          <p:nvPr/>
        </p:nvSpPr>
        <p:spPr>
          <a:xfrm>
            <a:off x="2119056" y="954191"/>
            <a:ext cx="1313604" cy="344806"/>
          </a:xfrm>
          <a:prstGeom prst="rect">
            <a:avLst/>
          </a:prstGeom>
          <a:solidFill>
            <a:srgbClr val="ECF9D2"/>
          </a:solidFill>
          <a:ln w="9525">
            <a:solidFill>
              <a:srgbClr val="000000"/>
            </a:solidFill>
          </a:ln>
        </p:spPr>
        <p:txBody>
          <a:bodyPr vert="horz" wrap="square" lIns="0" tIns="84296" rIns="0" bIns="0" rtlCol="0">
            <a:noAutofit/>
          </a:bodyPr>
          <a:lstStyle/>
          <a:p>
            <a:pPr marL="182880" algn="ctr">
              <a:lnSpc>
                <a:spcPts val="2036"/>
              </a:lnSpc>
              <a:spcBef>
                <a:spcPts val="664"/>
              </a:spcBef>
            </a:pPr>
            <a:r>
              <a:rPr sz="2100" b="1" spc="-19" dirty="0">
                <a:latin typeface="黑体"/>
                <a:cs typeface="黑体"/>
              </a:rPr>
              <a:t>电</a:t>
            </a:r>
            <a:r>
              <a:rPr sz="2100" b="1" spc="-38" dirty="0">
                <a:latin typeface="黑体"/>
                <a:cs typeface="黑体"/>
              </a:rPr>
              <a:t>荷</a:t>
            </a:r>
            <a:endParaRPr sz="2100">
              <a:latin typeface="黑体"/>
              <a:cs typeface="黑体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450023" y="757487"/>
            <a:ext cx="3150742" cy="541510"/>
            <a:chOff x="3076030" y="1009982"/>
            <a:chExt cx="4200989" cy="722013"/>
          </a:xfrm>
        </p:grpSpPr>
        <p:sp>
          <p:nvSpPr>
            <p:cNvPr id="4" name="object 3"/>
            <p:cNvSpPr txBox="1"/>
            <p:nvPr/>
          </p:nvSpPr>
          <p:spPr>
            <a:xfrm>
              <a:off x="5525547" y="1272254"/>
              <a:ext cx="1751472" cy="459741"/>
            </a:xfrm>
            <a:prstGeom prst="rect">
              <a:avLst/>
            </a:prstGeom>
            <a:solidFill>
              <a:srgbClr val="ECF9D2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84296" rIns="0" bIns="0" rtlCol="0">
              <a:noAutofit/>
            </a:bodyPr>
            <a:lstStyle/>
            <a:p>
              <a:pPr marL="183356" algn="ctr">
                <a:lnSpc>
                  <a:spcPts val="2036"/>
                </a:lnSpc>
                <a:spcBef>
                  <a:spcPts val="664"/>
                </a:spcBef>
              </a:pPr>
              <a:r>
                <a:rPr sz="2100" b="1" spc="-19" dirty="0">
                  <a:latin typeface="黑体"/>
                  <a:cs typeface="黑体"/>
                </a:rPr>
                <a:t>电</a:t>
              </a:r>
              <a:r>
                <a:rPr sz="2100" b="1" spc="-38" dirty="0">
                  <a:latin typeface="黑体"/>
                  <a:cs typeface="黑体"/>
                </a:rPr>
                <a:t>流</a:t>
              </a:r>
              <a:endParaRPr sz="2100">
                <a:latin typeface="黑体"/>
                <a:cs typeface="黑体"/>
              </a:endParaRPr>
            </a:p>
          </p:txBody>
        </p:sp>
        <p:sp>
          <p:nvSpPr>
            <p:cNvPr id="7" name="object 6"/>
            <p:cNvSpPr/>
            <p:nvPr/>
          </p:nvSpPr>
          <p:spPr>
            <a:xfrm>
              <a:off x="3076030" y="1492175"/>
              <a:ext cx="2472667" cy="146614"/>
            </a:xfrm>
            <a:custGeom>
              <a:avLst/>
              <a:gdLst/>
              <a:ahLst/>
              <a:cxnLst/>
              <a:rect l="l" t="t" r="r" b="b"/>
              <a:pathLst>
                <a:path w="1828800" h="114300">
                  <a:moveTo>
                    <a:pt x="1714500" y="0"/>
                  </a:moveTo>
                  <a:lnTo>
                    <a:pt x="1714500" y="114300"/>
                  </a:lnTo>
                  <a:lnTo>
                    <a:pt x="1790700" y="76200"/>
                  </a:lnTo>
                  <a:lnTo>
                    <a:pt x="1733550" y="76200"/>
                  </a:lnTo>
                  <a:lnTo>
                    <a:pt x="1733550" y="38100"/>
                  </a:lnTo>
                  <a:lnTo>
                    <a:pt x="1790700" y="38100"/>
                  </a:lnTo>
                  <a:lnTo>
                    <a:pt x="1714500" y="0"/>
                  </a:lnTo>
                  <a:close/>
                </a:path>
                <a:path w="1828800" h="114300">
                  <a:moveTo>
                    <a:pt x="17145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714500" y="76200"/>
                  </a:lnTo>
                  <a:lnTo>
                    <a:pt x="1714500" y="38100"/>
                  </a:lnTo>
                  <a:close/>
                </a:path>
                <a:path w="1828800" h="114300">
                  <a:moveTo>
                    <a:pt x="1790700" y="38100"/>
                  </a:moveTo>
                  <a:lnTo>
                    <a:pt x="1733550" y="38100"/>
                  </a:lnTo>
                  <a:lnTo>
                    <a:pt x="1733550" y="76200"/>
                  </a:lnTo>
                  <a:lnTo>
                    <a:pt x="1790700" y="76200"/>
                  </a:lnTo>
                  <a:lnTo>
                    <a:pt x="1828800" y="57150"/>
                  </a:lnTo>
                  <a:lnTo>
                    <a:pt x="179070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sp>
          <p:nvSpPr>
            <p:cNvPr id="8" name="object 7"/>
            <p:cNvSpPr txBox="1"/>
            <p:nvPr/>
          </p:nvSpPr>
          <p:spPr>
            <a:xfrm>
              <a:off x="3733386" y="1009982"/>
              <a:ext cx="862859" cy="443710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9525" algn="ctr">
                <a:spcBef>
                  <a:spcPts val="75"/>
                </a:spcBef>
              </a:pPr>
              <a:r>
                <a:rPr sz="2100" b="1" spc="-19" dirty="0">
                  <a:solidFill>
                    <a:srgbClr val="0000FF"/>
                  </a:solidFill>
                  <a:latin typeface="黑体"/>
                  <a:cs typeface="黑体"/>
                </a:rPr>
                <a:t>运</a:t>
              </a:r>
              <a:r>
                <a:rPr sz="2100" b="1" spc="-38" dirty="0">
                  <a:solidFill>
                    <a:srgbClr val="0000FF"/>
                  </a:solidFill>
                  <a:latin typeface="黑体"/>
                  <a:cs typeface="黑体"/>
                </a:rPr>
                <a:t>动</a:t>
              </a:r>
              <a:endParaRPr sz="2100">
                <a:latin typeface="黑体"/>
                <a:cs typeface="黑体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119056" y="1360327"/>
            <a:ext cx="1313604" cy="1146791"/>
            <a:chOff x="1301408" y="1813768"/>
            <a:chExt cx="1751472" cy="1529055"/>
          </a:xfrm>
        </p:grpSpPr>
        <p:sp>
          <p:nvSpPr>
            <p:cNvPr id="6" name="object 5"/>
            <p:cNvSpPr txBox="1"/>
            <p:nvPr/>
          </p:nvSpPr>
          <p:spPr>
            <a:xfrm>
              <a:off x="1301408" y="2885006"/>
              <a:ext cx="1751472" cy="457817"/>
            </a:xfrm>
            <a:prstGeom prst="rect">
              <a:avLst/>
            </a:prstGeom>
            <a:solidFill>
              <a:srgbClr val="ECF9D2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92392" rIns="0" bIns="0" rtlCol="0">
              <a:noAutofit/>
            </a:bodyPr>
            <a:lstStyle/>
            <a:p>
              <a:pPr marL="182880" algn="ctr">
                <a:lnSpc>
                  <a:spcPts val="1969"/>
                </a:lnSpc>
                <a:spcBef>
                  <a:spcPts val="727"/>
                </a:spcBef>
              </a:pPr>
              <a:r>
                <a:rPr sz="2100" b="1" spc="-15" dirty="0">
                  <a:latin typeface="黑体"/>
                  <a:cs typeface="黑体"/>
                </a:rPr>
                <a:t>电</a:t>
              </a:r>
              <a:r>
                <a:rPr sz="2100" b="1" spc="-38" dirty="0">
                  <a:latin typeface="黑体"/>
                  <a:cs typeface="黑体"/>
                </a:rPr>
                <a:t>场</a:t>
              </a:r>
              <a:endParaRPr sz="2100">
                <a:latin typeface="黑体"/>
                <a:cs typeface="黑体"/>
              </a:endParaRPr>
            </a:p>
          </p:txBody>
        </p:sp>
        <p:sp>
          <p:nvSpPr>
            <p:cNvPr id="10" name="object 9"/>
            <p:cNvSpPr/>
            <p:nvPr/>
          </p:nvSpPr>
          <p:spPr>
            <a:xfrm>
              <a:off x="2071509" y="1858709"/>
              <a:ext cx="154542" cy="1026297"/>
            </a:xfrm>
            <a:custGeom>
              <a:avLst/>
              <a:gdLst/>
              <a:ahLst/>
              <a:cxnLst/>
              <a:rect l="l" t="t" r="r" b="b"/>
              <a:pathLst>
                <a:path w="114300" h="800100">
                  <a:moveTo>
                    <a:pt x="38100" y="685800"/>
                  </a:moveTo>
                  <a:lnTo>
                    <a:pt x="0" y="685800"/>
                  </a:lnTo>
                  <a:lnTo>
                    <a:pt x="57150" y="800100"/>
                  </a:lnTo>
                  <a:lnTo>
                    <a:pt x="104775" y="704850"/>
                  </a:lnTo>
                  <a:lnTo>
                    <a:pt x="38100" y="704850"/>
                  </a:lnTo>
                  <a:lnTo>
                    <a:pt x="38100" y="685800"/>
                  </a:lnTo>
                  <a:close/>
                </a:path>
                <a:path w="114300" h="800100">
                  <a:moveTo>
                    <a:pt x="76200" y="0"/>
                  </a:moveTo>
                  <a:lnTo>
                    <a:pt x="38100" y="0"/>
                  </a:lnTo>
                  <a:lnTo>
                    <a:pt x="38100" y="704850"/>
                  </a:lnTo>
                  <a:lnTo>
                    <a:pt x="76200" y="704850"/>
                  </a:lnTo>
                  <a:lnTo>
                    <a:pt x="76200" y="0"/>
                  </a:lnTo>
                  <a:close/>
                </a:path>
                <a:path w="114300" h="800100">
                  <a:moveTo>
                    <a:pt x="114300" y="685800"/>
                  </a:moveTo>
                  <a:lnTo>
                    <a:pt x="76200" y="685800"/>
                  </a:lnTo>
                  <a:lnTo>
                    <a:pt x="76200" y="704850"/>
                  </a:lnTo>
                  <a:lnTo>
                    <a:pt x="104775" y="704850"/>
                  </a:lnTo>
                  <a:lnTo>
                    <a:pt x="114300" y="685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215243" y="1813768"/>
              <a:ext cx="447312" cy="878849"/>
              <a:chOff x="2215243" y="1883217"/>
              <a:chExt cx="447312" cy="878849"/>
            </a:xfrm>
          </p:grpSpPr>
          <p:sp>
            <p:nvSpPr>
              <p:cNvPr id="11" name="object 10"/>
              <p:cNvSpPr txBox="1"/>
              <p:nvPr/>
            </p:nvSpPr>
            <p:spPr>
              <a:xfrm>
                <a:off x="2215243" y="1883217"/>
                <a:ext cx="447312" cy="44371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 algn="ctr">
                  <a:spcBef>
                    <a:spcPts val="75"/>
                  </a:spcBef>
                </a:pPr>
                <a:r>
                  <a:rPr sz="2100" b="1" spc="-8" dirty="0">
                    <a:solidFill>
                      <a:srgbClr val="0000FF"/>
                    </a:solidFill>
                    <a:latin typeface="黑体"/>
                    <a:cs typeface="黑体"/>
                  </a:rPr>
                  <a:t>激</a:t>
                </a:r>
                <a:endParaRPr sz="2100">
                  <a:latin typeface="黑体"/>
                  <a:cs typeface="黑体"/>
                </a:endParaRPr>
              </a:p>
            </p:txBody>
          </p:sp>
          <p:sp>
            <p:nvSpPr>
              <p:cNvPr id="12" name="object 11"/>
              <p:cNvSpPr txBox="1"/>
              <p:nvPr/>
            </p:nvSpPr>
            <p:spPr>
              <a:xfrm>
                <a:off x="2215672" y="2318355"/>
                <a:ext cx="446455" cy="44371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 algn="ctr">
                  <a:spcBef>
                    <a:spcPts val="75"/>
                  </a:spcBef>
                </a:pPr>
                <a:r>
                  <a:rPr sz="2100" b="1" spc="-8" dirty="0">
                    <a:solidFill>
                      <a:srgbClr val="0000FF"/>
                    </a:solidFill>
                    <a:latin typeface="黑体"/>
                    <a:cs typeface="黑体"/>
                  </a:rPr>
                  <a:t>发</a:t>
                </a:r>
                <a:endParaRPr sz="2100">
                  <a:latin typeface="黑体"/>
                  <a:cs typeface="黑体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2310279" y="3523214"/>
            <a:ext cx="1159063" cy="769722"/>
            <a:chOff x="1556371" y="4697619"/>
            <a:chExt cx="1545417" cy="1026296"/>
          </a:xfrm>
        </p:grpSpPr>
        <p:sp>
          <p:nvSpPr>
            <p:cNvPr id="17" name="object 17"/>
            <p:cNvSpPr/>
            <p:nvPr/>
          </p:nvSpPr>
          <p:spPr>
            <a:xfrm>
              <a:off x="1659399" y="4697619"/>
              <a:ext cx="1442389" cy="1026296"/>
            </a:xfrm>
            <a:custGeom>
              <a:avLst/>
              <a:gdLst/>
              <a:ahLst/>
              <a:cxnLst/>
              <a:rect l="l" t="t" r="r" b="b"/>
              <a:pathLst>
                <a:path w="1066800" h="800100">
                  <a:moveTo>
                    <a:pt x="0" y="400049"/>
                  </a:moveTo>
                  <a:lnTo>
                    <a:pt x="2753" y="359140"/>
                  </a:lnTo>
                  <a:lnTo>
                    <a:pt x="10834" y="319414"/>
                  </a:lnTo>
                  <a:lnTo>
                    <a:pt x="23976" y="281073"/>
                  </a:lnTo>
                  <a:lnTo>
                    <a:pt x="41910" y="244316"/>
                  </a:lnTo>
                  <a:lnTo>
                    <a:pt x="64368" y="209345"/>
                  </a:lnTo>
                  <a:lnTo>
                    <a:pt x="91082" y="176361"/>
                  </a:lnTo>
                  <a:lnTo>
                    <a:pt x="121786" y="145565"/>
                  </a:lnTo>
                  <a:lnTo>
                    <a:pt x="156210" y="117157"/>
                  </a:lnTo>
                  <a:lnTo>
                    <a:pt x="194086" y="91339"/>
                  </a:lnTo>
                  <a:lnTo>
                    <a:pt x="235148" y="68312"/>
                  </a:lnTo>
                  <a:lnTo>
                    <a:pt x="279127" y="48276"/>
                  </a:lnTo>
                  <a:lnTo>
                    <a:pt x="325755" y="31432"/>
                  </a:lnTo>
                  <a:lnTo>
                    <a:pt x="374764" y="17982"/>
                  </a:lnTo>
                  <a:lnTo>
                    <a:pt x="425886" y="8126"/>
                  </a:lnTo>
                  <a:lnTo>
                    <a:pt x="478854" y="2064"/>
                  </a:lnTo>
                  <a:lnTo>
                    <a:pt x="533400" y="0"/>
                  </a:lnTo>
                  <a:lnTo>
                    <a:pt x="587945" y="2064"/>
                  </a:lnTo>
                  <a:lnTo>
                    <a:pt x="640913" y="8126"/>
                  </a:lnTo>
                  <a:lnTo>
                    <a:pt x="692035" y="17982"/>
                  </a:lnTo>
                  <a:lnTo>
                    <a:pt x="741044" y="31432"/>
                  </a:lnTo>
                  <a:lnTo>
                    <a:pt x="787672" y="48276"/>
                  </a:lnTo>
                  <a:lnTo>
                    <a:pt x="831651" y="68312"/>
                  </a:lnTo>
                  <a:lnTo>
                    <a:pt x="872713" y="91339"/>
                  </a:lnTo>
                  <a:lnTo>
                    <a:pt x="910589" y="117157"/>
                  </a:lnTo>
                  <a:lnTo>
                    <a:pt x="945013" y="145565"/>
                  </a:lnTo>
                  <a:lnTo>
                    <a:pt x="975717" y="176361"/>
                  </a:lnTo>
                  <a:lnTo>
                    <a:pt x="1002431" y="209345"/>
                  </a:lnTo>
                  <a:lnTo>
                    <a:pt x="1024889" y="244316"/>
                  </a:lnTo>
                  <a:lnTo>
                    <a:pt x="1042823" y="281073"/>
                  </a:lnTo>
                  <a:lnTo>
                    <a:pt x="1055965" y="319414"/>
                  </a:lnTo>
                  <a:lnTo>
                    <a:pt x="1064046" y="359140"/>
                  </a:lnTo>
                  <a:lnTo>
                    <a:pt x="1066800" y="400049"/>
                  </a:lnTo>
                  <a:lnTo>
                    <a:pt x="1064046" y="440950"/>
                  </a:lnTo>
                  <a:lnTo>
                    <a:pt x="1055965" y="480669"/>
                  </a:lnTo>
                  <a:lnTo>
                    <a:pt x="1042823" y="519006"/>
                  </a:lnTo>
                  <a:lnTo>
                    <a:pt x="1024890" y="555760"/>
                  </a:lnTo>
                  <a:lnTo>
                    <a:pt x="1002431" y="590729"/>
                  </a:lnTo>
                  <a:lnTo>
                    <a:pt x="975717" y="623712"/>
                  </a:lnTo>
                  <a:lnTo>
                    <a:pt x="945013" y="654508"/>
                  </a:lnTo>
                  <a:lnTo>
                    <a:pt x="910590" y="682917"/>
                  </a:lnTo>
                  <a:lnTo>
                    <a:pt x="872713" y="708736"/>
                  </a:lnTo>
                  <a:lnTo>
                    <a:pt x="831651" y="731765"/>
                  </a:lnTo>
                  <a:lnTo>
                    <a:pt x="787672" y="751803"/>
                  </a:lnTo>
                  <a:lnTo>
                    <a:pt x="741045" y="768649"/>
                  </a:lnTo>
                  <a:lnTo>
                    <a:pt x="692035" y="782101"/>
                  </a:lnTo>
                  <a:lnTo>
                    <a:pt x="640913" y="791959"/>
                  </a:lnTo>
                  <a:lnTo>
                    <a:pt x="587945" y="798021"/>
                  </a:lnTo>
                  <a:lnTo>
                    <a:pt x="533400" y="800087"/>
                  </a:lnTo>
                  <a:lnTo>
                    <a:pt x="478854" y="798021"/>
                  </a:lnTo>
                  <a:lnTo>
                    <a:pt x="425886" y="791959"/>
                  </a:lnTo>
                  <a:lnTo>
                    <a:pt x="374764" y="782101"/>
                  </a:lnTo>
                  <a:lnTo>
                    <a:pt x="325755" y="768649"/>
                  </a:lnTo>
                  <a:lnTo>
                    <a:pt x="279127" y="751803"/>
                  </a:lnTo>
                  <a:lnTo>
                    <a:pt x="235148" y="731765"/>
                  </a:lnTo>
                  <a:lnTo>
                    <a:pt x="194086" y="708736"/>
                  </a:lnTo>
                  <a:lnTo>
                    <a:pt x="156210" y="682917"/>
                  </a:lnTo>
                  <a:lnTo>
                    <a:pt x="121786" y="654508"/>
                  </a:lnTo>
                  <a:lnTo>
                    <a:pt x="91082" y="623712"/>
                  </a:lnTo>
                  <a:lnTo>
                    <a:pt x="64368" y="590729"/>
                  </a:lnTo>
                  <a:lnTo>
                    <a:pt x="41910" y="555760"/>
                  </a:lnTo>
                  <a:lnTo>
                    <a:pt x="23976" y="519006"/>
                  </a:lnTo>
                  <a:lnTo>
                    <a:pt x="10834" y="480669"/>
                  </a:lnTo>
                  <a:lnTo>
                    <a:pt x="2753" y="440950"/>
                  </a:lnTo>
                  <a:lnTo>
                    <a:pt x="0" y="400049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56371" y="5064153"/>
              <a:ext cx="206056" cy="146614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76200" y="114299"/>
                  </a:lnTo>
                </a:path>
                <a:path w="152400" h="114300">
                  <a:moveTo>
                    <a:pt x="152400" y="0"/>
                  </a:moveTo>
                  <a:lnTo>
                    <a:pt x="76200" y="114299"/>
                  </a:lnTo>
                </a:path>
              </a:pathLst>
            </a:custGeom>
            <a:ln w="952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</p:grpSp>
      <p:sp>
        <p:nvSpPr>
          <p:cNvPr id="19" name="object 19"/>
          <p:cNvSpPr/>
          <p:nvPr/>
        </p:nvSpPr>
        <p:spPr>
          <a:xfrm>
            <a:off x="3184820" y="3760362"/>
            <a:ext cx="1081792" cy="371422"/>
          </a:xfrm>
          <a:custGeom>
            <a:avLst/>
            <a:gdLst/>
            <a:ahLst/>
            <a:cxnLst/>
            <a:rect l="l" t="t" r="r" b="b"/>
            <a:pathLst>
              <a:path w="1066800" h="386079">
                <a:moveTo>
                  <a:pt x="0" y="171450"/>
                </a:moveTo>
                <a:lnTo>
                  <a:pt x="16287" y="129217"/>
                </a:lnTo>
                <a:lnTo>
                  <a:pt x="62486" y="90827"/>
                </a:lnTo>
                <a:lnTo>
                  <a:pt x="134600" y="57562"/>
                </a:lnTo>
                <a:lnTo>
                  <a:pt x="179127" y="43251"/>
                </a:lnTo>
                <a:lnTo>
                  <a:pt x="228634" y="30703"/>
                </a:lnTo>
                <a:lnTo>
                  <a:pt x="282623" y="20077"/>
                </a:lnTo>
                <a:lnTo>
                  <a:pt x="340593" y="11534"/>
                </a:lnTo>
                <a:lnTo>
                  <a:pt x="402046" y="5233"/>
                </a:lnTo>
                <a:lnTo>
                  <a:pt x="466481" y="1334"/>
                </a:lnTo>
                <a:lnTo>
                  <a:pt x="533400" y="0"/>
                </a:lnTo>
                <a:lnTo>
                  <a:pt x="600293" y="1334"/>
                </a:lnTo>
                <a:lnTo>
                  <a:pt x="664711" y="5233"/>
                </a:lnTo>
                <a:lnTo>
                  <a:pt x="726154" y="11534"/>
                </a:lnTo>
                <a:lnTo>
                  <a:pt x="784120" y="20077"/>
                </a:lnTo>
                <a:lnTo>
                  <a:pt x="838109" y="30703"/>
                </a:lnTo>
                <a:lnTo>
                  <a:pt x="887621" y="43251"/>
                </a:lnTo>
                <a:lnTo>
                  <a:pt x="932155" y="57562"/>
                </a:lnTo>
                <a:lnTo>
                  <a:pt x="971211" y="73473"/>
                </a:lnTo>
                <a:lnTo>
                  <a:pt x="1030886" y="109461"/>
                </a:lnTo>
                <a:lnTo>
                  <a:pt x="1062642" y="149933"/>
                </a:lnTo>
                <a:lnTo>
                  <a:pt x="1066800" y="171450"/>
                </a:lnTo>
                <a:lnTo>
                  <a:pt x="1062642" y="192943"/>
                </a:lnTo>
                <a:lnTo>
                  <a:pt x="1050504" y="213641"/>
                </a:lnTo>
                <a:lnTo>
                  <a:pt x="1004288" y="252007"/>
                </a:lnTo>
                <a:lnTo>
                  <a:pt x="932155" y="285263"/>
                </a:lnTo>
                <a:lnTo>
                  <a:pt x="887621" y="299573"/>
                </a:lnTo>
                <a:lnTo>
                  <a:pt x="838109" y="312122"/>
                </a:lnTo>
                <a:lnTo>
                  <a:pt x="784120" y="322750"/>
                </a:lnTo>
                <a:lnTo>
                  <a:pt x="726154" y="331296"/>
                </a:lnTo>
                <a:lnTo>
                  <a:pt x="664711" y="337600"/>
                </a:lnTo>
                <a:lnTo>
                  <a:pt x="600293" y="341500"/>
                </a:lnTo>
                <a:lnTo>
                  <a:pt x="533400" y="342836"/>
                </a:lnTo>
                <a:lnTo>
                  <a:pt x="466481" y="341500"/>
                </a:lnTo>
                <a:lnTo>
                  <a:pt x="402046" y="337600"/>
                </a:lnTo>
                <a:lnTo>
                  <a:pt x="340593" y="331296"/>
                </a:lnTo>
                <a:lnTo>
                  <a:pt x="282623" y="322750"/>
                </a:lnTo>
                <a:lnTo>
                  <a:pt x="228634" y="312122"/>
                </a:lnTo>
                <a:lnTo>
                  <a:pt x="179127" y="299573"/>
                </a:lnTo>
                <a:lnTo>
                  <a:pt x="134600" y="285263"/>
                </a:lnTo>
                <a:lnTo>
                  <a:pt x="95553" y="269355"/>
                </a:lnTo>
                <a:lnTo>
                  <a:pt x="35897" y="233382"/>
                </a:lnTo>
                <a:lnTo>
                  <a:pt x="4155" y="192943"/>
                </a:lnTo>
                <a:lnTo>
                  <a:pt x="0" y="171450"/>
                </a:lnTo>
                <a:close/>
              </a:path>
              <a:path w="1066800" h="386079">
                <a:moveTo>
                  <a:pt x="457200" y="285686"/>
                </a:moveTo>
                <a:lnTo>
                  <a:pt x="609600" y="342836"/>
                </a:lnTo>
              </a:path>
              <a:path w="1066800" h="386079">
                <a:moveTo>
                  <a:pt x="577850" y="328549"/>
                </a:moveTo>
                <a:lnTo>
                  <a:pt x="501650" y="385699"/>
                </a:lnTo>
              </a:path>
            </a:pathLst>
          </a:custGeom>
          <a:ln w="19050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pPr algn="ctr"/>
            <a:endParaRPr sz="2100"/>
          </a:p>
        </p:txBody>
      </p:sp>
      <p:grpSp>
        <p:nvGrpSpPr>
          <p:cNvPr id="41" name="组合 40"/>
          <p:cNvGrpSpPr/>
          <p:nvPr/>
        </p:nvGrpSpPr>
        <p:grpSpPr>
          <a:xfrm>
            <a:off x="5287160" y="1360327"/>
            <a:ext cx="1313604" cy="1146791"/>
            <a:chOff x="5525547" y="1813768"/>
            <a:chExt cx="1751472" cy="1529055"/>
          </a:xfrm>
        </p:grpSpPr>
        <p:sp>
          <p:nvSpPr>
            <p:cNvPr id="5" name="object 4"/>
            <p:cNvSpPr txBox="1"/>
            <p:nvPr/>
          </p:nvSpPr>
          <p:spPr>
            <a:xfrm>
              <a:off x="5525547" y="2885006"/>
              <a:ext cx="1751472" cy="457817"/>
            </a:xfrm>
            <a:prstGeom prst="rect">
              <a:avLst/>
            </a:prstGeom>
            <a:solidFill>
              <a:srgbClr val="ECF9D2"/>
            </a:solidFill>
            <a:ln w="9525">
              <a:solidFill>
                <a:srgbClr val="000000"/>
              </a:solidFill>
            </a:ln>
          </p:spPr>
          <p:txBody>
            <a:bodyPr vert="horz" wrap="square" lIns="0" tIns="92392" rIns="0" bIns="0" rtlCol="0">
              <a:noAutofit/>
            </a:bodyPr>
            <a:lstStyle/>
            <a:p>
              <a:pPr marL="183356" algn="ctr">
                <a:lnSpc>
                  <a:spcPts val="1969"/>
                </a:lnSpc>
                <a:spcBef>
                  <a:spcPts val="727"/>
                </a:spcBef>
              </a:pPr>
              <a:r>
                <a:rPr sz="2100" b="1" spc="-15" dirty="0">
                  <a:latin typeface="黑体"/>
                  <a:cs typeface="黑体"/>
                </a:rPr>
                <a:t>磁</a:t>
              </a:r>
              <a:r>
                <a:rPr sz="2100" b="1" spc="-38" dirty="0">
                  <a:latin typeface="黑体"/>
                  <a:cs typeface="黑体"/>
                </a:rPr>
                <a:t>场</a:t>
              </a:r>
              <a:endParaRPr sz="2100">
                <a:latin typeface="黑体"/>
                <a:cs typeface="黑体"/>
              </a:endParaRPr>
            </a:p>
          </p:txBody>
        </p:sp>
        <p:sp>
          <p:nvSpPr>
            <p:cNvPr id="13" name="object 12"/>
            <p:cNvSpPr/>
            <p:nvPr/>
          </p:nvSpPr>
          <p:spPr>
            <a:xfrm>
              <a:off x="6398677" y="1858709"/>
              <a:ext cx="154542" cy="1026297"/>
            </a:xfrm>
            <a:custGeom>
              <a:avLst/>
              <a:gdLst/>
              <a:ahLst/>
              <a:cxnLst/>
              <a:rect l="l" t="t" r="r" b="b"/>
              <a:pathLst>
                <a:path w="114300" h="800100">
                  <a:moveTo>
                    <a:pt x="38100" y="685800"/>
                  </a:moveTo>
                  <a:lnTo>
                    <a:pt x="0" y="685800"/>
                  </a:lnTo>
                  <a:lnTo>
                    <a:pt x="57150" y="800100"/>
                  </a:lnTo>
                  <a:lnTo>
                    <a:pt x="104775" y="704850"/>
                  </a:lnTo>
                  <a:lnTo>
                    <a:pt x="38100" y="704850"/>
                  </a:lnTo>
                  <a:lnTo>
                    <a:pt x="38100" y="685800"/>
                  </a:lnTo>
                  <a:close/>
                </a:path>
                <a:path w="114300" h="800100">
                  <a:moveTo>
                    <a:pt x="76200" y="0"/>
                  </a:moveTo>
                  <a:lnTo>
                    <a:pt x="38100" y="0"/>
                  </a:lnTo>
                  <a:lnTo>
                    <a:pt x="38100" y="704850"/>
                  </a:lnTo>
                  <a:lnTo>
                    <a:pt x="76200" y="704850"/>
                  </a:lnTo>
                  <a:lnTo>
                    <a:pt x="76200" y="0"/>
                  </a:lnTo>
                  <a:close/>
                </a:path>
                <a:path w="114300" h="800100">
                  <a:moveTo>
                    <a:pt x="114300" y="685800"/>
                  </a:moveTo>
                  <a:lnTo>
                    <a:pt x="76200" y="685800"/>
                  </a:lnTo>
                  <a:lnTo>
                    <a:pt x="76200" y="704850"/>
                  </a:lnTo>
                  <a:lnTo>
                    <a:pt x="104775" y="704850"/>
                  </a:lnTo>
                  <a:lnTo>
                    <a:pt x="114300" y="685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988000" y="1813768"/>
              <a:ext cx="447312" cy="878849"/>
              <a:chOff x="2215243" y="1883217"/>
              <a:chExt cx="447312" cy="878849"/>
            </a:xfrm>
          </p:grpSpPr>
          <p:sp>
            <p:nvSpPr>
              <p:cNvPr id="38" name="object 10"/>
              <p:cNvSpPr txBox="1"/>
              <p:nvPr/>
            </p:nvSpPr>
            <p:spPr>
              <a:xfrm>
                <a:off x="2215243" y="1883217"/>
                <a:ext cx="447312" cy="44371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 algn="ctr">
                  <a:spcBef>
                    <a:spcPts val="75"/>
                  </a:spcBef>
                </a:pPr>
                <a:r>
                  <a:rPr sz="2100" b="1" spc="-8" dirty="0">
                    <a:solidFill>
                      <a:srgbClr val="0000FF"/>
                    </a:solidFill>
                    <a:latin typeface="黑体"/>
                    <a:cs typeface="黑体"/>
                  </a:rPr>
                  <a:t>激</a:t>
                </a:r>
                <a:endParaRPr sz="2100">
                  <a:latin typeface="黑体"/>
                  <a:cs typeface="黑体"/>
                </a:endParaRPr>
              </a:p>
            </p:txBody>
          </p:sp>
          <p:sp>
            <p:nvSpPr>
              <p:cNvPr id="39" name="object 11"/>
              <p:cNvSpPr txBox="1"/>
              <p:nvPr/>
            </p:nvSpPr>
            <p:spPr>
              <a:xfrm>
                <a:off x="2215672" y="2318355"/>
                <a:ext cx="446455" cy="44371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9525" algn="ctr">
                  <a:spcBef>
                    <a:spcPts val="75"/>
                  </a:spcBef>
                </a:pPr>
                <a:r>
                  <a:rPr sz="2100" b="1" spc="-8" dirty="0">
                    <a:solidFill>
                      <a:srgbClr val="0000FF"/>
                    </a:solidFill>
                    <a:latin typeface="黑体"/>
                    <a:cs typeface="黑体"/>
                  </a:rPr>
                  <a:t>发</a:t>
                </a:r>
                <a:endParaRPr sz="2100">
                  <a:latin typeface="黑体"/>
                  <a:cs typeface="黑体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3432342" y="1835545"/>
            <a:ext cx="1854500" cy="494366"/>
            <a:chOff x="3052455" y="2447392"/>
            <a:chExt cx="2472667" cy="659154"/>
          </a:xfrm>
        </p:grpSpPr>
        <p:sp>
          <p:nvSpPr>
            <p:cNvPr id="20" name="object 20"/>
            <p:cNvSpPr txBox="1"/>
            <p:nvPr/>
          </p:nvSpPr>
          <p:spPr>
            <a:xfrm>
              <a:off x="3467463" y="2447392"/>
              <a:ext cx="1430370" cy="659154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323850" marR="3810">
                <a:lnSpc>
                  <a:spcPct val="150000"/>
                </a:lnSpc>
                <a:spcBef>
                  <a:spcPts val="75"/>
                </a:spcBef>
              </a:pPr>
              <a:r>
                <a:rPr sz="2100" b="1" spc="-15">
                  <a:solidFill>
                    <a:srgbClr val="0000FF"/>
                  </a:solidFill>
                  <a:latin typeface="黑体"/>
                  <a:cs typeface="黑体"/>
                </a:rPr>
                <a:t>变</a:t>
              </a:r>
              <a:r>
                <a:rPr sz="2100" b="1" spc="-38">
                  <a:solidFill>
                    <a:srgbClr val="0000FF"/>
                  </a:solidFill>
                  <a:latin typeface="黑体"/>
                  <a:cs typeface="黑体"/>
                </a:rPr>
                <a:t>化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45" name="object 6"/>
            <p:cNvSpPr/>
            <p:nvPr/>
          </p:nvSpPr>
          <p:spPr>
            <a:xfrm>
              <a:off x="3052455" y="2954591"/>
              <a:ext cx="2472667" cy="146614"/>
            </a:xfrm>
            <a:custGeom>
              <a:avLst/>
              <a:gdLst/>
              <a:ahLst/>
              <a:cxnLst/>
              <a:rect l="l" t="t" r="r" b="b"/>
              <a:pathLst>
                <a:path w="1828800" h="114300">
                  <a:moveTo>
                    <a:pt x="1714500" y="0"/>
                  </a:moveTo>
                  <a:lnTo>
                    <a:pt x="1714500" y="114300"/>
                  </a:lnTo>
                  <a:lnTo>
                    <a:pt x="1790700" y="76200"/>
                  </a:lnTo>
                  <a:lnTo>
                    <a:pt x="1733550" y="76200"/>
                  </a:lnTo>
                  <a:lnTo>
                    <a:pt x="1733550" y="38100"/>
                  </a:lnTo>
                  <a:lnTo>
                    <a:pt x="1790700" y="38100"/>
                  </a:lnTo>
                  <a:lnTo>
                    <a:pt x="1714500" y="0"/>
                  </a:lnTo>
                  <a:close/>
                </a:path>
                <a:path w="1828800" h="114300">
                  <a:moveTo>
                    <a:pt x="17145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714500" y="76200"/>
                  </a:lnTo>
                  <a:lnTo>
                    <a:pt x="1714500" y="38100"/>
                  </a:lnTo>
                  <a:close/>
                </a:path>
                <a:path w="1828800" h="114300">
                  <a:moveTo>
                    <a:pt x="1790700" y="38100"/>
                  </a:moveTo>
                  <a:lnTo>
                    <a:pt x="1733550" y="38100"/>
                  </a:lnTo>
                  <a:lnTo>
                    <a:pt x="1733550" y="76200"/>
                  </a:lnTo>
                  <a:lnTo>
                    <a:pt x="1790700" y="76200"/>
                  </a:lnTo>
                  <a:lnTo>
                    <a:pt x="1828800" y="57150"/>
                  </a:lnTo>
                  <a:lnTo>
                    <a:pt x="179070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432342" y="2331836"/>
            <a:ext cx="1854500" cy="494366"/>
            <a:chOff x="3052455" y="3109116"/>
            <a:chExt cx="2472667" cy="659155"/>
          </a:xfrm>
        </p:grpSpPr>
        <p:sp>
          <p:nvSpPr>
            <p:cNvPr id="44" name="object 20"/>
            <p:cNvSpPr txBox="1"/>
            <p:nvPr/>
          </p:nvSpPr>
          <p:spPr>
            <a:xfrm>
              <a:off x="3467463" y="3109116"/>
              <a:ext cx="1430370" cy="659155"/>
            </a:xfrm>
            <a:prstGeom prst="rect">
              <a:avLst/>
            </a:prstGeom>
          </p:spPr>
          <p:txBody>
            <a:bodyPr vert="horz" wrap="square" lIns="0" tIns="9525" rIns="0" bIns="0" rtlCol="0">
              <a:spAutoFit/>
            </a:bodyPr>
            <a:lstStyle/>
            <a:p>
              <a:pPr marL="323850" marR="3810">
                <a:lnSpc>
                  <a:spcPct val="150000"/>
                </a:lnSpc>
                <a:spcBef>
                  <a:spcPts val="75"/>
                </a:spcBef>
              </a:pPr>
              <a:r>
                <a:rPr sz="2100" b="1" spc="-15">
                  <a:solidFill>
                    <a:srgbClr val="0000FF"/>
                  </a:solidFill>
                  <a:latin typeface="黑体"/>
                  <a:cs typeface="黑体"/>
                </a:rPr>
                <a:t>变</a:t>
              </a:r>
              <a:r>
                <a:rPr sz="2100" b="1" spc="-38">
                  <a:solidFill>
                    <a:srgbClr val="0000FF"/>
                  </a:solidFill>
                  <a:latin typeface="黑体"/>
                  <a:cs typeface="黑体"/>
                </a:rPr>
                <a:t>化</a:t>
              </a:r>
              <a:endParaRPr sz="2100">
                <a:latin typeface="Times New Roman"/>
                <a:cs typeface="Times New Roman"/>
              </a:endParaRPr>
            </a:p>
          </p:txBody>
        </p:sp>
        <p:sp>
          <p:nvSpPr>
            <p:cNvPr id="46" name="object 6"/>
            <p:cNvSpPr/>
            <p:nvPr/>
          </p:nvSpPr>
          <p:spPr>
            <a:xfrm flipH="1">
              <a:off x="3052455" y="3148269"/>
              <a:ext cx="2472667" cy="146614"/>
            </a:xfrm>
            <a:custGeom>
              <a:avLst/>
              <a:gdLst/>
              <a:ahLst/>
              <a:cxnLst/>
              <a:rect l="l" t="t" r="r" b="b"/>
              <a:pathLst>
                <a:path w="1828800" h="114300">
                  <a:moveTo>
                    <a:pt x="1714500" y="0"/>
                  </a:moveTo>
                  <a:lnTo>
                    <a:pt x="1714500" y="114300"/>
                  </a:lnTo>
                  <a:lnTo>
                    <a:pt x="1790700" y="76200"/>
                  </a:lnTo>
                  <a:lnTo>
                    <a:pt x="1733550" y="76200"/>
                  </a:lnTo>
                  <a:lnTo>
                    <a:pt x="1733550" y="38100"/>
                  </a:lnTo>
                  <a:lnTo>
                    <a:pt x="1790700" y="38100"/>
                  </a:lnTo>
                  <a:lnTo>
                    <a:pt x="1714500" y="0"/>
                  </a:lnTo>
                  <a:close/>
                </a:path>
                <a:path w="1828800" h="114300">
                  <a:moveTo>
                    <a:pt x="17145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714500" y="76200"/>
                  </a:lnTo>
                  <a:lnTo>
                    <a:pt x="1714500" y="38100"/>
                  </a:lnTo>
                  <a:close/>
                </a:path>
                <a:path w="1828800" h="114300">
                  <a:moveTo>
                    <a:pt x="1790700" y="38100"/>
                  </a:moveTo>
                  <a:lnTo>
                    <a:pt x="1733550" y="38100"/>
                  </a:lnTo>
                  <a:lnTo>
                    <a:pt x="1733550" y="76200"/>
                  </a:lnTo>
                  <a:lnTo>
                    <a:pt x="1790700" y="76200"/>
                  </a:lnTo>
                  <a:lnTo>
                    <a:pt x="1828800" y="57150"/>
                  </a:lnTo>
                  <a:lnTo>
                    <a:pt x="1790700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872861" y="3523214"/>
            <a:ext cx="1159063" cy="769722"/>
            <a:chOff x="1556371" y="4697619"/>
            <a:chExt cx="1545417" cy="1026296"/>
          </a:xfrm>
        </p:grpSpPr>
        <p:sp>
          <p:nvSpPr>
            <p:cNvPr id="52" name="object 17"/>
            <p:cNvSpPr/>
            <p:nvPr/>
          </p:nvSpPr>
          <p:spPr>
            <a:xfrm>
              <a:off x="1659399" y="4697619"/>
              <a:ext cx="1442389" cy="1026296"/>
            </a:xfrm>
            <a:custGeom>
              <a:avLst/>
              <a:gdLst/>
              <a:ahLst/>
              <a:cxnLst/>
              <a:rect l="l" t="t" r="r" b="b"/>
              <a:pathLst>
                <a:path w="1066800" h="800100">
                  <a:moveTo>
                    <a:pt x="0" y="400049"/>
                  </a:moveTo>
                  <a:lnTo>
                    <a:pt x="2753" y="359140"/>
                  </a:lnTo>
                  <a:lnTo>
                    <a:pt x="10834" y="319414"/>
                  </a:lnTo>
                  <a:lnTo>
                    <a:pt x="23976" y="281073"/>
                  </a:lnTo>
                  <a:lnTo>
                    <a:pt x="41910" y="244316"/>
                  </a:lnTo>
                  <a:lnTo>
                    <a:pt x="64368" y="209345"/>
                  </a:lnTo>
                  <a:lnTo>
                    <a:pt x="91082" y="176361"/>
                  </a:lnTo>
                  <a:lnTo>
                    <a:pt x="121786" y="145565"/>
                  </a:lnTo>
                  <a:lnTo>
                    <a:pt x="156210" y="117157"/>
                  </a:lnTo>
                  <a:lnTo>
                    <a:pt x="194086" y="91339"/>
                  </a:lnTo>
                  <a:lnTo>
                    <a:pt x="235148" y="68312"/>
                  </a:lnTo>
                  <a:lnTo>
                    <a:pt x="279127" y="48276"/>
                  </a:lnTo>
                  <a:lnTo>
                    <a:pt x="325755" y="31432"/>
                  </a:lnTo>
                  <a:lnTo>
                    <a:pt x="374764" y="17982"/>
                  </a:lnTo>
                  <a:lnTo>
                    <a:pt x="425886" y="8126"/>
                  </a:lnTo>
                  <a:lnTo>
                    <a:pt x="478854" y="2064"/>
                  </a:lnTo>
                  <a:lnTo>
                    <a:pt x="533400" y="0"/>
                  </a:lnTo>
                  <a:lnTo>
                    <a:pt x="587945" y="2064"/>
                  </a:lnTo>
                  <a:lnTo>
                    <a:pt x="640913" y="8126"/>
                  </a:lnTo>
                  <a:lnTo>
                    <a:pt x="692035" y="17982"/>
                  </a:lnTo>
                  <a:lnTo>
                    <a:pt x="741044" y="31432"/>
                  </a:lnTo>
                  <a:lnTo>
                    <a:pt x="787672" y="48276"/>
                  </a:lnTo>
                  <a:lnTo>
                    <a:pt x="831651" y="68312"/>
                  </a:lnTo>
                  <a:lnTo>
                    <a:pt x="872713" y="91339"/>
                  </a:lnTo>
                  <a:lnTo>
                    <a:pt x="910589" y="117157"/>
                  </a:lnTo>
                  <a:lnTo>
                    <a:pt x="945013" y="145565"/>
                  </a:lnTo>
                  <a:lnTo>
                    <a:pt x="975717" y="176361"/>
                  </a:lnTo>
                  <a:lnTo>
                    <a:pt x="1002431" y="209345"/>
                  </a:lnTo>
                  <a:lnTo>
                    <a:pt x="1024889" y="244316"/>
                  </a:lnTo>
                  <a:lnTo>
                    <a:pt x="1042823" y="281073"/>
                  </a:lnTo>
                  <a:lnTo>
                    <a:pt x="1055965" y="319414"/>
                  </a:lnTo>
                  <a:lnTo>
                    <a:pt x="1064046" y="359140"/>
                  </a:lnTo>
                  <a:lnTo>
                    <a:pt x="1066800" y="400049"/>
                  </a:lnTo>
                  <a:lnTo>
                    <a:pt x="1064046" y="440950"/>
                  </a:lnTo>
                  <a:lnTo>
                    <a:pt x="1055965" y="480669"/>
                  </a:lnTo>
                  <a:lnTo>
                    <a:pt x="1042823" y="519006"/>
                  </a:lnTo>
                  <a:lnTo>
                    <a:pt x="1024890" y="555760"/>
                  </a:lnTo>
                  <a:lnTo>
                    <a:pt x="1002431" y="590729"/>
                  </a:lnTo>
                  <a:lnTo>
                    <a:pt x="975717" y="623712"/>
                  </a:lnTo>
                  <a:lnTo>
                    <a:pt x="945013" y="654508"/>
                  </a:lnTo>
                  <a:lnTo>
                    <a:pt x="910590" y="682917"/>
                  </a:lnTo>
                  <a:lnTo>
                    <a:pt x="872713" y="708736"/>
                  </a:lnTo>
                  <a:lnTo>
                    <a:pt x="831651" y="731765"/>
                  </a:lnTo>
                  <a:lnTo>
                    <a:pt x="787672" y="751803"/>
                  </a:lnTo>
                  <a:lnTo>
                    <a:pt x="741045" y="768649"/>
                  </a:lnTo>
                  <a:lnTo>
                    <a:pt x="692035" y="782101"/>
                  </a:lnTo>
                  <a:lnTo>
                    <a:pt x="640913" y="791959"/>
                  </a:lnTo>
                  <a:lnTo>
                    <a:pt x="587945" y="798021"/>
                  </a:lnTo>
                  <a:lnTo>
                    <a:pt x="533400" y="800087"/>
                  </a:lnTo>
                  <a:lnTo>
                    <a:pt x="478854" y="798021"/>
                  </a:lnTo>
                  <a:lnTo>
                    <a:pt x="425886" y="791959"/>
                  </a:lnTo>
                  <a:lnTo>
                    <a:pt x="374764" y="782101"/>
                  </a:lnTo>
                  <a:lnTo>
                    <a:pt x="325755" y="768649"/>
                  </a:lnTo>
                  <a:lnTo>
                    <a:pt x="279127" y="751803"/>
                  </a:lnTo>
                  <a:lnTo>
                    <a:pt x="235148" y="731765"/>
                  </a:lnTo>
                  <a:lnTo>
                    <a:pt x="194086" y="708736"/>
                  </a:lnTo>
                  <a:lnTo>
                    <a:pt x="156210" y="682917"/>
                  </a:lnTo>
                  <a:lnTo>
                    <a:pt x="121786" y="654508"/>
                  </a:lnTo>
                  <a:lnTo>
                    <a:pt x="91082" y="623712"/>
                  </a:lnTo>
                  <a:lnTo>
                    <a:pt x="64368" y="590729"/>
                  </a:lnTo>
                  <a:lnTo>
                    <a:pt x="41910" y="555760"/>
                  </a:lnTo>
                  <a:lnTo>
                    <a:pt x="23976" y="519006"/>
                  </a:lnTo>
                  <a:lnTo>
                    <a:pt x="10834" y="480669"/>
                  </a:lnTo>
                  <a:lnTo>
                    <a:pt x="2753" y="440950"/>
                  </a:lnTo>
                  <a:lnTo>
                    <a:pt x="0" y="400049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sp>
          <p:nvSpPr>
            <p:cNvPr id="53" name="object 18"/>
            <p:cNvSpPr/>
            <p:nvPr/>
          </p:nvSpPr>
          <p:spPr>
            <a:xfrm>
              <a:off x="1556371" y="5064153"/>
              <a:ext cx="206056" cy="146614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76200" y="114299"/>
                  </a:lnTo>
                </a:path>
                <a:path w="152400" h="114300">
                  <a:moveTo>
                    <a:pt x="152400" y="0"/>
                  </a:moveTo>
                  <a:lnTo>
                    <a:pt x="76200" y="114299"/>
                  </a:lnTo>
                </a:path>
              </a:pathLst>
            </a:custGeom>
            <a:ln w="952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</p:grpSp>
      <p:sp>
        <p:nvSpPr>
          <p:cNvPr id="54" name="object 19"/>
          <p:cNvSpPr/>
          <p:nvPr/>
        </p:nvSpPr>
        <p:spPr>
          <a:xfrm>
            <a:off x="4747402" y="3760362"/>
            <a:ext cx="1081792" cy="371422"/>
          </a:xfrm>
          <a:custGeom>
            <a:avLst/>
            <a:gdLst/>
            <a:ahLst/>
            <a:cxnLst/>
            <a:rect l="l" t="t" r="r" b="b"/>
            <a:pathLst>
              <a:path w="1066800" h="386079">
                <a:moveTo>
                  <a:pt x="0" y="171450"/>
                </a:moveTo>
                <a:lnTo>
                  <a:pt x="16287" y="129217"/>
                </a:lnTo>
                <a:lnTo>
                  <a:pt x="62486" y="90827"/>
                </a:lnTo>
                <a:lnTo>
                  <a:pt x="134600" y="57562"/>
                </a:lnTo>
                <a:lnTo>
                  <a:pt x="179127" y="43251"/>
                </a:lnTo>
                <a:lnTo>
                  <a:pt x="228634" y="30703"/>
                </a:lnTo>
                <a:lnTo>
                  <a:pt x="282623" y="20077"/>
                </a:lnTo>
                <a:lnTo>
                  <a:pt x="340593" y="11534"/>
                </a:lnTo>
                <a:lnTo>
                  <a:pt x="402046" y="5233"/>
                </a:lnTo>
                <a:lnTo>
                  <a:pt x="466481" y="1334"/>
                </a:lnTo>
                <a:lnTo>
                  <a:pt x="533400" y="0"/>
                </a:lnTo>
                <a:lnTo>
                  <a:pt x="600293" y="1334"/>
                </a:lnTo>
                <a:lnTo>
                  <a:pt x="664711" y="5233"/>
                </a:lnTo>
                <a:lnTo>
                  <a:pt x="726154" y="11534"/>
                </a:lnTo>
                <a:lnTo>
                  <a:pt x="784120" y="20077"/>
                </a:lnTo>
                <a:lnTo>
                  <a:pt x="838109" y="30703"/>
                </a:lnTo>
                <a:lnTo>
                  <a:pt x="887621" y="43251"/>
                </a:lnTo>
                <a:lnTo>
                  <a:pt x="932155" y="57562"/>
                </a:lnTo>
                <a:lnTo>
                  <a:pt x="971211" y="73473"/>
                </a:lnTo>
                <a:lnTo>
                  <a:pt x="1030886" y="109461"/>
                </a:lnTo>
                <a:lnTo>
                  <a:pt x="1062642" y="149933"/>
                </a:lnTo>
                <a:lnTo>
                  <a:pt x="1066800" y="171450"/>
                </a:lnTo>
                <a:lnTo>
                  <a:pt x="1062642" y="192943"/>
                </a:lnTo>
                <a:lnTo>
                  <a:pt x="1050504" y="213641"/>
                </a:lnTo>
                <a:lnTo>
                  <a:pt x="1004288" y="252007"/>
                </a:lnTo>
                <a:lnTo>
                  <a:pt x="932155" y="285263"/>
                </a:lnTo>
                <a:lnTo>
                  <a:pt x="887621" y="299573"/>
                </a:lnTo>
                <a:lnTo>
                  <a:pt x="838109" y="312122"/>
                </a:lnTo>
                <a:lnTo>
                  <a:pt x="784120" y="322750"/>
                </a:lnTo>
                <a:lnTo>
                  <a:pt x="726154" y="331296"/>
                </a:lnTo>
                <a:lnTo>
                  <a:pt x="664711" y="337600"/>
                </a:lnTo>
                <a:lnTo>
                  <a:pt x="600293" y="341500"/>
                </a:lnTo>
                <a:lnTo>
                  <a:pt x="533400" y="342836"/>
                </a:lnTo>
                <a:lnTo>
                  <a:pt x="466481" y="341500"/>
                </a:lnTo>
                <a:lnTo>
                  <a:pt x="402046" y="337600"/>
                </a:lnTo>
                <a:lnTo>
                  <a:pt x="340593" y="331296"/>
                </a:lnTo>
                <a:lnTo>
                  <a:pt x="282623" y="322750"/>
                </a:lnTo>
                <a:lnTo>
                  <a:pt x="228634" y="312122"/>
                </a:lnTo>
                <a:lnTo>
                  <a:pt x="179127" y="299573"/>
                </a:lnTo>
                <a:lnTo>
                  <a:pt x="134600" y="285263"/>
                </a:lnTo>
                <a:lnTo>
                  <a:pt x="95553" y="269355"/>
                </a:lnTo>
                <a:lnTo>
                  <a:pt x="35897" y="233382"/>
                </a:lnTo>
                <a:lnTo>
                  <a:pt x="4155" y="192943"/>
                </a:lnTo>
                <a:lnTo>
                  <a:pt x="0" y="171450"/>
                </a:lnTo>
                <a:close/>
              </a:path>
              <a:path w="1066800" h="386079">
                <a:moveTo>
                  <a:pt x="457200" y="285686"/>
                </a:moveTo>
                <a:lnTo>
                  <a:pt x="609600" y="342836"/>
                </a:lnTo>
              </a:path>
              <a:path w="1066800" h="386079">
                <a:moveTo>
                  <a:pt x="577850" y="328549"/>
                </a:moveTo>
                <a:lnTo>
                  <a:pt x="501650" y="385699"/>
                </a:lnTo>
              </a:path>
            </a:pathLst>
          </a:custGeom>
          <a:ln w="19050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pPr algn="ctr"/>
            <a:endParaRPr sz="2100"/>
          </a:p>
        </p:txBody>
      </p:sp>
      <p:grpSp>
        <p:nvGrpSpPr>
          <p:cNvPr id="55" name="组合 54"/>
          <p:cNvGrpSpPr/>
          <p:nvPr/>
        </p:nvGrpSpPr>
        <p:grpSpPr>
          <a:xfrm>
            <a:off x="5478383" y="3523214"/>
            <a:ext cx="1159063" cy="769722"/>
            <a:chOff x="1556371" y="4697619"/>
            <a:chExt cx="1545417" cy="1026296"/>
          </a:xfrm>
        </p:grpSpPr>
        <p:sp>
          <p:nvSpPr>
            <p:cNvPr id="56" name="object 17"/>
            <p:cNvSpPr/>
            <p:nvPr/>
          </p:nvSpPr>
          <p:spPr>
            <a:xfrm>
              <a:off x="1659399" y="4697619"/>
              <a:ext cx="1442389" cy="1026296"/>
            </a:xfrm>
            <a:custGeom>
              <a:avLst/>
              <a:gdLst/>
              <a:ahLst/>
              <a:cxnLst/>
              <a:rect l="l" t="t" r="r" b="b"/>
              <a:pathLst>
                <a:path w="1066800" h="800100">
                  <a:moveTo>
                    <a:pt x="0" y="400049"/>
                  </a:moveTo>
                  <a:lnTo>
                    <a:pt x="2753" y="359140"/>
                  </a:lnTo>
                  <a:lnTo>
                    <a:pt x="10834" y="319414"/>
                  </a:lnTo>
                  <a:lnTo>
                    <a:pt x="23976" y="281073"/>
                  </a:lnTo>
                  <a:lnTo>
                    <a:pt x="41910" y="244316"/>
                  </a:lnTo>
                  <a:lnTo>
                    <a:pt x="64368" y="209345"/>
                  </a:lnTo>
                  <a:lnTo>
                    <a:pt x="91082" y="176361"/>
                  </a:lnTo>
                  <a:lnTo>
                    <a:pt x="121786" y="145565"/>
                  </a:lnTo>
                  <a:lnTo>
                    <a:pt x="156210" y="117157"/>
                  </a:lnTo>
                  <a:lnTo>
                    <a:pt x="194086" y="91339"/>
                  </a:lnTo>
                  <a:lnTo>
                    <a:pt x="235148" y="68312"/>
                  </a:lnTo>
                  <a:lnTo>
                    <a:pt x="279127" y="48276"/>
                  </a:lnTo>
                  <a:lnTo>
                    <a:pt x="325755" y="31432"/>
                  </a:lnTo>
                  <a:lnTo>
                    <a:pt x="374764" y="17982"/>
                  </a:lnTo>
                  <a:lnTo>
                    <a:pt x="425886" y="8126"/>
                  </a:lnTo>
                  <a:lnTo>
                    <a:pt x="478854" y="2064"/>
                  </a:lnTo>
                  <a:lnTo>
                    <a:pt x="533400" y="0"/>
                  </a:lnTo>
                  <a:lnTo>
                    <a:pt x="587945" y="2064"/>
                  </a:lnTo>
                  <a:lnTo>
                    <a:pt x="640913" y="8126"/>
                  </a:lnTo>
                  <a:lnTo>
                    <a:pt x="692035" y="17982"/>
                  </a:lnTo>
                  <a:lnTo>
                    <a:pt x="741044" y="31432"/>
                  </a:lnTo>
                  <a:lnTo>
                    <a:pt x="787672" y="48276"/>
                  </a:lnTo>
                  <a:lnTo>
                    <a:pt x="831651" y="68312"/>
                  </a:lnTo>
                  <a:lnTo>
                    <a:pt x="872713" y="91339"/>
                  </a:lnTo>
                  <a:lnTo>
                    <a:pt x="910589" y="117157"/>
                  </a:lnTo>
                  <a:lnTo>
                    <a:pt x="945013" y="145565"/>
                  </a:lnTo>
                  <a:lnTo>
                    <a:pt x="975717" y="176361"/>
                  </a:lnTo>
                  <a:lnTo>
                    <a:pt x="1002431" y="209345"/>
                  </a:lnTo>
                  <a:lnTo>
                    <a:pt x="1024889" y="244316"/>
                  </a:lnTo>
                  <a:lnTo>
                    <a:pt x="1042823" y="281073"/>
                  </a:lnTo>
                  <a:lnTo>
                    <a:pt x="1055965" y="319414"/>
                  </a:lnTo>
                  <a:lnTo>
                    <a:pt x="1064046" y="359140"/>
                  </a:lnTo>
                  <a:lnTo>
                    <a:pt x="1066800" y="400049"/>
                  </a:lnTo>
                  <a:lnTo>
                    <a:pt x="1064046" y="440950"/>
                  </a:lnTo>
                  <a:lnTo>
                    <a:pt x="1055965" y="480669"/>
                  </a:lnTo>
                  <a:lnTo>
                    <a:pt x="1042823" y="519006"/>
                  </a:lnTo>
                  <a:lnTo>
                    <a:pt x="1024890" y="555760"/>
                  </a:lnTo>
                  <a:lnTo>
                    <a:pt x="1002431" y="590729"/>
                  </a:lnTo>
                  <a:lnTo>
                    <a:pt x="975717" y="623712"/>
                  </a:lnTo>
                  <a:lnTo>
                    <a:pt x="945013" y="654508"/>
                  </a:lnTo>
                  <a:lnTo>
                    <a:pt x="910590" y="682917"/>
                  </a:lnTo>
                  <a:lnTo>
                    <a:pt x="872713" y="708736"/>
                  </a:lnTo>
                  <a:lnTo>
                    <a:pt x="831651" y="731765"/>
                  </a:lnTo>
                  <a:lnTo>
                    <a:pt x="787672" y="751803"/>
                  </a:lnTo>
                  <a:lnTo>
                    <a:pt x="741045" y="768649"/>
                  </a:lnTo>
                  <a:lnTo>
                    <a:pt x="692035" y="782101"/>
                  </a:lnTo>
                  <a:lnTo>
                    <a:pt x="640913" y="791959"/>
                  </a:lnTo>
                  <a:lnTo>
                    <a:pt x="587945" y="798021"/>
                  </a:lnTo>
                  <a:lnTo>
                    <a:pt x="533400" y="800087"/>
                  </a:lnTo>
                  <a:lnTo>
                    <a:pt x="478854" y="798021"/>
                  </a:lnTo>
                  <a:lnTo>
                    <a:pt x="425886" y="791959"/>
                  </a:lnTo>
                  <a:lnTo>
                    <a:pt x="374764" y="782101"/>
                  </a:lnTo>
                  <a:lnTo>
                    <a:pt x="325755" y="768649"/>
                  </a:lnTo>
                  <a:lnTo>
                    <a:pt x="279127" y="751803"/>
                  </a:lnTo>
                  <a:lnTo>
                    <a:pt x="235148" y="731765"/>
                  </a:lnTo>
                  <a:lnTo>
                    <a:pt x="194086" y="708736"/>
                  </a:lnTo>
                  <a:lnTo>
                    <a:pt x="156210" y="682917"/>
                  </a:lnTo>
                  <a:lnTo>
                    <a:pt x="121786" y="654508"/>
                  </a:lnTo>
                  <a:lnTo>
                    <a:pt x="91082" y="623712"/>
                  </a:lnTo>
                  <a:lnTo>
                    <a:pt x="64368" y="590729"/>
                  </a:lnTo>
                  <a:lnTo>
                    <a:pt x="41910" y="555760"/>
                  </a:lnTo>
                  <a:lnTo>
                    <a:pt x="23976" y="519006"/>
                  </a:lnTo>
                  <a:lnTo>
                    <a:pt x="10834" y="480669"/>
                  </a:lnTo>
                  <a:lnTo>
                    <a:pt x="2753" y="440950"/>
                  </a:lnTo>
                  <a:lnTo>
                    <a:pt x="0" y="400049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  <p:sp>
          <p:nvSpPr>
            <p:cNvPr id="57" name="object 18"/>
            <p:cNvSpPr/>
            <p:nvPr/>
          </p:nvSpPr>
          <p:spPr>
            <a:xfrm>
              <a:off x="1556371" y="5064153"/>
              <a:ext cx="206056" cy="146614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76200" y="114299"/>
                  </a:lnTo>
                </a:path>
                <a:path w="152400" h="114300">
                  <a:moveTo>
                    <a:pt x="152400" y="0"/>
                  </a:moveTo>
                  <a:lnTo>
                    <a:pt x="76200" y="114299"/>
                  </a:lnTo>
                </a:path>
              </a:pathLst>
            </a:custGeom>
            <a:ln w="952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2100"/>
            </a:p>
          </p:txBody>
        </p:sp>
      </p:grpSp>
      <p:sp>
        <p:nvSpPr>
          <p:cNvPr id="58" name="object 19"/>
          <p:cNvSpPr/>
          <p:nvPr/>
        </p:nvSpPr>
        <p:spPr>
          <a:xfrm>
            <a:off x="6352924" y="3760362"/>
            <a:ext cx="1081792" cy="371422"/>
          </a:xfrm>
          <a:custGeom>
            <a:avLst/>
            <a:gdLst/>
            <a:ahLst/>
            <a:cxnLst/>
            <a:rect l="l" t="t" r="r" b="b"/>
            <a:pathLst>
              <a:path w="1066800" h="386079">
                <a:moveTo>
                  <a:pt x="0" y="171450"/>
                </a:moveTo>
                <a:lnTo>
                  <a:pt x="16287" y="129217"/>
                </a:lnTo>
                <a:lnTo>
                  <a:pt x="62486" y="90827"/>
                </a:lnTo>
                <a:lnTo>
                  <a:pt x="134600" y="57562"/>
                </a:lnTo>
                <a:lnTo>
                  <a:pt x="179127" y="43251"/>
                </a:lnTo>
                <a:lnTo>
                  <a:pt x="228634" y="30703"/>
                </a:lnTo>
                <a:lnTo>
                  <a:pt x="282623" y="20077"/>
                </a:lnTo>
                <a:lnTo>
                  <a:pt x="340593" y="11534"/>
                </a:lnTo>
                <a:lnTo>
                  <a:pt x="402046" y="5233"/>
                </a:lnTo>
                <a:lnTo>
                  <a:pt x="466481" y="1334"/>
                </a:lnTo>
                <a:lnTo>
                  <a:pt x="533400" y="0"/>
                </a:lnTo>
                <a:lnTo>
                  <a:pt x="600293" y="1334"/>
                </a:lnTo>
                <a:lnTo>
                  <a:pt x="664711" y="5233"/>
                </a:lnTo>
                <a:lnTo>
                  <a:pt x="726154" y="11534"/>
                </a:lnTo>
                <a:lnTo>
                  <a:pt x="784120" y="20077"/>
                </a:lnTo>
                <a:lnTo>
                  <a:pt x="838109" y="30703"/>
                </a:lnTo>
                <a:lnTo>
                  <a:pt x="887621" y="43251"/>
                </a:lnTo>
                <a:lnTo>
                  <a:pt x="932155" y="57562"/>
                </a:lnTo>
                <a:lnTo>
                  <a:pt x="971211" y="73473"/>
                </a:lnTo>
                <a:lnTo>
                  <a:pt x="1030886" y="109461"/>
                </a:lnTo>
                <a:lnTo>
                  <a:pt x="1062642" y="149933"/>
                </a:lnTo>
                <a:lnTo>
                  <a:pt x="1066800" y="171450"/>
                </a:lnTo>
                <a:lnTo>
                  <a:pt x="1062642" y="192943"/>
                </a:lnTo>
                <a:lnTo>
                  <a:pt x="1050504" y="213641"/>
                </a:lnTo>
                <a:lnTo>
                  <a:pt x="1004288" y="252007"/>
                </a:lnTo>
                <a:lnTo>
                  <a:pt x="932155" y="285263"/>
                </a:lnTo>
                <a:lnTo>
                  <a:pt x="887621" y="299573"/>
                </a:lnTo>
                <a:lnTo>
                  <a:pt x="838109" y="312122"/>
                </a:lnTo>
                <a:lnTo>
                  <a:pt x="784120" y="322750"/>
                </a:lnTo>
                <a:lnTo>
                  <a:pt x="726154" y="331296"/>
                </a:lnTo>
                <a:lnTo>
                  <a:pt x="664711" y="337600"/>
                </a:lnTo>
                <a:lnTo>
                  <a:pt x="600293" y="341500"/>
                </a:lnTo>
                <a:lnTo>
                  <a:pt x="533400" y="342836"/>
                </a:lnTo>
                <a:lnTo>
                  <a:pt x="466481" y="341500"/>
                </a:lnTo>
                <a:lnTo>
                  <a:pt x="402046" y="337600"/>
                </a:lnTo>
                <a:lnTo>
                  <a:pt x="340593" y="331296"/>
                </a:lnTo>
                <a:lnTo>
                  <a:pt x="282623" y="322750"/>
                </a:lnTo>
                <a:lnTo>
                  <a:pt x="228634" y="312122"/>
                </a:lnTo>
                <a:lnTo>
                  <a:pt x="179127" y="299573"/>
                </a:lnTo>
                <a:lnTo>
                  <a:pt x="134600" y="285263"/>
                </a:lnTo>
                <a:lnTo>
                  <a:pt x="95553" y="269355"/>
                </a:lnTo>
                <a:lnTo>
                  <a:pt x="35897" y="233382"/>
                </a:lnTo>
                <a:lnTo>
                  <a:pt x="4155" y="192943"/>
                </a:lnTo>
                <a:lnTo>
                  <a:pt x="0" y="171450"/>
                </a:lnTo>
                <a:close/>
              </a:path>
              <a:path w="1066800" h="386079">
                <a:moveTo>
                  <a:pt x="457200" y="285686"/>
                </a:moveTo>
                <a:lnTo>
                  <a:pt x="609600" y="342836"/>
                </a:lnTo>
              </a:path>
              <a:path w="1066800" h="386079">
                <a:moveTo>
                  <a:pt x="577850" y="328549"/>
                </a:moveTo>
                <a:lnTo>
                  <a:pt x="501650" y="385699"/>
                </a:lnTo>
              </a:path>
            </a:pathLst>
          </a:custGeom>
          <a:ln w="19050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pPr algn="ctr"/>
            <a:endParaRPr sz="2100"/>
          </a:p>
        </p:txBody>
      </p:sp>
    </p:spTree>
    <p:extLst>
      <p:ext uri="{BB962C8B-B14F-4D97-AF65-F5344CB8AC3E}">
        <p14:creationId xmlns:p14="http://schemas.microsoft.com/office/powerpoint/2010/main" val="54473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4" grpId="0" animBg="1"/>
      <p:bldP spid="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771943" y="4916271"/>
            <a:ext cx="1428750" cy="342900"/>
          </a:xfrm>
        </p:spPr>
        <p:txBody>
          <a:bodyPr/>
          <a:lstStyle/>
          <a:p>
            <a:fld id="{34139031-FDE9-4207-AE6F-6461D4D88660}" type="slidenum">
              <a:rPr lang="zh-CN" altLang="en-US" b="1" smtClean="0">
                <a:solidFill>
                  <a:srgbClr val="000000"/>
                </a:solidFill>
              </a:rPr>
              <a:pPr/>
              <a:t>27</a:t>
            </a:fld>
            <a:endParaRPr lang="en-US" altLang="zh-CN" b="1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1650" y="3266921"/>
            <a:ext cx="5589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四、</a:t>
            </a:r>
            <a:r>
              <a:rPr lang="en-US" altLang="zh-CN" sz="2100" b="1">
                <a:solidFill>
                  <a:srgbClr val="000000"/>
                </a:solidFill>
                <a:latin typeface="PingFang SC"/>
              </a:rPr>
              <a:t>20</a:t>
            </a:r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世纪，发现了相对论</a:t>
            </a:r>
            <a:endParaRPr lang="zh-CN" altLang="en-US" sz="2100" b="1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28851" y="265526"/>
            <a:ext cx="482203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100" b="1">
                <a:solidFill>
                  <a:srgbClr val="C00000"/>
                </a:solidFill>
              </a:rPr>
              <a:t>物理学史上的五次大综合</a:t>
            </a:r>
          </a:p>
        </p:txBody>
      </p:sp>
      <p:sp>
        <p:nvSpPr>
          <p:cNvPr id="6" name="矩形 5"/>
          <p:cNvSpPr/>
          <p:nvPr/>
        </p:nvSpPr>
        <p:spPr>
          <a:xfrm>
            <a:off x="1771650" y="1028209"/>
            <a:ext cx="5589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 dirty="0">
                <a:solidFill>
                  <a:srgbClr val="000000"/>
                </a:solidFill>
                <a:latin typeface="PingFang SC"/>
              </a:rPr>
              <a:t>一、</a:t>
            </a:r>
            <a:r>
              <a:rPr lang="en-US" altLang="zh-CN" sz="2100" b="1" dirty="0">
                <a:solidFill>
                  <a:srgbClr val="000000"/>
                </a:solidFill>
                <a:latin typeface="PingFang SC"/>
              </a:rPr>
              <a:t>16</a:t>
            </a:r>
            <a:r>
              <a:rPr lang="zh-CN" altLang="en-US" sz="2100" b="1" dirty="0">
                <a:solidFill>
                  <a:srgbClr val="000000"/>
                </a:solidFill>
                <a:latin typeface="PingFang SC"/>
              </a:rPr>
              <a:t>世纪，</a:t>
            </a:r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诞生</a:t>
            </a:r>
            <a:r>
              <a:rPr lang="zh-CN" altLang="en-US" sz="2100" b="1" smtClean="0">
                <a:solidFill>
                  <a:srgbClr val="000000"/>
                </a:solidFill>
                <a:latin typeface="PingFang SC"/>
              </a:rPr>
              <a:t>了的</a:t>
            </a:r>
            <a:r>
              <a:rPr lang="zh-CN" altLang="en-US" sz="2100" b="1" dirty="0">
                <a:solidFill>
                  <a:srgbClr val="000000"/>
                </a:solidFill>
                <a:latin typeface="PingFang SC"/>
              </a:rPr>
              <a:t>经典力学</a:t>
            </a:r>
            <a:endParaRPr lang="zh-CN" altLang="en-US" sz="2100" b="1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71650" y="1774447"/>
            <a:ext cx="5589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二、</a:t>
            </a:r>
            <a:r>
              <a:rPr lang="en-US" altLang="zh-CN" sz="2100" b="1">
                <a:solidFill>
                  <a:srgbClr val="000000"/>
                </a:solidFill>
                <a:latin typeface="PingFang SC"/>
              </a:rPr>
              <a:t>17</a:t>
            </a:r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世纪，确立了能量转化和守恒定律</a:t>
            </a:r>
            <a:endParaRPr lang="zh-CN" altLang="en-US"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71651" y="2520684"/>
            <a:ext cx="5589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三、</a:t>
            </a:r>
            <a:r>
              <a:rPr lang="en-US" altLang="zh-CN" sz="2100" b="1">
                <a:solidFill>
                  <a:srgbClr val="000000"/>
                </a:solidFill>
                <a:latin typeface="PingFang SC"/>
              </a:rPr>
              <a:t>18</a:t>
            </a:r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世纪，建立了电磁场理论</a:t>
            </a:r>
            <a:endParaRPr lang="zh-CN" altLang="en-US" sz="21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71651" y="4013159"/>
            <a:ext cx="5589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五、</a:t>
            </a:r>
            <a:r>
              <a:rPr lang="en-US" altLang="zh-CN" sz="2100" b="1">
                <a:solidFill>
                  <a:srgbClr val="000000"/>
                </a:solidFill>
                <a:latin typeface="PingFang SC"/>
              </a:rPr>
              <a:t>20</a:t>
            </a:r>
            <a:r>
              <a:rPr lang="zh-CN" altLang="en-US" sz="2100" b="1">
                <a:solidFill>
                  <a:srgbClr val="000000"/>
                </a:solidFill>
                <a:latin typeface="PingFang SC"/>
              </a:rPr>
              <a:t>世纪，建立了量子力学</a:t>
            </a:r>
            <a:endParaRPr lang="zh-CN" altLang="en-US" sz="21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91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7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7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7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7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0000FF"/>
      </a:hlink>
      <a:folHlink>
        <a:srgbClr val="FF0000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场景型模板">
  <a:themeElements>
    <a:clrScheme name="场景型模板 4">
      <a:dk1>
        <a:srgbClr val="000000"/>
      </a:dk1>
      <a:lt1>
        <a:srgbClr val="99E2F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CAEEFB"/>
      </a:accent3>
      <a:accent4>
        <a:srgbClr val="000000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99E2F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CAEEFB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9_场景型模板">
  <a:themeElements>
    <a:clrScheme name="场景型模板 4">
      <a:dk1>
        <a:srgbClr val="000000"/>
      </a:dk1>
      <a:lt1>
        <a:srgbClr val="99E2F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CAEEFB"/>
      </a:accent3>
      <a:accent4>
        <a:srgbClr val="000000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99E2F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CAEEFB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场景型模板">
  <a:themeElements>
    <a:clrScheme name="场景型模板 4">
      <a:dk1>
        <a:srgbClr val="000000"/>
      </a:dk1>
      <a:lt1>
        <a:srgbClr val="99E2F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CAEEFB"/>
      </a:accent3>
      <a:accent4>
        <a:srgbClr val="000000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99E2F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CAEEFB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_场景型模板">
  <a:themeElements>
    <a:clrScheme name="场景型模板 4">
      <a:dk1>
        <a:srgbClr val="000000"/>
      </a:dk1>
      <a:lt1>
        <a:srgbClr val="99E2F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CAEEFB"/>
      </a:accent3>
      <a:accent4>
        <a:srgbClr val="000000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800" b="1" i="0" u="none" strike="noStrike" cap="none" normalizeH="0" baseline="0" smtClean="0">
            <a:ln>
              <a:noFill/>
            </a:ln>
            <a:solidFill>
              <a:srgbClr val="FFFF66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99E2F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CAEEFB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722</Words>
  <Application>Microsoft Office PowerPoint</Application>
  <PresentationFormat>全屏显示(16:9)</PresentationFormat>
  <Paragraphs>175</Paragraphs>
  <Slides>27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51" baseType="lpstr">
      <vt:lpstr>Microsoft Yahei</vt:lpstr>
      <vt:lpstr>Monotype Sorts</vt:lpstr>
      <vt:lpstr>PingFang SC</vt:lpstr>
      <vt:lpstr>黑体</vt:lpstr>
      <vt:lpstr>楷体_GB2312</vt:lpstr>
      <vt:lpstr>宋体</vt:lpstr>
      <vt:lpstr>Arial</vt:lpstr>
      <vt:lpstr>Calibri</vt:lpstr>
      <vt:lpstr>CommercialScript BT</vt:lpstr>
      <vt:lpstr>Times New Roman</vt:lpstr>
      <vt:lpstr>Wingdings</vt:lpstr>
      <vt:lpstr>1_默认设计模板</vt:lpstr>
      <vt:lpstr>1_7-1</vt:lpstr>
      <vt:lpstr>2_7-1</vt:lpstr>
      <vt:lpstr>3_7-1</vt:lpstr>
      <vt:lpstr>4_7-1</vt:lpstr>
      <vt:lpstr>场景型模板</vt:lpstr>
      <vt:lpstr>4_场景型模板</vt:lpstr>
      <vt:lpstr>9_场景型模板</vt:lpstr>
      <vt:lpstr>1_场景型模板</vt:lpstr>
      <vt:lpstr>2_场景型模板</vt:lpstr>
      <vt:lpstr>Equation</vt:lpstr>
      <vt:lpstr>公式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21</cp:revision>
  <dcterms:created xsi:type="dcterms:W3CDTF">2005-09-11T15:39:18Z</dcterms:created>
  <dcterms:modified xsi:type="dcterms:W3CDTF">2024-05-17T07:54:54Z</dcterms:modified>
</cp:coreProperties>
</file>