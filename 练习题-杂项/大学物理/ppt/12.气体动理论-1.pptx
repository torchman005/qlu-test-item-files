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  <p:sldMasterId id="2147483665" r:id="rId2"/>
    <p:sldMasterId id="2147483776" r:id="rId3"/>
    <p:sldMasterId id="2147483788" r:id="rId4"/>
    <p:sldMasterId id="2147483800" r:id="rId5"/>
    <p:sldMasterId id="2147483812" r:id="rId6"/>
  </p:sldMasterIdLst>
  <p:notesMasterIdLst>
    <p:notesMasterId r:id="rId34"/>
  </p:notesMasterIdLst>
  <p:sldIdLst>
    <p:sldId id="312" r:id="rId7"/>
    <p:sldId id="270" r:id="rId8"/>
    <p:sldId id="306" r:id="rId9"/>
    <p:sldId id="272" r:id="rId10"/>
    <p:sldId id="280" r:id="rId11"/>
    <p:sldId id="274" r:id="rId12"/>
    <p:sldId id="281" r:id="rId13"/>
    <p:sldId id="282" r:id="rId14"/>
    <p:sldId id="283" r:id="rId15"/>
    <p:sldId id="284" r:id="rId16"/>
    <p:sldId id="311" r:id="rId17"/>
    <p:sldId id="289" r:id="rId18"/>
    <p:sldId id="290" r:id="rId19"/>
    <p:sldId id="292" r:id="rId20"/>
    <p:sldId id="316" r:id="rId21"/>
    <p:sldId id="293" r:id="rId22"/>
    <p:sldId id="295" r:id="rId23"/>
    <p:sldId id="297" r:id="rId24"/>
    <p:sldId id="298" r:id="rId25"/>
    <p:sldId id="299" r:id="rId26"/>
    <p:sldId id="300" r:id="rId27"/>
    <p:sldId id="308" r:id="rId28"/>
    <p:sldId id="318" r:id="rId29"/>
    <p:sldId id="319" r:id="rId30"/>
    <p:sldId id="320" r:id="rId31"/>
    <p:sldId id="321" r:id="rId32"/>
    <p:sldId id="322" r:id="rId33"/>
  </p:sldIdLst>
  <p:sldSz cx="9144000" cy="5143500" type="screen16x9"/>
  <p:notesSz cx="6858000" cy="9144000"/>
  <p:custDataLst>
    <p:tags r:id="rId3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CFFCC"/>
    <a:srgbClr val="800000"/>
    <a:srgbClr val="0000FF"/>
    <a:srgbClr val="FFFFFF"/>
    <a:srgbClr val="0000CC"/>
    <a:srgbClr val="0099CC"/>
    <a:srgbClr val="CC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6071" autoAdjust="0"/>
  </p:normalViewPr>
  <p:slideViewPr>
    <p:cSldViewPr snapToGrid="0" snapToObjects="1">
      <p:cViewPr>
        <p:scale>
          <a:sx n="100" d="100"/>
          <a:sy n="100" d="100"/>
        </p:scale>
        <p:origin x="2220" y="5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0.wmf"/><Relationship Id="rId7" Type="http://schemas.openxmlformats.org/officeDocument/2006/relationships/image" Target="../media/image23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0.wmf"/><Relationship Id="rId7" Type="http://schemas.openxmlformats.org/officeDocument/2006/relationships/image" Target="../media/image23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5" Type="http://schemas.openxmlformats.org/officeDocument/2006/relationships/image" Target="../media/image45.wmf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20.wmf"/><Relationship Id="rId3" Type="http://schemas.openxmlformats.org/officeDocument/2006/relationships/image" Target="../media/image65.e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42.wmf"/><Relationship Id="rId15" Type="http://schemas.openxmlformats.org/officeDocument/2006/relationships/image" Target="../media/image75.wmf"/><Relationship Id="rId10" Type="http://schemas.openxmlformats.org/officeDocument/2006/relationships/image" Target="../media/image71.wmf"/><Relationship Id="rId4" Type="http://schemas.openxmlformats.org/officeDocument/2006/relationships/image" Target="../media/image66.wmf"/><Relationship Id="rId9" Type="http://schemas.openxmlformats.org/officeDocument/2006/relationships/image" Target="../media/image70.emf"/><Relationship Id="rId14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20.wmf"/><Relationship Id="rId3" Type="http://schemas.openxmlformats.org/officeDocument/2006/relationships/image" Target="../media/image65.e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42.wmf"/><Relationship Id="rId10" Type="http://schemas.openxmlformats.org/officeDocument/2006/relationships/image" Target="../media/image71.wmf"/><Relationship Id="rId4" Type="http://schemas.openxmlformats.org/officeDocument/2006/relationships/image" Target="../media/image66.wmf"/><Relationship Id="rId9" Type="http://schemas.openxmlformats.org/officeDocument/2006/relationships/image" Target="../media/image70.emf"/><Relationship Id="rId14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image" Target="../media/image69.wmf"/><Relationship Id="rId3" Type="http://schemas.openxmlformats.org/officeDocument/2006/relationships/image" Target="../media/image87.wmf"/><Relationship Id="rId7" Type="http://schemas.openxmlformats.org/officeDocument/2006/relationships/image" Target="../media/image64.wmf"/><Relationship Id="rId12" Type="http://schemas.openxmlformats.org/officeDocument/2006/relationships/image" Target="../media/image68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63.wmf"/><Relationship Id="rId11" Type="http://schemas.openxmlformats.org/officeDocument/2006/relationships/image" Target="../media/image67.wmf"/><Relationship Id="rId5" Type="http://schemas.openxmlformats.org/officeDocument/2006/relationships/image" Target="../media/image89.wmf"/><Relationship Id="rId10" Type="http://schemas.openxmlformats.org/officeDocument/2006/relationships/image" Target="../media/image42.wmf"/><Relationship Id="rId4" Type="http://schemas.openxmlformats.org/officeDocument/2006/relationships/image" Target="../media/image88.wmf"/><Relationship Id="rId9" Type="http://schemas.openxmlformats.org/officeDocument/2006/relationships/image" Target="../media/image66.wmf"/><Relationship Id="rId14" Type="http://schemas.openxmlformats.org/officeDocument/2006/relationships/image" Target="../media/image70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66.wmf"/><Relationship Id="rId18" Type="http://schemas.openxmlformats.org/officeDocument/2006/relationships/image" Target="../media/image70.e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12" Type="http://schemas.openxmlformats.org/officeDocument/2006/relationships/image" Target="../media/image65.emf"/><Relationship Id="rId17" Type="http://schemas.openxmlformats.org/officeDocument/2006/relationships/image" Target="../media/image69.wmf"/><Relationship Id="rId2" Type="http://schemas.openxmlformats.org/officeDocument/2006/relationships/image" Target="../media/image91.wmf"/><Relationship Id="rId16" Type="http://schemas.openxmlformats.org/officeDocument/2006/relationships/image" Target="../media/image68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11" Type="http://schemas.openxmlformats.org/officeDocument/2006/relationships/image" Target="../media/image64.wmf"/><Relationship Id="rId5" Type="http://schemas.openxmlformats.org/officeDocument/2006/relationships/image" Target="../media/image94.wmf"/><Relationship Id="rId15" Type="http://schemas.openxmlformats.org/officeDocument/2006/relationships/image" Target="../media/image67.wmf"/><Relationship Id="rId10" Type="http://schemas.openxmlformats.org/officeDocument/2006/relationships/image" Target="../media/image63.wmf"/><Relationship Id="rId4" Type="http://schemas.openxmlformats.org/officeDocument/2006/relationships/image" Target="../media/image93.wmf"/><Relationship Id="rId9" Type="http://schemas.openxmlformats.org/officeDocument/2006/relationships/image" Target="../media/image89.wmf"/><Relationship Id="rId14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4" Type="http://schemas.openxmlformats.org/officeDocument/2006/relationships/image" Target="../media/image13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B3B49A-3811-4425-B766-9E3E103753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0311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多、乱、小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618C4A-C244-4FD8-8630-9BB1F95FFCBC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P=ρ k T/m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B3B49A-3811-4425-B766-9E3E1037536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建立围观模型的事实依据：一、二、三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B3B49A-3811-4425-B766-9E3E1037536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9499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B3B49A-3811-4425-B766-9E3E1037536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ED2CF79F-BCDF-405D-A3B1-FAF94E812A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33B1B1FA-FC40-499D-A0D7-0F0A4941C8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4F0E1EA1-C48A-46B7-BDB2-3C0EA2DEBB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D7D17BE8-ECFF-4FDA-9041-9899C9B324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EDEC616B-B1D7-4337-9F2D-EA25C928BE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6F31033F-932D-4B59-BC23-1540DD33F3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0657ABC8-5D36-470F-83BB-BCD252B92B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46F670FD-1093-4CB5-9C6F-8CF3F9DF8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F62806FB-2ED8-4477-8B91-D33791AACF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EB40145E-DEF1-4743-A7B2-2A2FEE3440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A55E1015-67EA-4F33-989B-1F4C7EC955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203E4-5068-434B-A50A-2681050FBB0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6C3B1-3DFC-4E14-AAE4-E96FB938D62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3FFC7-94F0-4B1D-98C3-2870C486CB2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2CB1C-DC68-4B80-B0A7-71E79656A2A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1155E-021F-4A5C-BB85-6EF598F7D39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542F0-BB0F-43DF-86DC-E6206C1D30C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BA78B-5FFC-4CD5-8ED8-4B341F5DD10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BEE40-5576-4DC0-BA39-98DE0D24AB7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3018C-59C7-4A7F-948C-8EB5FD808AC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516F8-C783-49BA-9E80-5747FB9EAE3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4F909-3217-4D17-AB93-DD73D490E7C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2FFB2C99-BCCF-42EA-AA35-626AFB560F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241C0FA1-DD43-4BA7-AE87-44D6D9D569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1B08AAC3-C755-4A1A-81FA-17B6B0C21B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06D45CC8-1BB3-49F3-933B-A1423CD3B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7E27C352-A12F-4D7B-B441-B6347C234F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E23010BF-84F7-4A14-9888-AC1608716D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BEEB99BD-F8AE-4667-B5FF-12ED00D74D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08C9B678-2234-4379-84D4-5B63AA1652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DDA00C8F-13FA-4899-9275-1236439CF6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FB81AA00-DDA3-436E-A832-C418BD95C1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-25000"/>
            </a:lvl1pPr>
          </a:lstStyle>
          <a:p>
            <a:pPr>
              <a:defRPr/>
            </a:pPr>
            <a:fld id="{A02C8F00-E8FE-4AEC-B569-0ED4212303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6535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688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72486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28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7822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248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765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27936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690212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9603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66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hyperlink" Target="12-0&#25945;&#23398;&#22522;&#26412;&#35201;&#27714;.ppt#-1,2,PowerPoint &#28436;&#31034;&#25991;&#31295;" TargetMode="Externa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00" b="1"/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7092950" y="4944666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>
              <a:defRPr/>
            </a:pPr>
            <a:fld id="{B3DC19C2-4767-4726-94B7-CB1DA3EE2DEB}" type="slidenum">
              <a:rPr lang="zh-CN" altLang="en-US" sz="1050" b="1" smtClean="0">
                <a:solidFill>
                  <a:srgbClr val="0000CC"/>
                </a:solidFill>
                <a:latin typeface="Calibri" pitchFamily="34" charset="0"/>
              </a:rPr>
              <a:pPr algn="r">
                <a:defRPr/>
              </a:pPr>
              <a:t>‹#›</a:t>
            </a:fld>
            <a:endParaRPr lang="en-US" altLang="zh-CN" sz="1050" b="1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05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05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05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D889EB6-144D-4BB6-A134-A7C2F6E448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4" name="Text Box 10">
            <a:hlinkClick r:id="rId13" action="ppaction://hlinkpres?slideindex=2&amp;slidetitle=PowerPoint 演示文稿"/>
          </p:cNvPr>
          <p:cNvSpPr txBox="1">
            <a:spLocks noChangeArrowheads="1"/>
          </p:cNvSpPr>
          <p:nvPr userDrawn="1"/>
        </p:nvSpPr>
        <p:spPr bwMode="auto">
          <a:xfrm>
            <a:off x="-36513" y="65485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>
                <a:solidFill>
                  <a:srgbClr val="FFFFFF"/>
                </a:solidFill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</a:pPr>
            <a:r>
              <a:rPr lang="zh-CN" altLang="en-US" sz="900" b="1">
                <a:solidFill>
                  <a:srgbClr val="FFFFFF"/>
                </a:solidFill>
                <a:ea typeface="楷体_GB2312" pitchFamily="49" charset="-122"/>
              </a:rPr>
              <a:t>第五版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fld id="{457FC58E-5186-44CB-BB74-DAEE391B478B}" type="slidenum">
              <a:rPr kumimoji="1" lang="en-US" altLang="zh-CN" smtClean="0">
                <a:solidFill>
                  <a:srgbClr val="000000"/>
                </a:solidFill>
                <a:latin typeface="Times New Roman" pitchFamily="18" charset="0"/>
              </a:rPr>
              <a:pPr/>
              <a:t>‹#›</a:t>
            </a:fld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050" b="0" baseline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>
              <a:latin typeface="Times New Roman" pitchFamily="18" charset="0"/>
            </a:endParaRPr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050" b="0" baseline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>
              <a:latin typeface="Times New Roman" pitchFamily="18" charset="0"/>
            </a:endParaRP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75513" y="4929188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050" b="0" baseline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DC3C144-8FA5-4475-AFD8-7BBEBB202472}" type="slidenum">
              <a:rPr lang="en-US" altLang="zh-CN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CN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08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3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gif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1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0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7.gi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6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51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wmf"/><Relationship Id="rId20" Type="http://schemas.openxmlformats.org/officeDocument/2006/relationships/image" Target="../media/image70.emf"/><Relationship Id="rId29" Type="http://schemas.openxmlformats.org/officeDocument/2006/relationships/oleObject" Target="../embeddings/oleObject7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72.wmf"/><Relationship Id="rId32" Type="http://schemas.openxmlformats.org/officeDocument/2006/relationships/image" Target="../media/image75.w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20.wmf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65.bin"/><Relationship Id="rId31" Type="http://schemas.openxmlformats.org/officeDocument/2006/relationships/oleObject" Target="../embeddings/oleObject71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7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wmf"/><Relationship Id="rId20" Type="http://schemas.openxmlformats.org/officeDocument/2006/relationships/image" Target="../media/image70.emf"/><Relationship Id="rId29" Type="http://schemas.openxmlformats.org/officeDocument/2006/relationships/oleObject" Target="../embeddings/oleObject71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72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20.wmf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7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81.bin"/><Relationship Id="rId3" Type="http://schemas.openxmlformats.org/officeDocument/2006/relationships/image" Target="../media/image83.png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0.bin"/><Relationship Id="rId20" Type="http://schemas.openxmlformats.org/officeDocument/2006/relationships/image" Target="../media/image84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77.bin"/><Relationship Id="rId19" Type="http://schemas.openxmlformats.org/officeDocument/2006/relationships/oleObject" Target="../embeddings/oleObject82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7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oleObject" Target="../embeddings/oleObject83.bin"/><Relationship Id="rId21" Type="http://schemas.openxmlformats.org/officeDocument/2006/relationships/image" Target="../media/image66.wmf"/><Relationship Id="rId7" Type="http://schemas.openxmlformats.org/officeDocument/2006/relationships/image" Target="../media/image83.png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64.wmf"/><Relationship Id="rId25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6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6.wmf"/><Relationship Id="rId11" Type="http://schemas.openxmlformats.org/officeDocument/2006/relationships/image" Target="../media/image88.wmf"/><Relationship Id="rId24" Type="http://schemas.openxmlformats.org/officeDocument/2006/relationships/oleObject" Target="../embeddings/oleObject62.bin"/><Relationship Id="rId5" Type="http://schemas.openxmlformats.org/officeDocument/2006/relationships/oleObject" Target="../embeddings/oleObject84.bin"/><Relationship Id="rId15" Type="http://schemas.openxmlformats.org/officeDocument/2006/relationships/image" Target="../media/image63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64.bin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65.emf"/><Relationship Id="rId31" Type="http://schemas.openxmlformats.org/officeDocument/2006/relationships/image" Target="../media/image70.emf"/><Relationship Id="rId4" Type="http://schemas.openxmlformats.org/officeDocument/2006/relationships/image" Target="../media/image85.wmf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68.wmf"/><Relationship Id="rId30" Type="http://schemas.openxmlformats.org/officeDocument/2006/relationships/oleObject" Target="../embeddings/oleObject6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4.wmf"/><Relationship Id="rId18" Type="http://schemas.openxmlformats.org/officeDocument/2006/relationships/image" Target="../media/image98.png"/><Relationship Id="rId26" Type="http://schemas.openxmlformats.org/officeDocument/2006/relationships/image" Target="../media/image64.wmf"/><Relationship Id="rId39" Type="http://schemas.openxmlformats.org/officeDocument/2006/relationships/oleObject" Target="../embeddings/oleObject65.bin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87.bin"/><Relationship Id="rId34" Type="http://schemas.openxmlformats.org/officeDocument/2006/relationships/image" Target="../media/image67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96.wmf"/><Relationship Id="rId25" Type="http://schemas.openxmlformats.org/officeDocument/2006/relationships/oleObject" Target="../embeddings/oleObject99.bin"/><Relationship Id="rId33" Type="http://schemas.openxmlformats.org/officeDocument/2006/relationships/oleObject" Target="../embeddings/oleObject62.bin"/><Relationship Id="rId38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6.bin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60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3.wmf"/><Relationship Id="rId24" Type="http://schemas.openxmlformats.org/officeDocument/2006/relationships/image" Target="../media/image63.wmf"/><Relationship Id="rId32" Type="http://schemas.openxmlformats.org/officeDocument/2006/relationships/image" Target="../media/image42.wmf"/><Relationship Id="rId37" Type="http://schemas.openxmlformats.org/officeDocument/2006/relationships/oleObject" Target="../embeddings/oleObject64.bin"/><Relationship Id="rId40" Type="http://schemas.openxmlformats.org/officeDocument/2006/relationships/image" Target="../media/image70.emf"/><Relationship Id="rId5" Type="http://schemas.openxmlformats.org/officeDocument/2006/relationships/image" Target="../media/image83.png"/><Relationship Id="rId15" Type="http://schemas.openxmlformats.org/officeDocument/2006/relationships/image" Target="../media/image95.wmf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65.emf"/><Relationship Id="rId36" Type="http://schemas.openxmlformats.org/officeDocument/2006/relationships/image" Target="../media/image68.wmf"/><Relationship Id="rId10" Type="http://schemas.openxmlformats.org/officeDocument/2006/relationships/oleObject" Target="../embeddings/oleObject93.bin"/><Relationship Id="rId19" Type="http://schemas.openxmlformats.org/officeDocument/2006/relationships/oleObject" Target="../embeddings/oleObject97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90.wmf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5.bin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66.wmf"/><Relationship Id="rId35" Type="http://schemas.openxmlformats.org/officeDocument/2006/relationships/oleObject" Target="../embeddings/oleObject6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3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6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2.e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0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9.jpeg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png"/><Relationship Id="rId5" Type="http://schemas.openxmlformats.org/officeDocument/2006/relationships/image" Target="../media/image106.wmf"/><Relationship Id="rId10" Type="http://schemas.openxmlformats.org/officeDocument/2006/relationships/image" Target="../media/image108.wmf"/><Relationship Id="rId4" Type="http://schemas.openxmlformats.org/officeDocument/2006/relationships/oleObject" Target="../embeddings/oleObject107.bin"/><Relationship Id="rId9" Type="http://schemas.openxmlformats.org/officeDocument/2006/relationships/oleObject" Target="../embeddings/oleObject10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4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1.wmf"/><Relationship Id="rId11" Type="http://schemas.openxmlformats.org/officeDocument/2006/relationships/image" Target="../media/image113.wmf"/><Relationship Id="rId5" Type="http://schemas.openxmlformats.org/officeDocument/2006/relationships/oleObject" Target="../embeddings/oleObject111.bin"/><Relationship Id="rId10" Type="http://schemas.openxmlformats.org/officeDocument/2006/relationships/oleObject" Target="../embeddings/oleObject113.bin"/><Relationship Id="rId4" Type="http://schemas.openxmlformats.org/officeDocument/2006/relationships/image" Target="../media/image110.wmf"/><Relationship Id="rId9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9.wmf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12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7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23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13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31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27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37.wmf"/><Relationship Id="rId3" Type="http://schemas.openxmlformats.org/officeDocument/2006/relationships/tags" Target="../tags/tag3.xml"/><Relationship Id="rId21" Type="http://schemas.openxmlformats.org/officeDocument/2006/relationships/oleObject" Target="../embeddings/oleObject141.bin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oleObject" Target="../embeddings/oleObject139.bin"/><Relationship Id="rId2" Type="http://schemas.openxmlformats.org/officeDocument/2006/relationships/tags" Target="../tags/tag2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24.v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oleObject" Target="../embeddings/oleObject138.bin"/><Relationship Id="rId23" Type="http://schemas.openxmlformats.org/officeDocument/2006/relationships/image" Target="../media/image140.tmp"/><Relationship Id="rId10" Type="http://schemas.openxmlformats.org/officeDocument/2006/relationships/tags" Target="../tags/tag10.xml"/><Relationship Id="rId19" Type="http://schemas.openxmlformats.org/officeDocument/2006/relationships/oleObject" Target="../embeddings/oleObject140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40.xml"/><Relationship Id="rId22" Type="http://schemas.openxmlformats.org/officeDocument/2006/relationships/image" Target="../media/image13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142.wmf"/><Relationship Id="rId26" Type="http://schemas.openxmlformats.org/officeDocument/2006/relationships/image" Target="../media/image146.wmf"/><Relationship Id="rId3" Type="http://schemas.openxmlformats.org/officeDocument/2006/relationships/tags" Target="../tags/tag15.xml"/><Relationship Id="rId21" Type="http://schemas.openxmlformats.org/officeDocument/2006/relationships/oleObject" Target="../embeddings/oleObject145.bin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33" Type="http://schemas.openxmlformats.org/officeDocument/2006/relationships/image" Target="../media/image140.tmp"/><Relationship Id="rId2" Type="http://schemas.openxmlformats.org/officeDocument/2006/relationships/tags" Target="../tags/tag14.xml"/><Relationship Id="rId16" Type="http://schemas.openxmlformats.org/officeDocument/2006/relationships/image" Target="../media/image141.wmf"/><Relationship Id="rId20" Type="http://schemas.openxmlformats.org/officeDocument/2006/relationships/image" Target="../media/image143.wmf"/><Relationship Id="rId29" Type="http://schemas.openxmlformats.org/officeDocument/2006/relationships/oleObject" Target="../embeddings/oleObject149.bin"/><Relationship Id="rId1" Type="http://schemas.openxmlformats.org/officeDocument/2006/relationships/vmlDrawing" Target="../drawings/vmlDrawing25.v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image" Target="../media/image145.wmf"/><Relationship Id="rId32" Type="http://schemas.openxmlformats.org/officeDocument/2006/relationships/image" Target="../media/image149.wmf"/><Relationship Id="rId5" Type="http://schemas.openxmlformats.org/officeDocument/2006/relationships/tags" Target="../tags/tag17.xml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47.wmf"/><Relationship Id="rId10" Type="http://schemas.openxmlformats.org/officeDocument/2006/relationships/tags" Target="../tags/tag22.xml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50.bin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slideLayout" Target="../slideLayouts/slideLayout40.xml"/><Relationship Id="rId22" Type="http://schemas.openxmlformats.org/officeDocument/2006/relationships/image" Target="../media/image144.w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43760" y="1148254"/>
            <a:ext cx="267176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气体分子特点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885681" y="1733429"/>
            <a:ext cx="542925" cy="513000"/>
            <a:chOff x="1318895" y="2316540"/>
            <a:chExt cx="723900" cy="684000"/>
          </a:xfrm>
        </p:grpSpPr>
        <p:sp>
          <p:nvSpPr>
            <p:cNvPr id="4" name="椭圆 3"/>
            <p:cNvSpPr/>
            <p:nvPr/>
          </p:nvSpPr>
          <p:spPr>
            <a:xfrm>
              <a:off x="1318895" y="2316540"/>
              <a:ext cx="684000" cy="684000"/>
            </a:xfrm>
            <a:prstGeom prst="ellipse">
              <a:avLst/>
            </a:prstGeom>
            <a:solidFill>
              <a:srgbClr val="CC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 Box 2"/>
            <p:cNvSpPr txBox="1">
              <a:spLocks noChangeArrowheads="1"/>
            </p:cNvSpPr>
            <p:nvPr/>
          </p:nvSpPr>
          <p:spPr bwMode="auto">
            <a:xfrm>
              <a:off x="1318895" y="2374940"/>
              <a:ext cx="72390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spcBef>
                  <a:spcPct val="50000"/>
                </a:spcBef>
                <a:buFont typeface="Wingdings" pitchFamily="2" charset="2"/>
                <a:buChar char="u"/>
                <a:defRPr kumimoji="1" sz="2800" b="1">
                  <a:solidFill>
                    <a:srgbClr val="CC0000"/>
                  </a:solidFill>
                  <a:latin typeface="Times New Roman" pitchFamily="18" charset="0"/>
                </a:defRPr>
              </a:lvl1pPr>
            </a:lstStyle>
            <a:p>
              <a:pPr algn="ctr">
                <a:buNone/>
              </a:pPr>
              <a:r>
                <a:rPr lang="zh-CN" altLang="en-US" sz="2100" dirty="0">
                  <a:solidFill>
                    <a:schemeClr val="tx1"/>
                  </a:solidFill>
                </a:rPr>
                <a:t>小</a:t>
              </a:r>
            </a:p>
          </p:txBody>
        </p:sp>
      </p:grp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630" y="2377440"/>
            <a:ext cx="1633621" cy="166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4234298" y="1733429"/>
            <a:ext cx="542925" cy="513000"/>
            <a:chOff x="4153535" y="2316540"/>
            <a:chExt cx="723900" cy="684000"/>
          </a:xfrm>
        </p:grpSpPr>
        <p:sp>
          <p:nvSpPr>
            <p:cNvPr id="15" name="椭圆 14"/>
            <p:cNvSpPr/>
            <p:nvPr/>
          </p:nvSpPr>
          <p:spPr>
            <a:xfrm>
              <a:off x="4153535" y="2316540"/>
              <a:ext cx="684000" cy="684000"/>
            </a:xfrm>
            <a:prstGeom prst="ellipse">
              <a:avLst/>
            </a:prstGeom>
            <a:solidFill>
              <a:srgbClr val="CC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 Box 2"/>
            <p:cNvSpPr txBox="1">
              <a:spLocks noChangeArrowheads="1"/>
            </p:cNvSpPr>
            <p:nvPr/>
          </p:nvSpPr>
          <p:spPr bwMode="auto">
            <a:xfrm>
              <a:off x="4153535" y="2374940"/>
              <a:ext cx="72390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spcBef>
                  <a:spcPct val="50000"/>
                </a:spcBef>
                <a:buFont typeface="Wingdings" pitchFamily="2" charset="2"/>
                <a:buChar char="u"/>
                <a:defRPr kumimoji="1" sz="2800" b="1">
                  <a:solidFill>
                    <a:srgbClr val="CC0000"/>
                  </a:solidFill>
                  <a:latin typeface="Times New Roman" pitchFamily="18" charset="0"/>
                </a:defRPr>
              </a:lvl1pPr>
            </a:lstStyle>
            <a:p>
              <a:pPr algn="ctr">
                <a:buNone/>
              </a:pPr>
              <a:r>
                <a:rPr lang="zh-CN" altLang="en-US" sz="2100" dirty="0">
                  <a:solidFill>
                    <a:schemeClr val="tx1"/>
                  </a:solidFill>
                </a:rPr>
                <a:t>多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086829" y="1733429"/>
            <a:ext cx="542925" cy="513000"/>
            <a:chOff x="7140575" y="2316540"/>
            <a:chExt cx="723900" cy="684000"/>
          </a:xfrm>
        </p:grpSpPr>
        <p:sp>
          <p:nvSpPr>
            <p:cNvPr id="18" name="椭圆 17"/>
            <p:cNvSpPr/>
            <p:nvPr/>
          </p:nvSpPr>
          <p:spPr>
            <a:xfrm>
              <a:off x="7140575" y="2316540"/>
              <a:ext cx="684000" cy="684000"/>
            </a:xfrm>
            <a:prstGeom prst="ellipse">
              <a:avLst/>
            </a:prstGeom>
            <a:solidFill>
              <a:srgbClr val="CC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 Box 2"/>
            <p:cNvSpPr txBox="1">
              <a:spLocks noChangeArrowheads="1"/>
            </p:cNvSpPr>
            <p:nvPr/>
          </p:nvSpPr>
          <p:spPr bwMode="auto">
            <a:xfrm>
              <a:off x="7140575" y="2374940"/>
              <a:ext cx="72390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spcBef>
                  <a:spcPct val="50000"/>
                </a:spcBef>
                <a:buFont typeface="Wingdings" pitchFamily="2" charset="2"/>
                <a:buChar char="u"/>
                <a:defRPr kumimoji="1" sz="2800" b="1">
                  <a:solidFill>
                    <a:srgbClr val="CC0000"/>
                  </a:solidFill>
                  <a:latin typeface="Times New Roman" pitchFamily="18" charset="0"/>
                </a:defRPr>
              </a:lvl1pPr>
            </a:lstStyle>
            <a:p>
              <a:pPr algn="ctr">
                <a:buNone/>
              </a:pPr>
              <a:r>
                <a:rPr lang="zh-CN" altLang="en-US" sz="2100" dirty="0">
                  <a:solidFill>
                    <a:schemeClr val="tx1"/>
                  </a:solidFill>
                </a:rPr>
                <a:t>乱</a:t>
              </a: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816496"/>
              </p:ext>
            </p:extLst>
          </p:nvPr>
        </p:nvGraphicFramePr>
        <p:xfrm>
          <a:off x="1814482" y="4195763"/>
          <a:ext cx="809625" cy="35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03" name="Equation" r:id="rId5" imgW="469800" imgH="203040" progId="Equation.DSMT4">
                  <p:embed/>
                </p:oleObj>
              </mc:Choice>
              <mc:Fallback>
                <p:oleObj name="Equation" r:id="rId5" imgW="46980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482" y="4195763"/>
                        <a:ext cx="809625" cy="350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27217"/>
              </p:ext>
            </p:extLst>
          </p:nvPr>
        </p:nvGraphicFramePr>
        <p:xfrm>
          <a:off x="4017407" y="4195763"/>
          <a:ext cx="1028700" cy="35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04" name="Equation" r:id="rId7" imgW="596880" imgH="203040" progId="Equation.DSMT4">
                  <p:embed/>
                </p:oleObj>
              </mc:Choice>
              <mc:Fallback>
                <p:oleObj name="Equation" r:id="rId7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407" y="4195763"/>
                        <a:ext cx="1028700" cy="350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108" y="2380614"/>
            <a:ext cx="1961390" cy="1659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8" name="Picture 6" descr="G:\FFOutput\d.gif"/>
          <p:cNvPicPr>
            <a:picLocks noChangeAspect="1" noChangeArrowheads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243" y="2377441"/>
            <a:ext cx="2106848" cy="165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861147"/>
              </p:ext>
            </p:extLst>
          </p:nvPr>
        </p:nvGraphicFramePr>
        <p:xfrm>
          <a:off x="7086829" y="4195763"/>
          <a:ext cx="700088" cy="35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05" name="Equation" r:id="rId11" imgW="406080" imgH="203040" progId="Equation.DSMT4">
                  <p:embed/>
                </p:oleObj>
              </mc:Choice>
              <mc:Fallback>
                <p:oleObj name="Equation" r:id="rId11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829" y="4195763"/>
                        <a:ext cx="700088" cy="350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78145"/>
              </p:ext>
            </p:extLst>
          </p:nvPr>
        </p:nvGraphicFramePr>
        <p:xfrm>
          <a:off x="3588881" y="1154419"/>
          <a:ext cx="2341959" cy="41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06" name="Equation" r:id="rId13" imgW="1358640" imgH="241200" progId="Equation.DSMT4">
                  <p:embed/>
                </p:oleObj>
              </mc:Choice>
              <mc:Fallback>
                <p:oleObj name="Equation" r:id="rId13" imgW="1358640" imgH="241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8881" y="1154419"/>
                        <a:ext cx="2341959" cy="415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1373630" y="4130618"/>
            <a:ext cx="1633621" cy="0"/>
          </a:xfrm>
          <a:prstGeom prst="straightConnector1">
            <a:avLst/>
          </a:prstGeom>
          <a:ln w="28575">
            <a:solidFill>
              <a:srgbClr val="0000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2052638" y="149237"/>
            <a:ext cx="4644628" cy="50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700" b="1" dirty="0">
                <a:solidFill>
                  <a:srgbClr val="000000"/>
                </a:solidFill>
                <a:latin typeface="宋体" pitchFamily="2" charset="-122"/>
              </a:rPr>
              <a:t>第十二章  气体动理论</a:t>
            </a:r>
          </a:p>
        </p:txBody>
      </p:sp>
    </p:spTree>
    <p:extLst>
      <p:ext uri="{BB962C8B-B14F-4D97-AF65-F5344CB8AC3E}">
        <p14:creationId xmlns:p14="http://schemas.microsoft.com/office/powerpoint/2010/main" val="96922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29650" y="845106"/>
            <a:ext cx="23431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kumimoji="1" lang="en-US" altLang="zh-CN" sz="2100" b="1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>
                <a:solidFill>
                  <a:srgbClr val="CC0000"/>
                </a:solidFill>
                <a:latin typeface="Times New Roman" pitchFamily="18" charset="0"/>
              </a:rPr>
              <a:t>研究方法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852583" y="2421084"/>
            <a:ext cx="50687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热力学基础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852583" y="1294206"/>
            <a:ext cx="44005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气体动理论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627418" y="2870184"/>
            <a:ext cx="751658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宏观研究</a:t>
            </a:r>
            <a:r>
              <a:rPr kumimoji="1"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: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如气体的 </a:t>
            </a:r>
            <a:r>
              <a:rPr kumimoji="1" lang="en-US" altLang="zh-CN" sz="2100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100" i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10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kumimoji="1" lang="en-US" altLang="zh-CN" sz="21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等</a:t>
            </a:r>
            <a:r>
              <a:rPr kumimoji="1" lang="zh-CN" altLang="en-US" sz="2100" b="1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zh-CN" altLang="en-US" sz="2100" b="1" smtClean="0">
                <a:solidFill>
                  <a:srgbClr val="0000FF"/>
                </a:solidFill>
                <a:latin typeface="Times New Roman" pitchFamily="18" charset="0"/>
              </a:rPr>
              <a:t>变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化</a:t>
            </a:r>
            <a:r>
              <a:rPr kumimoji="1" lang="zh-CN" altLang="en-US" sz="2100" b="1">
                <a:solidFill>
                  <a:srgbClr val="0000FF"/>
                </a:solidFill>
                <a:latin typeface="Times New Roman" pitchFamily="18" charset="0"/>
              </a:rPr>
              <a:t>关</a:t>
            </a:r>
            <a:r>
              <a:rPr kumimoji="1" lang="zh-CN" altLang="en-US" sz="2100" b="1" smtClean="0">
                <a:solidFill>
                  <a:srgbClr val="0000FF"/>
                </a:solidFill>
                <a:latin typeface="Times New Roman" pitchFamily="18" charset="0"/>
              </a:rPr>
              <a:t>系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19" name="Group 24"/>
          <p:cNvGrpSpPr>
            <a:grpSpLocks/>
          </p:cNvGrpSpPr>
          <p:nvPr/>
        </p:nvGrpSpPr>
        <p:grpSpPr bwMode="auto">
          <a:xfrm>
            <a:off x="1627419" y="1743307"/>
            <a:ext cx="6968414" cy="494110"/>
            <a:chOff x="385" y="586"/>
            <a:chExt cx="6207" cy="415"/>
          </a:xfrm>
        </p:grpSpPr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385" y="598"/>
              <a:ext cx="620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0000CC"/>
                  </a:solidFill>
                  <a:latin typeface="Times New Roman" pitchFamily="18" charset="0"/>
                </a:rPr>
                <a:t>微观研究</a:t>
              </a:r>
              <a:r>
                <a:rPr kumimoji="1"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: 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分子的</a:t>
              </a:r>
              <a:r>
                <a:rPr kumimoji="1" lang="en-US" altLang="zh-CN" sz="2100" i="1" dirty="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，   </a:t>
              </a:r>
              <a:r>
                <a:rPr kumimoji="1" lang="zh-CN" altLang="en-US" sz="2100" b="1" smtClean="0">
                  <a:solidFill>
                    <a:srgbClr val="000000"/>
                  </a:solidFill>
                  <a:latin typeface="Times New Roman" pitchFamily="18" charset="0"/>
                </a:rPr>
                <a:t>等，</a:t>
              </a:r>
              <a:r>
                <a:rPr kumimoji="1" lang="zh-CN" altLang="en-US" sz="2100" b="1" smtClean="0">
                  <a:solidFill>
                    <a:srgbClr val="0000FF"/>
                  </a:solidFill>
                  <a:latin typeface="Times New Roman" pitchFamily="18" charset="0"/>
                </a:rPr>
                <a:t>统</a:t>
              </a:r>
              <a:r>
                <a:rPr kumimoji="1" lang="zh-CN" altLang="en-US" sz="2100" b="1" dirty="0">
                  <a:solidFill>
                    <a:srgbClr val="0000FF"/>
                  </a:solidFill>
                  <a:latin typeface="Times New Roman" pitchFamily="18" charset="0"/>
                </a:rPr>
                <a:t>计</a:t>
              </a:r>
              <a:r>
                <a:rPr kumimoji="1" lang="zh-CN" altLang="en-US" sz="2100" b="1">
                  <a:solidFill>
                    <a:srgbClr val="0000FF"/>
                  </a:solidFill>
                  <a:latin typeface="Times New Roman" pitchFamily="18" charset="0"/>
                </a:rPr>
                <a:t>规</a:t>
              </a:r>
              <a:r>
                <a:rPr kumimoji="1" lang="zh-CN" altLang="en-US" sz="2100" b="1" smtClean="0">
                  <a:solidFill>
                    <a:srgbClr val="0000FF"/>
                  </a:solidFill>
                  <a:latin typeface="Times New Roman" pitchFamily="18" charset="0"/>
                </a:rPr>
                <a:t>律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9946560"/>
                </p:ext>
              </p:extLst>
            </p:nvPr>
          </p:nvGraphicFramePr>
          <p:xfrm>
            <a:off x="2653" y="586"/>
            <a:ext cx="240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" name="Equation" r:id="rId3" imgW="126720" imgH="215640" progId="Equation.DSMT4">
                    <p:embed/>
                  </p:oleObj>
                </mc:Choice>
                <mc:Fallback>
                  <p:oleObj name="Equation" r:id="rId3" imgW="126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86"/>
                          <a:ext cx="240" cy="41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5906525" y="4107438"/>
            <a:ext cx="1428750" cy="415498"/>
          </a:xfrm>
          <a:prstGeom prst="rect">
            <a:avLst/>
          </a:prstGeom>
          <a:gradFill rotWithShape="0">
            <a:gsLst>
              <a:gs pos="0">
                <a:srgbClr val="FFFFD9"/>
              </a:gs>
              <a:gs pos="50000">
                <a:srgbClr val="FFFFFF"/>
              </a:gs>
              <a:gs pos="100000">
                <a:srgbClr val="FFFFD9"/>
              </a:gs>
            </a:gsLst>
            <a:lin ang="5400000" scaled="1"/>
          </a:gradFill>
          <a:ln w="12700">
            <a:solidFill>
              <a:srgbClr val="CC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100" b="1">
                <a:solidFill>
                  <a:srgbClr val="CC0000"/>
                </a:solidFill>
                <a:latin typeface="Times New Roman" pitchFamily="18" charset="0"/>
              </a:rPr>
              <a:t>宏观</a:t>
            </a:r>
            <a:r>
              <a:rPr kumimoji="1" lang="zh-CN" altLang="en-US" sz="2100" b="1">
                <a:solidFill>
                  <a:srgbClr val="1C1C1C"/>
                </a:solidFill>
                <a:latin typeface="Times New Roman" pitchFamily="18" charset="0"/>
              </a:rPr>
              <a:t>量</a:t>
            </a: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2534675" y="4107438"/>
            <a:ext cx="1428750" cy="415498"/>
          </a:xfrm>
          <a:prstGeom prst="rect">
            <a:avLst/>
          </a:prstGeom>
          <a:gradFill rotWithShape="0">
            <a:gsLst>
              <a:gs pos="0">
                <a:schemeClr val="accent1">
                  <a:alpha val="32000"/>
                </a:schemeClr>
              </a:gs>
              <a:gs pos="50000">
                <a:srgbClr val="FFFFFF">
                  <a:alpha val="0"/>
                </a:srgbClr>
              </a:gs>
              <a:gs pos="100000">
                <a:schemeClr val="accent1">
                  <a:alpha val="39000"/>
                </a:schemeClr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2100" b="1">
                <a:solidFill>
                  <a:srgbClr val="0000CC"/>
                </a:solidFill>
                <a:latin typeface="Times New Roman" pitchFamily="18" charset="0"/>
              </a:rPr>
              <a:t>微观</a:t>
            </a:r>
            <a:r>
              <a:rPr kumimoji="1" lang="zh-CN" altLang="en-US" sz="2100" b="1">
                <a:solidFill>
                  <a:srgbClr val="1C1C1C"/>
                </a:solidFill>
                <a:latin typeface="Times New Roman" pitchFamily="18" charset="0"/>
              </a:rPr>
              <a:t>量</a:t>
            </a:r>
          </a:p>
        </p:txBody>
      </p:sp>
      <p:grpSp>
        <p:nvGrpSpPr>
          <p:cNvPr id="24" name="Group 12"/>
          <p:cNvGrpSpPr>
            <a:grpSpLocks/>
          </p:cNvGrpSpPr>
          <p:nvPr/>
        </p:nvGrpSpPr>
        <p:grpSpPr bwMode="auto">
          <a:xfrm>
            <a:off x="4062246" y="3821688"/>
            <a:ext cx="1787129" cy="628650"/>
            <a:chOff x="2160" y="384"/>
            <a:chExt cx="1488" cy="528"/>
          </a:xfrm>
        </p:grpSpPr>
        <p:sp>
          <p:nvSpPr>
            <p:cNvPr id="25" name="AutoShape 13"/>
            <p:cNvSpPr>
              <a:spLocks noChangeArrowheads="1"/>
            </p:cNvSpPr>
            <p:nvPr/>
          </p:nvSpPr>
          <p:spPr bwMode="auto">
            <a:xfrm>
              <a:off x="2160" y="720"/>
              <a:ext cx="1488" cy="192"/>
            </a:xfrm>
            <a:prstGeom prst="rightArrow">
              <a:avLst>
                <a:gd name="adj1" fmla="val 55954"/>
                <a:gd name="adj2" fmla="val 228661"/>
              </a:avLst>
            </a:prstGeom>
            <a:gradFill rotWithShape="0">
              <a:gsLst>
                <a:gs pos="0">
                  <a:srgbClr val="5E9EFF"/>
                </a:gs>
                <a:gs pos="20000">
                  <a:srgbClr val="85C2FF"/>
                </a:gs>
                <a:gs pos="35001">
                  <a:srgbClr val="C4D6EB"/>
                </a:gs>
                <a:gs pos="50000">
                  <a:srgbClr val="FFEBFA"/>
                </a:gs>
                <a:gs pos="64999">
                  <a:srgbClr val="C4D6EB"/>
                </a:gs>
                <a:gs pos="80000">
                  <a:srgbClr val="85C2FF"/>
                </a:gs>
                <a:gs pos="100000">
                  <a:srgbClr val="5E9EFF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2208" y="384"/>
              <a:ext cx="114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统计平均</a:t>
              </a:r>
            </a:p>
          </p:txBody>
        </p:sp>
      </p:grp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2052638" y="149237"/>
            <a:ext cx="4644628" cy="50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700" b="1" dirty="0">
                <a:solidFill>
                  <a:srgbClr val="000000"/>
                </a:solidFill>
                <a:latin typeface="宋体" pitchFamily="2" charset="-122"/>
              </a:rPr>
              <a:t>第十二章  气体动理论</a:t>
            </a: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6049912" y="1723956"/>
            <a:ext cx="2570725" cy="47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100" b="1" smtClean="0">
                <a:solidFill>
                  <a:srgbClr val="000000"/>
                </a:solidFill>
                <a:latin typeface="Times New Roman" pitchFamily="18" charset="0"/>
              </a:rPr>
              <a:t>——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受制于模型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6695218" y="2824732"/>
            <a:ext cx="2448782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100" b="1" smtClean="0">
                <a:solidFill>
                  <a:srgbClr val="000000"/>
                </a:solidFill>
                <a:latin typeface="Times New Roman" pitchFamily="18" charset="0"/>
              </a:rPr>
              <a:t>——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不知所以然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2" grpId="0" animBg="1" autoUpdateAnimBg="0"/>
      <p:bldP spid="23" grpId="0" animBg="1" autoUpdateAnimBg="0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10"/>
          <p:cNvGrpSpPr>
            <a:grpSpLocks/>
          </p:cNvGrpSpPr>
          <p:nvPr/>
        </p:nvGrpSpPr>
        <p:grpSpPr bwMode="auto">
          <a:xfrm>
            <a:off x="2052638" y="999344"/>
            <a:ext cx="5372100" cy="2974181"/>
            <a:chOff x="748" y="486"/>
            <a:chExt cx="4512" cy="2498"/>
          </a:xfrm>
        </p:grpSpPr>
        <p:sp>
          <p:nvSpPr>
            <p:cNvPr id="39939" name="Text Box 4"/>
            <p:cNvSpPr txBox="1">
              <a:spLocks noChangeArrowheads="1"/>
            </p:cNvSpPr>
            <p:nvPr/>
          </p:nvSpPr>
          <p:spPr bwMode="auto">
            <a:xfrm>
              <a:off x="769" y="1683"/>
              <a:ext cx="396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100" b="1">
                  <a:solidFill>
                    <a:srgbClr val="000000"/>
                  </a:solidFill>
                  <a:latin typeface="Times New Roman" pitchFamily="18" charset="0"/>
                </a:rPr>
                <a:t>§ 12.2   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物质的微观模型、统计规律性</a:t>
              </a:r>
            </a:p>
          </p:txBody>
        </p:sp>
        <p:sp>
          <p:nvSpPr>
            <p:cNvPr id="39940" name="Text Box 5"/>
            <p:cNvSpPr txBox="1">
              <a:spLocks noChangeArrowheads="1"/>
            </p:cNvSpPr>
            <p:nvPr/>
          </p:nvSpPr>
          <p:spPr bwMode="auto">
            <a:xfrm>
              <a:off x="769" y="2635"/>
              <a:ext cx="449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itchFamily="18" charset="0"/>
                </a:rPr>
                <a:t>§ 12.4   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分子的平均平动能与温度的关系</a:t>
              </a:r>
            </a:p>
          </p:txBody>
        </p:sp>
        <p:sp>
          <p:nvSpPr>
            <p:cNvPr id="39941" name="Text Box 6"/>
            <p:cNvSpPr txBox="1">
              <a:spLocks noChangeArrowheads="1"/>
            </p:cNvSpPr>
            <p:nvPr/>
          </p:nvSpPr>
          <p:spPr bwMode="auto">
            <a:xfrm>
              <a:off x="769" y="2159"/>
              <a:ext cx="336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itchFamily="18" charset="0"/>
                </a:rPr>
                <a:t>§ 12.3   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理想气体压强公式</a:t>
              </a:r>
            </a:p>
          </p:txBody>
        </p:sp>
        <p:sp>
          <p:nvSpPr>
            <p:cNvPr id="39943" name="Text Box 8"/>
            <p:cNvSpPr txBox="1">
              <a:spLocks noChangeArrowheads="1"/>
            </p:cNvSpPr>
            <p:nvPr/>
          </p:nvSpPr>
          <p:spPr bwMode="auto">
            <a:xfrm>
              <a:off x="769" y="1207"/>
              <a:ext cx="370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2100" b="1">
                  <a:solidFill>
                    <a:srgbClr val="000000"/>
                  </a:solidFill>
                  <a:latin typeface="Times New Roman" pitchFamily="18" charset="0"/>
                </a:rPr>
                <a:t>§ 12.1   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平衡态    理想气体物态方程</a:t>
              </a:r>
            </a:p>
          </p:txBody>
        </p:sp>
        <p:sp>
          <p:nvSpPr>
            <p:cNvPr id="39944" name="Text Box 9"/>
            <p:cNvSpPr txBox="1">
              <a:spLocks noChangeArrowheads="1"/>
            </p:cNvSpPr>
            <p:nvPr/>
          </p:nvSpPr>
          <p:spPr bwMode="auto">
            <a:xfrm>
              <a:off x="748" y="486"/>
              <a:ext cx="3901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700" b="1" dirty="0">
                  <a:solidFill>
                    <a:srgbClr val="000000"/>
                  </a:solidFill>
                  <a:latin typeface="宋体" pitchFamily="2" charset="-122"/>
                </a:rPr>
                <a:t>第十二章  气体动理论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 Box 2"/>
          <p:cNvSpPr txBox="1">
            <a:spLocks noChangeArrowheads="1"/>
          </p:cNvSpPr>
          <p:nvPr/>
        </p:nvSpPr>
        <p:spPr bwMode="auto">
          <a:xfrm>
            <a:off x="1062038" y="929041"/>
            <a:ext cx="472916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一、气体的物态参量</a:t>
            </a:r>
            <a:r>
              <a:rPr kumimoji="1" lang="en-US" altLang="zh-CN" sz="2100" b="1" dirty="0">
                <a:latin typeface="宋体" pitchFamily="2" charset="-122"/>
              </a:rPr>
              <a:t>(</a:t>
            </a:r>
            <a:r>
              <a:rPr kumimoji="1" lang="zh-CN" altLang="en-US" sz="2100" b="1" dirty="0">
                <a:latin typeface="Times New Roman" pitchFamily="18" charset="0"/>
              </a:rPr>
              <a:t>宏观量</a:t>
            </a:r>
            <a:r>
              <a:rPr kumimoji="1" lang="en-US" altLang="zh-CN" sz="2100" b="1" dirty="0">
                <a:latin typeface="宋体" pitchFamily="2" charset="-122"/>
              </a:rPr>
              <a:t>)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723900" y="2626871"/>
            <a:ext cx="6057900" cy="914400"/>
            <a:chOff x="432" y="2928"/>
            <a:chExt cx="5088" cy="768"/>
          </a:xfrm>
        </p:grpSpPr>
        <p:sp>
          <p:nvSpPr>
            <p:cNvPr id="2062" name="Text Box 36"/>
            <p:cNvSpPr txBox="1">
              <a:spLocks noChangeArrowheads="1"/>
            </p:cNvSpPr>
            <p:nvPr/>
          </p:nvSpPr>
          <p:spPr bwMode="auto">
            <a:xfrm>
              <a:off x="432" y="2928"/>
              <a:ext cx="50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100" b="1" dirty="0">
                  <a:solidFill>
                    <a:srgbClr val="CC0000"/>
                  </a:solidFill>
                  <a:latin typeface="Times New Roman" pitchFamily="18" charset="0"/>
                </a:rPr>
                <a:t>        2.</a:t>
              </a:r>
              <a:r>
                <a:rPr kumimoji="1"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  </a:t>
              </a:r>
              <a:r>
                <a:rPr kumimoji="1"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体积     ：</a:t>
              </a:r>
              <a:r>
                <a:rPr kumimoji="1" lang="zh-CN" altLang="en-US" sz="2100" b="1" dirty="0">
                  <a:solidFill>
                    <a:srgbClr val="CC0000"/>
                  </a:solidFill>
                  <a:latin typeface="Times New Roman" pitchFamily="18" charset="0"/>
                </a:rPr>
                <a:t>几何</a:t>
              </a:r>
              <a:r>
                <a:rPr kumimoji="1"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描述</a:t>
              </a:r>
            </a:p>
          </p:txBody>
        </p:sp>
        <p:graphicFrame>
          <p:nvGraphicFramePr>
            <p:cNvPr id="2052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943212"/>
                </p:ext>
              </p:extLst>
            </p:nvPr>
          </p:nvGraphicFramePr>
          <p:xfrm>
            <a:off x="2168" y="3291"/>
            <a:ext cx="40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49" name="Equation" r:id="rId3" imgW="215640" imgH="190440" progId="Equation.DSMT4">
                    <p:embed/>
                  </p:oleObj>
                </mc:Choice>
                <mc:Fallback>
                  <p:oleObj name="Equation" r:id="rId3" imgW="215640" imgH="19044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" y="3291"/>
                          <a:ext cx="406" cy="33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6113454"/>
                </p:ext>
              </p:extLst>
            </p:nvPr>
          </p:nvGraphicFramePr>
          <p:xfrm>
            <a:off x="1700" y="2986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0" name="Equation" r:id="rId5" imgW="215640" imgH="241200" progId="Equation.3">
                    <p:embed/>
                  </p:oleObj>
                </mc:Choice>
                <mc:Fallback>
                  <p:oleObj name="Equation" r:id="rId5" imgW="215640" imgH="2412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0" y="2986"/>
                          <a:ext cx="21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3" name="Rectangle 39"/>
            <p:cNvSpPr>
              <a:spLocks noChangeArrowheads="1"/>
            </p:cNvSpPr>
            <p:nvPr/>
          </p:nvSpPr>
          <p:spPr bwMode="auto">
            <a:xfrm>
              <a:off x="1413" y="3347"/>
              <a:ext cx="104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单位：</a:t>
              </a:r>
              <a:endParaRPr kumimoji="1"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</p:grpSp>
      <p:sp>
        <p:nvSpPr>
          <p:cNvPr id="2061" name="Text Box 8"/>
          <p:cNvSpPr txBox="1">
            <a:spLocks noChangeArrowheads="1"/>
          </p:cNvSpPr>
          <p:nvPr/>
        </p:nvSpPr>
        <p:spPr bwMode="auto">
          <a:xfrm>
            <a:off x="1763316" y="184548"/>
            <a:ext cx="53470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§ 12.1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平衡态    理想气体物态方程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52463" y="1502922"/>
            <a:ext cx="5311441" cy="977473"/>
            <a:chOff x="82550" y="2003896"/>
            <a:chExt cx="7081921" cy="1303297"/>
          </a:xfrm>
        </p:grpSpPr>
        <p:graphicFrame>
          <p:nvGraphicFramePr>
            <p:cNvPr id="205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969583"/>
                </p:ext>
              </p:extLst>
            </p:nvPr>
          </p:nvGraphicFramePr>
          <p:xfrm>
            <a:off x="2146300" y="2113434"/>
            <a:ext cx="352425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1" name="Equation" r:id="rId7" imgW="203040" imgH="241200" progId="Equation.3">
                    <p:embed/>
                  </p:oleObj>
                </mc:Choice>
                <mc:Fallback>
                  <p:oleObj name="Equation" r:id="rId7" imgW="20304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300" y="2113434"/>
                          <a:ext cx="352425" cy="417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7020765"/>
                </p:ext>
              </p:extLst>
            </p:nvPr>
          </p:nvGraphicFramePr>
          <p:xfrm>
            <a:off x="2898054" y="2783359"/>
            <a:ext cx="60325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2" name="Equation" r:id="rId9" imgW="203040" imgH="177480" progId="Equation.DSMT4">
                    <p:embed/>
                  </p:oleObj>
                </mc:Choice>
                <mc:Fallback>
                  <p:oleObj name="Equation" r:id="rId9" imgW="203040" imgH="1774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8054" y="2783359"/>
                          <a:ext cx="603250" cy="4476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组合 6"/>
            <p:cNvGrpSpPr/>
            <p:nvPr/>
          </p:nvGrpSpPr>
          <p:grpSpPr>
            <a:xfrm>
              <a:off x="82550" y="2003896"/>
              <a:ext cx="7081921" cy="1303297"/>
              <a:chOff x="82550" y="2003896"/>
              <a:chExt cx="7081921" cy="1303297"/>
            </a:xfrm>
          </p:grpSpPr>
          <p:sp>
            <p:nvSpPr>
              <p:cNvPr id="2058" name="Text Box 8"/>
              <p:cNvSpPr txBox="1">
                <a:spLocks noChangeArrowheads="1"/>
              </p:cNvSpPr>
              <p:nvPr/>
            </p:nvSpPr>
            <p:spPr bwMode="auto">
              <a:xfrm>
                <a:off x="82550" y="2003896"/>
                <a:ext cx="6846888" cy="640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kumimoji="1" lang="en-US" altLang="zh-CN" sz="2100" b="1" dirty="0">
                    <a:solidFill>
                      <a:srgbClr val="CC0000"/>
                    </a:solidFill>
                    <a:latin typeface="Times New Roman" pitchFamily="18" charset="0"/>
                  </a:rPr>
                  <a:t>         1.</a:t>
                </a:r>
                <a:r>
                  <a:rPr kumimoji="1" lang="en-US" altLang="zh-CN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  </a:t>
                </a:r>
                <a:r>
                  <a:rPr kumimoji="1" lang="zh-CN" altLang="en-US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压强     ：</a:t>
                </a:r>
                <a:r>
                  <a:rPr kumimoji="1" lang="zh-CN" altLang="en-US" sz="2100" b="1" dirty="0">
                    <a:solidFill>
                      <a:srgbClr val="CC0000"/>
                    </a:solidFill>
                    <a:latin typeface="Times New Roman" pitchFamily="18" charset="0"/>
                  </a:rPr>
                  <a:t>力学</a:t>
                </a:r>
                <a:r>
                  <a:rPr kumimoji="1" lang="zh-CN" altLang="en-US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描述</a:t>
                </a:r>
              </a:p>
            </p:txBody>
          </p:sp>
          <p:sp>
            <p:nvSpPr>
              <p:cNvPr id="2059" name="Rectangle 10"/>
              <p:cNvSpPr>
                <a:spLocks noChangeArrowheads="1"/>
              </p:cNvSpPr>
              <p:nvPr/>
            </p:nvSpPr>
            <p:spPr bwMode="auto">
              <a:xfrm>
                <a:off x="1654175" y="2753196"/>
                <a:ext cx="1509388" cy="553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 </a:t>
                </a:r>
                <a:r>
                  <a:rPr kumimoji="1" lang="zh-CN" altLang="en-US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单位：</a:t>
                </a:r>
                <a:r>
                  <a:rPr kumimoji="1" lang="en-US" altLang="zh-CN" sz="2100" b="1" dirty="0">
                    <a:solidFill>
                      <a:srgbClr val="1C1C1C"/>
                    </a:solidFill>
                    <a:latin typeface="Times New Roman" pitchFamily="18" charset="0"/>
                  </a:rPr>
                  <a:t> </a:t>
                </a:r>
              </a:p>
            </p:txBody>
          </p:sp>
          <p:graphicFrame>
            <p:nvGraphicFramePr>
              <p:cNvPr id="2055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7550134"/>
                  </p:ext>
                </p:extLst>
              </p:nvPr>
            </p:nvGraphicFramePr>
            <p:xfrm>
              <a:off x="4037158" y="2727034"/>
              <a:ext cx="3127313" cy="50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853" name="Equation" r:id="rId11" imgW="1257120" imgH="203040" progId="Equation.DSMT4">
                      <p:embed/>
                    </p:oleObj>
                  </mc:Choice>
                  <mc:Fallback>
                    <p:oleObj name="Equation" r:id="rId11" imgW="1257120" imgH="20304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7158" y="2727034"/>
                            <a:ext cx="3127313" cy="50400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FF0000"/>
                            </a:solidFill>
                          </a:ln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203721" y="3614737"/>
            <a:ext cx="34159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 </a:t>
            </a:r>
            <a:r>
              <a:rPr kumimoji="1"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3. </a:t>
            </a:r>
            <a:r>
              <a:rPr kumimoji="1"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温度     ：</a:t>
            </a: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热学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描述</a:t>
            </a:r>
          </a:p>
        </p:txBody>
      </p:sp>
      <p:grpSp>
        <p:nvGrpSpPr>
          <p:cNvPr id="21" name="Group 26"/>
          <p:cNvGrpSpPr>
            <a:grpSpLocks/>
          </p:cNvGrpSpPr>
          <p:nvPr/>
        </p:nvGrpSpPr>
        <p:grpSpPr bwMode="auto">
          <a:xfrm>
            <a:off x="1924050" y="3671888"/>
            <a:ext cx="3982641" cy="929878"/>
            <a:chOff x="928" y="711"/>
            <a:chExt cx="3345" cy="781"/>
          </a:xfrm>
        </p:grpSpPr>
        <p:graphicFrame>
          <p:nvGraphicFramePr>
            <p:cNvPr id="2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899693"/>
                </p:ext>
              </p:extLst>
            </p:nvPr>
          </p:nvGraphicFramePr>
          <p:xfrm>
            <a:off x="1231" y="711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4" name="Equation" r:id="rId13" imgW="203040" imgH="228600" progId="Equation.3">
                    <p:embed/>
                  </p:oleObj>
                </mc:Choice>
                <mc:Fallback>
                  <p:oleObj name="Equation" r:id="rId13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" y="711"/>
                          <a:ext cx="214" cy="22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5843071"/>
                </p:ext>
              </p:extLst>
            </p:nvPr>
          </p:nvGraphicFramePr>
          <p:xfrm>
            <a:off x="2445" y="1146"/>
            <a:ext cx="140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5" name="Equation" r:id="rId15" imgW="888840" imgH="177480" progId="Equation.DSMT4">
                    <p:embed/>
                  </p:oleObj>
                </mc:Choice>
                <mc:Fallback>
                  <p:oleObj name="Equation" r:id="rId15" imgW="8888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1146"/>
                          <a:ext cx="1406" cy="295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928" y="1143"/>
              <a:ext cx="334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单位：</a:t>
              </a:r>
              <a:endParaRPr kumimoji="1"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8338598"/>
                </p:ext>
              </p:extLst>
            </p:nvPr>
          </p:nvGraphicFramePr>
          <p:xfrm>
            <a:off x="1696" y="1177"/>
            <a:ext cx="23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6" name="Equation" r:id="rId17" imgW="241200" imgH="228600" progId="Equation.3">
                    <p:embed/>
                  </p:oleObj>
                </mc:Choice>
                <mc:Fallback>
                  <p:oleObj name="Equation" r:id="rId17" imgW="241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" y="1177"/>
                          <a:ext cx="230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7" name="Group 3"/>
          <p:cNvGrpSpPr>
            <a:grpSpLocks/>
          </p:cNvGrpSpPr>
          <p:nvPr/>
        </p:nvGrpSpPr>
        <p:grpSpPr bwMode="auto">
          <a:xfrm>
            <a:off x="6578994" y="2638782"/>
            <a:ext cx="1459904" cy="1902263"/>
            <a:chOff x="4560" y="864"/>
            <a:chExt cx="864" cy="1152"/>
          </a:xfrm>
        </p:grpSpPr>
        <p:sp>
          <p:nvSpPr>
            <p:cNvPr id="2064" name="AutoShape 4"/>
            <p:cNvSpPr>
              <a:spLocks noChangeArrowheads="1"/>
            </p:cNvSpPr>
            <p:nvPr/>
          </p:nvSpPr>
          <p:spPr bwMode="auto">
            <a:xfrm>
              <a:off x="4560" y="864"/>
              <a:ext cx="864" cy="1152"/>
            </a:xfrm>
            <a:prstGeom prst="bevel">
              <a:avLst>
                <a:gd name="adj" fmla="val 7144"/>
              </a:avLst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65" name="Rectangle 5" descr="25%"/>
            <p:cNvSpPr>
              <a:spLocks noChangeArrowheads="1"/>
            </p:cNvSpPr>
            <p:nvPr/>
          </p:nvSpPr>
          <p:spPr bwMode="auto">
            <a:xfrm>
              <a:off x="4608" y="912"/>
              <a:ext cx="768" cy="1056"/>
            </a:xfrm>
            <a:prstGeom prst="rect">
              <a:avLst/>
            </a:prstGeom>
            <a:pattFill prst="pct25">
              <a:fgClr>
                <a:srgbClr val="0000F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53177"/>
              </p:ext>
            </p:extLst>
          </p:nvPr>
        </p:nvGraphicFramePr>
        <p:xfrm>
          <a:off x="6868717" y="3431292"/>
          <a:ext cx="950909" cy="464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7" name="Equation" r:id="rId19" imgW="444240" imgH="203040" progId="Equation.DSMT4">
                  <p:embed/>
                </p:oleObj>
              </mc:Choice>
              <mc:Fallback>
                <p:oleObj name="Equation" r:id="rId19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8717" y="3431292"/>
                        <a:ext cx="950909" cy="46443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175110" y="835687"/>
            <a:ext cx="7722399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一定量的气体，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在不受外界的影响下，经过一定的时间，系统达到一个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稳定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的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宏观性质不随时间变化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的状态称为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平衡态</a:t>
            </a:r>
            <a:r>
              <a:rPr kumimoji="1"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　</a:t>
            </a: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636948" y="247633"/>
            <a:ext cx="472916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二、平衡态</a:t>
            </a:r>
            <a:endParaRPr kumimoji="1" lang="en-US" altLang="zh-CN" sz="2100" b="1" dirty="0">
              <a:latin typeface="宋体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060437" y="2275534"/>
            <a:ext cx="5724624" cy="2478881"/>
            <a:chOff x="2235697" y="2245054"/>
            <a:chExt cx="5724624" cy="2478881"/>
          </a:xfrm>
        </p:grpSpPr>
        <p:grpSp>
          <p:nvGrpSpPr>
            <p:cNvPr id="4" name="组合 3"/>
            <p:cNvGrpSpPr/>
            <p:nvPr/>
          </p:nvGrpSpPr>
          <p:grpSpPr>
            <a:xfrm>
              <a:off x="2235697" y="3316610"/>
              <a:ext cx="1807634" cy="1271800"/>
              <a:chOff x="1456929" y="4422146"/>
              <a:chExt cx="2410179" cy="169573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1456929" y="5016083"/>
                <a:ext cx="2410179" cy="1101796"/>
                <a:chOff x="1456929" y="5016083"/>
                <a:chExt cx="2410179" cy="1101796"/>
              </a:xfrm>
            </p:grpSpPr>
            <p:sp>
              <p:nvSpPr>
                <p:cNvPr id="4117" name="AutoShape 12"/>
                <p:cNvSpPr>
                  <a:spLocks noChangeArrowheads="1"/>
                </p:cNvSpPr>
                <p:nvPr/>
              </p:nvSpPr>
              <p:spPr bwMode="auto">
                <a:xfrm>
                  <a:off x="1456929" y="5016083"/>
                  <a:ext cx="2410179" cy="1101796"/>
                </a:xfrm>
                <a:prstGeom prst="bevel">
                  <a:avLst>
                    <a:gd name="adj" fmla="val 12500"/>
                  </a:avLst>
                </a:prstGeom>
                <a:solidFill>
                  <a:srgbClr val="8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18" name="Rectangle 13"/>
                <p:cNvSpPr>
                  <a:spLocks noChangeArrowheads="1"/>
                </p:cNvSpPr>
                <p:nvPr/>
              </p:nvSpPr>
              <p:spPr bwMode="auto">
                <a:xfrm>
                  <a:off x="1594654" y="5153808"/>
                  <a:ext cx="2134730" cy="826347"/>
                </a:xfrm>
                <a:prstGeom prst="rect">
                  <a:avLst/>
                </a:prstGeom>
                <a:solidFill>
                  <a:srgbClr val="E1F9F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19" name="Rectangle 14" descr="5%"/>
                <p:cNvSpPr>
                  <a:spLocks noChangeArrowheads="1"/>
                </p:cNvSpPr>
                <p:nvPr/>
              </p:nvSpPr>
              <p:spPr bwMode="auto">
                <a:xfrm>
                  <a:off x="1594654" y="5153808"/>
                  <a:ext cx="2134730" cy="826347"/>
                </a:xfrm>
                <a:prstGeom prst="rect">
                  <a:avLst/>
                </a:prstGeom>
                <a:solidFill>
                  <a:srgbClr val="CCFFFF">
                    <a:alpha val="81961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104" name="Object 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05236768"/>
                    </p:ext>
                  </p:extLst>
                </p:nvPr>
              </p:nvGraphicFramePr>
              <p:xfrm>
                <a:off x="2087563" y="5391150"/>
                <a:ext cx="1211262" cy="4286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5789" name="Equation" r:id="rId3" imgW="571320" imgH="203040" progId="Equation.DSMT4">
                        <p:embed/>
                      </p:oleObj>
                    </mc:Choice>
                    <mc:Fallback>
                      <p:oleObj name="Equation" r:id="rId3" imgW="571320" imgH="203040" progId="Equation.DSMT4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87563" y="5391150"/>
                              <a:ext cx="1211262" cy="428625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120" name="AutoShape 16"/>
              <p:cNvSpPr>
                <a:spLocks noChangeArrowheads="1"/>
              </p:cNvSpPr>
              <p:nvPr/>
            </p:nvSpPr>
            <p:spPr bwMode="auto">
              <a:xfrm>
                <a:off x="2636195" y="4422146"/>
                <a:ext cx="137725" cy="503555"/>
              </a:xfrm>
              <a:prstGeom prst="downArrow">
                <a:avLst>
                  <a:gd name="adj1" fmla="val 47185"/>
                  <a:gd name="adj2" fmla="val 104688"/>
                </a:avLst>
              </a:prstGeom>
              <a:gradFill rotWithShape="0">
                <a:gsLst>
                  <a:gs pos="0">
                    <a:srgbClr val="DDEBCF"/>
                  </a:gs>
                  <a:gs pos="25000">
                    <a:srgbClr val="9CB86E"/>
                  </a:gs>
                  <a:gs pos="50000">
                    <a:srgbClr val="156B13"/>
                  </a:gs>
                  <a:gs pos="75000">
                    <a:srgbClr val="9CB86E"/>
                  </a:gs>
                  <a:gs pos="100000">
                    <a:srgbClr val="DDEBCF"/>
                  </a:gs>
                </a:gsLst>
                <a:lin ang="0" scaled="1"/>
              </a:gradFill>
              <a:ln w="19050">
                <a:solidFill>
                  <a:srgbClr val="0099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5589786" y="4438185"/>
              <a:ext cx="21145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 flipV="1">
              <a:off x="5589786" y="2495085"/>
              <a:ext cx="0" cy="1943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3885828"/>
                </p:ext>
              </p:extLst>
            </p:nvPr>
          </p:nvGraphicFramePr>
          <p:xfrm>
            <a:off x="5338564" y="2245054"/>
            <a:ext cx="253604" cy="301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90" name="Equation" r:id="rId5" imgW="203040" imgH="241200" progId="Equation.3">
                    <p:embed/>
                  </p:oleObj>
                </mc:Choice>
                <mc:Fallback>
                  <p:oleObj name="Equation" r:id="rId5" imgW="203040" imgH="2412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8564" y="2245054"/>
                          <a:ext cx="253604" cy="301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455636"/>
                </p:ext>
              </p:extLst>
            </p:nvPr>
          </p:nvGraphicFramePr>
          <p:xfrm>
            <a:off x="7704336" y="4438185"/>
            <a:ext cx="25598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91" name="Equation" r:id="rId7" imgW="215640" imgH="241200" progId="Equation.3">
                    <p:embed/>
                  </p:oleObj>
                </mc:Choice>
                <mc:Fallback>
                  <p:oleObj name="Equation" r:id="rId7" imgW="21564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4336" y="4438185"/>
                          <a:ext cx="255985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7522150"/>
                </p:ext>
              </p:extLst>
            </p:nvPr>
          </p:nvGraphicFramePr>
          <p:xfrm>
            <a:off x="5364795" y="4400085"/>
            <a:ext cx="233438" cy="27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92" name="Equation" r:id="rId9" imgW="164880" imgH="190440" progId="Equation.3">
                    <p:embed/>
                  </p:oleObj>
                </mc:Choice>
                <mc:Fallback>
                  <p:oleObj name="Equation" r:id="rId9" imgW="164880" imgH="1904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795" y="4400085"/>
                          <a:ext cx="233438" cy="270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/>
            <p:cNvGrpSpPr/>
            <p:nvPr/>
          </p:nvGrpSpPr>
          <p:grpSpPr>
            <a:xfrm>
              <a:off x="6046987" y="3082791"/>
              <a:ext cx="1232075" cy="362878"/>
              <a:chOff x="5824488" y="4110388"/>
              <a:chExt cx="1642767" cy="483837"/>
            </a:xfrm>
          </p:grpSpPr>
          <p:sp>
            <p:nvSpPr>
              <p:cNvPr id="29" name="Oval 21"/>
              <p:cNvSpPr>
                <a:spLocks noChangeArrowheads="1"/>
              </p:cNvSpPr>
              <p:nvPr/>
            </p:nvSpPr>
            <p:spPr bwMode="auto">
              <a:xfrm>
                <a:off x="5824488" y="431738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7743864"/>
                  </p:ext>
                </p:extLst>
              </p:nvPr>
            </p:nvGraphicFramePr>
            <p:xfrm>
              <a:off x="6018213" y="4110388"/>
              <a:ext cx="1449042" cy="4838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793" name="Equation" r:id="rId11" imgW="571320" imgH="203040" progId="Equation.DSMT4">
                      <p:embed/>
                    </p:oleObj>
                  </mc:Choice>
                  <mc:Fallback>
                    <p:oleObj name="Equation" r:id="rId11" imgW="571320" imgH="20304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18213" y="4110388"/>
                            <a:ext cx="1449042" cy="48383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组合 6"/>
            <p:cNvGrpSpPr/>
            <p:nvPr/>
          </p:nvGrpSpPr>
          <p:grpSpPr>
            <a:xfrm>
              <a:off x="6425605" y="3783806"/>
              <a:ext cx="1427597" cy="358379"/>
              <a:chOff x="6329313" y="5045075"/>
              <a:chExt cx="1903462" cy="477838"/>
            </a:xfrm>
          </p:grpSpPr>
          <p:sp>
            <p:nvSpPr>
              <p:cNvPr id="30" name="Oval 22"/>
              <p:cNvSpPr>
                <a:spLocks noChangeArrowheads="1"/>
              </p:cNvSpPr>
              <p:nvPr/>
            </p:nvSpPr>
            <p:spPr bwMode="auto">
              <a:xfrm>
                <a:off x="6329313" y="523178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8030"/>
                  </p:ext>
                </p:extLst>
              </p:nvPr>
            </p:nvGraphicFramePr>
            <p:xfrm>
              <a:off x="6491288" y="5045075"/>
              <a:ext cx="1741487" cy="4778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794" name="Equation" r:id="rId13" imgW="698400" imgH="203040" progId="Equation.DSMT4">
                      <p:embed/>
                    </p:oleObj>
                  </mc:Choice>
                  <mc:Fallback>
                    <p:oleObj name="Equation" r:id="rId13" imgW="698400" imgH="20304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91288" y="5045075"/>
                            <a:ext cx="1741487" cy="477838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" name="组合 1"/>
            <p:cNvGrpSpPr/>
            <p:nvPr/>
          </p:nvGrpSpPr>
          <p:grpSpPr>
            <a:xfrm>
              <a:off x="2235697" y="2264309"/>
              <a:ext cx="1807634" cy="981287"/>
              <a:chOff x="1456929" y="3019078"/>
              <a:chExt cx="2410179" cy="1308383"/>
            </a:xfrm>
          </p:grpSpPr>
          <p:sp>
            <p:nvSpPr>
              <p:cNvPr id="4112" name="AutoShape 6"/>
              <p:cNvSpPr>
                <a:spLocks noChangeArrowheads="1"/>
              </p:cNvSpPr>
              <p:nvPr/>
            </p:nvSpPr>
            <p:spPr bwMode="auto">
              <a:xfrm>
                <a:off x="1456929" y="3225665"/>
                <a:ext cx="2410179" cy="1101796"/>
              </a:xfrm>
              <a:prstGeom prst="bevel">
                <a:avLst>
                  <a:gd name="adj" fmla="val 12500"/>
                </a:avLst>
              </a:prstGeom>
              <a:solidFill>
                <a:srgbClr val="8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3" name="Rectangle 7"/>
              <p:cNvSpPr>
                <a:spLocks noChangeArrowheads="1"/>
              </p:cNvSpPr>
              <p:nvPr/>
            </p:nvSpPr>
            <p:spPr bwMode="auto">
              <a:xfrm>
                <a:off x="1594654" y="3363389"/>
                <a:ext cx="2134730" cy="82634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4" name="Rectangle 8"/>
              <p:cNvSpPr>
                <a:spLocks noChangeArrowheads="1"/>
              </p:cNvSpPr>
              <p:nvPr/>
            </p:nvSpPr>
            <p:spPr bwMode="auto">
              <a:xfrm>
                <a:off x="1594654" y="3363389"/>
                <a:ext cx="1101796" cy="82634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5" name="Line 9"/>
              <p:cNvSpPr>
                <a:spLocks noChangeShapeType="1"/>
              </p:cNvSpPr>
              <p:nvPr/>
            </p:nvSpPr>
            <p:spPr bwMode="auto">
              <a:xfrm flipV="1">
                <a:off x="2696450" y="3019078"/>
                <a:ext cx="0" cy="1170658"/>
              </a:xfrm>
              <a:prstGeom prst="line">
                <a:avLst/>
              </a:prstGeom>
              <a:noFill/>
              <a:ln w="762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6" name="Line 10"/>
              <p:cNvSpPr>
                <a:spLocks noChangeShapeType="1"/>
              </p:cNvSpPr>
              <p:nvPr/>
            </p:nvSpPr>
            <p:spPr bwMode="auto">
              <a:xfrm>
                <a:off x="2558725" y="3019078"/>
                <a:ext cx="275449" cy="0"/>
              </a:xfrm>
              <a:prstGeom prst="line">
                <a:avLst/>
              </a:prstGeom>
              <a:noFill/>
              <a:ln w="5715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103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2703165"/>
                  </p:ext>
                </p:extLst>
              </p:nvPr>
            </p:nvGraphicFramePr>
            <p:xfrm>
              <a:off x="1594654" y="3572845"/>
              <a:ext cx="1032934" cy="423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795" name="公式" r:id="rId15" imgW="711000" imgH="291960" progId="Equation.3">
                      <p:embed/>
                    </p:oleObj>
                  </mc:Choice>
                  <mc:Fallback>
                    <p:oleObj name="公式" r:id="rId15" imgW="711000" imgH="29196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4654" y="3572845"/>
                            <a:ext cx="1032934" cy="423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82013353"/>
                  </p:ext>
                </p:extLst>
              </p:nvPr>
            </p:nvGraphicFramePr>
            <p:xfrm>
              <a:off x="2846874" y="3572845"/>
              <a:ext cx="757387" cy="448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796" name="Equation" r:id="rId17" imgW="342720" imgH="203040" progId="Equation.DSMT4">
                      <p:embed/>
                    </p:oleObj>
                  </mc:Choice>
                  <mc:Fallback>
                    <p:oleObj name="Equation" r:id="rId17" imgW="3427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6874" y="3572845"/>
                            <a:ext cx="757387" cy="44864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1798796" y="447657"/>
            <a:ext cx="51304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1" lang="zh-CN" altLang="en-US" sz="2100" b="1" dirty="0">
                <a:latin typeface="宋体" pitchFamily="2" charset="-122"/>
              </a:rPr>
              <a:t>物态稳定；</a:t>
            </a:r>
            <a:endParaRPr kumimoji="1" lang="en-US" altLang="zh-CN" sz="2100" b="1" dirty="0">
              <a:latin typeface="Times New Roman" pitchFamily="18" charset="0"/>
            </a:endParaRPr>
          </a:p>
        </p:txBody>
      </p:sp>
      <p:sp>
        <p:nvSpPr>
          <p:cNvPr id="78" name="Text Box 21"/>
          <p:cNvSpPr txBox="1">
            <a:spLocks noChangeArrowheads="1"/>
          </p:cNvSpPr>
          <p:nvPr/>
        </p:nvSpPr>
        <p:spPr bwMode="auto">
          <a:xfrm>
            <a:off x="1798796" y="956367"/>
            <a:ext cx="51304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自发过程的终点；</a:t>
            </a:r>
            <a:endParaRPr kumimoji="1" lang="en-US" altLang="zh-CN" sz="2100" b="1" dirty="0">
              <a:latin typeface="Times New Roman" pitchFamily="18" charset="0"/>
            </a:endParaRPr>
          </a:p>
        </p:txBody>
      </p:sp>
      <p:sp>
        <p:nvSpPr>
          <p:cNvPr id="79" name="Text Box 21"/>
          <p:cNvSpPr txBox="1">
            <a:spLocks noChangeArrowheads="1"/>
          </p:cNvSpPr>
          <p:nvPr/>
        </p:nvSpPr>
        <p:spPr bwMode="auto">
          <a:xfrm>
            <a:off x="1798796" y="1465076"/>
            <a:ext cx="513040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kumimoji="1" lang="en-US" altLang="zh-CN" sz="2100" b="1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1"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热动平衡</a:t>
            </a:r>
            <a:r>
              <a:rPr kumimoji="1"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  <a:endParaRPr kumimoji="1" lang="en-US" altLang="zh-CN" sz="2100" b="1" dirty="0">
              <a:latin typeface="Times New Roman" pitchFamily="18" charset="0"/>
            </a:endParaRPr>
          </a:p>
        </p:txBody>
      </p:sp>
      <p:pic>
        <p:nvPicPr>
          <p:cNvPr id="36" name="Picture 6" descr="G:\FFOutput\d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010" y="392323"/>
            <a:ext cx="2106848" cy="165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组合 36"/>
          <p:cNvGrpSpPr/>
          <p:nvPr/>
        </p:nvGrpSpPr>
        <p:grpSpPr>
          <a:xfrm>
            <a:off x="2060437" y="2275534"/>
            <a:ext cx="5724624" cy="2478881"/>
            <a:chOff x="2235697" y="2245054"/>
            <a:chExt cx="5724624" cy="2478881"/>
          </a:xfrm>
        </p:grpSpPr>
        <p:grpSp>
          <p:nvGrpSpPr>
            <p:cNvPr id="38" name="组合 37"/>
            <p:cNvGrpSpPr/>
            <p:nvPr/>
          </p:nvGrpSpPr>
          <p:grpSpPr>
            <a:xfrm>
              <a:off x="2235697" y="3316610"/>
              <a:ext cx="1807634" cy="1271800"/>
              <a:chOff x="1456929" y="4422146"/>
              <a:chExt cx="2410179" cy="1695733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1456929" y="5016083"/>
                <a:ext cx="2410179" cy="1101796"/>
                <a:chOff x="1456929" y="5016083"/>
                <a:chExt cx="2410179" cy="1101796"/>
              </a:xfrm>
            </p:grpSpPr>
            <p:sp>
              <p:nvSpPr>
                <p:cNvPr id="89" name="AutoShape 12"/>
                <p:cNvSpPr>
                  <a:spLocks noChangeArrowheads="1"/>
                </p:cNvSpPr>
                <p:nvPr/>
              </p:nvSpPr>
              <p:spPr bwMode="auto">
                <a:xfrm>
                  <a:off x="1456929" y="5016083"/>
                  <a:ext cx="2410179" cy="1101796"/>
                </a:xfrm>
                <a:prstGeom prst="bevel">
                  <a:avLst>
                    <a:gd name="adj" fmla="val 12500"/>
                  </a:avLst>
                </a:prstGeom>
                <a:solidFill>
                  <a:srgbClr val="8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Rectangle 13"/>
                <p:cNvSpPr>
                  <a:spLocks noChangeArrowheads="1"/>
                </p:cNvSpPr>
                <p:nvPr/>
              </p:nvSpPr>
              <p:spPr bwMode="auto">
                <a:xfrm>
                  <a:off x="1594654" y="5153808"/>
                  <a:ext cx="2134730" cy="826347"/>
                </a:xfrm>
                <a:prstGeom prst="rect">
                  <a:avLst/>
                </a:prstGeom>
                <a:solidFill>
                  <a:srgbClr val="E1F9F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Rectangle 14" descr="5%"/>
                <p:cNvSpPr>
                  <a:spLocks noChangeArrowheads="1"/>
                </p:cNvSpPr>
                <p:nvPr/>
              </p:nvSpPr>
              <p:spPr bwMode="auto">
                <a:xfrm>
                  <a:off x="1594654" y="5153808"/>
                  <a:ext cx="2134730" cy="826347"/>
                </a:xfrm>
                <a:prstGeom prst="rect">
                  <a:avLst/>
                </a:prstGeom>
                <a:solidFill>
                  <a:srgbClr val="CCFFFF">
                    <a:alpha val="81961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" name="Object 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51541030"/>
                    </p:ext>
                  </p:extLst>
                </p:nvPr>
              </p:nvGraphicFramePr>
              <p:xfrm>
                <a:off x="2087563" y="5391150"/>
                <a:ext cx="1211262" cy="4286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8768" name="Equation" r:id="rId4" imgW="571320" imgH="203040" progId="Equation.DSMT4">
                        <p:embed/>
                      </p:oleObj>
                    </mc:Choice>
                    <mc:Fallback>
                      <p:oleObj name="Equation" r:id="rId4" imgW="571320" imgH="203040" progId="Equation.DSMT4">
                        <p:embed/>
                        <p:pic>
                          <p:nvPicPr>
                            <p:cNvPr id="4104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87563" y="5391150"/>
                              <a:ext cx="1211262" cy="428625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88" name="AutoShape 16"/>
              <p:cNvSpPr>
                <a:spLocks noChangeArrowheads="1"/>
              </p:cNvSpPr>
              <p:nvPr/>
            </p:nvSpPr>
            <p:spPr bwMode="auto">
              <a:xfrm>
                <a:off x="2636195" y="4422146"/>
                <a:ext cx="137725" cy="503555"/>
              </a:xfrm>
              <a:prstGeom prst="downArrow">
                <a:avLst>
                  <a:gd name="adj1" fmla="val 47185"/>
                  <a:gd name="adj2" fmla="val 104688"/>
                </a:avLst>
              </a:prstGeom>
              <a:gradFill rotWithShape="0">
                <a:gsLst>
                  <a:gs pos="0">
                    <a:srgbClr val="DDEBCF"/>
                  </a:gs>
                  <a:gs pos="25000">
                    <a:srgbClr val="9CB86E"/>
                  </a:gs>
                  <a:gs pos="50000">
                    <a:srgbClr val="156B13"/>
                  </a:gs>
                  <a:gs pos="75000">
                    <a:srgbClr val="9CB86E"/>
                  </a:gs>
                  <a:gs pos="100000">
                    <a:srgbClr val="DDEBCF"/>
                  </a:gs>
                </a:gsLst>
                <a:lin ang="0" scaled="1"/>
              </a:gradFill>
              <a:ln w="19050">
                <a:solidFill>
                  <a:srgbClr val="0099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5589786" y="4438185"/>
              <a:ext cx="21145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20"/>
            <p:cNvSpPr>
              <a:spLocks noChangeShapeType="1"/>
            </p:cNvSpPr>
            <p:nvPr/>
          </p:nvSpPr>
          <p:spPr bwMode="auto">
            <a:xfrm flipV="1">
              <a:off x="5589786" y="2495085"/>
              <a:ext cx="0" cy="1943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3569816"/>
                </p:ext>
              </p:extLst>
            </p:nvPr>
          </p:nvGraphicFramePr>
          <p:xfrm>
            <a:off x="5338564" y="2245054"/>
            <a:ext cx="253604" cy="301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769" name="Equation" r:id="rId6" imgW="203040" imgH="241200" progId="Equation.3">
                    <p:embed/>
                  </p:oleObj>
                </mc:Choice>
                <mc:Fallback>
                  <p:oleObj name="Equation" r:id="rId6" imgW="203040" imgH="241200" progId="Equation.3">
                    <p:embed/>
                    <p:pic>
                      <p:nvPicPr>
                        <p:cNvPr id="31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8564" y="2245054"/>
                          <a:ext cx="253604" cy="301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5978484"/>
                </p:ext>
              </p:extLst>
            </p:nvPr>
          </p:nvGraphicFramePr>
          <p:xfrm>
            <a:off x="7704336" y="4438185"/>
            <a:ext cx="25598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770" name="Equation" r:id="rId8" imgW="215640" imgH="241200" progId="Equation.3">
                    <p:embed/>
                  </p:oleObj>
                </mc:Choice>
                <mc:Fallback>
                  <p:oleObj name="Equation" r:id="rId8" imgW="215640" imgH="241200" progId="Equation.3">
                    <p:embed/>
                    <p:pic>
                      <p:nvPicPr>
                        <p:cNvPr id="3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4336" y="4438185"/>
                          <a:ext cx="255985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5682571"/>
                </p:ext>
              </p:extLst>
            </p:nvPr>
          </p:nvGraphicFramePr>
          <p:xfrm>
            <a:off x="5364795" y="4400085"/>
            <a:ext cx="233438" cy="27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771" name="Equation" r:id="rId10" imgW="164880" imgH="190440" progId="Equation.3">
                    <p:embed/>
                  </p:oleObj>
                </mc:Choice>
                <mc:Fallback>
                  <p:oleObj name="Equation" r:id="rId10" imgW="164880" imgH="190440" progId="Equation.3">
                    <p:embed/>
                    <p:pic>
                      <p:nvPicPr>
                        <p:cNvPr id="3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795" y="4400085"/>
                          <a:ext cx="233438" cy="270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4" name="组合 43"/>
            <p:cNvGrpSpPr/>
            <p:nvPr/>
          </p:nvGrpSpPr>
          <p:grpSpPr>
            <a:xfrm>
              <a:off x="6046987" y="3082791"/>
              <a:ext cx="1232075" cy="362878"/>
              <a:chOff x="5824488" y="4110388"/>
              <a:chExt cx="1642767" cy="483837"/>
            </a:xfrm>
          </p:grpSpPr>
          <p:sp>
            <p:nvSpPr>
              <p:cNvPr id="85" name="Oval 21"/>
              <p:cNvSpPr>
                <a:spLocks noChangeArrowheads="1"/>
              </p:cNvSpPr>
              <p:nvPr/>
            </p:nvSpPr>
            <p:spPr bwMode="auto">
              <a:xfrm>
                <a:off x="5824488" y="431738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6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890064"/>
                  </p:ext>
                </p:extLst>
              </p:nvPr>
            </p:nvGraphicFramePr>
            <p:xfrm>
              <a:off x="6018213" y="4110388"/>
              <a:ext cx="1449042" cy="4838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772" name="Equation" r:id="rId12" imgW="571320" imgH="203040" progId="Equation.DSMT4">
                      <p:embed/>
                    </p:oleObj>
                  </mc:Choice>
                  <mc:Fallback>
                    <p:oleObj name="Equation" r:id="rId12" imgW="571320" imgH="203040" progId="Equation.DSMT4">
                      <p:embed/>
                      <p:pic>
                        <p:nvPicPr>
                          <p:cNvPr id="34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18213" y="4110388"/>
                            <a:ext cx="1449042" cy="48383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5" name="组合 44"/>
            <p:cNvGrpSpPr/>
            <p:nvPr/>
          </p:nvGrpSpPr>
          <p:grpSpPr>
            <a:xfrm>
              <a:off x="6425605" y="3783806"/>
              <a:ext cx="1427597" cy="358379"/>
              <a:chOff x="6329313" y="5045075"/>
              <a:chExt cx="1903462" cy="477838"/>
            </a:xfrm>
          </p:grpSpPr>
          <p:sp>
            <p:nvSpPr>
              <p:cNvPr id="83" name="Oval 22"/>
              <p:cNvSpPr>
                <a:spLocks noChangeArrowheads="1"/>
              </p:cNvSpPr>
              <p:nvPr/>
            </p:nvSpPr>
            <p:spPr bwMode="auto">
              <a:xfrm>
                <a:off x="6329313" y="523178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4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3674351"/>
                  </p:ext>
                </p:extLst>
              </p:nvPr>
            </p:nvGraphicFramePr>
            <p:xfrm>
              <a:off x="6491288" y="5045075"/>
              <a:ext cx="1741487" cy="4778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773" name="Equation" r:id="rId14" imgW="698400" imgH="203040" progId="Equation.DSMT4">
                      <p:embed/>
                    </p:oleObj>
                  </mc:Choice>
                  <mc:Fallback>
                    <p:oleObj name="Equation" r:id="rId14" imgW="698400" imgH="203040" progId="Equation.DSMT4">
                      <p:embed/>
                      <p:pic>
                        <p:nvPicPr>
                          <p:cNvPr id="35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91288" y="5045075"/>
                            <a:ext cx="1741487" cy="477838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6" name="组合 45"/>
            <p:cNvGrpSpPr/>
            <p:nvPr/>
          </p:nvGrpSpPr>
          <p:grpSpPr>
            <a:xfrm>
              <a:off x="2235697" y="2264309"/>
              <a:ext cx="1807634" cy="981287"/>
              <a:chOff x="1456929" y="3019078"/>
              <a:chExt cx="2410179" cy="1308383"/>
            </a:xfrm>
          </p:grpSpPr>
          <p:sp>
            <p:nvSpPr>
              <p:cNvPr id="47" name="AutoShape 6"/>
              <p:cNvSpPr>
                <a:spLocks noChangeArrowheads="1"/>
              </p:cNvSpPr>
              <p:nvPr/>
            </p:nvSpPr>
            <p:spPr bwMode="auto">
              <a:xfrm>
                <a:off x="1456929" y="3225665"/>
                <a:ext cx="2410179" cy="1101796"/>
              </a:xfrm>
              <a:prstGeom prst="bevel">
                <a:avLst>
                  <a:gd name="adj" fmla="val 12500"/>
                </a:avLst>
              </a:prstGeom>
              <a:solidFill>
                <a:srgbClr val="8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Rectangle 7"/>
              <p:cNvSpPr>
                <a:spLocks noChangeArrowheads="1"/>
              </p:cNvSpPr>
              <p:nvPr/>
            </p:nvSpPr>
            <p:spPr bwMode="auto">
              <a:xfrm>
                <a:off x="1594654" y="3363389"/>
                <a:ext cx="2134730" cy="82634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Rectangle 8"/>
              <p:cNvSpPr>
                <a:spLocks noChangeArrowheads="1"/>
              </p:cNvSpPr>
              <p:nvPr/>
            </p:nvSpPr>
            <p:spPr bwMode="auto">
              <a:xfrm>
                <a:off x="1594654" y="3363389"/>
                <a:ext cx="1101796" cy="82634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9"/>
              <p:cNvSpPr>
                <a:spLocks noChangeShapeType="1"/>
              </p:cNvSpPr>
              <p:nvPr/>
            </p:nvSpPr>
            <p:spPr bwMode="auto">
              <a:xfrm flipV="1">
                <a:off x="2696450" y="3019078"/>
                <a:ext cx="0" cy="1170658"/>
              </a:xfrm>
              <a:prstGeom prst="line">
                <a:avLst/>
              </a:prstGeom>
              <a:noFill/>
              <a:ln w="7620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10"/>
              <p:cNvSpPr>
                <a:spLocks noChangeShapeType="1"/>
              </p:cNvSpPr>
              <p:nvPr/>
            </p:nvSpPr>
            <p:spPr bwMode="auto">
              <a:xfrm>
                <a:off x="2558725" y="3019078"/>
                <a:ext cx="275449" cy="0"/>
              </a:xfrm>
              <a:prstGeom prst="line">
                <a:avLst/>
              </a:prstGeom>
              <a:noFill/>
              <a:ln w="57150">
                <a:solidFill>
                  <a:srgbClr val="8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1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3302880"/>
                  </p:ext>
                </p:extLst>
              </p:nvPr>
            </p:nvGraphicFramePr>
            <p:xfrm>
              <a:off x="1594654" y="3572845"/>
              <a:ext cx="1032934" cy="423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774" name="公式" r:id="rId16" imgW="711000" imgH="291960" progId="Equation.3">
                      <p:embed/>
                    </p:oleObj>
                  </mc:Choice>
                  <mc:Fallback>
                    <p:oleObj name="公式" r:id="rId16" imgW="711000" imgH="291960" progId="Equation.3">
                      <p:embed/>
                      <p:pic>
                        <p:nvPicPr>
                          <p:cNvPr id="4103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4654" y="3572845"/>
                            <a:ext cx="1032934" cy="423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8651763"/>
                  </p:ext>
                </p:extLst>
              </p:nvPr>
            </p:nvGraphicFramePr>
            <p:xfrm>
              <a:off x="2846874" y="3572845"/>
              <a:ext cx="757387" cy="448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775" name="Equation" r:id="rId18" imgW="342720" imgH="203040" progId="Equation.DSMT4">
                      <p:embed/>
                    </p:oleObj>
                  </mc:Choice>
                  <mc:Fallback>
                    <p:oleObj name="Equation" r:id="rId18" imgW="342720" imgH="203040" progId="Equation.DSMT4">
                      <p:embed/>
                      <p:pic>
                        <p:nvPicPr>
                          <p:cNvPr id="37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6874" y="3572845"/>
                            <a:ext cx="757387" cy="44864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组合 3"/>
          <p:cNvGrpSpPr/>
          <p:nvPr/>
        </p:nvGrpSpPr>
        <p:grpSpPr>
          <a:xfrm>
            <a:off x="501551" y="1114821"/>
            <a:ext cx="647700" cy="2987191"/>
            <a:chOff x="439979" y="1272388"/>
            <a:chExt cx="647700" cy="2987191"/>
          </a:xfrm>
        </p:grpSpPr>
        <p:sp>
          <p:nvSpPr>
            <p:cNvPr id="26627" name="AutoShape 3"/>
            <p:cNvSpPr>
              <a:spLocks noChangeArrowheads="1"/>
            </p:cNvSpPr>
            <p:nvPr/>
          </p:nvSpPr>
          <p:spPr bwMode="auto">
            <a:xfrm rot="5400000">
              <a:off x="-729767" y="2442134"/>
              <a:ext cx="2987191" cy="647700"/>
            </a:xfrm>
            <a:prstGeom prst="horizontalScroll">
              <a:avLst>
                <a:gd name="adj" fmla="val 125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sz="2100" dirty="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50581" y="1861581"/>
              <a:ext cx="417102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/>
                <a:t>平</a:t>
              </a:r>
              <a:endParaRPr lang="en-US" altLang="zh-CN" b="1" dirty="0" smtClean="0"/>
            </a:p>
            <a:p>
              <a:r>
                <a:rPr lang="zh-CN" altLang="en-US" b="1" dirty="0" smtClean="0"/>
                <a:t>衡</a:t>
              </a:r>
              <a:endParaRPr lang="en-US" altLang="zh-CN" b="1" dirty="0" smtClean="0"/>
            </a:p>
            <a:p>
              <a:r>
                <a:rPr lang="zh-CN" altLang="en-US" b="1" dirty="0" smtClean="0"/>
                <a:t>态</a:t>
              </a:r>
              <a:endParaRPr lang="en-US" altLang="zh-CN" b="1" dirty="0" smtClean="0"/>
            </a:p>
            <a:p>
              <a:r>
                <a:rPr lang="zh-CN" altLang="en-US" b="1" dirty="0" smtClean="0"/>
                <a:t>的</a:t>
              </a:r>
              <a:endParaRPr lang="en-US" altLang="zh-CN" b="1" dirty="0" smtClean="0"/>
            </a:p>
            <a:p>
              <a:r>
                <a:rPr lang="zh-CN" altLang="en-US" b="1" dirty="0" smtClean="0"/>
                <a:t>特</a:t>
              </a:r>
              <a:endParaRPr lang="en-US" altLang="zh-CN" b="1" dirty="0" smtClean="0"/>
            </a:p>
            <a:p>
              <a:r>
                <a:rPr lang="zh-CN" altLang="en-US" b="1" dirty="0" smtClean="0"/>
                <a:t>点</a:t>
              </a:r>
              <a:endParaRPr lang="zh-CN" alt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5" grpId="0" autoUpdateAnimBg="0"/>
      <p:bldP spid="78" grpId="0" autoUpdateAnimBg="0"/>
      <p:bldP spid="7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1868687" y="4089856"/>
            <a:ext cx="39801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100" b="1" dirty="0"/>
              <a:t>    :</a:t>
            </a:r>
            <a:r>
              <a:rPr lang="zh-CN" altLang="en-US" sz="2100" b="1" dirty="0"/>
              <a:t> 气体分子</a:t>
            </a:r>
            <a:r>
              <a:rPr lang="zh-CN" altLang="en-US" sz="2100" b="1" dirty="0">
                <a:solidFill>
                  <a:srgbClr val="0000FF"/>
                </a:solidFill>
              </a:rPr>
              <a:t>摩尔质量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34754" y="2922112"/>
            <a:ext cx="5164932" cy="415529"/>
            <a:chOff x="949" y="2323"/>
            <a:chExt cx="4338" cy="349"/>
          </a:xfrm>
        </p:grpSpPr>
        <p:graphicFrame>
          <p:nvGraphicFramePr>
            <p:cNvPr id="615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482613"/>
                </p:ext>
              </p:extLst>
            </p:nvPr>
          </p:nvGraphicFramePr>
          <p:xfrm>
            <a:off x="949" y="2335"/>
            <a:ext cx="241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68" name="Equation" r:id="rId3" imgW="1346040" imgH="203040" progId="Equation.DSMT4">
                    <p:embed/>
                  </p:oleObj>
                </mc:Choice>
                <mc:Fallback>
                  <p:oleObj name="Equation" r:id="rId3" imgW="1346040" imgH="2030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9" y="2335"/>
                          <a:ext cx="2419" cy="313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9" name="Text Box 6"/>
            <p:cNvSpPr txBox="1">
              <a:spLocks noChangeArrowheads="1"/>
            </p:cNvSpPr>
            <p:nvPr/>
          </p:nvSpPr>
          <p:spPr bwMode="auto">
            <a:xfrm>
              <a:off x="3518" y="2323"/>
              <a:ext cx="176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080808"/>
                  </a:solidFill>
                  <a:latin typeface="Times New Roman" pitchFamily="18" charset="0"/>
                </a:rPr>
                <a:t>摩尔气体常量</a:t>
              </a:r>
              <a:endParaRPr kumimoji="1" lang="zh-CN" altLang="en-US" sz="2100" b="1" dirty="0">
                <a:latin typeface="Times New Roman" pitchFamily="18" charset="0"/>
              </a:endParaRPr>
            </a:p>
          </p:txBody>
        </p:sp>
      </p:grpSp>
      <p:sp>
        <p:nvSpPr>
          <p:cNvPr id="6158" name="Text Box 9"/>
          <p:cNvSpPr txBox="1">
            <a:spLocks noChangeArrowheads="1"/>
          </p:cNvSpPr>
          <p:nvPr/>
        </p:nvSpPr>
        <p:spPr bwMode="auto">
          <a:xfrm>
            <a:off x="1585200" y="850287"/>
            <a:ext cx="610909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1.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理想气体：遵守</a:t>
            </a:r>
            <a:r>
              <a:rPr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三个实验定律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的气体</a:t>
            </a: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  <a:endParaRPr lang="zh-CN" altLang="en-US" sz="2100" b="1" dirty="0">
              <a:solidFill>
                <a:srgbClr val="1C1C1C"/>
              </a:solidFill>
              <a:latin typeface="Times New Roman" pitchFamily="18" charset="0"/>
            </a:endParaRPr>
          </a:p>
        </p:txBody>
      </p:sp>
      <p:graphicFrame>
        <p:nvGraphicFramePr>
          <p:cNvPr id="614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319766"/>
              </p:ext>
            </p:extLst>
          </p:nvPr>
        </p:nvGraphicFramePr>
        <p:xfrm>
          <a:off x="1853447" y="2209801"/>
          <a:ext cx="1345406" cy="3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69" name="Equation" r:id="rId5" imgW="698400" imgH="190440" progId="Equation.DSMT4">
                  <p:embed/>
                </p:oleObj>
              </mc:Choice>
              <mc:Fallback>
                <p:oleObj name="Equation" r:id="rId5" imgW="698400" imgH="190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447" y="2209801"/>
                        <a:ext cx="1345406" cy="355997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034753215"/>
              </p:ext>
            </p:extLst>
          </p:nvPr>
        </p:nvGraphicFramePr>
        <p:xfrm>
          <a:off x="1834754" y="3529533"/>
          <a:ext cx="432197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0" name="公式" r:id="rId7" imgW="190440" imgH="177480" progId="Equation.3">
                  <p:embed/>
                </p:oleObj>
              </mc:Choice>
              <mc:Fallback>
                <p:oleObj name="公式" r:id="rId7" imgW="190440" imgH="177480" progId="Equation.3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754" y="3529533"/>
                        <a:ext cx="432197" cy="403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6" name="Object 2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81332366"/>
              </p:ext>
            </p:extLst>
          </p:nvPr>
        </p:nvGraphicFramePr>
        <p:xfrm>
          <a:off x="1819514" y="4101271"/>
          <a:ext cx="408384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1" name="公式" r:id="rId9" imgW="203040" imgH="164880" progId="Equation.3">
                  <p:embed/>
                </p:oleObj>
              </mc:Choice>
              <mc:Fallback>
                <p:oleObj name="公式" r:id="rId9" imgW="203040" imgH="164880" progId="Equation.3">
                  <p:embed/>
                  <p:pic>
                    <p:nvPicPr>
                      <p:cNvPr id="0" name="Object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514" y="4101271"/>
                        <a:ext cx="408384" cy="330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1872853" y="3544772"/>
            <a:ext cx="258294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100" b="1" dirty="0"/>
              <a:t>    : </a:t>
            </a:r>
            <a:r>
              <a:rPr lang="zh-CN" altLang="en-US" sz="2100" b="1" dirty="0"/>
              <a:t>气体系统</a:t>
            </a:r>
            <a:r>
              <a:rPr lang="zh-CN" altLang="en-US" sz="2100" b="1" dirty="0">
                <a:solidFill>
                  <a:srgbClr val="0000FF"/>
                </a:solidFill>
              </a:rPr>
              <a:t>总质量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217415" y="319441"/>
            <a:ext cx="472916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三、理想气体物态方程</a:t>
            </a:r>
            <a:endParaRPr kumimoji="1" lang="en-US" altLang="zh-CN" sz="2100" b="1" dirty="0">
              <a:latin typeface="宋体" pitchFamily="2" charset="-122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1585200" y="1429407"/>
            <a:ext cx="633007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2.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物态方程：理想气体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平衡态宏观参量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之间的关系。</a:t>
            </a:r>
          </a:p>
        </p:txBody>
      </p:sp>
      <p:sp>
        <p:nvSpPr>
          <p:cNvPr id="4" name="横卷形 3"/>
          <p:cNvSpPr/>
          <p:nvPr/>
        </p:nvSpPr>
        <p:spPr>
          <a:xfrm>
            <a:off x="4893469" y="3342605"/>
            <a:ext cx="2716531" cy="1308943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100" b="1" dirty="0"/>
              <a:t>课本不同</a:t>
            </a:r>
            <a:endParaRPr lang="en-US" altLang="zh-CN" sz="2100" b="1" dirty="0"/>
          </a:p>
          <a:p>
            <a:pPr algn="ctr">
              <a:lnSpc>
                <a:spcPct val="150000"/>
              </a:lnSpc>
            </a:pPr>
            <a:r>
              <a:rPr lang="zh-CN" altLang="en-US" sz="2100" b="1" dirty="0"/>
              <a:t>字母不同</a:t>
            </a:r>
          </a:p>
        </p:txBody>
      </p:sp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255133"/>
              </p:ext>
            </p:extLst>
          </p:nvPr>
        </p:nvGraphicFramePr>
        <p:xfrm>
          <a:off x="6474025" y="706041"/>
          <a:ext cx="1051322" cy="73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2" name="Equation" r:id="rId11" imgW="545760" imgH="393480" progId="Equation.DSMT4">
                  <p:embed/>
                </p:oleObj>
              </mc:Choice>
              <mc:Fallback>
                <p:oleObj name="Equation" r:id="rId11" imgW="545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4025" y="706041"/>
                        <a:ext cx="1051322" cy="735806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4714400" y="2175390"/>
            <a:ext cx="289560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理想气体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物态方程一</a:t>
            </a:r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750695"/>
              </p:ext>
            </p:extLst>
          </p:nvPr>
        </p:nvGraphicFramePr>
        <p:xfrm>
          <a:off x="3141107" y="1999774"/>
          <a:ext cx="1100138" cy="73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3" name="Equation" r:id="rId13" imgW="571320" imgH="393480" progId="Equation.DSMT4">
                  <p:embed/>
                </p:oleObj>
              </mc:Choice>
              <mc:Fallback>
                <p:oleObj name="Equation" r:id="rId13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107" y="1999774"/>
                        <a:ext cx="1100138" cy="735806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820" grpId="0"/>
      <p:bldP spid="17" grpId="0"/>
      <p:bldP spid="4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06473"/>
              </p:ext>
            </p:extLst>
          </p:nvPr>
        </p:nvGraphicFramePr>
        <p:xfrm>
          <a:off x="1503760" y="3167065"/>
          <a:ext cx="3289221" cy="830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" name="Equation" r:id="rId4" imgW="1701720" imgH="431640" progId="Equation.DSMT4">
                  <p:embed/>
                </p:oleObj>
              </mc:Choice>
              <mc:Fallback>
                <p:oleObj name="Equation" r:id="rId4" imgW="170172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760" y="3167065"/>
                        <a:ext cx="3289221" cy="83093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4934745" y="3337452"/>
            <a:ext cx="20092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080808"/>
                </a:solidFill>
                <a:latin typeface="Times New Roman" pitchFamily="18" charset="0"/>
              </a:rPr>
              <a:t>玻耳兹曼常数</a:t>
            </a:r>
            <a:endParaRPr kumimoji="1" lang="en-US" altLang="zh-CN" sz="2100" b="1" dirty="0">
              <a:latin typeface="Times New Roman" pitchFamily="18" charset="0"/>
            </a:endParaRPr>
          </a:p>
        </p:txBody>
      </p:sp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2543352" y="2507425"/>
            <a:ext cx="299209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080808"/>
                </a:solidFill>
                <a:latin typeface="Times New Roman" pitchFamily="18" charset="0"/>
              </a:rPr>
              <a:t>为气体分子数密度</a:t>
            </a:r>
            <a:endParaRPr kumimoji="1" lang="en-US" altLang="zh-CN" sz="2100" b="1" dirty="0">
              <a:latin typeface="Times New Roman" pitchFamily="18" charset="0"/>
            </a:endParaRP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513285" y="4209414"/>
            <a:ext cx="4545806" cy="479822"/>
            <a:chOff x="-248" y="1433"/>
            <a:chExt cx="3818" cy="403"/>
          </a:xfrm>
        </p:grpSpPr>
        <p:sp>
          <p:nvSpPr>
            <p:cNvPr id="7177" name="Rectangle 8"/>
            <p:cNvSpPr>
              <a:spLocks noChangeArrowheads="1"/>
            </p:cNvSpPr>
            <p:nvPr/>
          </p:nvSpPr>
          <p:spPr bwMode="auto">
            <a:xfrm>
              <a:off x="873" y="1433"/>
              <a:ext cx="269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CC"/>
                  </a:solidFill>
                  <a:latin typeface="Times New Roman" pitchFamily="18" charset="0"/>
                </a:rPr>
                <a:t>理想气体</a:t>
              </a:r>
              <a:r>
                <a:rPr kumimoji="1" lang="zh-CN" altLang="en-US" sz="2100" b="1" dirty="0">
                  <a:solidFill>
                    <a:srgbClr val="0000FF"/>
                  </a:solidFill>
                  <a:latin typeface="Times New Roman" pitchFamily="18" charset="0"/>
                </a:rPr>
                <a:t>物态方程二</a:t>
              </a:r>
            </a:p>
          </p:txBody>
        </p:sp>
        <p:graphicFrame>
          <p:nvGraphicFramePr>
            <p:cNvPr id="717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878026"/>
                </p:ext>
              </p:extLst>
            </p:nvPr>
          </p:nvGraphicFramePr>
          <p:xfrm>
            <a:off x="-248" y="1446"/>
            <a:ext cx="998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9" name="Equation" r:id="rId6" imgW="545760" imgH="203040" progId="Equation.DSMT4">
                    <p:embed/>
                  </p:oleObj>
                </mc:Choice>
                <mc:Fallback>
                  <p:oleObj name="Equation" r:id="rId6" imgW="545760" imgH="20304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48" y="1446"/>
                          <a:ext cx="998" cy="371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242963"/>
              </p:ext>
            </p:extLst>
          </p:nvPr>
        </p:nvGraphicFramePr>
        <p:xfrm>
          <a:off x="6408204" y="980424"/>
          <a:ext cx="1359694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" name="Equation" r:id="rId8" imgW="571320" imgH="177480" progId="Equation.DSMT4">
                  <p:embed/>
                </p:oleObj>
              </mc:Choice>
              <mc:Fallback>
                <p:oleObj name="Equation" r:id="rId8" imgW="571320" imgH="1774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204" y="980424"/>
                        <a:ext cx="1359694" cy="4238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960074"/>
              </p:ext>
            </p:extLst>
          </p:nvPr>
        </p:nvGraphicFramePr>
        <p:xfrm>
          <a:off x="6382848" y="1574490"/>
          <a:ext cx="1483519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1" name="公式" r:id="rId10" imgW="609480" imgH="203040" progId="Equation.3">
                  <p:embed/>
                </p:oleObj>
              </mc:Choice>
              <mc:Fallback>
                <p:oleObj name="公式" r:id="rId10" imgW="609480" imgH="2030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2848" y="1574490"/>
                        <a:ext cx="1483519" cy="495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823095"/>
              </p:ext>
            </p:extLst>
          </p:nvPr>
        </p:nvGraphicFramePr>
        <p:xfrm>
          <a:off x="1513285" y="1208485"/>
          <a:ext cx="1608183" cy="793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2" name="Equation" r:id="rId12" imgW="774360" imgH="393480" progId="Equation.DSMT4">
                  <p:embed/>
                </p:oleObj>
              </mc:Choice>
              <mc:Fallback>
                <p:oleObj name="Equation" r:id="rId12" imgW="77436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285" y="1208485"/>
                        <a:ext cx="1608183" cy="793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79426"/>
              </p:ext>
            </p:extLst>
          </p:nvPr>
        </p:nvGraphicFramePr>
        <p:xfrm>
          <a:off x="1513285" y="182283"/>
          <a:ext cx="2449115" cy="751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3" name="Equation" r:id="rId14" imgW="1244520" imgH="393480" progId="Equation.DSMT4">
                  <p:embed/>
                </p:oleObj>
              </mc:Choice>
              <mc:Fallback>
                <p:oleObj name="Equation" r:id="rId14" imgW="1244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285" y="182283"/>
                        <a:ext cx="2449115" cy="75173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CC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32986"/>
              </p:ext>
            </p:extLst>
          </p:nvPr>
        </p:nvGraphicFramePr>
        <p:xfrm>
          <a:off x="3255169" y="1208485"/>
          <a:ext cx="1423511" cy="869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4" name="Equation" r:id="rId16" imgW="685800" imgH="431640" progId="Equation.DSMT4">
                  <p:embed/>
                </p:oleObj>
              </mc:Choice>
              <mc:Fallback>
                <p:oleObj name="Equation" r:id="rId16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169" y="1208485"/>
                        <a:ext cx="1423511" cy="869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任意多边形 2"/>
          <p:cNvSpPr/>
          <p:nvPr/>
        </p:nvSpPr>
        <p:spPr>
          <a:xfrm>
            <a:off x="2110740" y="1146810"/>
            <a:ext cx="514350" cy="923925"/>
          </a:xfrm>
          <a:custGeom>
            <a:avLst/>
            <a:gdLst>
              <a:gd name="connsiteX0" fmla="*/ 0 w 685800"/>
              <a:gd name="connsiteY0" fmla="*/ 266700 h 1231900"/>
              <a:gd name="connsiteX1" fmla="*/ 88900 w 685800"/>
              <a:gd name="connsiteY1" fmla="*/ 393700 h 1231900"/>
              <a:gd name="connsiteX2" fmla="*/ 139700 w 685800"/>
              <a:gd name="connsiteY2" fmla="*/ 469900 h 1231900"/>
              <a:gd name="connsiteX3" fmla="*/ 165100 w 685800"/>
              <a:gd name="connsiteY3" fmla="*/ 508000 h 1231900"/>
              <a:gd name="connsiteX4" fmla="*/ 190500 w 685800"/>
              <a:gd name="connsiteY4" fmla="*/ 584200 h 1231900"/>
              <a:gd name="connsiteX5" fmla="*/ 203200 w 685800"/>
              <a:gd name="connsiteY5" fmla="*/ 622300 h 1231900"/>
              <a:gd name="connsiteX6" fmla="*/ 215900 w 685800"/>
              <a:gd name="connsiteY6" fmla="*/ 698500 h 1231900"/>
              <a:gd name="connsiteX7" fmla="*/ 228600 w 685800"/>
              <a:gd name="connsiteY7" fmla="*/ 1028700 h 1231900"/>
              <a:gd name="connsiteX8" fmla="*/ 254000 w 685800"/>
              <a:gd name="connsiteY8" fmla="*/ 1104900 h 1231900"/>
              <a:gd name="connsiteX9" fmla="*/ 292100 w 685800"/>
              <a:gd name="connsiteY9" fmla="*/ 1143000 h 1231900"/>
              <a:gd name="connsiteX10" fmla="*/ 381000 w 685800"/>
              <a:gd name="connsiteY10" fmla="*/ 1231900 h 1231900"/>
              <a:gd name="connsiteX11" fmla="*/ 469900 w 685800"/>
              <a:gd name="connsiteY11" fmla="*/ 1206500 h 1231900"/>
              <a:gd name="connsiteX12" fmla="*/ 520700 w 685800"/>
              <a:gd name="connsiteY12" fmla="*/ 1181100 h 1231900"/>
              <a:gd name="connsiteX13" fmla="*/ 596900 w 685800"/>
              <a:gd name="connsiteY13" fmla="*/ 1130300 h 1231900"/>
              <a:gd name="connsiteX14" fmla="*/ 622300 w 685800"/>
              <a:gd name="connsiteY14" fmla="*/ 1041400 h 1231900"/>
              <a:gd name="connsiteX15" fmla="*/ 647700 w 685800"/>
              <a:gd name="connsiteY15" fmla="*/ 965200 h 1231900"/>
              <a:gd name="connsiteX16" fmla="*/ 660400 w 685800"/>
              <a:gd name="connsiteY16" fmla="*/ 927100 h 1231900"/>
              <a:gd name="connsiteX17" fmla="*/ 673100 w 685800"/>
              <a:gd name="connsiteY17" fmla="*/ 787400 h 1231900"/>
              <a:gd name="connsiteX18" fmla="*/ 685800 w 685800"/>
              <a:gd name="connsiteY18" fmla="*/ 749300 h 1231900"/>
              <a:gd name="connsiteX19" fmla="*/ 673100 w 685800"/>
              <a:gd name="connsiteY19" fmla="*/ 304800 h 1231900"/>
              <a:gd name="connsiteX20" fmla="*/ 635000 w 685800"/>
              <a:gd name="connsiteY20" fmla="*/ 152400 h 1231900"/>
              <a:gd name="connsiteX21" fmla="*/ 622300 w 685800"/>
              <a:gd name="connsiteY21" fmla="*/ 114300 h 1231900"/>
              <a:gd name="connsiteX22" fmla="*/ 609600 w 685800"/>
              <a:gd name="connsiteY22" fmla="*/ 76200 h 1231900"/>
              <a:gd name="connsiteX23" fmla="*/ 546100 w 685800"/>
              <a:gd name="connsiteY23" fmla="*/ 0 h 1231900"/>
              <a:gd name="connsiteX24" fmla="*/ 355600 w 685800"/>
              <a:gd name="connsiteY24" fmla="*/ 12700 h 1231900"/>
              <a:gd name="connsiteX25" fmla="*/ 266700 w 685800"/>
              <a:gd name="connsiteY25" fmla="*/ 50800 h 1231900"/>
              <a:gd name="connsiteX26" fmla="*/ 215900 w 685800"/>
              <a:gd name="connsiteY26" fmla="*/ 63500 h 1231900"/>
              <a:gd name="connsiteX27" fmla="*/ 139700 w 685800"/>
              <a:gd name="connsiteY27" fmla="*/ 114300 h 1231900"/>
              <a:gd name="connsiteX28" fmla="*/ 101600 w 685800"/>
              <a:gd name="connsiteY28" fmla="*/ 139700 h 1231900"/>
              <a:gd name="connsiteX29" fmla="*/ 76200 w 685800"/>
              <a:gd name="connsiteY29" fmla="*/ 177800 h 1231900"/>
              <a:gd name="connsiteX30" fmla="*/ 50800 w 685800"/>
              <a:gd name="connsiteY30" fmla="*/ 2540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85800" h="1231900">
                <a:moveTo>
                  <a:pt x="0" y="266700"/>
                </a:moveTo>
                <a:cubicBezTo>
                  <a:pt x="158108" y="393186"/>
                  <a:pt x="-17869" y="233547"/>
                  <a:pt x="88900" y="393700"/>
                </a:cubicBezTo>
                <a:lnTo>
                  <a:pt x="139700" y="469900"/>
                </a:lnTo>
                <a:cubicBezTo>
                  <a:pt x="148167" y="482600"/>
                  <a:pt x="160273" y="493520"/>
                  <a:pt x="165100" y="508000"/>
                </a:cubicBezTo>
                <a:lnTo>
                  <a:pt x="190500" y="584200"/>
                </a:lnTo>
                <a:cubicBezTo>
                  <a:pt x="194733" y="596900"/>
                  <a:pt x="200999" y="609095"/>
                  <a:pt x="203200" y="622300"/>
                </a:cubicBezTo>
                <a:lnTo>
                  <a:pt x="215900" y="698500"/>
                </a:lnTo>
                <a:cubicBezTo>
                  <a:pt x="220133" y="808567"/>
                  <a:pt x="218319" y="919033"/>
                  <a:pt x="228600" y="1028700"/>
                </a:cubicBezTo>
                <a:cubicBezTo>
                  <a:pt x="231099" y="1055357"/>
                  <a:pt x="235068" y="1085968"/>
                  <a:pt x="254000" y="1104900"/>
                </a:cubicBezTo>
                <a:cubicBezTo>
                  <a:pt x="266700" y="1117600"/>
                  <a:pt x="281073" y="1128823"/>
                  <a:pt x="292100" y="1143000"/>
                </a:cubicBezTo>
                <a:cubicBezTo>
                  <a:pt x="363427" y="1234706"/>
                  <a:pt x="308194" y="1207631"/>
                  <a:pt x="381000" y="1231900"/>
                </a:cubicBezTo>
                <a:cubicBezTo>
                  <a:pt x="406779" y="1225455"/>
                  <a:pt x="444393" y="1217432"/>
                  <a:pt x="469900" y="1206500"/>
                </a:cubicBezTo>
                <a:cubicBezTo>
                  <a:pt x="487301" y="1199042"/>
                  <a:pt x="504466" y="1190840"/>
                  <a:pt x="520700" y="1181100"/>
                </a:cubicBezTo>
                <a:cubicBezTo>
                  <a:pt x="546877" y="1165394"/>
                  <a:pt x="596900" y="1130300"/>
                  <a:pt x="596900" y="1130300"/>
                </a:cubicBezTo>
                <a:cubicBezTo>
                  <a:pt x="639581" y="1002257"/>
                  <a:pt x="574460" y="1200868"/>
                  <a:pt x="622300" y="1041400"/>
                </a:cubicBezTo>
                <a:cubicBezTo>
                  <a:pt x="629993" y="1015755"/>
                  <a:pt x="639233" y="990600"/>
                  <a:pt x="647700" y="965200"/>
                </a:cubicBezTo>
                <a:lnTo>
                  <a:pt x="660400" y="927100"/>
                </a:lnTo>
                <a:cubicBezTo>
                  <a:pt x="664633" y="880533"/>
                  <a:pt x="666487" y="833689"/>
                  <a:pt x="673100" y="787400"/>
                </a:cubicBezTo>
                <a:cubicBezTo>
                  <a:pt x="674993" y="774148"/>
                  <a:pt x="685800" y="762687"/>
                  <a:pt x="685800" y="749300"/>
                </a:cubicBezTo>
                <a:cubicBezTo>
                  <a:pt x="685800" y="601073"/>
                  <a:pt x="680322" y="452851"/>
                  <a:pt x="673100" y="304800"/>
                </a:cubicBezTo>
                <a:cubicBezTo>
                  <a:pt x="670168" y="244700"/>
                  <a:pt x="653810" y="208829"/>
                  <a:pt x="635000" y="152400"/>
                </a:cubicBezTo>
                <a:lnTo>
                  <a:pt x="622300" y="114300"/>
                </a:lnTo>
                <a:cubicBezTo>
                  <a:pt x="618067" y="101600"/>
                  <a:pt x="619066" y="85666"/>
                  <a:pt x="609600" y="76200"/>
                </a:cubicBezTo>
                <a:cubicBezTo>
                  <a:pt x="560707" y="27307"/>
                  <a:pt x="581463" y="53044"/>
                  <a:pt x="546100" y="0"/>
                </a:cubicBezTo>
                <a:cubicBezTo>
                  <a:pt x="482600" y="4233"/>
                  <a:pt x="418891" y="6038"/>
                  <a:pt x="355600" y="12700"/>
                </a:cubicBezTo>
                <a:cubicBezTo>
                  <a:pt x="275047" y="21179"/>
                  <a:pt x="332392" y="22646"/>
                  <a:pt x="266700" y="50800"/>
                </a:cubicBezTo>
                <a:cubicBezTo>
                  <a:pt x="250657" y="57676"/>
                  <a:pt x="232833" y="59267"/>
                  <a:pt x="215900" y="63500"/>
                </a:cubicBezTo>
                <a:lnTo>
                  <a:pt x="139700" y="114300"/>
                </a:lnTo>
                <a:lnTo>
                  <a:pt x="101600" y="139700"/>
                </a:lnTo>
                <a:cubicBezTo>
                  <a:pt x="93133" y="152400"/>
                  <a:pt x="82399" y="163852"/>
                  <a:pt x="76200" y="177800"/>
                </a:cubicBezTo>
                <a:cubicBezTo>
                  <a:pt x="65326" y="202266"/>
                  <a:pt x="50800" y="254000"/>
                  <a:pt x="50800" y="2540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3467100" y="1017270"/>
            <a:ext cx="549822" cy="1009650"/>
          </a:xfrm>
          <a:custGeom>
            <a:avLst/>
            <a:gdLst>
              <a:gd name="connsiteX0" fmla="*/ 254000 w 733096"/>
              <a:gd name="connsiteY0" fmla="*/ 190500 h 1346200"/>
              <a:gd name="connsiteX1" fmla="*/ 228600 w 733096"/>
              <a:gd name="connsiteY1" fmla="*/ 254000 h 1346200"/>
              <a:gd name="connsiteX2" fmla="*/ 215900 w 733096"/>
              <a:gd name="connsiteY2" fmla="*/ 292100 h 1346200"/>
              <a:gd name="connsiteX3" fmla="*/ 190500 w 733096"/>
              <a:gd name="connsiteY3" fmla="*/ 330200 h 1346200"/>
              <a:gd name="connsiteX4" fmla="*/ 177800 w 733096"/>
              <a:gd name="connsiteY4" fmla="*/ 368300 h 1346200"/>
              <a:gd name="connsiteX5" fmla="*/ 152400 w 733096"/>
              <a:gd name="connsiteY5" fmla="*/ 406400 h 1346200"/>
              <a:gd name="connsiteX6" fmla="*/ 114300 w 733096"/>
              <a:gd name="connsiteY6" fmla="*/ 520700 h 1346200"/>
              <a:gd name="connsiteX7" fmla="*/ 101600 w 733096"/>
              <a:gd name="connsiteY7" fmla="*/ 558800 h 1346200"/>
              <a:gd name="connsiteX8" fmla="*/ 76200 w 733096"/>
              <a:gd name="connsiteY8" fmla="*/ 596900 h 1346200"/>
              <a:gd name="connsiteX9" fmla="*/ 38100 w 733096"/>
              <a:gd name="connsiteY9" fmla="*/ 736600 h 1346200"/>
              <a:gd name="connsiteX10" fmla="*/ 25400 w 733096"/>
              <a:gd name="connsiteY10" fmla="*/ 838200 h 1346200"/>
              <a:gd name="connsiteX11" fmla="*/ 12700 w 733096"/>
              <a:gd name="connsiteY11" fmla="*/ 914400 h 1346200"/>
              <a:gd name="connsiteX12" fmla="*/ 0 w 733096"/>
              <a:gd name="connsiteY12" fmla="*/ 1028700 h 1346200"/>
              <a:gd name="connsiteX13" fmla="*/ 38100 w 733096"/>
              <a:gd name="connsiteY13" fmla="*/ 1257300 h 1346200"/>
              <a:gd name="connsiteX14" fmla="*/ 76200 w 733096"/>
              <a:gd name="connsiteY14" fmla="*/ 1333500 h 1346200"/>
              <a:gd name="connsiteX15" fmla="*/ 114300 w 733096"/>
              <a:gd name="connsiteY15" fmla="*/ 1346200 h 1346200"/>
              <a:gd name="connsiteX16" fmla="*/ 190500 w 733096"/>
              <a:gd name="connsiteY16" fmla="*/ 1333500 h 1346200"/>
              <a:gd name="connsiteX17" fmla="*/ 228600 w 733096"/>
              <a:gd name="connsiteY17" fmla="*/ 1308100 h 1346200"/>
              <a:gd name="connsiteX18" fmla="*/ 317500 w 733096"/>
              <a:gd name="connsiteY18" fmla="*/ 1193800 h 1346200"/>
              <a:gd name="connsiteX19" fmla="*/ 330200 w 733096"/>
              <a:gd name="connsiteY19" fmla="*/ 1155700 h 1346200"/>
              <a:gd name="connsiteX20" fmla="*/ 355600 w 733096"/>
              <a:gd name="connsiteY20" fmla="*/ 1117600 h 1346200"/>
              <a:gd name="connsiteX21" fmla="*/ 381000 w 733096"/>
              <a:gd name="connsiteY21" fmla="*/ 1041400 h 1346200"/>
              <a:gd name="connsiteX22" fmla="*/ 393700 w 733096"/>
              <a:gd name="connsiteY22" fmla="*/ 1003300 h 1346200"/>
              <a:gd name="connsiteX23" fmla="*/ 406400 w 733096"/>
              <a:gd name="connsiteY23" fmla="*/ 965200 h 1346200"/>
              <a:gd name="connsiteX24" fmla="*/ 457200 w 733096"/>
              <a:gd name="connsiteY24" fmla="*/ 889000 h 1346200"/>
              <a:gd name="connsiteX25" fmla="*/ 520700 w 733096"/>
              <a:gd name="connsiteY25" fmla="*/ 774700 h 1346200"/>
              <a:gd name="connsiteX26" fmla="*/ 571500 w 733096"/>
              <a:gd name="connsiteY26" fmla="*/ 698500 h 1346200"/>
              <a:gd name="connsiteX27" fmla="*/ 596900 w 733096"/>
              <a:gd name="connsiteY27" fmla="*/ 660400 h 1346200"/>
              <a:gd name="connsiteX28" fmla="*/ 609600 w 733096"/>
              <a:gd name="connsiteY28" fmla="*/ 622300 h 1346200"/>
              <a:gd name="connsiteX29" fmla="*/ 673100 w 733096"/>
              <a:gd name="connsiteY29" fmla="*/ 533400 h 1346200"/>
              <a:gd name="connsiteX30" fmla="*/ 711200 w 733096"/>
              <a:gd name="connsiteY30" fmla="*/ 457200 h 1346200"/>
              <a:gd name="connsiteX31" fmla="*/ 711200 w 733096"/>
              <a:gd name="connsiteY31" fmla="*/ 139700 h 1346200"/>
              <a:gd name="connsiteX32" fmla="*/ 660400 w 733096"/>
              <a:gd name="connsiteY32" fmla="*/ 63500 h 1346200"/>
              <a:gd name="connsiteX33" fmla="*/ 635000 w 733096"/>
              <a:gd name="connsiteY33" fmla="*/ 25400 h 1346200"/>
              <a:gd name="connsiteX34" fmla="*/ 546100 w 733096"/>
              <a:gd name="connsiteY34" fmla="*/ 0 h 1346200"/>
              <a:gd name="connsiteX35" fmla="*/ 482600 w 733096"/>
              <a:gd name="connsiteY35" fmla="*/ 12700 h 1346200"/>
              <a:gd name="connsiteX36" fmla="*/ 355600 w 733096"/>
              <a:gd name="connsiteY36" fmla="*/ 88900 h 1346200"/>
              <a:gd name="connsiteX37" fmla="*/ 279400 w 733096"/>
              <a:gd name="connsiteY37" fmla="*/ 152400 h 1346200"/>
              <a:gd name="connsiteX38" fmla="*/ 254000 w 733096"/>
              <a:gd name="connsiteY38" fmla="*/ 190500 h 134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733096" h="1346200">
                <a:moveTo>
                  <a:pt x="254000" y="190500"/>
                </a:moveTo>
                <a:cubicBezTo>
                  <a:pt x="245533" y="207433"/>
                  <a:pt x="236605" y="232654"/>
                  <a:pt x="228600" y="254000"/>
                </a:cubicBezTo>
                <a:cubicBezTo>
                  <a:pt x="223900" y="266535"/>
                  <a:pt x="221887" y="280126"/>
                  <a:pt x="215900" y="292100"/>
                </a:cubicBezTo>
                <a:cubicBezTo>
                  <a:pt x="209074" y="305752"/>
                  <a:pt x="197326" y="316548"/>
                  <a:pt x="190500" y="330200"/>
                </a:cubicBezTo>
                <a:cubicBezTo>
                  <a:pt x="184513" y="342174"/>
                  <a:pt x="183787" y="356326"/>
                  <a:pt x="177800" y="368300"/>
                </a:cubicBezTo>
                <a:cubicBezTo>
                  <a:pt x="170974" y="381952"/>
                  <a:pt x="158599" y="392452"/>
                  <a:pt x="152400" y="406400"/>
                </a:cubicBezTo>
                <a:lnTo>
                  <a:pt x="114300" y="520700"/>
                </a:lnTo>
                <a:cubicBezTo>
                  <a:pt x="110067" y="533400"/>
                  <a:pt x="109026" y="547661"/>
                  <a:pt x="101600" y="558800"/>
                </a:cubicBezTo>
                <a:lnTo>
                  <a:pt x="76200" y="596900"/>
                </a:lnTo>
                <a:cubicBezTo>
                  <a:pt x="47553" y="711487"/>
                  <a:pt x="61839" y="665382"/>
                  <a:pt x="38100" y="736600"/>
                </a:cubicBezTo>
                <a:cubicBezTo>
                  <a:pt x="33867" y="770467"/>
                  <a:pt x="30227" y="804413"/>
                  <a:pt x="25400" y="838200"/>
                </a:cubicBezTo>
                <a:cubicBezTo>
                  <a:pt x="21758" y="863692"/>
                  <a:pt x="16103" y="888876"/>
                  <a:pt x="12700" y="914400"/>
                </a:cubicBezTo>
                <a:cubicBezTo>
                  <a:pt x="7634" y="952398"/>
                  <a:pt x="4233" y="990600"/>
                  <a:pt x="0" y="1028700"/>
                </a:cubicBezTo>
                <a:cubicBezTo>
                  <a:pt x="14923" y="1207781"/>
                  <a:pt x="-3420" y="1132740"/>
                  <a:pt x="38100" y="1257300"/>
                </a:cubicBezTo>
                <a:cubicBezTo>
                  <a:pt x="46466" y="1282399"/>
                  <a:pt x="53819" y="1315595"/>
                  <a:pt x="76200" y="1333500"/>
                </a:cubicBezTo>
                <a:cubicBezTo>
                  <a:pt x="86653" y="1341863"/>
                  <a:pt x="101600" y="1341967"/>
                  <a:pt x="114300" y="1346200"/>
                </a:cubicBezTo>
                <a:cubicBezTo>
                  <a:pt x="139700" y="1341967"/>
                  <a:pt x="166071" y="1341643"/>
                  <a:pt x="190500" y="1333500"/>
                </a:cubicBezTo>
                <a:cubicBezTo>
                  <a:pt x="204980" y="1328673"/>
                  <a:pt x="216874" y="1317871"/>
                  <a:pt x="228600" y="1308100"/>
                </a:cubicBezTo>
                <a:cubicBezTo>
                  <a:pt x="258945" y="1282813"/>
                  <a:pt x="306607" y="1226478"/>
                  <a:pt x="317500" y="1193800"/>
                </a:cubicBezTo>
                <a:cubicBezTo>
                  <a:pt x="321733" y="1181100"/>
                  <a:pt x="324213" y="1167674"/>
                  <a:pt x="330200" y="1155700"/>
                </a:cubicBezTo>
                <a:cubicBezTo>
                  <a:pt x="337026" y="1142048"/>
                  <a:pt x="349401" y="1131548"/>
                  <a:pt x="355600" y="1117600"/>
                </a:cubicBezTo>
                <a:cubicBezTo>
                  <a:pt x="366474" y="1093134"/>
                  <a:pt x="372533" y="1066800"/>
                  <a:pt x="381000" y="1041400"/>
                </a:cubicBezTo>
                <a:lnTo>
                  <a:pt x="393700" y="1003300"/>
                </a:lnTo>
                <a:cubicBezTo>
                  <a:pt x="397933" y="990600"/>
                  <a:pt x="398974" y="976339"/>
                  <a:pt x="406400" y="965200"/>
                </a:cubicBezTo>
                <a:cubicBezTo>
                  <a:pt x="423333" y="939800"/>
                  <a:pt x="447547" y="917960"/>
                  <a:pt x="457200" y="889000"/>
                </a:cubicBezTo>
                <a:cubicBezTo>
                  <a:pt x="479553" y="821940"/>
                  <a:pt x="462474" y="862039"/>
                  <a:pt x="520700" y="774700"/>
                </a:cubicBezTo>
                <a:lnTo>
                  <a:pt x="571500" y="698500"/>
                </a:lnTo>
                <a:cubicBezTo>
                  <a:pt x="579967" y="685800"/>
                  <a:pt x="592073" y="674880"/>
                  <a:pt x="596900" y="660400"/>
                </a:cubicBezTo>
                <a:cubicBezTo>
                  <a:pt x="601133" y="647700"/>
                  <a:pt x="602958" y="633923"/>
                  <a:pt x="609600" y="622300"/>
                </a:cubicBezTo>
                <a:cubicBezTo>
                  <a:pt x="632611" y="582031"/>
                  <a:pt x="653444" y="572712"/>
                  <a:pt x="673100" y="533400"/>
                </a:cubicBezTo>
                <a:cubicBezTo>
                  <a:pt x="725680" y="428240"/>
                  <a:pt x="638407" y="566389"/>
                  <a:pt x="711200" y="457200"/>
                </a:cubicBezTo>
                <a:cubicBezTo>
                  <a:pt x="735435" y="336026"/>
                  <a:pt x="744969" y="315301"/>
                  <a:pt x="711200" y="139700"/>
                </a:cubicBezTo>
                <a:cubicBezTo>
                  <a:pt x="705435" y="109722"/>
                  <a:pt x="677333" y="88900"/>
                  <a:pt x="660400" y="63500"/>
                </a:cubicBezTo>
                <a:cubicBezTo>
                  <a:pt x="651933" y="50800"/>
                  <a:pt x="649808" y="29102"/>
                  <a:pt x="635000" y="25400"/>
                </a:cubicBezTo>
                <a:cubicBezTo>
                  <a:pt x="571213" y="9453"/>
                  <a:pt x="600759" y="18220"/>
                  <a:pt x="546100" y="0"/>
                </a:cubicBezTo>
                <a:cubicBezTo>
                  <a:pt x="524933" y="4233"/>
                  <a:pt x="503078" y="5874"/>
                  <a:pt x="482600" y="12700"/>
                </a:cubicBezTo>
                <a:cubicBezTo>
                  <a:pt x="452535" y="22722"/>
                  <a:pt x="370091" y="74409"/>
                  <a:pt x="355600" y="88900"/>
                </a:cubicBezTo>
                <a:cubicBezTo>
                  <a:pt x="306707" y="137793"/>
                  <a:pt x="332444" y="117037"/>
                  <a:pt x="279400" y="152400"/>
                </a:cubicBezTo>
                <a:cubicBezTo>
                  <a:pt x="262914" y="201859"/>
                  <a:pt x="262467" y="173567"/>
                  <a:pt x="254000" y="190500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6330699" y="1000125"/>
            <a:ext cx="508503" cy="1104900"/>
          </a:xfrm>
          <a:custGeom>
            <a:avLst/>
            <a:gdLst>
              <a:gd name="connsiteX0" fmla="*/ 296668 w 678004"/>
              <a:gd name="connsiteY0" fmla="*/ 63500 h 1473200"/>
              <a:gd name="connsiteX1" fmla="*/ 436368 w 678004"/>
              <a:gd name="connsiteY1" fmla="*/ 25400 h 1473200"/>
              <a:gd name="connsiteX2" fmla="*/ 474468 w 678004"/>
              <a:gd name="connsiteY2" fmla="*/ 12700 h 1473200"/>
              <a:gd name="connsiteX3" fmla="*/ 512568 w 678004"/>
              <a:gd name="connsiteY3" fmla="*/ 0 h 1473200"/>
              <a:gd name="connsiteX4" fmla="*/ 664968 w 678004"/>
              <a:gd name="connsiteY4" fmla="*/ 12700 h 1473200"/>
              <a:gd name="connsiteX5" fmla="*/ 677668 w 678004"/>
              <a:gd name="connsiteY5" fmla="*/ 63500 h 1473200"/>
              <a:gd name="connsiteX6" fmla="*/ 664968 w 678004"/>
              <a:gd name="connsiteY6" fmla="*/ 457200 h 1473200"/>
              <a:gd name="connsiteX7" fmla="*/ 652268 w 678004"/>
              <a:gd name="connsiteY7" fmla="*/ 495300 h 1473200"/>
              <a:gd name="connsiteX8" fmla="*/ 639568 w 678004"/>
              <a:gd name="connsiteY8" fmla="*/ 558800 h 1473200"/>
              <a:gd name="connsiteX9" fmla="*/ 626868 w 678004"/>
              <a:gd name="connsiteY9" fmla="*/ 609600 h 1473200"/>
              <a:gd name="connsiteX10" fmla="*/ 614168 w 678004"/>
              <a:gd name="connsiteY10" fmla="*/ 711200 h 1473200"/>
              <a:gd name="connsiteX11" fmla="*/ 601468 w 678004"/>
              <a:gd name="connsiteY11" fmla="*/ 787400 h 1473200"/>
              <a:gd name="connsiteX12" fmla="*/ 588768 w 678004"/>
              <a:gd name="connsiteY12" fmla="*/ 850900 h 1473200"/>
              <a:gd name="connsiteX13" fmla="*/ 550668 w 678004"/>
              <a:gd name="connsiteY13" fmla="*/ 1130300 h 1473200"/>
              <a:gd name="connsiteX14" fmla="*/ 512568 w 678004"/>
              <a:gd name="connsiteY14" fmla="*/ 1270000 h 1473200"/>
              <a:gd name="connsiteX15" fmla="*/ 499868 w 678004"/>
              <a:gd name="connsiteY15" fmla="*/ 1308100 h 1473200"/>
              <a:gd name="connsiteX16" fmla="*/ 398268 w 678004"/>
              <a:gd name="connsiteY16" fmla="*/ 1422400 h 1473200"/>
              <a:gd name="connsiteX17" fmla="*/ 360168 w 678004"/>
              <a:gd name="connsiteY17" fmla="*/ 1447800 h 1473200"/>
              <a:gd name="connsiteX18" fmla="*/ 283968 w 678004"/>
              <a:gd name="connsiteY18" fmla="*/ 1473200 h 1473200"/>
              <a:gd name="connsiteX19" fmla="*/ 195068 w 678004"/>
              <a:gd name="connsiteY19" fmla="*/ 1460500 h 1473200"/>
              <a:gd name="connsiteX20" fmla="*/ 156968 w 678004"/>
              <a:gd name="connsiteY20" fmla="*/ 1422400 h 1473200"/>
              <a:gd name="connsiteX21" fmla="*/ 118868 w 678004"/>
              <a:gd name="connsiteY21" fmla="*/ 1397000 h 1473200"/>
              <a:gd name="connsiteX22" fmla="*/ 68068 w 678004"/>
              <a:gd name="connsiteY22" fmla="*/ 1320800 h 1473200"/>
              <a:gd name="connsiteX23" fmla="*/ 55368 w 678004"/>
              <a:gd name="connsiteY23" fmla="*/ 1282700 h 1473200"/>
              <a:gd name="connsiteX24" fmla="*/ 17268 w 678004"/>
              <a:gd name="connsiteY24" fmla="*/ 1206500 h 1473200"/>
              <a:gd name="connsiteX25" fmla="*/ 17268 w 678004"/>
              <a:gd name="connsiteY25" fmla="*/ 736600 h 1473200"/>
              <a:gd name="connsiteX26" fmla="*/ 55368 w 678004"/>
              <a:gd name="connsiteY26" fmla="*/ 584200 h 1473200"/>
              <a:gd name="connsiteX27" fmla="*/ 80768 w 678004"/>
              <a:gd name="connsiteY27" fmla="*/ 457200 h 1473200"/>
              <a:gd name="connsiteX28" fmla="*/ 131568 w 678004"/>
              <a:gd name="connsiteY28" fmla="*/ 317500 h 1473200"/>
              <a:gd name="connsiteX29" fmla="*/ 156968 w 678004"/>
              <a:gd name="connsiteY29" fmla="*/ 228600 h 1473200"/>
              <a:gd name="connsiteX30" fmla="*/ 207768 w 678004"/>
              <a:gd name="connsiteY30" fmla="*/ 1524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8004" h="1473200">
                <a:moveTo>
                  <a:pt x="296668" y="63500"/>
                </a:moveTo>
                <a:cubicBezTo>
                  <a:pt x="386422" y="45549"/>
                  <a:pt x="339690" y="57626"/>
                  <a:pt x="436368" y="25400"/>
                </a:cubicBezTo>
                <a:lnTo>
                  <a:pt x="474468" y="12700"/>
                </a:lnTo>
                <a:lnTo>
                  <a:pt x="512568" y="0"/>
                </a:lnTo>
                <a:cubicBezTo>
                  <a:pt x="563368" y="4233"/>
                  <a:pt x="617390" y="-5599"/>
                  <a:pt x="664968" y="12700"/>
                </a:cubicBezTo>
                <a:cubicBezTo>
                  <a:pt x="681259" y="18966"/>
                  <a:pt x="677668" y="46046"/>
                  <a:pt x="677668" y="63500"/>
                </a:cubicBezTo>
                <a:cubicBezTo>
                  <a:pt x="677668" y="194802"/>
                  <a:pt x="672678" y="326125"/>
                  <a:pt x="664968" y="457200"/>
                </a:cubicBezTo>
                <a:cubicBezTo>
                  <a:pt x="664182" y="470564"/>
                  <a:pt x="655515" y="482313"/>
                  <a:pt x="652268" y="495300"/>
                </a:cubicBezTo>
                <a:cubicBezTo>
                  <a:pt x="647033" y="516241"/>
                  <a:pt x="644251" y="537728"/>
                  <a:pt x="639568" y="558800"/>
                </a:cubicBezTo>
                <a:cubicBezTo>
                  <a:pt x="635782" y="575839"/>
                  <a:pt x="629737" y="592383"/>
                  <a:pt x="626868" y="609600"/>
                </a:cubicBezTo>
                <a:cubicBezTo>
                  <a:pt x="621257" y="643266"/>
                  <a:pt x="618995" y="677413"/>
                  <a:pt x="614168" y="711200"/>
                </a:cubicBezTo>
                <a:cubicBezTo>
                  <a:pt x="610526" y="736692"/>
                  <a:pt x="606074" y="762065"/>
                  <a:pt x="601468" y="787400"/>
                </a:cubicBezTo>
                <a:cubicBezTo>
                  <a:pt x="597607" y="808638"/>
                  <a:pt x="591621" y="829504"/>
                  <a:pt x="588768" y="850900"/>
                </a:cubicBezTo>
                <a:cubicBezTo>
                  <a:pt x="578881" y="925049"/>
                  <a:pt x="573453" y="1061944"/>
                  <a:pt x="550668" y="1130300"/>
                </a:cubicBezTo>
                <a:cubicBezTo>
                  <a:pt x="496177" y="1293774"/>
                  <a:pt x="548470" y="1126394"/>
                  <a:pt x="512568" y="1270000"/>
                </a:cubicBezTo>
                <a:cubicBezTo>
                  <a:pt x="509321" y="1282987"/>
                  <a:pt x="505855" y="1296126"/>
                  <a:pt x="499868" y="1308100"/>
                </a:cubicBezTo>
                <a:cubicBezTo>
                  <a:pt x="480781" y="1346274"/>
                  <a:pt x="423512" y="1405571"/>
                  <a:pt x="398268" y="1422400"/>
                </a:cubicBezTo>
                <a:cubicBezTo>
                  <a:pt x="385568" y="1430867"/>
                  <a:pt x="374116" y="1441601"/>
                  <a:pt x="360168" y="1447800"/>
                </a:cubicBezTo>
                <a:cubicBezTo>
                  <a:pt x="335702" y="1458674"/>
                  <a:pt x="283968" y="1473200"/>
                  <a:pt x="283968" y="1473200"/>
                </a:cubicBezTo>
                <a:cubicBezTo>
                  <a:pt x="254335" y="1468967"/>
                  <a:pt x="222861" y="1471617"/>
                  <a:pt x="195068" y="1460500"/>
                </a:cubicBezTo>
                <a:cubicBezTo>
                  <a:pt x="178392" y="1453830"/>
                  <a:pt x="170766" y="1433898"/>
                  <a:pt x="156968" y="1422400"/>
                </a:cubicBezTo>
                <a:cubicBezTo>
                  <a:pt x="145242" y="1412629"/>
                  <a:pt x="131568" y="1405467"/>
                  <a:pt x="118868" y="1397000"/>
                </a:cubicBezTo>
                <a:cubicBezTo>
                  <a:pt x="101935" y="1371600"/>
                  <a:pt x="77721" y="1349760"/>
                  <a:pt x="68068" y="1320800"/>
                </a:cubicBezTo>
                <a:cubicBezTo>
                  <a:pt x="63835" y="1308100"/>
                  <a:pt x="61355" y="1294674"/>
                  <a:pt x="55368" y="1282700"/>
                </a:cubicBezTo>
                <a:cubicBezTo>
                  <a:pt x="6129" y="1184223"/>
                  <a:pt x="49190" y="1302265"/>
                  <a:pt x="17268" y="1206500"/>
                </a:cubicBezTo>
                <a:cubicBezTo>
                  <a:pt x="-9141" y="995230"/>
                  <a:pt x="-2106" y="1095025"/>
                  <a:pt x="17268" y="736600"/>
                </a:cubicBezTo>
                <a:cubicBezTo>
                  <a:pt x="22740" y="635366"/>
                  <a:pt x="20016" y="654903"/>
                  <a:pt x="55368" y="584200"/>
                </a:cubicBezTo>
                <a:cubicBezTo>
                  <a:pt x="79874" y="412657"/>
                  <a:pt x="54169" y="554730"/>
                  <a:pt x="80768" y="457200"/>
                </a:cubicBezTo>
                <a:cubicBezTo>
                  <a:pt x="114347" y="334076"/>
                  <a:pt x="84846" y="387582"/>
                  <a:pt x="131568" y="317500"/>
                </a:cubicBezTo>
                <a:cubicBezTo>
                  <a:pt x="134557" y="305543"/>
                  <a:pt x="148686" y="243507"/>
                  <a:pt x="156968" y="228600"/>
                </a:cubicBezTo>
                <a:cubicBezTo>
                  <a:pt x="171793" y="201915"/>
                  <a:pt x="207768" y="152400"/>
                  <a:pt x="207768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7137777" y="952500"/>
            <a:ext cx="406024" cy="1143000"/>
          </a:xfrm>
          <a:custGeom>
            <a:avLst/>
            <a:gdLst>
              <a:gd name="connsiteX0" fmla="*/ 33365 w 541365"/>
              <a:gd name="connsiteY0" fmla="*/ 266700 h 1524000"/>
              <a:gd name="connsiteX1" fmla="*/ 46065 w 541365"/>
              <a:gd name="connsiteY1" fmla="*/ 139700 h 1524000"/>
              <a:gd name="connsiteX2" fmla="*/ 84165 w 541365"/>
              <a:gd name="connsiteY2" fmla="*/ 63500 h 1524000"/>
              <a:gd name="connsiteX3" fmla="*/ 134965 w 541365"/>
              <a:gd name="connsiteY3" fmla="*/ 38100 h 1524000"/>
              <a:gd name="connsiteX4" fmla="*/ 223865 w 541365"/>
              <a:gd name="connsiteY4" fmla="*/ 0 h 1524000"/>
              <a:gd name="connsiteX5" fmla="*/ 401665 w 541365"/>
              <a:gd name="connsiteY5" fmla="*/ 50800 h 1524000"/>
              <a:gd name="connsiteX6" fmla="*/ 414365 w 541365"/>
              <a:gd name="connsiteY6" fmla="*/ 88900 h 1524000"/>
              <a:gd name="connsiteX7" fmla="*/ 401665 w 541365"/>
              <a:gd name="connsiteY7" fmla="*/ 342900 h 1524000"/>
              <a:gd name="connsiteX8" fmla="*/ 388965 w 541365"/>
              <a:gd name="connsiteY8" fmla="*/ 381000 h 1524000"/>
              <a:gd name="connsiteX9" fmla="*/ 376265 w 541365"/>
              <a:gd name="connsiteY9" fmla="*/ 457200 h 1524000"/>
              <a:gd name="connsiteX10" fmla="*/ 388965 w 541365"/>
              <a:gd name="connsiteY10" fmla="*/ 1028700 h 1524000"/>
              <a:gd name="connsiteX11" fmla="*/ 452465 w 541365"/>
              <a:gd name="connsiteY11" fmla="*/ 1143000 h 1524000"/>
              <a:gd name="connsiteX12" fmla="*/ 490565 w 541365"/>
              <a:gd name="connsiteY12" fmla="*/ 1219200 h 1524000"/>
              <a:gd name="connsiteX13" fmla="*/ 503265 w 541365"/>
              <a:gd name="connsiteY13" fmla="*/ 1257300 h 1524000"/>
              <a:gd name="connsiteX14" fmla="*/ 541365 w 541365"/>
              <a:gd name="connsiteY14" fmla="*/ 1333500 h 1524000"/>
              <a:gd name="connsiteX15" fmla="*/ 503265 w 541365"/>
              <a:gd name="connsiteY15" fmla="*/ 1422400 h 1524000"/>
              <a:gd name="connsiteX16" fmla="*/ 388965 w 541365"/>
              <a:gd name="connsiteY16" fmla="*/ 1485900 h 1524000"/>
              <a:gd name="connsiteX17" fmla="*/ 287365 w 541365"/>
              <a:gd name="connsiteY17" fmla="*/ 1524000 h 1524000"/>
              <a:gd name="connsiteX18" fmla="*/ 160365 w 541365"/>
              <a:gd name="connsiteY18" fmla="*/ 1498600 h 1524000"/>
              <a:gd name="connsiteX19" fmla="*/ 84165 w 541365"/>
              <a:gd name="connsiteY19" fmla="*/ 1409700 h 1524000"/>
              <a:gd name="connsiteX20" fmla="*/ 58765 w 541365"/>
              <a:gd name="connsiteY20" fmla="*/ 1371600 h 1524000"/>
              <a:gd name="connsiteX21" fmla="*/ 33365 w 541365"/>
              <a:gd name="connsiteY21" fmla="*/ 1282700 h 1524000"/>
              <a:gd name="connsiteX22" fmla="*/ 20665 w 541365"/>
              <a:gd name="connsiteY22" fmla="*/ 1244600 h 1524000"/>
              <a:gd name="connsiteX23" fmla="*/ 20665 w 541365"/>
              <a:gd name="connsiteY23" fmla="*/ 596900 h 1524000"/>
              <a:gd name="connsiteX24" fmla="*/ 33365 w 541365"/>
              <a:gd name="connsiteY24" fmla="*/ 482600 h 1524000"/>
              <a:gd name="connsiteX25" fmla="*/ 58765 w 541365"/>
              <a:gd name="connsiteY25" fmla="*/ 355600 h 1524000"/>
              <a:gd name="connsiteX26" fmla="*/ 71465 w 541365"/>
              <a:gd name="connsiteY26" fmla="*/ 2159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41365" h="1524000">
                <a:moveTo>
                  <a:pt x="33365" y="266700"/>
                </a:moveTo>
                <a:cubicBezTo>
                  <a:pt x="37598" y="224367"/>
                  <a:pt x="39596" y="181750"/>
                  <a:pt x="46065" y="139700"/>
                </a:cubicBezTo>
                <a:cubicBezTo>
                  <a:pt x="49379" y="118157"/>
                  <a:pt x="67544" y="77351"/>
                  <a:pt x="84165" y="63500"/>
                </a:cubicBezTo>
                <a:cubicBezTo>
                  <a:pt x="98709" y="51380"/>
                  <a:pt x="118527" y="47493"/>
                  <a:pt x="134965" y="38100"/>
                </a:cubicBezTo>
                <a:cubicBezTo>
                  <a:pt x="203180" y="-880"/>
                  <a:pt x="140427" y="20859"/>
                  <a:pt x="223865" y="0"/>
                </a:cubicBezTo>
                <a:cubicBezTo>
                  <a:pt x="315712" y="8350"/>
                  <a:pt x="355753" y="-18068"/>
                  <a:pt x="401665" y="50800"/>
                </a:cubicBezTo>
                <a:cubicBezTo>
                  <a:pt x="409091" y="61939"/>
                  <a:pt x="410132" y="76200"/>
                  <a:pt x="414365" y="88900"/>
                </a:cubicBezTo>
                <a:cubicBezTo>
                  <a:pt x="410132" y="173567"/>
                  <a:pt x="409009" y="258446"/>
                  <a:pt x="401665" y="342900"/>
                </a:cubicBezTo>
                <a:cubicBezTo>
                  <a:pt x="400505" y="356237"/>
                  <a:pt x="391869" y="367932"/>
                  <a:pt x="388965" y="381000"/>
                </a:cubicBezTo>
                <a:cubicBezTo>
                  <a:pt x="383379" y="406137"/>
                  <a:pt x="380498" y="431800"/>
                  <a:pt x="376265" y="457200"/>
                </a:cubicBezTo>
                <a:cubicBezTo>
                  <a:pt x="380498" y="647700"/>
                  <a:pt x="381032" y="838318"/>
                  <a:pt x="388965" y="1028700"/>
                </a:cubicBezTo>
                <a:cubicBezTo>
                  <a:pt x="390789" y="1072472"/>
                  <a:pt x="441054" y="1108767"/>
                  <a:pt x="452465" y="1143000"/>
                </a:cubicBezTo>
                <a:cubicBezTo>
                  <a:pt x="484387" y="1238765"/>
                  <a:pt x="441326" y="1120723"/>
                  <a:pt x="490565" y="1219200"/>
                </a:cubicBezTo>
                <a:cubicBezTo>
                  <a:pt x="496552" y="1231174"/>
                  <a:pt x="497278" y="1245326"/>
                  <a:pt x="503265" y="1257300"/>
                </a:cubicBezTo>
                <a:cubicBezTo>
                  <a:pt x="552504" y="1355777"/>
                  <a:pt x="509443" y="1237735"/>
                  <a:pt x="541365" y="1333500"/>
                </a:cubicBezTo>
                <a:cubicBezTo>
                  <a:pt x="532987" y="1367014"/>
                  <a:pt x="531331" y="1397843"/>
                  <a:pt x="503265" y="1422400"/>
                </a:cubicBezTo>
                <a:cubicBezTo>
                  <a:pt x="396483" y="1515834"/>
                  <a:pt x="464552" y="1448106"/>
                  <a:pt x="388965" y="1485900"/>
                </a:cubicBezTo>
                <a:cubicBezTo>
                  <a:pt x="301760" y="1529503"/>
                  <a:pt x="409877" y="1499498"/>
                  <a:pt x="287365" y="1524000"/>
                </a:cubicBezTo>
                <a:cubicBezTo>
                  <a:pt x="279836" y="1522924"/>
                  <a:pt x="184546" y="1514721"/>
                  <a:pt x="160365" y="1498600"/>
                </a:cubicBezTo>
                <a:cubicBezTo>
                  <a:pt x="135190" y="1481816"/>
                  <a:pt x="100171" y="1432108"/>
                  <a:pt x="84165" y="1409700"/>
                </a:cubicBezTo>
                <a:cubicBezTo>
                  <a:pt x="75293" y="1397280"/>
                  <a:pt x="65591" y="1385252"/>
                  <a:pt x="58765" y="1371600"/>
                </a:cubicBezTo>
                <a:cubicBezTo>
                  <a:pt x="48615" y="1351300"/>
                  <a:pt x="38790" y="1301689"/>
                  <a:pt x="33365" y="1282700"/>
                </a:cubicBezTo>
                <a:cubicBezTo>
                  <a:pt x="29687" y="1269828"/>
                  <a:pt x="24898" y="1257300"/>
                  <a:pt x="20665" y="1244600"/>
                </a:cubicBezTo>
                <a:cubicBezTo>
                  <a:pt x="-13355" y="972441"/>
                  <a:pt x="425" y="1123147"/>
                  <a:pt x="20665" y="596900"/>
                </a:cubicBezTo>
                <a:cubicBezTo>
                  <a:pt x="22138" y="558594"/>
                  <a:pt x="28610" y="520638"/>
                  <a:pt x="33365" y="482600"/>
                </a:cubicBezTo>
                <a:cubicBezTo>
                  <a:pt x="45040" y="389203"/>
                  <a:pt x="37904" y="418182"/>
                  <a:pt x="58765" y="355600"/>
                </a:cubicBezTo>
                <a:cubicBezTo>
                  <a:pt x="71886" y="224388"/>
                  <a:pt x="71465" y="271144"/>
                  <a:pt x="71465" y="215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3688080" y="1165860"/>
            <a:ext cx="459209" cy="962025"/>
          </a:xfrm>
          <a:custGeom>
            <a:avLst/>
            <a:gdLst>
              <a:gd name="connsiteX0" fmla="*/ 38100 w 612278"/>
              <a:gd name="connsiteY0" fmla="*/ 203200 h 1282700"/>
              <a:gd name="connsiteX1" fmla="*/ 50800 w 612278"/>
              <a:gd name="connsiteY1" fmla="*/ 127000 h 1282700"/>
              <a:gd name="connsiteX2" fmla="*/ 114300 w 612278"/>
              <a:gd name="connsiteY2" fmla="*/ 50800 h 1282700"/>
              <a:gd name="connsiteX3" fmla="*/ 190500 w 612278"/>
              <a:gd name="connsiteY3" fmla="*/ 25400 h 1282700"/>
              <a:gd name="connsiteX4" fmla="*/ 228600 w 612278"/>
              <a:gd name="connsiteY4" fmla="*/ 0 h 1282700"/>
              <a:gd name="connsiteX5" fmla="*/ 419100 w 612278"/>
              <a:gd name="connsiteY5" fmla="*/ 38100 h 1282700"/>
              <a:gd name="connsiteX6" fmla="*/ 444500 w 612278"/>
              <a:gd name="connsiteY6" fmla="*/ 76200 h 1282700"/>
              <a:gd name="connsiteX7" fmla="*/ 469900 w 612278"/>
              <a:gd name="connsiteY7" fmla="*/ 152400 h 1282700"/>
              <a:gd name="connsiteX8" fmla="*/ 482600 w 612278"/>
              <a:gd name="connsiteY8" fmla="*/ 254000 h 1282700"/>
              <a:gd name="connsiteX9" fmla="*/ 495300 w 612278"/>
              <a:gd name="connsiteY9" fmla="*/ 317500 h 1282700"/>
              <a:gd name="connsiteX10" fmla="*/ 520700 w 612278"/>
              <a:gd name="connsiteY10" fmla="*/ 736600 h 1282700"/>
              <a:gd name="connsiteX11" fmla="*/ 571500 w 612278"/>
              <a:gd name="connsiteY11" fmla="*/ 914400 h 1282700"/>
              <a:gd name="connsiteX12" fmla="*/ 584200 w 612278"/>
              <a:gd name="connsiteY12" fmla="*/ 965200 h 1282700"/>
              <a:gd name="connsiteX13" fmla="*/ 609600 w 612278"/>
              <a:gd name="connsiteY13" fmla="*/ 1041400 h 1282700"/>
              <a:gd name="connsiteX14" fmla="*/ 571500 w 612278"/>
              <a:gd name="connsiteY14" fmla="*/ 1270000 h 1282700"/>
              <a:gd name="connsiteX15" fmla="*/ 533400 w 612278"/>
              <a:gd name="connsiteY15" fmla="*/ 1282700 h 1282700"/>
              <a:gd name="connsiteX16" fmla="*/ 444500 w 612278"/>
              <a:gd name="connsiteY16" fmla="*/ 1270000 h 1282700"/>
              <a:gd name="connsiteX17" fmla="*/ 406400 w 612278"/>
              <a:gd name="connsiteY17" fmla="*/ 1244600 h 1282700"/>
              <a:gd name="connsiteX18" fmla="*/ 368300 w 612278"/>
              <a:gd name="connsiteY18" fmla="*/ 1231900 h 1282700"/>
              <a:gd name="connsiteX19" fmla="*/ 254000 w 612278"/>
              <a:gd name="connsiteY19" fmla="*/ 1155700 h 1282700"/>
              <a:gd name="connsiteX20" fmla="*/ 215900 w 612278"/>
              <a:gd name="connsiteY20" fmla="*/ 1130300 h 1282700"/>
              <a:gd name="connsiteX21" fmla="*/ 139700 w 612278"/>
              <a:gd name="connsiteY21" fmla="*/ 1066800 h 1282700"/>
              <a:gd name="connsiteX22" fmla="*/ 88900 w 612278"/>
              <a:gd name="connsiteY22" fmla="*/ 952500 h 1282700"/>
              <a:gd name="connsiteX23" fmla="*/ 63500 w 612278"/>
              <a:gd name="connsiteY23" fmla="*/ 812800 h 1282700"/>
              <a:gd name="connsiteX24" fmla="*/ 50800 w 612278"/>
              <a:gd name="connsiteY24" fmla="*/ 774700 h 1282700"/>
              <a:gd name="connsiteX25" fmla="*/ 38100 w 612278"/>
              <a:gd name="connsiteY25" fmla="*/ 711200 h 1282700"/>
              <a:gd name="connsiteX26" fmla="*/ 12700 w 612278"/>
              <a:gd name="connsiteY26" fmla="*/ 622300 h 1282700"/>
              <a:gd name="connsiteX27" fmla="*/ 0 w 612278"/>
              <a:gd name="connsiteY27" fmla="*/ 520700 h 1282700"/>
              <a:gd name="connsiteX28" fmla="*/ 12700 w 612278"/>
              <a:gd name="connsiteY28" fmla="*/ 304800 h 1282700"/>
              <a:gd name="connsiteX29" fmla="*/ 12700 w 612278"/>
              <a:gd name="connsiteY29" fmla="*/ 279400 h 128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2278" h="1282700">
                <a:moveTo>
                  <a:pt x="38100" y="203200"/>
                </a:moveTo>
                <a:cubicBezTo>
                  <a:pt x="42333" y="177800"/>
                  <a:pt x="42657" y="151429"/>
                  <a:pt x="50800" y="127000"/>
                </a:cubicBezTo>
                <a:cubicBezTo>
                  <a:pt x="56908" y="108676"/>
                  <a:pt x="99831" y="58838"/>
                  <a:pt x="114300" y="50800"/>
                </a:cubicBezTo>
                <a:cubicBezTo>
                  <a:pt x="137705" y="37797"/>
                  <a:pt x="168223" y="40252"/>
                  <a:pt x="190500" y="25400"/>
                </a:cubicBezTo>
                <a:lnTo>
                  <a:pt x="228600" y="0"/>
                </a:lnTo>
                <a:cubicBezTo>
                  <a:pt x="298430" y="5819"/>
                  <a:pt x="367863" y="-13137"/>
                  <a:pt x="419100" y="38100"/>
                </a:cubicBezTo>
                <a:cubicBezTo>
                  <a:pt x="429893" y="48893"/>
                  <a:pt x="438301" y="62252"/>
                  <a:pt x="444500" y="76200"/>
                </a:cubicBezTo>
                <a:cubicBezTo>
                  <a:pt x="455374" y="100666"/>
                  <a:pt x="469900" y="152400"/>
                  <a:pt x="469900" y="152400"/>
                </a:cubicBezTo>
                <a:cubicBezTo>
                  <a:pt x="474133" y="186267"/>
                  <a:pt x="477410" y="220267"/>
                  <a:pt x="482600" y="254000"/>
                </a:cubicBezTo>
                <a:cubicBezTo>
                  <a:pt x="485882" y="275335"/>
                  <a:pt x="493910" y="295959"/>
                  <a:pt x="495300" y="317500"/>
                </a:cubicBezTo>
                <a:cubicBezTo>
                  <a:pt x="503182" y="439666"/>
                  <a:pt x="494045" y="603324"/>
                  <a:pt x="520700" y="736600"/>
                </a:cubicBezTo>
                <a:cubicBezTo>
                  <a:pt x="568211" y="974154"/>
                  <a:pt x="523083" y="720732"/>
                  <a:pt x="571500" y="914400"/>
                </a:cubicBezTo>
                <a:cubicBezTo>
                  <a:pt x="575733" y="931333"/>
                  <a:pt x="579184" y="948482"/>
                  <a:pt x="584200" y="965200"/>
                </a:cubicBezTo>
                <a:cubicBezTo>
                  <a:pt x="591893" y="990845"/>
                  <a:pt x="609600" y="1041400"/>
                  <a:pt x="609600" y="1041400"/>
                </a:cubicBezTo>
                <a:cubicBezTo>
                  <a:pt x="608361" y="1059982"/>
                  <a:pt x="629209" y="1223833"/>
                  <a:pt x="571500" y="1270000"/>
                </a:cubicBezTo>
                <a:cubicBezTo>
                  <a:pt x="561047" y="1278363"/>
                  <a:pt x="546100" y="1278467"/>
                  <a:pt x="533400" y="1282700"/>
                </a:cubicBezTo>
                <a:cubicBezTo>
                  <a:pt x="503767" y="1278467"/>
                  <a:pt x="473172" y="1278602"/>
                  <a:pt x="444500" y="1270000"/>
                </a:cubicBezTo>
                <a:cubicBezTo>
                  <a:pt x="429880" y="1265614"/>
                  <a:pt x="420052" y="1251426"/>
                  <a:pt x="406400" y="1244600"/>
                </a:cubicBezTo>
                <a:cubicBezTo>
                  <a:pt x="394426" y="1238613"/>
                  <a:pt x="380002" y="1238401"/>
                  <a:pt x="368300" y="1231900"/>
                </a:cubicBezTo>
                <a:lnTo>
                  <a:pt x="254000" y="1155700"/>
                </a:lnTo>
                <a:cubicBezTo>
                  <a:pt x="241300" y="1147233"/>
                  <a:pt x="226693" y="1141093"/>
                  <a:pt x="215900" y="1130300"/>
                </a:cubicBezTo>
                <a:cubicBezTo>
                  <a:pt x="167007" y="1081407"/>
                  <a:pt x="192744" y="1102163"/>
                  <a:pt x="139700" y="1066800"/>
                </a:cubicBezTo>
                <a:cubicBezTo>
                  <a:pt x="109473" y="976120"/>
                  <a:pt x="129152" y="1012877"/>
                  <a:pt x="88900" y="952500"/>
                </a:cubicBezTo>
                <a:cubicBezTo>
                  <a:pt x="83239" y="918531"/>
                  <a:pt x="72375" y="848300"/>
                  <a:pt x="63500" y="812800"/>
                </a:cubicBezTo>
                <a:cubicBezTo>
                  <a:pt x="60253" y="799813"/>
                  <a:pt x="54047" y="787687"/>
                  <a:pt x="50800" y="774700"/>
                </a:cubicBezTo>
                <a:cubicBezTo>
                  <a:pt x="45565" y="753759"/>
                  <a:pt x="42783" y="732272"/>
                  <a:pt x="38100" y="711200"/>
                </a:cubicBezTo>
                <a:cubicBezTo>
                  <a:pt x="27469" y="663360"/>
                  <a:pt x="26843" y="664728"/>
                  <a:pt x="12700" y="622300"/>
                </a:cubicBezTo>
                <a:cubicBezTo>
                  <a:pt x="8467" y="588433"/>
                  <a:pt x="0" y="554830"/>
                  <a:pt x="0" y="520700"/>
                </a:cubicBezTo>
                <a:cubicBezTo>
                  <a:pt x="0" y="448609"/>
                  <a:pt x="8911" y="376791"/>
                  <a:pt x="12700" y="304800"/>
                </a:cubicBezTo>
                <a:cubicBezTo>
                  <a:pt x="13145" y="296345"/>
                  <a:pt x="12700" y="287867"/>
                  <a:pt x="12700" y="279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7543800" y="1000125"/>
            <a:ext cx="224098" cy="1032812"/>
            <a:chOff x="8534400" y="1282700"/>
            <a:chExt cx="298797" cy="1377082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8534400" y="1282700"/>
              <a:ext cx="143148" cy="53888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8690049" y="2120900"/>
              <a:ext cx="143148" cy="53888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016787"/>
              </p:ext>
            </p:extLst>
          </p:nvPr>
        </p:nvGraphicFramePr>
        <p:xfrm>
          <a:off x="1513285" y="2294197"/>
          <a:ext cx="892220" cy="78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5" name="Equation" r:id="rId18" imgW="431640" imgH="393480" progId="Equation.DSMT4">
                  <p:embed/>
                </p:oleObj>
              </mc:Choice>
              <mc:Fallback>
                <p:oleObj name="Equation" r:id="rId18" imgW="431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285" y="2294197"/>
                        <a:ext cx="892220" cy="78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任意多边形 18"/>
          <p:cNvSpPr/>
          <p:nvPr/>
        </p:nvSpPr>
        <p:spPr>
          <a:xfrm>
            <a:off x="3745230" y="1346835"/>
            <a:ext cx="674370" cy="857250"/>
          </a:xfrm>
          <a:custGeom>
            <a:avLst/>
            <a:gdLst>
              <a:gd name="connsiteX0" fmla="*/ 762000 w 990600"/>
              <a:gd name="connsiteY0" fmla="*/ 38100 h 1143000"/>
              <a:gd name="connsiteX1" fmla="*/ 685800 w 990600"/>
              <a:gd name="connsiteY1" fmla="*/ 50800 h 1143000"/>
              <a:gd name="connsiteX2" fmla="*/ 635000 w 990600"/>
              <a:gd name="connsiteY2" fmla="*/ 76200 h 1143000"/>
              <a:gd name="connsiteX3" fmla="*/ 508000 w 990600"/>
              <a:gd name="connsiteY3" fmla="*/ 101600 h 1143000"/>
              <a:gd name="connsiteX4" fmla="*/ 381000 w 990600"/>
              <a:gd name="connsiteY4" fmla="*/ 139700 h 1143000"/>
              <a:gd name="connsiteX5" fmla="*/ 266700 w 990600"/>
              <a:gd name="connsiteY5" fmla="*/ 203200 h 1143000"/>
              <a:gd name="connsiteX6" fmla="*/ 190500 w 990600"/>
              <a:gd name="connsiteY6" fmla="*/ 266700 h 1143000"/>
              <a:gd name="connsiteX7" fmla="*/ 114300 w 990600"/>
              <a:gd name="connsiteY7" fmla="*/ 330200 h 1143000"/>
              <a:gd name="connsiteX8" fmla="*/ 63500 w 990600"/>
              <a:gd name="connsiteY8" fmla="*/ 406400 h 1143000"/>
              <a:gd name="connsiteX9" fmla="*/ 50800 w 990600"/>
              <a:gd name="connsiteY9" fmla="*/ 444500 h 1143000"/>
              <a:gd name="connsiteX10" fmla="*/ 25400 w 990600"/>
              <a:gd name="connsiteY10" fmla="*/ 482600 h 1143000"/>
              <a:gd name="connsiteX11" fmla="*/ 0 w 990600"/>
              <a:gd name="connsiteY11" fmla="*/ 584200 h 1143000"/>
              <a:gd name="connsiteX12" fmla="*/ 12700 w 990600"/>
              <a:gd name="connsiteY12" fmla="*/ 901700 h 1143000"/>
              <a:gd name="connsiteX13" fmla="*/ 38100 w 990600"/>
              <a:gd name="connsiteY13" fmla="*/ 977900 h 1143000"/>
              <a:gd name="connsiteX14" fmla="*/ 88900 w 990600"/>
              <a:gd name="connsiteY14" fmla="*/ 1054100 h 1143000"/>
              <a:gd name="connsiteX15" fmla="*/ 152400 w 990600"/>
              <a:gd name="connsiteY15" fmla="*/ 1117600 h 1143000"/>
              <a:gd name="connsiteX16" fmla="*/ 241300 w 990600"/>
              <a:gd name="connsiteY16" fmla="*/ 1143000 h 1143000"/>
              <a:gd name="connsiteX17" fmla="*/ 393700 w 990600"/>
              <a:gd name="connsiteY17" fmla="*/ 1130300 h 1143000"/>
              <a:gd name="connsiteX18" fmla="*/ 508000 w 990600"/>
              <a:gd name="connsiteY18" fmla="*/ 1066800 h 1143000"/>
              <a:gd name="connsiteX19" fmla="*/ 584200 w 990600"/>
              <a:gd name="connsiteY19" fmla="*/ 990600 h 1143000"/>
              <a:gd name="connsiteX20" fmla="*/ 660400 w 990600"/>
              <a:gd name="connsiteY20" fmla="*/ 939800 h 1143000"/>
              <a:gd name="connsiteX21" fmla="*/ 685800 w 990600"/>
              <a:gd name="connsiteY21" fmla="*/ 901700 h 1143000"/>
              <a:gd name="connsiteX22" fmla="*/ 723900 w 990600"/>
              <a:gd name="connsiteY22" fmla="*/ 876300 h 1143000"/>
              <a:gd name="connsiteX23" fmla="*/ 736600 w 990600"/>
              <a:gd name="connsiteY23" fmla="*/ 838200 h 1143000"/>
              <a:gd name="connsiteX24" fmla="*/ 825500 w 990600"/>
              <a:gd name="connsiteY24" fmla="*/ 723900 h 1143000"/>
              <a:gd name="connsiteX25" fmla="*/ 838200 w 990600"/>
              <a:gd name="connsiteY25" fmla="*/ 685800 h 1143000"/>
              <a:gd name="connsiteX26" fmla="*/ 889000 w 990600"/>
              <a:gd name="connsiteY26" fmla="*/ 596900 h 1143000"/>
              <a:gd name="connsiteX27" fmla="*/ 914400 w 990600"/>
              <a:gd name="connsiteY27" fmla="*/ 520700 h 1143000"/>
              <a:gd name="connsiteX28" fmla="*/ 927100 w 990600"/>
              <a:gd name="connsiteY28" fmla="*/ 482600 h 1143000"/>
              <a:gd name="connsiteX29" fmla="*/ 952500 w 990600"/>
              <a:gd name="connsiteY29" fmla="*/ 444500 h 1143000"/>
              <a:gd name="connsiteX30" fmla="*/ 977900 w 990600"/>
              <a:gd name="connsiteY30" fmla="*/ 330200 h 1143000"/>
              <a:gd name="connsiteX31" fmla="*/ 990600 w 990600"/>
              <a:gd name="connsiteY31" fmla="*/ 292100 h 1143000"/>
              <a:gd name="connsiteX32" fmla="*/ 977900 w 990600"/>
              <a:gd name="connsiteY32" fmla="*/ 63500 h 1143000"/>
              <a:gd name="connsiteX33" fmla="*/ 952500 w 990600"/>
              <a:gd name="connsiteY33" fmla="*/ 25400 h 1143000"/>
              <a:gd name="connsiteX34" fmla="*/ 914400 w 990600"/>
              <a:gd name="connsiteY34" fmla="*/ 12700 h 1143000"/>
              <a:gd name="connsiteX35" fmla="*/ 812800 w 990600"/>
              <a:gd name="connsiteY35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90600" h="1143000">
                <a:moveTo>
                  <a:pt x="762000" y="38100"/>
                </a:moveTo>
                <a:cubicBezTo>
                  <a:pt x="736600" y="42333"/>
                  <a:pt x="710464" y="43401"/>
                  <a:pt x="685800" y="50800"/>
                </a:cubicBezTo>
                <a:cubicBezTo>
                  <a:pt x="667666" y="56240"/>
                  <a:pt x="653204" y="70999"/>
                  <a:pt x="635000" y="76200"/>
                </a:cubicBezTo>
                <a:cubicBezTo>
                  <a:pt x="593489" y="88060"/>
                  <a:pt x="548956" y="87948"/>
                  <a:pt x="508000" y="101600"/>
                </a:cubicBezTo>
                <a:cubicBezTo>
                  <a:pt x="415241" y="132520"/>
                  <a:pt x="457775" y="120506"/>
                  <a:pt x="381000" y="139700"/>
                </a:cubicBezTo>
                <a:cubicBezTo>
                  <a:pt x="293661" y="197926"/>
                  <a:pt x="333760" y="180847"/>
                  <a:pt x="266700" y="203200"/>
                </a:cubicBezTo>
                <a:cubicBezTo>
                  <a:pt x="155390" y="314510"/>
                  <a:pt x="296588" y="178293"/>
                  <a:pt x="190500" y="266700"/>
                </a:cubicBezTo>
                <a:cubicBezTo>
                  <a:pt x="92714" y="348188"/>
                  <a:pt x="208895" y="267137"/>
                  <a:pt x="114300" y="330200"/>
                </a:cubicBezTo>
                <a:cubicBezTo>
                  <a:pt x="84103" y="420792"/>
                  <a:pt x="126921" y="311268"/>
                  <a:pt x="63500" y="406400"/>
                </a:cubicBezTo>
                <a:cubicBezTo>
                  <a:pt x="56074" y="417539"/>
                  <a:pt x="56787" y="432526"/>
                  <a:pt x="50800" y="444500"/>
                </a:cubicBezTo>
                <a:cubicBezTo>
                  <a:pt x="43974" y="458152"/>
                  <a:pt x="32226" y="468948"/>
                  <a:pt x="25400" y="482600"/>
                </a:cubicBezTo>
                <a:cubicBezTo>
                  <a:pt x="12383" y="508635"/>
                  <a:pt x="4830" y="560048"/>
                  <a:pt x="0" y="584200"/>
                </a:cubicBezTo>
                <a:cubicBezTo>
                  <a:pt x="4233" y="690033"/>
                  <a:pt x="2498" y="796275"/>
                  <a:pt x="12700" y="901700"/>
                </a:cubicBezTo>
                <a:cubicBezTo>
                  <a:pt x="15279" y="928349"/>
                  <a:pt x="23248" y="955623"/>
                  <a:pt x="38100" y="977900"/>
                </a:cubicBezTo>
                <a:lnTo>
                  <a:pt x="88900" y="1054100"/>
                </a:lnTo>
                <a:cubicBezTo>
                  <a:pt x="114300" y="1092200"/>
                  <a:pt x="110067" y="1096433"/>
                  <a:pt x="152400" y="1117600"/>
                </a:cubicBezTo>
                <a:cubicBezTo>
                  <a:pt x="170620" y="1126710"/>
                  <a:pt x="225024" y="1138931"/>
                  <a:pt x="241300" y="1143000"/>
                </a:cubicBezTo>
                <a:cubicBezTo>
                  <a:pt x="292100" y="1138767"/>
                  <a:pt x="343171" y="1137037"/>
                  <a:pt x="393700" y="1130300"/>
                </a:cubicBezTo>
                <a:cubicBezTo>
                  <a:pt x="430554" y="1125386"/>
                  <a:pt x="489543" y="1085257"/>
                  <a:pt x="508000" y="1066800"/>
                </a:cubicBezTo>
                <a:cubicBezTo>
                  <a:pt x="533400" y="1041400"/>
                  <a:pt x="554312" y="1010525"/>
                  <a:pt x="584200" y="990600"/>
                </a:cubicBezTo>
                <a:lnTo>
                  <a:pt x="660400" y="939800"/>
                </a:lnTo>
                <a:cubicBezTo>
                  <a:pt x="668867" y="927100"/>
                  <a:pt x="675007" y="912493"/>
                  <a:pt x="685800" y="901700"/>
                </a:cubicBezTo>
                <a:cubicBezTo>
                  <a:pt x="696593" y="890907"/>
                  <a:pt x="714365" y="888219"/>
                  <a:pt x="723900" y="876300"/>
                </a:cubicBezTo>
                <a:cubicBezTo>
                  <a:pt x="732263" y="865847"/>
                  <a:pt x="729174" y="849339"/>
                  <a:pt x="736600" y="838200"/>
                </a:cubicBezTo>
                <a:cubicBezTo>
                  <a:pt x="780431" y="772453"/>
                  <a:pt x="791685" y="825346"/>
                  <a:pt x="825500" y="723900"/>
                </a:cubicBezTo>
                <a:cubicBezTo>
                  <a:pt x="829733" y="711200"/>
                  <a:pt x="832213" y="697774"/>
                  <a:pt x="838200" y="685800"/>
                </a:cubicBezTo>
                <a:cubicBezTo>
                  <a:pt x="884022" y="594157"/>
                  <a:pt x="844470" y="708226"/>
                  <a:pt x="889000" y="596900"/>
                </a:cubicBezTo>
                <a:cubicBezTo>
                  <a:pt x="898944" y="572041"/>
                  <a:pt x="905933" y="546100"/>
                  <a:pt x="914400" y="520700"/>
                </a:cubicBezTo>
                <a:cubicBezTo>
                  <a:pt x="918633" y="508000"/>
                  <a:pt x="919674" y="493739"/>
                  <a:pt x="927100" y="482600"/>
                </a:cubicBezTo>
                <a:lnTo>
                  <a:pt x="952500" y="444500"/>
                </a:lnTo>
                <a:cubicBezTo>
                  <a:pt x="961230" y="400852"/>
                  <a:pt x="965943" y="372049"/>
                  <a:pt x="977900" y="330200"/>
                </a:cubicBezTo>
                <a:cubicBezTo>
                  <a:pt x="981578" y="317328"/>
                  <a:pt x="986367" y="304800"/>
                  <a:pt x="990600" y="292100"/>
                </a:cubicBezTo>
                <a:cubicBezTo>
                  <a:pt x="986367" y="215900"/>
                  <a:pt x="988693" y="139050"/>
                  <a:pt x="977900" y="63500"/>
                </a:cubicBezTo>
                <a:cubicBezTo>
                  <a:pt x="975741" y="48390"/>
                  <a:pt x="964419" y="34935"/>
                  <a:pt x="952500" y="25400"/>
                </a:cubicBezTo>
                <a:cubicBezTo>
                  <a:pt x="942047" y="17037"/>
                  <a:pt x="927571" y="15095"/>
                  <a:pt x="914400" y="12700"/>
                </a:cubicBezTo>
                <a:cubicBezTo>
                  <a:pt x="880820" y="6595"/>
                  <a:pt x="812800" y="0"/>
                  <a:pt x="8128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4419600" y="306585"/>
            <a:ext cx="289560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理想气体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物态方程一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3" grpId="0"/>
      <p:bldP spid="34838" grpId="0"/>
      <p:bldP spid="3" grpId="0" animBg="1"/>
      <p:bldP spid="3" grpId="1" animBg="1"/>
      <p:bldP spid="5" grpId="0" animBg="1"/>
      <p:bldP spid="5" grpId="1" animBg="1"/>
      <p:bldP spid="7" grpId="0" animBg="1"/>
      <p:bldP spid="8" grpId="0" animBg="1"/>
      <p:bldP spid="9" grpId="0" animBg="1"/>
      <p:bldP spid="9" grpId="1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936571" y="906271"/>
            <a:ext cx="388620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</a:rPr>
              <a:t>一</a:t>
            </a: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、</a:t>
            </a:r>
            <a:r>
              <a:rPr lang="zh-CN" altLang="en-US" sz="2100" b="1" dirty="0">
                <a:solidFill>
                  <a:srgbClr val="CC0000"/>
                </a:solidFill>
              </a:rPr>
              <a:t>分子的线度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1196340" y="1443991"/>
            <a:ext cx="72771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lnSpc>
                <a:spcPct val="130000"/>
              </a:lnSpc>
              <a:spcBef>
                <a:spcPct val="50000"/>
              </a:spcBef>
            </a:pPr>
            <a:r>
              <a:rPr lang="en-US" altLang="zh-CN" sz="2100" dirty="0"/>
              <a:t>           </a:t>
            </a:r>
            <a:r>
              <a:rPr lang="zh-CN" altLang="en-US" sz="2100" b="1" dirty="0">
                <a:solidFill>
                  <a:srgbClr val="000000"/>
                </a:solidFill>
              </a:rPr>
              <a:t>分子有</a:t>
            </a:r>
            <a:r>
              <a:rPr lang="zh-CN" altLang="en-US" sz="2100" b="1" dirty="0">
                <a:solidFill>
                  <a:srgbClr val="0000FF"/>
                </a:solidFill>
              </a:rPr>
              <a:t>单</a:t>
            </a:r>
            <a:r>
              <a:rPr lang="zh-CN" altLang="en-US" sz="2100" b="1" dirty="0">
                <a:solidFill>
                  <a:srgbClr val="000000"/>
                </a:solidFill>
              </a:rPr>
              <a:t>原子分子、</a:t>
            </a:r>
            <a:r>
              <a:rPr lang="zh-CN" altLang="en-US" sz="2100" b="1" dirty="0">
                <a:solidFill>
                  <a:srgbClr val="0000FF"/>
                </a:solidFill>
              </a:rPr>
              <a:t>双</a:t>
            </a:r>
            <a:r>
              <a:rPr lang="zh-CN" altLang="en-US" sz="2100" b="1" dirty="0">
                <a:solidFill>
                  <a:srgbClr val="000000"/>
                </a:solidFill>
              </a:rPr>
              <a:t>原子分子、</a:t>
            </a:r>
            <a:r>
              <a:rPr lang="zh-CN" altLang="en-US" sz="2100" b="1" dirty="0">
                <a:solidFill>
                  <a:srgbClr val="0000FF"/>
                </a:solidFill>
              </a:rPr>
              <a:t>多</a:t>
            </a:r>
            <a:r>
              <a:rPr lang="zh-CN" altLang="en-US" sz="2100" b="1" dirty="0">
                <a:solidFill>
                  <a:srgbClr val="000000"/>
                </a:solidFill>
              </a:rPr>
              <a:t>原子分子和</a:t>
            </a:r>
            <a:r>
              <a:rPr lang="zh-CN" altLang="en-US" sz="2100" b="1" dirty="0">
                <a:solidFill>
                  <a:srgbClr val="0000FF"/>
                </a:solidFill>
              </a:rPr>
              <a:t>千万个原子</a:t>
            </a:r>
            <a:r>
              <a:rPr lang="zh-CN" altLang="en-US" sz="2100" b="1" dirty="0">
                <a:solidFill>
                  <a:srgbClr val="000000"/>
                </a:solidFill>
              </a:rPr>
              <a:t>构成的</a:t>
            </a:r>
            <a:r>
              <a:rPr lang="zh-CN" altLang="en-US" sz="2100" b="1" dirty="0">
                <a:solidFill>
                  <a:srgbClr val="0000FF"/>
                </a:solidFill>
              </a:rPr>
              <a:t>高分子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1956963" y="2499973"/>
            <a:ext cx="479009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100" b="1" dirty="0"/>
              <a:t>不同结构的分子其尺度不一样，</a:t>
            </a:r>
            <a:r>
              <a:rPr lang="zh-CN" altLang="en-US" sz="2100" b="1" dirty="0">
                <a:solidFill>
                  <a:srgbClr val="CC0000"/>
                </a:solidFill>
              </a:rPr>
              <a:t>例如：</a:t>
            </a:r>
            <a:endParaRPr lang="zh-CN" altLang="en-US" sz="2100" b="1" dirty="0"/>
          </a:p>
        </p:txBody>
      </p:sp>
      <p:sp>
        <p:nvSpPr>
          <p:cNvPr id="8200" name="Text Box 4"/>
          <p:cNvSpPr txBox="1">
            <a:spLocks noChangeArrowheads="1"/>
          </p:cNvSpPr>
          <p:nvPr/>
        </p:nvSpPr>
        <p:spPr bwMode="auto">
          <a:xfrm>
            <a:off x="1886940" y="210726"/>
            <a:ext cx="54546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§ 12.2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物质的微观模型、统计规律性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954530" y="2997602"/>
            <a:ext cx="5335191" cy="465672"/>
            <a:chOff x="929640" y="4601305"/>
            <a:chExt cx="7113588" cy="620896"/>
          </a:xfrm>
        </p:grpSpPr>
        <p:graphicFrame>
          <p:nvGraphicFramePr>
            <p:cNvPr id="23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528981"/>
                </p:ext>
              </p:extLst>
            </p:nvPr>
          </p:nvGraphicFramePr>
          <p:xfrm>
            <a:off x="4304349" y="4601305"/>
            <a:ext cx="2411412" cy="539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0" name="Equation" r:id="rId4" imgW="901440" imgH="203040" progId="Equation.3">
                    <p:embed/>
                  </p:oleObj>
                </mc:Choice>
                <mc:Fallback>
                  <p:oleObj name="Equation" r:id="rId4" imgW="9014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4349" y="4601305"/>
                          <a:ext cx="2411412" cy="53931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929640" y="4668204"/>
              <a:ext cx="7113588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标准状态氧分子直径 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407093" y="3798094"/>
            <a:ext cx="2116931" cy="819120"/>
            <a:chOff x="1980565" y="5064125"/>
            <a:chExt cx="2822575" cy="1092160"/>
          </a:xfrm>
        </p:grpSpPr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1980565" y="5064125"/>
              <a:ext cx="2819400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2086928" y="5068888"/>
              <a:ext cx="2209800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分子间距</a:t>
              </a:r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2086928" y="5602288"/>
              <a:ext cx="2286000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000000"/>
                  </a:solidFill>
                </a:rPr>
                <a:t>分子线度</a:t>
              </a:r>
            </a:p>
          </p:txBody>
        </p:sp>
        <p:graphicFrame>
          <p:nvGraphicFramePr>
            <p:cNvPr id="26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27273"/>
                </p:ext>
              </p:extLst>
            </p:nvPr>
          </p:nvGraphicFramePr>
          <p:xfrm>
            <a:off x="3942715" y="5297488"/>
            <a:ext cx="860425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1" name="公式" r:id="rId6" imgW="304560" imgH="177480" progId="Equation.3">
                    <p:embed/>
                  </p:oleObj>
                </mc:Choice>
                <mc:Fallback>
                  <p:oleObj name="公式" r:id="rId6" imgW="3045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715" y="5297488"/>
                          <a:ext cx="860425" cy="498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2086928" y="5608249"/>
              <a:ext cx="17383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1954530" y="3954557"/>
            <a:ext cx="1850283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</a:rPr>
              <a:t>气体分子：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8" grpId="0" autoUpdateAnimBg="0"/>
      <p:bldP spid="12310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3109037" y="2637826"/>
            <a:ext cx="2732203" cy="1765424"/>
            <a:chOff x="3429" y="576"/>
            <a:chExt cx="2080" cy="1344"/>
          </a:xfrm>
        </p:grpSpPr>
        <p:sp>
          <p:nvSpPr>
            <p:cNvPr id="9230" name="Line 12"/>
            <p:cNvSpPr>
              <a:spLocks noChangeShapeType="1"/>
            </p:cNvSpPr>
            <p:nvPr/>
          </p:nvSpPr>
          <p:spPr bwMode="auto">
            <a:xfrm>
              <a:off x="3696" y="1508"/>
              <a:ext cx="16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Line 13"/>
            <p:cNvSpPr>
              <a:spLocks noChangeShapeType="1"/>
            </p:cNvSpPr>
            <p:nvPr/>
          </p:nvSpPr>
          <p:spPr bwMode="auto">
            <a:xfrm flipH="1" flipV="1">
              <a:off x="3696" y="576"/>
              <a:ext cx="0" cy="1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2" name="Freeform 14"/>
            <p:cNvSpPr>
              <a:spLocks/>
            </p:cNvSpPr>
            <p:nvPr/>
          </p:nvSpPr>
          <p:spPr bwMode="auto">
            <a:xfrm>
              <a:off x="3758" y="720"/>
              <a:ext cx="1412" cy="1083"/>
            </a:xfrm>
            <a:custGeom>
              <a:avLst/>
              <a:gdLst>
                <a:gd name="T0" fmla="*/ 0 w 1412"/>
                <a:gd name="T1" fmla="*/ 0 h 1104"/>
                <a:gd name="T2" fmla="*/ 20 w 1412"/>
                <a:gd name="T3" fmla="*/ 217 h 1104"/>
                <a:gd name="T4" fmla="*/ 54 w 1412"/>
                <a:gd name="T5" fmla="*/ 433 h 1104"/>
                <a:gd name="T6" fmla="*/ 89 w 1412"/>
                <a:gd name="T7" fmla="*/ 614 h 1104"/>
                <a:gd name="T8" fmla="*/ 191 w 1412"/>
                <a:gd name="T9" fmla="*/ 939 h 1104"/>
                <a:gd name="T10" fmla="*/ 328 w 1412"/>
                <a:gd name="T11" fmla="*/ 1083 h 1104"/>
                <a:gd name="T12" fmla="*/ 459 w 1412"/>
                <a:gd name="T13" fmla="*/ 1063 h 1104"/>
                <a:gd name="T14" fmla="*/ 567 w 1412"/>
                <a:gd name="T15" fmla="*/ 975 h 1104"/>
                <a:gd name="T16" fmla="*/ 806 w 1412"/>
                <a:gd name="T17" fmla="*/ 866 h 1104"/>
                <a:gd name="T18" fmla="*/ 1063 w 1412"/>
                <a:gd name="T19" fmla="*/ 823 h 1104"/>
                <a:gd name="T20" fmla="*/ 1412 w 1412"/>
                <a:gd name="T21" fmla="*/ 809 h 1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12"/>
                <a:gd name="T34" fmla="*/ 0 h 1104"/>
                <a:gd name="T35" fmla="*/ 1412 w 1412"/>
                <a:gd name="T36" fmla="*/ 1104 h 1104"/>
                <a:gd name="connsiteX0" fmla="*/ 0 w 10000"/>
                <a:gd name="connsiteY0" fmla="*/ 0 h 9812"/>
                <a:gd name="connsiteX1" fmla="*/ 142 w 10000"/>
                <a:gd name="connsiteY1" fmla="*/ 1966 h 9812"/>
                <a:gd name="connsiteX2" fmla="*/ 382 w 10000"/>
                <a:gd name="connsiteY2" fmla="*/ 3922 h 9812"/>
                <a:gd name="connsiteX3" fmla="*/ 630 w 10000"/>
                <a:gd name="connsiteY3" fmla="*/ 5562 h 9812"/>
                <a:gd name="connsiteX4" fmla="*/ 1353 w 10000"/>
                <a:gd name="connsiteY4" fmla="*/ 8505 h 9812"/>
                <a:gd name="connsiteX5" fmla="*/ 2323 w 10000"/>
                <a:gd name="connsiteY5" fmla="*/ 9810 h 9812"/>
                <a:gd name="connsiteX6" fmla="*/ 4016 w 10000"/>
                <a:gd name="connsiteY6" fmla="*/ 8832 h 9812"/>
                <a:gd name="connsiteX7" fmla="*/ 5708 w 10000"/>
                <a:gd name="connsiteY7" fmla="*/ 7844 h 9812"/>
                <a:gd name="connsiteX8" fmla="*/ 7528 w 10000"/>
                <a:gd name="connsiteY8" fmla="*/ 7455 h 9812"/>
                <a:gd name="connsiteX9" fmla="*/ 10000 w 10000"/>
                <a:gd name="connsiteY9" fmla="*/ 7328 h 9812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69 h 10000"/>
                <a:gd name="connsiteX4" fmla="*/ 1353 w 10000"/>
                <a:gd name="connsiteY4" fmla="*/ 8668 h 10000"/>
                <a:gd name="connsiteX5" fmla="*/ 2323 w 10000"/>
                <a:gd name="connsiteY5" fmla="*/ 9998 h 10000"/>
                <a:gd name="connsiteX6" fmla="*/ 4016 w 10000"/>
                <a:gd name="connsiteY6" fmla="*/ 9001 h 10000"/>
                <a:gd name="connsiteX7" fmla="*/ 5708 w 10000"/>
                <a:gd name="connsiteY7" fmla="*/ 7994 h 10000"/>
                <a:gd name="connsiteX8" fmla="*/ 7528 w 10000"/>
                <a:gd name="connsiteY8" fmla="*/ 7598 h 10000"/>
                <a:gd name="connsiteX9" fmla="*/ 10000 w 10000"/>
                <a:gd name="connsiteY9" fmla="*/ 7468 h 10000"/>
                <a:gd name="connsiteX0" fmla="*/ 0 w 10000"/>
                <a:gd name="connsiteY0" fmla="*/ 0 h 9999"/>
                <a:gd name="connsiteX1" fmla="*/ 142 w 10000"/>
                <a:gd name="connsiteY1" fmla="*/ 2004 h 9999"/>
                <a:gd name="connsiteX2" fmla="*/ 382 w 10000"/>
                <a:gd name="connsiteY2" fmla="*/ 3997 h 9999"/>
                <a:gd name="connsiteX3" fmla="*/ 630 w 10000"/>
                <a:gd name="connsiteY3" fmla="*/ 5669 h 9999"/>
                <a:gd name="connsiteX4" fmla="*/ 1353 w 10000"/>
                <a:gd name="connsiteY4" fmla="*/ 8668 h 9999"/>
                <a:gd name="connsiteX5" fmla="*/ 2323 w 10000"/>
                <a:gd name="connsiteY5" fmla="*/ 9998 h 9999"/>
                <a:gd name="connsiteX6" fmla="*/ 3913 w 10000"/>
                <a:gd name="connsiteY6" fmla="*/ 8901 h 9999"/>
                <a:gd name="connsiteX7" fmla="*/ 5708 w 10000"/>
                <a:gd name="connsiteY7" fmla="*/ 7994 h 9999"/>
                <a:gd name="connsiteX8" fmla="*/ 7528 w 10000"/>
                <a:gd name="connsiteY8" fmla="*/ 7598 h 9999"/>
                <a:gd name="connsiteX9" fmla="*/ 10000 w 10000"/>
                <a:gd name="connsiteY9" fmla="*/ 7468 h 9999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5708 w 10000"/>
                <a:gd name="connsiteY7" fmla="*/ 7995 h 10000"/>
                <a:gd name="connsiteX8" fmla="*/ 7528 w 10000"/>
                <a:gd name="connsiteY8" fmla="*/ 7599 h 10000"/>
                <a:gd name="connsiteX9" fmla="*/ 10000 w 10000"/>
                <a:gd name="connsiteY9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7528 w 10000"/>
                <a:gd name="connsiteY7" fmla="*/ 7599 h 10000"/>
                <a:gd name="connsiteX8" fmla="*/ 10000 w 10000"/>
                <a:gd name="connsiteY8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7528 w 10000"/>
                <a:gd name="connsiteY7" fmla="*/ 7599 h 10000"/>
                <a:gd name="connsiteX8" fmla="*/ 10000 w 10000"/>
                <a:gd name="connsiteY8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7528 w 10000"/>
                <a:gd name="connsiteY7" fmla="*/ 7599 h 10000"/>
                <a:gd name="connsiteX8" fmla="*/ 10000 w 10000"/>
                <a:gd name="connsiteY8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7528 w 10000"/>
                <a:gd name="connsiteY7" fmla="*/ 7599 h 10000"/>
                <a:gd name="connsiteX8" fmla="*/ 10000 w 10000"/>
                <a:gd name="connsiteY8" fmla="*/ 7469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0 h 10000"/>
                <a:gd name="connsiteX4" fmla="*/ 1353 w 10000"/>
                <a:gd name="connsiteY4" fmla="*/ 8669 h 10000"/>
                <a:gd name="connsiteX5" fmla="*/ 2323 w 10000"/>
                <a:gd name="connsiteY5" fmla="*/ 9999 h 10000"/>
                <a:gd name="connsiteX6" fmla="*/ 3913 w 10000"/>
                <a:gd name="connsiteY6" fmla="*/ 8902 h 10000"/>
                <a:gd name="connsiteX7" fmla="*/ 7528 w 10000"/>
                <a:gd name="connsiteY7" fmla="*/ 7599 h 10000"/>
                <a:gd name="connsiteX8" fmla="*/ 10000 w 10000"/>
                <a:gd name="connsiteY8" fmla="*/ 7469 h 10000"/>
                <a:gd name="connsiteX0" fmla="*/ 0 w 10000"/>
                <a:gd name="connsiteY0" fmla="*/ 0 h 9999"/>
                <a:gd name="connsiteX1" fmla="*/ 142 w 10000"/>
                <a:gd name="connsiteY1" fmla="*/ 2004 h 9999"/>
                <a:gd name="connsiteX2" fmla="*/ 382 w 10000"/>
                <a:gd name="connsiteY2" fmla="*/ 3997 h 9999"/>
                <a:gd name="connsiteX3" fmla="*/ 630 w 10000"/>
                <a:gd name="connsiteY3" fmla="*/ 5670 h 9999"/>
                <a:gd name="connsiteX4" fmla="*/ 1353 w 10000"/>
                <a:gd name="connsiteY4" fmla="*/ 8669 h 9999"/>
                <a:gd name="connsiteX5" fmla="*/ 2323 w 10000"/>
                <a:gd name="connsiteY5" fmla="*/ 9999 h 9999"/>
                <a:gd name="connsiteX6" fmla="*/ 4136 w 10000"/>
                <a:gd name="connsiteY6" fmla="*/ 8768 h 9999"/>
                <a:gd name="connsiteX7" fmla="*/ 7528 w 10000"/>
                <a:gd name="connsiteY7" fmla="*/ 7599 h 9999"/>
                <a:gd name="connsiteX8" fmla="*/ 10000 w 10000"/>
                <a:gd name="connsiteY8" fmla="*/ 7469 h 9999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1 h 10000"/>
                <a:gd name="connsiteX4" fmla="*/ 1353 w 10000"/>
                <a:gd name="connsiteY4" fmla="*/ 8670 h 10000"/>
                <a:gd name="connsiteX5" fmla="*/ 2323 w 10000"/>
                <a:gd name="connsiteY5" fmla="*/ 10000 h 10000"/>
                <a:gd name="connsiteX6" fmla="*/ 4136 w 10000"/>
                <a:gd name="connsiteY6" fmla="*/ 8769 h 10000"/>
                <a:gd name="connsiteX7" fmla="*/ 7528 w 10000"/>
                <a:gd name="connsiteY7" fmla="*/ 7600 h 10000"/>
                <a:gd name="connsiteX8" fmla="*/ 10000 w 10000"/>
                <a:gd name="connsiteY8" fmla="*/ 7470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1 h 10000"/>
                <a:gd name="connsiteX4" fmla="*/ 1353 w 10000"/>
                <a:gd name="connsiteY4" fmla="*/ 8670 h 10000"/>
                <a:gd name="connsiteX5" fmla="*/ 2323 w 10000"/>
                <a:gd name="connsiteY5" fmla="*/ 10000 h 10000"/>
                <a:gd name="connsiteX6" fmla="*/ 4136 w 10000"/>
                <a:gd name="connsiteY6" fmla="*/ 8769 h 10000"/>
                <a:gd name="connsiteX7" fmla="*/ 7528 w 10000"/>
                <a:gd name="connsiteY7" fmla="*/ 7600 h 10000"/>
                <a:gd name="connsiteX8" fmla="*/ 10000 w 10000"/>
                <a:gd name="connsiteY8" fmla="*/ 7470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1 h 10000"/>
                <a:gd name="connsiteX4" fmla="*/ 1353 w 10000"/>
                <a:gd name="connsiteY4" fmla="*/ 8670 h 10000"/>
                <a:gd name="connsiteX5" fmla="*/ 2323 w 10000"/>
                <a:gd name="connsiteY5" fmla="*/ 10000 h 10000"/>
                <a:gd name="connsiteX6" fmla="*/ 4136 w 10000"/>
                <a:gd name="connsiteY6" fmla="*/ 8769 h 10000"/>
                <a:gd name="connsiteX7" fmla="*/ 7528 w 10000"/>
                <a:gd name="connsiteY7" fmla="*/ 7600 h 10000"/>
                <a:gd name="connsiteX8" fmla="*/ 10000 w 10000"/>
                <a:gd name="connsiteY8" fmla="*/ 7470 h 10000"/>
                <a:gd name="connsiteX0" fmla="*/ 0 w 10000"/>
                <a:gd name="connsiteY0" fmla="*/ 0 h 10000"/>
                <a:gd name="connsiteX1" fmla="*/ 142 w 10000"/>
                <a:gd name="connsiteY1" fmla="*/ 2004 h 10000"/>
                <a:gd name="connsiteX2" fmla="*/ 382 w 10000"/>
                <a:gd name="connsiteY2" fmla="*/ 3997 h 10000"/>
                <a:gd name="connsiteX3" fmla="*/ 630 w 10000"/>
                <a:gd name="connsiteY3" fmla="*/ 5671 h 10000"/>
                <a:gd name="connsiteX4" fmla="*/ 1353 w 10000"/>
                <a:gd name="connsiteY4" fmla="*/ 8670 h 10000"/>
                <a:gd name="connsiteX5" fmla="*/ 2323 w 10000"/>
                <a:gd name="connsiteY5" fmla="*/ 10000 h 10000"/>
                <a:gd name="connsiteX6" fmla="*/ 4136 w 10000"/>
                <a:gd name="connsiteY6" fmla="*/ 8769 h 10000"/>
                <a:gd name="connsiteX7" fmla="*/ 7528 w 10000"/>
                <a:gd name="connsiteY7" fmla="*/ 7600 h 10000"/>
                <a:gd name="connsiteX8" fmla="*/ 10000 w 10000"/>
                <a:gd name="connsiteY8" fmla="*/ 747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28" y="332"/>
                    <a:pt x="78" y="1338"/>
                    <a:pt x="142" y="2004"/>
                  </a:cubicBezTo>
                  <a:cubicBezTo>
                    <a:pt x="205" y="2668"/>
                    <a:pt x="305" y="3388"/>
                    <a:pt x="382" y="3997"/>
                  </a:cubicBezTo>
                  <a:cubicBezTo>
                    <a:pt x="467" y="4607"/>
                    <a:pt x="467" y="4884"/>
                    <a:pt x="630" y="5671"/>
                  </a:cubicBezTo>
                  <a:cubicBezTo>
                    <a:pt x="786" y="6445"/>
                    <a:pt x="1069" y="7941"/>
                    <a:pt x="1353" y="8670"/>
                  </a:cubicBezTo>
                  <a:cubicBezTo>
                    <a:pt x="1636" y="9391"/>
                    <a:pt x="1859" y="9984"/>
                    <a:pt x="2323" y="10000"/>
                  </a:cubicBezTo>
                  <a:cubicBezTo>
                    <a:pt x="2787" y="10017"/>
                    <a:pt x="3328" y="9278"/>
                    <a:pt x="4136" y="8769"/>
                  </a:cubicBezTo>
                  <a:cubicBezTo>
                    <a:pt x="5054" y="8190"/>
                    <a:pt x="6534" y="7727"/>
                    <a:pt x="7528" y="7600"/>
                  </a:cubicBezTo>
                  <a:cubicBezTo>
                    <a:pt x="8522" y="7473"/>
                    <a:pt x="9655" y="7520"/>
                    <a:pt x="10000" y="7470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18" name="Object 15"/>
            <p:cNvGraphicFramePr>
              <a:graphicFrameLocks noChangeAspect="1"/>
            </p:cNvGraphicFramePr>
            <p:nvPr/>
          </p:nvGraphicFramePr>
          <p:xfrm>
            <a:off x="3881" y="1104"/>
            <a:ext cx="247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4" name="公式" r:id="rId3" imgW="139680" imgH="228600" progId="Equation.3">
                    <p:embed/>
                  </p:oleObj>
                </mc:Choice>
                <mc:Fallback>
                  <p:oleObj name="公式" r:id="rId3" imgW="139680" imgH="228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1" y="1104"/>
                          <a:ext cx="247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" name="Object 16"/>
            <p:cNvGraphicFramePr>
              <a:graphicFrameLocks noChangeAspect="1"/>
            </p:cNvGraphicFramePr>
            <p:nvPr/>
          </p:nvGraphicFramePr>
          <p:xfrm>
            <a:off x="3429" y="1392"/>
            <a:ext cx="26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5" name="Equation" r:id="rId5" imgW="126720" imgH="139680" progId="Equation.3">
                    <p:embed/>
                  </p:oleObj>
                </mc:Choice>
                <mc:Fallback>
                  <p:oleObj name="Equation" r:id="rId5" imgW="126720" imgH="1396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" y="1392"/>
                          <a:ext cx="267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812348"/>
                </p:ext>
              </p:extLst>
            </p:nvPr>
          </p:nvGraphicFramePr>
          <p:xfrm>
            <a:off x="5260" y="1476"/>
            <a:ext cx="249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6" name="Equation" r:id="rId7" imgW="114120" imgH="126720" progId="Equation.3">
                    <p:embed/>
                  </p:oleObj>
                </mc:Choice>
                <mc:Fallback>
                  <p:oleObj name="Equation" r:id="rId7" imgW="114120" imgH="1267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" y="1476"/>
                          <a:ext cx="249" cy="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3839980"/>
                </p:ext>
              </p:extLst>
            </p:nvPr>
          </p:nvGraphicFramePr>
          <p:xfrm>
            <a:off x="3429" y="576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7" name="Equation" r:id="rId9" imgW="228600" imgH="228600" progId="Equation.3">
                    <p:embed/>
                  </p:oleObj>
                </mc:Choice>
                <mc:Fallback>
                  <p:oleObj name="Equation" r:id="rId9" imgW="2286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" y="576"/>
                          <a:ext cx="240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0965335"/>
                </p:ext>
              </p:extLst>
            </p:nvPr>
          </p:nvGraphicFramePr>
          <p:xfrm>
            <a:off x="4338" y="720"/>
            <a:ext cx="963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8" name="Equation" r:id="rId11" imgW="1218960" imgH="380880" progId="Equation.3">
                    <p:embed/>
                  </p:oleObj>
                </mc:Choice>
                <mc:Fallback>
                  <p:oleObj name="Equation" r:id="rId11" imgW="121896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720"/>
                          <a:ext cx="963" cy="32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606321" y="566822"/>
            <a:ext cx="388620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二、</a:t>
            </a:r>
            <a:r>
              <a:rPr lang="zh-CN" altLang="en-US" sz="2100" b="1" dirty="0">
                <a:solidFill>
                  <a:srgbClr val="CC0000"/>
                </a:solidFill>
              </a:rPr>
              <a:t>分子力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526570" y="447651"/>
            <a:ext cx="5477451" cy="577081"/>
            <a:chOff x="1106613" y="1349210"/>
            <a:chExt cx="7303268" cy="769441"/>
          </a:xfrm>
        </p:grpSpPr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1106613" y="1349210"/>
              <a:ext cx="730326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当              时，     表现为斥力；</a:t>
              </a:r>
              <a:endParaRPr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6301479"/>
                </p:ext>
              </p:extLst>
            </p:nvPr>
          </p:nvGraphicFramePr>
          <p:xfrm>
            <a:off x="1659055" y="1448958"/>
            <a:ext cx="895840" cy="57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9" name="Equation" r:id="rId13" imgW="660113" imgH="380835" progId="Equation.3">
                    <p:embed/>
                  </p:oleObj>
                </mc:Choice>
                <mc:Fallback>
                  <p:oleObj name="Equation" r:id="rId13" imgW="660113" imgH="38083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055" y="1448958"/>
                          <a:ext cx="895840" cy="57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9488555"/>
                </p:ext>
              </p:extLst>
            </p:nvPr>
          </p:nvGraphicFramePr>
          <p:xfrm>
            <a:off x="3510598" y="1438809"/>
            <a:ext cx="410521" cy="567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0" name="Equation" r:id="rId15" imgW="164880" imgH="215640" progId="Equation.DSMT4">
                    <p:embed/>
                  </p:oleObj>
                </mc:Choice>
                <mc:Fallback>
                  <p:oleObj name="Equation" r:id="rId15" imgW="164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0598" y="1438809"/>
                          <a:ext cx="410521" cy="567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2526570" y="990380"/>
            <a:ext cx="5477451" cy="577081"/>
            <a:chOff x="1106613" y="2195778"/>
            <a:chExt cx="7303268" cy="769441"/>
          </a:xfrm>
        </p:grpSpPr>
        <p:sp>
          <p:nvSpPr>
            <p:cNvPr id="27" name="Text Box 8"/>
            <p:cNvSpPr txBox="1">
              <a:spLocks noChangeArrowheads="1"/>
            </p:cNvSpPr>
            <p:nvPr/>
          </p:nvSpPr>
          <p:spPr bwMode="auto">
            <a:xfrm>
              <a:off x="1106613" y="2195778"/>
              <a:ext cx="730326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当              时，     表现为引力；</a:t>
              </a:r>
              <a:endParaRPr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726412"/>
                </p:ext>
              </p:extLst>
            </p:nvPr>
          </p:nvGraphicFramePr>
          <p:xfrm>
            <a:off x="1659055" y="2299918"/>
            <a:ext cx="862670" cy="57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1" name="Equation" r:id="rId17" imgW="672840" imgH="380880" progId="Equation.3">
                    <p:embed/>
                  </p:oleObj>
                </mc:Choice>
                <mc:Fallback>
                  <p:oleObj name="Equation" r:id="rId17" imgW="67284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055" y="2299918"/>
                          <a:ext cx="862670" cy="576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1486739"/>
                </p:ext>
              </p:extLst>
            </p:nvPr>
          </p:nvGraphicFramePr>
          <p:xfrm>
            <a:off x="3509957" y="2330398"/>
            <a:ext cx="411162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2" name="Equation" r:id="rId19" imgW="164880" imgH="215640" progId="Equation.DSMT4">
                    <p:embed/>
                  </p:oleObj>
                </mc:Choice>
                <mc:Fallback>
                  <p:oleObj name="Equation" r:id="rId19" imgW="164880" imgH="215640" progId="Equation.DSMT4">
                    <p:embed/>
                    <p:pic>
                      <p:nvPicPr>
                        <p:cNvPr id="0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9957" y="2330398"/>
                          <a:ext cx="411162" cy="568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526570" y="1544379"/>
            <a:ext cx="5477451" cy="577081"/>
            <a:chOff x="994853" y="2425433"/>
            <a:chExt cx="7303268" cy="769441"/>
          </a:xfrm>
        </p:grpSpPr>
        <p:sp>
          <p:nvSpPr>
            <p:cNvPr id="34" name="Text Box 8"/>
            <p:cNvSpPr txBox="1">
              <a:spLocks noChangeArrowheads="1"/>
            </p:cNvSpPr>
            <p:nvPr/>
          </p:nvSpPr>
          <p:spPr bwMode="auto">
            <a:xfrm>
              <a:off x="994853" y="2425433"/>
              <a:ext cx="730326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当              时，           </a:t>
              </a:r>
              <a:r>
                <a:rPr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4111962"/>
                </p:ext>
              </p:extLst>
            </p:nvPr>
          </p:nvGraphicFramePr>
          <p:xfrm>
            <a:off x="3354069" y="2569838"/>
            <a:ext cx="1008000" cy="537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3" name="Equation" r:id="rId21" imgW="457200" imgH="215640" progId="Equation.DSMT4">
                    <p:embed/>
                  </p:oleObj>
                </mc:Choice>
                <mc:Fallback>
                  <p:oleObj name="Equation" r:id="rId21" imgW="457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069" y="2569838"/>
                          <a:ext cx="1008000" cy="537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2482386"/>
                </p:ext>
              </p:extLst>
            </p:nvPr>
          </p:nvGraphicFramePr>
          <p:xfrm>
            <a:off x="1356995" y="2519363"/>
            <a:ext cx="1308100" cy="652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4" name="Equation" r:id="rId23" imgW="533160" imgH="228600" progId="Equation.DSMT4">
                    <p:embed/>
                  </p:oleObj>
                </mc:Choice>
                <mc:Fallback>
                  <p:oleObj name="Equation" r:id="rId23" imgW="533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995" y="2519363"/>
                          <a:ext cx="1308100" cy="652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95C014-E5FA-43F5-9AC1-516745641321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5859383" y="4003663"/>
            <a:ext cx="229122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Clr>
                <a:srgbClr val="FF0000"/>
              </a:buClr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伽耳顿板实验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34202" y="896191"/>
            <a:ext cx="2305050" cy="3022997"/>
            <a:chOff x="1882" y="619"/>
            <a:chExt cx="1936" cy="2539"/>
          </a:xfrm>
        </p:grpSpPr>
        <p:pic>
          <p:nvPicPr>
            <p:cNvPr id="98336" name="Picture 5" descr="伽耳顿板(空）"/>
            <p:cNvPicPr>
              <a:picLocks noChangeAspect="1" noChangeArrowheads="1"/>
            </p:cNvPicPr>
            <p:nvPr/>
          </p:nvPicPr>
          <p:blipFill>
            <a:blip r:embed="rId2" cstate="print">
              <a:lum bright="20000"/>
            </a:blip>
            <a:srcRect l="6961" t="5901" r="5525" b="5901"/>
            <a:stretch>
              <a:fillRect/>
            </a:stretch>
          </p:blipFill>
          <p:spPr bwMode="auto">
            <a:xfrm>
              <a:off x="1882" y="619"/>
              <a:ext cx="1936" cy="2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8337" name="Text Box 6"/>
            <p:cNvSpPr txBox="1">
              <a:spLocks noChangeArrowheads="1"/>
            </p:cNvSpPr>
            <p:nvPr/>
          </p:nvSpPr>
          <p:spPr bwMode="auto">
            <a:xfrm>
              <a:off x="1972" y="1162"/>
              <a:ext cx="1803" cy="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 </a:t>
              </a:r>
            </a:p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 </a:t>
              </a:r>
            </a:p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  <a:p>
              <a:pPr>
                <a:lnSpc>
                  <a:spcPct val="45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  <a:p>
              <a:pPr>
                <a:lnSpc>
                  <a:spcPct val="40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 </a:t>
              </a:r>
            </a:p>
            <a:p>
              <a:pPr>
                <a:lnSpc>
                  <a:spcPct val="40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  <a:p>
              <a:pPr>
                <a:lnSpc>
                  <a:spcPct val="40000"/>
                </a:lnSpc>
              </a:pPr>
              <a:r>
                <a:rPr lang="en-US" altLang="zh-CN" b="1">
                  <a:solidFill>
                    <a:srgbClr val="663300"/>
                  </a:solidFill>
                  <a:latin typeface="Times New Roman" pitchFamily="18" charset="0"/>
                  <a:sym typeface="Symbol" pitchFamily="18" charset="2"/>
                </a:rPr>
                <a:t>                </a:t>
              </a:r>
            </a:p>
          </p:txBody>
        </p:sp>
      </p:grpSp>
      <p:pic>
        <p:nvPicPr>
          <p:cNvPr id="17415" name="Picture 7" descr="伽耳顿板(空）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 l="6961" t="5901" r="5525" b="5901"/>
          <a:stretch>
            <a:fillRect/>
          </a:stretch>
        </p:blipFill>
        <p:spPr bwMode="auto">
          <a:xfrm>
            <a:off x="5836518" y="896248"/>
            <a:ext cx="2305050" cy="3022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7" name="Oval 9"/>
          <p:cNvSpPr>
            <a:spLocks noChangeAspect="1" noChangeArrowheads="1"/>
          </p:cNvSpPr>
          <p:nvPr/>
        </p:nvSpPr>
        <p:spPr bwMode="auto">
          <a:xfrm>
            <a:off x="6843853" y="1004537"/>
            <a:ext cx="67865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18" name="Oval 10"/>
          <p:cNvSpPr>
            <a:spLocks noChangeAspect="1" noChangeArrowheads="1"/>
          </p:cNvSpPr>
          <p:nvPr/>
        </p:nvSpPr>
        <p:spPr bwMode="auto">
          <a:xfrm>
            <a:off x="6991490" y="1004537"/>
            <a:ext cx="67865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Oval 12"/>
          <p:cNvSpPr>
            <a:spLocks noChangeAspect="1" noChangeArrowheads="1"/>
          </p:cNvSpPr>
          <p:nvPr/>
        </p:nvSpPr>
        <p:spPr bwMode="auto">
          <a:xfrm>
            <a:off x="6843853" y="949769"/>
            <a:ext cx="67865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21" name="Oval 13"/>
          <p:cNvSpPr>
            <a:spLocks noChangeAspect="1" noChangeArrowheads="1"/>
          </p:cNvSpPr>
          <p:nvPr/>
        </p:nvSpPr>
        <p:spPr bwMode="auto">
          <a:xfrm>
            <a:off x="6951009" y="953341"/>
            <a:ext cx="67865" cy="67865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22" name="Oval 14"/>
          <p:cNvSpPr>
            <a:spLocks noChangeAspect="1" noChangeArrowheads="1"/>
          </p:cNvSpPr>
          <p:nvPr/>
        </p:nvSpPr>
        <p:spPr bwMode="auto">
          <a:xfrm>
            <a:off x="6735505" y="949769"/>
            <a:ext cx="67866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1105830" y="1353017"/>
            <a:ext cx="372546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一个小球落在哪里有偶然性</a:t>
            </a:r>
          </a:p>
        </p:txBody>
      </p:sp>
      <p:sp>
        <p:nvSpPr>
          <p:cNvPr id="17426" name="Oval 18"/>
          <p:cNvSpPr>
            <a:spLocks noChangeAspect="1" noChangeArrowheads="1"/>
          </p:cNvSpPr>
          <p:nvPr/>
        </p:nvSpPr>
        <p:spPr bwMode="auto">
          <a:xfrm>
            <a:off x="6843853" y="949769"/>
            <a:ext cx="67865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27" name="Oval 19"/>
          <p:cNvSpPr>
            <a:spLocks noChangeAspect="1" noChangeArrowheads="1"/>
          </p:cNvSpPr>
          <p:nvPr/>
        </p:nvSpPr>
        <p:spPr bwMode="auto">
          <a:xfrm>
            <a:off x="6951009" y="953341"/>
            <a:ext cx="67865" cy="67865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28" name="Oval 20"/>
          <p:cNvSpPr>
            <a:spLocks noChangeAspect="1" noChangeArrowheads="1"/>
          </p:cNvSpPr>
          <p:nvPr/>
        </p:nvSpPr>
        <p:spPr bwMode="auto">
          <a:xfrm>
            <a:off x="6721218" y="955079"/>
            <a:ext cx="67866" cy="67866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30" name="Oval 22"/>
          <p:cNvSpPr>
            <a:spLocks noChangeAspect="1" noChangeArrowheads="1"/>
          </p:cNvSpPr>
          <p:nvPr/>
        </p:nvSpPr>
        <p:spPr bwMode="auto">
          <a:xfrm>
            <a:off x="7005778" y="1003348"/>
            <a:ext cx="67865" cy="67865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31" name="Oval 23"/>
          <p:cNvSpPr>
            <a:spLocks noChangeAspect="1" noChangeArrowheads="1"/>
          </p:cNvSpPr>
          <p:nvPr/>
        </p:nvSpPr>
        <p:spPr bwMode="auto">
          <a:xfrm>
            <a:off x="6843853" y="1272429"/>
            <a:ext cx="67865" cy="67865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33" name="Oval 25"/>
          <p:cNvSpPr>
            <a:spLocks noChangeAspect="1" noChangeArrowheads="1"/>
          </p:cNvSpPr>
          <p:nvPr/>
        </p:nvSpPr>
        <p:spPr bwMode="auto">
          <a:xfrm>
            <a:off x="6721218" y="1110504"/>
            <a:ext cx="67866" cy="67865"/>
          </a:xfrm>
          <a:prstGeom prst="ellipse">
            <a:avLst/>
          </a:prstGeom>
          <a:gradFill rotWithShape="1">
            <a:gsLst>
              <a:gs pos="0">
                <a:srgbClr val="2F7618"/>
              </a:gs>
              <a:gs pos="100000">
                <a:srgbClr val="66FF33">
                  <a:alpha val="62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1086780" y="2045543"/>
            <a:ext cx="349329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少量小球的分布每次都不同</a:t>
            </a:r>
          </a:p>
        </p:txBody>
      </p:sp>
      <p:pic>
        <p:nvPicPr>
          <p:cNvPr id="17435" name="Picture 27" descr="伽耳顿板多球矩形图(1)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828282"/>
              </a:clrFrom>
              <a:clrTo>
                <a:srgbClr val="828282">
                  <a:alpha val="0"/>
                </a:srgbClr>
              </a:clrTo>
            </a:clrChange>
          </a:blip>
          <a:srcRect l="7724" t="17746" r="7724" b="10832"/>
          <a:stretch>
            <a:fillRect/>
          </a:stretch>
        </p:blipFill>
        <p:spPr bwMode="auto">
          <a:xfrm>
            <a:off x="5853253" y="2716656"/>
            <a:ext cx="2191940" cy="1170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6" name="Picture 28" descr="伽耳顿板分布图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828282"/>
              </a:clrFrom>
              <a:clrTo>
                <a:srgbClr val="828282">
                  <a:alpha val="0"/>
                </a:srgbClr>
              </a:clrTo>
            </a:clrChange>
            <a:lum contrast="12000"/>
          </a:blip>
          <a:srcRect l="6267" t="9279" r="4810" b="11949"/>
          <a:stretch>
            <a:fillRect/>
          </a:stretch>
        </p:blipFill>
        <p:spPr bwMode="auto">
          <a:xfrm>
            <a:off x="5817534" y="2732135"/>
            <a:ext cx="2305050" cy="1170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7" name="Picture 29" descr="伽耳顿板分布图(无填色）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828282"/>
              </a:clrFrom>
              <a:clrTo>
                <a:srgbClr val="828282">
                  <a:alpha val="0"/>
                </a:srgbClr>
              </a:clrTo>
            </a:clrChange>
          </a:blip>
          <a:srcRect l="7724" t="9279" r="6267" b="11949"/>
          <a:stretch>
            <a:fillRect/>
          </a:stretch>
        </p:blipFill>
        <p:spPr bwMode="auto">
          <a:xfrm>
            <a:off x="5853253" y="2732135"/>
            <a:ext cx="2230040" cy="1170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1086779" y="2738069"/>
            <a:ext cx="37087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大量小球的分布近似相同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1132923" y="3565289"/>
            <a:ext cx="4056111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800" b="1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100" dirty="0">
                <a:solidFill>
                  <a:srgbClr val="C00000"/>
                </a:solidFill>
              </a:rPr>
              <a:t>        统计规律是大量偶然事件的总体所遵从的规律</a:t>
            </a:r>
            <a:r>
              <a:rPr lang="en-US" altLang="zh-CN" sz="2100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489167" y="562773"/>
            <a:ext cx="5886450" cy="4801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</a:rPr>
              <a:t>三、分子热运动的无序性及统计规律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0.09838 L 0.00069 0.5291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21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81481E-6 C 0.00139 0.01783 -0.00104 0.04584 0.00799 0.10741 C 0.01702 0.16899 0.04948 0.31135 0.054 0.36945 C 0.05851 0.42755 0.03681 0.42894 0.03525 0.45625 C 0.03369 0.48311 0.04271 0.51621 0.0448 0.53241 " pathEditMode="relative" rAng="0" ptsTypes="aaaaa">
                                      <p:cBhvr>
                                        <p:cTn id="28" dur="20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26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33333E-6 C 0.0033 0.03194 0.01857 0.15486 0.01996 0.19305 C 0.02135 0.23125 0.00902 0.21852 0.00885 0.22939 C 0.00868 0.24051 0.02396 0.25231 0.01927 0.25926 C 0.01458 0.2662 -0.01129 0.26551 -0.01945 0.27152 C -0.02761 0.27731 -0.02934 0.28518 -0.03004 0.29375 C -0.03073 0.30231 -0.02223 0.31134 -0.02379 0.32268 C -0.02535 0.33402 -0.03941 0.33495 -0.03907 0.36273 C -0.03872 0.39051 -0.02396 0.46435 -0.0217 0.48958 C -0.01945 0.51481 -0.02379 0.50856 -0.025 0.51458 C -0.02622 0.5206 -0.02813 0.52129 -0.02917 0.52592 C -0.03021 0.53055 -0.03091 0.53842 -0.03143 0.54189 " pathEditMode="relative" rAng="0" ptsTypes="aaaaaaaaaaaa">
                                      <p:cBhvr>
                                        <p:cTn id="48" dur="2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0" y="27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1111E-6 C -0.00087 0.02384 -0.0059 0.10949 -0.00538 0.14306 C -0.00486 0.17662 0.00278 0.18519 0.00295 0.20139 C 0.00313 0.21759 -0.00382 0.22616 -0.00399 0.24028 C -0.00416 0.2544 0.00486 0.26736 0.00226 0.28658 C -0.00035 0.30579 -0.01875 0.33218 -0.01996 0.35556 C -0.02118 0.37894 -0.00555 0.40625 -0.00555 0.42708 C -0.00555 0.44792 -0.01736 0.46181 -0.01996 0.48056 C -0.02257 0.49931 -0.02066 0.52732 -0.02083 0.53958 " pathEditMode="relative" rAng="0" ptsTypes="aaaaaaaaa">
                                      <p:cBhvr>
                                        <p:cTn id="58" dur="2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0" y="2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C 0.00712 0.01875 0.03298 0.08842 0.04271 0.1125 C 0.05243 0.13657 0.06042 0.13472 0.05868 0.14444 C 0.05694 0.15416 0.03229 0.15926 0.03246 0.17037 C 0.03264 0.18148 0.06371 0.20069 0.06007 0.20949 C 0.0566 0.21898 0.01441 0.21805 0.01111 0.22546 C 0.00764 0.23264 0.03194 0.25092 0.0401 0.25416 C 0.04809 0.25694 0.05312 0.23935 0.05972 0.24236 C 0.06649 0.24467 0.0783 0.26389 0.07986 0.27129 C 0.08142 0.27824 0.06927 0.28032 0.0691 0.28495 C 0.06892 0.28958 0.08298 0.28634 0.07882 0.29814 C 0.07465 0.31018 0.04861 0.33819 0.04479 0.35671 C 0.04097 0.37523 0.05625 0.39352 0.05625 0.40902 C 0.05625 0.42453 0.04531 0.43611 0.04479 0.45046 C 0.04427 0.46481 0.05417 0.48588 0.05312 0.49514 C 0.05208 0.50439 0.03941 0.49861 0.03854 0.50625 C 0.03767 0.51389 0.04601 0.53379 0.04792 0.54097 " pathEditMode="relative" rAng="0" ptsTypes="aaaaaaaaaaaaaaaaa">
                                      <p:cBhvr>
                                        <p:cTn id="68" dur="20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0" y="2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7.40741E-7 C 0.01007 0.07731 0.02031 0.15463 0.02083 0.19236 C 0.02135 0.23009 0.00278 0.21505 0.00278 0.22639 C 0.00278 0.2375 0.02448 0.25301 0.02083 0.26018 C 0.01719 0.26759 -0.01042 0.26481 -0.01944 0.26968 C -0.02847 0.27454 -0.03333 0.28194 -0.03333 0.29051 C -0.03333 0.29884 -0.01805 0.30903 -0.01944 0.3206 C -0.02083 0.33218 -0.04115 0.33218 -0.04167 0.36018 C -0.04219 0.38796 -0.025 0.46319 -0.02222 0.48843 C -0.01944 0.51366 -0.02378 0.50555 -0.025 0.51111 C -0.02621 0.5169 -0.0283 0.51782 -0.02917 0.52245 C -0.03003 0.52731 -0.02986 0.53495 -0.03055 0.53958 " pathEditMode="relative" rAng="0" ptsTypes="aaaaaaaaaaaA">
                                      <p:cBhvr>
                                        <p:cTn id="95" dur="20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0" y="2700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7.40741E-7 C -0.00539 0.05509 -0.01059 0.11042 -0.00973 0.14398 C -0.00886 0.17755 0.00607 0.18634 0.00555 0.20208 C 0.00503 0.21759 -0.01233 0.22407 -0.0125 0.23727 C -0.01268 0.25023 0.00677 0.26435 0.00416 0.28102 C 0.00156 0.29768 -0.02622 0.31296 -0.02778 0.33727 C -0.02934 0.3618 -0.00608 0.40231 -0.00556 0.42708 C -0.00504 0.45162 -0.0224 0.4662 -0.025 0.48495 C -0.02761 0.5037 -0.02431 0.52153 -0.02084 0.53958 " pathEditMode="relative" rAng="0" ptsTypes="aaaaaaaaA">
                                      <p:cBhvr>
                                        <p:cTn id="97" dur="20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0" y="2700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C 0.00781 0.01921 0.03732 0.09189 0.04687 0.11574 C 0.05642 0.13958 0.05851 0.13495 0.05694 0.14352 C 0.05538 0.15208 0.03732 0.15555 0.0375 0.16666 C 0.03767 0.17731 0.0618 0.19977 0.05833 0.20856 C 0.05486 0.21759 0.01996 0.21389 0.01667 0.22106 C 0.01337 0.22824 0.03229 0.25 0.03889 0.25254 C 0.04548 0.25532 0.05087 0.23449 0.05694 0.2368 C 0.06302 0.23935 0.07448 0.25879 0.075 0.26643 C 0.07552 0.27477 0.05955 0.27916 0.05972 0.28426 C 0.05989 0.28935 0.08125 0.2868 0.07639 0.29652 C 0.07153 0.30648 0.03351 0.32569 0.03055 0.34398 C 0.0276 0.36203 0.05781 0.38819 0.05833 0.40555 C 0.05885 0.42291 0.03316 0.43333 0.03333 0.44768 C 0.03351 0.46203 0.05816 0.48194 0.05972 0.49166 C 0.06128 0.50139 0.04548 0.49745 0.04305 0.50555 C 0.04062 0.51365 0.04496 0.53287 0.04548 0.54004 " pathEditMode="relative" rAng="0" ptsTypes="aaaaaaaaaaaaaaaaa">
                                      <p:cBhvr>
                                        <p:cTn id="99" dur="20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0" y="2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7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33333E-6 C -0.00104 0.03125 -0.00365 0.15162 -0.00747 0.18889 C -0.01129 0.22593 -0.02257 0.21181 -0.02257 0.22315 C -0.02257 0.23426 -0.00261 0.25463 -0.00747 0.25718 C -0.01215 0.25973 -0.0434 0.2338 -0.05104 0.23889 C -0.05851 0.24398 -0.05764 0.275 -0.05261 0.28797 C -0.04757 0.30093 -0.01979 0.30556 -0.02084 0.31736 C -0.02205 0.32894 -0.05573 0.3301 -0.05955 0.35811 C -0.0632 0.38635 -0.04566 0.46204 -0.0434 0.4875 C -0.04097 0.51297 -0.04462 0.50278 -0.04566 0.51042 C -0.0467 0.51806 -0.04861 0.52986 -0.04983 0.53334 C -0.05104 0.53681 -0.05226 0.53218 -0.05295 0.53195 " pathEditMode="relative" rAng="0" ptsTypes="aaaaaaaaaaaa">
                                      <p:cBhvr>
                                        <p:cTn id="125" dur="20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0" y="26800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85185E-6 C 0.00659 0.02106 0.03889 0.09375 0.03941 0.12778 C 0.03993 0.1618 0.0059 0.18611 0.00277 0.20393 C -0.00035 0.22176 0.02396 0.22731 0.02083 0.23449 C 0.01771 0.24166 -0.01025 0.24375 -0.0158 0.24768 C -0.02136 0.25162 -0.0132 0.25602 -0.01268 0.25879 C -0.01216 0.26157 -0.00834 0.25301 -0.01268 0.26435 C -0.01702 0.27569 -0.03663 0.30555 -0.03872 0.32685 C -0.0408 0.34815 -0.02518 0.37014 -0.02518 0.39213 C -0.02518 0.41412 -0.03802 0.44444 -0.03872 0.45879 C -0.03941 0.47315 -0.02952 0.47477 -0.02934 0.47824 C -0.02917 0.48171 -0.03594 0.4794 -0.03768 0.47963 " pathEditMode="relative" rAng="0" ptsTypes="aaaaaaaaaaaa">
                                      <p:cBhvr>
                                        <p:cTn id="127" dur="2000" fill="hold"/>
                                        <p:tgtEl>
                                          <p:spTgt spid="174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24100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3.33333E-6 C 0.00278 0.01157 0.01251 0.05532 0.0198 0.06944 C 0.02708 0.08356 0.03559 0.07592 0.0427 0.08472 C 0.04983 0.09352 0.06267 0.11088 0.06233 0.12222 C 0.06198 0.13356 0.0408 0.13958 0.04027 0.15277 C 0.03976 0.16574 0.05868 0.19143 0.0592 0.20046 C 0.05954 0.20972 0.04879 0.20555 0.04288 0.2074 C 0.03698 0.20972 0.02483 0.20162 0.02413 0.21296 C 0.02343 0.2243 0.03888 0.26227 0.03888 0.275 C 0.03888 0.28773 0.02395 0.28634 0.02413 0.28912 C 0.0243 0.29189 0.03473 0.29027 0.04027 0.29097 C 0.04584 0.29166 0.05157 0.29514 0.05782 0.29259 C 0.06407 0.29027 0.06857 0.26551 0.07796 0.27685 C 0.08733 0.28819 0.10747 0.33148 0.11355 0.36111 C 0.11962 0.39074 0.11528 0.42939 0.11441 0.45416 C 0.11355 0.47893 0.10955 0.49814 0.10834 0.50972 " pathEditMode="relative" rAng="0" ptsTypes="aaaaaaaaaaaaaaaa">
                                      <p:cBhvr>
                                        <p:cTn id="129" dur="20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25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nimBg="1"/>
      <p:bldP spid="17417" grpId="1" animBg="1"/>
      <p:bldP spid="17417" grpId="2" animBg="1"/>
      <p:bldP spid="17418" grpId="0" animBg="1"/>
      <p:bldP spid="17418" grpId="1" animBg="1"/>
      <p:bldP spid="17418" grpId="2" animBg="1"/>
      <p:bldP spid="17420" grpId="0" animBg="1"/>
      <p:bldP spid="17420" grpId="1" animBg="1"/>
      <p:bldP spid="17420" grpId="2" animBg="1"/>
      <p:bldP spid="17421" grpId="0" animBg="1"/>
      <p:bldP spid="17421" grpId="1" animBg="1"/>
      <p:bldP spid="17421" grpId="2" animBg="1"/>
      <p:bldP spid="17422" grpId="0" animBg="1"/>
      <p:bldP spid="17422" grpId="1" animBg="1"/>
      <p:bldP spid="17422" grpId="2" animBg="1"/>
      <p:bldP spid="17424" grpId="0"/>
      <p:bldP spid="17426" grpId="0" animBg="1"/>
      <p:bldP spid="17426" grpId="1" animBg="1"/>
      <p:bldP spid="17426" grpId="2" animBg="1"/>
      <p:bldP spid="17427" grpId="0" animBg="1"/>
      <p:bldP spid="17427" grpId="1" animBg="1"/>
      <p:bldP spid="17427" grpId="2" animBg="1"/>
      <p:bldP spid="17428" grpId="0" animBg="1"/>
      <p:bldP spid="17428" grpId="1" animBg="1"/>
      <p:bldP spid="17428" grpId="2" animBg="1"/>
      <p:bldP spid="17430" grpId="0" animBg="1"/>
      <p:bldP spid="17430" grpId="1" animBg="1"/>
      <p:bldP spid="17430" grpId="2" animBg="1"/>
      <p:bldP spid="17431" grpId="0" animBg="1"/>
      <p:bldP spid="17431" grpId="1" animBg="1"/>
      <p:bldP spid="17431" grpId="2" animBg="1"/>
      <p:bldP spid="17433" grpId="0" animBg="1"/>
      <p:bldP spid="17433" grpId="1" animBg="1"/>
      <p:bldP spid="17433" grpId="2" animBg="1"/>
      <p:bldP spid="17438" grpId="0" autoUpdateAnimBg="0"/>
      <p:bldP spid="1743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2" name="Group 21"/>
          <p:cNvGrpSpPr>
            <a:grpSpLocks/>
          </p:cNvGrpSpPr>
          <p:nvPr/>
        </p:nvGrpSpPr>
        <p:grpSpPr bwMode="auto">
          <a:xfrm>
            <a:off x="1744734" y="580827"/>
            <a:ext cx="4456510" cy="479823"/>
            <a:chOff x="1111" y="711"/>
            <a:chExt cx="3743" cy="403"/>
          </a:xfrm>
        </p:grpSpPr>
        <p:sp>
          <p:nvSpPr>
            <p:cNvPr id="11280" name="Text Box 5"/>
            <p:cNvSpPr txBox="1">
              <a:spLocks noChangeArrowheads="1"/>
            </p:cNvSpPr>
            <p:nvPr/>
          </p:nvSpPr>
          <p:spPr bwMode="auto">
            <a:xfrm>
              <a:off x="1111" y="711"/>
              <a:ext cx="3743" cy="40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假设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      为落在第   格中的粒子数</a:t>
              </a:r>
              <a:endParaRPr lang="zh-CN" altLang="en-US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127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89247"/>
                </p:ext>
              </p:extLst>
            </p:nvPr>
          </p:nvGraphicFramePr>
          <p:xfrm>
            <a:off x="1678" y="754"/>
            <a:ext cx="31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0" name="Equation" r:id="rId3" imgW="291960" imgH="330120" progId="Equation.3">
                    <p:embed/>
                  </p:oleObj>
                </mc:Choice>
                <mc:Fallback>
                  <p:oleObj name="Equation" r:id="rId3" imgW="291960" imgH="33012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754"/>
                          <a:ext cx="311" cy="30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2395588"/>
                </p:ext>
              </p:extLst>
            </p:nvPr>
          </p:nvGraphicFramePr>
          <p:xfrm>
            <a:off x="2880" y="741"/>
            <a:ext cx="19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1" name="公式" r:id="rId5" imgW="88560" imgH="164880" progId="Equation.3">
                    <p:embed/>
                  </p:oleObj>
                </mc:Choice>
                <mc:Fallback>
                  <p:oleObj name="公式" r:id="rId5" imgW="88560" imgH="1648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741"/>
                          <a:ext cx="194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397475" y="3712040"/>
            <a:ext cx="4585097" cy="833438"/>
            <a:chOff x="-403" y="3509"/>
            <a:chExt cx="3851" cy="700"/>
          </a:xfrm>
        </p:grpSpPr>
        <p:graphicFrame>
          <p:nvGraphicFramePr>
            <p:cNvPr id="1126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0977711"/>
                </p:ext>
              </p:extLst>
            </p:nvPr>
          </p:nvGraphicFramePr>
          <p:xfrm>
            <a:off x="-403" y="3509"/>
            <a:ext cx="1771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2" name="Equation" r:id="rId7" imgW="1574640" imgH="622080" progId="Equation.3">
                    <p:embed/>
                  </p:oleObj>
                </mc:Choice>
                <mc:Fallback>
                  <p:oleObj name="Equation" r:id="rId7" imgW="1574640" imgH="6220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03" y="3509"/>
                          <a:ext cx="1771" cy="7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9" name="Text Box 13"/>
            <p:cNvSpPr txBox="1">
              <a:spLocks noChangeArrowheads="1"/>
            </p:cNvSpPr>
            <p:nvPr/>
          </p:nvSpPr>
          <p:spPr bwMode="auto">
            <a:xfrm>
              <a:off x="1672" y="3668"/>
              <a:ext cx="1776" cy="349"/>
            </a:xfrm>
            <a:prstGeom prst="rect">
              <a:avLst/>
            </a:prstGeom>
            <a:gradFill rotWithShape="0">
              <a:gsLst>
                <a:gs pos="0">
                  <a:srgbClr val="FCDCF7"/>
                </a:gs>
                <a:gs pos="50000">
                  <a:srgbClr val="FFFFFF"/>
                </a:gs>
                <a:gs pos="100000">
                  <a:srgbClr val="FCDCF7"/>
                </a:gs>
              </a:gsLst>
              <a:lin ang="5400000" scaled="1"/>
            </a:gradFill>
            <a:ln w="12700">
              <a:solidFill>
                <a:srgbClr val="CC00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归一化条件</a:t>
              </a:r>
              <a:r>
                <a:rPr lang="zh-CN" altLang="en-US" sz="2100" b="1" dirty="0">
                  <a:solidFill>
                    <a:srgbClr val="A50021"/>
                  </a:solidFill>
                </a:rPr>
                <a:t> </a:t>
              </a:r>
            </a:p>
          </p:txBody>
        </p:sp>
      </p:grpSp>
      <p:graphicFrame>
        <p:nvGraphicFramePr>
          <p:cNvPr id="1126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311305"/>
              </p:ext>
            </p:extLst>
          </p:nvPr>
        </p:nvGraphicFramePr>
        <p:xfrm>
          <a:off x="2376043" y="2052619"/>
          <a:ext cx="1705889" cy="780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3" name="Equation" r:id="rId9" imgW="1333440" imgH="609480" progId="Equation.DSMT4">
                  <p:embed/>
                </p:oleObj>
              </mc:Choice>
              <mc:Fallback>
                <p:oleObj name="Equation" r:id="rId9" imgW="1333440" imgH="609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043" y="2052619"/>
                        <a:ext cx="1705889" cy="7800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744735" y="1285777"/>
            <a:ext cx="3841719" cy="622367"/>
            <a:chOff x="802313" y="1714370"/>
            <a:chExt cx="5122292" cy="829822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1665056" y="1737742"/>
              <a:ext cx="4259549" cy="806450"/>
              <a:chOff x="3651" y="1170"/>
              <a:chExt cx="2252" cy="508"/>
            </a:xfrm>
          </p:grpSpPr>
          <p:graphicFrame>
            <p:nvGraphicFramePr>
              <p:cNvPr id="11268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8938698"/>
                  </p:ext>
                </p:extLst>
              </p:nvPr>
            </p:nvGraphicFramePr>
            <p:xfrm>
              <a:off x="3651" y="1200"/>
              <a:ext cx="1001" cy="4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94" name="Equation" r:id="rId11" imgW="977760" imgH="469800" progId="Equation.3">
                      <p:embed/>
                    </p:oleObj>
                  </mc:Choice>
                  <mc:Fallback>
                    <p:oleObj name="Equation" r:id="rId11" imgW="977760" imgH="4698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1" y="1200"/>
                            <a:ext cx="1001" cy="478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78" name="Rectangle 16"/>
              <p:cNvSpPr>
                <a:spLocks noChangeArrowheads="1"/>
              </p:cNvSpPr>
              <p:nvPr/>
            </p:nvSpPr>
            <p:spPr bwMode="auto">
              <a:xfrm>
                <a:off x="4733" y="1170"/>
                <a:ext cx="1170" cy="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为粒子总数</a:t>
                </a:r>
              </a:p>
            </p:txBody>
          </p:sp>
        </p:grpSp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802313" y="1714370"/>
              <a:ext cx="2213263" cy="6401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那么</a:t>
              </a:r>
              <a:endParaRPr lang="zh-CN" altLang="en-US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44735" y="2988901"/>
            <a:ext cx="5923642" cy="491900"/>
            <a:chOff x="802313" y="3985199"/>
            <a:chExt cx="7898189" cy="655866"/>
          </a:xfrm>
        </p:grpSpPr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802313" y="3985199"/>
              <a:ext cx="2390652" cy="6401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表示概率：</a:t>
              </a:r>
              <a:r>
                <a:rPr lang="zh-CN" altLang="en-US" sz="2100" b="1" dirty="0">
                  <a:solidFill>
                    <a:srgbClr val="A50021"/>
                  </a:solidFill>
                </a:rPr>
                <a:t>  </a:t>
              </a:r>
              <a:endParaRPr lang="zh-CN" altLang="en-US" sz="2100" b="1" dirty="0">
                <a:solidFill>
                  <a:srgbClr val="1C1C1C"/>
                </a:solidFill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468100" y="4000891"/>
              <a:ext cx="6232402" cy="640174"/>
              <a:chOff x="2448644" y="4146811"/>
              <a:chExt cx="6232402" cy="640174"/>
            </a:xfrm>
          </p:grpSpPr>
          <p:graphicFrame>
            <p:nvGraphicFramePr>
              <p:cNvPr id="11267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2621686"/>
                  </p:ext>
                </p:extLst>
              </p:nvPr>
            </p:nvGraphicFramePr>
            <p:xfrm>
              <a:off x="3990168" y="4192618"/>
              <a:ext cx="260504" cy="487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95" name="公式" r:id="rId13" imgW="88560" imgH="164880" progId="Equation.3">
                      <p:embed/>
                    </p:oleObj>
                  </mc:Choice>
                  <mc:Fallback>
                    <p:oleObj name="公式" r:id="rId13" imgW="88560" imgH="16488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0168" y="4192618"/>
                            <a:ext cx="260504" cy="48735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Text Box 9"/>
              <p:cNvSpPr txBox="1">
                <a:spLocks noChangeArrowheads="1"/>
              </p:cNvSpPr>
              <p:nvPr/>
            </p:nvSpPr>
            <p:spPr bwMode="auto">
              <a:xfrm>
                <a:off x="2448644" y="4146811"/>
                <a:ext cx="6232402" cy="640174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100" b="1" dirty="0">
                    <a:solidFill>
                      <a:srgbClr val="1C1C1C"/>
                    </a:solidFill>
                  </a:rPr>
                  <a:t>粒子在第   格中出现的可能性大小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Text Box 3"/>
          <p:cNvSpPr txBox="1">
            <a:spLocks noChangeArrowheads="1"/>
          </p:cNvSpPr>
          <p:nvPr/>
        </p:nvSpPr>
        <p:spPr bwMode="auto">
          <a:xfrm>
            <a:off x="1609725" y="2204380"/>
            <a:ext cx="588645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</a:rPr>
              <a:t> （</a:t>
            </a:r>
            <a:r>
              <a:rPr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CC0000"/>
                </a:solidFill>
              </a:rPr>
              <a:t>）</a:t>
            </a:r>
            <a:r>
              <a:rPr lang="zh-CN" altLang="en-US" sz="2100" b="1" dirty="0">
                <a:solidFill>
                  <a:srgbClr val="1C1C1C"/>
                </a:solidFill>
              </a:rPr>
              <a:t>分子可视为质点；</a:t>
            </a:r>
            <a:endParaRPr lang="zh-CN" altLang="en-US" sz="2100" b="1" dirty="0"/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561785"/>
              </p:ext>
            </p:extLst>
          </p:nvPr>
        </p:nvGraphicFramePr>
        <p:xfrm>
          <a:off x="2319337" y="1496637"/>
          <a:ext cx="4254104" cy="46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1" name="Equation" r:id="rId3" imgW="1993680" imgH="215640" progId="Equation.DSMT4">
                  <p:embed/>
                </p:oleObj>
              </mc:Choice>
              <mc:Fallback>
                <p:oleObj name="Equation" r:id="rId3" imgW="1993680" imgH="215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7" y="1496637"/>
                        <a:ext cx="4254104" cy="46077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609725" y="2815191"/>
            <a:ext cx="6097191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CC0000"/>
                </a:solidFill>
              </a:rPr>
              <a:t> </a:t>
            </a:r>
            <a:r>
              <a:rPr lang="zh-CN" altLang="en-US" sz="2100" b="1">
                <a:solidFill>
                  <a:srgbClr val="CC0000"/>
                </a:solidFill>
              </a:rPr>
              <a:t>（</a:t>
            </a:r>
            <a:r>
              <a:rPr lang="en-US" altLang="zh-CN" sz="21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zh-CN" altLang="en-US" sz="2100" b="1">
                <a:solidFill>
                  <a:srgbClr val="CC0000"/>
                </a:solidFill>
              </a:rPr>
              <a:t>）</a:t>
            </a:r>
            <a:r>
              <a:rPr lang="zh-CN" altLang="en-US" sz="2100" b="1">
                <a:solidFill>
                  <a:srgbClr val="000000"/>
                </a:solidFill>
              </a:rPr>
              <a:t>除碰撞瞬间</a:t>
            </a:r>
            <a:r>
              <a:rPr lang="en-US" altLang="zh-CN" sz="2100" b="1">
                <a:solidFill>
                  <a:srgbClr val="000000"/>
                </a:solidFill>
                <a:latin typeface="宋体" pitchFamily="2" charset="-122"/>
              </a:rPr>
              <a:t>, 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分子间无相互作用力；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319064" y="866775"/>
            <a:ext cx="422910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</a:rPr>
              <a:t>一、理想气体的微观模型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1609725" y="4036814"/>
            <a:ext cx="61150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zh-CN" altLang="en-US" sz="2100" b="1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lang="en-US" altLang="zh-CN" sz="2100" b="1">
                <a:solidFill>
                  <a:srgbClr val="CC0000"/>
                </a:solidFill>
                <a:latin typeface="Times New Roman" pitchFamily="18" charset="0"/>
              </a:rPr>
              <a:t>4</a:t>
            </a:r>
            <a:r>
              <a:rPr lang="zh-CN" altLang="en-US" sz="2100" b="1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分子的运动遵从经典力学的规律 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1609725" y="3426002"/>
            <a:ext cx="631864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CC0000"/>
                </a:solidFill>
              </a:rPr>
              <a:t> </a:t>
            </a:r>
            <a:r>
              <a:rPr lang="zh-CN" altLang="en-US" sz="2100" b="1" dirty="0">
                <a:solidFill>
                  <a:srgbClr val="CC0000"/>
                </a:solidFill>
              </a:rPr>
              <a:t>（</a:t>
            </a:r>
            <a:r>
              <a:rPr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lang="zh-CN" altLang="en-US" sz="2100" b="1" dirty="0">
                <a:solidFill>
                  <a:srgbClr val="CC0000"/>
                </a:solidFill>
              </a:rPr>
              <a:t>）</a:t>
            </a:r>
            <a:r>
              <a:rPr lang="zh-CN" altLang="en-US" sz="2100" b="1" dirty="0">
                <a:solidFill>
                  <a:srgbClr val="000000"/>
                </a:solidFill>
              </a:rPr>
              <a:t>碰撞为完全弹性碰撞；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928636" y="220251"/>
            <a:ext cx="54546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§ 12.3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理想气体压强公式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12294" grpId="0"/>
      <p:bldP spid="12296" grpId="0"/>
      <p:bldP spid="122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463954" y="3162603"/>
            <a:ext cx="1040608" cy="708420"/>
            <a:chOff x="3128342" y="4077299"/>
            <a:chExt cx="1387477" cy="944560"/>
          </a:xfrm>
        </p:grpSpPr>
        <p:grpSp>
          <p:nvGrpSpPr>
            <p:cNvPr id="14369" name="Group 6"/>
            <p:cNvGrpSpPr>
              <a:grpSpLocks/>
            </p:cNvGrpSpPr>
            <p:nvPr/>
          </p:nvGrpSpPr>
          <p:grpSpPr bwMode="auto">
            <a:xfrm>
              <a:off x="3177556" y="4077299"/>
              <a:ext cx="1338263" cy="546101"/>
              <a:chOff x="2091" y="2626"/>
              <a:chExt cx="843" cy="344"/>
            </a:xfrm>
          </p:grpSpPr>
          <p:graphicFrame>
            <p:nvGraphicFramePr>
              <p:cNvPr id="1435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658086"/>
                  </p:ext>
                </p:extLst>
              </p:nvPr>
            </p:nvGraphicFramePr>
            <p:xfrm>
              <a:off x="2091" y="2626"/>
              <a:ext cx="487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741" name="Equation" r:id="rId3" imgW="304560" imgH="228600" progId="Equation.DSMT4">
                      <p:embed/>
                    </p:oleObj>
                  </mc:Choice>
                  <mc:Fallback>
                    <p:oleObj name="Equation" r:id="rId3" imgW="304560" imgH="2286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91" y="2626"/>
                            <a:ext cx="487" cy="34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90" name="Line 8"/>
              <p:cNvSpPr>
                <a:spLocks noChangeShapeType="1"/>
              </p:cNvSpPr>
              <p:nvPr/>
            </p:nvSpPr>
            <p:spPr bwMode="auto">
              <a:xfrm>
                <a:off x="2602" y="2891"/>
                <a:ext cx="3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4370" name="Group 9"/>
            <p:cNvGrpSpPr>
              <a:grpSpLocks/>
            </p:cNvGrpSpPr>
            <p:nvPr/>
          </p:nvGrpSpPr>
          <p:grpSpPr bwMode="auto">
            <a:xfrm>
              <a:off x="3128342" y="4493221"/>
              <a:ext cx="1346200" cy="528638"/>
              <a:chOff x="2060" y="2888"/>
              <a:chExt cx="848" cy="333"/>
            </a:xfrm>
          </p:grpSpPr>
          <p:graphicFrame>
            <p:nvGraphicFramePr>
              <p:cNvPr id="14353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318861"/>
                  </p:ext>
                </p:extLst>
              </p:nvPr>
            </p:nvGraphicFramePr>
            <p:xfrm>
              <a:off x="2060" y="2888"/>
              <a:ext cx="545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742" name="Equation" r:id="rId5" imgW="355320" imgH="228600" progId="Equation.DSMT4">
                      <p:embed/>
                    </p:oleObj>
                  </mc:Choice>
                  <mc:Fallback>
                    <p:oleObj name="Equation" r:id="rId5" imgW="355320" imgH="2286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0" y="2888"/>
                            <a:ext cx="545" cy="33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89" name="Line 11"/>
              <p:cNvSpPr>
                <a:spLocks noChangeShapeType="1"/>
              </p:cNvSpPr>
              <p:nvPr/>
            </p:nvSpPr>
            <p:spPr bwMode="auto">
              <a:xfrm flipH="1">
                <a:off x="2582" y="3032"/>
                <a:ext cx="3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4343" name="Object 12"/>
          <p:cNvGraphicFramePr>
            <a:graphicFrameLocks noChangeAspect="1"/>
          </p:cNvGraphicFramePr>
          <p:nvPr/>
        </p:nvGraphicFramePr>
        <p:xfrm>
          <a:off x="2179569" y="3074640"/>
          <a:ext cx="3238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3" name="Equation" r:id="rId7" imgW="291960" imgH="317160" progId="Equation.3">
                  <p:embed/>
                </p:oleObj>
              </mc:Choice>
              <mc:Fallback>
                <p:oleObj name="Equation" r:id="rId7" imgW="291960" imgH="317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569" y="3074640"/>
                        <a:ext cx="32385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71" name="Group 13"/>
          <p:cNvGrpSpPr>
            <a:grpSpLocks/>
          </p:cNvGrpSpPr>
          <p:nvPr/>
        </p:nvGrpSpPr>
        <p:grpSpPr bwMode="auto">
          <a:xfrm>
            <a:off x="2710858" y="2801102"/>
            <a:ext cx="919163" cy="807244"/>
            <a:chOff x="3840" y="2682"/>
            <a:chExt cx="772" cy="678"/>
          </a:xfrm>
        </p:grpSpPr>
        <p:sp>
          <p:nvSpPr>
            <p:cNvPr id="14387" name="Oval 14"/>
            <p:cNvSpPr>
              <a:spLocks noChangeArrowheads="1"/>
            </p:cNvSpPr>
            <p:nvPr/>
          </p:nvSpPr>
          <p:spPr bwMode="auto">
            <a:xfrm>
              <a:off x="3840" y="321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8" name="Line 15"/>
            <p:cNvSpPr>
              <a:spLocks noChangeShapeType="1"/>
            </p:cNvSpPr>
            <p:nvPr/>
          </p:nvSpPr>
          <p:spPr bwMode="auto">
            <a:xfrm flipV="1">
              <a:off x="3936" y="2928"/>
              <a:ext cx="48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6437834"/>
                </p:ext>
              </p:extLst>
            </p:nvPr>
          </p:nvGraphicFramePr>
          <p:xfrm>
            <a:off x="4384" y="2682"/>
            <a:ext cx="22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44"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4" y="2682"/>
                          <a:ext cx="228" cy="34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3" name="Line 18"/>
          <p:cNvSpPr>
            <a:spLocks noChangeShapeType="1"/>
          </p:cNvSpPr>
          <p:nvPr/>
        </p:nvSpPr>
        <p:spPr bwMode="auto">
          <a:xfrm flipV="1">
            <a:off x="2693919" y="1988790"/>
            <a:ext cx="0" cy="188595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5" name="Object 19"/>
          <p:cNvGraphicFramePr>
            <a:graphicFrameLocks noChangeAspect="1"/>
          </p:cNvGraphicFramePr>
          <p:nvPr/>
        </p:nvGraphicFramePr>
        <p:xfrm>
          <a:off x="2460557" y="3703290"/>
          <a:ext cx="254794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5" name="Equation" r:id="rId11" imgW="126720" imgH="139680" progId="Equation.3">
                  <p:embed/>
                </p:oleObj>
              </mc:Choice>
              <mc:Fallback>
                <p:oleObj name="Equation" r:id="rId11" imgW="126720" imgH="139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557" y="3703290"/>
                        <a:ext cx="254794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4" name="Line 20"/>
          <p:cNvSpPr>
            <a:spLocks noChangeShapeType="1"/>
          </p:cNvSpPr>
          <p:nvPr/>
        </p:nvSpPr>
        <p:spPr bwMode="auto">
          <a:xfrm flipV="1">
            <a:off x="2693919" y="3874740"/>
            <a:ext cx="26289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5" name="Line 21"/>
          <p:cNvSpPr>
            <a:spLocks noChangeShapeType="1"/>
          </p:cNvSpPr>
          <p:nvPr/>
        </p:nvSpPr>
        <p:spPr bwMode="auto">
          <a:xfrm flipH="1">
            <a:off x="1836669" y="3874740"/>
            <a:ext cx="857250" cy="74295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6" name="AutoShape 25"/>
          <p:cNvSpPr>
            <a:spLocks noChangeArrowheads="1"/>
          </p:cNvSpPr>
          <p:nvPr/>
        </p:nvSpPr>
        <p:spPr bwMode="auto">
          <a:xfrm>
            <a:off x="2209305" y="2381406"/>
            <a:ext cx="2571750" cy="1943100"/>
          </a:xfrm>
          <a:prstGeom prst="cube">
            <a:avLst>
              <a:gd name="adj" fmla="val 24681"/>
            </a:avLst>
          </a:prstGeom>
          <a:solidFill>
            <a:srgbClr val="CCFFCC">
              <a:alpha val="30196"/>
            </a:srgbClr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7" name="Line 26"/>
          <p:cNvSpPr>
            <a:spLocks noChangeShapeType="1"/>
          </p:cNvSpPr>
          <p:nvPr/>
        </p:nvSpPr>
        <p:spPr bwMode="auto">
          <a:xfrm>
            <a:off x="4751319" y="2379315"/>
            <a:ext cx="342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8" name="Line 27"/>
          <p:cNvSpPr>
            <a:spLocks noChangeShapeType="1"/>
          </p:cNvSpPr>
          <p:nvPr/>
        </p:nvSpPr>
        <p:spPr bwMode="auto">
          <a:xfrm>
            <a:off x="4979919" y="3360390"/>
            <a:ext cx="0" cy="5143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79" name="Line 28"/>
          <p:cNvSpPr>
            <a:spLocks noChangeShapeType="1"/>
          </p:cNvSpPr>
          <p:nvPr/>
        </p:nvSpPr>
        <p:spPr bwMode="auto">
          <a:xfrm flipV="1">
            <a:off x="4979919" y="2388840"/>
            <a:ext cx="0" cy="6286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4349" name="Object 29"/>
          <p:cNvGraphicFramePr>
            <a:graphicFrameLocks noChangeAspect="1"/>
          </p:cNvGraphicFramePr>
          <p:nvPr/>
        </p:nvGraphicFramePr>
        <p:xfrm>
          <a:off x="4808469" y="3012727"/>
          <a:ext cx="34171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6" name="Equation" r:id="rId13" imgW="139680" imgH="164880" progId="Equation.3">
                  <p:embed/>
                </p:oleObj>
              </mc:Choice>
              <mc:Fallback>
                <p:oleObj name="Equation" r:id="rId13" imgW="139680" imgH="1648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469" y="3012727"/>
                        <a:ext cx="34171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0" name="Line 30"/>
          <p:cNvSpPr>
            <a:spLocks noChangeShapeType="1"/>
          </p:cNvSpPr>
          <p:nvPr/>
        </p:nvSpPr>
        <p:spPr bwMode="auto">
          <a:xfrm>
            <a:off x="4294119" y="4331940"/>
            <a:ext cx="342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1" name="Line 31"/>
          <p:cNvSpPr>
            <a:spLocks noChangeShapeType="1"/>
          </p:cNvSpPr>
          <p:nvPr/>
        </p:nvSpPr>
        <p:spPr bwMode="auto">
          <a:xfrm flipH="1">
            <a:off x="4522719" y="4160490"/>
            <a:ext cx="171450" cy="1714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2" name="Line 32"/>
          <p:cNvSpPr>
            <a:spLocks noChangeShapeType="1"/>
          </p:cNvSpPr>
          <p:nvPr/>
        </p:nvSpPr>
        <p:spPr bwMode="auto">
          <a:xfrm flipH="1">
            <a:off x="4808469" y="3874740"/>
            <a:ext cx="171450" cy="1714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 type="triangle" w="sm" len="lg"/>
            <a:tailEnd type="none" w="sm" len="lg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435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06555"/>
              </p:ext>
            </p:extLst>
          </p:nvPr>
        </p:nvGraphicFramePr>
        <p:xfrm>
          <a:off x="4667975" y="4017615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7" name="Equation" r:id="rId15" imgW="126720" imgH="126720" progId="Equation.DSMT4">
                  <p:embed/>
                </p:oleObj>
              </mc:Choice>
              <mc:Fallback>
                <p:oleObj name="Equation" r:id="rId15" imgW="126720" imgH="12672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975" y="4017615"/>
                        <a:ext cx="285750" cy="285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3" name="Line 34"/>
          <p:cNvSpPr>
            <a:spLocks noChangeShapeType="1"/>
          </p:cNvSpPr>
          <p:nvPr/>
        </p:nvSpPr>
        <p:spPr bwMode="auto">
          <a:xfrm>
            <a:off x="4294119" y="4331940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4" name="Line 35"/>
          <p:cNvSpPr>
            <a:spLocks noChangeShapeType="1"/>
          </p:cNvSpPr>
          <p:nvPr/>
        </p:nvSpPr>
        <p:spPr bwMode="auto">
          <a:xfrm>
            <a:off x="2179569" y="4331940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5" name="Line 36"/>
          <p:cNvSpPr>
            <a:spLocks noChangeShapeType="1"/>
          </p:cNvSpPr>
          <p:nvPr/>
        </p:nvSpPr>
        <p:spPr bwMode="auto">
          <a:xfrm>
            <a:off x="3322569" y="4503390"/>
            <a:ext cx="971550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386" name="Line 37"/>
          <p:cNvSpPr>
            <a:spLocks noChangeShapeType="1"/>
          </p:cNvSpPr>
          <p:nvPr/>
        </p:nvSpPr>
        <p:spPr bwMode="auto">
          <a:xfrm flipH="1">
            <a:off x="2179569" y="4503390"/>
            <a:ext cx="800100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4351" name="Object 38"/>
          <p:cNvGraphicFramePr>
            <a:graphicFrameLocks noChangeAspect="1"/>
          </p:cNvGraphicFramePr>
          <p:nvPr/>
        </p:nvGraphicFramePr>
        <p:xfrm>
          <a:off x="2979669" y="4331940"/>
          <a:ext cx="310754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8" name="Equation" r:id="rId17" imgW="126720" imgH="139680" progId="Equation.3">
                  <p:embed/>
                </p:oleObj>
              </mc:Choice>
              <mc:Fallback>
                <p:oleObj name="Equation" r:id="rId17" imgW="126720" imgH="1396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669" y="4331940"/>
                        <a:ext cx="310754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39"/>
          <p:cNvGraphicFramePr>
            <a:graphicFrameLocks noChangeAspect="1"/>
          </p:cNvGraphicFramePr>
          <p:nvPr/>
        </p:nvGraphicFramePr>
        <p:xfrm>
          <a:off x="4408419" y="2788890"/>
          <a:ext cx="282179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9" name="Equation" r:id="rId19" imgW="253800" imgH="317160" progId="Equation.3">
                  <p:embed/>
                </p:oleObj>
              </mc:Choice>
              <mc:Fallback>
                <p:oleObj name="Equation" r:id="rId19" imgW="253800" imgH="3171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419" y="2788890"/>
                        <a:ext cx="282179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460781" y="2290763"/>
            <a:ext cx="2206844" cy="2207419"/>
            <a:chOff x="5757042" y="3054350"/>
            <a:chExt cx="2942458" cy="2943225"/>
          </a:xfrm>
        </p:grpSpPr>
        <p:sp>
          <p:nvSpPr>
            <p:cNvPr id="14358" name="Line 45"/>
            <p:cNvSpPr>
              <a:spLocks noChangeShapeType="1"/>
            </p:cNvSpPr>
            <p:nvPr/>
          </p:nvSpPr>
          <p:spPr bwMode="auto">
            <a:xfrm>
              <a:off x="6103117" y="5671145"/>
              <a:ext cx="1828800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Line 46"/>
            <p:cNvSpPr>
              <a:spLocks noChangeShapeType="1"/>
            </p:cNvSpPr>
            <p:nvPr/>
          </p:nvSpPr>
          <p:spPr bwMode="auto">
            <a:xfrm>
              <a:off x="7931917" y="4147145"/>
              <a:ext cx="0" cy="152400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Line 47"/>
            <p:cNvSpPr>
              <a:spLocks noChangeShapeType="1"/>
            </p:cNvSpPr>
            <p:nvPr/>
          </p:nvSpPr>
          <p:spPr bwMode="auto">
            <a:xfrm flipV="1">
              <a:off x="7931917" y="4985345"/>
              <a:ext cx="609600" cy="68580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48"/>
            <p:cNvSpPr>
              <a:spLocks noChangeShapeType="1"/>
            </p:cNvSpPr>
            <p:nvPr/>
          </p:nvSpPr>
          <p:spPr bwMode="auto">
            <a:xfrm flipH="1" flipV="1">
              <a:off x="6788917" y="4985345"/>
              <a:ext cx="1143000" cy="68580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Line 49"/>
            <p:cNvSpPr>
              <a:spLocks noChangeShapeType="1"/>
            </p:cNvSpPr>
            <p:nvPr/>
          </p:nvSpPr>
          <p:spPr bwMode="auto">
            <a:xfrm>
              <a:off x="6788917" y="4985345"/>
              <a:ext cx="1752600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38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7095062"/>
                </p:ext>
              </p:extLst>
            </p:nvPr>
          </p:nvGraphicFramePr>
          <p:xfrm>
            <a:off x="6291263" y="3054350"/>
            <a:ext cx="465137" cy="661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0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1263" y="3054350"/>
                          <a:ext cx="465137" cy="661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3" name="Line 51"/>
            <p:cNvSpPr>
              <a:spLocks noChangeShapeType="1"/>
            </p:cNvSpPr>
            <p:nvPr/>
          </p:nvSpPr>
          <p:spPr bwMode="auto">
            <a:xfrm flipV="1">
              <a:off x="6788917" y="3461345"/>
              <a:ext cx="0" cy="152400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52"/>
            <p:cNvSpPr>
              <a:spLocks noChangeShapeType="1"/>
            </p:cNvSpPr>
            <p:nvPr/>
          </p:nvSpPr>
          <p:spPr bwMode="auto">
            <a:xfrm flipH="1">
              <a:off x="6103117" y="4985345"/>
              <a:ext cx="685800" cy="68580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Line 53"/>
            <p:cNvSpPr>
              <a:spLocks noChangeShapeType="1"/>
            </p:cNvSpPr>
            <p:nvPr/>
          </p:nvSpPr>
          <p:spPr bwMode="auto">
            <a:xfrm flipH="1" flipV="1">
              <a:off x="6788917" y="3461345"/>
              <a:ext cx="1143000" cy="68580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39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7062968"/>
                </p:ext>
              </p:extLst>
            </p:nvPr>
          </p:nvGraphicFramePr>
          <p:xfrm>
            <a:off x="8193088" y="4329113"/>
            <a:ext cx="506412" cy="684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1"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3088" y="4329113"/>
                          <a:ext cx="506412" cy="684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0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904832"/>
                </p:ext>
              </p:extLst>
            </p:nvPr>
          </p:nvGraphicFramePr>
          <p:xfrm>
            <a:off x="5757042" y="5280025"/>
            <a:ext cx="511996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2" name="Equation" r:id="rId25" imgW="190440" imgH="228600" progId="Equation.DSMT4">
                    <p:embed/>
                  </p:oleObj>
                </mc:Choice>
                <mc:Fallback>
                  <p:oleObj name="Equation" r:id="rId25" imgW="190440" imgH="22860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7042" y="5280025"/>
                          <a:ext cx="511996" cy="7175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078276"/>
                </p:ext>
              </p:extLst>
            </p:nvPr>
          </p:nvGraphicFramePr>
          <p:xfrm>
            <a:off x="6415855" y="4718645"/>
            <a:ext cx="29686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3" name="Equation" r:id="rId27" imgW="164880" imgH="190440" progId="Equation.3">
                    <p:embed/>
                  </p:oleObj>
                </mc:Choice>
                <mc:Fallback>
                  <p:oleObj name="Equation" r:id="rId27" imgW="164880" imgH="19044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5855" y="4718645"/>
                          <a:ext cx="296863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60"/>
          <p:cNvGrpSpPr>
            <a:grpSpLocks/>
          </p:cNvGrpSpPr>
          <p:nvPr/>
        </p:nvGrpSpPr>
        <p:grpSpPr bwMode="auto">
          <a:xfrm>
            <a:off x="1246063" y="682082"/>
            <a:ext cx="6575822" cy="1112047"/>
            <a:chOff x="224" y="1347"/>
            <a:chExt cx="5523" cy="934"/>
          </a:xfrm>
        </p:grpSpPr>
        <p:sp>
          <p:nvSpPr>
            <p:cNvPr id="56" name="Text Box 56"/>
            <p:cNvSpPr txBox="1">
              <a:spLocks noChangeArrowheads="1"/>
            </p:cNvSpPr>
            <p:nvPr/>
          </p:nvSpPr>
          <p:spPr bwMode="auto">
            <a:xfrm>
              <a:off x="224" y="1347"/>
              <a:ext cx="5523" cy="93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100" b="1" dirty="0">
                  <a:solidFill>
                    <a:srgbClr val="A50021"/>
                  </a:solidFill>
                </a:rPr>
                <a:t>        </a:t>
              </a:r>
              <a:r>
                <a:rPr lang="zh-CN" altLang="en-US" sz="2100" b="1" dirty="0">
                  <a:solidFill>
                    <a:srgbClr val="CC0000"/>
                  </a:solidFill>
                </a:rPr>
                <a:t>设</a:t>
              </a:r>
              <a:r>
                <a:rPr lang="zh-CN" altLang="en-US" sz="2100" b="1" dirty="0">
                  <a:solidFill>
                    <a:srgbClr val="A50021"/>
                  </a:solidFill>
                </a:rPr>
                <a:t> 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边长分别为 </a:t>
              </a:r>
              <a:r>
                <a:rPr lang="en-US" altLang="zh-CN" sz="2700" i="1" dirty="0">
                  <a:solidFill>
                    <a:srgbClr val="1C1C1C"/>
                  </a:solidFill>
                  <a:latin typeface="Times New Roman" pitchFamily="18" charset="0"/>
                </a:rPr>
                <a:t>x</a:t>
              </a:r>
              <a:r>
                <a:rPr lang="zh-CN" altLang="en-US" sz="2100" i="1" dirty="0">
                  <a:solidFill>
                    <a:srgbClr val="1C1C1C"/>
                  </a:solidFill>
                  <a:latin typeface="Times New Roman" pitchFamily="18" charset="0"/>
                </a:rPr>
                <a:t>、</a:t>
              </a:r>
              <a:r>
                <a:rPr lang="en-US" altLang="zh-CN" sz="2700" i="1" dirty="0">
                  <a:solidFill>
                    <a:srgbClr val="1C1C1C"/>
                  </a:solidFill>
                  <a:latin typeface="Times New Roman" pitchFamily="18" charset="0"/>
                </a:rPr>
                <a:t>y</a:t>
              </a:r>
              <a:r>
                <a:rPr lang="en-US" altLang="zh-CN" sz="2100" b="1" i="1" dirty="0">
                  <a:solidFill>
                    <a:srgbClr val="1C1C1C"/>
                  </a:solidFill>
                  <a:latin typeface="Times New Roman" pitchFamily="18" charset="0"/>
                </a:rPr>
                <a:t> </a:t>
              </a: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及 </a:t>
              </a:r>
              <a:r>
                <a:rPr lang="en-US" altLang="zh-CN" sz="2700" i="1" dirty="0">
                  <a:solidFill>
                    <a:srgbClr val="1C1C1C"/>
                  </a:solidFill>
                  <a:latin typeface="Times New Roman" pitchFamily="18" charset="0"/>
                </a:rPr>
                <a:t>z</a:t>
              </a:r>
              <a:r>
                <a:rPr lang="en-US" altLang="zh-CN" sz="2100" i="1" dirty="0">
                  <a:solidFill>
                    <a:srgbClr val="1C1C1C"/>
                  </a:solidFill>
                  <a:latin typeface="Times New Roman" pitchFamily="18" charset="0"/>
                </a:rPr>
                <a:t> </a:t>
              </a: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的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长方体中有</a:t>
              </a:r>
              <a:r>
                <a:rPr lang="zh-CN" altLang="en-US" sz="2100" b="1" i="1" dirty="0">
                  <a:solidFill>
                    <a:srgbClr val="1C1C1C"/>
                  </a:solidFill>
                </a:rPr>
                <a:t> </a:t>
              </a:r>
              <a:r>
                <a:rPr lang="en-US" altLang="zh-CN" sz="2100" b="1" i="1" dirty="0">
                  <a:solidFill>
                    <a:srgbClr val="1C1C1C"/>
                  </a:solidFill>
                  <a:latin typeface="Times New Roman" pitchFamily="18" charset="0"/>
                </a:rPr>
                <a:t>N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个全同的质量为 </a:t>
              </a:r>
              <a:r>
                <a:rPr lang="en-US" altLang="zh-CN" sz="2400" i="1" dirty="0">
                  <a:solidFill>
                    <a:srgbClr val="1C1C1C"/>
                  </a:solidFill>
                  <a:latin typeface="Times New Roman" pitchFamily="18" charset="0"/>
                </a:rPr>
                <a:t>m</a:t>
              </a:r>
              <a:r>
                <a:rPr lang="en-US" altLang="zh-CN" sz="2100" b="1" i="1" dirty="0">
                  <a:solidFill>
                    <a:srgbClr val="1C1C1C"/>
                  </a:solidFill>
                  <a:latin typeface="Times New Roman" pitchFamily="18" charset="0"/>
                </a:rPr>
                <a:t> 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的气体分子，</a:t>
              </a:r>
              <a:r>
                <a:rPr lang="zh-CN" altLang="en-US" sz="2100" b="1" dirty="0"/>
                <a:t>计算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     面所受压强</a:t>
              </a:r>
              <a:r>
                <a:rPr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5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0290376"/>
                </p:ext>
              </p:extLst>
            </p:nvPr>
          </p:nvGraphicFramePr>
          <p:xfrm>
            <a:off x="3291" y="1869"/>
            <a:ext cx="317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4" name="Equation" r:id="rId29" imgW="164880" imgH="228600" progId="Equation.DSMT4">
                    <p:embed/>
                  </p:oleObj>
                </mc:Choice>
                <mc:Fallback>
                  <p:oleObj name="Equation" r:id="rId29" imgW="164880" imgH="2286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1869"/>
                          <a:ext cx="317" cy="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Text Box 58"/>
          <p:cNvSpPr txBox="1">
            <a:spLocks noChangeArrowheads="1"/>
          </p:cNvSpPr>
          <p:nvPr/>
        </p:nvSpPr>
        <p:spPr bwMode="auto">
          <a:xfrm>
            <a:off x="674619" y="328244"/>
            <a:ext cx="365760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800" b="1">
                <a:solidFill>
                  <a:srgbClr val="CC0000"/>
                </a:solidFill>
              </a:defRPr>
            </a:lvl1pPr>
          </a:lstStyle>
          <a:p>
            <a:r>
              <a:rPr lang="zh-CN" altLang="en-US" sz="2100" dirty="0"/>
              <a:t>二、理想气体压强公式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170394" y="2811067"/>
            <a:ext cx="1179335" cy="1000571"/>
            <a:chOff x="6688905" y="3765550"/>
            <a:chExt cx="1572446" cy="1334095"/>
          </a:xfrm>
        </p:grpSpPr>
        <p:graphicFrame>
          <p:nvGraphicFramePr>
            <p:cNvPr id="14342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5885102"/>
                </p:ext>
              </p:extLst>
            </p:nvPr>
          </p:nvGraphicFramePr>
          <p:xfrm>
            <a:off x="7956551" y="3765550"/>
            <a:ext cx="3048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5" name="Equation" r:id="rId31" imgW="152280" imgH="228600" progId="Equation.DSMT4">
                    <p:embed/>
                  </p:oleObj>
                </mc:Choice>
                <mc:Fallback>
                  <p:oleObj name="Equation" r:id="rId31" imgW="152280" imgH="2286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6551" y="3765550"/>
                          <a:ext cx="3048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Line 43"/>
            <p:cNvSpPr>
              <a:spLocks noChangeShapeType="1"/>
            </p:cNvSpPr>
            <p:nvPr/>
          </p:nvSpPr>
          <p:spPr bwMode="auto">
            <a:xfrm flipV="1">
              <a:off x="6788918" y="4147145"/>
              <a:ext cx="1143000" cy="8382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42"/>
            <p:cNvSpPr>
              <a:spLocks noChangeArrowheads="1"/>
            </p:cNvSpPr>
            <p:nvPr/>
          </p:nvSpPr>
          <p:spPr bwMode="auto">
            <a:xfrm>
              <a:off x="6688905" y="4871045"/>
              <a:ext cx="228600" cy="228600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9"/>
          <p:cNvSpPr txBox="1">
            <a:spLocks noChangeArrowheads="1"/>
          </p:cNvSpPr>
          <p:nvPr/>
        </p:nvSpPr>
        <p:spPr bwMode="auto">
          <a:xfrm>
            <a:off x="1805118" y="1281187"/>
            <a:ext cx="6195883" cy="4801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dirty="0">
                <a:solidFill>
                  <a:srgbClr val="0000CC"/>
                </a:solidFill>
              </a:rPr>
              <a:t>大量</a:t>
            </a:r>
            <a:r>
              <a:rPr lang="zh-CN" altLang="en-US" sz="2100" b="1" dirty="0">
                <a:solidFill>
                  <a:srgbClr val="1C1C1C"/>
                </a:solidFill>
              </a:rPr>
              <a:t>分子碰撞 ：恒定的、持续的力的作用</a:t>
            </a: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1805118" y="713260"/>
            <a:ext cx="610195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dirty="0">
                <a:solidFill>
                  <a:srgbClr val="0000CC"/>
                </a:solidFill>
              </a:rPr>
              <a:t>单个</a:t>
            </a:r>
            <a:r>
              <a:rPr lang="zh-CN" altLang="en-US" sz="2100" b="1" dirty="0">
                <a:solidFill>
                  <a:srgbClr val="1C1C1C"/>
                </a:solidFill>
              </a:rPr>
              <a:t>分子碰撞 ：偶然性 、不连续性</a:t>
            </a: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836669" y="1988790"/>
            <a:ext cx="5830956" cy="2686050"/>
            <a:chOff x="1836669" y="1988790"/>
            <a:chExt cx="5830956" cy="2686050"/>
          </a:xfrm>
        </p:grpSpPr>
        <p:grpSp>
          <p:nvGrpSpPr>
            <p:cNvPr id="54" name="组合 53"/>
            <p:cNvGrpSpPr/>
            <p:nvPr/>
          </p:nvGrpSpPr>
          <p:grpSpPr>
            <a:xfrm>
              <a:off x="3463954" y="3162603"/>
              <a:ext cx="1040608" cy="708420"/>
              <a:chOff x="3128342" y="4077299"/>
              <a:chExt cx="1387477" cy="944560"/>
            </a:xfrm>
          </p:grpSpPr>
          <p:grpSp>
            <p:nvGrpSpPr>
              <p:cNvPr id="55" name="Group 6"/>
              <p:cNvGrpSpPr>
                <a:grpSpLocks/>
              </p:cNvGrpSpPr>
              <p:nvPr/>
            </p:nvGrpSpPr>
            <p:grpSpPr bwMode="auto">
              <a:xfrm>
                <a:off x="3177556" y="4077299"/>
                <a:ext cx="1338263" cy="546101"/>
                <a:chOff x="2091" y="2626"/>
                <a:chExt cx="843" cy="344"/>
              </a:xfrm>
            </p:grpSpPr>
            <p:graphicFrame>
              <p:nvGraphicFramePr>
                <p:cNvPr id="63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00891253"/>
                    </p:ext>
                  </p:extLst>
                </p:nvPr>
              </p:nvGraphicFramePr>
              <p:xfrm>
                <a:off x="2091" y="2626"/>
                <a:ext cx="487" cy="3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0042" name="Equation" r:id="rId3" imgW="304560" imgH="228600" progId="Equation.DSMT4">
                        <p:embed/>
                      </p:oleObj>
                    </mc:Choice>
                    <mc:Fallback>
                      <p:oleObj name="Equation" r:id="rId3" imgW="304560" imgH="228600" progId="Equation.DSMT4">
                        <p:embed/>
                        <p:pic>
                          <p:nvPicPr>
                            <p:cNvPr id="14354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91" y="2626"/>
                              <a:ext cx="487" cy="344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4" name="Line 8"/>
                <p:cNvSpPr>
                  <a:spLocks noChangeShapeType="1"/>
                </p:cNvSpPr>
                <p:nvPr/>
              </p:nvSpPr>
              <p:spPr bwMode="auto">
                <a:xfrm>
                  <a:off x="2602" y="2891"/>
                  <a:ext cx="3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Group 9"/>
              <p:cNvGrpSpPr>
                <a:grpSpLocks/>
              </p:cNvGrpSpPr>
              <p:nvPr/>
            </p:nvGrpSpPr>
            <p:grpSpPr bwMode="auto">
              <a:xfrm>
                <a:off x="3128342" y="4493221"/>
                <a:ext cx="1346200" cy="528638"/>
                <a:chOff x="2060" y="2888"/>
                <a:chExt cx="848" cy="333"/>
              </a:xfrm>
            </p:grpSpPr>
            <p:graphicFrame>
              <p:nvGraphicFramePr>
                <p:cNvPr id="57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3205766"/>
                    </p:ext>
                  </p:extLst>
                </p:nvPr>
              </p:nvGraphicFramePr>
              <p:xfrm>
                <a:off x="2060" y="2888"/>
                <a:ext cx="545" cy="3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0043" name="Equation" r:id="rId5" imgW="355320" imgH="228600" progId="Equation.DSMT4">
                        <p:embed/>
                      </p:oleObj>
                    </mc:Choice>
                    <mc:Fallback>
                      <p:oleObj name="Equation" r:id="rId5" imgW="355320" imgH="228600" progId="Equation.DSMT4">
                        <p:embed/>
                        <p:pic>
                          <p:nvPicPr>
                            <p:cNvPr id="14353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0" y="2888"/>
                              <a:ext cx="545" cy="333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8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582" y="3032"/>
                  <a:ext cx="32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6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729407"/>
                </p:ext>
              </p:extLst>
            </p:nvPr>
          </p:nvGraphicFramePr>
          <p:xfrm>
            <a:off x="2179569" y="3074640"/>
            <a:ext cx="3238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44" name="Equation" r:id="rId7" imgW="291960" imgH="317160" progId="Equation.3">
                    <p:embed/>
                  </p:oleObj>
                </mc:Choice>
                <mc:Fallback>
                  <p:oleObj name="Equation" r:id="rId7" imgW="291960" imgH="317160" progId="Equation.3">
                    <p:embed/>
                    <p:pic>
                      <p:nvPicPr>
                        <p:cNvPr id="1434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569" y="3074640"/>
                          <a:ext cx="32385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6" name="Group 13"/>
            <p:cNvGrpSpPr>
              <a:grpSpLocks/>
            </p:cNvGrpSpPr>
            <p:nvPr/>
          </p:nvGrpSpPr>
          <p:grpSpPr bwMode="auto">
            <a:xfrm>
              <a:off x="2710858" y="2801102"/>
              <a:ext cx="919163" cy="807244"/>
              <a:chOff x="3840" y="2682"/>
              <a:chExt cx="772" cy="678"/>
            </a:xfrm>
          </p:grpSpPr>
          <p:sp>
            <p:nvSpPr>
              <p:cNvPr id="67" name="Oval 14"/>
              <p:cNvSpPr>
                <a:spLocks noChangeArrowheads="1"/>
              </p:cNvSpPr>
              <p:nvPr/>
            </p:nvSpPr>
            <p:spPr bwMode="auto">
              <a:xfrm>
                <a:off x="3840" y="321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15"/>
              <p:cNvSpPr>
                <a:spLocks noChangeShapeType="1"/>
              </p:cNvSpPr>
              <p:nvPr/>
            </p:nvSpPr>
            <p:spPr bwMode="auto">
              <a:xfrm flipV="1">
                <a:off x="3936" y="2928"/>
                <a:ext cx="480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9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1372269"/>
                  </p:ext>
                </p:extLst>
              </p:nvPr>
            </p:nvGraphicFramePr>
            <p:xfrm>
              <a:off x="4384" y="2682"/>
              <a:ext cx="228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45" name="Equation" r:id="rId9" imgW="152280" imgH="228600" progId="Equation.DSMT4">
                      <p:embed/>
                    </p:oleObj>
                  </mc:Choice>
                  <mc:Fallback>
                    <p:oleObj name="Equation" r:id="rId9" imgW="152280" imgH="228600" progId="Equation.DSMT4">
                      <p:embed/>
                      <p:pic>
                        <p:nvPicPr>
                          <p:cNvPr id="14352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4" y="2682"/>
                            <a:ext cx="228" cy="342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0" name="Line 18"/>
            <p:cNvSpPr>
              <a:spLocks noChangeShapeType="1"/>
            </p:cNvSpPr>
            <p:nvPr/>
          </p:nvSpPr>
          <p:spPr bwMode="auto">
            <a:xfrm flipV="1">
              <a:off x="2693919" y="1988790"/>
              <a:ext cx="0" cy="188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4846168"/>
                </p:ext>
              </p:extLst>
            </p:nvPr>
          </p:nvGraphicFramePr>
          <p:xfrm>
            <a:off x="2460557" y="3703290"/>
            <a:ext cx="254794" cy="280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46" name="Equation" r:id="rId11" imgW="126720" imgH="139680" progId="Equation.3">
                    <p:embed/>
                  </p:oleObj>
                </mc:Choice>
                <mc:Fallback>
                  <p:oleObj name="Equation" r:id="rId11" imgW="126720" imgH="139680" progId="Equation.3">
                    <p:embed/>
                    <p:pic>
                      <p:nvPicPr>
                        <p:cNvPr id="1434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557" y="3703290"/>
                          <a:ext cx="254794" cy="280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Line 20"/>
            <p:cNvSpPr>
              <a:spLocks noChangeShapeType="1"/>
            </p:cNvSpPr>
            <p:nvPr/>
          </p:nvSpPr>
          <p:spPr bwMode="auto">
            <a:xfrm flipV="1">
              <a:off x="2693919" y="3874740"/>
              <a:ext cx="2628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21"/>
            <p:cNvSpPr>
              <a:spLocks noChangeShapeType="1"/>
            </p:cNvSpPr>
            <p:nvPr/>
          </p:nvSpPr>
          <p:spPr bwMode="auto">
            <a:xfrm flipH="1">
              <a:off x="1836669" y="3874740"/>
              <a:ext cx="857250" cy="742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AutoShape 25"/>
            <p:cNvSpPr>
              <a:spLocks noChangeArrowheads="1"/>
            </p:cNvSpPr>
            <p:nvPr/>
          </p:nvSpPr>
          <p:spPr bwMode="auto">
            <a:xfrm>
              <a:off x="2209305" y="2381406"/>
              <a:ext cx="2571750" cy="1943100"/>
            </a:xfrm>
            <a:prstGeom prst="cube">
              <a:avLst>
                <a:gd name="adj" fmla="val 24681"/>
              </a:avLst>
            </a:prstGeom>
            <a:solidFill>
              <a:srgbClr val="CCFFCC">
                <a:alpha val="30196"/>
              </a:srgbClr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4751319" y="2379315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" name="Line 27"/>
            <p:cNvSpPr>
              <a:spLocks noChangeShapeType="1"/>
            </p:cNvSpPr>
            <p:nvPr/>
          </p:nvSpPr>
          <p:spPr bwMode="auto">
            <a:xfrm>
              <a:off x="4979919" y="3360390"/>
              <a:ext cx="0" cy="5143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" name="Line 28"/>
            <p:cNvSpPr>
              <a:spLocks noChangeShapeType="1"/>
            </p:cNvSpPr>
            <p:nvPr/>
          </p:nvSpPr>
          <p:spPr bwMode="auto">
            <a:xfrm flipV="1">
              <a:off x="4979919" y="2388840"/>
              <a:ext cx="0" cy="6286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2736460"/>
                </p:ext>
              </p:extLst>
            </p:nvPr>
          </p:nvGraphicFramePr>
          <p:xfrm>
            <a:off x="4808469" y="3012727"/>
            <a:ext cx="34171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47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1434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469" y="3012727"/>
                          <a:ext cx="341710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Line 30"/>
            <p:cNvSpPr>
              <a:spLocks noChangeShapeType="1"/>
            </p:cNvSpPr>
            <p:nvPr/>
          </p:nvSpPr>
          <p:spPr bwMode="auto">
            <a:xfrm>
              <a:off x="4294119" y="4331940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" name="Line 31"/>
            <p:cNvSpPr>
              <a:spLocks noChangeShapeType="1"/>
            </p:cNvSpPr>
            <p:nvPr/>
          </p:nvSpPr>
          <p:spPr bwMode="auto">
            <a:xfrm flipH="1">
              <a:off x="4522719" y="416049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1" name="Line 32"/>
            <p:cNvSpPr>
              <a:spLocks noChangeShapeType="1"/>
            </p:cNvSpPr>
            <p:nvPr/>
          </p:nvSpPr>
          <p:spPr bwMode="auto">
            <a:xfrm flipH="1">
              <a:off x="4808469" y="387474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82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0089845"/>
                </p:ext>
              </p:extLst>
            </p:nvPr>
          </p:nvGraphicFramePr>
          <p:xfrm>
            <a:off x="4667975" y="4017615"/>
            <a:ext cx="2857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48" name="Equation" r:id="rId15" imgW="126720" imgH="126720" progId="Equation.DSMT4">
                    <p:embed/>
                  </p:oleObj>
                </mc:Choice>
                <mc:Fallback>
                  <p:oleObj name="Equation" r:id="rId15" imgW="126720" imgH="126720" progId="Equation.DSMT4">
                    <p:embed/>
                    <p:pic>
                      <p:nvPicPr>
                        <p:cNvPr id="1435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7975" y="4017615"/>
                          <a:ext cx="285750" cy="2857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Line 34"/>
            <p:cNvSpPr>
              <a:spLocks noChangeShapeType="1"/>
            </p:cNvSpPr>
            <p:nvPr/>
          </p:nvSpPr>
          <p:spPr bwMode="auto">
            <a:xfrm>
              <a:off x="429411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" name="Line 35"/>
            <p:cNvSpPr>
              <a:spLocks noChangeShapeType="1"/>
            </p:cNvSpPr>
            <p:nvPr/>
          </p:nvSpPr>
          <p:spPr bwMode="auto">
            <a:xfrm>
              <a:off x="217956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" name="Line 36"/>
            <p:cNvSpPr>
              <a:spLocks noChangeShapeType="1"/>
            </p:cNvSpPr>
            <p:nvPr/>
          </p:nvSpPr>
          <p:spPr bwMode="auto">
            <a:xfrm>
              <a:off x="3322569" y="4503390"/>
              <a:ext cx="97155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6" name="Line 37"/>
            <p:cNvSpPr>
              <a:spLocks noChangeShapeType="1"/>
            </p:cNvSpPr>
            <p:nvPr/>
          </p:nvSpPr>
          <p:spPr bwMode="auto">
            <a:xfrm flipH="1">
              <a:off x="2179569" y="4503390"/>
              <a:ext cx="80010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87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1594813"/>
                </p:ext>
              </p:extLst>
            </p:nvPr>
          </p:nvGraphicFramePr>
          <p:xfrm>
            <a:off x="2979669" y="4331940"/>
            <a:ext cx="310754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49" name="Equation" r:id="rId17" imgW="126720" imgH="139680" progId="Equation.3">
                    <p:embed/>
                  </p:oleObj>
                </mc:Choice>
                <mc:Fallback>
                  <p:oleObj name="Equation" r:id="rId17" imgW="126720" imgH="139680" progId="Equation.3">
                    <p:embed/>
                    <p:pic>
                      <p:nvPicPr>
                        <p:cNvPr id="14351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669" y="4331940"/>
                          <a:ext cx="310754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7128567"/>
                </p:ext>
              </p:extLst>
            </p:nvPr>
          </p:nvGraphicFramePr>
          <p:xfrm>
            <a:off x="4408419" y="2788890"/>
            <a:ext cx="282179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050" name="Equation" r:id="rId19" imgW="253800" imgH="317160" progId="Equation.3">
                    <p:embed/>
                  </p:oleObj>
                </mc:Choice>
                <mc:Fallback>
                  <p:oleObj name="Equation" r:id="rId19" imgW="253800" imgH="317160" progId="Equation.3">
                    <p:embed/>
                    <p:pic>
                      <p:nvPicPr>
                        <p:cNvPr id="14344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419" y="2788890"/>
                          <a:ext cx="282179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9" name="组合 88"/>
            <p:cNvGrpSpPr/>
            <p:nvPr/>
          </p:nvGrpSpPr>
          <p:grpSpPr>
            <a:xfrm>
              <a:off x="5460781" y="2290763"/>
              <a:ext cx="2206844" cy="2207419"/>
              <a:chOff x="5757042" y="3054350"/>
              <a:chExt cx="2942458" cy="2943225"/>
            </a:xfrm>
          </p:grpSpPr>
          <p:sp>
            <p:nvSpPr>
              <p:cNvPr id="90" name="Line 45"/>
              <p:cNvSpPr>
                <a:spLocks noChangeShapeType="1"/>
              </p:cNvSpPr>
              <p:nvPr/>
            </p:nvSpPr>
            <p:spPr bwMode="auto">
              <a:xfrm>
                <a:off x="6103117" y="5671145"/>
                <a:ext cx="1828800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46"/>
              <p:cNvSpPr>
                <a:spLocks noChangeShapeType="1"/>
              </p:cNvSpPr>
              <p:nvPr/>
            </p:nvSpPr>
            <p:spPr bwMode="auto">
              <a:xfrm>
                <a:off x="7931917" y="4147145"/>
                <a:ext cx="0" cy="152400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47"/>
              <p:cNvSpPr>
                <a:spLocks noChangeShapeType="1"/>
              </p:cNvSpPr>
              <p:nvPr/>
            </p:nvSpPr>
            <p:spPr bwMode="auto">
              <a:xfrm flipV="1">
                <a:off x="7931917" y="4985345"/>
                <a:ext cx="609600" cy="68580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48"/>
              <p:cNvSpPr>
                <a:spLocks noChangeShapeType="1"/>
              </p:cNvSpPr>
              <p:nvPr/>
            </p:nvSpPr>
            <p:spPr bwMode="auto">
              <a:xfrm flipH="1" flipV="1">
                <a:off x="6788917" y="4985345"/>
                <a:ext cx="1143000" cy="68580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49"/>
              <p:cNvSpPr>
                <a:spLocks noChangeShapeType="1"/>
              </p:cNvSpPr>
              <p:nvPr/>
            </p:nvSpPr>
            <p:spPr bwMode="auto">
              <a:xfrm>
                <a:off x="6788917" y="4985345"/>
                <a:ext cx="1752600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5" name="Object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76608218"/>
                  </p:ext>
                </p:extLst>
              </p:nvPr>
            </p:nvGraphicFramePr>
            <p:xfrm>
              <a:off x="6291263" y="3054350"/>
              <a:ext cx="465137" cy="661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51" name="Equation" r:id="rId21" imgW="190440" imgH="241200" progId="Equation.DSMT4">
                      <p:embed/>
                    </p:oleObj>
                  </mc:Choice>
                  <mc:Fallback>
                    <p:oleObj name="Equation" r:id="rId21" imgW="190440" imgH="241200" progId="Equation.DSMT4">
                      <p:embed/>
                      <p:pic>
                        <p:nvPicPr>
                          <p:cNvPr id="14338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91263" y="3054350"/>
                            <a:ext cx="465137" cy="6619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" name="Line 51"/>
              <p:cNvSpPr>
                <a:spLocks noChangeShapeType="1"/>
              </p:cNvSpPr>
              <p:nvPr/>
            </p:nvSpPr>
            <p:spPr bwMode="auto">
              <a:xfrm flipV="1">
                <a:off x="6788917" y="3461345"/>
                <a:ext cx="0" cy="152400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52"/>
              <p:cNvSpPr>
                <a:spLocks noChangeShapeType="1"/>
              </p:cNvSpPr>
              <p:nvPr/>
            </p:nvSpPr>
            <p:spPr bwMode="auto">
              <a:xfrm flipH="1">
                <a:off x="6103117" y="4985345"/>
                <a:ext cx="685800" cy="68580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53"/>
              <p:cNvSpPr>
                <a:spLocks noChangeShapeType="1"/>
              </p:cNvSpPr>
              <p:nvPr/>
            </p:nvSpPr>
            <p:spPr bwMode="auto">
              <a:xfrm flipH="1" flipV="1">
                <a:off x="6788917" y="3461345"/>
                <a:ext cx="1143000" cy="68580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9" name="Object 5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4405637"/>
                  </p:ext>
                </p:extLst>
              </p:nvPr>
            </p:nvGraphicFramePr>
            <p:xfrm>
              <a:off x="8193088" y="4329113"/>
              <a:ext cx="506412" cy="684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52" name="Equation" r:id="rId23" imgW="190440" imgH="228600" progId="Equation.DSMT4">
                      <p:embed/>
                    </p:oleObj>
                  </mc:Choice>
                  <mc:Fallback>
                    <p:oleObj name="Equation" r:id="rId23" imgW="190440" imgH="228600" progId="Equation.DSMT4">
                      <p:embed/>
                      <p:pic>
                        <p:nvPicPr>
                          <p:cNvPr id="14339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93088" y="4329113"/>
                            <a:ext cx="506412" cy="6842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" name="Object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1500469"/>
                  </p:ext>
                </p:extLst>
              </p:nvPr>
            </p:nvGraphicFramePr>
            <p:xfrm>
              <a:off x="5757042" y="5280025"/>
              <a:ext cx="511996" cy="717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53" name="Equation" r:id="rId25" imgW="190440" imgH="228600" progId="Equation.DSMT4">
                      <p:embed/>
                    </p:oleObj>
                  </mc:Choice>
                  <mc:Fallback>
                    <p:oleObj name="Equation" r:id="rId25" imgW="190440" imgH="228600" progId="Equation.DSMT4">
                      <p:embed/>
                      <p:pic>
                        <p:nvPicPr>
                          <p:cNvPr id="1434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57042" y="5280025"/>
                            <a:ext cx="511996" cy="71755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Object 5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5344785"/>
                  </p:ext>
                </p:extLst>
              </p:nvPr>
            </p:nvGraphicFramePr>
            <p:xfrm>
              <a:off x="6415855" y="4718645"/>
              <a:ext cx="296863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54" name="Equation" r:id="rId27" imgW="164880" imgH="190440" progId="Equation.3">
                      <p:embed/>
                    </p:oleObj>
                  </mc:Choice>
                  <mc:Fallback>
                    <p:oleObj name="Equation" r:id="rId27" imgW="164880" imgH="190440" progId="Equation.3">
                      <p:embed/>
                      <p:pic>
                        <p:nvPicPr>
                          <p:cNvPr id="14341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15855" y="4718645"/>
                            <a:ext cx="296863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" name="组合 101"/>
            <p:cNvGrpSpPr/>
            <p:nvPr/>
          </p:nvGrpSpPr>
          <p:grpSpPr>
            <a:xfrm>
              <a:off x="6170394" y="2811067"/>
              <a:ext cx="1179335" cy="1000571"/>
              <a:chOff x="6688905" y="3765550"/>
              <a:chExt cx="1572446" cy="1334095"/>
            </a:xfrm>
          </p:grpSpPr>
          <p:graphicFrame>
            <p:nvGraphicFramePr>
              <p:cNvPr id="103" name="Object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1324367"/>
                  </p:ext>
                </p:extLst>
              </p:nvPr>
            </p:nvGraphicFramePr>
            <p:xfrm>
              <a:off x="7956551" y="3765550"/>
              <a:ext cx="3048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055" name="Equation" r:id="rId29" imgW="152280" imgH="228600" progId="Equation.DSMT4">
                      <p:embed/>
                    </p:oleObj>
                  </mc:Choice>
                  <mc:Fallback>
                    <p:oleObj name="Equation" r:id="rId29" imgW="152280" imgH="228600" progId="Equation.DSMT4">
                      <p:embed/>
                      <p:pic>
                        <p:nvPicPr>
                          <p:cNvPr id="14342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56551" y="3765550"/>
                            <a:ext cx="304800" cy="457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4" name="Line 43"/>
              <p:cNvSpPr>
                <a:spLocks noChangeShapeType="1"/>
              </p:cNvSpPr>
              <p:nvPr/>
            </p:nvSpPr>
            <p:spPr bwMode="auto">
              <a:xfrm flipV="1">
                <a:off x="6788918" y="4147145"/>
                <a:ext cx="1143000" cy="83820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Oval 42"/>
              <p:cNvSpPr>
                <a:spLocks noChangeArrowheads="1"/>
              </p:cNvSpPr>
              <p:nvPr/>
            </p:nvSpPr>
            <p:spPr bwMode="auto">
              <a:xfrm>
                <a:off x="6688905" y="4871045"/>
                <a:ext cx="228600" cy="228600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979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344858" y="271942"/>
            <a:ext cx="6477834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Blip>
                <a:blip r:embed="rId3"/>
              </a:buBlip>
              <a:defRPr sz="3200" b="1">
                <a:solidFill>
                  <a:srgbClr val="1C1C1C"/>
                </a:solidFill>
              </a:defRPr>
            </a:lvl1pPr>
          </a:lstStyle>
          <a:p>
            <a:r>
              <a:rPr lang="zh-CN" altLang="en-US" sz="2100" dirty="0">
                <a:solidFill>
                  <a:srgbClr val="CC0000"/>
                </a:solidFill>
              </a:rPr>
              <a:t> 统计规律</a:t>
            </a:r>
            <a:r>
              <a:rPr lang="en-US" altLang="zh-CN" sz="2100" dirty="0"/>
              <a:t>———</a:t>
            </a:r>
            <a:r>
              <a:rPr lang="zh-CN" altLang="en-US" sz="2100" dirty="0"/>
              <a:t>工欲善其事必先利其器</a:t>
            </a:r>
            <a:endParaRPr lang="zh-CN" altLang="en-US" sz="2100" dirty="0">
              <a:solidFill>
                <a:srgbClr val="CC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87911" y="667701"/>
            <a:ext cx="5042848" cy="758994"/>
            <a:chOff x="321468" y="1852057"/>
            <a:chExt cx="6723797" cy="1011992"/>
          </a:xfrm>
        </p:grpSpPr>
        <p:graphicFrame>
          <p:nvGraphicFramePr>
            <p:cNvPr id="1536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1411594"/>
                </p:ext>
              </p:extLst>
            </p:nvPr>
          </p:nvGraphicFramePr>
          <p:xfrm>
            <a:off x="5598319" y="1852057"/>
            <a:ext cx="1446946" cy="1011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0" name="Equation" r:id="rId4" imgW="431640" imgH="393480" progId="Equation.DSMT4">
                    <p:embed/>
                  </p:oleObj>
                </mc:Choice>
                <mc:Fallback>
                  <p:oleObj name="Equation" r:id="rId4" imgW="431640" imgH="393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8319" y="1852057"/>
                          <a:ext cx="1446946" cy="10119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7" name="Text Box 8"/>
            <p:cNvSpPr txBox="1">
              <a:spLocks noChangeArrowheads="1"/>
            </p:cNvSpPr>
            <p:nvPr/>
          </p:nvSpPr>
          <p:spPr bwMode="auto">
            <a:xfrm>
              <a:off x="321468" y="2076225"/>
              <a:ext cx="5101432" cy="6401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（</a:t>
              </a:r>
              <a:r>
                <a:rPr lang="en-US" altLang="zh-CN" sz="2100" b="1" dirty="0">
                  <a:solidFill>
                    <a:srgbClr val="CC0000"/>
                  </a:solidFill>
                  <a:latin typeface="Times New Roman" pitchFamily="18" charset="0"/>
                </a:rPr>
                <a:t>1</a:t>
              </a:r>
              <a:r>
                <a:rPr lang="zh-CN" altLang="en-US" sz="2100" b="1" dirty="0">
                  <a:solidFill>
                    <a:srgbClr val="CC0000"/>
                  </a:solidFill>
                </a:rPr>
                <a:t>）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分子按位置</a:t>
              </a:r>
              <a:r>
                <a:rPr lang="zh-CN" altLang="en-US" sz="2100" b="1" dirty="0">
                  <a:solidFill>
                    <a:srgbClr val="0000CC"/>
                  </a:solidFill>
                </a:rPr>
                <a:t>均匀分布</a:t>
              </a:r>
              <a:endParaRPr lang="en-US" altLang="zh-CN" sz="2100" b="1" dirty="0">
                <a:solidFill>
                  <a:srgbClr val="0000CC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359336" y="1490448"/>
            <a:ext cx="6227868" cy="540000"/>
            <a:chOff x="283368" y="3078376"/>
            <a:chExt cx="8303824" cy="720000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83368" y="3113956"/>
              <a:ext cx="6096000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（</a:t>
              </a:r>
              <a:r>
                <a:rPr lang="en-US" altLang="zh-CN" sz="2100" b="1" dirty="0">
                  <a:solidFill>
                    <a:srgbClr val="CC0000"/>
                  </a:solidFill>
                  <a:latin typeface="Times New Roman" pitchFamily="18" charset="0"/>
                </a:rPr>
                <a:t>2</a:t>
              </a:r>
              <a:r>
                <a:rPr lang="zh-CN" altLang="en-US" sz="2100" b="1" dirty="0">
                  <a:solidFill>
                    <a:srgbClr val="CC0000"/>
                  </a:solidFill>
                </a:rPr>
                <a:t>）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分子各方向运动</a:t>
              </a:r>
              <a:r>
                <a:rPr lang="zh-CN" altLang="en-US" sz="2100" b="1" dirty="0">
                  <a:solidFill>
                    <a:srgbClr val="0000CC"/>
                  </a:solidFill>
                </a:rPr>
                <a:t>概率均等</a:t>
              </a:r>
              <a:endParaRPr lang="en-US" altLang="zh-CN" sz="2100" b="1" dirty="0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6944087"/>
                </p:ext>
              </p:extLst>
            </p:nvPr>
          </p:nvGraphicFramePr>
          <p:xfrm>
            <a:off x="5572919" y="3078376"/>
            <a:ext cx="3014273" cy="72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1" name="Equation" r:id="rId6" imgW="1002960" imgH="241200" progId="Equation.DSMT4">
                    <p:embed/>
                  </p:oleObj>
                </mc:Choice>
                <mc:Fallback>
                  <p:oleObj name="Equation" r:id="rId6" imgW="10029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919" y="3078376"/>
                          <a:ext cx="3014273" cy="720000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066197"/>
              </p:ext>
            </p:extLst>
          </p:nvPr>
        </p:nvGraphicFramePr>
        <p:xfrm>
          <a:off x="2064544" y="4220766"/>
          <a:ext cx="2356247" cy="551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2" name="Equation" r:id="rId8" imgW="1066680" imgH="253800" progId="Equation.DSMT4">
                  <p:embed/>
                </p:oleObj>
              </mc:Choice>
              <mc:Fallback>
                <p:oleObj name="Equation" r:id="rId8" imgW="1066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544" y="4220766"/>
                        <a:ext cx="2356247" cy="5512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359337" y="2093342"/>
            <a:ext cx="6410510" cy="810000"/>
            <a:chOff x="283368" y="3893539"/>
            <a:chExt cx="8547347" cy="1080000"/>
          </a:xfrm>
        </p:grpSpPr>
        <p:sp>
          <p:nvSpPr>
            <p:cNvPr id="27" name="Text Box 11"/>
            <p:cNvSpPr txBox="1">
              <a:spLocks noChangeArrowheads="1"/>
            </p:cNvSpPr>
            <p:nvPr/>
          </p:nvSpPr>
          <p:spPr bwMode="auto">
            <a:xfrm>
              <a:off x="283368" y="4015656"/>
              <a:ext cx="6096000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CC0000"/>
                  </a:solidFill>
                </a:rPr>
                <a:t>（</a:t>
              </a:r>
              <a:r>
                <a:rPr lang="en-US" altLang="zh-CN" sz="2100" b="1" dirty="0">
                  <a:solidFill>
                    <a:srgbClr val="CC0000"/>
                  </a:solidFill>
                  <a:latin typeface="Times New Roman" pitchFamily="18" charset="0"/>
                </a:rPr>
                <a:t>3</a:t>
              </a:r>
              <a:r>
                <a:rPr lang="zh-CN" altLang="en-US" sz="2100" b="1" dirty="0">
                  <a:solidFill>
                    <a:srgbClr val="CC0000"/>
                  </a:solidFill>
                </a:rPr>
                <a:t>）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各方向</a:t>
              </a:r>
              <a:r>
                <a:rPr lang="zh-CN" altLang="en-US" sz="2100" b="1" dirty="0">
                  <a:solidFill>
                    <a:srgbClr val="0000CC"/>
                  </a:solidFill>
                </a:rPr>
                <a:t>均方速度都相等</a:t>
              </a:r>
              <a:endParaRPr lang="en-US" altLang="zh-CN" sz="2100" b="1" dirty="0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6156327"/>
                </p:ext>
              </p:extLst>
            </p:nvPr>
          </p:nvGraphicFramePr>
          <p:xfrm>
            <a:off x="5547518" y="3893539"/>
            <a:ext cx="3283197" cy="108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3" name="Equation" r:id="rId10" imgW="1193760" imgH="393480" progId="Equation.DSMT4">
                    <p:embed/>
                  </p:oleObj>
                </mc:Choice>
                <mc:Fallback>
                  <p:oleObj name="Equation" r:id="rId10" imgW="11937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7518" y="3893539"/>
                          <a:ext cx="3283197" cy="1080000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546383"/>
              </p:ext>
            </p:extLst>
          </p:nvPr>
        </p:nvGraphicFramePr>
        <p:xfrm>
          <a:off x="2046685" y="3082529"/>
          <a:ext cx="1894284" cy="891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4" name="Equation" r:id="rId12" imgW="876240" imgH="419040" progId="Equation.DSMT4">
                  <p:embed/>
                </p:oleObj>
              </mc:Choice>
              <mc:Fallback>
                <p:oleObj name="Equation" r:id="rId12" imgW="87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685" y="3082529"/>
                        <a:ext cx="1894284" cy="89177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4533567" y="2854712"/>
            <a:ext cx="1324540" cy="1716126"/>
            <a:chOff x="4520755" y="3806283"/>
            <a:chExt cx="1766053" cy="2288168"/>
          </a:xfrm>
        </p:grpSpPr>
        <p:sp>
          <p:nvSpPr>
            <p:cNvPr id="6" name="右大括号 5"/>
            <p:cNvSpPr/>
            <p:nvPr/>
          </p:nvSpPr>
          <p:spPr>
            <a:xfrm>
              <a:off x="4520755" y="4443451"/>
              <a:ext cx="280670" cy="1651000"/>
            </a:xfrm>
            <a:prstGeom prst="rightBrace">
              <a:avLst>
                <a:gd name="adj1" fmla="val 28281"/>
                <a:gd name="adj2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直角上箭头 28"/>
            <p:cNvSpPr/>
            <p:nvPr/>
          </p:nvSpPr>
          <p:spPr>
            <a:xfrm>
              <a:off x="4751138" y="3806283"/>
              <a:ext cx="1535670" cy="1490004"/>
            </a:xfrm>
            <a:prstGeom prst="bentUpArrow">
              <a:avLst>
                <a:gd name="adj1" fmla="val 4167"/>
                <a:gd name="adj2" fmla="val 7382"/>
                <a:gd name="adj3" fmla="val 41923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109145" y="4248896"/>
            <a:ext cx="2256527" cy="0"/>
            <a:chOff x="1288193" y="5665195"/>
            <a:chExt cx="3008702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288193" y="5665195"/>
              <a:ext cx="3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142392" y="5665195"/>
              <a:ext cx="3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996270" y="5665195"/>
              <a:ext cx="3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3936895" y="5665195"/>
              <a:ext cx="3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2148895" y="4229846"/>
            <a:ext cx="2190719" cy="533400"/>
            <a:chOff x="1341193" y="5639795"/>
            <a:chExt cx="2920958" cy="711200"/>
          </a:xfrm>
        </p:grpSpPr>
        <p:graphicFrame>
          <p:nvGraphicFramePr>
            <p:cNvPr id="2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896718"/>
                </p:ext>
              </p:extLst>
            </p:nvPr>
          </p:nvGraphicFramePr>
          <p:xfrm>
            <a:off x="1341193" y="5643601"/>
            <a:ext cx="341312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5" name="Equation" r:id="rId14" imgW="101520" imgH="241200" progId="Equation.DSMT4">
                    <p:embed/>
                  </p:oleObj>
                </mc:Choice>
                <mc:Fallback>
                  <p:oleObj name="Equation" r:id="rId14" imgW="101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193" y="5643601"/>
                          <a:ext cx="341312" cy="6985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7366261"/>
                </p:ext>
              </p:extLst>
            </p:nvPr>
          </p:nvGraphicFramePr>
          <p:xfrm>
            <a:off x="2186480" y="5652495"/>
            <a:ext cx="341312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6" name="Equation" r:id="rId16" imgW="101520" imgH="241200" progId="Equation.DSMT4">
                    <p:embed/>
                  </p:oleObj>
                </mc:Choice>
                <mc:Fallback>
                  <p:oleObj name="Equation" r:id="rId16" imgW="101520" imgH="241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6480" y="5652495"/>
                          <a:ext cx="341312" cy="698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1612283"/>
                </p:ext>
              </p:extLst>
            </p:nvPr>
          </p:nvGraphicFramePr>
          <p:xfrm>
            <a:off x="3055734" y="5639795"/>
            <a:ext cx="341312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7" name="Equation" r:id="rId18" imgW="101520" imgH="241200" progId="Equation.DSMT4">
                    <p:embed/>
                  </p:oleObj>
                </mc:Choice>
                <mc:Fallback>
                  <p:oleObj name="Equation" r:id="rId18" imgW="101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734" y="5639795"/>
                          <a:ext cx="341312" cy="698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7411101"/>
                </p:ext>
              </p:extLst>
            </p:nvPr>
          </p:nvGraphicFramePr>
          <p:xfrm>
            <a:off x="3920839" y="5639795"/>
            <a:ext cx="341312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08" name="Equation" r:id="rId19" imgW="101520" imgH="241200" progId="Equation.DSMT4">
                    <p:embed/>
                  </p:oleObj>
                </mc:Choice>
                <mc:Fallback>
                  <p:oleObj name="Equation" r:id="rId19" imgW="101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839" y="5639795"/>
                          <a:ext cx="341312" cy="698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9932" y="3149721"/>
            <a:ext cx="1938448" cy="1927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083228" y="1580971"/>
            <a:ext cx="3334941" cy="441722"/>
            <a:chOff x="3072" y="1344"/>
            <a:chExt cx="2801" cy="371"/>
          </a:xfrm>
        </p:grpSpPr>
        <p:sp>
          <p:nvSpPr>
            <p:cNvPr id="17452" name="Text Box 3"/>
            <p:cNvSpPr txBox="1">
              <a:spLocks noChangeArrowheads="1"/>
            </p:cNvSpPr>
            <p:nvPr/>
          </p:nvSpPr>
          <p:spPr bwMode="auto">
            <a:xfrm>
              <a:off x="3072" y="1344"/>
              <a:ext cx="2544" cy="34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1C1C1C"/>
                  </a:solidFill>
                </a:rPr>
                <a:t>分子施于器壁的冲量</a:t>
              </a:r>
              <a:r>
                <a:rPr lang="en-US" altLang="zh-CN" sz="2100" b="1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  <p:graphicFrame>
          <p:nvGraphicFramePr>
            <p:cNvPr id="1742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6430004"/>
                </p:ext>
              </p:extLst>
            </p:nvPr>
          </p:nvGraphicFramePr>
          <p:xfrm>
            <a:off x="5271" y="1352"/>
            <a:ext cx="60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65" name="Equation" r:id="rId3" imgW="380880" imgH="228600" progId="Equation.DSMT4">
                    <p:embed/>
                  </p:oleObj>
                </mc:Choice>
                <mc:Fallback>
                  <p:oleObj name="Equation" r:id="rId3" imgW="38088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1" y="1352"/>
                          <a:ext cx="602" cy="36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1083228" y="844054"/>
            <a:ext cx="3788570" cy="461964"/>
            <a:chOff x="3306" y="396"/>
            <a:chExt cx="3182" cy="388"/>
          </a:xfrm>
        </p:grpSpPr>
        <p:graphicFrame>
          <p:nvGraphicFramePr>
            <p:cNvPr id="17410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5777008"/>
                </p:ext>
              </p:extLst>
            </p:nvPr>
          </p:nvGraphicFramePr>
          <p:xfrm>
            <a:off x="4991" y="412"/>
            <a:ext cx="149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66" name="Equation" r:id="rId5" imgW="876240" imgH="228600" progId="Equation.DSMT4">
                    <p:embed/>
                  </p:oleObj>
                </mc:Choice>
                <mc:Fallback>
                  <p:oleObj name="Equation" r:id="rId5" imgW="876240" imgH="2286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1" y="412"/>
                          <a:ext cx="1497" cy="36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Text Box 46"/>
            <p:cNvSpPr txBox="1">
              <a:spLocks noChangeArrowheads="1"/>
            </p:cNvSpPr>
            <p:nvPr/>
          </p:nvSpPr>
          <p:spPr bwMode="auto">
            <a:xfrm>
              <a:off x="3306" y="396"/>
              <a:ext cx="2016" cy="3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i="1" dirty="0">
                  <a:solidFill>
                    <a:srgbClr val="1C1C1C"/>
                  </a:solidFill>
                  <a:latin typeface="Times New Roman" pitchFamily="18" charset="0"/>
                </a:rPr>
                <a:t> </a:t>
              </a:r>
              <a:r>
                <a:rPr lang="en-US" altLang="zh-CN" sz="2400" i="1" dirty="0">
                  <a:solidFill>
                    <a:srgbClr val="1C1C1C"/>
                  </a:solidFill>
                  <a:latin typeface="Times New Roman" pitchFamily="18" charset="0"/>
                </a:rPr>
                <a:t>x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方向动量变化</a:t>
              </a:r>
              <a:r>
                <a:rPr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</p:grpSp>
      <p:sp>
        <p:nvSpPr>
          <p:cNvPr id="17427" name="Text Box 53"/>
          <p:cNvSpPr txBox="1">
            <a:spLocks noChangeArrowheads="1"/>
          </p:cNvSpPr>
          <p:nvPr/>
        </p:nvSpPr>
        <p:spPr bwMode="auto">
          <a:xfrm>
            <a:off x="858630" y="314166"/>
            <a:ext cx="5198269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7"/>
              </a:buBlip>
            </a:pPr>
            <a:r>
              <a:rPr lang="en-US" altLang="zh-CN" sz="2100" b="1" dirty="0">
                <a:solidFill>
                  <a:srgbClr val="1C1C1C"/>
                </a:solidFill>
              </a:rPr>
              <a:t> </a:t>
            </a:r>
            <a:r>
              <a:rPr lang="zh-CN" altLang="en-US" sz="2100" b="1" dirty="0">
                <a:solidFill>
                  <a:srgbClr val="C00000"/>
                </a:solidFill>
              </a:rPr>
              <a:t>单个分子</a:t>
            </a:r>
            <a:r>
              <a:rPr lang="zh-CN" altLang="en-US" sz="2100" b="1" dirty="0">
                <a:solidFill>
                  <a:srgbClr val="1C1C1C"/>
                </a:solidFill>
              </a:rPr>
              <a:t>遵循力学规律</a:t>
            </a:r>
            <a:endParaRPr lang="en-US" altLang="zh-CN" sz="2100" b="1" dirty="0">
              <a:solidFill>
                <a:srgbClr val="1C1C1C"/>
              </a:solidFill>
              <a:latin typeface="Times New Roman" pitchFamily="18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83228" y="2308361"/>
            <a:ext cx="2914650" cy="837000"/>
            <a:chOff x="0" y="3052079"/>
            <a:chExt cx="3886200" cy="1116000"/>
          </a:xfrm>
        </p:grpSpPr>
        <p:sp>
          <p:nvSpPr>
            <p:cNvPr id="45" name="Text Box 8"/>
            <p:cNvSpPr txBox="1">
              <a:spLocks noChangeArrowheads="1"/>
            </p:cNvSpPr>
            <p:nvPr/>
          </p:nvSpPr>
          <p:spPr bwMode="auto">
            <a:xfrm>
              <a:off x="0" y="3284984"/>
              <a:ext cx="3886200" cy="55399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1C1C1C"/>
                  </a:solidFill>
                </a:rPr>
                <a:t>两次碰撞间隔时间</a:t>
              </a:r>
              <a:r>
                <a:rPr lang="en-US" altLang="zh-CN" sz="2100" b="1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  <p:graphicFrame>
          <p:nvGraphicFramePr>
            <p:cNvPr id="4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8495751"/>
                </p:ext>
              </p:extLst>
            </p:nvPr>
          </p:nvGraphicFramePr>
          <p:xfrm>
            <a:off x="3174051" y="3052079"/>
            <a:ext cx="622248" cy="11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67" name="Equation" r:id="rId8" imgW="228600" imgH="431640" progId="Equation.DSMT4">
                    <p:embed/>
                  </p:oleObj>
                </mc:Choice>
                <mc:Fallback>
                  <p:oleObj name="Equation" r:id="rId8" imgW="228600" imgH="4316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4051" y="3052079"/>
                          <a:ext cx="622248" cy="11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14"/>
          <p:cNvGrpSpPr>
            <a:grpSpLocks/>
          </p:cNvGrpSpPr>
          <p:nvPr/>
        </p:nvGrpSpPr>
        <p:grpSpPr bwMode="auto">
          <a:xfrm>
            <a:off x="1083228" y="3236151"/>
            <a:ext cx="3257550" cy="783433"/>
            <a:chOff x="817" y="1281"/>
            <a:chExt cx="2736" cy="658"/>
          </a:xfrm>
        </p:grpSpPr>
        <p:sp>
          <p:nvSpPr>
            <p:cNvPr id="48" name="Text Box 11"/>
            <p:cNvSpPr txBox="1">
              <a:spLocks noChangeArrowheads="1"/>
            </p:cNvSpPr>
            <p:nvPr/>
          </p:nvSpPr>
          <p:spPr bwMode="auto">
            <a:xfrm>
              <a:off x="817" y="1437"/>
              <a:ext cx="2736" cy="34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</a:rPr>
                <a:t>单位时间碰撞次数</a:t>
              </a:r>
              <a:r>
                <a:rPr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  <p:graphicFrame>
          <p:nvGraphicFramePr>
            <p:cNvPr id="4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0794691"/>
                </p:ext>
              </p:extLst>
            </p:nvPr>
          </p:nvGraphicFramePr>
          <p:xfrm>
            <a:off x="2803" y="1281"/>
            <a:ext cx="379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68" name="Equation" r:id="rId10" imgW="228600" imgH="393480" progId="Equation.DSMT4">
                    <p:embed/>
                  </p:oleObj>
                </mc:Choice>
                <mc:Fallback>
                  <p:oleObj name="Equation" r:id="rId10" imgW="228600" imgH="3934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" y="1281"/>
                          <a:ext cx="379" cy="6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/>
          <p:cNvGrpSpPr/>
          <p:nvPr/>
        </p:nvGrpSpPr>
        <p:grpSpPr>
          <a:xfrm>
            <a:off x="1083228" y="3997405"/>
            <a:ext cx="5007057" cy="844153"/>
            <a:chOff x="251520" y="4580325"/>
            <a:chExt cx="6676076" cy="1125537"/>
          </a:xfrm>
        </p:grpSpPr>
        <p:sp>
          <p:nvSpPr>
            <p:cNvPr id="51" name="Text Box 5"/>
            <p:cNvSpPr txBox="1">
              <a:spLocks noChangeArrowheads="1"/>
            </p:cNvSpPr>
            <p:nvPr/>
          </p:nvSpPr>
          <p:spPr bwMode="auto">
            <a:xfrm>
              <a:off x="251520" y="4848592"/>
              <a:ext cx="6653015" cy="6401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100" b="1" dirty="0">
                  <a:solidFill>
                    <a:srgbClr val="1C1C1C"/>
                  </a:solidFill>
                </a:rPr>
                <a:t>单个分子单位时间施于器壁的冲量</a:t>
              </a:r>
              <a:r>
                <a:rPr lang="en-US" altLang="zh-CN" sz="2100" b="1" dirty="0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  <p:graphicFrame>
          <p:nvGraphicFramePr>
            <p:cNvPr id="5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2744334"/>
                </p:ext>
              </p:extLst>
            </p:nvPr>
          </p:nvGraphicFramePr>
          <p:xfrm>
            <a:off x="5905246" y="4580325"/>
            <a:ext cx="1022350" cy="1125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69" name="Equation" r:id="rId12" imgW="342720" imgH="419040" progId="Equation.DSMT4">
                    <p:embed/>
                  </p:oleObj>
                </mc:Choice>
                <mc:Fallback>
                  <p:oleObj name="Equation" r:id="rId12" imgW="342720" imgH="4190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5246" y="4580325"/>
                          <a:ext cx="1022350" cy="1125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5513772" y="844054"/>
            <a:ext cx="3486150" cy="2686050"/>
            <a:chOff x="1836669" y="1988790"/>
            <a:chExt cx="3486150" cy="2686050"/>
          </a:xfrm>
        </p:grpSpPr>
        <p:grpSp>
          <p:nvGrpSpPr>
            <p:cNvPr id="54" name="组合 53"/>
            <p:cNvGrpSpPr/>
            <p:nvPr/>
          </p:nvGrpSpPr>
          <p:grpSpPr>
            <a:xfrm>
              <a:off x="3463954" y="3162603"/>
              <a:ext cx="1040608" cy="708420"/>
              <a:chOff x="3128342" y="4077299"/>
              <a:chExt cx="1387477" cy="944560"/>
            </a:xfrm>
          </p:grpSpPr>
          <p:grpSp>
            <p:nvGrpSpPr>
              <p:cNvPr id="55" name="Group 6"/>
              <p:cNvGrpSpPr>
                <a:grpSpLocks/>
              </p:cNvGrpSpPr>
              <p:nvPr/>
            </p:nvGrpSpPr>
            <p:grpSpPr bwMode="auto">
              <a:xfrm>
                <a:off x="3177556" y="4077299"/>
                <a:ext cx="1338263" cy="546101"/>
                <a:chOff x="2091" y="2626"/>
                <a:chExt cx="843" cy="344"/>
              </a:xfrm>
            </p:grpSpPr>
            <p:graphicFrame>
              <p:nvGraphicFramePr>
                <p:cNvPr id="81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66377861"/>
                    </p:ext>
                  </p:extLst>
                </p:nvPr>
              </p:nvGraphicFramePr>
              <p:xfrm>
                <a:off x="2091" y="2626"/>
                <a:ext cx="487" cy="3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8570" name="Equation" r:id="rId14" imgW="304560" imgH="228600" progId="Equation.DSMT4">
                        <p:embed/>
                      </p:oleObj>
                    </mc:Choice>
                    <mc:Fallback>
                      <p:oleObj name="Equation" r:id="rId14" imgW="304560" imgH="228600" progId="Equation.DSMT4">
                        <p:embed/>
                        <p:pic>
                          <p:nvPicPr>
                            <p:cNvPr id="14354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91" y="2626"/>
                              <a:ext cx="487" cy="344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" name="Line 8"/>
                <p:cNvSpPr>
                  <a:spLocks noChangeShapeType="1"/>
                </p:cNvSpPr>
                <p:nvPr/>
              </p:nvSpPr>
              <p:spPr bwMode="auto">
                <a:xfrm>
                  <a:off x="2602" y="2891"/>
                  <a:ext cx="3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Group 9"/>
              <p:cNvGrpSpPr>
                <a:grpSpLocks/>
              </p:cNvGrpSpPr>
              <p:nvPr/>
            </p:nvGrpSpPr>
            <p:grpSpPr bwMode="auto">
              <a:xfrm>
                <a:off x="3128342" y="4493221"/>
                <a:ext cx="1346200" cy="528638"/>
                <a:chOff x="2060" y="2888"/>
                <a:chExt cx="848" cy="333"/>
              </a:xfrm>
            </p:grpSpPr>
            <p:graphicFrame>
              <p:nvGraphicFramePr>
                <p:cNvPr id="67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65705519"/>
                    </p:ext>
                  </p:extLst>
                </p:nvPr>
              </p:nvGraphicFramePr>
              <p:xfrm>
                <a:off x="2060" y="2888"/>
                <a:ext cx="545" cy="3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8571" name="Equation" r:id="rId16" imgW="355320" imgH="228600" progId="Equation.DSMT4">
                        <p:embed/>
                      </p:oleObj>
                    </mc:Choice>
                    <mc:Fallback>
                      <p:oleObj name="Equation" r:id="rId16" imgW="355320" imgH="228600" progId="Equation.DSMT4">
                        <p:embed/>
                        <p:pic>
                          <p:nvPicPr>
                            <p:cNvPr id="14353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0" y="2888"/>
                              <a:ext cx="545" cy="333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8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582" y="3032"/>
                  <a:ext cx="32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8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9875332"/>
                </p:ext>
              </p:extLst>
            </p:nvPr>
          </p:nvGraphicFramePr>
          <p:xfrm>
            <a:off x="2179569" y="3074640"/>
            <a:ext cx="3238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2" name="Equation" r:id="rId18" imgW="291960" imgH="317160" progId="Equation.3">
                    <p:embed/>
                  </p:oleObj>
                </mc:Choice>
                <mc:Fallback>
                  <p:oleObj name="Equation" r:id="rId18" imgW="291960" imgH="317160" progId="Equation.3">
                    <p:embed/>
                    <p:pic>
                      <p:nvPicPr>
                        <p:cNvPr id="1434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569" y="3074640"/>
                          <a:ext cx="32385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4" name="Group 13"/>
            <p:cNvGrpSpPr>
              <a:grpSpLocks/>
            </p:cNvGrpSpPr>
            <p:nvPr/>
          </p:nvGrpSpPr>
          <p:grpSpPr bwMode="auto">
            <a:xfrm>
              <a:off x="2710858" y="2801102"/>
              <a:ext cx="919163" cy="807244"/>
              <a:chOff x="3840" y="2682"/>
              <a:chExt cx="772" cy="678"/>
            </a:xfrm>
          </p:grpSpPr>
          <p:sp>
            <p:nvSpPr>
              <p:cNvPr id="85" name="Oval 14"/>
              <p:cNvSpPr>
                <a:spLocks noChangeArrowheads="1"/>
              </p:cNvSpPr>
              <p:nvPr/>
            </p:nvSpPr>
            <p:spPr bwMode="auto">
              <a:xfrm>
                <a:off x="3840" y="321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15"/>
              <p:cNvSpPr>
                <a:spLocks noChangeShapeType="1"/>
              </p:cNvSpPr>
              <p:nvPr/>
            </p:nvSpPr>
            <p:spPr bwMode="auto">
              <a:xfrm flipV="1">
                <a:off x="3936" y="2928"/>
                <a:ext cx="480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7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683711"/>
                  </p:ext>
                </p:extLst>
              </p:nvPr>
            </p:nvGraphicFramePr>
            <p:xfrm>
              <a:off x="4384" y="2682"/>
              <a:ext cx="228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573" name="Equation" r:id="rId20" imgW="152280" imgH="228600" progId="Equation.DSMT4">
                      <p:embed/>
                    </p:oleObj>
                  </mc:Choice>
                  <mc:Fallback>
                    <p:oleObj name="Equation" r:id="rId20" imgW="152280" imgH="228600" progId="Equation.DSMT4">
                      <p:embed/>
                      <p:pic>
                        <p:nvPicPr>
                          <p:cNvPr id="14352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4" y="2682"/>
                            <a:ext cx="228" cy="342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8" name="Line 18"/>
            <p:cNvSpPr>
              <a:spLocks noChangeShapeType="1"/>
            </p:cNvSpPr>
            <p:nvPr/>
          </p:nvSpPr>
          <p:spPr bwMode="auto">
            <a:xfrm flipV="1">
              <a:off x="2693919" y="1988790"/>
              <a:ext cx="0" cy="188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782225"/>
                </p:ext>
              </p:extLst>
            </p:nvPr>
          </p:nvGraphicFramePr>
          <p:xfrm>
            <a:off x="2460557" y="3703290"/>
            <a:ext cx="254794" cy="280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4" name="Equation" r:id="rId22" imgW="126720" imgH="139680" progId="Equation.3">
                    <p:embed/>
                  </p:oleObj>
                </mc:Choice>
                <mc:Fallback>
                  <p:oleObj name="Equation" r:id="rId22" imgW="126720" imgH="139680" progId="Equation.3">
                    <p:embed/>
                    <p:pic>
                      <p:nvPicPr>
                        <p:cNvPr id="1434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557" y="3703290"/>
                          <a:ext cx="254794" cy="280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20"/>
            <p:cNvSpPr>
              <a:spLocks noChangeShapeType="1"/>
            </p:cNvSpPr>
            <p:nvPr/>
          </p:nvSpPr>
          <p:spPr bwMode="auto">
            <a:xfrm flipV="1">
              <a:off x="2693919" y="3874740"/>
              <a:ext cx="2628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 flipH="1">
              <a:off x="1836669" y="3874740"/>
              <a:ext cx="857250" cy="742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AutoShape 25"/>
            <p:cNvSpPr>
              <a:spLocks noChangeArrowheads="1"/>
            </p:cNvSpPr>
            <p:nvPr/>
          </p:nvSpPr>
          <p:spPr bwMode="auto">
            <a:xfrm>
              <a:off x="2209305" y="2381406"/>
              <a:ext cx="2571750" cy="1943100"/>
            </a:xfrm>
            <a:prstGeom prst="cube">
              <a:avLst>
                <a:gd name="adj" fmla="val 24681"/>
              </a:avLst>
            </a:prstGeom>
            <a:solidFill>
              <a:srgbClr val="CCFFCC">
                <a:alpha val="30196"/>
              </a:srgbClr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4751319" y="2379315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4" name="Line 27"/>
            <p:cNvSpPr>
              <a:spLocks noChangeShapeType="1"/>
            </p:cNvSpPr>
            <p:nvPr/>
          </p:nvSpPr>
          <p:spPr bwMode="auto">
            <a:xfrm>
              <a:off x="4979919" y="3360390"/>
              <a:ext cx="0" cy="5143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5" name="Line 28"/>
            <p:cNvSpPr>
              <a:spLocks noChangeShapeType="1"/>
            </p:cNvSpPr>
            <p:nvPr/>
          </p:nvSpPr>
          <p:spPr bwMode="auto">
            <a:xfrm flipV="1">
              <a:off x="4979919" y="2388840"/>
              <a:ext cx="0" cy="6286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9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0210862"/>
                </p:ext>
              </p:extLst>
            </p:nvPr>
          </p:nvGraphicFramePr>
          <p:xfrm>
            <a:off x="4808469" y="3012727"/>
            <a:ext cx="34171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5" name="Equation" r:id="rId24" imgW="139680" imgH="164880" progId="Equation.3">
                    <p:embed/>
                  </p:oleObj>
                </mc:Choice>
                <mc:Fallback>
                  <p:oleObj name="Equation" r:id="rId24" imgW="139680" imgH="164880" progId="Equation.3">
                    <p:embed/>
                    <p:pic>
                      <p:nvPicPr>
                        <p:cNvPr id="1434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469" y="3012727"/>
                          <a:ext cx="341710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Line 30"/>
            <p:cNvSpPr>
              <a:spLocks noChangeShapeType="1"/>
            </p:cNvSpPr>
            <p:nvPr/>
          </p:nvSpPr>
          <p:spPr bwMode="auto">
            <a:xfrm>
              <a:off x="4294119" y="4331940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" name="Line 31"/>
            <p:cNvSpPr>
              <a:spLocks noChangeShapeType="1"/>
            </p:cNvSpPr>
            <p:nvPr/>
          </p:nvSpPr>
          <p:spPr bwMode="auto">
            <a:xfrm flipH="1">
              <a:off x="4522719" y="416049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" name="Line 32"/>
            <p:cNvSpPr>
              <a:spLocks noChangeShapeType="1"/>
            </p:cNvSpPr>
            <p:nvPr/>
          </p:nvSpPr>
          <p:spPr bwMode="auto">
            <a:xfrm flipH="1">
              <a:off x="4808469" y="387474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0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41241"/>
                </p:ext>
              </p:extLst>
            </p:nvPr>
          </p:nvGraphicFramePr>
          <p:xfrm>
            <a:off x="4667975" y="4017615"/>
            <a:ext cx="2857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6" name="Equation" r:id="rId26" imgW="126720" imgH="126720" progId="Equation.DSMT4">
                    <p:embed/>
                  </p:oleObj>
                </mc:Choice>
                <mc:Fallback>
                  <p:oleObj name="Equation" r:id="rId26" imgW="126720" imgH="126720" progId="Equation.DSMT4">
                    <p:embed/>
                    <p:pic>
                      <p:nvPicPr>
                        <p:cNvPr id="1435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7975" y="4017615"/>
                          <a:ext cx="285750" cy="2857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Line 34"/>
            <p:cNvSpPr>
              <a:spLocks noChangeShapeType="1"/>
            </p:cNvSpPr>
            <p:nvPr/>
          </p:nvSpPr>
          <p:spPr bwMode="auto">
            <a:xfrm>
              <a:off x="429411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Line 35"/>
            <p:cNvSpPr>
              <a:spLocks noChangeShapeType="1"/>
            </p:cNvSpPr>
            <p:nvPr/>
          </p:nvSpPr>
          <p:spPr bwMode="auto">
            <a:xfrm>
              <a:off x="217956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Line 36"/>
            <p:cNvSpPr>
              <a:spLocks noChangeShapeType="1"/>
            </p:cNvSpPr>
            <p:nvPr/>
          </p:nvSpPr>
          <p:spPr bwMode="auto">
            <a:xfrm>
              <a:off x="3322569" y="4503390"/>
              <a:ext cx="97155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4" name="Line 37"/>
            <p:cNvSpPr>
              <a:spLocks noChangeShapeType="1"/>
            </p:cNvSpPr>
            <p:nvPr/>
          </p:nvSpPr>
          <p:spPr bwMode="auto">
            <a:xfrm flipH="1">
              <a:off x="2179569" y="4503390"/>
              <a:ext cx="80010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5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2997553"/>
                </p:ext>
              </p:extLst>
            </p:nvPr>
          </p:nvGraphicFramePr>
          <p:xfrm>
            <a:off x="2979669" y="4331940"/>
            <a:ext cx="310754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7" name="Equation" r:id="rId28" imgW="126720" imgH="139680" progId="Equation.3">
                    <p:embed/>
                  </p:oleObj>
                </mc:Choice>
                <mc:Fallback>
                  <p:oleObj name="Equation" r:id="rId28" imgW="126720" imgH="139680" progId="Equation.3">
                    <p:embed/>
                    <p:pic>
                      <p:nvPicPr>
                        <p:cNvPr id="14351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669" y="4331940"/>
                          <a:ext cx="310754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583129"/>
                </p:ext>
              </p:extLst>
            </p:nvPr>
          </p:nvGraphicFramePr>
          <p:xfrm>
            <a:off x="4408419" y="2788890"/>
            <a:ext cx="282179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8" name="Equation" r:id="rId30" imgW="253800" imgH="317160" progId="Equation.3">
                    <p:embed/>
                  </p:oleObj>
                </mc:Choice>
                <mc:Fallback>
                  <p:oleObj name="Equation" r:id="rId30" imgW="253800" imgH="317160" progId="Equation.3">
                    <p:embed/>
                    <p:pic>
                      <p:nvPicPr>
                        <p:cNvPr id="14344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419" y="2788890"/>
                          <a:ext cx="282179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61221" y="782172"/>
            <a:ext cx="523875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1C1C1C"/>
                </a:solidFill>
              </a:rPr>
              <a:t>单位时间 </a:t>
            </a:r>
            <a:r>
              <a:rPr lang="en-US" altLang="zh-CN" sz="2100" b="1" i="1" dirty="0">
                <a:solidFill>
                  <a:srgbClr val="1C1C1C"/>
                </a:solidFill>
                <a:latin typeface="Times New Roman" pitchFamily="18" charset="0"/>
              </a:rPr>
              <a:t>N</a:t>
            </a:r>
            <a:r>
              <a:rPr lang="en-US" altLang="zh-CN" sz="2100" b="1" dirty="0">
                <a:solidFill>
                  <a:srgbClr val="1C1C1C"/>
                </a:solidFill>
              </a:rPr>
              <a:t> </a:t>
            </a:r>
            <a:r>
              <a:rPr lang="zh-CN" altLang="en-US" sz="2100" b="1" dirty="0">
                <a:solidFill>
                  <a:srgbClr val="1C1C1C"/>
                </a:solidFill>
              </a:rPr>
              <a:t>个分子对器壁</a:t>
            </a:r>
            <a:r>
              <a:rPr lang="zh-CN" altLang="en-US" sz="2100" b="1" dirty="0">
                <a:solidFill>
                  <a:srgbClr val="0000FF"/>
                </a:solidFill>
              </a:rPr>
              <a:t>总冲量</a:t>
            </a: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:</a:t>
            </a:r>
            <a:r>
              <a:rPr lang="en-US" altLang="zh-CN" sz="2100" b="1" dirty="0">
                <a:solidFill>
                  <a:srgbClr val="1C1C1C"/>
                </a:solidFill>
              </a:rPr>
              <a:t> 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247462"/>
              </p:ext>
            </p:extLst>
          </p:nvPr>
        </p:nvGraphicFramePr>
        <p:xfrm>
          <a:off x="1123705" y="1316060"/>
          <a:ext cx="705564" cy="764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80" name="Equation" r:id="rId3" imgW="342720" imgH="419040" progId="Equation.DSMT4">
                  <p:embed/>
                </p:oleObj>
              </mc:Choice>
              <mc:Fallback>
                <p:oleObj name="Equation" r:id="rId3" imgW="34272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705" y="1316060"/>
                        <a:ext cx="705564" cy="76441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53"/>
          <p:cNvSpPr txBox="1">
            <a:spLocks noChangeArrowheads="1"/>
          </p:cNvSpPr>
          <p:nvPr/>
        </p:nvSpPr>
        <p:spPr bwMode="auto">
          <a:xfrm>
            <a:off x="310025" y="255742"/>
            <a:ext cx="5198269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5"/>
              </a:buBlip>
            </a:pPr>
            <a:r>
              <a:rPr lang="zh-CN" altLang="en-US" sz="2100" b="1" dirty="0">
                <a:solidFill>
                  <a:srgbClr val="CC0000"/>
                </a:solidFill>
              </a:rPr>
              <a:t> 大量</a:t>
            </a:r>
            <a:r>
              <a:rPr lang="zh-CN" altLang="en-US" sz="2100" b="1" dirty="0">
                <a:solidFill>
                  <a:srgbClr val="000000"/>
                </a:solidFill>
              </a:rPr>
              <a:t>分子总效应</a:t>
            </a:r>
            <a:endParaRPr lang="zh-CN" altLang="en-US" sz="2100" b="1" dirty="0">
              <a:solidFill>
                <a:srgbClr val="A50021"/>
              </a:solidFill>
            </a:endParaRPr>
          </a:p>
        </p:txBody>
      </p:sp>
      <p:graphicFrame>
        <p:nvGraphicFramePr>
          <p:cNvPr id="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112001"/>
              </p:ext>
            </p:extLst>
          </p:nvPr>
        </p:nvGraphicFramePr>
        <p:xfrm>
          <a:off x="1802498" y="1290478"/>
          <a:ext cx="1339454" cy="815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81" name="Equation" r:id="rId6" imgW="660240" imgH="419040" progId="Equation.DSMT4">
                  <p:embed/>
                </p:oleObj>
              </mc:Choice>
              <mc:Fallback>
                <p:oleObj name="Equation" r:id="rId6" imgW="660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498" y="1290478"/>
                        <a:ext cx="1339454" cy="81557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703757"/>
              </p:ext>
            </p:extLst>
          </p:nvPr>
        </p:nvGraphicFramePr>
        <p:xfrm>
          <a:off x="770329" y="1467649"/>
          <a:ext cx="344384" cy="6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82" name="Equation" r:id="rId8" imgW="291960" imgH="342720" progId="Equation.DSMT4">
                  <p:embed/>
                </p:oleObj>
              </mc:Choice>
              <mc:Fallback>
                <p:oleObj name="Equation" r:id="rId8" imgW="291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29" y="1467649"/>
                        <a:ext cx="344384" cy="675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42931"/>
              </p:ext>
            </p:extLst>
          </p:nvPr>
        </p:nvGraphicFramePr>
        <p:xfrm>
          <a:off x="4654555" y="1316078"/>
          <a:ext cx="1159669" cy="764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83" name="Equation" r:id="rId10" imgW="571320" imgH="393480" progId="Equation.DSMT4">
                  <p:embed/>
                </p:oleObj>
              </mc:Choice>
              <mc:Fallback>
                <p:oleObj name="Equation" r:id="rId10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5" y="1316078"/>
                        <a:ext cx="1159669" cy="7643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862260"/>
              </p:ext>
            </p:extLst>
          </p:nvPr>
        </p:nvGraphicFramePr>
        <p:xfrm>
          <a:off x="3051986" y="1279768"/>
          <a:ext cx="1546028" cy="83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84" name="Equation" r:id="rId12" imgW="787320" imgH="444240" progId="Equation.DSMT4">
                  <p:embed/>
                </p:oleObj>
              </mc:Choice>
              <mc:Fallback>
                <p:oleObj name="Equation" r:id="rId12" imgW="787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986" y="1279768"/>
                        <a:ext cx="1546028" cy="837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820267" y="2221469"/>
            <a:ext cx="3865769" cy="764381"/>
            <a:chOff x="433288" y="2961958"/>
            <a:chExt cx="5154359" cy="1019175"/>
          </a:xfrm>
        </p:grpSpPr>
        <p:grpSp>
          <p:nvGrpSpPr>
            <p:cNvPr id="2" name="Group 51"/>
            <p:cNvGrpSpPr>
              <a:grpSpLocks/>
            </p:cNvGrpSpPr>
            <p:nvPr/>
          </p:nvGrpSpPr>
          <p:grpSpPr bwMode="auto">
            <a:xfrm>
              <a:off x="433288" y="3144708"/>
              <a:ext cx="4114800" cy="554038"/>
              <a:chOff x="656" y="2923"/>
              <a:chExt cx="2592" cy="349"/>
            </a:xfrm>
          </p:grpSpPr>
          <p:sp>
            <p:nvSpPr>
              <p:cNvPr id="19465" name="Text Box 45"/>
              <p:cNvSpPr txBox="1">
                <a:spLocks noChangeArrowheads="1"/>
              </p:cNvSpPr>
              <p:nvPr/>
            </p:nvSpPr>
            <p:spPr bwMode="auto">
              <a:xfrm>
                <a:off x="656" y="2923"/>
                <a:ext cx="2592" cy="34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    面所受</a:t>
                </a:r>
                <a:r>
                  <a:rPr lang="zh-CN" altLang="en-US" sz="2100" b="1" dirty="0">
                    <a:solidFill>
                      <a:srgbClr val="0000FF"/>
                    </a:solidFill>
                  </a:rPr>
                  <a:t>平均冲力</a:t>
                </a:r>
                <a:r>
                  <a:rPr lang="en-US" altLang="zh-CN" sz="2100" b="1" dirty="0">
                    <a:solidFill>
                      <a:srgbClr val="000000"/>
                    </a:solidFill>
                    <a:latin typeface="Times New Roman" pitchFamily="18" charset="0"/>
                  </a:rPr>
                  <a:t>:</a:t>
                </a:r>
                <a:r>
                  <a:rPr lang="en-US" altLang="zh-CN" sz="2100" b="1" dirty="0">
                    <a:solidFill>
                      <a:srgbClr val="000000"/>
                    </a:solidFill>
                  </a:rPr>
                  <a:t> </a:t>
                </a:r>
              </a:p>
            </p:txBody>
          </p:sp>
          <p:graphicFrame>
            <p:nvGraphicFramePr>
              <p:cNvPr id="19459" name="Object 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7711746"/>
                  </p:ext>
                </p:extLst>
              </p:nvPr>
            </p:nvGraphicFramePr>
            <p:xfrm>
              <a:off x="664" y="2942"/>
              <a:ext cx="288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985" name="Equation" r:id="rId14" imgW="253800" imgH="317160" progId="Equation.3">
                      <p:embed/>
                    </p:oleObj>
                  </mc:Choice>
                  <mc:Fallback>
                    <p:oleObj name="Equation" r:id="rId14" imgW="253800" imgH="317160" progId="Equation.3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4" y="2942"/>
                            <a:ext cx="288" cy="31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767129"/>
                </p:ext>
              </p:extLst>
            </p:nvPr>
          </p:nvGraphicFramePr>
          <p:xfrm>
            <a:off x="3630260" y="2961958"/>
            <a:ext cx="1957387" cy="1019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86" name="Equation" r:id="rId16" imgW="723600" imgH="393480" progId="Equation.DSMT4">
                    <p:embed/>
                  </p:oleObj>
                </mc:Choice>
                <mc:Fallback>
                  <p:oleObj name="Equation" r:id="rId16" imgW="7236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0260" y="2961958"/>
                          <a:ext cx="1957387" cy="10191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4819625" y="1677658"/>
            <a:ext cx="3234504" cy="839634"/>
            <a:chOff x="4314781" y="2540633"/>
            <a:chExt cx="4312672" cy="1119512"/>
          </a:xfrm>
        </p:grpSpPr>
        <p:sp>
          <p:nvSpPr>
            <p:cNvPr id="5" name="任意多边形 4"/>
            <p:cNvSpPr/>
            <p:nvPr/>
          </p:nvSpPr>
          <p:spPr>
            <a:xfrm>
              <a:off x="4314781" y="2540633"/>
              <a:ext cx="3322701" cy="1119512"/>
            </a:xfrm>
            <a:custGeom>
              <a:avLst/>
              <a:gdLst>
                <a:gd name="connsiteX0" fmla="*/ 0 w 1945930"/>
                <a:gd name="connsiteY0" fmla="*/ 924560 h 924560"/>
                <a:gd name="connsiteX1" fmla="*/ 1828800 w 1945930"/>
                <a:gd name="connsiteY1" fmla="*/ 731520 h 924560"/>
                <a:gd name="connsiteX2" fmla="*/ 1767840 w 1945930"/>
                <a:gd name="connsiteY2" fmla="*/ 0 h 924560"/>
                <a:gd name="connsiteX0" fmla="*/ 0 w 1945930"/>
                <a:gd name="connsiteY0" fmla="*/ 924560 h 924560"/>
                <a:gd name="connsiteX1" fmla="*/ 1828800 w 1945930"/>
                <a:gd name="connsiteY1" fmla="*/ 731520 h 924560"/>
                <a:gd name="connsiteX2" fmla="*/ 1767840 w 1945930"/>
                <a:gd name="connsiteY2" fmla="*/ 0 h 924560"/>
                <a:gd name="connsiteX0" fmla="*/ 0 w 1945930"/>
                <a:gd name="connsiteY0" fmla="*/ 924560 h 924560"/>
                <a:gd name="connsiteX1" fmla="*/ 1828800 w 1945930"/>
                <a:gd name="connsiteY1" fmla="*/ 731520 h 924560"/>
                <a:gd name="connsiteX2" fmla="*/ 1767840 w 1945930"/>
                <a:gd name="connsiteY2" fmla="*/ 0 h 924560"/>
                <a:gd name="connsiteX0" fmla="*/ 0 w 1828800"/>
                <a:gd name="connsiteY0" fmla="*/ 924560 h 924560"/>
                <a:gd name="connsiteX1" fmla="*/ 1828800 w 1828800"/>
                <a:gd name="connsiteY1" fmla="*/ 731520 h 924560"/>
                <a:gd name="connsiteX2" fmla="*/ 1767840 w 1828800"/>
                <a:gd name="connsiteY2" fmla="*/ 0 h 924560"/>
                <a:gd name="connsiteX0" fmla="*/ 0 w 1828800"/>
                <a:gd name="connsiteY0" fmla="*/ 924560 h 924560"/>
                <a:gd name="connsiteX1" fmla="*/ 1828800 w 1828800"/>
                <a:gd name="connsiteY1" fmla="*/ 731520 h 924560"/>
                <a:gd name="connsiteX2" fmla="*/ 1767840 w 1828800"/>
                <a:gd name="connsiteY2" fmla="*/ 0 h 924560"/>
                <a:gd name="connsiteX0" fmla="*/ 0 w 2600442"/>
                <a:gd name="connsiteY0" fmla="*/ 924560 h 924560"/>
                <a:gd name="connsiteX1" fmla="*/ 2600442 w 2600442"/>
                <a:gd name="connsiteY1" fmla="*/ 373406 h 924560"/>
                <a:gd name="connsiteX2" fmla="*/ 1767840 w 2600442"/>
                <a:gd name="connsiteY2" fmla="*/ 0 h 924560"/>
                <a:gd name="connsiteX0" fmla="*/ 0 w 2600442"/>
                <a:gd name="connsiteY0" fmla="*/ 924560 h 924560"/>
                <a:gd name="connsiteX1" fmla="*/ 2600442 w 2600442"/>
                <a:gd name="connsiteY1" fmla="*/ 373406 h 924560"/>
                <a:gd name="connsiteX2" fmla="*/ 1767840 w 2600442"/>
                <a:gd name="connsiteY2" fmla="*/ 0 h 924560"/>
                <a:gd name="connsiteX0" fmla="*/ 0 w 2600442"/>
                <a:gd name="connsiteY0" fmla="*/ 924560 h 924560"/>
                <a:gd name="connsiteX1" fmla="*/ 2600442 w 2600442"/>
                <a:gd name="connsiteY1" fmla="*/ 373406 h 924560"/>
                <a:gd name="connsiteX2" fmla="*/ 1767840 w 2600442"/>
                <a:gd name="connsiteY2" fmla="*/ 0 h 924560"/>
                <a:gd name="connsiteX0" fmla="*/ 0 w 2600442"/>
                <a:gd name="connsiteY0" fmla="*/ 924560 h 924560"/>
                <a:gd name="connsiteX1" fmla="*/ 2600442 w 2600442"/>
                <a:gd name="connsiteY1" fmla="*/ 373406 h 924560"/>
                <a:gd name="connsiteX2" fmla="*/ 1767840 w 2600442"/>
                <a:gd name="connsiteY2" fmla="*/ 0 h 924560"/>
                <a:gd name="connsiteX0" fmla="*/ 0 w 2600442"/>
                <a:gd name="connsiteY0" fmla="*/ 859448 h 859448"/>
                <a:gd name="connsiteX1" fmla="*/ 2600442 w 2600442"/>
                <a:gd name="connsiteY1" fmla="*/ 308294 h 859448"/>
                <a:gd name="connsiteX2" fmla="*/ 1162141 w 2600442"/>
                <a:gd name="connsiteY2" fmla="*/ 0 h 859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0442" h="859448">
                  <a:moveTo>
                    <a:pt x="0" y="859448"/>
                  </a:moveTo>
                  <a:cubicBezTo>
                    <a:pt x="767080" y="839974"/>
                    <a:pt x="2150693" y="344673"/>
                    <a:pt x="2600442" y="308294"/>
                  </a:cubicBezTo>
                  <a:cubicBezTo>
                    <a:pt x="2329171" y="79203"/>
                    <a:pt x="1429346" y="62927"/>
                    <a:pt x="1162141" y="0"/>
                  </a:cubicBezTo>
                </a:path>
              </a:pathLst>
            </a:custGeom>
            <a:noFill/>
            <a:ln>
              <a:solidFill>
                <a:srgbClr val="0099CC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3331" name="Picture 1411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2930" y="2546650"/>
              <a:ext cx="884523" cy="85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组合 6"/>
          <p:cNvGrpSpPr/>
          <p:nvPr/>
        </p:nvGrpSpPr>
        <p:grpSpPr>
          <a:xfrm>
            <a:off x="829792" y="3408216"/>
            <a:ext cx="3497022" cy="864394"/>
            <a:chOff x="-538262" y="4943475"/>
            <a:chExt cx="4662696" cy="1152525"/>
          </a:xfrm>
        </p:grpSpPr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-538262" y="5224389"/>
              <a:ext cx="194310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</a:rPr>
                <a:t>气体压强</a:t>
              </a:r>
              <a:r>
                <a:rPr lang="en-US" altLang="zh-CN" sz="2100" b="1" dirty="0">
                  <a:solidFill>
                    <a:srgbClr val="1C1C1C"/>
                  </a:solidFill>
                </a:rPr>
                <a:t>:</a:t>
              </a:r>
              <a:endParaRPr lang="zh-CN" altLang="en-US" sz="2100" b="1" dirty="0">
                <a:solidFill>
                  <a:srgbClr val="1C1C1C"/>
                </a:solidFill>
              </a:endParaRPr>
            </a:p>
          </p:txBody>
        </p:sp>
        <p:graphicFrame>
          <p:nvGraphicFramePr>
            <p:cNvPr id="9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4724642"/>
                </p:ext>
              </p:extLst>
            </p:nvPr>
          </p:nvGraphicFramePr>
          <p:xfrm>
            <a:off x="1195497" y="4943475"/>
            <a:ext cx="2928937" cy="1152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87" name="Equation" r:id="rId19" imgW="1041120" imgH="431640" progId="Equation.DSMT4">
                    <p:embed/>
                  </p:oleObj>
                </mc:Choice>
                <mc:Fallback>
                  <p:oleObj name="Equation" r:id="rId19" imgW="10411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5497" y="4943475"/>
                          <a:ext cx="2928937" cy="11525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4930203" y="538465"/>
            <a:ext cx="3102737" cy="676017"/>
            <a:chOff x="4196791" y="76992"/>
            <a:chExt cx="4288813" cy="934436"/>
          </a:xfrm>
        </p:grpSpPr>
        <p:graphicFrame>
          <p:nvGraphicFramePr>
            <p:cNvPr id="8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0998837"/>
                </p:ext>
              </p:extLst>
            </p:nvPr>
          </p:nvGraphicFramePr>
          <p:xfrm>
            <a:off x="7631244" y="76992"/>
            <a:ext cx="828256" cy="911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88" name="Equation" r:id="rId21" imgW="342720" imgH="419040" progId="Equation.DSMT4">
                    <p:embed/>
                  </p:oleObj>
                </mc:Choice>
                <mc:Fallback>
                  <p:oleObj name="Equation" r:id="rId21" imgW="342720" imgH="419040" progId="Equation.DSMT4">
                    <p:embed/>
                    <p:pic>
                      <p:nvPicPr>
                        <p:cNvPr id="5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1244" y="76992"/>
                          <a:ext cx="828256" cy="911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4196791" y="276566"/>
              <a:ext cx="4288813" cy="58709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1C1C1C"/>
                  </a:solidFill>
                </a:rPr>
                <a:t>1</a:t>
              </a:r>
              <a:r>
                <a:rPr lang="zh-CN" altLang="en-US" b="1">
                  <a:solidFill>
                    <a:srgbClr val="1C1C1C"/>
                  </a:solidFill>
                </a:rPr>
                <a:t>个分子，</a:t>
              </a:r>
              <a:r>
                <a:rPr lang="en-US" altLang="zh-CN" b="1">
                  <a:solidFill>
                    <a:srgbClr val="1C1C1C"/>
                  </a:solidFill>
                </a:rPr>
                <a:t>1</a:t>
              </a:r>
              <a:r>
                <a:rPr lang="zh-CN" altLang="en-US" b="1">
                  <a:solidFill>
                    <a:srgbClr val="1C1C1C"/>
                  </a:solidFill>
                </a:rPr>
                <a:t>秒钟的冲</a:t>
              </a:r>
              <a:r>
                <a:rPr lang="zh-CN" altLang="en-US" b="1" dirty="0">
                  <a:solidFill>
                    <a:srgbClr val="1C1C1C"/>
                  </a:solidFill>
                </a:rPr>
                <a:t>量</a:t>
              </a:r>
              <a:r>
                <a:rPr lang="en-US" altLang="zh-CN" b="1" dirty="0">
                  <a:solidFill>
                    <a:srgbClr val="1C1C1C"/>
                  </a:solidFill>
                  <a:latin typeface="Times New Roman" pitchFamily="18" charset="0"/>
                </a:rPr>
                <a:t>:</a:t>
              </a:r>
            </a:p>
          </p:txBody>
        </p:sp>
        <p:sp>
          <p:nvSpPr>
            <p:cNvPr id="4" name="矩形 3"/>
            <p:cNvSpPr/>
            <p:nvPr/>
          </p:nvSpPr>
          <p:spPr>
            <a:xfrm>
              <a:off x="4217112" y="80770"/>
              <a:ext cx="4265085" cy="93065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750265" y="2565700"/>
            <a:ext cx="3257550" cy="2509916"/>
            <a:chOff x="1836669" y="1988790"/>
            <a:chExt cx="3486150" cy="2686050"/>
          </a:xfrm>
        </p:grpSpPr>
        <p:grpSp>
          <p:nvGrpSpPr>
            <p:cNvPr id="89" name="组合 88"/>
            <p:cNvGrpSpPr/>
            <p:nvPr/>
          </p:nvGrpSpPr>
          <p:grpSpPr>
            <a:xfrm>
              <a:off x="3463954" y="3162603"/>
              <a:ext cx="1040608" cy="708420"/>
              <a:chOff x="3128342" y="4077299"/>
              <a:chExt cx="1387477" cy="944560"/>
            </a:xfrm>
          </p:grpSpPr>
          <p:grpSp>
            <p:nvGrpSpPr>
              <p:cNvPr id="118" name="Group 6"/>
              <p:cNvGrpSpPr>
                <a:grpSpLocks/>
              </p:cNvGrpSpPr>
              <p:nvPr/>
            </p:nvGrpSpPr>
            <p:grpSpPr bwMode="auto">
              <a:xfrm>
                <a:off x="3177556" y="4077299"/>
                <a:ext cx="1338263" cy="546101"/>
                <a:chOff x="2091" y="2626"/>
                <a:chExt cx="843" cy="344"/>
              </a:xfrm>
            </p:grpSpPr>
            <p:graphicFrame>
              <p:nvGraphicFramePr>
                <p:cNvPr id="122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228486"/>
                    </p:ext>
                  </p:extLst>
                </p:nvPr>
              </p:nvGraphicFramePr>
              <p:xfrm>
                <a:off x="2091" y="2626"/>
                <a:ext cx="487" cy="3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989" name="Equation" r:id="rId23" imgW="304560" imgH="228600" progId="Equation.DSMT4">
                        <p:embed/>
                      </p:oleObj>
                    </mc:Choice>
                    <mc:Fallback>
                      <p:oleObj name="Equation" r:id="rId23" imgW="304560" imgH="228600" progId="Equation.DSMT4">
                        <p:embed/>
                        <p:pic>
                          <p:nvPicPr>
                            <p:cNvPr id="81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91" y="2626"/>
                              <a:ext cx="487" cy="344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" name="Line 8"/>
                <p:cNvSpPr>
                  <a:spLocks noChangeShapeType="1"/>
                </p:cNvSpPr>
                <p:nvPr/>
              </p:nvSpPr>
              <p:spPr bwMode="auto">
                <a:xfrm>
                  <a:off x="2602" y="2891"/>
                  <a:ext cx="3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9"/>
              <p:cNvGrpSpPr>
                <a:grpSpLocks/>
              </p:cNvGrpSpPr>
              <p:nvPr/>
            </p:nvGrpSpPr>
            <p:grpSpPr bwMode="auto">
              <a:xfrm>
                <a:off x="3128342" y="4493221"/>
                <a:ext cx="1346200" cy="528638"/>
                <a:chOff x="2060" y="2888"/>
                <a:chExt cx="848" cy="333"/>
              </a:xfrm>
            </p:grpSpPr>
            <p:graphicFrame>
              <p:nvGraphicFramePr>
                <p:cNvPr id="120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70392641"/>
                    </p:ext>
                  </p:extLst>
                </p:nvPr>
              </p:nvGraphicFramePr>
              <p:xfrm>
                <a:off x="2060" y="2888"/>
                <a:ext cx="545" cy="3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990" name="Equation" r:id="rId25" imgW="355320" imgH="228600" progId="Equation.DSMT4">
                        <p:embed/>
                      </p:oleObj>
                    </mc:Choice>
                    <mc:Fallback>
                      <p:oleObj name="Equation" r:id="rId25" imgW="355320" imgH="228600" progId="Equation.DSMT4">
                        <p:embed/>
                        <p:pic>
                          <p:nvPicPr>
                            <p:cNvPr id="67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0" y="2888"/>
                              <a:ext cx="545" cy="333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1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582" y="3032"/>
                  <a:ext cx="32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9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5805096"/>
                </p:ext>
              </p:extLst>
            </p:nvPr>
          </p:nvGraphicFramePr>
          <p:xfrm>
            <a:off x="2179569" y="3074640"/>
            <a:ext cx="3238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1" name="Equation" r:id="rId27" imgW="291960" imgH="317160" progId="Equation.3">
                    <p:embed/>
                  </p:oleObj>
                </mc:Choice>
                <mc:Fallback>
                  <p:oleObj name="Equation" r:id="rId27" imgW="291960" imgH="317160" progId="Equation.3">
                    <p:embed/>
                    <p:pic>
                      <p:nvPicPr>
                        <p:cNvPr id="8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569" y="3074640"/>
                          <a:ext cx="32385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" name="Group 13"/>
            <p:cNvGrpSpPr>
              <a:grpSpLocks/>
            </p:cNvGrpSpPr>
            <p:nvPr/>
          </p:nvGrpSpPr>
          <p:grpSpPr bwMode="auto">
            <a:xfrm>
              <a:off x="2710858" y="2801102"/>
              <a:ext cx="919163" cy="807244"/>
              <a:chOff x="3840" y="2682"/>
              <a:chExt cx="772" cy="678"/>
            </a:xfrm>
          </p:grpSpPr>
          <p:sp>
            <p:nvSpPr>
              <p:cNvPr id="115" name="Oval 14"/>
              <p:cNvSpPr>
                <a:spLocks noChangeArrowheads="1"/>
              </p:cNvSpPr>
              <p:nvPr/>
            </p:nvSpPr>
            <p:spPr bwMode="auto">
              <a:xfrm>
                <a:off x="3840" y="321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Line 15"/>
              <p:cNvSpPr>
                <a:spLocks noChangeShapeType="1"/>
              </p:cNvSpPr>
              <p:nvPr/>
            </p:nvSpPr>
            <p:spPr bwMode="auto">
              <a:xfrm flipV="1">
                <a:off x="3936" y="2928"/>
                <a:ext cx="480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7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6801589"/>
                  </p:ext>
                </p:extLst>
              </p:nvPr>
            </p:nvGraphicFramePr>
            <p:xfrm>
              <a:off x="4384" y="2682"/>
              <a:ext cx="228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992" name="Equation" r:id="rId29" imgW="152280" imgH="228600" progId="Equation.DSMT4">
                      <p:embed/>
                    </p:oleObj>
                  </mc:Choice>
                  <mc:Fallback>
                    <p:oleObj name="Equation" r:id="rId29" imgW="152280" imgH="228600" progId="Equation.DSMT4">
                      <p:embed/>
                      <p:pic>
                        <p:nvPicPr>
                          <p:cNvPr id="87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4" y="2682"/>
                            <a:ext cx="228" cy="342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" name="Line 18"/>
            <p:cNvSpPr>
              <a:spLocks noChangeShapeType="1"/>
            </p:cNvSpPr>
            <p:nvPr/>
          </p:nvSpPr>
          <p:spPr bwMode="auto">
            <a:xfrm flipV="1">
              <a:off x="2693919" y="1988790"/>
              <a:ext cx="0" cy="188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8149120"/>
                </p:ext>
              </p:extLst>
            </p:nvPr>
          </p:nvGraphicFramePr>
          <p:xfrm>
            <a:off x="2460557" y="3703290"/>
            <a:ext cx="254794" cy="280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3" name="Equation" r:id="rId31" imgW="126720" imgH="139680" progId="Equation.3">
                    <p:embed/>
                  </p:oleObj>
                </mc:Choice>
                <mc:Fallback>
                  <p:oleObj name="Equation" r:id="rId31" imgW="126720" imgH="139680" progId="Equation.3">
                    <p:embed/>
                    <p:pic>
                      <p:nvPicPr>
                        <p:cNvPr id="8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557" y="3703290"/>
                          <a:ext cx="254794" cy="280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Line 20"/>
            <p:cNvSpPr>
              <a:spLocks noChangeShapeType="1"/>
            </p:cNvSpPr>
            <p:nvPr/>
          </p:nvSpPr>
          <p:spPr bwMode="auto">
            <a:xfrm flipV="1">
              <a:off x="2693919" y="3874740"/>
              <a:ext cx="2628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21"/>
            <p:cNvSpPr>
              <a:spLocks noChangeShapeType="1"/>
            </p:cNvSpPr>
            <p:nvPr/>
          </p:nvSpPr>
          <p:spPr bwMode="auto">
            <a:xfrm flipH="1">
              <a:off x="1836669" y="3874740"/>
              <a:ext cx="857250" cy="742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AutoShape 25"/>
            <p:cNvSpPr>
              <a:spLocks noChangeArrowheads="1"/>
            </p:cNvSpPr>
            <p:nvPr/>
          </p:nvSpPr>
          <p:spPr bwMode="auto">
            <a:xfrm>
              <a:off x="2209305" y="2381406"/>
              <a:ext cx="2571750" cy="1943100"/>
            </a:xfrm>
            <a:prstGeom prst="cube">
              <a:avLst>
                <a:gd name="adj" fmla="val 24681"/>
              </a:avLst>
            </a:prstGeom>
            <a:solidFill>
              <a:srgbClr val="CCFFCC">
                <a:alpha val="30196"/>
              </a:srgbClr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26"/>
            <p:cNvSpPr>
              <a:spLocks noChangeShapeType="1"/>
            </p:cNvSpPr>
            <p:nvPr/>
          </p:nvSpPr>
          <p:spPr bwMode="auto">
            <a:xfrm>
              <a:off x="4751319" y="2379315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Line 27"/>
            <p:cNvSpPr>
              <a:spLocks noChangeShapeType="1"/>
            </p:cNvSpPr>
            <p:nvPr/>
          </p:nvSpPr>
          <p:spPr bwMode="auto">
            <a:xfrm>
              <a:off x="4979919" y="3360390"/>
              <a:ext cx="0" cy="5143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Line 28"/>
            <p:cNvSpPr>
              <a:spLocks noChangeShapeType="1"/>
            </p:cNvSpPr>
            <p:nvPr/>
          </p:nvSpPr>
          <p:spPr bwMode="auto">
            <a:xfrm flipV="1">
              <a:off x="4979919" y="2388840"/>
              <a:ext cx="0" cy="6286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5192124"/>
                </p:ext>
              </p:extLst>
            </p:nvPr>
          </p:nvGraphicFramePr>
          <p:xfrm>
            <a:off x="4808469" y="3012727"/>
            <a:ext cx="34171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4" name="Equation" r:id="rId33" imgW="139680" imgH="164880" progId="Equation.3">
                    <p:embed/>
                  </p:oleObj>
                </mc:Choice>
                <mc:Fallback>
                  <p:oleObj name="Equation" r:id="rId33" imgW="139680" imgH="164880" progId="Equation.3">
                    <p:embed/>
                    <p:pic>
                      <p:nvPicPr>
                        <p:cNvPr id="96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469" y="3012727"/>
                          <a:ext cx="341710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" name="Line 30"/>
            <p:cNvSpPr>
              <a:spLocks noChangeShapeType="1"/>
            </p:cNvSpPr>
            <p:nvPr/>
          </p:nvSpPr>
          <p:spPr bwMode="auto">
            <a:xfrm>
              <a:off x="4294119" y="4331940"/>
              <a:ext cx="3429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6" name="Line 31"/>
            <p:cNvSpPr>
              <a:spLocks noChangeShapeType="1"/>
            </p:cNvSpPr>
            <p:nvPr/>
          </p:nvSpPr>
          <p:spPr bwMode="auto">
            <a:xfrm flipH="1">
              <a:off x="4522719" y="416049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" name="Line 32"/>
            <p:cNvSpPr>
              <a:spLocks noChangeShapeType="1"/>
            </p:cNvSpPr>
            <p:nvPr/>
          </p:nvSpPr>
          <p:spPr bwMode="auto">
            <a:xfrm flipH="1">
              <a:off x="4808469" y="3874740"/>
              <a:ext cx="171450" cy="17145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8961626"/>
                </p:ext>
              </p:extLst>
            </p:nvPr>
          </p:nvGraphicFramePr>
          <p:xfrm>
            <a:off x="4667975" y="4017615"/>
            <a:ext cx="2857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5" name="Equation" r:id="rId35" imgW="126720" imgH="126720" progId="Equation.DSMT4">
                    <p:embed/>
                  </p:oleObj>
                </mc:Choice>
                <mc:Fallback>
                  <p:oleObj name="Equation" r:id="rId35" imgW="126720" imgH="126720" progId="Equation.DSMT4">
                    <p:embed/>
                    <p:pic>
                      <p:nvPicPr>
                        <p:cNvPr id="10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7975" y="4017615"/>
                          <a:ext cx="285750" cy="2857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" name="Line 34"/>
            <p:cNvSpPr>
              <a:spLocks noChangeShapeType="1"/>
            </p:cNvSpPr>
            <p:nvPr/>
          </p:nvSpPr>
          <p:spPr bwMode="auto">
            <a:xfrm>
              <a:off x="429411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0" name="Line 35"/>
            <p:cNvSpPr>
              <a:spLocks noChangeShapeType="1"/>
            </p:cNvSpPr>
            <p:nvPr/>
          </p:nvSpPr>
          <p:spPr bwMode="auto">
            <a:xfrm>
              <a:off x="2179569" y="4331940"/>
              <a:ext cx="0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>
              <a:off x="3322569" y="4503390"/>
              <a:ext cx="97155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" name="Line 37"/>
            <p:cNvSpPr>
              <a:spLocks noChangeShapeType="1"/>
            </p:cNvSpPr>
            <p:nvPr/>
          </p:nvSpPr>
          <p:spPr bwMode="auto">
            <a:xfrm flipH="1">
              <a:off x="2179569" y="4503390"/>
              <a:ext cx="80010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13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159375"/>
                </p:ext>
              </p:extLst>
            </p:nvPr>
          </p:nvGraphicFramePr>
          <p:xfrm>
            <a:off x="2979669" y="4331940"/>
            <a:ext cx="310754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6" name="Equation" r:id="rId37" imgW="126720" imgH="139680" progId="Equation.3">
                    <p:embed/>
                  </p:oleObj>
                </mc:Choice>
                <mc:Fallback>
                  <p:oleObj name="Equation" r:id="rId37" imgW="126720" imgH="139680" progId="Equation.3">
                    <p:embed/>
                    <p:pic>
                      <p:nvPicPr>
                        <p:cNvPr id="105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669" y="4331940"/>
                          <a:ext cx="310754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2705094"/>
                </p:ext>
              </p:extLst>
            </p:nvPr>
          </p:nvGraphicFramePr>
          <p:xfrm>
            <a:off x="4408419" y="2788890"/>
            <a:ext cx="282179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7" name="Equation" r:id="rId39" imgW="253800" imgH="317160" progId="Equation.3">
                    <p:embed/>
                  </p:oleObj>
                </mc:Choice>
                <mc:Fallback>
                  <p:oleObj name="Equation" r:id="rId39" imgW="253800" imgH="317160" progId="Equation.3">
                    <p:embed/>
                    <p:pic>
                      <p:nvPicPr>
                        <p:cNvPr id="106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419" y="2788890"/>
                          <a:ext cx="282179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975356"/>
              </p:ext>
            </p:extLst>
          </p:nvPr>
        </p:nvGraphicFramePr>
        <p:xfrm>
          <a:off x="5843783" y="312109"/>
          <a:ext cx="841203" cy="696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4" name="Equation" r:id="rId4" imgW="431640" imgH="393480" progId="Equation.DSMT4">
                  <p:embed/>
                </p:oleObj>
              </mc:Choice>
              <mc:Fallback>
                <p:oleObj name="Equation" r:id="rId4" imgW="43164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783" y="312109"/>
                        <a:ext cx="841203" cy="69682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003958"/>
              </p:ext>
            </p:extLst>
          </p:nvPr>
        </p:nvGraphicFramePr>
        <p:xfrm>
          <a:off x="5840454" y="1104901"/>
          <a:ext cx="1216493" cy="714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5" name="公式" r:id="rId6" imgW="609480" imgH="393480" progId="Equation.3">
                  <p:embed/>
                </p:oleObj>
              </mc:Choice>
              <mc:Fallback>
                <p:oleObj name="公式" r:id="rId6" imgW="60948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54" y="1104901"/>
                        <a:ext cx="1216493" cy="71448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094966"/>
              </p:ext>
            </p:extLst>
          </p:nvPr>
        </p:nvGraphicFramePr>
        <p:xfrm>
          <a:off x="3602038" y="3832225"/>
          <a:ext cx="12954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6" name="Equation" r:id="rId8" imgW="647640" imgH="393480" progId="Equation.DSMT4">
                  <p:embed/>
                </p:oleObj>
              </mc:Choice>
              <mc:Fallback>
                <p:oleObj name="Equation" r:id="rId8" imgW="6476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3832225"/>
                        <a:ext cx="12954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0" name="Text Box 50"/>
          <p:cNvSpPr txBox="1">
            <a:spLocks noChangeArrowheads="1"/>
          </p:cNvSpPr>
          <p:nvPr/>
        </p:nvSpPr>
        <p:spPr bwMode="auto">
          <a:xfrm>
            <a:off x="1765774" y="4047748"/>
            <a:ext cx="215979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1C1C1C"/>
                </a:solidFill>
              </a:rPr>
              <a:t>气体压强公式</a:t>
            </a:r>
            <a:r>
              <a:rPr lang="en-US" altLang="zh-CN" sz="2100" b="1" dirty="0">
                <a:solidFill>
                  <a:srgbClr val="1C1C1C"/>
                </a:solidFill>
              </a:rPr>
              <a:t>:</a:t>
            </a:r>
            <a:endParaRPr lang="zh-CN" altLang="en-US" sz="2100" b="1" dirty="0">
              <a:solidFill>
                <a:srgbClr val="1C1C1C"/>
              </a:solidFill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765774" y="950103"/>
            <a:ext cx="145732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1C1C1C"/>
                </a:solidFill>
              </a:rPr>
              <a:t>气体压强：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013473" y="1960441"/>
            <a:ext cx="2502453" cy="790379"/>
            <a:chOff x="1323191" y="2420881"/>
            <a:chExt cx="3336604" cy="1053839"/>
          </a:xfrm>
        </p:grpSpPr>
        <p:graphicFrame>
          <p:nvGraphicFramePr>
            <p:cNvPr id="15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930531"/>
                </p:ext>
              </p:extLst>
            </p:nvPr>
          </p:nvGraphicFramePr>
          <p:xfrm>
            <a:off x="2642608" y="2420881"/>
            <a:ext cx="2017187" cy="1053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67" name="公式" r:id="rId10" imgW="749160" imgH="393480" progId="Equation.DSMT4">
                    <p:embed/>
                  </p:oleObj>
                </mc:Choice>
                <mc:Fallback>
                  <p:oleObj name="公式" r:id="rId10" imgW="749160" imgH="39348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2608" y="2420881"/>
                          <a:ext cx="2017187" cy="10538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右箭头 15"/>
            <p:cNvSpPr/>
            <p:nvPr/>
          </p:nvSpPr>
          <p:spPr>
            <a:xfrm>
              <a:off x="1323191" y="2749176"/>
              <a:ext cx="1086522" cy="3657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00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662319"/>
              </p:ext>
            </p:extLst>
          </p:nvPr>
        </p:nvGraphicFramePr>
        <p:xfrm>
          <a:off x="3016330" y="702577"/>
          <a:ext cx="2196703" cy="86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8" name="Equation" r:id="rId12" imgW="1041120" imgH="431640" progId="Equation.DSMT4">
                  <p:embed/>
                </p:oleObj>
              </mc:Choice>
              <mc:Fallback>
                <p:oleObj name="Equation" r:id="rId12" imgW="104112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330" y="702577"/>
                        <a:ext cx="2196703" cy="864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291554" y="3067682"/>
            <a:ext cx="4861532" cy="687767"/>
            <a:chOff x="1531405" y="4090242"/>
            <a:chExt cx="6482042" cy="917023"/>
          </a:xfrm>
        </p:grpSpPr>
        <p:graphicFrame>
          <p:nvGraphicFramePr>
            <p:cNvPr id="3072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0870240"/>
                </p:ext>
              </p:extLst>
            </p:nvPr>
          </p:nvGraphicFramePr>
          <p:xfrm>
            <a:off x="2620398" y="4090242"/>
            <a:ext cx="1907024" cy="9170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69" name="Equation" r:id="rId14" imgW="736560" imgH="393480" progId="Equation.DSMT4">
                    <p:embed/>
                  </p:oleObj>
                </mc:Choice>
                <mc:Fallback>
                  <p:oleObj name="Equation" r:id="rId14" imgW="736560" imgH="3934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0398" y="4090242"/>
                          <a:ext cx="1907024" cy="91702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4479671" y="4272238"/>
              <a:ext cx="3533776" cy="553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为分子</a:t>
              </a:r>
              <a:r>
                <a:rPr lang="zh-CN" altLang="en-US" sz="2100" b="1" dirty="0">
                  <a:solidFill>
                    <a:srgbClr val="0000FF"/>
                  </a:solidFill>
                </a:rPr>
                <a:t>平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均</a:t>
              </a:r>
              <a:r>
                <a:rPr lang="zh-CN" altLang="en-US" sz="2100" b="1" dirty="0">
                  <a:solidFill>
                    <a:srgbClr val="0000FF"/>
                  </a:solidFill>
                </a:rPr>
                <a:t>平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动</a:t>
              </a:r>
              <a:r>
                <a:rPr lang="zh-CN" altLang="en-US" sz="2100" b="1" dirty="0">
                  <a:solidFill>
                    <a:srgbClr val="0000FF"/>
                  </a:solidFill>
                </a:rPr>
                <a:t>动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能</a:t>
              </a:r>
              <a:r>
                <a:rPr lang="en-US" altLang="zh-CN" sz="2100" b="1" dirty="0">
                  <a:solidFill>
                    <a:srgbClr val="000000"/>
                  </a:solidFill>
                </a:rPr>
                <a:t>.</a:t>
              </a:r>
              <a:endParaRPr lang="zh-CN" altLang="en-US" sz="2100" b="1" dirty="0">
                <a:solidFill>
                  <a:srgbClr val="000000"/>
                </a:solidFill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1531405" y="4241697"/>
              <a:ext cx="1486108" cy="553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FF"/>
                  </a:solidFill>
                </a:rPr>
                <a:t>定义：</a:t>
              </a:r>
            </a:p>
          </p:txBody>
        </p:sp>
      </p:grpSp>
      <p:graphicFrame>
        <p:nvGraphicFramePr>
          <p:cNvPr id="2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03794"/>
              </p:ext>
            </p:extLst>
          </p:nvPr>
        </p:nvGraphicFramePr>
        <p:xfrm>
          <a:off x="4489847" y="1960960"/>
          <a:ext cx="1718072" cy="789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70" name="Equation" r:id="rId16" imgW="850680" imgH="393480" progId="Equation.DSMT4">
                  <p:embed/>
                </p:oleObj>
              </mc:Choice>
              <mc:Fallback>
                <p:oleObj name="Equation" r:id="rId16" imgW="850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847" y="1960960"/>
                        <a:ext cx="1718072" cy="789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21" descr="C:\Users\Administrator\Desktop\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356" y="467519"/>
            <a:ext cx="1913978" cy="169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5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62480"/>
              </p:ext>
            </p:extLst>
          </p:nvPr>
        </p:nvGraphicFramePr>
        <p:xfrm>
          <a:off x="3368675" y="444500"/>
          <a:ext cx="15763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5" name="Equation" r:id="rId4" imgW="647640" imgH="393480" progId="Equation.DSMT4">
                  <p:embed/>
                </p:oleObj>
              </mc:Choice>
              <mc:Fallback>
                <p:oleObj name="Equation" r:id="rId4" imgW="64764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444500"/>
                        <a:ext cx="1576388" cy="871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Text Box 8"/>
          <p:cNvSpPr txBox="1">
            <a:spLocks noChangeArrowheads="1"/>
          </p:cNvSpPr>
          <p:nvPr/>
        </p:nvSpPr>
        <p:spPr bwMode="auto">
          <a:xfrm>
            <a:off x="1112772" y="728474"/>
            <a:ext cx="2991284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Blip>
                <a:blip r:embed="rId6"/>
              </a:buBlip>
              <a:defRPr sz="2800" b="1">
                <a:solidFill>
                  <a:srgbClr val="CC0000"/>
                </a:solidFill>
              </a:defRPr>
            </a:lvl1pPr>
          </a:lstStyle>
          <a:p>
            <a:r>
              <a:rPr lang="zh-CN" altLang="en-US" sz="2100" dirty="0">
                <a:solidFill>
                  <a:schemeClr val="tx1"/>
                </a:solidFill>
              </a:rPr>
              <a:t>压强的</a:t>
            </a:r>
            <a:r>
              <a:rPr lang="zh-CN" altLang="en-US" sz="2100" dirty="0"/>
              <a:t>物理意义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440671" y="1644188"/>
            <a:ext cx="1205666" cy="472305"/>
            <a:chOff x="2598685" y="2022020"/>
            <a:chExt cx="1607555" cy="629740"/>
          </a:xfrm>
        </p:grpSpPr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2608845" y="2082980"/>
              <a:ext cx="159739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FF"/>
                  </a:solidFill>
                </a:rPr>
                <a:t>宏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观量</a:t>
              </a:r>
            </a:p>
          </p:txBody>
        </p:sp>
        <p:sp>
          <p:nvSpPr>
            <p:cNvPr id="2" name="椭圆形标注 1"/>
            <p:cNvSpPr/>
            <p:nvPr/>
          </p:nvSpPr>
          <p:spPr>
            <a:xfrm>
              <a:off x="2598685" y="2022020"/>
              <a:ext cx="1597395" cy="629740"/>
            </a:xfrm>
            <a:prstGeom prst="wedgeEllipseCallout">
              <a:avLst>
                <a:gd name="adj1" fmla="val 36542"/>
                <a:gd name="adj2" fmla="val -14312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34291" y="1644188"/>
            <a:ext cx="1198046" cy="472305"/>
            <a:chOff x="5656844" y="2022020"/>
            <a:chExt cx="1597395" cy="629740"/>
          </a:xfrm>
        </p:grpSpPr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5713664" y="2082980"/>
              <a:ext cx="152025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FF"/>
                  </a:solidFill>
                </a:rPr>
                <a:t>微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观量</a:t>
              </a:r>
            </a:p>
          </p:txBody>
        </p:sp>
        <p:sp>
          <p:nvSpPr>
            <p:cNvPr id="22" name="椭圆形标注 21"/>
            <p:cNvSpPr/>
            <p:nvPr/>
          </p:nvSpPr>
          <p:spPr>
            <a:xfrm>
              <a:off x="5656844" y="2022020"/>
              <a:ext cx="1597395" cy="629740"/>
            </a:xfrm>
            <a:prstGeom prst="wedgeEllipseCallout">
              <a:avLst>
                <a:gd name="adj1" fmla="val -44234"/>
                <a:gd name="adj2" fmla="val -14634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112772" y="3828096"/>
            <a:ext cx="7323562" cy="57708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lvl="1"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100" b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zh-CN" altLang="en-US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气体的压强是一个</a:t>
            </a:r>
            <a:r>
              <a:rPr lang="zh-CN" altLang="en-US" sz="2100" b="1" kern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统计平均</a:t>
            </a:r>
            <a:r>
              <a:rPr lang="zh-CN" altLang="en-US" sz="2100" b="1" ker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量</a:t>
            </a:r>
            <a:r>
              <a:rPr lang="zh-CN" altLang="en-US" sz="2100" b="1" kern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100" b="1" kern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个</a:t>
            </a:r>
            <a:r>
              <a:rPr lang="zh-CN" altLang="en-US" sz="2100" b="1" kern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别</a:t>
            </a:r>
            <a:r>
              <a:rPr lang="zh-CN" altLang="en-US" sz="2100" b="1" kern="0" dirty="0">
                <a:latin typeface="Times New Roman" pitchFamily="18" charset="0"/>
                <a:cs typeface="Times New Roman" pitchFamily="18" charset="0"/>
              </a:rPr>
              <a:t>分子的压强</a:t>
            </a:r>
            <a:r>
              <a:rPr lang="zh-CN" altLang="en-US" sz="2100" b="1" kern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没有</a:t>
            </a:r>
            <a:r>
              <a:rPr lang="zh-CN" altLang="en-US" sz="2100" b="1" kern="0" dirty="0">
                <a:latin typeface="Times New Roman" pitchFamily="18" charset="0"/>
                <a:cs typeface="Times New Roman" pitchFamily="18" charset="0"/>
              </a:rPr>
              <a:t>意义</a:t>
            </a:r>
            <a:r>
              <a:rPr lang="zh-CN" altLang="en-US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zh-CN" sz="2100" b="1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1112772" y="3228687"/>
            <a:ext cx="6190647" cy="57708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lvl="1"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100" b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100" b="1" kern="0" dirty="0">
                <a:latin typeface="Times New Roman" pitchFamily="18" charset="0"/>
                <a:cs typeface="Times New Roman" pitchFamily="18" charset="0"/>
              </a:rPr>
              <a:t>展</a:t>
            </a:r>
            <a:r>
              <a:rPr lang="zh-CN" altLang="zh-CN" sz="2100" b="1" kern="0" dirty="0">
                <a:latin typeface="Times New Roman" pitchFamily="18" charset="0"/>
                <a:cs typeface="Times New Roman" pitchFamily="18" charset="0"/>
              </a:rPr>
              <a:t>示</a:t>
            </a:r>
            <a:r>
              <a:rPr lang="zh-CN" altLang="zh-CN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了</a:t>
            </a:r>
            <a:r>
              <a:rPr lang="zh-CN" altLang="zh-CN" sz="2100" b="1" kern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宏</a:t>
            </a:r>
            <a:r>
              <a:rPr lang="zh-CN" altLang="zh-CN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观量与</a:t>
            </a:r>
            <a:r>
              <a:rPr lang="zh-CN" altLang="zh-CN" sz="2100" b="1" kern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微</a:t>
            </a:r>
            <a:r>
              <a:rPr lang="zh-CN" altLang="zh-CN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观量的关系</a:t>
            </a:r>
            <a:r>
              <a:rPr lang="zh-CN" altLang="en-US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；</a:t>
            </a:r>
            <a:endParaRPr lang="zh-CN" altLang="zh-CN" sz="2100" b="1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12772" y="2629279"/>
            <a:ext cx="6190647" cy="577081"/>
            <a:chOff x="736714" y="3108051"/>
            <a:chExt cx="8254196" cy="769441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736714" y="3108051"/>
              <a:ext cx="8254196" cy="76944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lvl="1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kern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(1) </a:t>
              </a:r>
              <a:r>
                <a:rPr lang="zh-CN" altLang="en-US" sz="2100" b="1" kern="0" dirty="0">
                  <a:latin typeface="Times New Roman" pitchFamily="18" charset="0"/>
                  <a:cs typeface="Times New Roman" pitchFamily="18" charset="0"/>
                </a:rPr>
                <a:t>气</a:t>
              </a:r>
              <a:r>
                <a:rPr lang="zh-CN" altLang="en-US" sz="2100" b="1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体对器壁的压强正比于 </a:t>
              </a:r>
              <a:r>
                <a:rPr lang="en-US" altLang="zh-CN" sz="2100" b="1" i="1" kern="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zh-CN" altLang="en-US" sz="2100" b="1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和      ；</a:t>
              </a:r>
              <a:endParaRPr lang="zh-CN" altLang="zh-CN" sz="21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2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7064109"/>
                </p:ext>
              </p:extLst>
            </p:nvPr>
          </p:nvGraphicFramePr>
          <p:xfrm>
            <a:off x="5981902" y="3164696"/>
            <a:ext cx="618067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6"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1902" y="3164696"/>
                          <a:ext cx="618067" cy="6731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009708"/>
                </p:ext>
              </p:extLst>
            </p:nvPr>
          </p:nvGraphicFramePr>
          <p:xfrm>
            <a:off x="5227320" y="3306128"/>
            <a:ext cx="412750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7"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7320" y="3306128"/>
                          <a:ext cx="412750" cy="4127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977977"/>
              </p:ext>
            </p:extLst>
          </p:nvPr>
        </p:nvGraphicFramePr>
        <p:xfrm>
          <a:off x="4354513" y="1370013"/>
          <a:ext cx="4397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87"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1370013"/>
                        <a:ext cx="439737" cy="4667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119604"/>
              </p:ext>
            </p:extLst>
          </p:nvPr>
        </p:nvGraphicFramePr>
        <p:xfrm>
          <a:off x="1877651" y="775420"/>
          <a:ext cx="1485810" cy="7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88" name="Equation" r:id="rId5" imgW="647640" imgH="393480" progId="Equation.DSMT4">
                  <p:embed/>
                </p:oleObj>
              </mc:Choice>
              <mc:Fallback>
                <p:oleObj name="Equation" r:id="rId5" imgW="64764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651" y="775420"/>
                        <a:ext cx="1485810" cy="748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478279"/>
              </p:ext>
            </p:extLst>
          </p:nvPr>
        </p:nvGraphicFramePr>
        <p:xfrm>
          <a:off x="1873260" y="1812460"/>
          <a:ext cx="1454944" cy="453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89" name="公式" r:id="rId7" imgW="507960" imgH="190440" progId="Equation.3">
                  <p:embed/>
                </p:oleObj>
              </mc:Choice>
              <mc:Fallback>
                <p:oleObj name="公式" r:id="rId7" imgW="507960" imgH="1904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60" y="1812460"/>
                        <a:ext cx="1454944" cy="453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8"/>
          <p:cNvSpPr txBox="1">
            <a:spLocks noChangeArrowheads="1"/>
          </p:cNvSpPr>
          <p:nvPr/>
        </p:nvSpPr>
        <p:spPr bwMode="auto">
          <a:xfrm>
            <a:off x="531501" y="259154"/>
            <a:ext cx="3657600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800" b="1">
                <a:solidFill>
                  <a:srgbClr val="CC0000"/>
                </a:solidFill>
              </a:defRPr>
            </a:lvl1pPr>
          </a:lstStyle>
          <a:p>
            <a:r>
              <a:rPr lang="zh-CN" altLang="en-US" sz="2100" dirty="0"/>
              <a:t>三、理想气体温度公式</a:t>
            </a:r>
          </a:p>
        </p:txBody>
      </p:sp>
      <p:sp>
        <p:nvSpPr>
          <p:cNvPr id="23" name="右大括号 22"/>
          <p:cNvSpPr/>
          <p:nvPr/>
        </p:nvSpPr>
        <p:spPr>
          <a:xfrm flipV="1">
            <a:off x="3384768" y="984241"/>
            <a:ext cx="458026" cy="1238250"/>
          </a:xfrm>
          <a:prstGeom prst="rightBrace">
            <a:avLst>
              <a:gd name="adj1" fmla="val 28281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1558184" y="2573536"/>
            <a:ext cx="2991284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Blip>
                <a:blip r:embed="rId9"/>
              </a:buBlip>
              <a:defRPr sz="2800" b="1">
                <a:solidFill>
                  <a:srgbClr val="CC0000"/>
                </a:solidFill>
              </a:defRPr>
            </a:lvl1pPr>
          </a:lstStyle>
          <a:p>
            <a:r>
              <a:rPr lang="zh-CN" altLang="en-US" sz="2100" dirty="0">
                <a:solidFill>
                  <a:schemeClr val="tx1"/>
                </a:solidFill>
              </a:rPr>
              <a:t> 温度的</a:t>
            </a:r>
            <a:r>
              <a:rPr lang="zh-CN" altLang="en-US" sz="2100" dirty="0"/>
              <a:t>物理意义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1429004" y="4306207"/>
            <a:ext cx="6710883" cy="4801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zh-CN" altLang="en-US" sz="2100" b="1" dirty="0">
                <a:solidFill>
                  <a:srgbClr val="000000"/>
                </a:solidFill>
              </a:rPr>
              <a:t>在同一温度下各种气体分子</a:t>
            </a:r>
            <a:r>
              <a:rPr lang="zh-CN" altLang="en-US" sz="2100" b="1" dirty="0">
                <a:solidFill>
                  <a:srgbClr val="0000FF"/>
                </a:solidFill>
              </a:rPr>
              <a:t>平</a:t>
            </a:r>
            <a:r>
              <a:rPr lang="zh-CN" altLang="en-US" sz="2100" b="1" dirty="0">
                <a:solidFill>
                  <a:srgbClr val="000000"/>
                </a:solidFill>
              </a:rPr>
              <a:t>均</a:t>
            </a:r>
            <a:r>
              <a:rPr lang="zh-CN" altLang="en-US" sz="2100" b="1" dirty="0">
                <a:solidFill>
                  <a:srgbClr val="0000FF"/>
                </a:solidFill>
              </a:rPr>
              <a:t>平</a:t>
            </a:r>
            <a:r>
              <a:rPr lang="zh-CN" altLang="en-US" sz="2100" b="1" dirty="0">
                <a:solidFill>
                  <a:srgbClr val="000000"/>
                </a:solidFill>
              </a:rPr>
              <a:t>动</a:t>
            </a:r>
            <a:r>
              <a:rPr lang="zh-CN" altLang="en-US" sz="2100" b="1" dirty="0">
                <a:solidFill>
                  <a:srgbClr val="0000FF"/>
                </a:solidFill>
              </a:rPr>
              <a:t>动</a:t>
            </a:r>
            <a:r>
              <a:rPr lang="zh-CN" altLang="en-US" sz="2100" b="1" dirty="0">
                <a:solidFill>
                  <a:srgbClr val="000000"/>
                </a:solidFill>
              </a:rPr>
              <a:t>能均相等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429005" y="3152314"/>
            <a:ext cx="5018086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zh-CN" altLang="en-US" sz="2100" b="1" dirty="0">
                <a:solidFill>
                  <a:srgbClr val="000000"/>
                </a:solidFill>
                <a:latin typeface="+mn-ea"/>
                <a:ea typeface="+mn-ea"/>
              </a:rPr>
              <a:t>温度是分子</a:t>
            </a:r>
            <a:r>
              <a:rPr lang="zh-CN" altLang="en-US" sz="2100" b="1" dirty="0">
                <a:solidFill>
                  <a:srgbClr val="0000FF"/>
                </a:solidFill>
                <a:latin typeface="+mn-ea"/>
                <a:ea typeface="+mn-ea"/>
              </a:rPr>
              <a:t>平</a:t>
            </a:r>
            <a:r>
              <a:rPr lang="zh-CN" altLang="en-US" sz="2100" b="1" dirty="0">
                <a:solidFill>
                  <a:srgbClr val="000000"/>
                </a:solidFill>
                <a:latin typeface="+mn-ea"/>
                <a:ea typeface="+mn-ea"/>
              </a:rPr>
              <a:t>均</a:t>
            </a:r>
            <a:r>
              <a:rPr lang="zh-CN" altLang="en-US" sz="2100" b="1" dirty="0">
                <a:solidFill>
                  <a:srgbClr val="0000FF"/>
                </a:solidFill>
                <a:latin typeface="+mn-ea"/>
                <a:ea typeface="+mn-ea"/>
              </a:rPr>
              <a:t>平</a:t>
            </a:r>
            <a:r>
              <a:rPr lang="zh-CN" altLang="en-US" sz="2100" b="1" dirty="0">
                <a:solidFill>
                  <a:srgbClr val="000000"/>
                </a:solidFill>
                <a:latin typeface="+mn-ea"/>
                <a:ea typeface="+mn-ea"/>
              </a:rPr>
              <a:t>动</a:t>
            </a:r>
            <a:r>
              <a:rPr lang="zh-CN" altLang="en-US" sz="2100" b="1" dirty="0">
                <a:solidFill>
                  <a:srgbClr val="0000FF"/>
                </a:solidFill>
                <a:latin typeface="+mn-ea"/>
                <a:ea typeface="+mn-ea"/>
              </a:rPr>
              <a:t>动</a:t>
            </a:r>
            <a:r>
              <a:rPr lang="zh-CN" altLang="en-US" sz="2100" b="1" dirty="0">
                <a:solidFill>
                  <a:srgbClr val="000000"/>
                </a:solidFill>
                <a:latin typeface="+mn-ea"/>
                <a:ea typeface="+mn-ea"/>
              </a:rPr>
              <a:t>能的量度；</a:t>
            </a:r>
            <a:endParaRPr lang="en-US" altLang="zh-CN" sz="21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1429005" y="3729260"/>
            <a:ext cx="5018086" cy="41549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100" b="1" dirty="0">
                <a:solidFill>
                  <a:srgbClr val="000000"/>
                </a:solidFill>
              </a:rPr>
              <a:t>温度是大量分子的集体表现</a:t>
            </a:r>
            <a:r>
              <a:rPr lang="zh-CN" altLang="en-US" sz="2100" b="1" dirty="0">
                <a:solidFill>
                  <a:srgbClr val="000000"/>
                </a:solidFill>
                <a:latin typeface="+mn-ea"/>
                <a:ea typeface="+mn-ea"/>
              </a:rPr>
              <a:t>；</a:t>
            </a:r>
            <a:endParaRPr lang="en-US" altLang="zh-CN" sz="21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118230"/>
              </p:ext>
            </p:extLst>
          </p:nvPr>
        </p:nvGraphicFramePr>
        <p:xfrm>
          <a:off x="4775953" y="1211819"/>
          <a:ext cx="1263254" cy="802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0" name="Equation" r:id="rId10" imgW="545760" imgH="393480" progId="Equation.DSMT4">
                  <p:embed/>
                </p:oleObj>
              </mc:Choice>
              <mc:Fallback>
                <p:oleObj name="Equation" r:id="rId10" imgW="545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953" y="1211819"/>
                        <a:ext cx="1263254" cy="8024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329428"/>
              </p:ext>
            </p:extLst>
          </p:nvPr>
        </p:nvGraphicFramePr>
        <p:xfrm>
          <a:off x="4716121" y="1212057"/>
          <a:ext cx="1409700" cy="802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1" name="Equation" r:id="rId12" imgW="609480" imgH="393480" progId="Equation.DSMT4">
                  <p:embed/>
                </p:oleObj>
              </mc:Choice>
              <mc:Fallback>
                <p:oleObj name="Equation" r:id="rId12" imgW="609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121" y="1212057"/>
                        <a:ext cx="1409700" cy="80248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6039208" y="303116"/>
            <a:ext cx="1198046" cy="472305"/>
            <a:chOff x="5656844" y="2022020"/>
            <a:chExt cx="1597395" cy="629740"/>
          </a:xfrm>
        </p:grpSpPr>
        <p:sp>
          <p:nvSpPr>
            <p:cNvPr id="29" name="Text Box 11"/>
            <p:cNvSpPr txBox="1">
              <a:spLocks noChangeArrowheads="1"/>
            </p:cNvSpPr>
            <p:nvPr/>
          </p:nvSpPr>
          <p:spPr bwMode="auto">
            <a:xfrm>
              <a:off x="5713664" y="2082980"/>
              <a:ext cx="152025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FF"/>
                  </a:solidFill>
                </a:rPr>
                <a:t>宏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观量</a:t>
              </a:r>
            </a:p>
          </p:txBody>
        </p:sp>
        <p:sp>
          <p:nvSpPr>
            <p:cNvPr id="30" name="椭圆形标注 29"/>
            <p:cNvSpPr/>
            <p:nvPr/>
          </p:nvSpPr>
          <p:spPr>
            <a:xfrm>
              <a:off x="5656844" y="2022020"/>
              <a:ext cx="1597395" cy="629740"/>
            </a:xfrm>
            <a:prstGeom prst="wedgeEllipseCallout">
              <a:avLst>
                <a:gd name="adj1" fmla="val 8789"/>
                <a:gd name="adj2" fmla="val 17147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657399" y="303116"/>
            <a:ext cx="1205666" cy="472305"/>
            <a:chOff x="2598685" y="2022020"/>
            <a:chExt cx="1607555" cy="629740"/>
          </a:xfrm>
        </p:grpSpPr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2608845" y="2082980"/>
              <a:ext cx="159739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FF"/>
                  </a:solidFill>
                </a:rPr>
                <a:t>微</a:t>
              </a:r>
              <a:r>
                <a:rPr lang="zh-CN" altLang="en-US" sz="2100" b="1" dirty="0">
                  <a:solidFill>
                    <a:srgbClr val="1C1C1C"/>
                  </a:solidFill>
                </a:rPr>
                <a:t>观量</a:t>
              </a:r>
            </a:p>
          </p:txBody>
        </p:sp>
        <p:sp>
          <p:nvSpPr>
            <p:cNvPr id="27" name="椭圆形标注 26"/>
            <p:cNvSpPr/>
            <p:nvPr/>
          </p:nvSpPr>
          <p:spPr>
            <a:xfrm>
              <a:off x="2598685" y="2022020"/>
              <a:ext cx="1597395" cy="629740"/>
            </a:xfrm>
            <a:prstGeom prst="wedgeEllipseCallout">
              <a:avLst>
                <a:gd name="adj1" fmla="val -53309"/>
                <a:gd name="adj2" fmla="val 16015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46914E-7 L 0.15226 -2.46914E-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/>
      <p:bldP spid="32" grpId="0"/>
      <p:bldP spid="34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62918" y="4875144"/>
            <a:ext cx="1428750" cy="342900"/>
          </a:xfrm>
        </p:spPr>
        <p:txBody>
          <a:bodyPr/>
          <a:lstStyle/>
          <a:p>
            <a:fld id="{F7381F2F-EDB7-4FC9-A234-486EFE9E234E}" type="slidenum">
              <a:rPr lang="en-US" altLang="zh-CN">
                <a:solidFill>
                  <a:srgbClr val="000000"/>
                </a:solidFill>
              </a:rPr>
              <a:pPr/>
              <a:t>22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1371209" y="278366"/>
            <a:ext cx="662776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例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理想气体的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            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求：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(1)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分子数密度</a:t>
            </a: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   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(2)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单位体积气体分子的平均平动动能的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总和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2665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542033"/>
              </p:ext>
            </p:extLst>
          </p:nvPr>
        </p:nvGraphicFramePr>
        <p:xfrm>
          <a:off x="2462198" y="2308388"/>
          <a:ext cx="940191" cy="758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4" name="Equation" r:id="rId3" imgW="482400" imgH="393480" progId="Equation.DSMT4">
                  <p:embed/>
                </p:oleObj>
              </mc:Choice>
              <mc:Fallback>
                <p:oleObj name="Equation" r:id="rId3" imgW="48240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198" y="2308388"/>
                        <a:ext cx="940191" cy="7580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740211"/>
              </p:ext>
            </p:extLst>
          </p:nvPr>
        </p:nvGraphicFramePr>
        <p:xfrm>
          <a:off x="3385738" y="325612"/>
          <a:ext cx="1164431" cy="3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5" name="Equation" r:id="rId5" imgW="647640" imgH="177480" progId="Equation.DSMT4">
                  <p:embed/>
                </p:oleObj>
              </mc:Choice>
              <mc:Fallback>
                <p:oleObj name="Equation" r:id="rId5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738" y="325612"/>
                        <a:ext cx="1164431" cy="3155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54006"/>
              </p:ext>
            </p:extLst>
          </p:nvPr>
        </p:nvGraphicFramePr>
        <p:xfrm>
          <a:off x="4733567" y="252488"/>
          <a:ext cx="2009775" cy="40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6" name="Equation" r:id="rId7" imgW="1117440" imgH="228600" progId="Equation.DSMT4">
                  <p:embed/>
                </p:oleObj>
              </mc:Choice>
              <mc:Fallback>
                <p:oleObj name="Equation" r:id="rId7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567" y="252488"/>
                        <a:ext cx="2009775" cy="4060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371209" y="1871915"/>
            <a:ext cx="6187058" cy="432000"/>
            <a:chOff x="304279" y="2495887"/>
            <a:chExt cx="8249410" cy="576000"/>
          </a:xfrm>
        </p:grpSpPr>
        <p:sp>
          <p:nvSpPr>
            <p:cNvPr id="4" name="矩形 3"/>
            <p:cNvSpPr/>
            <p:nvPr/>
          </p:nvSpPr>
          <p:spPr>
            <a:xfrm>
              <a:off x="304279" y="2515126"/>
              <a:ext cx="1058409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解： </a:t>
              </a:r>
              <a:endParaRPr lang="zh-CN" altLang="en-US" sz="2100" dirty="0"/>
            </a:p>
          </p:txBody>
        </p:sp>
        <p:sp>
          <p:nvSpPr>
            <p:cNvPr id="15" name="Text Box 30"/>
            <p:cNvSpPr txBox="1">
              <a:spLocks noChangeArrowheads="1"/>
            </p:cNvSpPr>
            <p:nvPr/>
          </p:nvSpPr>
          <p:spPr bwMode="auto">
            <a:xfrm>
              <a:off x="1045058" y="2515126"/>
              <a:ext cx="750863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(1) 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根据理想气体物态方程二                    </a:t>
              </a:r>
              <a:r>
                <a:rPr kumimoji="1" lang="zh-CN" altLang="en-US" sz="2100" b="1" dirty="0" smtClean="0">
                  <a:solidFill>
                    <a:srgbClr val="000000"/>
                  </a:solidFill>
                  <a:latin typeface="Times New Roman" pitchFamily="18" charset="0"/>
                </a:rPr>
                <a:t>得</a:t>
              </a:r>
              <a:r>
                <a:rPr kumimoji="1"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8087599"/>
                </p:ext>
              </p:extLst>
            </p:nvPr>
          </p:nvGraphicFramePr>
          <p:xfrm>
            <a:off x="5825091" y="2495887"/>
            <a:ext cx="1566419" cy="57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737" name="Equation" r:id="rId9" imgW="545760" imgH="203040" progId="Equation.DSMT4">
                    <p:embed/>
                  </p:oleObj>
                </mc:Choice>
                <mc:Fallback>
                  <p:oleObj name="Equation" r:id="rId9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5091" y="2495887"/>
                          <a:ext cx="1566419" cy="5760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58607"/>
              </p:ext>
            </p:extLst>
          </p:nvPr>
        </p:nvGraphicFramePr>
        <p:xfrm>
          <a:off x="2731294" y="3178969"/>
          <a:ext cx="3069431" cy="807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8" name="Equation" r:id="rId11" imgW="1574640" imgH="419040" progId="Equation.DSMT4">
                  <p:embed/>
                </p:oleObj>
              </mc:Choice>
              <mc:Fallback>
                <p:oleObj name="Equation" r:id="rId11" imgW="1574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294" y="3178969"/>
                        <a:ext cx="3069431" cy="80724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02094"/>
              </p:ext>
            </p:extLst>
          </p:nvPr>
        </p:nvGraphicFramePr>
        <p:xfrm>
          <a:off x="2731294" y="4219576"/>
          <a:ext cx="2227660" cy="44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9" name="Equation" r:id="rId13" imgW="1143000" imgH="228600" progId="Equation.DSMT4">
                  <p:embed/>
                </p:oleObj>
              </mc:Choice>
              <mc:Fallback>
                <p:oleObj name="Equation" r:id="rId13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294" y="4219576"/>
                        <a:ext cx="2227660" cy="4405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337519"/>
              </p:ext>
            </p:extLst>
          </p:nvPr>
        </p:nvGraphicFramePr>
        <p:xfrm>
          <a:off x="4896089" y="4219576"/>
          <a:ext cx="2349103" cy="44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0" name="Equation" r:id="rId15" imgW="1206360" imgH="228600" progId="Equation.DSMT4">
                  <p:embed/>
                </p:oleObj>
              </mc:Choice>
              <mc:Fallback>
                <p:oleObj name="Equation" r:id="rId15" imgW="120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6089" y="4219576"/>
                        <a:ext cx="2349103" cy="4405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23161" y="4875144"/>
            <a:ext cx="1428750" cy="342900"/>
          </a:xfrm>
        </p:spPr>
        <p:txBody>
          <a:bodyPr/>
          <a:lstStyle/>
          <a:p>
            <a:fld id="{F7381F2F-EDB7-4FC9-A234-486EFE9E234E}" type="slidenum">
              <a:rPr lang="en-US" altLang="zh-CN">
                <a:solidFill>
                  <a:srgbClr val="000000"/>
                </a:solidFill>
              </a:rPr>
              <a:pPr/>
              <a:t>23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1371209" y="278366"/>
            <a:ext cx="662776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例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理想气体的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            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求：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(1)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分子数密度</a:t>
            </a: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   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(2) </a:t>
            </a:r>
            <a:r>
              <a:rPr kumimoji="1" lang="zh-CN" altLang="en-US" sz="2100" b="1" dirty="0">
                <a:solidFill>
                  <a:srgbClr val="800000"/>
                </a:solidFill>
                <a:latin typeface="Times New Roman" pitchFamily="18" charset="0"/>
              </a:rPr>
              <a:t>单位体积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气体分子的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均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能的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总和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072184"/>
              </p:ext>
            </p:extLst>
          </p:nvPr>
        </p:nvGraphicFramePr>
        <p:xfrm>
          <a:off x="3385738" y="325612"/>
          <a:ext cx="1164431" cy="3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4" name="Equation" r:id="rId3" imgW="647640" imgH="177480" progId="Equation.DSMT4">
                  <p:embed/>
                </p:oleObj>
              </mc:Choice>
              <mc:Fallback>
                <p:oleObj name="Equation" r:id="rId3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738" y="325612"/>
                        <a:ext cx="1164431" cy="3155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77833"/>
              </p:ext>
            </p:extLst>
          </p:nvPr>
        </p:nvGraphicFramePr>
        <p:xfrm>
          <a:off x="4733567" y="252488"/>
          <a:ext cx="2009775" cy="40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5"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567" y="252488"/>
                        <a:ext cx="2009775" cy="4060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371209" y="1886346"/>
            <a:ext cx="6187058" cy="415498"/>
            <a:chOff x="304279" y="2515126"/>
            <a:chExt cx="8249410" cy="553996"/>
          </a:xfrm>
        </p:grpSpPr>
        <p:sp>
          <p:nvSpPr>
            <p:cNvPr id="4" name="矩形 3"/>
            <p:cNvSpPr/>
            <p:nvPr/>
          </p:nvSpPr>
          <p:spPr>
            <a:xfrm>
              <a:off x="304279" y="2515126"/>
              <a:ext cx="1058409" cy="553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解： </a:t>
              </a:r>
              <a:endParaRPr lang="zh-CN" altLang="en-US" sz="2100" dirty="0"/>
            </a:p>
          </p:txBody>
        </p:sp>
        <p:sp>
          <p:nvSpPr>
            <p:cNvPr id="15" name="Text Box 30"/>
            <p:cNvSpPr txBox="1">
              <a:spLocks noChangeArrowheads="1"/>
            </p:cNvSpPr>
            <p:nvPr/>
          </p:nvSpPr>
          <p:spPr bwMode="auto">
            <a:xfrm>
              <a:off x="1045058" y="2515126"/>
              <a:ext cx="7508631" cy="55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(2) 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Times New Roman" pitchFamily="18" charset="0"/>
                </a:rPr>
                <a:t>由题意可得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81313"/>
              </p:ext>
            </p:extLst>
          </p:nvPr>
        </p:nvGraphicFramePr>
        <p:xfrm>
          <a:off x="2273300" y="2503488"/>
          <a:ext cx="1181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6" name="Equation" r:id="rId7" imgW="634680" imgH="228600" progId="Equation.DSMT4">
                  <p:embed/>
                </p:oleObj>
              </mc:Choice>
              <mc:Fallback>
                <p:oleObj name="Equation" r:id="rId7" imgW="63468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503488"/>
                        <a:ext cx="11811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375591"/>
              </p:ext>
            </p:extLst>
          </p:nvPr>
        </p:nvGraphicFramePr>
        <p:xfrm>
          <a:off x="2725340" y="3144442"/>
          <a:ext cx="4477007" cy="77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7" name="Equation" r:id="rId9" imgW="2387520" imgH="393480" progId="Equation.DSMT4">
                  <p:embed/>
                </p:oleObj>
              </mc:Choice>
              <mc:Fallback>
                <p:oleObj name="Equation" r:id="rId9" imgW="2387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340" y="3144442"/>
                        <a:ext cx="4477007" cy="772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257408"/>
              </p:ext>
            </p:extLst>
          </p:nvPr>
        </p:nvGraphicFramePr>
        <p:xfrm>
          <a:off x="2725340" y="4073535"/>
          <a:ext cx="1898745" cy="448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8" name="Equation" r:id="rId11" imgW="939600" imgH="228600" progId="Equation.DSMT4">
                  <p:embed/>
                </p:oleObj>
              </mc:Choice>
              <mc:Fallback>
                <p:oleObj name="Equation" r:id="rId11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340" y="4073535"/>
                        <a:ext cx="1898745" cy="448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859995"/>
              </p:ext>
            </p:extLst>
          </p:nvPr>
        </p:nvGraphicFramePr>
        <p:xfrm>
          <a:off x="3392406" y="2315052"/>
          <a:ext cx="1226344" cy="837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9" name="Equation" r:id="rId13" imgW="660240" imgH="393480" progId="Equation.DSMT4">
                  <p:embed/>
                </p:oleObj>
              </mc:Choice>
              <mc:Fallback>
                <p:oleObj name="Equation" r:id="rId13" imgW="660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06" y="2315052"/>
                        <a:ext cx="1226344" cy="837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3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1371209" y="278366"/>
            <a:ext cx="6627763" cy="186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例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一容器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的容积</a:t>
            </a:r>
            <a:r>
              <a:rPr kumimoji="1"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，有              个氧分子，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气体压强                             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求：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(1)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分子的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均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能</a:t>
            </a: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   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(2)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气体的温度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333109" y="2070099"/>
            <a:ext cx="6187058" cy="836613"/>
            <a:chOff x="304279" y="2188632"/>
            <a:chExt cx="8249410" cy="1115484"/>
          </a:xfrm>
        </p:grpSpPr>
        <p:sp>
          <p:nvSpPr>
            <p:cNvPr id="28" name="矩形 27"/>
            <p:cNvSpPr/>
            <p:nvPr/>
          </p:nvSpPr>
          <p:spPr>
            <a:xfrm>
              <a:off x="304279" y="2515126"/>
              <a:ext cx="1058409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解： </a:t>
              </a:r>
              <a:endParaRPr lang="zh-CN" altLang="en-US" sz="2100" dirty="0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1045058" y="2515126"/>
              <a:ext cx="750863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(1) 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由理想气体压强公式                      得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2942290"/>
                </p:ext>
              </p:extLst>
            </p:nvPr>
          </p:nvGraphicFramePr>
          <p:xfrm>
            <a:off x="4950884" y="2188632"/>
            <a:ext cx="1896533" cy="1115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712" name="Equation" r:id="rId3" imgW="660240" imgH="393480" progId="Equation.DSMT4">
                    <p:embed/>
                  </p:oleObj>
                </mc:Choice>
                <mc:Fallback>
                  <p:oleObj name="Equation" r:id="rId3" imgW="6602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884" y="2188632"/>
                          <a:ext cx="1896533" cy="111548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584990"/>
              </p:ext>
            </p:extLst>
          </p:nvPr>
        </p:nvGraphicFramePr>
        <p:xfrm>
          <a:off x="3687366" y="271462"/>
          <a:ext cx="981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3" name="Equation" r:id="rId5" imgW="545760" imgH="228600" progId="Equation.DSMT4">
                  <p:embed/>
                </p:oleObj>
              </mc:Choice>
              <mc:Fallback>
                <p:oleObj name="Equation" r:id="rId5" imgW="54576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366" y="271462"/>
                        <a:ext cx="9810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52564"/>
              </p:ext>
            </p:extLst>
          </p:nvPr>
        </p:nvGraphicFramePr>
        <p:xfrm>
          <a:off x="5326856" y="275035"/>
          <a:ext cx="844154" cy="359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4" name="Equation" r:id="rId7" imgW="469800" imgH="203040" progId="Equation.DSMT4">
                  <p:embed/>
                </p:oleObj>
              </mc:Choice>
              <mc:Fallback>
                <p:oleObj name="Equation" r:id="rId7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856" y="275035"/>
                        <a:ext cx="844154" cy="359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130795"/>
              </p:ext>
            </p:extLst>
          </p:nvPr>
        </p:nvGraphicFramePr>
        <p:xfrm>
          <a:off x="3037285" y="729853"/>
          <a:ext cx="193952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5" name="Equation" r:id="rId9" imgW="1079280" imgH="228600" progId="Equation.DSMT4">
                  <p:embed/>
                </p:oleObj>
              </mc:Choice>
              <mc:Fallback>
                <p:oleObj name="Equation" r:id="rId9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285" y="729853"/>
                        <a:ext cx="193952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032618"/>
              </p:ext>
            </p:extLst>
          </p:nvPr>
        </p:nvGraphicFramePr>
        <p:xfrm>
          <a:off x="2335213" y="2906713"/>
          <a:ext cx="1490662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6" name="Equation" r:id="rId11" imgW="761760" imgH="393480" progId="Equation.DSMT4">
                  <p:embed/>
                </p:oleObj>
              </mc:Choice>
              <mc:Fallback>
                <p:oleObj name="Equation" r:id="rId11" imgW="761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2906713"/>
                        <a:ext cx="1490662" cy="7604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094641"/>
              </p:ext>
            </p:extLst>
          </p:nvPr>
        </p:nvGraphicFramePr>
        <p:xfrm>
          <a:off x="2341563" y="3860800"/>
          <a:ext cx="13906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7" name="Equation" r:id="rId13" imgW="711000" imgH="393480" progId="Equation.DSMT4">
                  <p:embed/>
                </p:oleObj>
              </mc:Choice>
              <mc:Fallback>
                <p:oleObj name="Equation" r:id="rId13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3860800"/>
                        <a:ext cx="1390650" cy="760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273465"/>
              </p:ext>
            </p:extLst>
          </p:nvPr>
        </p:nvGraphicFramePr>
        <p:xfrm>
          <a:off x="3758209" y="4001691"/>
          <a:ext cx="1963340" cy="441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8" name="Equation" r:id="rId15" imgW="1002960" imgH="228600" progId="Equation.DSMT4">
                  <p:embed/>
                </p:oleObj>
              </mc:Choice>
              <mc:Fallback>
                <p:oleObj name="Equation" r:id="rId15" imgW="1002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209" y="4001691"/>
                        <a:ext cx="1963340" cy="44172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15250" y="4875144"/>
            <a:ext cx="1428750" cy="342900"/>
          </a:xfrm>
        </p:spPr>
        <p:txBody>
          <a:bodyPr/>
          <a:lstStyle/>
          <a:p>
            <a:fld id="{F7381F2F-EDB7-4FC9-A234-486EFE9E234E}" type="slidenum">
              <a:rPr lang="en-US" altLang="zh-CN">
                <a:solidFill>
                  <a:srgbClr val="000000"/>
                </a:solidFill>
              </a:rPr>
              <a:pPr/>
              <a:t>24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333109" y="2233613"/>
            <a:ext cx="6187058" cy="836612"/>
            <a:chOff x="304279" y="2226420"/>
            <a:chExt cx="8249410" cy="1115482"/>
          </a:xfrm>
        </p:grpSpPr>
        <p:sp>
          <p:nvSpPr>
            <p:cNvPr id="28" name="矩形 27"/>
            <p:cNvSpPr/>
            <p:nvPr/>
          </p:nvSpPr>
          <p:spPr>
            <a:xfrm>
              <a:off x="304279" y="2515126"/>
              <a:ext cx="1058409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解： </a:t>
              </a:r>
              <a:endParaRPr lang="zh-CN" altLang="en-US" sz="2100" dirty="0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1045058" y="2515126"/>
              <a:ext cx="750863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(2) 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由理想气体温度公式                      得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7341746"/>
                </p:ext>
              </p:extLst>
            </p:nvPr>
          </p:nvGraphicFramePr>
          <p:xfrm>
            <a:off x="4993217" y="2226420"/>
            <a:ext cx="1860549" cy="1115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45" name="Equation" r:id="rId3" imgW="647640" imgH="393480" progId="Equation.DSMT4">
                    <p:embed/>
                  </p:oleObj>
                </mc:Choice>
                <mc:Fallback>
                  <p:oleObj name="Equation" r:id="rId3" imgW="6476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3217" y="2226420"/>
                          <a:ext cx="1860549" cy="111548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859681"/>
              </p:ext>
            </p:extLst>
          </p:nvPr>
        </p:nvGraphicFramePr>
        <p:xfrm>
          <a:off x="2497138" y="3041650"/>
          <a:ext cx="1166812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6" name="Equation" r:id="rId5" imgW="596880" imgH="393480" progId="Equation.DSMT4">
                  <p:embed/>
                </p:oleObj>
              </mc:Choice>
              <mc:Fallback>
                <p:oleObj name="Equation" r:id="rId5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3041650"/>
                        <a:ext cx="1166812" cy="760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113215"/>
              </p:ext>
            </p:extLst>
          </p:nvPr>
        </p:nvGraphicFramePr>
        <p:xfrm>
          <a:off x="2749154" y="4140436"/>
          <a:ext cx="1218009" cy="39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7" name="Equation" r:id="rId7" imgW="622080" imgH="203040" progId="Equation.DSMT4">
                  <p:embed/>
                </p:oleObj>
              </mc:Choice>
              <mc:Fallback>
                <p:oleObj name="Equation" r:id="rId7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154" y="4140436"/>
                        <a:ext cx="1218009" cy="3929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15250" y="4875144"/>
            <a:ext cx="1428750" cy="342900"/>
          </a:xfrm>
        </p:spPr>
        <p:txBody>
          <a:bodyPr/>
          <a:lstStyle/>
          <a:p>
            <a:fld id="{F7381F2F-EDB7-4FC9-A234-486EFE9E234E}" type="slidenum">
              <a:rPr lang="en-US" altLang="zh-CN">
                <a:solidFill>
                  <a:srgbClr val="000000"/>
                </a:solidFill>
              </a:rPr>
              <a:pPr/>
              <a:t>25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3" name="Text Box 30"/>
          <p:cNvSpPr txBox="1">
            <a:spLocks noChangeArrowheads="1"/>
          </p:cNvSpPr>
          <p:nvPr/>
        </p:nvSpPr>
        <p:spPr bwMode="auto">
          <a:xfrm>
            <a:off x="1371209" y="278366"/>
            <a:ext cx="6627763" cy="186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例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一容器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的容积</a:t>
            </a:r>
            <a:r>
              <a:rPr kumimoji="1"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         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，有              个氧分子，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气体压强                             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求：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(1)</a:t>
            </a: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分子的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均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平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动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能</a:t>
            </a: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kumimoji="1"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    </a:t>
            </a:r>
            <a:r>
              <a:rPr kumimoji="1"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(2) </a:t>
            </a:r>
            <a:r>
              <a:rPr kumimoji="1"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气体的温度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849360"/>
              </p:ext>
            </p:extLst>
          </p:nvPr>
        </p:nvGraphicFramePr>
        <p:xfrm>
          <a:off x="3687366" y="271462"/>
          <a:ext cx="981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8" name="Equation" r:id="rId9" imgW="545760" imgH="228600" progId="Equation.DSMT4">
                  <p:embed/>
                </p:oleObj>
              </mc:Choice>
              <mc:Fallback>
                <p:oleObj name="Equation" r:id="rId9" imgW="545760" imgH="2286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366" y="271462"/>
                        <a:ext cx="9810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372293"/>
              </p:ext>
            </p:extLst>
          </p:nvPr>
        </p:nvGraphicFramePr>
        <p:xfrm>
          <a:off x="5326856" y="275035"/>
          <a:ext cx="844154" cy="359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9" name="Equation" r:id="rId11" imgW="469800" imgH="203040" progId="Equation.DSMT4">
                  <p:embed/>
                </p:oleObj>
              </mc:Choice>
              <mc:Fallback>
                <p:oleObj name="Equation" r:id="rId11" imgW="469800" imgH="203040" progId="Equation.DSMT4">
                  <p:embed/>
                  <p:pic>
                    <p:nvPicPr>
                      <p:cNvPr id="31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856" y="275035"/>
                        <a:ext cx="844154" cy="359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789781"/>
              </p:ext>
            </p:extLst>
          </p:nvPr>
        </p:nvGraphicFramePr>
        <p:xfrm>
          <a:off x="3037285" y="729853"/>
          <a:ext cx="193952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50" name="Equation" r:id="rId13" imgW="1079280" imgH="228600" progId="Equation.DSMT4">
                  <p:embed/>
                </p:oleObj>
              </mc:Choice>
              <mc:Fallback>
                <p:oleObj name="Equation" r:id="rId13" imgW="1079280" imgH="2286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285" y="729853"/>
                        <a:ext cx="193952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433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231094" y="1830607"/>
            <a:ext cx="324000" cy="32400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231094" y="2248216"/>
            <a:ext cx="324000" cy="32400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231094" y="2665825"/>
            <a:ext cx="324000" cy="32400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231094" y="3083435"/>
            <a:ext cx="324000" cy="32400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 bwMode="auto">
          <a:xfrm>
            <a:off x="7897812" y="4573270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1273798" y="820281"/>
            <a:ext cx="6675107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A50021"/>
                </a:solidFill>
                <a:latin typeface="Times New Roman" pitchFamily="18" charset="0"/>
              </a:rPr>
              <a:t> 1.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一瓶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氦气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和一瓶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氮气</a:t>
            </a:r>
            <a:r>
              <a:rPr lang="zh-CN" altLang="en-US" sz="2100" b="1" dirty="0">
                <a:solidFill>
                  <a:srgbClr val="800000"/>
                </a:solidFill>
                <a:latin typeface="Times New Roman" pitchFamily="18" charset="0"/>
              </a:rPr>
              <a:t>密度相同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，分子</a:t>
            </a:r>
            <a:r>
              <a:rPr lang="zh-CN" altLang="en-US" sz="2100" b="1" dirty="0" smtClean="0">
                <a:solidFill>
                  <a:srgbClr val="0000FF"/>
                </a:solidFill>
                <a:latin typeface="Times New Roman" pitchFamily="18" charset="0"/>
              </a:rPr>
              <a:t>平</a:t>
            </a:r>
            <a:r>
              <a:rPr lang="zh-CN" altLang="en-US" sz="2100" b="1" dirty="0" smtClean="0">
                <a:solidFill>
                  <a:schemeClr val="bg1"/>
                </a:solidFill>
                <a:latin typeface="Times New Roman" pitchFamily="18" charset="0"/>
              </a:rPr>
              <a:t>均</a:t>
            </a:r>
            <a:r>
              <a:rPr lang="zh-CN" altLang="en-US" sz="2100" b="1" dirty="0" smtClean="0">
                <a:solidFill>
                  <a:srgbClr val="0000FF"/>
                </a:solidFill>
                <a:latin typeface="Times New Roman" pitchFamily="18" charset="0"/>
              </a:rPr>
              <a:t>平</a:t>
            </a:r>
            <a:r>
              <a:rPr lang="zh-CN" altLang="en-US" sz="2100" b="1" dirty="0" smtClean="0">
                <a:solidFill>
                  <a:schemeClr val="bg1"/>
                </a:solidFill>
                <a:latin typeface="Times New Roman" pitchFamily="18" charset="0"/>
              </a:rPr>
              <a:t>动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动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能  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相同，而且都处于平衡状态，则：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650964" y="1764897"/>
            <a:ext cx="6048375" cy="177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温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度相同、压强</a:t>
            </a:r>
            <a:r>
              <a:rPr lang="zh-CN" altLang="en-US" sz="2100" b="1" dirty="0">
                <a:solidFill>
                  <a:schemeClr val="accent6"/>
                </a:solidFill>
                <a:latin typeface="Times New Roman" pitchFamily="18" charset="0"/>
              </a:rPr>
              <a:t>相同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温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度、压强都</a:t>
            </a:r>
            <a:r>
              <a:rPr lang="zh-CN" altLang="en-US" sz="2100" b="1" dirty="0">
                <a:solidFill>
                  <a:schemeClr val="accent6"/>
                </a:solidFill>
                <a:latin typeface="Times New Roman" pitchFamily="18" charset="0"/>
              </a:rPr>
              <a:t>不同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温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度相同，氦气压强</a:t>
            </a:r>
            <a:r>
              <a:rPr lang="zh-CN" altLang="en-US" sz="2100" b="1" dirty="0">
                <a:solidFill>
                  <a:schemeClr val="accent6"/>
                </a:solidFill>
                <a:latin typeface="Times New Roman" pitchFamily="18" charset="0"/>
              </a:rPr>
              <a:t>大于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氮气压强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温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度相同，氦气压强</a:t>
            </a:r>
            <a:r>
              <a:rPr lang="zh-CN" altLang="en-US" sz="2100" b="1" dirty="0">
                <a:solidFill>
                  <a:schemeClr val="accent6"/>
                </a:solidFill>
                <a:latin typeface="Times New Roman" pitchFamily="18" charset="0"/>
              </a:rPr>
              <a:t>小于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氮气压强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zh-CN" altLang="zh-CN" sz="21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342900" y="4298852"/>
            <a:ext cx="97274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 b="1" dirty="0">
                <a:solidFill>
                  <a:srgbClr val="0000CC"/>
                </a:solidFill>
                <a:latin typeface="Times New Roman" pitchFamily="18" charset="0"/>
              </a:rPr>
              <a:t>分析</a:t>
            </a:r>
            <a:r>
              <a:rPr lang="zh-CN" altLang="zh-CN" sz="2100" b="1" dirty="0">
                <a:solidFill>
                  <a:srgbClr val="0000CC"/>
                </a:solidFill>
                <a:latin typeface="Times New Roman" pitchFamily="18" charset="0"/>
              </a:rPr>
              <a:t>：</a:t>
            </a:r>
            <a:endParaRPr lang="zh-CN" altLang="en-US" sz="21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895292"/>
              </p:ext>
            </p:extLst>
          </p:nvPr>
        </p:nvGraphicFramePr>
        <p:xfrm>
          <a:off x="2770585" y="4171540"/>
          <a:ext cx="1307855" cy="670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0" name="Equation" r:id="rId15" imgW="812520" imgH="393480" progId="Equation.DSMT4">
                  <p:embed/>
                </p:oleObj>
              </mc:Choice>
              <mc:Fallback>
                <p:oleObj name="Equation" r:id="rId15" imgW="812520" imgH="393480" progId="Equation.DSMT4">
                  <p:embed/>
                  <p:pic>
                    <p:nvPicPr>
                      <p:cNvPr id="1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585" y="4171540"/>
                        <a:ext cx="1307855" cy="670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746727"/>
              </p:ext>
            </p:extLst>
          </p:nvPr>
        </p:nvGraphicFramePr>
        <p:xfrm>
          <a:off x="5011341" y="4171440"/>
          <a:ext cx="1246584" cy="670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1" name="Equation" r:id="rId17" imgW="774360" imgH="393480" progId="Equation.DSMT4">
                  <p:embed/>
                </p:oleObj>
              </mc:Choice>
              <mc:Fallback>
                <p:oleObj name="Equation" r:id="rId17" imgW="774360" imgH="393480" progId="Equation.DSMT4">
                  <p:embed/>
                  <p:pic>
                    <p:nvPicPr>
                      <p:cNvPr id="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341" y="4171440"/>
                        <a:ext cx="1246584" cy="670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4342408" y="4452428"/>
            <a:ext cx="486966" cy="108347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00FF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2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505550"/>
              </p:ext>
            </p:extLst>
          </p:nvPr>
        </p:nvGraphicFramePr>
        <p:xfrm>
          <a:off x="1141413" y="4140200"/>
          <a:ext cx="12430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2" name="Equation" r:id="rId19" imgW="647640" imgH="393480" progId="Equation.DSMT4">
                  <p:embed/>
                </p:oleObj>
              </mc:Choice>
              <mc:Fallback>
                <p:oleObj name="Equation" r:id="rId19" imgW="647640" imgH="393480" progId="Equation.DSMT4">
                  <p:embed/>
                  <p:pic>
                    <p:nvPicPr>
                      <p:cNvPr id="1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4140200"/>
                        <a:ext cx="12430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940965"/>
              </p:ext>
            </p:extLst>
          </p:nvPr>
        </p:nvGraphicFramePr>
        <p:xfrm>
          <a:off x="6280150" y="4165600"/>
          <a:ext cx="9207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33" name="Equation" r:id="rId21" imgW="571320" imgH="393480" progId="Equation.DSMT4">
                  <p:embed/>
                </p:oleObj>
              </mc:Choice>
              <mc:Fallback>
                <p:oleObj name="Equation" r:id="rId21" imgW="571320" imgH="393480" progId="Equation.DSMT4">
                  <p:embed/>
                  <p:pic>
                    <p:nvPicPr>
                      <p:cNvPr id="1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4165600"/>
                        <a:ext cx="9207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4307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172385" y="2125150"/>
            <a:ext cx="288000" cy="288001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4208789" y="2125150"/>
            <a:ext cx="288000" cy="28800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72385" y="2739292"/>
            <a:ext cx="288000" cy="288001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208789" y="2739292"/>
            <a:ext cx="288000" cy="28800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 bwMode="auto">
          <a:xfrm>
            <a:off x="759460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1178719" y="597240"/>
            <a:ext cx="6941601" cy="135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A50021"/>
                </a:solidFill>
                <a:latin typeface="Times New Roman" pitchFamily="18" charset="0"/>
              </a:rPr>
              <a:t> 2.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理想气体体积为 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，压强为</a:t>
            </a:r>
            <a:r>
              <a:rPr lang="zh-CN" altLang="en-US" sz="21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，温度为 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, 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一个分子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的质量为 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m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，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k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为玻耳兹曼常量，</a:t>
            </a:r>
            <a:r>
              <a:rPr lang="en-US" altLang="zh-CN" sz="2100" b="1" i="1" dirty="0">
                <a:solidFill>
                  <a:schemeClr val="bg1"/>
                </a:solidFill>
                <a:latin typeface="Times New Roman" pitchFamily="18" charset="0"/>
              </a:rPr>
              <a:t>R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为摩尔气体常量， </a:t>
            </a: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2100" b="1" dirty="0">
                <a:solidFill>
                  <a:schemeClr val="bg1"/>
                </a:solidFill>
                <a:latin typeface="Times New Roman" pitchFamily="18" charset="0"/>
              </a:rPr>
              <a:t>     </a:t>
            </a:r>
            <a:r>
              <a:rPr lang="zh-CN" altLang="en-US" sz="2100" b="1" dirty="0">
                <a:solidFill>
                  <a:schemeClr val="bg1"/>
                </a:solidFill>
                <a:latin typeface="Times New Roman" pitchFamily="18" charset="0"/>
              </a:rPr>
              <a:t>则该理想气体的分子数为：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408628" y="2096717"/>
            <a:ext cx="4806554" cy="1029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smtClean="0">
                <a:solidFill>
                  <a:srgbClr val="CC0000"/>
                </a:solidFill>
                <a:latin typeface="+mn-lt"/>
              </a:rPr>
              <a:t>                              </a:t>
            </a:r>
            <a:endParaRPr lang="zh-CN" altLang="en-US" sz="2100" b="1" dirty="0">
              <a:solidFill>
                <a:srgbClr val="CC000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smtClean="0">
                <a:solidFill>
                  <a:srgbClr val="CC0000"/>
                </a:solidFill>
                <a:latin typeface="+mn-lt"/>
              </a:rPr>
              <a:t>                              </a:t>
            </a:r>
            <a:endParaRPr lang="zh-CN" altLang="en-US" sz="2100" b="1" dirty="0">
              <a:solidFill>
                <a:srgbClr val="CC0000"/>
              </a:solidFill>
              <a:latin typeface="+mn-lt"/>
            </a:endParaRPr>
          </a:p>
        </p:txBody>
      </p:sp>
      <p:graphicFrame>
        <p:nvGraphicFramePr>
          <p:cNvPr id="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169805"/>
              </p:ext>
            </p:extLst>
          </p:nvPr>
        </p:nvGraphicFramePr>
        <p:xfrm>
          <a:off x="1600689" y="2082201"/>
          <a:ext cx="863530" cy="373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5" name="Equation" r:id="rId15" imgW="698400" imgH="317160" progId="Equation.3">
                  <p:embed/>
                </p:oleObj>
              </mc:Choice>
              <mc:Fallback>
                <p:oleObj name="Equation" r:id="rId15" imgW="698400" imgH="317160" progId="Equation.3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689" y="2082201"/>
                        <a:ext cx="863530" cy="3738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024952"/>
              </p:ext>
            </p:extLst>
          </p:nvPr>
        </p:nvGraphicFramePr>
        <p:xfrm>
          <a:off x="1600689" y="2693519"/>
          <a:ext cx="1127420" cy="37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6" name="Equation" r:id="rId17" imgW="1015920" imgH="317160" progId="Equation.3">
                  <p:embed/>
                </p:oleObj>
              </mc:Choice>
              <mc:Fallback>
                <p:oleObj name="Equation" r:id="rId17" imgW="1015920" imgH="317160" progId="Equation.3">
                  <p:embed/>
                  <p:pic>
                    <p:nvPicPr>
                      <p:cNvPr id="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689" y="2693519"/>
                        <a:ext cx="1127420" cy="379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330165"/>
              </p:ext>
            </p:extLst>
          </p:nvPr>
        </p:nvGraphicFramePr>
        <p:xfrm>
          <a:off x="4669561" y="2071470"/>
          <a:ext cx="1260542" cy="395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7" name="Equation" r:id="rId19" imgW="965160" imgH="317160" progId="Equation.3">
                  <p:embed/>
                </p:oleObj>
              </mc:Choice>
              <mc:Fallback>
                <p:oleObj name="Equation" r:id="rId19" imgW="965160" imgH="317160" progId="Equation.3">
                  <p:embed/>
                  <p:pic>
                    <p:nvPicPr>
                      <p:cNvPr id="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561" y="2071470"/>
                        <a:ext cx="1260542" cy="3953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703629"/>
              </p:ext>
            </p:extLst>
          </p:nvPr>
        </p:nvGraphicFramePr>
        <p:xfrm>
          <a:off x="4669561" y="2694649"/>
          <a:ext cx="1315912" cy="37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8" name="Equation" r:id="rId21" imgW="1054080" imgH="317160" progId="Equation.3">
                  <p:embed/>
                </p:oleObj>
              </mc:Choice>
              <mc:Fallback>
                <p:oleObj name="Equation" r:id="rId21" imgW="1054080" imgH="317160" progId="Equation.3">
                  <p:embed/>
                  <p:pic>
                    <p:nvPicPr>
                      <p:cNvPr id="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561" y="2694649"/>
                        <a:ext cx="1315912" cy="37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80977"/>
              </p:ext>
            </p:extLst>
          </p:nvPr>
        </p:nvGraphicFramePr>
        <p:xfrm>
          <a:off x="4093449" y="3467100"/>
          <a:ext cx="1420512" cy="719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9" name="Equation" r:id="rId23" imgW="914400" imgH="393480" progId="Equation.DSMT4">
                  <p:embed/>
                </p:oleObj>
              </mc:Choice>
              <mc:Fallback>
                <p:oleObj name="Equation" r:id="rId23" imgW="914400" imgH="393480" progId="Equation.DSMT4">
                  <p:embed/>
                  <p:pic>
                    <p:nvPicPr>
                      <p:cNvPr id="82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449" y="3467100"/>
                        <a:ext cx="1420512" cy="7199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10"/>
          <p:cNvGrpSpPr>
            <a:grpSpLocks/>
          </p:cNvGrpSpPr>
          <p:nvPr/>
        </p:nvGrpSpPr>
        <p:grpSpPr bwMode="auto">
          <a:xfrm>
            <a:off x="1406337" y="3628430"/>
            <a:ext cx="2085975" cy="419100"/>
            <a:chOff x="742" y="3087"/>
            <a:chExt cx="1752" cy="352"/>
          </a:xfrm>
        </p:grpSpPr>
        <p:graphicFrame>
          <p:nvGraphicFramePr>
            <p:cNvPr id="3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138982"/>
                </p:ext>
              </p:extLst>
            </p:nvPr>
          </p:nvGraphicFramePr>
          <p:xfrm>
            <a:off x="1541" y="3089"/>
            <a:ext cx="953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50" name="公式" r:id="rId25" imgW="545760" imgH="203040" progId="Equation.3">
                    <p:embed/>
                  </p:oleObj>
                </mc:Choice>
                <mc:Fallback>
                  <p:oleObj name="公式" r:id="rId25" imgW="545760" imgH="203040" progId="Equation.3">
                    <p:embed/>
                    <p:pic>
                      <p:nvPicPr>
                        <p:cNvPr id="8295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1" y="3089"/>
                          <a:ext cx="953" cy="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12"/>
            <p:cNvSpPr txBox="1">
              <a:spLocks noChangeArrowheads="1"/>
            </p:cNvSpPr>
            <p:nvPr/>
          </p:nvSpPr>
          <p:spPr bwMode="auto">
            <a:xfrm>
              <a:off x="742" y="3087"/>
              <a:ext cx="96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100" b="1">
                  <a:solidFill>
                    <a:srgbClr val="CC0000"/>
                  </a:solidFill>
                  <a:latin typeface="Times New Roman" pitchFamily="18" charset="0"/>
                </a:rPr>
                <a:t>分</a:t>
              </a:r>
              <a:r>
                <a:rPr lang="zh-CN" altLang="en-US" sz="2100" b="1" smtClean="0">
                  <a:solidFill>
                    <a:srgbClr val="CC0000"/>
                  </a:solidFill>
                  <a:latin typeface="Times New Roman" pitchFamily="18" charset="0"/>
                </a:rPr>
                <a:t>析</a:t>
              </a:r>
              <a:r>
                <a:rPr lang="en-US" altLang="zh-CN" sz="2100" b="1" smtClean="0">
                  <a:solidFill>
                    <a:srgbClr val="CC0000"/>
                  </a:solidFill>
                  <a:latin typeface="Times New Roman" pitchFamily="18" charset="0"/>
                </a:rPr>
                <a:t>1</a:t>
              </a:r>
              <a:r>
                <a:rPr lang="zh-CN" altLang="en-US" sz="2100" b="1" smtClean="0">
                  <a:solidFill>
                    <a:srgbClr val="CC0000"/>
                  </a:solidFill>
                  <a:latin typeface="Times New Roman" pitchFamily="18" charset="0"/>
                </a:rPr>
                <a:t>：</a:t>
              </a:r>
              <a:endParaRPr lang="zh-CN" altLang="en-US" sz="2100" b="1" dirty="0">
                <a:solidFill>
                  <a:srgbClr val="CC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3469084" y="3786874"/>
            <a:ext cx="486966" cy="108347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00FF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310021"/>
              </p:ext>
            </p:extLst>
          </p:nvPr>
        </p:nvGraphicFramePr>
        <p:xfrm>
          <a:off x="2331641" y="4539456"/>
          <a:ext cx="1226344" cy="353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51" name="Equation" r:id="rId27" imgW="698400" imgH="190440" progId="Equation.DSMT4">
                  <p:embed/>
                </p:oleObj>
              </mc:Choice>
              <mc:Fallback>
                <p:oleObj name="Equation" r:id="rId27" imgW="698400" imgH="1904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641" y="4539456"/>
                        <a:ext cx="1226344" cy="353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2"/>
          <p:cNvSpPr txBox="1">
            <a:spLocks noChangeArrowheads="1"/>
          </p:cNvSpPr>
          <p:nvPr/>
        </p:nvSpPr>
        <p:spPr bwMode="auto">
          <a:xfrm>
            <a:off x="1406337" y="4499173"/>
            <a:ext cx="11430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分析</a:t>
            </a:r>
            <a:r>
              <a:rPr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：</a:t>
            </a: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3583385" y="4636186"/>
            <a:ext cx="486966" cy="108347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00FF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3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610765"/>
              </p:ext>
            </p:extLst>
          </p:nvPr>
        </p:nvGraphicFramePr>
        <p:xfrm>
          <a:off x="4171554" y="4496198"/>
          <a:ext cx="979884" cy="416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52" name="Equation" r:id="rId29" imgW="596880" imgH="228600" progId="Equation.DSMT4">
                  <p:embed/>
                </p:oleObj>
              </mc:Choice>
              <mc:Fallback>
                <p:oleObj name="Equation" r:id="rId29" imgW="596880" imgH="228600" progId="Equation.DSMT4">
                  <p:embed/>
                  <p:pic>
                    <p:nvPicPr>
                      <p:cNvPr id="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554" y="4496198"/>
                        <a:ext cx="979884" cy="4167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808399"/>
              </p:ext>
            </p:extLst>
          </p:nvPr>
        </p:nvGraphicFramePr>
        <p:xfrm>
          <a:off x="5128816" y="4326623"/>
          <a:ext cx="979884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53" name="Equation" r:id="rId31" imgW="596880" imgH="393480" progId="Equation.DSMT4">
                  <p:embed/>
                </p:oleObj>
              </mc:Choice>
              <mc:Fallback>
                <p:oleObj name="Equation" r:id="rId31" imgW="596880" imgH="393480" progId="Equation.DSMT4">
                  <p:embed/>
                  <p:pic>
                    <p:nvPicPr>
                      <p:cNvPr id="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8816" y="4326623"/>
                        <a:ext cx="979884" cy="7191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11429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/>
      <p:bldP spid="3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ebced8aee7aa3d05746f3b76ee7bb91d5d9d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默认设计模板">
  <a:themeElements>
    <a:clrScheme name="默认设计模板 8">
      <a:dk1>
        <a:srgbClr val="000000"/>
      </a:dk1>
      <a:lt1>
        <a:srgbClr val="663300"/>
      </a:lt1>
      <a:dk2>
        <a:srgbClr val="000000"/>
      </a:dk2>
      <a:lt2>
        <a:srgbClr val="808080"/>
      </a:lt2>
      <a:accent1>
        <a:srgbClr val="00CC99"/>
      </a:accent1>
      <a:accent2>
        <a:srgbClr val="FFFFCC"/>
      </a:accent2>
      <a:accent3>
        <a:srgbClr val="B8ADAA"/>
      </a:accent3>
      <a:accent4>
        <a:srgbClr val="000000"/>
      </a:accent4>
      <a:accent5>
        <a:srgbClr val="AAE2CA"/>
      </a:accent5>
      <a:accent6>
        <a:srgbClr val="E7E7B9"/>
      </a:accent6>
      <a:hlink>
        <a:srgbClr val="0000FF"/>
      </a:hlink>
      <a:folHlink>
        <a:srgbClr val="FF00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6633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FFCC"/>
        </a:accent2>
        <a:accent3>
          <a:srgbClr val="B8ADAA"/>
        </a:accent3>
        <a:accent4>
          <a:srgbClr val="000000"/>
        </a:accent4>
        <a:accent5>
          <a:srgbClr val="AAE2CA"/>
        </a:accent5>
        <a:accent6>
          <a:srgbClr val="E7E7B9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2784</TotalTime>
  <Words>1194</Words>
  <Application>Microsoft Office PowerPoint</Application>
  <PresentationFormat>全屏显示(16:9)</PresentationFormat>
  <Paragraphs>187</Paragraphs>
  <Slides>27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Microsoft Yahei</vt:lpstr>
      <vt:lpstr>楷体_GB2312</vt:lpstr>
      <vt:lpstr>宋体</vt:lpstr>
      <vt:lpstr>Arial</vt:lpstr>
      <vt:lpstr>Calibri</vt:lpstr>
      <vt:lpstr>Symbol</vt:lpstr>
      <vt:lpstr>Times New Roman</vt:lpstr>
      <vt:lpstr>Wingdings</vt:lpstr>
      <vt:lpstr>2_第六版母版</vt:lpstr>
      <vt:lpstr>默认设计模板</vt:lpstr>
      <vt:lpstr>1_默认设计模板</vt:lpstr>
      <vt:lpstr>2_默认设计模板</vt:lpstr>
      <vt:lpstr>3_默认设计模板</vt:lpstr>
      <vt:lpstr>7_第六版PPT主题模板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江南大学理学院物理系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12-1平衡态理想气体物态方程</dc:title>
  <dc:creator>何跃娟</dc:creator>
  <cp:lastModifiedBy>Administrator</cp:lastModifiedBy>
  <cp:revision>335</cp:revision>
  <dcterms:created xsi:type="dcterms:W3CDTF">2005-09-11T15:39:18Z</dcterms:created>
  <dcterms:modified xsi:type="dcterms:W3CDTF">2024-05-21T01:29:25Z</dcterms:modified>
</cp:coreProperties>
</file>