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65" r:id="rId2"/>
    <p:sldMasterId id="2147483677" r:id="rId3"/>
  </p:sldMasterIdLst>
  <p:notesMasterIdLst>
    <p:notesMasterId r:id="rId25"/>
  </p:notesMasterIdLst>
  <p:handoutMasterIdLst>
    <p:handoutMasterId r:id="rId26"/>
  </p:handoutMasterIdLst>
  <p:sldIdLst>
    <p:sldId id="287" r:id="rId4"/>
    <p:sldId id="295" r:id="rId5"/>
    <p:sldId id="296" r:id="rId6"/>
    <p:sldId id="297" r:id="rId7"/>
    <p:sldId id="298" r:id="rId8"/>
    <p:sldId id="300" r:id="rId9"/>
    <p:sldId id="302" r:id="rId10"/>
    <p:sldId id="303" r:id="rId11"/>
    <p:sldId id="304" r:id="rId12"/>
    <p:sldId id="305" r:id="rId13"/>
    <p:sldId id="312" r:id="rId14"/>
    <p:sldId id="313" r:id="rId15"/>
    <p:sldId id="314" r:id="rId16"/>
    <p:sldId id="262" r:id="rId17"/>
    <p:sldId id="263" r:id="rId18"/>
    <p:sldId id="264" r:id="rId19"/>
    <p:sldId id="265" r:id="rId20"/>
    <p:sldId id="315" r:id="rId21"/>
    <p:sldId id="309" r:id="rId22"/>
    <p:sldId id="310" r:id="rId23"/>
    <p:sldId id="311" r:id="rId2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50021"/>
    <a:srgbClr val="CC0000"/>
    <a:srgbClr val="0033CC"/>
    <a:srgbClr val="00CC00"/>
    <a:srgbClr val="0099CC"/>
    <a:srgbClr val="FF00FF"/>
    <a:srgbClr val="9966FF"/>
    <a:srgbClr val="0066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6071" autoAdjust="0"/>
  </p:normalViewPr>
  <p:slideViewPr>
    <p:cSldViewPr snapToGrid="0">
      <p:cViewPr varScale="1">
        <p:scale>
          <a:sx n="135" d="100"/>
          <a:sy n="135" d="100"/>
        </p:scale>
        <p:origin x="708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-1902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4.wmf"/><Relationship Id="rId7" Type="http://schemas.openxmlformats.org/officeDocument/2006/relationships/image" Target="../media/image7.wmf"/><Relationship Id="rId12" Type="http://schemas.openxmlformats.org/officeDocument/2006/relationships/image" Target="../media/image17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2.wmf"/><Relationship Id="rId11" Type="http://schemas.openxmlformats.org/officeDocument/2006/relationships/image" Target="../media/image16.wmf"/><Relationship Id="rId5" Type="http://schemas.openxmlformats.org/officeDocument/2006/relationships/image" Target="../media/image6.wmf"/><Relationship Id="rId10" Type="http://schemas.openxmlformats.org/officeDocument/2006/relationships/image" Target="../media/image15.wmf"/><Relationship Id="rId4" Type="http://schemas.openxmlformats.org/officeDocument/2006/relationships/image" Target="../media/image5.wmf"/><Relationship Id="rId9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0.wmf"/><Relationship Id="rId7" Type="http://schemas.openxmlformats.org/officeDocument/2006/relationships/image" Target="../media/image6.wmf"/><Relationship Id="rId12" Type="http://schemas.openxmlformats.org/officeDocument/2006/relationships/image" Target="../media/image27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6.wmf"/><Relationship Id="rId5" Type="http://schemas.openxmlformats.org/officeDocument/2006/relationships/image" Target="../media/image22.emf"/><Relationship Id="rId10" Type="http://schemas.openxmlformats.org/officeDocument/2006/relationships/image" Target="../media/image13.wmf"/><Relationship Id="rId4" Type="http://schemas.openxmlformats.org/officeDocument/2006/relationships/image" Target="../media/image21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3" Type="http://schemas.openxmlformats.org/officeDocument/2006/relationships/image" Target="../media/image24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image" Target="../media/image6.wmf"/><Relationship Id="rId1" Type="http://schemas.openxmlformats.org/officeDocument/2006/relationships/image" Target="../media/image23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13.wmf"/><Relationship Id="rId10" Type="http://schemas.openxmlformats.org/officeDocument/2006/relationships/image" Target="../media/image30.wmf"/><Relationship Id="rId4" Type="http://schemas.openxmlformats.org/officeDocument/2006/relationships/image" Target="../media/image25.wmf"/><Relationship Id="rId9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44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12" Type="http://schemas.openxmlformats.org/officeDocument/2006/relationships/image" Target="../media/image43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11" Type="http://schemas.openxmlformats.org/officeDocument/2006/relationships/image" Target="../media/image7.wmf"/><Relationship Id="rId5" Type="http://schemas.openxmlformats.org/officeDocument/2006/relationships/image" Target="../media/image38.wmf"/><Relationship Id="rId10" Type="http://schemas.openxmlformats.org/officeDocument/2006/relationships/image" Target="../media/image42.wmf"/><Relationship Id="rId4" Type="http://schemas.openxmlformats.org/officeDocument/2006/relationships/image" Target="../media/image37.wmf"/><Relationship Id="rId9" Type="http://schemas.openxmlformats.org/officeDocument/2006/relationships/image" Target="../media/image41.wmf"/><Relationship Id="rId14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9.wmf"/><Relationship Id="rId7" Type="http://schemas.openxmlformats.org/officeDocument/2006/relationships/image" Target="../media/image62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53.wmf"/><Relationship Id="rId11" Type="http://schemas.openxmlformats.org/officeDocument/2006/relationships/image" Target="../media/image66.wmf"/><Relationship Id="rId5" Type="http://schemas.openxmlformats.org/officeDocument/2006/relationships/image" Target="../media/image61.wmf"/><Relationship Id="rId10" Type="http://schemas.openxmlformats.org/officeDocument/2006/relationships/image" Target="../media/image65.wmf"/><Relationship Id="rId4" Type="http://schemas.openxmlformats.org/officeDocument/2006/relationships/image" Target="../media/image60.wmf"/><Relationship Id="rId9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0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5.wmf"/><Relationship Id="rId18" Type="http://schemas.openxmlformats.org/officeDocument/2006/relationships/image" Target="../media/image90.wmf"/><Relationship Id="rId3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image" Target="../media/image84.wmf"/><Relationship Id="rId17" Type="http://schemas.openxmlformats.org/officeDocument/2006/relationships/image" Target="../media/image89.wmf"/><Relationship Id="rId2" Type="http://schemas.openxmlformats.org/officeDocument/2006/relationships/image" Target="../media/image76.wmf"/><Relationship Id="rId16" Type="http://schemas.openxmlformats.org/officeDocument/2006/relationships/image" Target="../media/image88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3.wmf"/><Relationship Id="rId5" Type="http://schemas.openxmlformats.org/officeDocument/2006/relationships/image" Target="../media/image79.wmf"/><Relationship Id="rId15" Type="http://schemas.openxmlformats.org/officeDocument/2006/relationships/image" Target="../media/image87.wmf"/><Relationship Id="rId10" Type="http://schemas.openxmlformats.org/officeDocument/2006/relationships/image" Target="../media/image73.wmf"/><Relationship Id="rId19" Type="http://schemas.openxmlformats.org/officeDocument/2006/relationships/image" Target="../media/image91.wmf"/><Relationship Id="rId4" Type="http://schemas.openxmlformats.org/officeDocument/2006/relationships/image" Target="../media/image78.wmf"/><Relationship Id="rId9" Type="http://schemas.openxmlformats.org/officeDocument/2006/relationships/image" Target="../media/image82.wmf"/><Relationship Id="rId1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5.wmf"/><Relationship Id="rId3" Type="http://schemas.openxmlformats.org/officeDocument/2006/relationships/image" Target="../media/image94.wmf"/><Relationship Id="rId7" Type="http://schemas.openxmlformats.org/officeDocument/2006/relationships/image" Target="../media/image70.wmf"/><Relationship Id="rId12" Type="http://schemas.openxmlformats.org/officeDocument/2006/relationships/image" Target="../media/image8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80.wmf"/><Relationship Id="rId11" Type="http://schemas.openxmlformats.org/officeDocument/2006/relationships/image" Target="../media/image83.wmf"/><Relationship Id="rId5" Type="http://schemas.openxmlformats.org/officeDocument/2006/relationships/image" Target="../media/image96.wmf"/><Relationship Id="rId10" Type="http://schemas.openxmlformats.org/officeDocument/2006/relationships/image" Target="../media/image73.wmf"/><Relationship Id="rId4" Type="http://schemas.openxmlformats.org/officeDocument/2006/relationships/image" Target="../media/image95.wmf"/><Relationship Id="rId9" Type="http://schemas.openxmlformats.org/officeDocument/2006/relationships/image" Target="../media/image82.wmf"/><Relationship Id="rId14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emf"/><Relationship Id="rId1" Type="http://schemas.openxmlformats.org/officeDocument/2006/relationships/image" Target="../media/image9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10" Type="http://schemas.openxmlformats.org/officeDocument/2006/relationships/image" Target="../media/image121.wmf"/><Relationship Id="rId4" Type="http://schemas.openxmlformats.org/officeDocument/2006/relationships/image" Target="../media/image115.wmf"/><Relationship Id="rId9" Type="http://schemas.openxmlformats.org/officeDocument/2006/relationships/image" Target="../media/image12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9" Type="http://schemas.openxmlformats.org/officeDocument/2006/relationships/image" Target="../media/image13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4" Type="http://schemas.openxmlformats.org/officeDocument/2006/relationships/image" Target="../media/image13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6.wmf"/><Relationship Id="rId5" Type="http://schemas.openxmlformats.org/officeDocument/2006/relationships/image" Target="../media/image14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fld id="{DBD3C0B7-13B4-4DA9-9D1D-5F8EC2FDFB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5150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楷体_GB2312" pitchFamily="49" charset="-122"/>
              </a:defRPr>
            </a:lvl1pPr>
          </a:lstStyle>
          <a:p>
            <a:pPr>
              <a:defRPr/>
            </a:pPr>
            <a:fld id="{7C4E2953-D3B7-4134-A2C7-BD9AB705C5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4931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r</a:t>
            </a:r>
            <a:r>
              <a:rPr lang="zh-CN" altLang="en-US" dirty="0" smtClean="0"/>
              <a:t>，</a:t>
            </a:r>
            <a:r>
              <a:rPr lang="en-US" altLang="zh-CN" dirty="0" smtClean="0"/>
              <a:t>θ</a:t>
            </a:r>
            <a:r>
              <a:rPr lang="zh-CN" altLang="en-US" dirty="0" smtClean="0"/>
              <a:t>等描述位置时，用的是极坐标； 用</a:t>
            </a:r>
            <a:r>
              <a:rPr lang="en-US" altLang="zh-CN" dirty="0" smtClean="0"/>
              <a:t>et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en</a:t>
            </a:r>
            <a:r>
              <a:rPr lang="zh-CN" altLang="en-US" dirty="0" smtClean="0"/>
              <a:t>等描述加速度时，用的是自然坐标。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4E2953-D3B7-4134-A2C7-BD9AB705C5EB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340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注意单位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4E2953-D3B7-4134-A2C7-BD9AB705C5EB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5763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</a:pPr>
            <a:fld id="{A2039A60-A756-47BC-A273-4E2379F85715}" type="slidenum">
              <a:rPr lang="en-US" altLang="zh-CN" sz="1200" b="0"/>
              <a:pPr algn="r">
                <a:spcBef>
                  <a:spcPct val="0"/>
                </a:spcBef>
              </a:pPr>
              <a:t>19</a:t>
            </a:fld>
            <a:endParaRPr lang="en-US" altLang="zh-CN" sz="1200" b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2151E1-4B6F-47BA-ACC1-7DB1D51812F9}" type="slidenum">
              <a:rPr lang="en-US" altLang="zh-CN" smtClean="0"/>
              <a:pPr/>
              <a:t>21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FE5EE-1576-44CA-80F1-8285E741051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FA9E6-272A-4C79-8C0B-3EEAC4F2AA9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6C4D3-BFD5-498D-B9B2-A2321880402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406BE-7CE5-4FD5-A824-2D80A285CAF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BB369-5002-4A1A-9801-F3433249FAC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598EE-A7E6-4ACF-8A7E-E184E987A2C6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F025A-79CD-4182-8798-945B89BD92A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450FB-765E-443B-B5F5-DD92C1935F64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59C8D-E81B-4836-84FF-3F5AF6F37CF4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EA7CB-8291-4AB6-94D3-8A22CB549E78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BEE9B1-140B-4422-9B0C-CD484C6B5E49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82DCA-808F-4A00-9A9B-16C2560629C1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B4CDF-869E-44E9-A64B-E88D2074CFE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D236C-3BE1-4F68-9BC2-5163820039BF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D00FC-0637-468E-8137-977D4D08907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392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B3D18-998A-4755-9641-6FF0E1EF36F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112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AA4369-DCAD-4CEC-AC26-48762F9AED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40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038A4-A33E-400C-AADA-F5C269F4DD0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710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1DE4B8-BC93-4222-946B-6A4080C68CC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93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2BD5D-89EE-4228-B8D9-5CB94DD6F29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421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A8471-A411-4C97-B3EB-FC9CA8F78A0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404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DAB2E-3E77-4C7E-965D-0EE8A6D8885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999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52180-CC1F-48EF-A015-CCEC65265A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02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9D78F-7352-4F54-938A-00F317F1DB5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824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3D55-24AF-410F-AB5F-3C7FB443601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79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4781-BEAC-41D2-A6E9-E75235EFF3B0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1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E6644-9D1D-4DBA-B131-1FD30D496075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09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B90F79-3201-48D8-9E5C-7A413CA1287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83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C325-5251-4D2A-BA79-700BF5FE6139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81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34E81-814C-4B16-9E7B-A8EA3E3A620D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459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F3D54-A04E-40A1-9012-448E21BC14DC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34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4EDC4-25E3-464B-8CD9-61FE6A1D81E2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03620-695A-4BD4-86C5-197438AAE5D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334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18A59-3D59-4380-A26C-EF99EA2A0845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705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6BE70-0922-4EC7-B30A-E472D4F523EB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472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E359B-DAF6-4ABD-8C45-BB96D9245C4A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383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106BD-99C5-4089-B192-3F5DF4C3E413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994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86712-EA51-4A79-9F65-F41EC58F1AD6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7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Font typeface="Arial" charset="0"/>
              <a:buNone/>
              <a:defRPr/>
            </a:pPr>
            <a:endParaRPr kumimoji="0" lang="zh-CN" altLang="en-US" sz="1800" b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57349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29450" y="486370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 typeface="Arial" charset="0"/>
              <a:buNone/>
              <a:defRPr kumimoji="0" sz="1350" b="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229804A3-A5DD-42F0-9073-AA0F722AC084}" type="slidenum">
              <a:rPr lang="zh-CN" alt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Font typeface="Arial" charset="0"/>
              <a:buNone/>
              <a:defRPr/>
            </a:pPr>
            <a:endParaRPr kumimoji="0" lang="zh-CN" altLang="zh-CN" sz="1800" b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33475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29450" y="4863704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charset="0"/>
              <a:buNone/>
              <a:defRPr kumimoji="0" sz="1050">
                <a:latin typeface="+mn-lt"/>
              </a:defRPr>
            </a:lvl1pPr>
          </a:lstStyle>
          <a:p>
            <a:pPr>
              <a:spcBef>
                <a:spcPct val="0"/>
              </a:spcBef>
              <a:defRPr/>
            </a:pPr>
            <a:fld id="{2F847133-24D4-4EFA-B846-F2AF2BFFB972}" type="slidenum">
              <a:rPr lang="en-US" altLang="zh-CN" b="0">
                <a:solidFill>
                  <a:srgbClr val="000000"/>
                </a:solidFill>
              </a:rPr>
              <a:pPr>
                <a:spcBef>
                  <a:spcPct val="0"/>
                </a:spcBef>
                <a:defRPr/>
              </a:pPr>
              <a:t>‹#›</a:t>
            </a:fld>
            <a:endParaRPr 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05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CC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  <a:defRPr/>
            </a:pPr>
            <a:r>
              <a:rPr kumimoji="0" lang="zh-CN" altLang="en-US" sz="900" b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  <a:endParaRPr kumimoji="0" lang="en-US" sz="900" b="0">
              <a:solidFill>
                <a:srgbClr val="000099"/>
              </a:solidFill>
              <a:latin typeface="楷体" pitchFamily="49" charset="-122"/>
              <a:ea typeface="楷体" pitchFamily="49" charset="-122"/>
            </a:endParaRPr>
          </a:p>
          <a:p>
            <a:pPr>
              <a:spcBef>
                <a:spcPct val="0"/>
              </a:spcBef>
              <a:buFont typeface="Arial" charset="0"/>
              <a:buNone/>
              <a:defRPr/>
            </a:pPr>
            <a:r>
              <a:rPr kumimoji="0" lang="zh-CN" altLang="en-US" sz="900" b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38916" name="直接连接符 10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直接连接符 11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  <a:buFont typeface="Arial" charset="0"/>
              <a:buNone/>
              <a:defRPr/>
            </a:pPr>
            <a:r>
              <a:rPr kumimoji="0" lang="zh-CN" altLang="en-US" sz="1350">
                <a:solidFill>
                  <a:srgbClr val="000066"/>
                </a:solidFill>
                <a:latin typeface="Arial" charset="0"/>
                <a:ea typeface="楷体_GB2312" pitchFamily="49" charset="-122"/>
              </a:rPr>
              <a:t>第一章  质点运动学</a:t>
            </a:r>
          </a:p>
        </p:txBody>
      </p:sp>
      <p:sp>
        <p:nvSpPr>
          <p:cNvPr id="15367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478631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 b="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spcBef>
                <a:spcPct val="0"/>
              </a:spcBef>
              <a:buFont typeface="Arial" charset="0"/>
              <a:buNone/>
              <a:defRPr/>
            </a:pPr>
            <a:fld id="{0931FB88-44AE-4254-8004-394F2502F80E}" type="slidenum">
              <a:rPr kumimoji="0" lang="zh-CN" altLang="en-US"/>
              <a:pPr>
                <a:spcBef>
                  <a:spcPct val="0"/>
                </a:spcBef>
                <a:buFont typeface="Arial" charset="0"/>
                <a:buNone/>
                <a:defRPr/>
              </a:pPr>
              <a:t>‹#›</a:t>
            </a:fld>
            <a:endParaRPr kumimoji="0" lang="en-US"/>
          </a:p>
        </p:txBody>
      </p:sp>
      <p:sp>
        <p:nvSpPr>
          <p:cNvPr id="15368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  <a:buFont typeface="Arial" charset="0"/>
              <a:buNone/>
              <a:defRPr/>
            </a:pPr>
            <a:endParaRPr kumimoji="0" lang="zh-CN" altLang="en-US" sz="1800" b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6732588" y="86916"/>
            <a:ext cx="15824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  <a:defRPr/>
            </a:pPr>
            <a:r>
              <a:rPr kumimoji="0" 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1-</a:t>
            </a:r>
            <a:r>
              <a:rPr kumimoji="0"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圆周运动</a:t>
            </a:r>
            <a:endParaRPr kumimoji="0" lang="zh-CN" altLang="en-US" sz="1800">
              <a:solidFill>
                <a:srgbClr val="000000"/>
              </a:solidFill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6823163" y="458390"/>
            <a:ext cx="1884391" cy="1192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72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3.wmf"/><Relationship Id="rId26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Relationship Id="rId22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4.wmf"/><Relationship Id="rId26" Type="http://schemas.openxmlformats.org/officeDocument/2006/relationships/image" Target="../media/image27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2.e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3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26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oleObject" Target="../embeddings/oleObject32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3.wmf"/><Relationship Id="rId22" Type="http://schemas.openxmlformats.org/officeDocument/2006/relationships/image" Target="../media/image13.wmf"/><Relationship Id="rId27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29" Type="http://schemas.openxmlformats.org/officeDocument/2006/relationships/oleObject" Target="../embeddings/oleObject4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33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42.bin"/><Relationship Id="rId31" Type="http://schemas.openxmlformats.org/officeDocument/2006/relationships/oleObject" Target="../embeddings/oleObject49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46.bin"/><Relationship Id="rId30" Type="http://schemas.openxmlformats.org/officeDocument/2006/relationships/oleObject" Target="../embeddings/oleObject4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.wmf"/><Relationship Id="rId26" Type="http://schemas.openxmlformats.org/officeDocument/2006/relationships/image" Target="../media/image43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0.wmf"/><Relationship Id="rId20" Type="http://schemas.openxmlformats.org/officeDocument/2006/relationships/image" Target="../media/image41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7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44.wmf"/><Relationship Id="rId10" Type="http://schemas.openxmlformats.org/officeDocument/2006/relationships/image" Target="../media/image37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34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39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4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46.wmf"/><Relationship Id="rId18" Type="http://schemas.openxmlformats.org/officeDocument/2006/relationships/image" Target="../media/image4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68.bin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41.wmf"/><Relationship Id="rId5" Type="http://schemas.openxmlformats.org/officeDocument/2006/relationships/image" Target="../media/image37.wmf"/><Relationship Id="rId15" Type="http://schemas.openxmlformats.org/officeDocument/2006/relationships/oleObject" Target="../embeddings/oleObject70.bin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6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56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5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wmf"/><Relationship Id="rId20" Type="http://schemas.openxmlformats.org/officeDocument/2006/relationships/image" Target="../media/image6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66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53.wmf"/><Relationship Id="rId22" Type="http://schemas.openxmlformats.org/officeDocument/2006/relationships/image" Target="../media/image6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9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2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7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112.bin"/><Relationship Id="rId39" Type="http://schemas.openxmlformats.org/officeDocument/2006/relationships/image" Target="../media/image90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2.wmf"/><Relationship Id="rId34" Type="http://schemas.openxmlformats.org/officeDocument/2006/relationships/oleObject" Target="../embeddings/oleObject116.bin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70.wmf"/><Relationship Id="rId25" Type="http://schemas.openxmlformats.org/officeDocument/2006/relationships/image" Target="../media/image83.wmf"/><Relationship Id="rId33" Type="http://schemas.openxmlformats.org/officeDocument/2006/relationships/image" Target="../media/image87.wmf"/><Relationship Id="rId38" Type="http://schemas.openxmlformats.org/officeDocument/2006/relationships/oleObject" Target="../embeddings/oleObject118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29" Type="http://schemas.openxmlformats.org/officeDocument/2006/relationships/image" Target="../media/image85.wmf"/><Relationship Id="rId41" Type="http://schemas.openxmlformats.org/officeDocument/2006/relationships/image" Target="../media/image91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111.bin"/><Relationship Id="rId32" Type="http://schemas.openxmlformats.org/officeDocument/2006/relationships/oleObject" Target="../embeddings/oleObject115.bin"/><Relationship Id="rId37" Type="http://schemas.openxmlformats.org/officeDocument/2006/relationships/image" Target="../media/image89.wmf"/><Relationship Id="rId40" Type="http://schemas.openxmlformats.org/officeDocument/2006/relationships/oleObject" Target="../embeddings/oleObject119.bin"/><Relationship Id="rId5" Type="http://schemas.openxmlformats.org/officeDocument/2006/relationships/image" Target="../media/image75.wmf"/><Relationship Id="rId15" Type="http://schemas.openxmlformats.org/officeDocument/2006/relationships/image" Target="../media/image80.wmf"/><Relationship Id="rId23" Type="http://schemas.openxmlformats.org/officeDocument/2006/relationships/image" Target="../media/image73.wmf"/><Relationship Id="rId28" Type="http://schemas.openxmlformats.org/officeDocument/2006/relationships/oleObject" Target="../embeddings/oleObject113.bin"/><Relationship Id="rId36" Type="http://schemas.openxmlformats.org/officeDocument/2006/relationships/oleObject" Target="../embeddings/oleObject117.bin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81.wmf"/><Relationship Id="rId31" Type="http://schemas.openxmlformats.org/officeDocument/2006/relationships/image" Target="../media/image86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84.wmf"/><Relationship Id="rId30" Type="http://schemas.openxmlformats.org/officeDocument/2006/relationships/oleObject" Target="../embeddings/oleObject114.bin"/><Relationship Id="rId35" Type="http://schemas.openxmlformats.org/officeDocument/2006/relationships/image" Target="../media/image8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81.wmf"/><Relationship Id="rId26" Type="http://schemas.openxmlformats.org/officeDocument/2006/relationships/image" Target="../media/image84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70.wmf"/><Relationship Id="rId20" Type="http://schemas.openxmlformats.org/officeDocument/2006/relationships/image" Target="../media/image82.wmf"/><Relationship Id="rId29" Type="http://schemas.openxmlformats.org/officeDocument/2006/relationships/oleObject" Target="../embeddings/oleObject114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85.wmf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80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8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9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3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0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3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1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18.wmf"/><Relationship Id="rId3" Type="http://schemas.openxmlformats.org/officeDocument/2006/relationships/image" Target="../media/image122.png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21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47.bin"/><Relationship Id="rId4" Type="http://schemas.microsoft.com/office/2007/relationships/hdphoto" Target="../media/hdphoto1.wdp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15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31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30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5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6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70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42.wmf"/><Relationship Id="rId25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39.wmf"/><Relationship Id="rId24" Type="http://schemas.openxmlformats.org/officeDocument/2006/relationships/oleObject" Target="../embeddings/oleObject173.bin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23" Type="http://schemas.openxmlformats.org/officeDocument/2006/relationships/image" Target="../media/image145.wmf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68.bin"/><Relationship Id="rId22" Type="http://schemas.openxmlformats.org/officeDocument/2006/relationships/oleObject" Target="../embeddings/oleObject17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4"/>
          <p:cNvSpPr>
            <a:spLocks noChangeArrowheads="1"/>
          </p:cNvSpPr>
          <p:nvPr/>
        </p:nvSpPr>
        <p:spPr bwMode="auto">
          <a:xfrm>
            <a:off x="3059906" y="246460"/>
            <a:ext cx="3139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/>
              <a:t>第一章    质点运动学</a:t>
            </a:r>
            <a:endParaRPr lang="zh-CN" altLang="en-US" sz="2100"/>
          </a:p>
        </p:txBody>
      </p:sp>
      <p:sp>
        <p:nvSpPr>
          <p:cNvPr id="22531" name="Text Box 24"/>
          <p:cNvSpPr txBox="1">
            <a:spLocks noChangeArrowheads="1"/>
          </p:cNvSpPr>
          <p:nvPr/>
        </p:nvSpPr>
        <p:spPr bwMode="auto">
          <a:xfrm>
            <a:off x="2682479" y="1346598"/>
            <a:ext cx="4057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参考系、质点</a:t>
            </a: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22532" name="Text Box 25"/>
          <p:cNvSpPr txBox="1">
            <a:spLocks noChangeArrowheads="1"/>
          </p:cNvSpPr>
          <p:nvPr/>
        </p:nvSpPr>
        <p:spPr bwMode="auto">
          <a:xfrm>
            <a:off x="2682478" y="1843088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</a:rPr>
              <a:t>位置矢量、运动方程、位移</a:t>
            </a: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22533" name="Text Box 26"/>
          <p:cNvSpPr txBox="1">
            <a:spLocks noChangeArrowheads="1"/>
          </p:cNvSpPr>
          <p:nvPr/>
        </p:nvSpPr>
        <p:spPr bwMode="auto">
          <a:xfrm>
            <a:off x="2682478" y="2339579"/>
            <a:ext cx="4994672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速度、加速度</a:t>
            </a: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22534" name="Rectangle 27"/>
          <p:cNvSpPr>
            <a:spLocks noChangeArrowheads="1"/>
          </p:cNvSpPr>
          <p:nvPr/>
        </p:nvSpPr>
        <p:spPr bwMode="auto">
          <a:xfrm>
            <a:off x="1972866" y="850107"/>
            <a:ext cx="39481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</a:rPr>
              <a:t>§1-1  </a:t>
            </a:r>
            <a:r>
              <a:rPr lang="zh-CN" altLang="en-US" sz="2400">
                <a:solidFill>
                  <a:srgbClr val="000000"/>
                </a:solidFill>
              </a:rPr>
              <a:t>质点运动的描述</a:t>
            </a:r>
          </a:p>
        </p:txBody>
      </p:sp>
      <p:sp>
        <p:nvSpPr>
          <p:cNvPr id="22535" name="Rectangle 28"/>
          <p:cNvSpPr>
            <a:spLocks noChangeArrowheads="1"/>
          </p:cNvSpPr>
          <p:nvPr/>
        </p:nvSpPr>
        <p:spPr bwMode="auto">
          <a:xfrm>
            <a:off x="1972866" y="2836069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</a:rPr>
              <a:t>§1-2 </a:t>
            </a:r>
            <a:r>
              <a:rPr lang="zh-CN" altLang="en-US" sz="2400">
                <a:solidFill>
                  <a:srgbClr val="000000"/>
                </a:solidFill>
              </a:rPr>
              <a:t>圆周运动</a:t>
            </a:r>
          </a:p>
        </p:txBody>
      </p:sp>
      <p:sp>
        <p:nvSpPr>
          <p:cNvPr id="22536" name="Rectangle 29"/>
          <p:cNvSpPr>
            <a:spLocks noChangeArrowheads="1"/>
          </p:cNvSpPr>
          <p:nvPr/>
        </p:nvSpPr>
        <p:spPr bwMode="auto">
          <a:xfrm>
            <a:off x="1972866" y="4326732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</a:rPr>
              <a:t>§1-3 </a:t>
            </a:r>
            <a:r>
              <a:rPr lang="zh-CN" altLang="en-US" sz="2400">
                <a:solidFill>
                  <a:srgbClr val="000000"/>
                </a:solidFill>
              </a:rPr>
              <a:t>相对运动</a:t>
            </a:r>
          </a:p>
        </p:txBody>
      </p:sp>
      <p:sp>
        <p:nvSpPr>
          <p:cNvPr id="22537" name="Text Box 30"/>
          <p:cNvSpPr txBox="1">
            <a:spLocks noChangeArrowheads="1"/>
          </p:cNvSpPr>
          <p:nvPr/>
        </p:nvSpPr>
        <p:spPr bwMode="auto">
          <a:xfrm>
            <a:off x="2608660" y="3332560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</a:rPr>
              <a:t>平面极坐标、角速度、角加速度</a:t>
            </a: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22538" name="Text Box 31"/>
          <p:cNvSpPr txBox="1">
            <a:spLocks noChangeArrowheads="1"/>
          </p:cNvSpPr>
          <p:nvPr/>
        </p:nvSpPr>
        <p:spPr bwMode="auto">
          <a:xfrm>
            <a:off x="2608660" y="3829050"/>
            <a:ext cx="45958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zh-CN" altLang="en-US" sz="2400">
                <a:solidFill>
                  <a:srgbClr val="000000"/>
                </a:solidFill>
              </a:rPr>
              <a:t>自然坐标</a:t>
            </a:r>
            <a:endParaRPr lang="zh-CN" altLang="en-US" sz="2400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D9F2C2-312B-4895-ABF7-694D05BEADCE}" type="slidenum">
              <a:rPr lang="zh-CN" alt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034" name="Text Box 3"/>
          <p:cNvSpPr txBox="1">
            <a:spLocks noChangeArrowheads="1"/>
          </p:cNvSpPr>
          <p:nvPr/>
        </p:nvSpPr>
        <p:spPr bwMode="auto">
          <a:xfrm>
            <a:off x="535896" y="906067"/>
            <a:ext cx="30241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100">
                <a:solidFill>
                  <a:srgbClr val="CC0000"/>
                </a:solidFill>
                <a:latin typeface="宋体" pitchFamily="2" charset="-122"/>
              </a:rPr>
              <a:t>一、平面极坐标</a:t>
            </a:r>
            <a:r>
              <a:rPr kumimoji="0" lang="zh-CN" altLang="en-US" sz="2100">
                <a:solidFill>
                  <a:srgbClr val="009900"/>
                </a:solidFill>
              </a:rPr>
              <a:t>   </a:t>
            </a:r>
            <a:endParaRPr kumimoji="0" lang="zh-CN" altLang="en-US" sz="2100" b="0">
              <a:solidFill>
                <a:srgbClr val="009900"/>
              </a:solidFill>
            </a:endParaRPr>
          </a:p>
        </p:txBody>
      </p:sp>
      <p:sp>
        <p:nvSpPr>
          <p:cNvPr id="1035" name="Freeform 4"/>
          <p:cNvSpPr>
            <a:spLocks/>
          </p:cNvSpPr>
          <p:nvPr/>
        </p:nvSpPr>
        <p:spPr bwMode="auto">
          <a:xfrm>
            <a:off x="6258041" y="2790315"/>
            <a:ext cx="2069306" cy="763190"/>
          </a:xfrm>
          <a:custGeom>
            <a:avLst/>
            <a:gdLst>
              <a:gd name="T0" fmla="*/ 0 w 1738"/>
              <a:gd name="T1" fmla="*/ 1615418350 h 641"/>
              <a:gd name="T2" fmla="*/ 345262202 w 1738"/>
              <a:gd name="T3" fmla="*/ 945057373 h 641"/>
              <a:gd name="T4" fmla="*/ 783769366 w 1738"/>
              <a:gd name="T5" fmla="*/ 577114683 h 641"/>
              <a:gd name="T6" fmla="*/ 1197073486 w 1738"/>
              <a:gd name="T7" fmla="*/ 325099178 h 641"/>
              <a:gd name="T8" fmla="*/ 1890117450 w 1738"/>
              <a:gd name="T9" fmla="*/ 163809269 h 641"/>
              <a:gd name="T10" fmla="*/ 2147483647 w 1738"/>
              <a:gd name="T11" fmla="*/ 80644954 h 641"/>
              <a:gd name="T12" fmla="*/ 2147483647 w 1738"/>
              <a:gd name="T13" fmla="*/ 645159636 h 641"/>
              <a:gd name="T14" fmla="*/ 2147483647 w 1738"/>
              <a:gd name="T15" fmla="*/ 871973699 h 64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38"/>
              <a:gd name="T25" fmla="*/ 0 h 641"/>
              <a:gd name="T26" fmla="*/ 1738 w 1738"/>
              <a:gd name="T27" fmla="*/ 641 h 64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38" h="641">
                <a:moveTo>
                  <a:pt x="0" y="641"/>
                </a:moveTo>
                <a:cubicBezTo>
                  <a:pt x="23" y="597"/>
                  <a:pt x="85" y="444"/>
                  <a:pt x="137" y="375"/>
                </a:cubicBezTo>
                <a:cubicBezTo>
                  <a:pt x="189" y="306"/>
                  <a:pt x="255" y="270"/>
                  <a:pt x="311" y="229"/>
                </a:cubicBezTo>
                <a:cubicBezTo>
                  <a:pt x="367" y="188"/>
                  <a:pt x="402" y="156"/>
                  <a:pt x="475" y="129"/>
                </a:cubicBezTo>
                <a:cubicBezTo>
                  <a:pt x="548" y="102"/>
                  <a:pt x="649" y="81"/>
                  <a:pt x="750" y="65"/>
                </a:cubicBezTo>
                <a:cubicBezTo>
                  <a:pt x="851" y="49"/>
                  <a:pt x="977" y="0"/>
                  <a:pt x="1081" y="32"/>
                </a:cubicBezTo>
                <a:cubicBezTo>
                  <a:pt x="1185" y="64"/>
                  <a:pt x="1264" y="204"/>
                  <a:pt x="1373" y="256"/>
                </a:cubicBezTo>
                <a:cubicBezTo>
                  <a:pt x="1483" y="308"/>
                  <a:pt x="1677" y="331"/>
                  <a:pt x="1738" y="346"/>
                </a:cubicBez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198509" y="2144996"/>
            <a:ext cx="1922860" cy="2114550"/>
            <a:chOff x="0" y="0"/>
            <a:chExt cx="1615" cy="1776"/>
          </a:xfrm>
        </p:grpSpPr>
        <p:sp>
          <p:nvSpPr>
            <p:cNvPr id="1057" name="Line 6"/>
            <p:cNvSpPr>
              <a:spLocks noChangeShapeType="1"/>
            </p:cNvSpPr>
            <p:nvPr/>
          </p:nvSpPr>
          <p:spPr bwMode="auto">
            <a:xfrm flipV="1">
              <a:off x="192" y="48"/>
              <a:ext cx="0" cy="1446"/>
            </a:xfrm>
            <a:prstGeom prst="line">
              <a:avLst/>
            </a:prstGeom>
            <a:noFill/>
            <a:ln w="19050">
              <a:solidFill>
                <a:srgbClr val="1C1C1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029" name="Object 8"/>
            <p:cNvGraphicFramePr>
              <a:graphicFrameLocks noChangeAspect="1"/>
            </p:cNvGraphicFramePr>
            <p:nvPr/>
          </p:nvGraphicFramePr>
          <p:xfrm>
            <a:off x="1392" y="1536"/>
            <a:ext cx="2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" r:id="rId3" imgW="177480" imgH="190440" progId="Equation.3">
                    <p:embed/>
                  </p:oleObj>
                </mc:Choice>
                <mc:Fallback>
                  <p:oleObj r:id="rId3" imgW="177480" imgH="1904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536"/>
                          <a:ext cx="223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" name="Object 9"/>
            <p:cNvGraphicFramePr>
              <a:graphicFrameLocks noChangeAspect="1"/>
            </p:cNvGraphicFramePr>
            <p:nvPr/>
          </p:nvGraphicFramePr>
          <p:xfrm>
            <a:off x="240" y="0"/>
            <a:ext cx="2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" r:id="rId5" imgW="190440" imgH="241200" progId="Equation.3">
                    <p:embed/>
                  </p:oleObj>
                </mc:Choice>
                <mc:Fallback>
                  <p:oleObj r:id="rId5" imgW="19044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22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1" name="Object 10"/>
            <p:cNvGraphicFramePr>
              <a:graphicFrameLocks noChangeAspect="1"/>
            </p:cNvGraphicFramePr>
            <p:nvPr/>
          </p:nvGraphicFramePr>
          <p:xfrm>
            <a:off x="0" y="1488"/>
            <a:ext cx="16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6" r:id="rId7" imgW="164880" imgH="190440" progId="Equation.3">
                    <p:embed/>
                  </p:oleObj>
                </mc:Choice>
                <mc:Fallback>
                  <p:oleObj r:id="rId7" imgW="164880" imgH="1904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88"/>
                          <a:ext cx="166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7" name="Oval 11"/>
          <p:cNvSpPr>
            <a:spLocks noChangeArrowheads="1"/>
          </p:cNvSpPr>
          <p:nvPr/>
        </p:nvSpPr>
        <p:spPr bwMode="auto">
          <a:xfrm>
            <a:off x="7484384" y="2804602"/>
            <a:ext cx="53579" cy="53578"/>
          </a:xfrm>
          <a:prstGeom prst="ellipse">
            <a:avLst/>
          </a:prstGeom>
          <a:solidFill>
            <a:srgbClr val="9900CC"/>
          </a:solidFill>
          <a:ln w="127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65172" y="2599815"/>
            <a:ext cx="1629966" cy="1634728"/>
            <a:chOff x="0" y="0"/>
            <a:chExt cx="1369" cy="1373"/>
          </a:xfrm>
        </p:grpSpPr>
        <p:sp>
          <p:nvSpPr>
            <p:cNvPr id="1053" name="Line 13"/>
            <p:cNvSpPr>
              <a:spLocks noChangeShapeType="1"/>
            </p:cNvSpPr>
            <p:nvPr/>
          </p:nvSpPr>
          <p:spPr bwMode="auto">
            <a:xfrm>
              <a:off x="1134" y="190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054" name="Line 14"/>
            <p:cNvSpPr>
              <a:spLocks noChangeShapeType="1"/>
            </p:cNvSpPr>
            <p:nvPr/>
          </p:nvSpPr>
          <p:spPr bwMode="auto">
            <a:xfrm>
              <a:off x="227" y="181"/>
              <a:ext cx="9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1055" name="Text Box 15"/>
            <p:cNvSpPr txBox="1">
              <a:spLocks noChangeArrowheads="1"/>
            </p:cNvSpPr>
            <p:nvPr/>
          </p:nvSpPr>
          <p:spPr bwMode="auto">
            <a:xfrm>
              <a:off x="1007" y="1024"/>
              <a:ext cx="36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/>
                <a:t>x</a:t>
              </a:r>
            </a:p>
          </p:txBody>
        </p:sp>
        <p:sp>
          <p:nvSpPr>
            <p:cNvPr id="1056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36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/>
                <a:t>y</a:t>
              </a:r>
            </a:p>
          </p:txBody>
        </p:sp>
      </p:grp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535895" y="1446610"/>
            <a:ext cx="553833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100" dirty="0">
                <a:latin typeface="宋体" pitchFamily="2" charset="-122"/>
              </a:rPr>
              <a:t>    质点在点</a:t>
            </a:r>
            <a:r>
              <a:rPr kumimoji="0" lang="en-US" altLang="zh-CN" sz="2100" b="0" i="1" dirty="0"/>
              <a:t>A</a:t>
            </a:r>
            <a:r>
              <a:rPr kumimoji="0" lang="zh-CN" altLang="en-US" sz="2100" dirty="0">
                <a:latin typeface="宋体" pitchFamily="2" charset="-122"/>
              </a:rPr>
              <a:t>的位置可由（</a:t>
            </a:r>
            <a:r>
              <a:rPr kumimoji="0" lang="en-US" altLang="zh-CN" sz="2100" b="0" i="1" dirty="0" err="1"/>
              <a:t>r</a:t>
            </a:r>
            <a:r>
              <a:rPr kumimoji="0" lang="en-US" altLang="zh-CN" sz="2100" dirty="0" err="1">
                <a:latin typeface="宋体" pitchFamily="2" charset="-122"/>
              </a:rPr>
              <a:t>,</a:t>
            </a:r>
            <a:r>
              <a:rPr kumimoji="0" lang="en-US" altLang="zh-CN" sz="2100" i="1" dirty="0" err="1">
                <a:latin typeface="宋体" pitchFamily="2" charset="-122"/>
              </a:rPr>
              <a:t>θ</a:t>
            </a:r>
            <a:r>
              <a:rPr kumimoji="0" lang="zh-CN" altLang="en-US" sz="2100" dirty="0">
                <a:latin typeface="宋体" pitchFamily="2" charset="-122"/>
              </a:rPr>
              <a:t>）来确定．</a:t>
            </a:r>
          </a:p>
        </p:txBody>
      </p:sp>
      <p:grpSp>
        <p:nvGrpSpPr>
          <p:cNvPr id="1044" name="Group 19"/>
          <p:cNvGrpSpPr>
            <a:grpSpLocks/>
          </p:cNvGrpSpPr>
          <p:nvPr/>
        </p:nvGrpSpPr>
        <p:grpSpPr bwMode="auto">
          <a:xfrm>
            <a:off x="6421156" y="2486705"/>
            <a:ext cx="1793084" cy="1443038"/>
            <a:chOff x="6" y="0"/>
            <a:chExt cx="1506" cy="1212"/>
          </a:xfrm>
        </p:grpSpPr>
        <p:grpSp>
          <p:nvGrpSpPr>
            <p:cNvPr id="1046" name="Group 20"/>
            <p:cNvGrpSpPr>
              <a:grpSpLocks/>
            </p:cNvGrpSpPr>
            <p:nvPr/>
          </p:nvGrpSpPr>
          <p:grpSpPr bwMode="auto">
            <a:xfrm>
              <a:off x="11" y="0"/>
              <a:ext cx="1094" cy="1212"/>
              <a:chOff x="0" y="0"/>
              <a:chExt cx="1094" cy="1212"/>
            </a:xfrm>
          </p:grpSpPr>
          <p:grpSp>
            <p:nvGrpSpPr>
              <p:cNvPr id="1048" name="Group 21"/>
              <p:cNvGrpSpPr>
                <a:grpSpLocks/>
              </p:cNvGrpSpPr>
              <p:nvPr/>
            </p:nvGrpSpPr>
            <p:grpSpPr bwMode="auto">
              <a:xfrm>
                <a:off x="199" y="820"/>
                <a:ext cx="327" cy="392"/>
                <a:chOff x="0" y="0"/>
                <a:chExt cx="327" cy="392"/>
              </a:xfrm>
            </p:grpSpPr>
            <p:sp>
              <p:nvSpPr>
                <p:cNvPr id="1052" name="Arc 22"/>
                <p:cNvSpPr>
                  <a:spLocks/>
                </p:cNvSpPr>
                <p:nvPr/>
              </p:nvSpPr>
              <p:spPr bwMode="auto">
                <a:xfrm>
                  <a:off x="0" y="168"/>
                  <a:ext cx="146" cy="224"/>
                </a:xfrm>
                <a:custGeom>
                  <a:avLst/>
                  <a:gdLst>
                    <a:gd name="T0" fmla="*/ 0 w 21598"/>
                    <a:gd name="T1" fmla="*/ 0 h 21600"/>
                    <a:gd name="T2" fmla="*/ 0 w 21598"/>
                    <a:gd name="T3" fmla="*/ 0 h 21600"/>
                    <a:gd name="T4" fmla="*/ 0 w 2159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8"/>
                    <a:gd name="T10" fmla="*/ 0 h 21600"/>
                    <a:gd name="T11" fmla="*/ 21598 w 2159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8" h="21600" fill="none" extrusionOk="0">
                      <a:moveTo>
                        <a:pt x="-1" y="0"/>
                      </a:moveTo>
                      <a:cubicBezTo>
                        <a:pt x="11826" y="0"/>
                        <a:pt x="21453" y="9510"/>
                        <a:pt x="21598" y="21335"/>
                      </a:cubicBezTo>
                    </a:path>
                    <a:path w="21598" h="21600" stroke="0" extrusionOk="0">
                      <a:moveTo>
                        <a:pt x="-1" y="0"/>
                      </a:moveTo>
                      <a:cubicBezTo>
                        <a:pt x="11826" y="0"/>
                        <a:pt x="21453" y="9510"/>
                        <a:pt x="21598" y="21335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CC3399"/>
                  </a:solidFill>
                  <a:round/>
                  <a:headEnd type="none" w="sm" len="lg"/>
                  <a:tailEnd/>
                </a:ln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graphicFrame>
              <p:nvGraphicFramePr>
                <p:cNvPr id="1028" name="Object 23"/>
                <p:cNvGraphicFramePr>
                  <a:graphicFrameLocks noChangeAspect="1"/>
                </p:cNvGraphicFramePr>
                <p:nvPr/>
              </p:nvGraphicFramePr>
              <p:xfrm>
                <a:off x="102" y="0"/>
                <a:ext cx="225" cy="3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77" r:id="rId9" imgW="101520" imgH="139680" progId="Equation.3">
                        <p:embed/>
                      </p:oleObj>
                    </mc:Choice>
                    <mc:Fallback>
                      <p:oleObj r:id="rId9" imgW="101520" imgH="139680" progId="Equation.3">
                        <p:embed/>
                        <p:pic>
                          <p:nvPicPr>
                            <p:cNvPr id="0" name="Object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2" y="0"/>
                              <a:ext cx="225" cy="38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49" name="Group 24"/>
              <p:cNvGrpSpPr>
                <a:grpSpLocks/>
              </p:cNvGrpSpPr>
              <p:nvPr/>
            </p:nvGrpSpPr>
            <p:grpSpPr bwMode="auto">
              <a:xfrm>
                <a:off x="0" y="0"/>
                <a:ext cx="1094" cy="1206"/>
                <a:chOff x="0" y="0"/>
                <a:chExt cx="1094" cy="1206"/>
              </a:xfrm>
            </p:grpSpPr>
            <p:sp>
              <p:nvSpPr>
                <p:cNvPr id="1050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0" y="288"/>
                  <a:ext cx="912" cy="918"/>
                </a:xfrm>
                <a:prstGeom prst="lin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sp>
              <p:nvSpPr>
                <p:cNvPr id="105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801" y="0"/>
                  <a:ext cx="293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buFont typeface="Arial" charset="0"/>
                    <a:buNone/>
                  </a:pPr>
                  <a:r>
                    <a:rPr kumimoji="0" lang="en-US" altLang="zh-CN" sz="2100" i="1">
                      <a:solidFill>
                        <a:srgbClr val="1C1C1C"/>
                      </a:solidFill>
                    </a:rPr>
                    <a:t>A</a:t>
                  </a:r>
                </a:p>
              </p:txBody>
            </p:sp>
            <p:graphicFrame>
              <p:nvGraphicFramePr>
                <p:cNvPr id="1027" name="Object 27"/>
                <p:cNvGraphicFramePr>
                  <a:graphicFrameLocks noChangeAspect="1"/>
                </p:cNvGraphicFramePr>
                <p:nvPr/>
              </p:nvGraphicFramePr>
              <p:xfrm>
                <a:off x="705" y="480"/>
                <a:ext cx="210" cy="31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78" r:id="rId11" imgW="177480" imgH="215640" progId="Equation.3">
                        <p:embed/>
                      </p:oleObj>
                    </mc:Choice>
                    <mc:Fallback>
                      <p:oleObj r:id="rId11" imgW="177480" imgH="215640" progId="Equation.3">
                        <p:embed/>
                        <p:pic>
                          <p:nvPicPr>
                            <p:cNvPr id="0" name="Object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5" y="480"/>
                              <a:ext cx="210" cy="3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047" name="Freeform 28"/>
            <p:cNvSpPr>
              <a:spLocks/>
            </p:cNvSpPr>
            <p:nvPr/>
          </p:nvSpPr>
          <p:spPr bwMode="auto">
            <a:xfrm>
              <a:off x="6" y="1198"/>
              <a:ext cx="1506" cy="4"/>
            </a:xfrm>
            <a:custGeom>
              <a:avLst/>
              <a:gdLst>
                <a:gd name="T0" fmla="*/ 0 w 1506"/>
                <a:gd name="T1" fmla="*/ 4 h 4"/>
                <a:gd name="T2" fmla="*/ 1506 w 1506"/>
                <a:gd name="T3" fmla="*/ 0 h 4"/>
                <a:gd name="T4" fmla="*/ 0 60000 65536"/>
                <a:gd name="T5" fmla="*/ 0 60000 65536"/>
                <a:gd name="T6" fmla="*/ 0 w 1506"/>
                <a:gd name="T7" fmla="*/ 0 h 4"/>
                <a:gd name="T8" fmla="*/ 1506 w 1506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06" h="4">
                  <a:moveTo>
                    <a:pt x="0" y="4"/>
                  </a:moveTo>
                  <a:lnTo>
                    <a:pt x="1506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2100"/>
            </a:p>
          </p:txBody>
        </p:sp>
      </p:grpSp>
      <p:sp>
        <p:nvSpPr>
          <p:cNvPr id="58398" name="Text Box 30"/>
          <p:cNvSpPr txBox="1">
            <a:spLocks noChangeArrowheads="1"/>
          </p:cNvSpPr>
          <p:nvPr/>
        </p:nvSpPr>
        <p:spPr bwMode="auto">
          <a:xfrm>
            <a:off x="539865" y="2193190"/>
            <a:ext cx="4365964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100" dirty="0">
                <a:latin typeface="宋体" pitchFamily="2" charset="-122"/>
              </a:rPr>
              <a:t>    平面极坐标系与直角坐标系的坐标变换关系：</a:t>
            </a:r>
          </a:p>
        </p:txBody>
      </p:sp>
      <p:graphicFrame>
        <p:nvGraphicFramePr>
          <p:cNvPr id="58399" name="Object 3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771828975"/>
              </p:ext>
            </p:extLst>
          </p:nvPr>
        </p:nvGraphicFramePr>
        <p:xfrm>
          <a:off x="1407548" y="3485077"/>
          <a:ext cx="1415480" cy="891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" name="Equation" r:id="rId13" imgW="685800" imgH="431640" progId="Equation.DSMT4">
                  <p:embed/>
                </p:oleObj>
              </mc:Choice>
              <mc:Fallback>
                <p:oleObj name="Equation" r:id="rId13" imgW="685800" imgH="431640" progId="Equation.DSMT4">
                  <p:embed/>
                  <p:pic>
                    <p:nvPicPr>
                      <p:cNvPr id="0" name="Object 3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548" y="3485077"/>
                        <a:ext cx="1415480" cy="89126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0" name="AutoShape 32"/>
          <p:cNvSpPr>
            <a:spLocks/>
          </p:cNvSpPr>
          <p:nvPr/>
        </p:nvSpPr>
        <p:spPr bwMode="auto">
          <a:xfrm>
            <a:off x="1245622" y="3707060"/>
            <a:ext cx="161925" cy="460058"/>
          </a:xfrm>
          <a:prstGeom prst="leftBrace">
            <a:avLst>
              <a:gd name="adj1" fmla="val 33395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sz="2100"/>
          </a:p>
        </p:txBody>
      </p:sp>
      <p:sp>
        <p:nvSpPr>
          <p:cNvPr id="1043" name="Rectangle 28"/>
          <p:cNvSpPr>
            <a:spLocks noChangeArrowheads="1"/>
          </p:cNvSpPr>
          <p:nvPr/>
        </p:nvSpPr>
        <p:spPr bwMode="auto">
          <a:xfrm>
            <a:off x="2878931" y="242888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</a:rPr>
              <a:t>§1-2 </a:t>
            </a:r>
            <a:r>
              <a:rPr lang="zh-CN" altLang="en-US" sz="2400">
                <a:solidFill>
                  <a:srgbClr val="000000"/>
                </a:solidFill>
              </a:rPr>
              <a:t>圆周运动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8" grpId="0" autoUpdateAnimBg="0"/>
      <p:bldP spid="5840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46BBE7-1622-49FC-BBF0-F476688CB43E}" type="slidenum">
              <a:rPr lang="zh-CN" alt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062" name="Rectangle 2"/>
          <p:cNvSpPr>
            <a:spLocks noChangeArrowheads="1"/>
          </p:cNvSpPr>
          <p:nvPr/>
        </p:nvSpPr>
        <p:spPr bwMode="auto">
          <a:xfrm>
            <a:off x="382785" y="207463"/>
            <a:ext cx="388739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700">
                <a:solidFill>
                  <a:srgbClr val="CC0000"/>
                </a:solidFill>
              </a:rPr>
              <a:t>二、圆</a:t>
            </a:r>
            <a:r>
              <a:rPr kumimoji="0" lang="zh-CN" altLang="en-US" sz="2700" dirty="0">
                <a:solidFill>
                  <a:srgbClr val="CC0000"/>
                </a:solidFill>
              </a:rPr>
              <a:t>周运动的角速度</a:t>
            </a:r>
            <a:endParaRPr kumimoji="0" lang="zh-CN" altLang="en-US" sz="2700" dirty="0"/>
          </a:p>
        </p:txBody>
      </p:sp>
      <p:grpSp>
        <p:nvGrpSpPr>
          <p:cNvPr id="2063" name="Group 3"/>
          <p:cNvGrpSpPr>
            <a:grpSpLocks/>
          </p:cNvGrpSpPr>
          <p:nvPr/>
        </p:nvGrpSpPr>
        <p:grpSpPr bwMode="auto">
          <a:xfrm>
            <a:off x="1126906" y="809141"/>
            <a:ext cx="1715690" cy="461963"/>
            <a:chOff x="0" y="0"/>
            <a:chExt cx="1441" cy="388"/>
          </a:xfrm>
        </p:grpSpPr>
        <p:sp>
          <p:nvSpPr>
            <p:cNvPr id="2082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03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dirty="0">
                  <a:solidFill>
                    <a:schemeClr val="hlink"/>
                  </a:solidFill>
                </a:rPr>
                <a:t>角坐标</a:t>
              </a:r>
            </a:p>
          </p:txBody>
        </p:sp>
        <p:graphicFrame>
          <p:nvGraphicFramePr>
            <p:cNvPr id="206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4566747"/>
                </p:ext>
              </p:extLst>
            </p:nvPr>
          </p:nvGraphicFramePr>
          <p:xfrm>
            <a:off x="850" y="28"/>
            <a:ext cx="59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" r:id="rId3" imgW="292544" imgH="203605" progId="Equation.DSMT4">
                    <p:embed/>
                  </p:oleObj>
                </mc:Choice>
                <mc:Fallback>
                  <p:oleObj r:id="rId3" imgW="292544" imgH="20360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" y="28"/>
                          <a:ext cx="591" cy="32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41420" y="1710021"/>
            <a:ext cx="3330177" cy="766763"/>
            <a:chOff x="-780" y="242"/>
            <a:chExt cx="2797" cy="644"/>
          </a:xfrm>
        </p:grpSpPr>
        <p:sp>
          <p:nvSpPr>
            <p:cNvPr id="2081" name="Rectangle 7"/>
            <p:cNvSpPr>
              <a:spLocks noChangeArrowheads="1"/>
            </p:cNvSpPr>
            <p:nvPr/>
          </p:nvSpPr>
          <p:spPr bwMode="auto">
            <a:xfrm>
              <a:off x="-780" y="361"/>
              <a:ext cx="103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dirty="0">
                  <a:solidFill>
                    <a:schemeClr val="hlink"/>
                  </a:solidFill>
                </a:rPr>
                <a:t>角速度</a:t>
              </a:r>
            </a:p>
          </p:txBody>
        </p:sp>
        <p:graphicFrame>
          <p:nvGraphicFramePr>
            <p:cNvPr id="205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18585"/>
                </p:ext>
              </p:extLst>
            </p:nvPr>
          </p:nvGraphicFramePr>
          <p:xfrm>
            <a:off x="99" y="242"/>
            <a:ext cx="1918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9" r:id="rId5" imgW="1156017" imgH="394017" progId="Equation.3">
                    <p:embed/>
                  </p:oleObj>
                </mc:Choice>
                <mc:Fallback>
                  <p:oleObj r:id="rId5" imgW="1156017" imgH="394017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" y="242"/>
                          <a:ext cx="1918" cy="64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4822256" y="1886384"/>
            <a:ext cx="22681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CC0000"/>
                </a:solidFill>
              </a:rPr>
              <a:t>单位：</a:t>
            </a:r>
            <a:r>
              <a:rPr kumimoji="0" lang="en-US" altLang="zh-CN" sz="2400" b="0"/>
              <a:t>rad</a:t>
            </a:r>
            <a:r>
              <a:rPr kumimoji="0" lang="en-US" altLang="zh-CN" sz="2400" b="0">
                <a:cs typeface="Times New Roman" pitchFamily="18" charset="0"/>
              </a:rPr>
              <a:t>·s</a:t>
            </a:r>
            <a:r>
              <a:rPr kumimoji="0" lang="en-US" altLang="zh-CN" sz="2400" b="0" baseline="30000">
                <a:cs typeface="Times New Roman" pitchFamily="18" charset="0"/>
              </a:rPr>
              <a:t>-1</a:t>
            </a:r>
          </a:p>
        </p:txBody>
      </p:sp>
      <p:sp>
        <p:nvSpPr>
          <p:cNvPr id="2067" name="Line 12"/>
          <p:cNvSpPr>
            <a:spLocks noChangeShapeType="1"/>
          </p:cNvSpPr>
          <p:nvPr/>
        </p:nvSpPr>
        <p:spPr bwMode="auto">
          <a:xfrm flipV="1">
            <a:off x="7404381" y="3618139"/>
            <a:ext cx="1107281" cy="3572"/>
          </a:xfrm>
          <a:prstGeom prst="line">
            <a:avLst/>
          </a:prstGeom>
          <a:noFill/>
          <a:ln w="19050">
            <a:solidFill>
              <a:srgbClr val="1C1C1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20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34813"/>
              </p:ext>
            </p:extLst>
          </p:nvPr>
        </p:nvGraphicFramePr>
        <p:xfrm>
          <a:off x="8339021" y="3687196"/>
          <a:ext cx="270272" cy="27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" r:id="rId7" imgW="177480" imgH="190440" progId="Equation.3">
                  <p:embed/>
                </p:oleObj>
              </mc:Choice>
              <mc:Fallback>
                <p:oleObj r:id="rId7" imgW="177480" imgH="1904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9021" y="3687196"/>
                        <a:ext cx="270272" cy="270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573657"/>
              </p:ext>
            </p:extLst>
          </p:nvPr>
        </p:nvGraphicFramePr>
        <p:xfrm>
          <a:off x="7111487" y="2506096"/>
          <a:ext cx="254794" cy="29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" r:id="rId9" imgW="190440" imgH="241200" progId="Equation.3">
                  <p:embed/>
                </p:oleObj>
              </mc:Choice>
              <mc:Fallback>
                <p:oleObj r:id="rId9" imgW="19044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1487" y="2506096"/>
                        <a:ext cx="254794" cy="297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018772"/>
              </p:ext>
            </p:extLst>
          </p:nvPr>
        </p:nvGraphicFramePr>
        <p:xfrm>
          <a:off x="7278174" y="3628855"/>
          <a:ext cx="225029" cy="240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" r:id="rId11" imgW="164880" imgH="190440" progId="Equation.3">
                  <p:embed/>
                </p:oleObj>
              </mc:Choice>
              <mc:Fallback>
                <p:oleObj r:id="rId11" imgW="164880" imgH="1904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8174" y="3628855"/>
                        <a:ext cx="225029" cy="240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8" name="Group 16"/>
          <p:cNvGrpSpPr>
            <a:grpSpLocks/>
          </p:cNvGrpSpPr>
          <p:nvPr/>
        </p:nvGrpSpPr>
        <p:grpSpPr bwMode="auto">
          <a:xfrm>
            <a:off x="6535224" y="2771605"/>
            <a:ext cx="1714500" cy="1714500"/>
            <a:chOff x="0" y="0"/>
            <a:chExt cx="1440" cy="1440"/>
          </a:xfrm>
        </p:grpSpPr>
        <p:sp>
          <p:nvSpPr>
            <p:cNvPr id="2079" name="Oval 17"/>
            <p:cNvSpPr>
              <a:spLocks noChangeArrowheads="1"/>
            </p:cNvSpPr>
            <p:nvPr/>
          </p:nvSpPr>
          <p:spPr bwMode="auto">
            <a:xfrm>
              <a:off x="0" y="0"/>
              <a:ext cx="1440" cy="144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58" name="Object 18"/>
            <p:cNvGraphicFramePr>
              <a:graphicFrameLocks noChangeAspect="1"/>
            </p:cNvGraphicFramePr>
            <p:nvPr/>
          </p:nvGraphicFramePr>
          <p:xfrm>
            <a:off x="384" y="288"/>
            <a:ext cx="21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" r:id="rId13" imgW="114120" imgH="126720" progId="Equation.3">
                    <p:embed/>
                  </p:oleObj>
                </mc:Choice>
                <mc:Fallback>
                  <p:oleObj r:id="rId13" imgW="114120" imgH="12672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88"/>
                          <a:ext cx="217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" name="Line 19"/>
            <p:cNvSpPr>
              <a:spLocks noChangeShapeType="1"/>
            </p:cNvSpPr>
            <p:nvPr/>
          </p:nvSpPr>
          <p:spPr bwMode="auto">
            <a:xfrm flipH="1" flipV="1">
              <a:off x="96" y="336"/>
              <a:ext cx="624" cy="38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2100"/>
            </a:p>
          </p:txBody>
        </p:sp>
      </p:grpSp>
      <p:sp>
        <p:nvSpPr>
          <p:cNvPr id="2069" name="Line 20"/>
          <p:cNvSpPr>
            <a:spLocks noChangeShapeType="1"/>
          </p:cNvSpPr>
          <p:nvPr/>
        </p:nvSpPr>
        <p:spPr bwMode="auto">
          <a:xfrm flipV="1">
            <a:off x="7391284" y="3166892"/>
            <a:ext cx="742950" cy="45720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070" name="Arc 21"/>
          <p:cNvSpPr>
            <a:spLocks/>
          </p:cNvSpPr>
          <p:nvPr/>
        </p:nvSpPr>
        <p:spPr bwMode="auto">
          <a:xfrm>
            <a:off x="7755615" y="3403827"/>
            <a:ext cx="98822" cy="215503"/>
          </a:xfrm>
          <a:custGeom>
            <a:avLst/>
            <a:gdLst>
              <a:gd name="T0" fmla="*/ 0 w 21600"/>
              <a:gd name="T1" fmla="*/ 0 h 32756"/>
              <a:gd name="T2" fmla="*/ 4198456 w 21600"/>
              <a:gd name="T3" fmla="*/ 22110286 h 32756"/>
              <a:gd name="T4" fmla="*/ 0 w 21600"/>
              <a:gd name="T5" fmla="*/ 14580012 h 32756"/>
              <a:gd name="T6" fmla="*/ 0 60000 65536"/>
              <a:gd name="T7" fmla="*/ 0 60000 65536"/>
              <a:gd name="T8" fmla="*/ 0 60000 65536"/>
              <a:gd name="T9" fmla="*/ 0 w 21600"/>
              <a:gd name="T10" fmla="*/ 0 h 32756"/>
              <a:gd name="T11" fmla="*/ 21600 w 21600"/>
              <a:gd name="T12" fmla="*/ 32756 h 327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75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531"/>
                  <a:pt x="20526" y="29389"/>
                  <a:pt x="18496" y="32756"/>
                </a:cubicBezTo>
              </a:path>
              <a:path w="21600" h="3275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531"/>
                  <a:pt x="20526" y="29389"/>
                  <a:pt x="18496" y="32756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CC00CC"/>
            </a:solidFill>
            <a:round/>
            <a:headEnd type="none" w="sm" len="lg"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205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247684"/>
              </p:ext>
            </p:extLst>
          </p:nvPr>
        </p:nvGraphicFramePr>
        <p:xfrm>
          <a:off x="7869915" y="3327627"/>
          <a:ext cx="241697" cy="359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" r:id="rId15" imgW="101520" imgH="139680" progId="Equation.3">
                  <p:embed/>
                </p:oleObj>
              </mc:Choice>
              <mc:Fallback>
                <p:oleObj r:id="rId15" imgW="101520" imgH="1396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915" y="3327627"/>
                        <a:ext cx="241697" cy="3595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8155665" y="2927577"/>
            <a:ext cx="3429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100" b="0" i="1">
                <a:solidFill>
                  <a:srgbClr val="CC0000"/>
                </a:solidFill>
              </a:rPr>
              <a:t>A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7374615" y="2595392"/>
            <a:ext cx="685800" cy="1028700"/>
            <a:chOff x="0" y="0"/>
            <a:chExt cx="576" cy="864"/>
          </a:xfrm>
        </p:grpSpPr>
        <p:sp>
          <p:nvSpPr>
            <p:cNvPr id="2076" name="Line 25"/>
            <p:cNvSpPr>
              <a:spLocks noChangeShapeType="1"/>
            </p:cNvSpPr>
            <p:nvPr/>
          </p:nvSpPr>
          <p:spPr bwMode="auto">
            <a:xfrm flipV="1">
              <a:off x="0" y="240"/>
              <a:ext cx="384" cy="62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77" name="Arc 26"/>
            <p:cNvSpPr>
              <a:spLocks/>
            </p:cNvSpPr>
            <p:nvPr/>
          </p:nvSpPr>
          <p:spPr bwMode="auto">
            <a:xfrm rot="-1559630">
              <a:off x="192" y="576"/>
              <a:ext cx="48" cy="139"/>
            </a:xfrm>
            <a:custGeom>
              <a:avLst/>
              <a:gdLst>
                <a:gd name="T0" fmla="*/ 0 w 21600"/>
                <a:gd name="T1" fmla="*/ 0 h 27787"/>
                <a:gd name="T2" fmla="*/ 0 w 21600"/>
                <a:gd name="T3" fmla="*/ 0 h 27787"/>
                <a:gd name="T4" fmla="*/ 0 w 21600"/>
                <a:gd name="T5" fmla="*/ 0 h 2778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787"/>
                <a:gd name="T11" fmla="*/ 21600 w 21600"/>
                <a:gd name="T12" fmla="*/ 27787 h 277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78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695"/>
                    <a:pt x="21295" y="25779"/>
                    <a:pt x="20694" y="27786"/>
                  </a:cubicBezTo>
                </a:path>
                <a:path w="21600" h="2778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695"/>
                    <a:pt x="21295" y="25779"/>
                    <a:pt x="20694" y="2778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hlink"/>
              </a:solidFill>
              <a:round/>
              <a:headEnd type="none" w="sm" len="med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57" name="Object 27"/>
            <p:cNvGraphicFramePr>
              <a:graphicFrameLocks noChangeAspect="1"/>
            </p:cNvGraphicFramePr>
            <p:nvPr/>
          </p:nvGraphicFramePr>
          <p:xfrm>
            <a:off x="198" y="397"/>
            <a:ext cx="31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" r:id="rId17" imgW="177480" imgH="139680" progId="Equation.3">
                    <p:embed/>
                  </p:oleObj>
                </mc:Choice>
                <mc:Fallback>
                  <p:oleObj r:id="rId17" imgW="177480" imgH="13968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" y="397"/>
                          <a:ext cx="312" cy="2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8" name="Text Box 28"/>
            <p:cNvSpPr txBox="1">
              <a:spLocks noChangeArrowheads="1"/>
            </p:cNvSpPr>
            <p:nvPr/>
          </p:nvSpPr>
          <p:spPr bwMode="auto">
            <a:xfrm>
              <a:off x="336" y="0"/>
              <a:ext cx="24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1800" i="1" dirty="0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2073" name="Line 29"/>
          <p:cNvSpPr>
            <a:spLocks noChangeShapeType="1"/>
          </p:cNvSpPr>
          <p:nvPr/>
        </p:nvSpPr>
        <p:spPr bwMode="auto">
          <a:xfrm flipV="1">
            <a:off x="7393665" y="2588248"/>
            <a:ext cx="0" cy="1033463"/>
          </a:xfrm>
          <a:prstGeom prst="line">
            <a:avLst/>
          </a:prstGeom>
          <a:noFill/>
          <a:ln w="19050">
            <a:solidFill>
              <a:srgbClr val="1C1C1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59422" name="Rectangle 30"/>
          <p:cNvSpPr>
            <a:spLocks noChangeArrowheads="1"/>
          </p:cNvSpPr>
          <p:nvPr/>
        </p:nvSpPr>
        <p:spPr bwMode="auto">
          <a:xfrm>
            <a:off x="863645" y="3118208"/>
            <a:ext cx="16441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9900CC"/>
                </a:solidFill>
                <a:sym typeface="Wingdings" pitchFamily="2" charset="2"/>
              </a:rPr>
              <a:t> </a:t>
            </a:r>
            <a:r>
              <a:rPr kumimoji="0" lang="zh-CN" altLang="en-US" sz="2400"/>
              <a:t>速率</a:t>
            </a:r>
          </a:p>
        </p:txBody>
      </p:sp>
      <p:graphicFrame>
        <p:nvGraphicFramePr>
          <p:cNvPr id="5942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591211"/>
              </p:ext>
            </p:extLst>
          </p:nvPr>
        </p:nvGraphicFramePr>
        <p:xfrm>
          <a:off x="3683273" y="3202099"/>
          <a:ext cx="797924" cy="281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" name="Equation" r:id="rId19" imgW="342720" imgH="139680" progId="Equation.DSMT4">
                  <p:embed/>
                </p:oleObj>
              </mc:Choice>
              <mc:Fallback>
                <p:oleObj name="Equation" r:id="rId19" imgW="342720" imgH="13968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273" y="3202099"/>
                        <a:ext cx="797924" cy="2819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0110"/>
              </p:ext>
            </p:extLst>
          </p:nvPr>
        </p:nvGraphicFramePr>
        <p:xfrm>
          <a:off x="2049463" y="2943225"/>
          <a:ext cx="1602897" cy="71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" name="Equation" r:id="rId21" imgW="863280" imgH="393480" progId="Equation.DSMT4">
                  <p:embed/>
                </p:oleObj>
              </mc:Choice>
              <mc:Fallback>
                <p:oleObj name="Equation" r:id="rId21" imgW="86328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2943225"/>
                        <a:ext cx="1602897" cy="7105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794716"/>
              </p:ext>
            </p:extLst>
          </p:nvPr>
        </p:nvGraphicFramePr>
        <p:xfrm>
          <a:off x="2052061" y="3909239"/>
          <a:ext cx="2555454" cy="753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" r:id="rId23" imgW="1333817" imgH="394017" progId="Equation.3">
                  <p:embed/>
                </p:oleObj>
              </mc:Choice>
              <mc:Fallback>
                <p:oleObj r:id="rId23" imgW="1333817" imgH="39401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061" y="3909239"/>
                        <a:ext cx="2555454" cy="753645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6" name="Text Box 34"/>
          <p:cNvSpPr txBox="1">
            <a:spLocks noChangeArrowheads="1"/>
          </p:cNvSpPr>
          <p:nvPr/>
        </p:nvSpPr>
        <p:spPr bwMode="auto">
          <a:xfrm>
            <a:off x="863645" y="4055230"/>
            <a:ext cx="1512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9900CC"/>
                </a:solidFill>
                <a:latin typeface="Arial" charset="0"/>
                <a:sym typeface="Wingdings" pitchFamily="2" charset="2"/>
              </a:rPr>
              <a:t> </a:t>
            </a:r>
            <a:r>
              <a:rPr kumimoji="0" lang="zh-CN" altLang="en-US" sz="2400">
                <a:latin typeface="Arial" charset="0"/>
              </a:rPr>
              <a:t>速度</a:t>
            </a:r>
          </a:p>
        </p:txBody>
      </p:sp>
      <p:grpSp>
        <p:nvGrpSpPr>
          <p:cNvPr id="36" name="Group 3"/>
          <p:cNvGrpSpPr>
            <a:grpSpLocks/>
          </p:cNvGrpSpPr>
          <p:nvPr/>
        </p:nvGrpSpPr>
        <p:grpSpPr bwMode="auto">
          <a:xfrm>
            <a:off x="1141420" y="1346164"/>
            <a:ext cx="1535907" cy="461963"/>
            <a:chOff x="0" y="0"/>
            <a:chExt cx="1290" cy="388"/>
          </a:xfrm>
        </p:grpSpPr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03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dirty="0">
                  <a:solidFill>
                    <a:schemeClr val="hlink"/>
                  </a:solidFill>
                </a:rPr>
                <a:t>角位移</a:t>
              </a:r>
            </a:p>
          </p:txBody>
        </p:sp>
        <p:graphicFrame>
          <p:nvGraphicFramePr>
            <p:cNvPr id="38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2250415"/>
                </p:ext>
              </p:extLst>
            </p:nvPr>
          </p:nvGraphicFramePr>
          <p:xfrm>
            <a:off x="879" y="22"/>
            <a:ext cx="411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" r:id="rId25" imgW="241200" imgH="177480" progId="Equation.DSMT4">
                    <p:embed/>
                  </p:oleObj>
                </mc:Choice>
                <mc:Fallback>
                  <p:oleObj r:id="rId25" imgW="241200" imgH="177480" progId="Equation.DSMT4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" y="22"/>
                          <a:ext cx="411" cy="3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1" grpId="0" autoUpdateAnimBg="0"/>
      <p:bldP spid="59422" grpId="0" autoUpdateAnimBg="0"/>
      <p:bldP spid="5942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CB7FEF-DDF6-4685-B3E0-6E9E6E7BBB4E}" type="slidenum">
              <a:rPr lang="zh-CN" alt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093" name="Text Box 5"/>
          <p:cNvSpPr txBox="1">
            <a:spLocks noChangeArrowheads="1"/>
          </p:cNvSpPr>
          <p:nvPr/>
        </p:nvSpPr>
        <p:spPr bwMode="auto">
          <a:xfrm>
            <a:off x="468510" y="201514"/>
            <a:ext cx="62638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CC0000"/>
                </a:solidFill>
              </a:rPr>
              <a:t>三、圆周运动的</a:t>
            </a:r>
            <a:r>
              <a:rPr kumimoji="0" lang="zh-CN" altLang="en-US" sz="2400">
                <a:solidFill>
                  <a:schemeClr val="hlink"/>
                </a:solidFill>
              </a:rPr>
              <a:t>切向</a:t>
            </a:r>
            <a:r>
              <a:rPr kumimoji="0" lang="zh-CN" altLang="en-US" sz="2400">
                <a:solidFill>
                  <a:srgbClr val="CC0000"/>
                </a:solidFill>
              </a:rPr>
              <a:t>加速度和</a:t>
            </a:r>
            <a:r>
              <a:rPr kumimoji="0" lang="zh-CN" altLang="en-US" sz="2400">
                <a:solidFill>
                  <a:schemeClr val="hlink"/>
                </a:solidFill>
              </a:rPr>
              <a:t>法向</a:t>
            </a:r>
            <a:r>
              <a:rPr kumimoji="0" lang="zh-CN" altLang="en-US" sz="2400">
                <a:solidFill>
                  <a:srgbClr val="CC0000"/>
                </a:solidFill>
              </a:rPr>
              <a:t>加速度</a:t>
            </a:r>
            <a:endParaRPr kumimoji="0" lang="zh-CN" altLang="en-US" sz="2400"/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876565"/>
              </p:ext>
            </p:extLst>
          </p:nvPr>
        </p:nvGraphicFramePr>
        <p:xfrm>
          <a:off x="1169193" y="1366600"/>
          <a:ext cx="2322909" cy="520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9" r:id="rId3" imgW="927820" imgH="229016" progId="Equation.3">
                  <p:embed/>
                </p:oleObj>
              </mc:Choice>
              <mc:Fallback>
                <p:oleObj r:id="rId3" imgW="927820" imgH="22901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193" y="1366600"/>
                        <a:ext cx="2322909" cy="5203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1223366" y="2014062"/>
            <a:ext cx="3110396" cy="842963"/>
            <a:chOff x="0" y="0"/>
            <a:chExt cx="2760" cy="748"/>
          </a:xfrm>
        </p:grpSpPr>
        <p:graphicFrame>
          <p:nvGraphicFramePr>
            <p:cNvPr id="308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1318425"/>
                </p:ext>
              </p:extLst>
            </p:nvPr>
          </p:nvGraphicFramePr>
          <p:xfrm>
            <a:off x="982" y="76"/>
            <a:ext cx="177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0" r:id="rId5" imgW="1968817" imgH="749617" progId="Equation.DSMT4">
                    <p:embed/>
                  </p:oleObj>
                </mc:Choice>
                <mc:Fallback>
                  <p:oleObj r:id="rId5" imgW="1968817" imgH="74961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2" y="76"/>
                          <a:ext cx="1778" cy="5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0" name="Object 9"/>
            <p:cNvGraphicFramePr>
              <a:graphicFrameLocks noChangeAspect="1"/>
            </p:cNvGraphicFramePr>
            <p:nvPr/>
          </p:nvGraphicFramePr>
          <p:xfrm>
            <a:off x="0" y="0"/>
            <a:ext cx="953" cy="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1" r:id="rId7" imgW="457716" imgH="394188" progId="Equation.3">
                    <p:embed/>
                  </p:oleObj>
                </mc:Choice>
                <mc:Fallback>
                  <p:oleObj r:id="rId7" imgW="457716" imgH="39418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953" cy="7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703757"/>
              </p:ext>
            </p:extLst>
          </p:nvPr>
        </p:nvGraphicFramePr>
        <p:xfrm>
          <a:off x="1266825" y="3022283"/>
          <a:ext cx="22256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2" name="Equation" r:id="rId9" imgW="3276360" imgH="863280" progId="Equation.DSMT4">
                  <p:embed/>
                </p:oleObj>
              </mc:Choice>
              <mc:Fallback>
                <p:oleObj name="Equation" r:id="rId9" imgW="3276360" imgH="863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3022283"/>
                        <a:ext cx="2225675" cy="5318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1028699" y="821829"/>
            <a:ext cx="36837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000000"/>
                </a:solidFill>
              </a:rPr>
              <a:t>质点作</a:t>
            </a:r>
            <a:r>
              <a:rPr kumimoji="0" lang="zh-CN" altLang="en-US" sz="2400">
                <a:solidFill>
                  <a:srgbClr val="C00000"/>
                </a:solidFill>
              </a:rPr>
              <a:t>变</a:t>
            </a:r>
            <a:r>
              <a:rPr kumimoji="0" lang="zh-CN" altLang="en-US" sz="2400">
                <a:solidFill>
                  <a:srgbClr val="000000"/>
                </a:solidFill>
              </a:rPr>
              <a:t>速率圆周运动时</a:t>
            </a:r>
          </a:p>
        </p:txBody>
      </p: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644165" y="3808018"/>
            <a:ext cx="2913459" cy="832247"/>
            <a:chOff x="0" y="51"/>
            <a:chExt cx="2447" cy="699"/>
          </a:xfrm>
        </p:grpSpPr>
        <p:sp>
          <p:nvSpPr>
            <p:cNvPr id="3105" name="Rectangle 41"/>
            <p:cNvSpPr>
              <a:spLocks noChangeArrowheads="1"/>
            </p:cNvSpPr>
            <p:nvPr/>
          </p:nvSpPr>
          <p:spPr bwMode="auto">
            <a:xfrm>
              <a:off x="0" y="181"/>
              <a:ext cx="195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r>
                <a:rPr kumimoji="0" lang="zh-CN" altLang="en-US" sz="2400">
                  <a:solidFill>
                    <a:srgbClr val="9900CC"/>
                  </a:solidFill>
                  <a:sym typeface="Wingdings" pitchFamily="2" charset="2"/>
                </a:rPr>
                <a:t>  </a:t>
              </a:r>
              <a:r>
                <a:rPr kumimoji="0" lang="zh-CN" altLang="en-US" sz="2400">
                  <a:solidFill>
                    <a:srgbClr val="CC0000"/>
                  </a:solidFill>
                </a:rPr>
                <a:t>角加速度</a:t>
              </a:r>
            </a:p>
          </p:txBody>
        </p:sp>
        <p:graphicFrame>
          <p:nvGraphicFramePr>
            <p:cNvPr id="3078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456285"/>
                </p:ext>
              </p:extLst>
            </p:nvPr>
          </p:nvGraphicFramePr>
          <p:xfrm>
            <a:off x="1558" y="51"/>
            <a:ext cx="889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3" r:id="rId11" imgW="521017" imgH="394017" progId="Equation.3">
                    <p:embed/>
                  </p:oleObj>
                </mc:Choice>
                <mc:Fallback>
                  <p:oleObj r:id="rId11" imgW="521017" imgH="394017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8" y="51"/>
                          <a:ext cx="889" cy="69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60" name="Text Box 44"/>
          <p:cNvSpPr txBox="1">
            <a:spLocks noChangeArrowheads="1"/>
          </p:cNvSpPr>
          <p:nvPr/>
        </p:nvSpPr>
        <p:spPr bwMode="auto">
          <a:xfrm>
            <a:off x="3581899" y="4030943"/>
            <a:ext cx="20514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>
                <a:solidFill>
                  <a:srgbClr val="000000"/>
                </a:solidFill>
              </a:rPr>
              <a:t>单位：</a:t>
            </a:r>
            <a:r>
              <a:rPr kumimoji="0" lang="en-US" altLang="zh-CN" sz="2400" b="0"/>
              <a:t>rad</a:t>
            </a:r>
            <a:r>
              <a:rPr kumimoji="0" lang="en-US" altLang="zh-CN" sz="2400" b="0">
                <a:cs typeface="Times New Roman" pitchFamily="18" charset="0"/>
              </a:rPr>
              <a:t>·s</a:t>
            </a:r>
            <a:r>
              <a:rPr kumimoji="0" lang="en-US" altLang="zh-CN" sz="2400" b="0" baseline="30000">
                <a:cs typeface="Times New Roman" pitchFamily="18" charset="0"/>
              </a:rPr>
              <a:t>-2</a:t>
            </a:r>
          </a:p>
        </p:txBody>
      </p:sp>
      <p:sp>
        <p:nvSpPr>
          <p:cNvPr id="51" name="Oval 12"/>
          <p:cNvSpPr>
            <a:spLocks noChangeArrowheads="1"/>
          </p:cNvSpPr>
          <p:nvPr/>
        </p:nvSpPr>
        <p:spPr bwMode="auto">
          <a:xfrm>
            <a:off x="6556176" y="996039"/>
            <a:ext cx="1714500" cy="1714500"/>
          </a:xfrm>
          <a:prstGeom prst="ellips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5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148719"/>
              </p:ext>
            </p:extLst>
          </p:nvPr>
        </p:nvGraphicFramePr>
        <p:xfrm>
          <a:off x="7756326" y="1910439"/>
          <a:ext cx="309563" cy="372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" r:id="rId13" imgW="127317" imgH="152717" progId="Equation.3">
                  <p:embed/>
                </p:oleObj>
              </mc:Choice>
              <mc:Fallback>
                <p:oleObj r:id="rId13" imgW="127317" imgH="15271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326" y="1910439"/>
                        <a:ext cx="309563" cy="372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772681"/>
              </p:ext>
            </p:extLst>
          </p:nvPr>
        </p:nvGraphicFramePr>
        <p:xfrm>
          <a:off x="7330083" y="1853289"/>
          <a:ext cx="197644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" r:id="rId15" imgW="164880" imgH="190440" progId="Equation.3">
                  <p:embed/>
                </p:oleObj>
              </mc:Choice>
              <mc:Fallback>
                <p:oleObj r:id="rId15" imgW="164880" imgH="1904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0083" y="1853289"/>
                        <a:ext cx="197644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788083"/>
              </p:ext>
            </p:extLst>
          </p:nvPr>
        </p:nvGraphicFramePr>
        <p:xfrm>
          <a:off x="8338542" y="928173"/>
          <a:ext cx="371475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6" r:id="rId17" imgW="165417" imgH="216217" progId="Equation.3">
                  <p:embed/>
                </p:oleObj>
              </mc:Choice>
              <mc:Fallback>
                <p:oleObj r:id="rId17" imgW="165417" imgH="21621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8542" y="928173"/>
                        <a:ext cx="371475" cy="403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Freeform 16"/>
          <p:cNvSpPr>
            <a:spLocks/>
          </p:cNvSpPr>
          <p:nvPr/>
        </p:nvSpPr>
        <p:spPr bwMode="auto">
          <a:xfrm>
            <a:off x="8270676" y="1091289"/>
            <a:ext cx="90488" cy="876300"/>
          </a:xfrm>
          <a:custGeom>
            <a:avLst/>
            <a:gdLst>
              <a:gd name="T0" fmla="*/ 0 w 76"/>
              <a:gd name="T1" fmla="*/ 1854835178 h 736"/>
              <a:gd name="T2" fmla="*/ 191531848 w 76"/>
              <a:gd name="T3" fmla="*/ 0 h 736"/>
              <a:gd name="T4" fmla="*/ 0 60000 65536"/>
              <a:gd name="T5" fmla="*/ 0 60000 65536"/>
              <a:gd name="T6" fmla="*/ 0 w 76"/>
              <a:gd name="T7" fmla="*/ 0 h 736"/>
              <a:gd name="T8" fmla="*/ 76 w 76"/>
              <a:gd name="T9" fmla="*/ 736 h 7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736">
                <a:moveTo>
                  <a:pt x="0" y="736"/>
                </a:moveTo>
                <a:lnTo>
                  <a:pt x="76" y="0"/>
                </a:ln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56" name="Line 17"/>
          <p:cNvSpPr>
            <a:spLocks noChangeShapeType="1"/>
          </p:cNvSpPr>
          <p:nvPr/>
        </p:nvSpPr>
        <p:spPr bwMode="auto">
          <a:xfrm>
            <a:off x="7413426" y="1853289"/>
            <a:ext cx="857250" cy="1143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5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642033"/>
              </p:ext>
            </p:extLst>
          </p:nvPr>
        </p:nvGraphicFramePr>
        <p:xfrm>
          <a:off x="8320682" y="1555633"/>
          <a:ext cx="291704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7" r:id="rId19" imgW="279838" imgH="330660" progId="Equation.3">
                  <p:embed/>
                </p:oleObj>
              </mc:Choice>
              <mc:Fallback>
                <p:oleObj r:id="rId19" imgW="279838" imgH="3306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682" y="1555633"/>
                        <a:ext cx="291704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Freeform 19"/>
          <p:cNvSpPr>
            <a:spLocks/>
          </p:cNvSpPr>
          <p:nvPr/>
        </p:nvSpPr>
        <p:spPr bwMode="auto">
          <a:xfrm>
            <a:off x="8264723" y="1440142"/>
            <a:ext cx="60722" cy="546497"/>
          </a:xfrm>
          <a:custGeom>
            <a:avLst/>
            <a:gdLst>
              <a:gd name="T0" fmla="*/ 0 w 51"/>
              <a:gd name="T1" fmla="*/ 1156750220 h 459"/>
              <a:gd name="T2" fmla="*/ 128526392 w 51"/>
              <a:gd name="T3" fmla="*/ 0 h 459"/>
              <a:gd name="T4" fmla="*/ 0 60000 65536"/>
              <a:gd name="T5" fmla="*/ 0 60000 65536"/>
              <a:gd name="T6" fmla="*/ 0 w 51"/>
              <a:gd name="T7" fmla="*/ 0 h 459"/>
              <a:gd name="T8" fmla="*/ 51 w 51"/>
              <a:gd name="T9" fmla="*/ 459 h 4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" h="459">
                <a:moveTo>
                  <a:pt x="0" y="459"/>
                </a:moveTo>
                <a:lnTo>
                  <a:pt x="51" y="0"/>
                </a:lnTo>
              </a:path>
            </a:pathLst>
          </a:custGeom>
          <a:noFill/>
          <a:ln w="28575">
            <a:solidFill>
              <a:srgbClr val="CC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59" name="Line 20"/>
          <p:cNvSpPr>
            <a:spLocks noChangeShapeType="1"/>
          </p:cNvSpPr>
          <p:nvPr/>
        </p:nvSpPr>
        <p:spPr bwMode="auto">
          <a:xfrm flipV="1">
            <a:off x="7400330" y="1363942"/>
            <a:ext cx="722709" cy="48934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6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539624"/>
              </p:ext>
            </p:extLst>
          </p:nvPr>
        </p:nvGraphicFramePr>
        <p:xfrm>
          <a:off x="7628930" y="1567539"/>
          <a:ext cx="400050" cy="37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8" r:id="rId21" imgW="177480" imgH="139680" progId="Equation.3">
                  <p:embed/>
                </p:oleObj>
              </mc:Choice>
              <mc:Fallback>
                <p:oleObj r:id="rId21" imgW="177480" imgH="139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8930" y="1567539"/>
                        <a:ext cx="400050" cy="377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Arc 22"/>
          <p:cNvSpPr>
            <a:spLocks/>
          </p:cNvSpPr>
          <p:nvPr/>
        </p:nvSpPr>
        <p:spPr bwMode="auto">
          <a:xfrm>
            <a:off x="7628930" y="1683030"/>
            <a:ext cx="52388" cy="396478"/>
          </a:xfrm>
          <a:custGeom>
            <a:avLst/>
            <a:gdLst>
              <a:gd name="T0" fmla="*/ 122617 w 19054"/>
              <a:gd name="T1" fmla="*/ 0 h 21456"/>
              <a:gd name="T2" fmla="*/ 938700 w 19054"/>
              <a:gd name="T3" fmla="*/ 168737784 h 21456"/>
              <a:gd name="T4" fmla="*/ 0 w 19054"/>
              <a:gd name="T5" fmla="*/ 320903928 h 21456"/>
              <a:gd name="T6" fmla="*/ 0 60000 65536"/>
              <a:gd name="T7" fmla="*/ 0 60000 65536"/>
              <a:gd name="T8" fmla="*/ 0 60000 65536"/>
              <a:gd name="T9" fmla="*/ 0 w 19054"/>
              <a:gd name="T10" fmla="*/ 0 h 21456"/>
              <a:gd name="T11" fmla="*/ 19054 w 19054"/>
              <a:gd name="T12" fmla="*/ 21456 h 214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4" h="21456" fill="none" extrusionOk="0">
                <a:moveTo>
                  <a:pt x="2489" y="-1"/>
                </a:moveTo>
                <a:cubicBezTo>
                  <a:pt x="9526" y="816"/>
                  <a:pt x="15716" y="5032"/>
                  <a:pt x="19053" y="11282"/>
                </a:cubicBezTo>
              </a:path>
              <a:path w="19054" h="21456" stroke="0" extrusionOk="0">
                <a:moveTo>
                  <a:pt x="2489" y="-1"/>
                </a:moveTo>
                <a:cubicBezTo>
                  <a:pt x="9526" y="816"/>
                  <a:pt x="15716" y="5032"/>
                  <a:pt x="19053" y="11282"/>
                </a:cubicBezTo>
                <a:lnTo>
                  <a:pt x="0" y="21456"/>
                </a:lnTo>
                <a:close/>
              </a:path>
            </a:pathLst>
          </a:custGeom>
          <a:noFill/>
          <a:ln w="19050">
            <a:solidFill>
              <a:srgbClr val="FF3399"/>
            </a:solidFill>
            <a:round/>
            <a:headEnd type="none" w="sm" len="lg"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62" name="Line 23"/>
          <p:cNvSpPr>
            <a:spLocks noChangeShapeType="1"/>
          </p:cNvSpPr>
          <p:nvPr/>
        </p:nvSpPr>
        <p:spPr bwMode="auto">
          <a:xfrm flipH="1" flipV="1">
            <a:off x="7561064" y="403108"/>
            <a:ext cx="571500" cy="971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6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160454"/>
              </p:ext>
            </p:extLst>
          </p:nvPr>
        </p:nvGraphicFramePr>
        <p:xfrm>
          <a:off x="7366992" y="442399"/>
          <a:ext cx="284559" cy="38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9" r:id="rId23" imgW="266901" imgH="317679" progId="Equation.3">
                  <p:embed/>
                </p:oleObj>
              </mc:Choice>
              <mc:Fallback>
                <p:oleObj r:id="rId23" imgW="266901" imgH="31767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992" y="442399"/>
                        <a:ext cx="284559" cy="382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Group 25"/>
          <p:cNvGrpSpPr>
            <a:grpSpLocks/>
          </p:cNvGrpSpPr>
          <p:nvPr/>
        </p:nvGrpSpPr>
        <p:grpSpPr bwMode="auto">
          <a:xfrm>
            <a:off x="7896820" y="693620"/>
            <a:ext cx="338138" cy="685800"/>
            <a:chOff x="0" y="0"/>
            <a:chExt cx="284" cy="576"/>
          </a:xfrm>
        </p:grpSpPr>
        <p:graphicFrame>
          <p:nvGraphicFramePr>
            <p:cNvPr id="65" name="Object 26"/>
            <p:cNvGraphicFramePr>
              <a:graphicFrameLocks noChangeAspect="1"/>
            </p:cNvGraphicFramePr>
            <p:nvPr/>
          </p:nvGraphicFramePr>
          <p:xfrm>
            <a:off x="11" y="0"/>
            <a:ext cx="27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0" r:id="rId25" imgW="305117" imgH="330517" progId="Equation.3">
                    <p:embed/>
                  </p:oleObj>
                </mc:Choice>
                <mc:Fallback>
                  <p:oleObj r:id="rId25" imgW="305117" imgH="33051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0"/>
                          <a:ext cx="27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Line 27"/>
            <p:cNvSpPr>
              <a:spLocks noChangeShapeType="1"/>
            </p:cNvSpPr>
            <p:nvPr/>
          </p:nvSpPr>
          <p:spPr bwMode="auto">
            <a:xfrm flipH="1" flipV="1">
              <a:off x="0" y="240"/>
              <a:ext cx="192" cy="33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69" name="Text Box 46"/>
          <p:cNvSpPr txBox="1">
            <a:spLocks noChangeArrowheads="1"/>
          </p:cNvSpPr>
          <p:nvPr/>
        </p:nvSpPr>
        <p:spPr bwMode="auto">
          <a:xfrm>
            <a:off x="8177807" y="1947348"/>
            <a:ext cx="37742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100" b="0" i="1">
                <a:solidFill>
                  <a:srgbClr val="CC0000"/>
                </a:solidFill>
              </a:rPr>
              <a:t>A</a:t>
            </a:r>
          </a:p>
        </p:txBody>
      </p:sp>
      <p:grpSp>
        <p:nvGrpSpPr>
          <p:cNvPr id="70" name="Group 18"/>
          <p:cNvGrpSpPr>
            <a:grpSpLocks/>
          </p:cNvGrpSpPr>
          <p:nvPr/>
        </p:nvGrpSpPr>
        <p:grpSpPr bwMode="auto">
          <a:xfrm>
            <a:off x="6989545" y="2993957"/>
            <a:ext cx="1223255" cy="1036986"/>
            <a:chOff x="181" y="269"/>
            <a:chExt cx="880" cy="746"/>
          </a:xfrm>
        </p:grpSpPr>
        <p:graphicFrame>
          <p:nvGraphicFramePr>
            <p:cNvPr id="71" name="Object 19"/>
            <p:cNvGraphicFramePr>
              <a:graphicFrameLocks noChangeAspect="1"/>
            </p:cNvGraphicFramePr>
            <p:nvPr/>
          </p:nvGraphicFramePr>
          <p:xfrm>
            <a:off x="482" y="381"/>
            <a:ext cx="33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1" r:id="rId27" imgW="177480" imgH="139680" progId="Equation.3">
                    <p:embed/>
                  </p:oleObj>
                </mc:Choice>
                <mc:Fallback>
                  <p:oleObj r:id="rId27" imgW="177480" imgH="1396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" y="381"/>
                          <a:ext cx="336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Arc 20"/>
            <p:cNvSpPr>
              <a:spLocks/>
            </p:cNvSpPr>
            <p:nvPr/>
          </p:nvSpPr>
          <p:spPr bwMode="auto">
            <a:xfrm rot="15850829">
              <a:off x="753" y="597"/>
              <a:ext cx="44" cy="333"/>
            </a:xfrm>
            <a:custGeom>
              <a:avLst/>
              <a:gdLst>
                <a:gd name="T0" fmla="*/ 0 w 19054"/>
                <a:gd name="T1" fmla="*/ 0 h 21456"/>
                <a:gd name="T2" fmla="*/ 0 w 19054"/>
                <a:gd name="T3" fmla="*/ 0 h 21456"/>
                <a:gd name="T4" fmla="*/ 0 w 19054"/>
                <a:gd name="T5" fmla="*/ 0 h 21456"/>
                <a:gd name="T6" fmla="*/ 0 60000 65536"/>
                <a:gd name="T7" fmla="*/ 0 60000 65536"/>
                <a:gd name="T8" fmla="*/ 0 60000 65536"/>
                <a:gd name="T9" fmla="*/ 0 w 19054"/>
                <a:gd name="T10" fmla="*/ 0 h 21456"/>
                <a:gd name="T11" fmla="*/ 19054 w 19054"/>
                <a:gd name="T12" fmla="*/ 21456 h 21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54" h="21456" fill="none" extrusionOk="0">
                  <a:moveTo>
                    <a:pt x="2489" y="-1"/>
                  </a:moveTo>
                  <a:cubicBezTo>
                    <a:pt x="9526" y="816"/>
                    <a:pt x="15716" y="5032"/>
                    <a:pt x="19053" y="11282"/>
                  </a:cubicBezTo>
                </a:path>
                <a:path w="19054" h="21456" stroke="0" extrusionOk="0">
                  <a:moveTo>
                    <a:pt x="2489" y="-1"/>
                  </a:moveTo>
                  <a:cubicBezTo>
                    <a:pt x="9526" y="816"/>
                    <a:pt x="15716" y="5032"/>
                    <a:pt x="19053" y="11282"/>
                  </a:cubicBezTo>
                  <a:lnTo>
                    <a:pt x="0" y="21456"/>
                  </a:lnTo>
                  <a:close/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sm" len="lg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3" name="Line 21"/>
            <p:cNvSpPr>
              <a:spLocks noChangeShapeType="1"/>
            </p:cNvSpPr>
            <p:nvPr/>
          </p:nvSpPr>
          <p:spPr bwMode="auto">
            <a:xfrm flipH="1" flipV="1">
              <a:off x="356" y="342"/>
              <a:ext cx="396" cy="67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6" name="Freeform 24"/>
            <p:cNvSpPr>
              <a:spLocks/>
            </p:cNvSpPr>
            <p:nvPr/>
          </p:nvSpPr>
          <p:spPr bwMode="auto">
            <a:xfrm>
              <a:off x="755" y="269"/>
              <a:ext cx="76" cy="736"/>
            </a:xfrm>
            <a:custGeom>
              <a:avLst/>
              <a:gdLst>
                <a:gd name="T0" fmla="*/ 0 w 76"/>
                <a:gd name="T1" fmla="*/ 736 h 736"/>
                <a:gd name="T2" fmla="*/ 76 w 76"/>
                <a:gd name="T3" fmla="*/ 0 h 736"/>
                <a:gd name="T4" fmla="*/ 0 60000 65536"/>
                <a:gd name="T5" fmla="*/ 0 60000 65536"/>
                <a:gd name="T6" fmla="*/ 0 w 76"/>
                <a:gd name="T7" fmla="*/ 0 h 736"/>
                <a:gd name="T8" fmla="*/ 76 w 76"/>
                <a:gd name="T9" fmla="*/ 736 h 7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" h="736">
                  <a:moveTo>
                    <a:pt x="0" y="736"/>
                  </a:moveTo>
                  <a:lnTo>
                    <a:pt x="76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8" name="Object 26"/>
            <p:cNvGraphicFramePr>
              <a:graphicFrameLocks noChangeAspect="1"/>
            </p:cNvGraphicFramePr>
            <p:nvPr/>
          </p:nvGraphicFramePr>
          <p:xfrm>
            <a:off x="181" y="562"/>
            <a:ext cx="27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2" r:id="rId28" imgW="305117" imgH="330517" progId="Equation.3">
                    <p:embed/>
                  </p:oleObj>
                </mc:Choice>
                <mc:Fallback>
                  <p:oleObj r:id="rId28" imgW="305117" imgH="330517" progId="Equation.3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562"/>
                          <a:ext cx="27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28"/>
            <p:cNvGraphicFramePr>
              <a:graphicFrameLocks noChangeAspect="1"/>
            </p:cNvGraphicFramePr>
            <p:nvPr/>
          </p:nvGraphicFramePr>
          <p:xfrm>
            <a:off x="816" y="472"/>
            <a:ext cx="24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73" r:id="rId29" imgW="279838" imgH="330660" progId="Equation.3">
                    <p:embed/>
                  </p:oleObj>
                </mc:Choice>
                <mc:Fallback>
                  <p:oleObj r:id="rId29" imgW="279838" imgH="33066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472"/>
                          <a:ext cx="245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7" grpId="0" autoUpdateAnimBg="0"/>
      <p:bldP spid="604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BD666-434D-4A9A-9B21-8FE94C349EFF}" type="slidenum">
              <a:rPr lang="zh-CN" alt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117" name="Oval 12"/>
          <p:cNvSpPr>
            <a:spLocks noChangeArrowheads="1"/>
          </p:cNvSpPr>
          <p:nvPr/>
        </p:nvSpPr>
        <p:spPr bwMode="auto">
          <a:xfrm>
            <a:off x="6150831" y="806065"/>
            <a:ext cx="1714500" cy="1714500"/>
          </a:xfrm>
          <a:prstGeom prst="ellips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409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630916"/>
              </p:ext>
            </p:extLst>
          </p:nvPr>
        </p:nvGraphicFramePr>
        <p:xfrm>
          <a:off x="7350981" y="1720465"/>
          <a:ext cx="309563" cy="372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7" r:id="rId3" imgW="127317" imgH="152717" progId="Equation.3">
                  <p:embed/>
                </p:oleObj>
              </mc:Choice>
              <mc:Fallback>
                <p:oleObj r:id="rId3" imgW="127317" imgH="15271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981" y="1720465"/>
                        <a:ext cx="309563" cy="372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191003"/>
              </p:ext>
            </p:extLst>
          </p:nvPr>
        </p:nvGraphicFramePr>
        <p:xfrm>
          <a:off x="6924738" y="1663315"/>
          <a:ext cx="197644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8" r:id="rId5" imgW="164880" imgH="190440" progId="Equation.3">
                  <p:embed/>
                </p:oleObj>
              </mc:Choice>
              <mc:Fallback>
                <p:oleObj r:id="rId5" imgW="164880" imgH="1904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738" y="1663315"/>
                        <a:ext cx="197644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65861"/>
              </p:ext>
            </p:extLst>
          </p:nvPr>
        </p:nvGraphicFramePr>
        <p:xfrm>
          <a:off x="7933197" y="738199"/>
          <a:ext cx="371475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9" r:id="rId7" imgW="165417" imgH="216217" progId="Equation.3">
                  <p:embed/>
                </p:oleObj>
              </mc:Choice>
              <mc:Fallback>
                <p:oleObj r:id="rId7" imgW="165417" imgH="21621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3197" y="738199"/>
                        <a:ext cx="371475" cy="403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8" name="Freeform 16"/>
          <p:cNvSpPr>
            <a:spLocks/>
          </p:cNvSpPr>
          <p:nvPr/>
        </p:nvSpPr>
        <p:spPr bwMode="auto">
          <a:xfrm>
            <a:off x="7865331" y="901315"/>
            <a:ext cx="90488" cy="876300"/>
          </a:xfrm>
          <a:custGeom>
            <a:avLst/>
            <a:gdLst>
              <a:gd name="T0" fmla="*/ 0 w 76"/>
              <a:gd name="T1" fmla="*/ 1854835178 h 736"/>
              <a:gd name="T2" fmla="*/ 191531848 w 76"/>
              <a:gd name="T3" fmla="*/ 0 h 736"/>
              <a:gd name="T4" fmla="*/ 0 60000 65536"/>
              <a:gd name="T5" fmla="*/ 0 60000 65536"/>
              <a:gd name="T6" fmla="*/ 0 w 76"/>
              <a:gd name="T7" fmla="*/ 0 h 736"/>
              <a:gd name="T8" fmla="*/ 76 w 76"/>
              <a:gd name="T9" fmla="*/ 736 h 7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736">
                <a:moveTo>
                  <a:pt x="0" y="736"/>
                </a:moveTo>
                <a:lnTo>
                  <a:pt x="76" y="0"/>
                </a:ln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4119" name="Line 17"/>
          <p:cNvSpPr>
            <a:spLocks noChangeShapeType="1"/>
          </p:cNvSpPr>
          <p:nvPr/>
        </p:nvSpPr>
        <p:spPr bwMode="auto">
          <a:xfrm>
            <a:off x="7008081" y="1663315"/>
            <a:ext cx="857250" cy="1143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410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348316"/>
              </p:ext>
            </p:extLst>
          </p:nvPr>
        </p:nvGraphicFramePr>
        <p:xfrm>
          <a:off x="7915337" y="1365659"/>
          <a:ext cx="291704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0" r:id="rId9" imgW="279838" imgH="330660" progId="Equation.3">
                  <p:embed/>
                </p:oleObj>
              </mc:Choice>
              <mc:Fallback>
                <p:oleObj r:id="rId9" imgW="279838" imgH="3306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337" y="1365659"/>
                        <a:ext cx="291704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0" name="Freeform 19"/>
          <p:cNvSpPr>
            <a:spLocks/>
          </p:cNvSpPr>
          <p:nvPr/>
        </p:nvSpPr>
        <p:spPr bwMode="auto">
          <a:xfrm>
            <a:off x="7859378" y="1250168"/>
            <a:ext cx="60722" cy="546497"/>
          </a:xfrm>
          <a:custGeom>
            <a:avLst/>
            <a:gdLst>
              <a:gd name="T0" fmla="*/ 0 w 51"/>
              <a:gd name="T1" fmla="*/ 1156750220 h 459"/>
              <a:gd name="T2" fmla="*/ 128526392 w 51"/>
              <a:gd name="T3" fmla="*/ 0 h 459"/>
              <a:gd name="T4" fmla="*/ 0 60000 65536"/>
              <a:gd name="T5" fmla="*/ 0 60000 65536"/>
              <a:gd name="T6" fmla="*/ 0 w 51"/>
              <a:gd name="T7" fmla="*/ 0 h 459"/>
              <a:gd name="T8" fmla="*/ 51 w 51"/>
              <a:gd name="T9" fmla="*/ 459 h 4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1" h="459">
                <a:moveTo>
                  <a:pt x="0" y="459"/>
                </a:moveTo>
                <a:lnTo>
                  <a:pt x="51" y="0"/>
                </a:lnTo>
              </a:path>
            </a:pathLst>
          </a:custGeom>
          <a:noFill/>
          <a:ln w="28575">
            <a:solidFill>
              <a:srgbClr val="CC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4121" name="Line 20"/>
          <p:cNvSpPr>
            <a:spLocks noChangeShapeType="1"/>
          </p:cNvSpPr>
          <p:nvPr/>
        </p:nvSpPr>
        <p:spPr bwMode="auto">
          <a:xfrm flipV="1">
            <a:off x="6994985" y="1173968"/>
            <a:ext cx="722709" cy="48934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410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739286"/>
              </p:ext>
            </p:extLst>
          </p:nvPr>
        </p:nvGraphicFramePr>
        <p:xfrm>
          <a:off x="7223585" y="1377565"/>
          <a:ext cx="400050" cy="37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1" r:id="rId11" imgW="177480" imgH="139680" progId="Equation.3">
                  <p:embed/>
                </p:oleObj>
              </mc:Choice>
              <mc:Fallback>
                <p:oleObj r:id="rId11" imgW="177480" imgH="139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585" y="1377565"/>
                        <a:ext cx="400050" cy="377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2" name="Arc 22"/>
          <p:cNvSpPr>
            <a:spLocks/>
          </p:cNvSpPr>
          <p:nvPr/>
        </p:nvSpPr>
        <p:spPr bwMode="auto">
          <a:xfrm>
            <a:off x="7223585" y="1493056"/>
            <a:ext cx="52388" cy="396478"/>
          </a:xfrm>
          <a:custGeom>
            <a:avLst/>
            <a:gdLst>
              <a:gd name="T0" fmla="*/ 122617 w 19054"/>
              <a:gd name="T1" fmla="*/ 0 h 21456"/>
              <a:gd name="T2" fmla="*/ 938700 w 19054"/>
              <a:gd name="T3" fmla="*/ 168737784 h 21456"/>
              <a:gd name="T4" fmla="*/ 0 w 19054"/>
              <a:gd name="T5" fmla="*/ 320903928 h 21456"/>
              <a:gd name="T6" fmla="*/ 0 60000 65536"/>
              <a:gd name="T7" fmla="*/ 0 60000 65536"/>
              <a:gd name="T8" fmla="*/ 0 60000 65536"/>
              <a:gd name="T9" fmla="*/ 0 w 19054"/>
              <a:gd name="T10" fmla="*/ 0 h 21456"/>
              <a:gd name="T11" fmla="*/ 19054 w 19054"/>
              <a:gd name="T12" fmla="*/ 21456 h 214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4" h="21456" fill="none" extrusionOk="0">
                <a:moveTo>
                  <a:pt x="2489" y="-1"/>
                </a:moveTo>
                <a:cubicBezTo>
                  <a:pt x="9526" y="816"/>
                  <a:pt x="15716" y="5032"/>
                  <a:pt x="19053" y="11282"/>
                </a:cubicBezTo>
              </a:path>
              <a:path w="19054" h="21456" stroke="0" extrusionOk="0">
                <a:moveTo>
                  <a:pt x="2489" y="-1"/>
                </a:moveTo>
                <a:cubicBezTo>
                  <a:pt x="9526" y="816"/>
                  <a:pt x="15716" y="5032"/>
                  <a:pt x="19053" y="11282"/>
                </a:cubicBezTo>
                <a:lnTo>
                  <a:pt x="0" y="21456"/>
                </a:lnTo>
                <a:close/>
              </a:path>
            </a:pathLst>
          </a:custGeom>
          <a:noFill/>
          <a:ln w="19050">
            <a:solidFill>
              <a:srgbClr val="FF3399"/>
            </a:solidFill>
            <a:round/>
            <a:headEnd type="none" w="sm" len="lg"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4123" name="Line 23"/>
          <p:cNvSpPr>
            <a:spLocks noChangeShapeType="1"/>
          </p:cNvSpPr>
          <p:nvPr/>
        </p:nvSpPr>
        <p:spPr bwMode="auto">
          <a:xfrm flipH="1" flipV="1">
            <a:off x="7155719" y="213134"/>
            <a:ext cx="571500" cy="9715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410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604171"/>
              </p:ext>
            </p:extLst>
          </p:nvPr>
        </p:nvGraphicFramePr>
        <p:xfrm>
          <a:off x="6961647" y="252425"/>
          <a:ext cx="284559" cy="38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2" r:id="rId13" imgW="266901" imgH="317679" progId="Equation.3">
                  <p:embed/>
                </p:oleObj>
              </mc:Choice>
              <mc:Fallback>
                <p:oleObj r:id="rId13" imgW="266901" imgH="31767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647" y="252425"/>
                        <a:ext cx="284559" cy="382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4" name="Group 25"/>
          <p:cNvGrpSpPr>
            <a:grpSpLocks/>
          </p:cNvGrpSpPr>
          <p:nvPr/>
        </p:nvGrpSpPr>
        <p:grpSpPr bwMode="auto">
          <a:xfrm>
            <a:off x="7491475" y="503646"/>
            <a:ext cx="338138" cy="685800"/>
            <a:chOff x="0" y="0"/>
            <a:chExt cx="284" cy="576"/>
          </a:xfrm>
        </p:grpSpPr>
        <p:graphicFrame>
          <p:nvGraphicFramePr>
            <p:cNvPr id="4109" name="Object 26"/>
            <p:cNvGraphicFramePr>
              <a:graphicFrameLocks noChangeAspect="1"/>
            </p:cNvGraphicFramePr>
            <p:nvPr/>
          </p:nvGraphicFramePr>
          <p:xfrm>
            <a:off x="11" y="0"/>
            <a:ext cx="27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03" r:id="rId15" imgW="305117" imgH="330517" progId="Equation.3">
                    <p:embed/>
                  </p:oleObj>
                </mc:Choice>
                <mc:Fallback>
                  <p:oleObj r:id="rId15" imgW="305117" imgH="33051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" y="0"/>
                          <a:ext cx="27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9" name="Line 27"/>
            <p:cNvSpPr>
              <a:spLocks noChangeShapeType="1"/>
            </p:cNvSpPr>
            <p:nvPr/>
          </p:nvSpPr>
          <p:spPr bwMode="auto">
            <a:xfrm flipH="1" flipV="1">
              <a:off x="0" y="240"/>
              <a:ext cx="192" cy="336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4125" name="Text Box 28"/>
          <p:cNvSpPr txBox="1">
            <a:spLocks noChangeArrowheads="1"/>
          </p:cNvSpPr>
          <p:nvPr/>
        </p:nvSpPr>
        <p:spPr bwMode="auto">
          <a:xfrm>
            <a:off x="773905" y="623773"/>
            <a:ext cx="4169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/>
              <a:t>切向单位矢量的时间变化率？</a:t>
            </a:r>
          </a:p>
        </p:txBody>
      </p:sp>
      <p:grpSp>
        <p:nvGrpSpPr>
          <p:cNvPr id="4" name="Group 29"/>
          <p:cNvGrpSpPr>
            <a:grpSpLocks noChangeAspect="1"/>
          </p:cNvGrpSpPr>
          <p:nvPr/>
        </p:nvGrpSpPr>
        <p:grpSpPr bwMode="auto">
          <a:xfrm>
            <a:off x="758914" y="1259682"/>
            <a:ext cx="3336257" cy="835818"/>
            <a:chOff x="168" y="17"/>
            <a:chExt cx="2854" cy="715"/>
          </a:xfrm>
        </p:grpSpPr>
        <p:graphicFrame>
          <p:nvGraphicFramePr>
            <p:cNvPr id="4106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7585452"/>
                </p:ext>
              </p:extLst>
            </p:nvPr>
          </p:nvGraphicFramePr>
          <p:xfrm>
            <a:off x="1936" y="30"/>
            <a:ext cx="1086" cy="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04" name="Equation" r:id="rId17" imgW="495617" imgH="394017" progId="Equation.DSMT4">
                    <p:embed/>
                  </p:oleObj>
                </mc:Choice>
                <mc:Fallback>
                  <p:oleObj name="Equation" r:id="rId17" imgW="495617" imgH="394017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6" y="30"/>
                          <a:ext cx="1086" cy="68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38" name="Group 31"/>
            <p:cNvGrpSpPr>
              <a:grpSpLocks noChangeAspect="1"/>
            </p:cNvGrpSpPr>
            <p:nvPr/>
          </p:nvGrpSpPr>
          <p:grpSpPr bwMode="auto">
            <a:xfrm>
              <a:off x="168" y="17"/>
              <a:ext cx="1773" cy="715"/>
              <a:chOff x="165" y="17"/>
              <a:chExt cx="1745" cy="715"/>
            </a:xfrm>
          </p:grpSpPr>
          <p:graphicFrame>
            <p:nvGraphicFramePr>
              <p:cNvPr id="4107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1472423"/>
                  </p:ext>
                </p:extLst>
              </p:nvPr>
            </p:nvGraphicFramePr>
            <p:xfrm>
              <a:off x="897" y="26"/>
              <a:ext cx="1013" cy="6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05" name="Equation" r:id="rId19" imgW="507960" imgH="393480" progId="Equation.DSMT4">
                      <p:embed/>
                    </p:oleObj>
                  </mc:Choice>
                  <mc:Fallback>
                    <p:oleObj name="Equation" r:id="rId19" imgW="507960" imgH="3934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7" y="26"/>
                            <a:ext cx="1013" cy="698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8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5961508"/>
                  </p:ext>
                </p:extLst>
              </p:nvPr>
            </p:nvGraphicFramePr>
            <p:xfrm>
              <a:off x="165" y="17"/>
              <a:ext cx="791" cy="7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06" name="Equation" r:id="rId21" imgW="380880" imgH="393480" progId="Equation.DSMT4">
                      <p:embed/>
                    </p:oleObj>
                  </mc:Choice>
                  <mc:Fallback>
                    <p:oleObj name="Equation" r:id="rId21" imgW="380880" imgH="393480" progId="Equation.DSMT4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" y="17"/>
                            <a:ext cx="791" cy="715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2472318" y="1936347"/>
            <a:ext cx="1890713" cy="691753"/>
            <a:chOff x="0" y="0"/>
            <a:chExt cx="1588" cy="581"/>
          </a:xfrm>
        </p:grpSpPr>
        <p:sp>
          <p:nvSpPr>
            <p:cNvPr id="4136" name="Text Box 35"/>
            <p:cNvSpPr txBox="1">
              <a:spLocks noChangeArrowheads="1"/>
            </p:cNvSpPr>
            <p:nvPr/>
          </p:nvSpPr>
          <p:spPr bwMode="auto">
            <a:xfrm>
              <a:off x="0" y="232"/>
              <a:ext cx="1588" cy="349"/>
            </a:xfrm>
            <a:prstGeom prst="rect">
              <a:avLst/>
            </a:prstGeom>
            <a:noFill/>
            <a:ln w="9525">
              <a:solidFill>
                <a:srgbClr val="008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buFont typeface="Arial" charset="0"/>
                <a:buNone/>
              </a:pPr>
              <a:r>
                <a:rPr kumimoji="0" lang="zh-CN" altLang="en-US" sz="2100" dirty="0">
                  <a:solidFill>
                    <a:srgbClr val="000066"/>
                  </a:solidFill>
                  <a:latin typeface="Arial" charset="0"/>
                </a:rPr>
                <a:t>法向单位矢量</a:t>
              </a:r>
            </a:p>
          </p:txBody>
        </p:sp>
        <p:sp>
          <p:nvSpPr>
            <p:cNvPr id="4137" name="Line 36"/>
            <p:cNvSpPr>
              <a:spLocks noChangeShapeType="1"/>
            </p:cNvSpPr>
            <p:nvPr/>
          </p:nvSpPr>
          <p:spPr bwMode="auto">
            <a:xfrm flipV="1">
              <a:off x="1179" y="0"/>
              <a:ext cx="0" cy="227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aphicFrame>
        <p:nvGraphicFramePr>
          <p:cNvPr id="61485" name="Object 4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1283988"/>
              </p:ext>
            </p:extLst>
          </p:nvPr>
        </p:nvGraphicFramePr>
        <p:xfrm>
          <a:off x="7047372" y="879884"/>
          <a:ext cx="414338" cy="54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7" r:id="rId23" imgW="165417" imgH="216217" progId="Equation.3">
                  <p:embed/>
                </p:oleObj>
              </mc:Choice>
              <mc:Fallback>
                <p:oleObj r:id="rId23" imgW="165417" imgH="216217" progId="Equation.3">
                  <p:embed/>
                  <p:pic>
                    <p:nvPicPr>
                      <p:cNvPr id="0" name="Object 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7372" y="879884"/>
                        <a:ext cx="414338" cy="54173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2202046" y="3827414"/>
            <a:ext cx="1674019" cy="685800"/>
            <a:chOff x="0" y="0"/>
            <a:chExt cx="1406" cy="576"/>
          </a:xfrm>
        </p:grpSpPr>
        <p:sp>
          <p:nvSpPr>
            <p:cNvPr id="61479" name="Text Box 39"/>
            <p:cNvSpPr txBox="1">
              <a:spLocks noChangeArrowheads="1"/>
            </p:cNvSpPr>
            <p:nvPr/>
          </p:nvSpPr>
          <p:spPr bwMode="auto">
            <a:xfrm>
              <a:off x="0" y="227"/>
              <a:ext cx="1406" cy="349"/>
            </a:xfrm>
            <a:prstGeom prst="rect">
              <a:avLst/>
            </a:prstGeom>
            <a:gradFill rotWithShape="1">
              <a:gsLst>
                <a:gs pos="0">
                  <a:srgbClr val="EDFFD2"/>
                </a:gs>
                <a:gs pos="50000">
                  <a:schemeClr val="bg1"/>
                </a:gs>
                <a:gs pos="100000">
                  <a:srgbClr val="EDFFD2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buFont typeface="Arial" charset="0"/>
                <a:buNone/>
                <a:defRPr/>
              </a:pPr>
              <a:r>
                <a:rPr kumimoji="0" lang="zh-CN" altLang="en-US" sz="2100">
                  <a:solidFill>
                    <a:srgbClr val="CC0000"/>
                  </a:solidFill>
                </a:rPr>
                <a:t>法向加速度</a:t>
              </a:r>
            </a:p>
          </p:txBody>
        </p:sp>
        <p:sp>
          <p:nvSpPr>
            <p:cNvPr id="4135" name="Line 40"/>
            <p:cNvSpPr>
              <a:spLocks noChangeShapeType="1"/>
            </p:cNvSpPr>
            <p:nvPr/>
          </p:nvSpPr>
          <p:spPr bwMode="auto">
            <a:xfrm flipV="1">
              <a:off x="362" y="0"/>
              <a:ext cx="0" cy="226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602398" y="3809555"/>
            <a:ext cx="1549200" cy="703659"/>
            <a:chOff x="188" y="0"/>
            <a:chExt cx="1157" cy="591"/>
          </a:xfrm>
        </p:grpSpPr>
        <p:sp>
          <p:nvSpPr>
            <p:cNvPr id="61482" name="Text Box 42"/>
            <p:cNvSpPr txBox="1">
              <a:spLocks noChangeArrowheads="1"/>
            </p:cNvSpPr>
            <p:nvPr/>
          </p:nvSpPr>
          <p:spPr bwMode="auto">
            <a:xfrm>
              <a:off x="188" y="242"/>
              <a:ext cx="1157" cy="349"/>
            </a:xfrm>
            <a:prstGeom prst="rect">
              <a:avLst/>
            </a:prstGeom>
            <a:gradFill rotWithShape="1">
              <a:gsLst>
                <a:gs pos="0">
                  <a:srgbClr val="EDFDD2"/>
                </a:gs>
                <a:gs pos="50000">
                  <a:schemeClr val="bg1"/>
                </a:gs>
                <a:gs pos="100000">
                  <a:srgbClr val="EDFDD2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buFont typeface="Arial" charset="0"/>
                <a:buNone/>
                <a:defRPr/>
              </a:pPr>
              <a:r>
                <a:rPr kumimoji="0" lang="zh-CN" altLang="en-US" sz="2100">
                  <a:solidFill>
                    <a:srgbClr val="CC0000"/>
                  </a:solidFill>
                </a:rPr>
                <a:t>切向加速度</a:t>
              </a:r>
            </a:p>
          </p:txBody>
        </p:sp>
        <p:sp>
          <p:nvSpPr>
            <p:cNvPr id="4133" name="Line 43"/>
            <p:cNvSpPr>
              <a:spLocks noChangeShapeType="1"/>
            </p:cNvSpPr>
            <p:nvPr/>
          </p:nvSpPr>
          <p:spPr bwMode="auto">
            <a:xfrm flipH="1" flipV="1">
              <a:off x="999" y="0"/>
              <a:ext cx="8" cy="234"/>
            </a:xfrm>
            <a:prstGeom prst="line">
              <a:avLst/>
            </a:prstGeom>
            <a:noFill/>
            <a:ln w="28575">
              <a:solidFill>
                <a:srgbClr val="006666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61484" name="Line 44"/>
          <p:cNvSpPr>
            <a:spLocks noChangeShapeType="1"/>
          </p:cNvSpPr>
          <p:nvPr/>
        </p:nvSpPr>
        <p:spPr bwMode="auto">
          <a:xfrm flipH="1">
            <a:off x="7340266" y="1183493"/>
            <a:ext cx="378619" cy="252413"/>
          </a:xfrm>
          <a:prstGeom prst="line">
            <a:avLst/>
          </a:prstGeom>
          <a:noFill/>
          <a:ln w="63500">
            <a:solidFill>
              <a:srgbClr val="9900CC"/>
            </a:solidFill>
            <a:round/>
            <a:headEnd/>
            <a:tailEnd type="triangle" w="sm" len="lg"/>
          </a:ln>
        </p:spPr>
        <p:txBody>
          <a:bodyPr>
            <a:spAutoFit/>
          </a:bodyPr>
          <a:lstStyle/>
          <a:p>
            <a:endParaRPr lang="zh-CN" altLang="en-US" sz="2100"/>
          </a:p>
        </p:txBody>
      </p:sp>
      <p:sp>
        <p:nvSpPr>
          <p:cNvPr id="4131" name="Text Box 46"/>
          <p:cNvSpPr txBox="1">
            <a:spLocks noChangeArrowheads="1"/>
          </p:cNvSpPr>
          <p:nvPr/>
        </p:nvSpPr>
        <p:spPr bwMode="auto">
          <a:xfrm>
            <a:off x="7772462" y="1757374"/>
            <a:ext cx="37742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100" b="0" i="1">
                <a:solidFill>
                  <a:srgbClr val="CC0000"/>
                </a:solidFill>
              </a:rPr>
              <a:t>A</a:t>
            </a:r>
          </a:p>
        </p:txBody>
      </p:sp>
      <p:graphicFrame>
        <p:nvGraphicFramePr>
          <p:cNvPr id="61487" name="Object 4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46073665"/>
              </p:ext>
            </p:extLst>
          </p:nvPr>
        </p:nvGraphicFramePr>
        <p:xfrm>
          <a:off x="960438" y="2847975"/>
          <a:ext cx="2133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8" name="Equation" r:id="rId25" imgW="1155600" imgH="406080" progId="Equation.DSMT4">
                  <p:embed/>
                </p:oleObj>
              </mc:Choice>
              <mc:Fallback>
                <p:oleObj name="Equation" r:id="rId25" imgW="1155600" imgH="406080" progId="Equation.DSMT4">
                  <p:embed/>
                  <p:pic>
                    <p:nvPicPr>
                      <p:cNvPr id="0" name="Object 4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2847975"/>
                        <a:ext cx="2133600" cy="7493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箭头连接符 59"/>
          <p:cNvCxnSpPr/>
          <p:nvPr/>
        </p:nvCxnSpPr>
        <p:spPr bwMode="auto">
          <a:xfrm flipH="1">
            <a:off x="6835272" y="3381628"/>
            <a:ext cx="660280" cy="101474"/>
          </a:xfrm>
          <a:prstGeom prst="straightConnector1">
            <a:avLst/>
          </a:prstGeom>
          <a:ln w="38100"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49744"/>
              </p:ext>
            </p:extLst>
          </p:nvPr>
        </p:nvGraphicFramePr>
        <p:xfrm>
          <a:off x="6920084" y="3010549"/>
          <a:ext cx="466976" cy="438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9" r:id="rId27" imgW="228600" imgH="228600" progId="Equation.DSMT4">
                  <p:embed/>
                </p:oleObj>
              </mc:Choice>
              <mc:Fallback>
                <p:oleObj r:id="rId27" imgW="228600" imgH="228600" progId="Equation.DSMT4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0084" y="3010549"/>
                        <a:ext cx="466976" cy="4387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Group 18"/>
          <p:cNvGrpSpPr>
            <a:grpSpLocks/>
          </p:cNvGrpSpPr>
          <p:nvPr/>
        </p:nvGrpSpPr>
        <p:grpSpPr bwMode="auto">
          <a:xfrm>
            <a:off x="6584200" y="3348087"/>
            <a:ext cx="1223255" cy="1036986"/>
            <a:chOff x="181" y="269"/>
            <a:chExt cx="880" cy="746"/>
          </a:xfrm>
        </p:grpSpPr>
        <p:graphicFrame>
          <p:nvGraphicFramePr>
            <p:cNvPr id="62" name="Object 19"/>
            <p:cNvGraphicFramePr>
              <a:graphicFrameLocks noChangeAspect="1"/>
            </p:cNvGraphicFramePr>
            <p:nvPr/>
          </p:nvGraphicFramePr>
          <p:xfrm>
            <a:off x="482" y="381"/>
            <a:ext cx="33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0" r:id="rId29" imgW="177480" imgH="139680" progId="Equation.3">
                    <p:embed/>
                  </p:oleObj>
                </mc:Choice>
                <mc:Fallback>
                  <p:oleObj r:id="rId29" imgW="177480" imgH="1396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" y="381"/>
                          <a:ext cx="336" cy="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Arc 20"/>
            <p:cNvSpPr>
              <a:spLocks/>
            </p:cNvSpPr>
            <p:nvPr/>
          </p:nvSpPr>
          <p:spPr bwMode="auto">
            <a:xfrm rot="15850829">
              <a:off x="747" y="597"/>
              <a:ext cx="44" cy="333"/>
            </a:xfrm>
            <a:custGeom>
              <a:avLst/>
              <a:gdLst>
                <a:gd name="T0" fmla="*/ 0 w 19054"/>
                <a:gd name="T1" fmla="*/ 0 h 21456"/>
                <a:gd name="T2" fmla="*/ 0 w 19054"/>
                <a:gd name="T3" fmla="*/ 0 h 21456"/>
                <a:gd name="T4" fmla="*/ 0 w 19054"/>
                <a:gd name="T5" fmla="*/ 0 h 21456"/>
                <a:gd name="T6" fmla="*/ 0 60000 65536"/>
                <a:gd name="T7" fmla="*/ 0 60000 65536"/>
                <a:gd name="T8" fmla="*/ 0 60000 65536"/>
                <a:gd name="T9" fmla="*/ 0 w 19054"/>
                <a:gd name="T10" fmla="*/ 0 h 21456"/>
                <a:gd name="T11" fmla="*/ 19054 w 19054"/>
                <a:gd name="T12" fmla="*/ 21456 h 21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54" h="21456" fill="none" extrusionOk="0">
                  <a:moveTo>
                    <a:pt x="2489" y="-1"/>
                  </a:moveTo>
                  <a:cubicBezTo>
                    <a:pt x="9526" y="816"/>
                    <a:pt x="15716" y="5032"/>
                    <a:pt x="19053" y="11282"/>
                  </a:cubicBezTo>
                </a:path>
                <a:path w="19054" h="21456" stroke="0" extrusionOk="0">
                  <a:moveTo>
                    <a:pt x="2489" y="-1"/>
                  </a:moveTo>
                  <a:cubicBezTo>
                    <a:pt x="9526" y="816"/>
                    <a:pt x="15716" y="5032"/>
                    <a:pt x="19053" y="11282"/>
                  </a:cubicBezTo>
                  <a:lnTo>
                    <a:pt x="0" y="21456"/>
                  </a:lnTo>
                  <a:close/>
                </a:path>
              </a:pathLst>
            </a:custGeom>
            <a:noFill/>
            <a:ln w="19050">
              <a:solidFill>
                <a:srgbClr val="FF3399"/>
              </a:solidFill>
              <a:round/>
              <a:headEnd type="none" w="sm" len="lg"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4" name="Line 21"/>
            <p:cNvSpPr>
              <a:spLocks noChangeShapeType="1"/>
            </p:cNvSpPr>
            <p:nvPr/>
          </p:nvSpPr>
          <p:spPr bwMode="auto">
            <a:xfrm flipH="1" flipV="1">
              <a:off x="356" y="342"/>
              <a:ext cx="396" cy="67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5" name="Freeform 24"/>
            <p:cNvSpPr>
              <a:spLocks/>
            </p:cNvSpPr>
            <p:nvPr/>
          </p:nvSpPr>
          <p:spPr bwMode="auto">
            <a:xfrm>
              <a:off x="755" y="269"/>
              <a:ext cx="76" cy="736"/>
            </a:xfrm>
            <a:custGeom>
              <a:avLst/>
              <a:gdLst>
                <a:gd name="T0" fmla="*/ 0 w 76"/>
                <a:gd name="T1" fmla="*/ 736 h 736"/>
                <a:gd name="T2" fmla="*/ 76 w 76"/>
                <a:gd name="T3" fmla="*/ 0 h 736"/>
                <a:gd name="T4" fmla="*/ 0 60000 65536"/>
                <a:gd name="T5" fmla="*/ 0 60000 65536"/>
                <a:gd name="T6" fmla="*/ 0 w 76"/>
                <a:gd name="T7" fmla="*/ 0 h 736"/>
                <a:gd name="T8" fmla="*/ 76 w 76"/>
                <a:gd name="T9" fmla="*/ 736 h 7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" h="736">
                  <a:moveTo>
                    <a:pt x="0" y="736"/>
                  </a:moveTo>
                  <a:lnTo>
                    <a:pt x="76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6" name="Object 26"/>
            <p:cNvGraphicFramePr>
              <a:graphicFrameLocks noChangeAspect="1"/>
            </p:cNvGraphicFramePr>
            <p:nvPr/>
          </p:nvGraphicFramePr>
          <p:xfrm>
            <a:off x="181" y="562"/>
            <a:ext cx="27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1" r:id="rId30" imgW="305117" imgH="330517" progId="Equation.3">
                    <p:embed/>
                  </p:oleObj>
                </mc:Choice>
                <mc:Fallback>
                  <p:oleObj r:id="rId30" imgW="305117" imgH="330517" progId="Equation.3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562"/>
                          <a:ext cx="27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28"/>
            <p:cNvGraphicFramePr>
              <a:graphicFrameLocks noChangeAspect="1"/>
            </p:cNvGraphicFramePr>
            <p:nvPr/>
          </p:nvGraphicFramePr>
          <p:xfrm>
            <a:off x="816" y="472"/>
            <a:ext cx="24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2" r:id="rId31" imgW="279838" imgH="330660" progId="Equation.3">
                    <p:embed/>
                  </p:oleObj>
                </mc:Choice>
                <mc:Fallback>
                  <p:oleObj r:id="rId31" imgW="279838" imgH="33066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472"/>
                          <a:ext cx="245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10D01-A6F5-4E75-AA50-6AC8AB1EA4D7}" type="slidenum">
              <a:rPr lang="zh-CN" alt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6162" name="Rectangle 3"/>
          <p:cNvSpPr>
            <a:spLocks noChangeArrowheads="1"/>
          </p:cNvSpPr>
          <p:nvPr/>
        </p:nvSpPr>
        <p:spPr bwMode="auto">
          <a:xfrm>
            <a:off x="1432323" y="209550"/>
            <a:ext cx="50970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>
                <a:solidFill>
                  <a:srgbClr val="9900CC"/>
                </a:solidFill>
                <a:sym typeface="Wingdings" pitchFamily="2" charset="2"/>
              </a:rPr>
              <a:t>总结： </a:t>
            </a:r>
            <a:r>
              <a:rPr kumimoji="0" lang="zh-CN" altLang="en-US" sz="2400">
                <a:solidFill>
                  <a:srgbClr val="000000"/>
                </a:solidFill>
              </a:rPr>
              <a:t>一般圆周运动加速度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07449" y="2594793"/>
            <a:ext cx="2970609" cy="669131"/>
            <a:chOff x="0" y="0"/>
            <a:chExt cx="2495" cy="562"/>
          </a:xfrm>
        </p:grpSpPr>
        <p:graphicFrame>
          <p:nvGraphicFramePr>
            <p:cNvPr id="6159" name="Object 5"/>
            <p:cNvGraphicFramePr>
              <a:graphicFrameLocks noChangeAspect="1"/>
            </p:cNvGraphicFramePr>
            <p:nvPr/>
          </p:nvGraphicFramePr>
          <p:xfrm>
            <a:off x="590" y="0"/>
            <a:ext cx="1905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58" r:id="rId3" imgW="825817" imgH="292417" progId="Equation.3">
                    <p:embed/>
                  </p:oleObj>
                </mc:Choice>
                <mc:Fallback>
                  <p:oleObj r:id="rId3" imgW="825817" imgH="29241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1905" cy="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6" name="Text Box 6"/>
            <p:cNvSpPr txBox="1">
              <a:spLocks noChangeArrowheads="1"/>
            </p:cNvSpPr>
            <p:nvPr/>
          </p:nvSpPr>
          <p:spPr bwMode="auto">
            <a:xfrm>
              <a:off x="0" y="106"/>
              <a:ext cx="81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CC0000"/>
                  </a:solidFill>
                  <a:latin typeface="Arial" charset="0"/>
                </a:rPr>
                <a:t>大小</a:t>
              </a:r>
            </a:p>
          </p:txBody>
        </p:sp>
      </p:grpSp>
      <p:graphicFrame>
        <p:nvGraphicFramePr>
          <p:cNvPr id="614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399975"/>
              </p:ext>
            </p:extLst>
          </p:nvPr>
        </p:nvGraphicFramePr>
        <p:xfrm>
          <a:off x="1807166" y="1026778"/>
          <a:ext cx="1787868" cy="54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9" r:id="rId5" imgW="673417" imgH="228917" progId="Equation.3">
                  <p:embed/>
                </p:oleObj>
              </mc:Choice>
              <mc:Fallback>
                <p:oleObj r:id="rId5" imgW="673417" imgH="22891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166" y="1026778"/>
                        <a:ext cx="1787868" cy="54629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107449" y="3434184"/>
            <a:ext cx="2562225" cy="977503"/>
            <a:chOff x="0" y="0"/>
            <a:chExt cx="2152" cy="821"/>
          </a:xfrm>
        </p:grpSpPr>
        <p:graphicFrame>
          <p:nvGraphicFramePr>
            <p:cNvPr id="6158" name="Object 9"/>
            <p:cNvGraphicFramePr>
              <a:graphicFrameLocks noChangeAspect="1"/>
            </p:cNvGraphicFramePr>
            <p:nvPr/>
          </p:nvGraphicFramePr>
          <p:xfrm>
            <a:off x="631" y="0"/>
            <a:ext cx="1521" cy="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0" r:id="rId7" imgW="775017" imgH="432117" progId="Equation.3">
                    <p:embed/>
                  </p:oleObj>
                </mc:Choice>
                <mc:Fallback>
                  <p:oleObj r:id="rId7" imgW="775017" imgH="43211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" y="0"/>
                          <a:ext cx="1521" cy="8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5" name="Text Box 10"/>
            <p:cNvSpPr txBox="1">
              <a:spLocks noChangeArrowheads="1"/>
            </p:cNvSpPr>
            <p:nvPr/>
          </p:nvSpPr>
          <p:spPr bwMode="auto">
            <a:xfrm>
              <a:off x="0" y="158"/>
              <a:ext cx="72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CC0000"/>
                  </a:solidFill>
                  <a:latin typeface="Arial" charset="0"/>
                </a:rPr>
                <a:t>方向</a:t>
              </a:r>
            </a:p>
          </p:txBody>
        </p:sp>
      </p:grpSp>
      <p:grpSp>
        <p:nvGrpSpPr>
          <p:cNvPr id="6165" name="Group 11"/>
          <p:cNvGrpSpPr>
            <a:grpSpLocks/>
          </p:cNvGrpSpPr>
          <p:nvPr/>
        </p:nvGrpSpPr>
        <p:grpSpPr bwMode="auto">
          <a:xfrm>
            <a:off x="7257574" y="1283256"/>
            <a:ext cx="436960" cy="1091803"/>
            <a:chOff x="0" y="0"/>
            <a:chExt cx="367" cy="917"/>
          </a:xfrm>
        </p:grpSpPr>
        <p:sp>
          <p:nvSpPr>
            <p:cNvPr id="6184" name="Line 12"/>
            <p:cNvSpPr>
              <a:spLocks noChangeShapeType="1"/>
            </p:cNvSpPr>
            <p:nvPr/>
          </p:nvSpPr>
          <p:spPr bwMode="auto">
            <a:xfrm flipH="1" flipV="1">
              <a:off x="0" y="149"/>
              <a:ext cx="367" cy="768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7" name="Object 13"/>
            <p:cNvGraphicFramePr>
              <a:graphicFrameLocks noChangeAspect="1"/>
            </p:cNvGraphicFramePr>
            <p:nvPr/>
          </p:nvGraphicFramePr>
          <p:xfrm>
            <a:off x="74" y="0"/>
            <a:ext cx="27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1" r:id="rId9" imgW="127262" imgH="178040" progId="Equation.3">
                    <p:embed/>
                  </p:oleObj>
                </mc:Choice>
                <mc:Fallback>
                  <p:oleObj r:id="rId9" imgW="127262" imgH="1780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" y="0"/>
                          <a:ext cx="274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6" name="Text Box 14"/>
          <p:cNvSpPr txBox="1">
            <a:spLocks noChangeArrowheads="1"/>
          </p:cNvSpPr>
          <p:nvPr/>
        </p:nvSpPr>
        <p:spPr bwMode="auto">
          <a:xfrm>
            <a:off x="8000524" y="2842975"/>
            <a:ext cx="2667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endParaRPr kumimoji="0" lang="zh-CN" altLang="en-US" sz="1800" b="0"/>
          </a:p>
        </p:txBody>
      </p:sp>
      <p:sp>
        <p:nvSpPr>
          <p:cNvPr id="6167" name="Text Box 15"/>
          <p:cNvSpPr txBox="1">
            <a:spLocks noChangeArrowheads="1"/>
          </p:cNvSpPr>
          <p:nvPr/>
        </p:nvSpPr>
        <p:spPr bwMode="auto">
          <a:xfrm>
            <a:off x="6514624" y="1299925"/>
            <a:ext cx="4393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endParaRPr kumimoji="0" lang="zh-CN" altLang="en-US" sz="1800" b="0"/>
          </a:p>
        </p:txBody>
      </p: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480221" y="1944053"/>
            <a:ext cx="365521" cy="457200"/>
            <a:chOff x="0" y="29"/>
            <a:chExt cx="307" cy="384"/>
          </a:xfrm>
        </p:grpSpPr>
        <p:sp>
          <p:nvSpPr>
            <p:cNvPr id="6183" name="Line 17"/>
            <p:cNvSpPr>
              <a:spLocks noChangeShapeType="1"/>
            </p:cNvSpPr>
            <p:nvPr/>
          </p:nvSpPr>
          <p:spPr bwMode="auto">
            <a:xfrm flipH="1" flipV="1">
              <a:off x="0" y="29"/>
              <a:ext cx="192" cy="38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358504"/>
                </p:ext>
              </p:extLst>
            </p:nvPr>
          </p:nvGraphicFramePr>
          <p:xfrm>
            <a:off x="110" y="62"/>
            <a:ext cx="19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2" r:id="rId11" imgW="216123" imgH="330374" progId="Equation.3">
                    <p:embed/>
                  </p:oleObj>
                </mc:Choice>
                <mc:Fallback>
                  <p:oleObj r:id="rId11" imgW="216123" imgH="330374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" y="62"/>
                          <a:ext cx="197" cy="27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296865" y="2373868"/>
            <a:ext cx="477440" cy="335756"/>
            <a:chOff x="0" y="0"/>
            <a:chExt cx="401" cy="282"/>
          </a:xfrm>
        </p:grpSpPr>
        <p:sp>
          <p:nvSpPr>
            <p:cNvPr id="6182" name="Freeform 20"/>
            <p:cNvSpPr>
              <a:spLocks/>
            </p:cNvSpPr>
            <p:nvPr/>
          </p:nvSpPr>
          <p:spPr bwMode="auto">
            <a:xfrm>
              <a:off x="0" y="0"/>
              <a:ext cx="344" cy="194"/>
            </a:xfrm>
            <a:custGeom>
              <a:avLst/>
              <a:gdLst>
                <a:gd name="T0" fmla="*/ 344 w 344"/>
                <a:gd name="T1" fmla="*/ 0 h 194"/>
                <a:gd name="T2" fmla="*/ 0 w 344"/>
                <a:gd name="T3" fmla="*/ 194 h 194"/>
                <a:gd name="T4" fmla="*/ 0 60000 65536"/>
                <a:gd name="T5" fmla="*/ 0 60000 65536"/>
                <a:gd name="T6" fmla="*/ 0 w 344"/>
                <a:gd name="T7" fmla="*/ 0 h 194"/>
                <a:gd name="T8" fmla="*/ 344 w 344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4" h="194">
                  <a:moveTo>
                    <a:pt x="344" y="0"/>
                  </a:moveTo>
                  <a:lnTo>
                    <a:pt x="0" y="194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5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489821"/>
                </p:ext>
              </p:extLst>
            </p:nvPr>
          </p:nvGraphicFramePr>
          <p:xfrm>
            <a:off x="199" y="77"/>
            <a:ext cx="20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" r:id="rId13" imgW="432304" imgH="483127" progId="Equation.3">
                    <p:embed/>
                  </p:oleObj>
                </mc:Choice>
                <mc:Fallback>
                  <p:oleObj r:id="rId13" imgW="432304" imgH="48312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" y="77"/>
                          <a:ext cx="202" cy="20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70" name="Group 22"/>
          <p:cNvGrpSpPr>
            <a:grpSpLocks/>
          </p:cNvGrpSpPr>
          <p:nvPr/>
        </p:nvGrpSpPr>
        <p:grpSpPr bwMode="auto">
          <a:xfrm>
            <a:off x="5699046" y="1292781"/>
            <a:ext cx="2549128" cy="2800350"/>
            <a:chOff x="0" y="0"/>
            <a:chExt cx="2141" cy="2352"/>
          </a:xfrm>
        </p:grpSpPr>
        <p:sp>
          <p:nvSpPr>
            <p:cNvPr id="6179" name="Line 23"/>
            <p:cNvSpPr>
              <a:spLocks noChangeShapeType="1"/>
            </p:cNvSpPr>
            <p:nvPr/>
          </p:nvSpPr>
          <p:spPr bwMode="auto">
            <a:xfrm flipV="1">
              <a:off x="960" y="96"/>
              <a:ext cx="0" cy="2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0" name="Oval 24"/>
            <p:cNvSpPr>
              <a:spLocks noChangeArrowheads="1"/>
            </p:cNvSpPr>
            <p:nvPr/>
          </p:nvSpPr>
          <p:spPr bwMode="auto">
            <a:xfrm>
              <a:off x="144" y="480"/>
              <a:ext cx="1625" cy="1632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81" name="Line 25"/>
            <p:cNvSpPr>
              <a:spLocks noChangeShapeType="1"/>
            </p:cNvSpPr>
            <p:nvPr/>
          </p:nvSpPr>
          <p:spPr bwMode="auto">
            <a:xfrm>
              <a:off x="0" y="1296"/>
              <a:ext cx="21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52" name="Object 26"/>
            <p:cNvGraphicFramePr>
              <a:graphicFrameLocks noChangeAspect="1"/>
            </p:cNvGraphicFramePr>
            <p:nvPr/>
          </p:nvGraphicFramePr>
          <p:xfrm>
            <a:off x="1920" y="1344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4" r:id="rId15" imgW="178117" imgH="190817" progId="Equation.3">
                    <p:embed/>
                  </p:oleObj>
                </mc:Choice>
                <mc:Fallback>
                  <p:oleObj r:id="rId15" imgW="178117" imgH="19081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344"/>
                          <a:ext cx="221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3" name="Object 27"/>
            <p:cNvGraphicFramePr>
              <a:graphicFrameLocks noChangeAspect="1"/>
            </p:cNvGraphicFramePr>
            <p:nvPr/>
          </p:nvGraphicFramePr>
          <p:xfrm>
            <a:off x="672" y="0"/>
            <a:ext cx="23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5" r:id="rId17" imgW="190440" imgH="241200" progId="Equation.3">
                    <p:embed/>
                  </p:oleObj>
                </mc:Choice>
                <mc:Fallback>
                  <p:oleObj r:id="rId17" imgW="190440" imgH="241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0"/>
                          <a:ext cx="239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28"/>
            <p:cNvGraphicFramePr>
              <a:graphicFrameLocks noChangeAspect="1"/>
            </p:cNvGraphicFramePr>
            <p:nvPr/>
          </p:nvGraphicFramePr>
          <p:xfrm>
            <a:off x="768" y="129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" r:id="rId19" imgW="165489" imgH="190900" progId="Equation.3">
                    <p:embed/>
                  </p:oleObj>
                </mc:Choice>
                <mc:Fallback>
                  <p:oleObj r:id="rId19" imgW="165489" imgH="1909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296"/>
                          <a:ext cx="177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517" name="Object 2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026486140"/>
              </p:ext>
            </p:extLst>
          </p:nvPr>
        </p:nvGraphicFramePr>
        <p:xfrm>
          <a:off x="2081499" y="1651262"/>
          <a:ext cx="2262425" cy="59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" r:id="rId21" imgW="914400" imgH="241200" progId="Equation.3">
                  <p:embed/>
                </p:oleObj>
              </mc:Choice>
              <mc:Fallback>
                <p:oleObj r:id="rId21" imgW="914400" imgH="241200" progId="Equation.3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499" y="1651262"/>
                        <a:ext cx="2262425" cy="597060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6572965" y="1557786"/>
            <a:ext cx="1201340" cy="1300162"/>
            <a:chOff x="0" y="0"/>
            <a:chExt cx="1009" cy="1092"/>
          </a:xfrm>
        </p:grpSpPr>
        <p:sp>
          <p:nvSpPr>
            <p:cNvPr id="6173" name="Freeform 31"/>
            <p:cNvSpPr>
              <a:spLocks/>
            </p:cNvSpPr>
            <p:nvPr/>
          </p:nvSpPr>
          <p:spPr bwMode="auto">
            <a:xfrm>
              <a:off x="239" y="438"/>
              <a:ext cx="691" cy="228"/>
            </a:xfrm>
            <a:custGeom>
              <a:avLst/>
              <a:gdLst>
                <a:gd name="T0" fmla="*/ 691 w 691"/>
                <a:gd name="T1" fmla="*/ 228 h 228"/>
                <a:gd name="T2" fmla="*/ 0 w 691"/>
                <a:gd name="T3" fmla="*/ 0 h 228"/>
                <a:gd name="T4" fmla="*/ 0 60000 65536"/>
                <a:gd name="T5" fmla="*/ 0 60000 65536"/>
                <a:gd name="T6" fmla="*/ 0 w 691"/>
                <a:gd name="T7" fmla="*/ 0 h 228"/>
                <a:gd name="T8" fmla="*/ 691 w 691"/>
                <a:gd name="T9" fmla="*/ 228 h 2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91" h="228">
                  <a:moveTo>
                    <a:pt x="691" y="228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6148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0564659"/>
                </p:ext>
              </p:extLst>
            </p:nvPr>
          </p:nvGraphicFramePr>
          <p:xfrm>
            <a:off x="582" y="376"/>
            <a:ext cx="17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8" r:id="rId23" imgW="101520" imgH="139680" progId="Equation.3">
                    <p:embed/>
                  </p:oleObj>
                </mc:Choice>
                <mc:Fallback>
                  <p:oleObj r:id="rId23" imgW="101520" imgH="1396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" y="376"/>
                          <a:ext cx="178" cy="23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" name="Object 33"/>
            <p:cNvGraphicFramePr>
              <a:graphicFrameLocks noChangeAspect="1"/>
            </p:cNvGraphicFramePr>
            <p:nvPr/>
          </p:nvGraphicFramePr>
          <p:xfrm>
            <a:off x="0" y="270"/>
            <a:ext cx="27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9" r:id="rId25" imgW="102049" imgH="140199" progId="Equation.3">
                    <p:embed/>
                  </p:oleObj>
                </mc:Choice>
                <mc:Fallback>
                  <p:oleObj r:id="rId25" imgW="102049" imgH="140199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0"/>
                          <a:ext cx="277" cy="3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4" name="Arc 34"/>
            <p:cNvSpPr>
              <a:spLocks/>
            </p:cNvSpPr>
            <p:nvPr/>
          </p:nvSpPr>
          <p:spPr bwMode="auto">
            <a:xfrm flipH="1">
              <a:off x="727" y="437"/>
              <a:ext cx="108" cy="14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6175" name="Freeform 35"/>
            <p:cNvSpPr>
              <a:spLocks/>
            </p:cNvSpPr>
            <p:nvPr/>
          </p:nvSpPr>
          <p:spPr bwMode="auto">
            <a:xfrm>
              <a:off x="686" y="148"/>
              <a:ext cx="266" cy="540"/>
            </a:xfrm>
            <a:custGeom>
              <a:avLst/>
              <a:gdLst>
                <a:gd name="T0" fmla="*/ 268 w 274"/>
                <a:gd name="T1" fmla="*/ 496 h 531"/>
                <a:gd name="T2" fmla="*/ 0 w 274"/>
                <a:gd name="T3" fmla="*/ 0 h 531"/>
                <a:gd name="T4" fmla="*/ 0 60000 65536"/>
                <a:gd name="T5" fmla="*/ 0 60000 65536"/>
                <a:gd name="T6" fmla="*/ 0 w 274"/>
                <a:gd name="T7" fmla="*/ 0 h 531"/>
                <a:gd name="T8" fmla="*/ 274 w 274"/>
                <a:gd name="T9" fmla="*/ 531 h 5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4" h="531">
                  <a:moveTo>
                    <a:pt x="274" y="531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square">
              <a:spAutoFit/>
            </a:bodyPr>
            <a:lstStyle/>
            <a:p>
              <a:endParaRPr lang="zh-CN" altLang="en-US" sz="2100"/>
            </a:p>
          </p:txBody>
        </p:sp>
        <p:sp>
          <p:nvSpPr>
            <p:cNvPr id="6176" name="Line 36"/>
            <p:cNvSpPr>
              <a:spLocks noChangeShapeType="1"/>
            </p:cNvSpPr>
            <p:nvPr/>
          </p:nvSpPr>
          <p:spPr bwMode="auto">
            <a:xfrm flipH="1">
              <a:off x="491" y="685"/>
              <a:ext cx="461" cy="25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square">
              <a:spAutoFit/>
            </a:bodyPr>
            <a:lstStyle/>
            <a:p>
              <a:endParaRPr lang="zh-CN" altLang="en-US" sz="2100"/>
            </a:p>
          </p:txBody>
        </p:sp>
        <p:sp>
          <p:nvSpPr>
            <p:cNvPr id="6177" name="Freeform 37"/>
            <p:cNvSpPr>
              <a:spLocks/>
            </p:cNvSpPr>
            <p:nvPr/>
          </p:nvSpPr>
          <p:spPr bwMode="auto">
            <a:xfrm>
              <a:off x="249" y="444"/>
              <a:ext cx="258" cy="482"/>
            </a:xfrm>
            <a:custGeom>
              <a:avLst/>
              <a:gdLst>
                <a:gd name="T0" fmla="*/ 279 w 285"/>
                <a:gd name="T1" fmla="*/ 495 h 530"/>
                <a:gd name="T2" fmla="*/ 0 w 285"/>
                <a:gd name="T3" fmla="*/ 0 h 530"/>
                <a:gd name="T4" fmla="*/ 0 60000 65536"/>
                <a:gd name="T5" fmla="*/ 0 60000 65536"/>
                <a:gd name="T6" fmla="*/ 0 w 285"/>
                <a:gd name="T7" fmla="*/ 0 h 530"/>
                <a:gd name="T8" fmla="*/ 285 w 285"/>
                <a:gd name="T9" fmla="*/ 530 h 5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5" h="530">
                  <a:moveTo>
                    <a:pt x="285" y="53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ash"/>
              <a:round/>
              <a:headEnd/>
              <a:tailEnd type="none" w="med" len="med"/>
            </a:ln>
          </p:spPr>
          <p:txBody>
            <a:bodyPr wrap="square">
              <a:spAutoFit/>
            </a:bodyPr>
            <a:lstStyle/>
            <a:p>
              <a:endParaRPr lang="zh-CN" altLang="en-US" sz="2100"/>
            </a:p>
          </p:txBody>
        </p:sp>
        <p:sp>
          <p:nvSpPr>
            <p:cNvPr id="6178" name="Freeform 38"/>
            <p:cNvSpPr>
              <a:spLocks/>
            </p:cNvSpPr>
            <p:nvPr/>
          </p:nvSpPr>
          <p:spPr bwMode="auto">
            <a:xfrm>
              <a:off x="254" y="178"/>
              <a:ext cx="451" cy="267"/>
            </a:xfrm>
            <a:custGeom>
              <a:avLst/>
              <a:gdLst>
                <a:gd name="T0" fmla="*/ 450 w 458"/>
                <a:gd name="T1" fmla="*/ 0 h 265"/>
                <a:gd name="T2" fmla="*/ 0 w 458"/>
                <a:gd name="T3" fmla="*/ 247 h 265"/>
                <a:gd name="T4" fmla="*/ 0 60000 65536"/>
                <a:gd name="T5" fmla="*/ 0 60000 65536"/>
                <a:gd name="T6" fmla="*/ 0 w 458"/>
                <a:gd name="T7" fmla="*/ 0 h 265"/>
                <a:gd name="T8" fmla="*/ 458 w 458"/>
                <a:gd name="T9" fmla="*/ 265 h 2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8" h="265">
                  <a:moveTo>
                    <a:pt x="458" y="0"/>
                  </a:moveTo>
                  <a:lnTo>
                    <a:pt x="0" y="265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ash"/>
              <a:round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endParaRPr lang="zh-CN" altLang="en-US" sz="2100"/>
            </a:p>
          </p:txBody>
        </p:sp>
        <p:graphicFrame>
          <p:nvGraphicFramePr>
            <p:cNvPr id="6150" name="Object 39"/>
            <p:cNvGraphicFramePr>
              <a:graphicFrameLocks noChangeAspect="1"/>
            </p:cNvGraphicFramePr>
            <p:nvPr/>
          </p:nvGraphicFramePr>
          <p:xfrm>
            <a:off x="717" y="0"/>
            <a:ext cx="292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0" r:id="rId27" imgW="165417" imgH="228917" progId="Equation.3">
                    <p:embed/>
                  </p:oleObj>
                </mc:Choice>
                <mc:Fallback>
                  <p:oleObj r:id="rId27" imgW="165417" imgH="228917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" y="0"/>
                          <a:ext cx="292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9511977"/>
                </p:ext>
              </p:extLst>
            </p:nvPr>
          </p:nvGraphicFramePr>
          <p:xfrm>
            <a:off x="303" y="800"/>
            <a:ext cx="241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1" r:id="rId29" imgW="178040" imgH="216123" progId="Equation.3">
                    <p:embed/>
                  </p:oleObj>
                </mc:Choice>
                <mc:Fallback>
                  <p:oleObj r:id="rId29" imgW="178040" imgH="216123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800"/>
                          <a:ext cx="241" cy="292"/>
                        </a:xfrm>
                        <a:prstGeom prst="rect">
                          <a:avLst/>
                        </a:prstGeom>
                        <a:noFill/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2" name="Text Box 41"/>
          <p:cNvSpPr txBox="1">
            <a:spLocks noChangeArrowheads="1"/>
          </p:cNvSpPr>
          <p:nvPr/>
        </p:nvSpPr>
        <p:spPr bwMode="auto">
          <a:xfrm>
            <a:off x="7750492" y="2158365"/>
            <a:ext cx="37742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100" b="0" i="1">
                <a:solidFill>
                  <a:srgbClr val="CC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9F2B05-6C9A-4E91-81B5-0BD420B66BAF}" type="slidenum">
              <a:rPr lang="zh-CN" alt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179" name="Text Box 2"/>
          <p:cNvSpPr txBox="1">
            <a:spLocks noChangeArrowheads="1"/>
          </p:cNvSpPr>
          <p:nvPr/>
        </p:nvSpPr>
        <p:spPr bwMode="auto">
          <a:xfrm>
            <a:off x="632276" y="382028"/>
            <a:ext cx="323969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700">
                <a:solidFill>
                  <a:srgbClr val="CC0000"/>
                </a:solidFill>
              </a:rPr>
              <a:t>四、自然坐标系</a:t>
            </a:r>
            <a:endParaRPr kumimoji="0" lang="zh-CN" altLang="en-US" sz="2700">
              <a:solidFill>
                <a:srgbClr val="000066"/>
              </a:solidFill>
            </a:endParaRPr>
          </a:p>
        </p:txBody>
      </p:sp>
      <p:sp>
        <p:nvSpPr>
          <p:cNvPr id="7180" name="Line 4"/>
          <p:cNvSpPr>
            <a:spLocks noChangeShapeType="1"/>
          </p:cNvSpPr>
          <p:nvPr/>
        </p:nvSpPr>
        <p:spPr bwMode="auto">
          <a:xfrm flipH="1" flipV="1">
            <a:off x="7499020" y="1269887"/>
            <a:ext cx="436960" cy="91440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71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080816"/>
              </p:ext>
            </p:extLst>
          </p:nvPr>
        </p:nvGraphicFramePr>
        <p:xfrm>
          <a:off x="7587126" y="1092484"/>
          <a:ext cx="326231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4" r:id="rId4" imgW="127262" imgH="178040" progId="Equation.3">
                  <p:embed/>
                </p:oleObj>
              </mc:Choice>
              <mc:Fallback>
                <p:oleObj r:id="rId4" imgW="127262" imgH="178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7126" y="1092484"/>
                        <a:ext cx="326231" cy="422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Line 6"/>
          <p:cNvSpPr>
            <a:spLocks noChangeShapeType="1"/>
          </p:cNvSpPr>
          <p:nvPr/>
        </p:nvSpPr>
        <p:spPr bwMode="auto">
          <a:xfrm flipH="1" flipV="1">
            <a:off x="7734763" y="1754233"/>
            <a:ext cx="215504" cy="456248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>
              <a:ln w="7620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71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689221"/>
              </p:ext>
            </p:extLst>
          </p:nvPr>
        </p:nvGraphicFramePr>
        <p:xfrm>
          <a:off x="7834776" y="1700893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5" r:id="rId6" imgW="216123" imgH="330374" progId="Equation.3">
                  <p:embed/>
                </p:oleObj>
              </mc:Choice>
              <mc:Fallback>
                <p:oleObj r:id="rId6" imgW="216123" imgH="33037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4776" y="1700893"/>
                        <a:ext cx="28575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270436"/>
              </p:ext>
            </p:extLst>
          </p:nvPr>
        </p:nvGraphicFramePr>
        <p:xfrm>
          <a:off x="7668089" y="2321923"/>
          <a:ext cx="279797" cy="283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" r:id="rId8" imgW="432304" imgH="483127" progId="Equation.3">
                  <p:embed/>
                </p:oleObj>
              </mc:Choice>
              <mc:Fallback>
                <p:oleObj r:id="rId8" imgW="432304" imgH="48312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089" y="2321923"/>
                        <a:ext cx="279797" cy="2833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3" name="Group 10"/>
          <p:cNvGrpSpPr>
            <a:grpSpLocks/>
          </p:cNvGrpSpPr>
          <p:nvPr/>
        </p:nvGrpSpPr>
        <p:grpSpPr bwMode="auto">
          <a:xfrm>
            <a:off x="6111942" y="1673509"/>
            <a:ext cx="1934765" cy="1943100"/>
            <a:chOff x="0" y="0"/>
            <a:chExt cx="1625" cy="1632"/>
          </a:xfrm>
        </p:grpSpPr>
        <p:sp>
          <p:nvSpPr>
            <p:cNvPr id="7188" name="Oval 11"/>
            <p:cNvSpPr>
              <a:spLocks noChangeArrowheads="1"/>
            </p:cNvSpPr>
            <p:nvPr/>
          </p:nvSpPr>
          <p:spPr bwMode="auto">
            <a:xfrm>
              <a:off x="0" y="0"/>
              <a:ext cx="1625" cy="1632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624" y="81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37" r:id="rId10" imgW="165489" imgH="190900" progId="Equation.3">
                    <p:embed/>
                  </p:oleObj>
                </mc:Choice>
                <mc:Fallback>
                  <p:oleObj r:id="rId10" imgW="165489" imgH="190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816"/>
                          <a:ext cx="177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4" name="Text Box 13"/>
          <p:cNvSpPr txBox="1">
            <a:spLocks noChangeArrowheads="1"/>
          </p:cNvSpPr>
          <p:nvPr/>
        </p:nvSpPr>
        <p:spPr bwMode="auto">
          <a:xfrm>
            <a:off x="7991938" y="1967593"/>
            <a:ext cx="37742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100" b="0" i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7185" name="Line 14"/>
          <p:cNvSpPr>
            <a:spLocks noChangeShapeType="1"/>
          </p:cNvSpPr>
          <p:nvPr/>
        </p:nvSpPr>
        <p:spPr bwMode="auto">
          <a:xfrm flipH="1">
            <a:off x="7073967" y="2186668"/>
            <a:ext cx="864394" cy="540544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zh-CN" altLang="en-US" sz="2100"/>
          </a:p>
        </p:txBody>
      </p:sp>
      <p:sp>
        <p:nvSpPr>
          <p:cNvPr id="7186" name="Text Box 15"/>
          <p:cNvSpPr txBox="1">
            <a:spLocks noChangeArrowheads="1"/>
          </p:cNvSpPr>
          <p:nvPr/>
        </p:nvSpPr>
        <p:spPr bwMode="auto">
          <a:xfrm>
            <a:off x="7290661" y="2403362"/>
            <a:ext cx="2690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en-US" altLang="zh-CN" sz="2400" b="0" i="1"/>
              <a:t>r</a:t>
            </a:r>
          </a:p>
        </p:txBody>
      </p:sp>
      <p:sp>
        <p:nvSpPr>
          <p:cNvPr id="65552" name="Text Box 16"/>
          <p:cNvSpPr txBox="1">
            <a:spLocks noChangeArrowheads="1"/>
          </p:cNvSpPr>
          <p:nvPr/>
        </p:nvSpPr>
        <p:spPr bwMode="auto">
          <a:xfrm>
            <a:off x="632276" y="1019175"/>
            <a:ext cx="5130584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 dirty="0">
                <a:latin typeface="宋体" pitchFamily="2" charset="-122"/>
              </a:rPr>
              <a:t>    以动点</a:t>
            </a:r>
            <a:r>
              <a:rPr kumimoji="0" lang="en-US" altLang="zh-CN" sz="2400" b="0" i="1" dirty="0"/>
              <a:t>A</a:t>
            </a:r>
            <a:r>
              <a:rPr kumimoji="0" lang="zh-CN" altLang="en-US" sz="2400" dirty="0">
                <a:latin typeface="宋体" pitchFamily="2" charset="-122"/>
              </a:rPr>
              <a:t>为原点，以切向单位矢量   和法向单位矢量   建立的二维坐标系称为</a:t>
            </a:r>
            <a:r>
              <a:rPr kumimoji="0" lang="zh-CN" altLang="en-US" sz="2400" dirty="0">
                <a:solidFill>
                  <a:schemeClr val="hlink"/>
                </a:solidFill>
                <a:latin typeface="宋体" pitchFamily="2" charset="-122"/>
              </a:rPr>
              <a:t>自然坐标系．</a:t>
            </a:r>
          </a:p>
        </p:txBody>
      </p:sp>
      <p:graphicFrame>
        <p:nvGraphicFramePr>
          <p:cNvPr id="65553" name="Object 17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451193598"/>
              </p:ext>
            </p:extLst>
          </p:nvPr>
        </p:nvGraphicFramePr>
        <p:xfrm>
          <a:off x="1107176" y="1441813"/>
          <a:ext cx="329804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8" r:id="rId12" imgW="140199" imgH="229215" progId="Equation.3">
                  <p:embed/>
                </p:oleObj>
              </mc:Choice>
              <mc:Fallback>
                <p:oleObj r:id="rId12" imgW="140199" imgH="229215" progId="Equation.3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176" y="1441813"/>
                        <a:ext cx="329804" cy="540544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231025"/>
              </p:ext>
            </p:extLst>
          </p:nvPr>
        </p:nvGraphicFramePr>
        <p:xfrm>
          <a:off x="3695754" y="1544808"/>
          <a:ext cx="352425" cy="35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9" r:id="rId14" imgW="432304" imgH="483127" progId="Equation.3">
                  <p:embed/>
                </p:oleObj>
              </mc:Choice>
              <mc:Fallback>
                <p:oleObj r:id="rId14" imgW="432304" imgH="48312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54" y="1544808"/>
                        <a:ext cx="352425" cy="3559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186922"/>
              </p:ext>
            </p:extLst>
          </p:nvPr>
        </p:nvGraphicFramePr>
        <p:xfrm>
          <a:off x="1436980" y="2570419"/>
          <a:ext cx="270867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0" name="Equation" r:id="rId15" imgW="1041120" imgH="393480" progId="Equation.DSMT4">
                  <p:embed/>
                </p:oleObj>
              </mc:Choice>
              <mc:Fallback>
                <p:oleObj name="Equation" r:id="rId15" imgW="104112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80" y="2570419"/>
                        <a:ext cx="2708672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109908"/>
              </p:ext>
            </p:extLst>
          </p:nvPr>
        </p:nvGraphicFramePr>
        <p:xfrm>
          <a:off x="1436980" y="3604610"/>
          <a:ext cx="2972990" cy="96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41" name="Equation" r:id="rId17" imgW="1143000" imgH="419040" progId="Equation.DSMT4">
                  <p:embed/>
                </p:oleObj>
              </mc:Choice>
              <mc:Fallback>
                <p:oleObj name="Equation" r:id="rId17" imgW="1143000" imgH="41904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80" y="3604610"/>
                        <a:ext cx="2972990" cy="963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Freeform 8"/>
          <p:cNvSpPr>
            <a:spLocks/>
          </p:cNvSpPr>
          <p:nvPr/>
        </p:nvSpPr>
        <p:spPr bwMode="auto">
          <a:xfrm>
            <a:off x="7565218" y="2185001"/>
            <a:ext cx="382667" cy="234077"/>
          </a:xfrm>
          <a:custGeom>
            <a:avLst/>
            <a:gdLst>
              <a:gd name="T0" fmla="*/ 866933839 w 344"/>
              <a:gd name="T1" fmla="*/ 0 h 194"/>
              <a:gd name="T2" fmla="*/ 0 w 344"/>
              <a:gd name="T3" fmla="*/ 488910357 h 194"/>
              <a:gd name="T4" fmla="*/ 0 60000 65536"/>
              <a:gd name="T5" fmla="*/ 0 60000 65536"/>
              <a:gd name="T6" fmla="*/ 0 w 344"/>
              <a:gd name="T7" fmla="*/ 0 h 194"/>
              <a:gd name="T8" fmla="*/ 344 w 344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4" h="194">
                <a:moveTo>
                  <a:pt x="344" y="0"/>
                </a:moveTo>
                <a:lnTo>
                  <a:pt x="0" y="194"/>
                </a:lnTo>
              </a:path>
            </a:pathLst>
          </a:custGeom>
          <a:noFill/>
          <a:ln w="38100">
            <a:solidFill>
              <a:srgbClr val="C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A6B592-F928-4FA1-AC3B-DACDCAA14130}" type="slidenum">
              <a:rPr lang="zh-CN" alt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8203" name="Text Box 2"/>
          <p:cNvSpPr txBox="1">
            <a:spLocks noChangeArrowheads="1"/>
          </p:cNvSpPr>
          <p:nvPr/>
        </p:nvSpPr>
        <p:spPr bwMode="auto">
          <a:xfrm>
            <a:off x="1030342" y="885327"/>
            <a:ext cx="318611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charset="0"/>
              <a:buNone/>
            </a:pPr>
            <a:r>
              <a:rPr kumimoji="0" lang="en-US" altLang="zh-CN" sz="2400">
                <a:solidFill>
                  <a:srgbClr val="CC0000"/>
                </a:solidFill>
              </a:rPr>
              <a:t>1</a:t>
            </a:r>
            <a:r>
              <a:rPr kumimoji="0" lang="en-US" altLang="zh-CN" sz="2400">
                <a:solidFill>
                  <a:srgbClr val="C00000"/>
                </a:solidFill>
              </a:rPr>
              <a:t>.</a:t>
            </a:r>
            <a:r>
              <a:rPr kumimoji="0" lang="en-US" altLang="zh-CN" sz="2400">
                <a:solidFill>
                  <a:srgbClr val="FF0000"/>
                </a:solidFill>
              </a:rPr>
              <a:t> </a:t>
            </a:r>
            <a:r>
              <a:rPr kumimoji="0" lang="zh-CN" altLang="en-US" sz="2400">
                <a:solidFill>
                  <a:srgbClr val="000000"/>
                </a:solidFill>
              </a:rPr>
              <a:t>匀速率圆周运动</a:t>
            </a:r>
          </a:p>
        </p:txBody>
      </p:sp>
      <p:sp>
        <p:nvSpPr>
          <p:cNvPr id="8204" name="Text Box 3"/>
          <p:cNvSpPr txBox="1">
            <a:spLocks noChangeArrowheads="1"/>
          </p:cNvSpPr>
          <p:nvPr/>
        </p:nvSpPr>
        <p:spPr bwMode="auto">
          <a:xfrm>
            <a:off x="630635" y="376364"/>
            <a:ext cx="650676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700">
                <a:solidFill>
                  <a:srgbClr val="CC0000"/>
                </a:solidFill>
              </a:rPr>
              <a:t>五、匀速率圆周运动和匀变速率圆周运动</a:t>
            </a:r>
          </a:p>
        </p:txBody>
      </p:sp>
      <p:graphicFrame>
        <p:nvGraphicFramePr>
          <p:cNvPr id="66564" name="Object 4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88414751"/>
              </p:ext>
            </p:extLst>
          </p:nvPr>
        </p:nvGraphicFramePr>
        <p:xfrm>
          <a:off x="4946451" y="4055865"/>
          <a:ext cx="174902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8" r:id="rId3" imgW="737237" imgH="229016" progId="Equation.3">
                  <p:embed/>
                </p:oleObj>
              </mc:Choice>
              <mc:Fallback>
                <p:oleObj r:id="rId3" imgW="737237" imgH="229016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451" y="4055865"/>
                        <a:ext cx="1749028" cy="5429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33850297"/>
              </p:ext>
            </p:extLst>
          </p:nvPr>
        </p:nvGraphicFramePr>
        <p:xfrm>
          <a:off x="3282552" y="1451814"/>
          <a:ext cx="2538413" cy="55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9" r:id="rId5" imgW="1092517" imgH="241617" progId="Equation.3">
                  <p:embed/>
                </p:oleObj>
              </mc:Choice>
              <mc:Fallback>
                <p:oleObj r:id="rId5" imgW="1092517" imgH="241617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552" y="1451814"/>
                        <a:ext cx="2538413" cy="559594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90657609"/>
              </p:ext>
            </p:extLst>
          </p:nvPr>
        </p:nvGraphicFramePr>
        <p:xfrm>
          <a:off x="1282187" y="2383625"/>
          <a:ext cx="2365998" cy="391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0" r:id="rId7" imgW="2461980" imgH="406365" progId="Equation.3">
                  <p:embed/>
                </p:oleObj>
              </mc:Choice>
              <mc:Fallback>
                <p:oleObj r:id="rId7" imgW="2461980" imgH="406365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187" y="2383625"/>
                        <a:ext cx="2365998" cy="391057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370409" y="1537539"/>
            <a:ext cx="1653778" cy="461814"/>
            <a:chOff x="0" y="0"/>
            <a:chExt cx="1434" cy="390"/>
          </a:xfrm>
        </p:grpSpPr>
        <p:graphicFrame>
          <p:nvGraphicFramePr>
            <p:cNvPr id="8201" name="Object 8"/>
            <p:cNvGraphicFramePr>
              <a:graphicFrameLocks noChangeAspect="1"/>
            </p:cNvGraphicFramePr>
            <p:nvPr/>
          </p:nvGraphicFramePr>
          <p:xfrm>
            <a:off x="0" y="73"/>
            <a:ext cx="51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1" r:id="rId9" imgW="267017" imgH="140017" progId="Equation.3">
                    <p:embed/>
                  </p:oleObj>
                </mc:Choice>
                <mc:Fallback>
                  <p:oleObj r:id="rId9" imgW="267017" imgH="140017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73"/>
                          <a:ext cx="517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4" name="Text Box 9"/>
            <p:cNvSpPr txBox="1">
              <a:spLocks noChangeArrowheads="1"/>
            </p:cNvSpPr>
            <p:nvPr/>
          </p:nvSpPr>
          <p:spPr bwMode="auto">
            <a:xfrm>
              <a:off x="431" y="0"/>
              <a:ext cx="100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</a:rPr>
                <a:t>常量，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290918" y="4041577"/>
            <a:ext cx="2339578" cy="490539"/>
            <a:chOff x="0" y="12"/>
            <a:chExt cx="1965" cy="412"/>
          </a:xfrm>
        </p:grpSpPr>
        <p:sp>
          <p:nvSpPr>
            <p:cNvPr id="8213" name="Text Box 11"/>
            <p:cNvSpPr txBox="1">
              <a:spLocks noChangeArrowheads="1"/>
            </p:cNvSpPr>
            <p:nvPr/>
          </p:nvSpPr>
          <p:spPr bwMode="auto">
            <a:xfrm>
              <a:off x="0" y="12"/>
              <a:ext cx="195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</a:rPr>
                <a:t>设</a:t>
              </a:r>
              <a:r>
                <a:rPr kumimoji="0" lang="zh-CN" altLang="en-US" sz="2400" smtClean="0">
                  <a:solidFill>
                    <a:srgbClr val="000000"/>
                  </a:solidFill>
                </a:rPr>
                <a:t>          </a:t>
              </a:r>
              <a:r>
                <a:rPr kumimoji="0" lang="zh-CN" altLang="en-US" sz="2400">
                  <a:solidFill>
                    <a:srgbClr val="000000"/>
                  </a:solidFill>
                </a:rPr>
                <a:t>时</a:t>
              </a:r>
              <a:r>
                <a:rPr kumimoji="0" lang="en-US" altLang="zh-CN" sz="2400">
                  <a:solidFill>
                    <a:srgbClr val="000000"/>
                  </a:solidFill>
                </a:rPr>
                <a:t>,</a:t>
              </a:r>
            </a:p>
          </p:txBody>
        </p:sp>
        <p:graphicFrame>
          <p:nvGraphicFramePr>
            <p:cNvPr id="819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658943"/>
                </p:ext>
              </p:extLst>
            </p:nvPr>
          </p:nvGraphicFramePr>
          <p:xfrm>
            <a:off x="338" y="24"/>
            <a:ext cx="655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2" r:id="rId11" imgW="317542" imgH="177963" progId="Equation.3">
                    <p:embed/>
                  </p:oleObj>
                </mc:Choice>
                <mc:Fallback>
                  <p:oleObj r:id="rId11" imgW="317542" imgH="177963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" y="24"/>
                          <a:ext cx="655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0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1610317"/>
                </p:ext>
              </p:extLst>
            </p:nvPr>
          </p:nvGraphicFramePr>
          <p:xfrm>
            <a:off x="1350" y="48"/>
            <a:ext cx="61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3" name="Equation" r:id="rId13" imgW="571320" imgH="330120" progId="Equation.DSMT4">
                    <p:embed/>
                  </p:oleObj>
                </mc:Choice>
                <mc:Fallback>
                  <p:oleObj name="Equation" r:id="rId13" imgW="571320" imgH="33012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0" y="48"/>
                          <a:ext cx="615" cy="37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2892027" y="1518614"/>
            <a:ext cx="539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/>
              <a:t>故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336361" y="3008354"/>
            <a:ext cx="1430804" cy="732012"/>
            <a:chOff x="0" y="73"/>
            <a:chExt cx="1249" cy="639"/>
          </a:xfrm>
        </p:grpSpPr>
        <p:graphicFrame>
          <p:nvGraphicFramePr>
            <p:cNvPr id="819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5601057"/>
                </p:ext>
              </p:extLst>
            </p:nvPr>
          </p:nvGraphicFramePr>
          <p:xfrm>
            <a:off x="413" y="73"/>
            <a:ext cx="836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4" name="Equation" r:id="rId15" imgW="507960" imgH="393480" progId="Equation.DSMT4">
                    <p:embed/>
                  </p:oleObj>
                </mc:Choice>
                <mc:Fallback>
                  <p:oleObj name="Equation" r:id="rId15" imgW="507960" imgH="39348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" y="73"/>
                          <a:ext cx="836" cy="63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Text Box 17"/>
            <p:cNvSpPr txBox="1">
              <a:spLocks noChangeArrowheads="1"/>
            </p:cNvSpPr>
            <p:nvPr/>
          </p:nvSpPr>
          <p:spPr bwMode="auto">
            <a:xfrm>
              <a:off x="0" y="187"/>
              <a:ext cx="45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/>
                <a:t>由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789319" y="3159058"/>
            <a:ext cx="1622822" cy="461962"/>
            <a:chOff x="0" y="0"/>
            <a:chExt cx="1363" cy="388"/>
          </a:xfrm>
        </p:grpSpPr>
        <p:sp>
          <p:nvSpPr>
            <p:cNvPr id="8211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45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 smtClean="0"/>
                <a:t>得</a:t>
              </a:r>
              <a:endParaRPr kumimoji="0" lang="zh-CN" altLang="en-US" sz="2400"/>
            </a:p>
          </p:txBody>
        </p:sp>
        <p:graphicFrame>
          <p:nvGraphicFramePr>
            <p:cNvPr id="8197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0487823"/>
                </p:ext>
              </p:extLst>
            </p:nvPr>
          </p:nvGraphicFramePr>
          <p:xfrm>
            <a:off x="356" y="51"/>
            <a:ext cx="100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5" name="Equation" r:id="rId17" imgW="634680" imgH="203040" progId="Equation.DSMT4">
                    <p:embed/>
                  </p:oleObj>
                </mc:Choice>
                <mc:Fallback>
                  <p:oleObj name="Equation" r:id="rId17" imgW="634680" imgH="2030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" y="51"/>
                          <a:ext cx="1007" cy="31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81" name="Text Box 21"/>
          <p:cNvSpPr txBox="1">
            <a:spLocks noChangeArrowheads="1"/>
          </p:cNvSpPr>
          <p:nvPr/>
        </p:nvSpPr>
        <p:spPr bwMode="auto">
          <a:xfrm>
            <a:off x="3942754" y="4068963"/>
            <a:ext cx="13275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None/>
            </a:pPr>
            <a:r>
              <a:rPr kumimoji="0" lang="zh-CN" altLang="en-US" sz="2400"/>
              <a:t>可得：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4" grpId="0" autoUpdateAnimBg="0"/>
      <p:bldP spid="6658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F9C078-63F6-40F9-933E-9005839CD3FF}" type="slidenum">
              <a:rPr lang="zh-CN" alt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9229" name="Rectangle 2"/>
          <p:cNvSpPr>
            <a:spLocks noChangeArrowheads="1"/>
          </p:cNvSpPr>
          <p:nvPr/>
        </p:nvSpPr>
        <p:spPr bwMode="auto">
          <a:xfrm>
            <a:off x="697111" y="440830"/>
            <a:ext cx="34301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kumimoji="0" lang="en-US" altLang="zh-CN" sz="2400">
                <a:solidFill>
                  <a:srgbClr val="CC0000"/>
                </a:solidFill>
              </a:rPr>
              <a:t>2</a:t>
            </a:r>
            <a:r>
              <a:rPr kumimoji="0" lang="en-US" altLang="zh-CN" sz="2400">
                <a:solidFill>
                  <a:srgbClr val="C00000"/>
                </a:solidFill>
              </a:rPr>
              <a:t>. </a:t>
            </a:r>
            <a:r>
              <a:rPr kumimoji="0" lang="zh-CN" altLang="en-US" sz="2400">
                <a:solidFill>
                  <a:srgbClr val="000000"/>
                </a:solidFill>
              </a:rPr>
              <a:t>匀变速率圆周运动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23832" y="1713427"/>
            <a:ext cx="2284079" cy="814212"/>
            <a:chOff x="0" y="0"/>
            <a:chExt cx="2132" cy="760"/>
          </a:xfrm>
        </p:grpSpPr>
        <p:graphicFrame>
          <p:nvGraphicFramePr>
            <p:cNvPr id="9227" name="Object 4"/>
            <p:cNvGraphicFramePr>
              <a:graphicFrameLocks noChangeAspect="1"/>
            </p:cNvGraphicFramePr>
            <p:nvPr/>
          </p:nvGraphicFramePr>
          <p:xfrm>
            <a:off x="0" y="0"/>
            <a:ext cx="1254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19" r:id="rId3" imgW="648017" imgH="394017" progId="Equation.3">
                    <p:embed/>
                  </p:oleObj>
                </mc:Choice>
                <mc:Fallback>
                  <p:oleObj r:id="rId3" imgW="648017" imgH="39401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254" cy="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Text Box 5"/>
            <p:cNvSpPr txBox="1">
              <a:spLocks noChangeArrowheads="1"/>
            </p:cNvSpPr>
            <p:nvPr/>
          </p:nvSpPr>
          <p:spPr bwMode="auto">
            <a:xfrm>
              <a:off x="1134" y="187"/>
              <a:ext cx="998" cy="4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</a:rPr>
                <a:t>常</a:t>
              </a:r>
              <a:r>
                <a:rPr kumimoji="0" lang="zh-CN" altLang="en-US" sz="2400" smtClean="0">
                  <a:solidFill>
                    <a:srgbClr val="000000"/>
                  </a:solidFill>
                </a:rPr>
                <a:t>量</a:t>
              </a: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9232" name="Group 11"/>
          <p:cNvGrpSpPr>
            <a:grpSpLocks/>
          </p:cNvGrpSpPr>
          <p:nvPr/>
        </p:nvGrpSpPr>
        <p:grpSpPr bwMode="auto">
          <a:xfrm>
            <a:off x="1092994" y="1022806"/>
            <a:ext cx="1565672" cy="461963"/>
            <a:chOff x="0" y="0"/>
            <a:chExt cx="1315" cy="388"/>
          </a:xfrm>
        </p:grpSpPr>
        <p:graphicFrame>
          <p:nvGraphicFramePr>
            <p:cNvPr id="9224" name="Object 12"/>
            <p:cNvGraphicFramePr>
              <a:graphicFrameLocks noChangeAspect="1"/>
            </p:cNvGraphicFramePr>
            <p:nvPr/>
          </p:nvGraphicFramePr>
          <p:xfrm>
            <a:off x="0" y="91"/>
            <a:ext cx="541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0" r:id="rId5" imgW="280081" imgH="140199" progId="Equation.3">
                    <p:embed/>
                  </p:oleObj>
                </mc:Choice>
                <mc:Fallback>
                  <p:oleObj r:id="rId5" imgW="280081" imgH="14019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1"/>
                          <a:ext cx="541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0" name="Text Box 13"/>
            <p:cNvSpPr txBox="1">
              <a:spLocks noChangeArrowheads="1"/>
            </p:cNvSpPr>
            <p:nvPr/>
          </p:nvSpPr>
          <p:spPr bwMode="auto">
            <a:xfrm>
              <a:off x="408" y="0"/>
              <a:ext cx="90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</a:rPr>
                <a:t>常量，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571749" y="950177"/>
            <a:ext cx="3111104" cy="559594"/>
            <a:chOff x="0" y="0"/>
            <a:chExt cx="2613" cy="470"/>
          </a:xfrm>
        </p:grpSpPr>
        <p:graphicFrame>
          <p:nvGraphicFramePr>
            <p:cNvPr id="9223" name="Object 15"/>
            <p:cNvGraphicFramePr>
              <a:graphicFrameLocks noChangeAspect="1"/>
            </p:cNvGraphicFramePr>
            <p:nvPr/>
          </p:nvGraphicFramePr>
          <p:xfrm>
            <a:off x="332" y="0"/>
            <a:ext cx="2281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1" r:id="rId7" imgW="1168717" imgH="241617" progId="Equation.3">
                    <p:embed/>
                  </p:oleObj>
                </mc:Choice>
                <mc:Fallback>
                  <p:oleObj r:id="rId7" imgW="1168717" imgH="24161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" y="0"/>
                          <a:ext cx="2281" cy="470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9" name="Text Box 16"/>
            <p:cNvSpPr txBox="1">
              <a:spLocks noChangeArrowheads="1"/>
            </p:cNvSpPr>
            <p:nvPr/>
          </p:nvSpPr>
          <p:spPr bwMode="auto">
            <a:xfrm>
              <a:off x="0" y="63"/>
              <a:ext cx="45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/>
                <a:t>故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967582" y="4106509"/>
            <a:ext cx="2574131" cy="461962"/>
            <a:chOff x="-1082" y="421"/>
            <a:chExt cx="2162" cy="388"/>
          </a:xfrm>
        </p:grpSpPr>
        <p:graphicFrame>
          <p:nvGraphicFramePr>
            <p:cNvPr id="922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1024146"/>
                </p:ext>
              </p:extLst>
            </p:nvPr>
          </p:nvGraphicFramePr>
          <p:xfrm>
            <a:off x="-297" y="518"/>
            <a:ext cx="137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2" r:id="rId9" imgW="1625212" imgH="381152" progId="Equation.3">
                    <p:embed/>
                  </p:oleObj>
                </mc:Choice>
                <mc:Fallback>
                  <p:oleObj r:id="rId9" imgW="1625212" imgH="38115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97" y="518"/>
                          <a:ext cx="1377" cy="29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7" name="Text Box 23"/>
            <p:cNvSpPr txBox="1">
              <a:spLocks noChangeArrowheads="1"/>
            </p:cNvSpPr>
            <p:nvPr/>
          </p:nvSpPr>
          <p:spPr bwMode="auto">
            <a:xfrm>
              <a:off x="-1082" y="421"/>
              <a:ext cx="113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/>
                <a:t>可得：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68813" y="2739743"/>
            <a:ext cx="1898224" cy="406004"/>
            <a:chOff x="1068813" y="2739743"/>
            <a:chExt cx="1898224" cy="406004"/>
          </a:xfrm>
        </p:grpSpPr>
        <p:graphicFrame>
          <p:nvGraphicFramePr>
            <p:cNvPr id="6759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0835099"/>
                </p:ext>
              </p:extLst>
            </p:nvPr>
          </p:nvGraphicFramePr>
          <p:xfrm>
            <a:off x="1522808" y="2739743"/>
            <a:ext cx="1444229" cy="406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3" name="Equation" r:id="rId11" imgW="609124" imgH="177886" progId="Equation.DSMT4">
                    <p:embed/>
                  </p:oleObj>
                </mc:Choice>
                <mc:Fallback>
                  <p:oleObj name="Equation" r:id="rId11" imgW="609124" imgH="177886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2808" y="2739743"/>
                          <a:ext cx="1444229" cy="4060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右箭头 3"/>
            <p:cNvSpPr/>
            <p:nvPr/>
          </p:nvSpPr>
          <p:spPr bwMode="auto">
            <a:xfrm>
              <a:off x="1068813" y="2854661"/>
              <a:ext cx="428172" cy="212085"/>
            </a:xfrm>
            <a:prstGeom prst="rightArrow">
              <a:avLst/>
            </a:prstGeom>
            <a:solidFill>
              <a:srgbClr val="A50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16186" y="3468080"/>
            <a:ext cx="3484960" cy="487018"/>
            <a:chOff x="916186" y="3393769"/>
            <a:chExt cx="3484960" cy="487018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916186" y="3393769"/>
              <a:ext cx="3484960" cy="461962"/>
              <a:chOff x="0" y="0"/>
              <a:chExt cx="2927" cy="388"/>
            </a:xfrm>
          </p:grpSpPr>
          <p:sp>
            <p:nvSpPr>
              <p:cNvPr id="9241" name="Text Box 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927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zh-CN" altLang="en-US" sz="2400" smtClean="0">
                    <a:solidFill>
                      <a:srgbClr val="000000"/>
                    </a:solidFill>
                  </a:rPr>
                  <a:t>设         </a:t>
                </a:r>
                <a:r>
                  <a:rPr kumimoji="0" lang="zh-CN" altLang="en-US" sz="2400">
                    <a:solidFill>
                      <a:srgbClr val="000000"/>
                    </a:solidFill>
                  </a:rPr>
                  <a:t>时</a:t>
                </a:r>
                <a:r>
                  <a:rPr kumimoji="0" lang="en-US" altLang="zh-CN" sz="2400">
                    <a:solidFill>
                      <a:srgbClr val="000000"/>
                    </a:solidFill>
                  </a:rPr>
                  <a:t>,</a:t>
                </a:r>
              </a:p>
            </p:txBody>
          </p:sp>
          <p:graphicFrame>
            <p:nvGraphicFramePr>
              <p:cNvPr id="9225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5449840"/>
                  </p:ext>
                </p:extLst>
              </p:nvPr>
            </p:nvGraphicFramePr>
            <p:xfrm>
              <a:off x="308" y="43"/>
              <a:ext cx="512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24" r:id="rId13" imgW="317542" imgH="177963" progId="Equation.3">
                      <p:embed/>
                    </p:oleObj>
                  </mc:Choice>
                  <mc:Fallback>
                    <p:oleObj r:id="rId13" imgW="317542" imgH="177963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" y="43"/>
                            <a:ext cx="512" cy="30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2621831"/>
                </p:ext>
              </p:extLst>
            </p:nvPr>
          </p:nvGraphicFramePr>
          <p:xfrm>
            <a:off x="2387283" y="3499787"/>
            <a:ext cx="809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5" name="Equation" r:id="rId15" imgW="685800" imgH="279360" progId="Equation.DSMT4">
                    <p:embed/>
                  </p:oleObj>
                </mc:Choice>
                <mc:Fallback>
                  <p:oleObj name="Equation" r:id="rId15" imgW="685800" imgH="279360" progId="Equation.DSMT4">
                    <p:embed/>
                    <p:pic>
                      <p:nvPicPr>
                        <p:cNvPr id="922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7283" y="3499787"/>
                          <a:ext cx="80962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4401146" y="1713427"/>
            <a:ext cx="1933865" cy="3206916"/>
            <a:chOff x="4401146" y="1713427"/>
            <a:chExt cx="1933865" cy="3206916"/>
          </a:xfrm>
        </p:grpSpPr>
        <p:cxnSp>
          <p:nvCxnSpPr>
            <p:cNvPr id="12" name="直接连接符 11"/>
            <p:cNvCxnSpPr/>
            <p:nvPr/>
          </p:nvCxnSpPr>
          <p:spPr bwMode="auto">
            <a:xfrm>
              <a:off x="4401146" y="1913766"/>
              <a:ext cx="0" cy="3006577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3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1223803"/>
                </p:ext>
              </p:extLst>
            </p:nvPr>
          </p:nvGraphicFramePr>
          <p:xfrm>
            <a:off x="5328883" y="1713427"/>
            <a:ext cx="1006128" cy="772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6" name="Equation" r:id="rId17" imgW="507960" imgH="393480" progId="Equation.DSMT4">
                    <p:embed/>
                  </p:oleObj>
                </mc:Choice>
                <mc:Fallback>
                  <p:oleObj name="Equation" r:id="rId17" imgW="507960" imgH="393480" progId="Equation.DSMT4">
                    <p:embed/>
                    <p:pic>
                      <p:nvPicPr>
                        <p:cNvPr id="6760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883" y="1713427"/>
                          <a:ext cx="1006128" cy="77290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5345338" y="2724266"/>
            <a:ext cx="1926318" cy="404446"/>
            <a:chOff x="5345338" y="2724266"/>
            <a:chExt cx="1926318" cy="404446"/>
          </a:xfrm>
        </p:grpSpPr>
        <p:graphicFrame>
          <p:nvGraphicFramePr>
            <p:cNvPr id="6760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6691883"/>
                </p:ext>
              </p:extLst>
            </p:nvPr>
          </p:nvGraphicFramePr>
          <p:xfrm>
            <a:off x="5853337" y="2724266"/>
            <a:ext cx="1418319" cy="404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7" r:id="rId19" imgW="660717" imgH="190817" progId="Equation.3">
                    <p:embed/>
                  </p:oleObj>
                </mc:Choice>
                <mc:Fallback>
                  <p:oleObj r:id="rId19" imgW="660717" imgH="19081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3337" y="2724266"/>
                          <a:ext cx="1418319" cy="40444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右箭头 37"/>
            <p:cNvSpPr/>
            <p:nvPr/>
          </p:nvSpPr>
          <p:spPr bwMode="auto">
            <a:xfrm>
              <a:off x="5345338" y="2825633"/>
              <a:ext cx="428172" cy="212085"/>
            </a:xfrm>
            <a:prstGeom prst="rightArrow">
              <a:avLst/>
            </a:prstGeom>
            <a:solidFill>
              <a:srgbClr val="A5002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134373" y="3958429"/>
            <a:ext cx="3240007" cy="758122"/>
            <a:chOff x="5134373" y="3878602"/>
            <a:chExt cx="3240007" cy="758122"/>
          </a:xfrm>
        </p:grpSpPr>
        <p:graphicFrame>
          <p:nvGraphicFramePr>
            <p:cNvPr id="2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1979818"/>
                </p:ext>
              </p:extLst>
            </p:nvPr>
          </p:nvGraphicFramePr>
          <p:xfrm>
            <a:off x="6050360" y="3878602"/>
            <a:ext cx="2324020" cy="758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28" r:id="rId21" imgW="1244917" imgH="394017" progId="Equation.3">
                    <p:embed/>
                  </p:oleObj>
                </mc:Choice>
                <mc:Fallback>
                  <p:oleObj r:id="rId21" imgW="1244917" imgH="394017" progId="Equation.3">
                    <p:embed/>
                    <p:pic>
                      <p:nvPicPr>
                        <p:cNvPr id="922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0360" y="3878602"/>
                          <a:ext cx="2324020" cy="75812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23"/>
            <p:cNvSpPr txBox="1">
              <a:spLocks noChangeArrowheads="1"/>
            </p:cNvSpPr>
            <p:nvPr/>
          </p:nvSpPr>
          <p:spPr bwMode="auto">
            <a:xfrm>
              <a:off x="5134373" y="3998160"/>
              <a:ext cx="1350169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/>
                <a:t>可得：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001957" y="3466339"/>
            <a:ext cx="3484960" cy="508444"/>
            <a:chOff x="916186" y="3393769"/>
            <a:chExt cx="3484960" cy="508444"/>
          </a:xfrm>
        </p:grpSpPr>
        <p:grpSp>
          <p:nvGrpSpPr>
            <p:cNvPr id="41" name="Group 7"/>
            <p:cNvGrpSpPr>
              <a:grpSpLocks/>
            </p:cNvGrpSpPr>
            <p:nvPr/>
          </p:nvGrpSpPr>
          <p:grpSpPr bwMode="auto">
            <a:xfrm>
              <a:off x="916186" y="3393769"/>
              <a:ext cx="3484960" cy="461962"/>
              <a:chOff x="0" y="0"/>
              <a:chExt cx="2927" cy="388"/>
            </a:xfrm>
          </p:grpSpPr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2927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zh-CN" altLang="en-US" sz="2400" smtClean="0">
                    <a:solidFill>
                      <a:srgbClr val="000000"/>
                    </a:solidFill>
                  </a:rPr>
                  <a:t>设         </a:t>
                </a:r>
                <a:r>
                  <a:rPr kumimoji="0" lang="zh-CN" altLang="en-US" sz="2400">
                    <a:solidFill>
                      <a:srgbClr val="000000"/>
                    </a:solidFill>
                  </a:rPr>
                  <a:t>时</a:t>
                </a:r>
                <a:r>
                  <a:rPr kumimoji="0" lang="en-US" altLang="zh-CN" sz="2400">
                    <a:solidFill>
                      <a:srgbClr val="000000"/>
                    </a:solidFill>
                  </a:rPr>
                  <a:t>,</a:t>
                </a:r>
              </a:p>
            </p:txBody>
          </p:sp>
          <p:graphicFrame>
            <p:nvGraphicFramePr>
              <p:cNvPr id="44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5449840"/>
                  </p:ext>
                </p:extLst>
              </p:nvPr>
            </p:nvGraphicFramePr>
            <p:xfrm>
              <a:off x="308" y="43"/>
              <a:ext cx="512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829" r:id="rId13" imgW="317542" imgH="177963" progId="Equation.3">
                      <p:embed/>
                    </p:oleObj>
                  </mc:Choice>
                  <mc:Fallback>
                    <p:oleObj r:id="rId13" imgW="317542" imgH="177963" progId="Equation.3">
                      <p:embed/>
                      <p:pic>
                        <p:nvPicPr>
                          <p:cNvPr id="9225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" y="43"/>
                            <a:ext cx="512" cy="30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5669483"/>
                </p:ext>
              </p:extLst>
            </p:nvPr>
          </p:nvGraphicFramePr>
          <p:xfrm>
            <a:off x="2460444" y="3484763"/>
            <a:ext cx="629136" cy="417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30" name="Equation" r:id="rId23" imgW="571320" imgH="330120" progId="Equation.DSMT4">
                    <p:embed/>
                  </p:oleObj>
                </mc:Choice>
                <mc:Fallback>
                  <p:oleObj name="Equation" r:id="rId23" imgW="571320" imgH="330120" progId="Equation.DSMT4">
                    <p:embed/>
                    <p:pic>
                      <p:nvPicPr>
                        <p:cNvPr id="2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444" y="3484763"/>
                          <a:ext cx="629136" cy="41745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20BE2D-3C7A-40BB-BDAE-DB3D8ECC1FEC}" type="slidenum">
              <a:rPr lang="zh-CN" alt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0249" name="Rectangle 2"/>
          <p:cNvSpPr>
            <a:spLocks noChangeArrowheads="1"/>
          </p:cNvSpPr>
          <p:nvPr/>
        </p:nvSpPr>
        <p:spPr bwMode="auto">
          <a:xfrm>
            <a:off x="4096941" y="627460"/>
            <a:ext cx="3661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/>
              <a:t>与匀变速率直线运动类比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3306366" y="1778852"/>
          <a:ext cx="3209925" cy="89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" r:id="rId3" imgW="1244917" imgH="394017" progId="Equation.3">
                  <p:embed/>
                </p:oleObj>
              </mc:Choice>
              <mc:Fallback>
                <p:oleObj r:id="rId3" imgW="1244917" imgH="3940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366" y="1778852"/>
                        <a:ext cx="3209925" cy="894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"/>
          <p:cNvGraphicFramePr>
            <a:graphicFrameLocks noChangeAspect="1"/>
          </p:cNvGraphicFramePr>
          <p:nvPr/>
        </p:nvGraphicFramePr>
        <p:xfrm>
          <a:off x="3389710" y="1448942"/>
          <a:ext cx="1806178" cy="34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6" r:id="rId5" imgW="1625212" imgH="381152" progId="Equation.3">
                  <p:embed/>
                </p:oleObj>
              </mc:Choice>
              <mc:Fallback>
                <p:oleObj r:id="rId5" imgW="1625212" imgH="38115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710" y="1448942"/>
                        <a:ext cx="1806178" cy="3464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AutoShape 6"/>
          <p:cNvSpPr>
            <a:spLocks/>
          </p:cNvSpPr>
          <p:nvPr/>
        </p:nvSpPr>
        <p:spPr bwMode="auto">
          <a:xfrm>
            <a:off x="3198019" y="1404938"/>
            <a:ext cx="161925" cy="1026319"/>
          </a:xfrm>
          <a:prstGeom prst="leftBrace">
            <a:avLst>
              <a:gd name="adj1" fmla="val 52819"/>
              <a:gd name="adj2" fmla="val 49019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0251" name="Rectangle 7"/>
          <p:cNvSpPr>
            <a:spLocks noChangeArrowheads="1"/>
          </p:cNvSpPr>
          <p:nvPr/>
        </p:nvSpPr>
        <p:spPr bwMode="auto">
          <a:xfrm>
            <a:off x="1656160" y="627460"/>
            <a:ext cx="34301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/>
              <a:t>匀变速率圆周运动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006329" y="2884885"/>
            <a:ext cx="3207544" cy="1631156"/>
            <a:chOff x="3006329" y="2884885"/>
            <a:chExt cx="3207544" cy="1631156"/>
          </a:xfrm>
        </p:grpSpPr>
        <p:grpSp>
          <p:nvGrpSpPr>
            <p:cNvPr id="10252" name="Group 8"/>
            <p:cNvGrpSpPr>
              <a:grpSpLocks/>
            </p:cNvGrpSpPr>
            <p:nvPr/>
          </p:nvGrpSpPr>
          <p:grpSpPr bwMode="auto">
            <a:xfrm>
              <a:off x="3006329" y="2884885"/>
              <a:ext cx="3207544" cy="1631156"/>
              <a:chOff x="0" y="57"/>
              <a:chExt cx="2694" cy="1370"/>
            </a:xfrm>
          </p:grpSpPr>
          <p:sp>
            <p:nvSpPr>
              <p:cNvPr id="10254" name="Rectangle 9"/>
              <p:cNvSpPr>
                <a:spLocks noChangeArrowheads="1"/>
              </p:cNvSpPr>
              <p:nvPr/>
            </p:nvSpPr>
            <p:spPr bwMode="auto">
              <a:xfrm>
                <a:off x="0" y="57"/>
                <a:ext cx="2694" cy="1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10245" name="Object 10"/>
              <p:cNvGraphicFramePr>
                <a:graphicFrameLocks noChangeAspect="1"/>
              </p:cNvGraphicFramePr>
              <p:nvPr/>
            </p:nvGraphicFramePr>
            <p:xfrm>
              <a:off x="351" y="134"/>
              <a:ext cx="1481" cy="4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77" r:id="rId7" imgW="686415" imgH="229016" progId="Equation.3">
                      <p:embed/>
                    </p:oleObj>
                  </mc:Choice>
                  <mc:Fallback>
                    <p:oleObj r:id="rId7" imgW="686415" imgH="229016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1" y="134"/>
                            <a:ext cx="1481" cy="4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6" name="Object 11"/>
              <p:cNvGraphicFramePr>
                <a:graphicFrameLocks noChangeAspect="1"/>
              </p:cNvGraphicFramePr>
              <p:nvPr/>
            </p:nvGraphicFramePr>
            <p:xfrm>
              <a:off x="355" y="518"/>
              <a:ext cx="2222" cy="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78" r:id="rId9" imgW="1117440" imgH="393480" progId="Equation.DSMT4">
                      <p:embed/>
                    </p:oleObj>
                  </mc:Choice>
                  <mc:Fallback>
                    <p:oleObj r:id="rId9" imgW="1117440" imgH="39348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" y="518"/>
                            <a:ext cx="2222" cy="7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55" name="AutoShape 13"/>
              <p:cNvSpPr>
                <a:spLocks/>
              </p:cNvSpPr>
              <p:nvPr/>
            </p:nvSpPr>
            <p:spPr bwMode="auto">
              <a:xfrm>
                <a:off x="117" y="231"/>
                <a:ext cx="175" cy="848"/>
              </a:xfrm>
              <a:prstGeom prst="leftBrace">
                <a:avLst>
                  <a:gd name="adj1" fmla="val 40381"/>
                  <a:gd name="adj2" fmla="val 50000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</p:grpSp>
        <p:sp>
          <p:nvSpPr>
            <p:cNvPr id="14" name="AutoShape 6"/>
            <p:cNvSpPr>
              <a:spLocks/>
            </p:cNvSpPr>
            <p:nvPr/>
          </p:nvSpPr>
          <p:spPr bwMode="auto">
            <a:xfrm>
              <a:off x="3208497" y="3089911"/>
              <a:ext cx="161925" cy="1026319"/>
            </a:xfrm>
            <a:prstGeom prst="leftBrace">
              <a:avLst>
                <a:gd name="adj1" fmla="val 52819"/>
                <a:gd name="adj2" fmla="val 49019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7E9DC9-371F-4357-B8CE-CAF1A30589E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82359" y="490538"/>
            <a:ext cx="2187178" cy="2114550"/>
            <a:chOff x="48" y="0"/>
            <a:chExt cx="1837" cy="1776"/>
          </a:xfrm>
        </p:grpSpPr>
        <p:sp>
          <p:nvSpPr>
            <p:cNvPr id="27664" name="Freeform 4"/>
            <p:cNvSpPr>
              <a:spLocks/>
            </p:cNvSpPr>
            <p:nvPr/>
          </p:nvSpPr>
          <p:spPr bwMode="auto">
            <a:xfrm>
              <a:off x="192" y="288"/>
              <a:ext cx="1263" cy="1385"/>
            </a:xfrm>
            <a:custGeom>
              <a:avLst/>
              <a:gdLst>
                <a:gd name="T0" fmla="*/ 0 w 1263"/>
                <a:gd name="T1" fmla="*/ 0 h 1385"/>
                <a:gd name="T2" fmla="*/ 406 w 1263"/>
                <a:gd name="T3" fmla="*/ 61 h 1385"/>
                <a:gd name="T4" fmla="*/ 713 w 1263"/>
                <a:gd name="T5" fmla="*/ 211 h 1385"/>
                <a:gd name="T6" fmla="*/ 1008 w 1263"/>
                <a:gd name="T7" fmla="*/ 501 h 1385"/>
                <a:gd name="T8" fmla="*/ 1166 w 1263"/>
                <a:gd name="T9" fmla="*/ 795 h 1385"/>
                <a:gd name="T10" fmla="*/ 1248 w 1263"/>
                <a:gd name="T11" fmla="*/ 1152 h 1385"/>
                <a:gd name="T12" fmla="*/ 1255 w 1263"/>
                <a:gd name="T13" fmla="*/ 1385 h 1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3"/>
                <a:gd name="T22" fmla="*/ 0 h 1385"/>
                <a:gd name="T23" fmla="*/ 1263 w 1263"/>
                <a:gd name="T24" fmla="*/ 1385 h 13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3" h="1385">
                  <a:moveTo>
                    <a:pt x="0" y="0"/>
                  </a:moveTo>
                  <a:cubicBezTo>
                    <a:pt x="140" y="10"/>
                    <a:pt x="288" y="27"/>
                    <a:pt x="406" y="61"/>
                  </a:cubicBezTo>
                  <a:cubicBezTo>
                    <a:pt x="525" y="96"/>
                    <a:pt x="613" y="138"/>
                    <a:pt x="713" y="211"/>
                  </a:cubicBezTo>
                  <a:cubicBezTo>
                    <a:pt x="813" y="284"/>
                    <a:pt x="933" y="404"/>
                    <a:pt x="1008" y="501"/>
                  </a:cubicBezTo>
                  <a:cubicBezTo>
                    <a:pt x="1083" y="598"/>
                    <a:pt x="1126" y="687"/>
                    <a:pt x="1166" y="795"/>
                  </a:cubicBezTo>
                  <a:cubicBezTo>
                    <a:pt x="1206" y="903"/>
                    <a:pt x="1233" y="1054"/>
                    <a:pt x="1248" y="1152"/>
                  </a:cubicBezTo>
                  <a:cubicBezTo>
                    <a:pt x="1263" y="1250"/>
                    <a:pt x="1254" y="1337"/>
                    <a:pt x="1255" y="1385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27665" name="Line 5"/>
            <p:cNvSpPr>
              <a:spLocks noChangeShapeType="1"/>
            </p:cNvSpPr>
            <p:nvPr/>
          </p:nvSpPr>
          <p:spPr bwMode="auto">
            <a:xfrm>
              <a:off x="192" y="28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27666" name="Line 6"/>
            <p:cNvSpPr>
              <a:spLocks noChangeShapeType="1"/>
            </p:cNvSpPr>
            <p:nvPr/>
          </p:nvSpPr>
          <p:spPr bwMode="auto">
            <a:xfrm>
              <a:off x="192" y="288"/>
              <a:ext cx="76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27667" name="Line 7"/>
            <p:cNvSpPr>
              <a:spLocks noChangeShapeType="1"/>
            </p:cNvSpPr>
            <p:nvPr/>
          </p:nvSpPr>
          <p:spPr bwMode="auto">
            <a:xfrm>
              <a:off x="1104" y="672"/>
              <a:ext cx="720" cy="7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27668" name="Freeform 8"/>
            <p:cNvSpPr>
              <a:spLocks/>
            </p:cNvSpPr>
            <p:nvPr/>
          </p:nvSpPr>
          <p:spPr bwMode="auto">
            <a:xfrm>
              <a:off x="192" y="1296"/>
              <a:ext cx="223" cy="62"/>
            </a:xfrm>
            <a:custGeom>
              <a:avLst/>
              <a:gdLst>
                <a:gd name="T0" fmla="*/ 0 w 223"/>
                <a:gd name="T1" fmla="*/ 0 h 62"/>
                <a:gd name="T2" fmla="*/ 114 w 223"/>
                <a:gd name="T3" fmla="*/ 16 h 62"/>
                <a:gd name="T4" fmla="*/ 223 w 223"/>
                <a:gd name="T5" fmla="*/ 62 h 62"/>
                <a:gd name="T6" fmla="*/ 0 60000 65536"/>
                <a:gd name="T7" fmla="*/ 0 60000 65536"/>
                <a:gd name="T8" fmla="*/ 0 60000 65536"/>
                <a:gd name="T9" fmla="*/ 0 w 223"/>
                <a:gd name="T10" fmla="*/ 0 h 62"/>
                <a:gd name="T11" fmla="*/ 223 w 223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" h="62">
                  <a:moveTo>
                    <a:pt x="0" y="0"/>
                  </a:moveTo>
                  <a:cubicBezTo>
                    <a:pt x="19" y="3"/>
                    <a:pt x="77" y="6"/>
                    <a:pt x="114" y="16"/>
                  </a:cubicBezTo>
                  <a:cubicBezTo>
                    <a:pt x="151" y="26"/>
                    <a:pt x="200" y="53"/>
                    <a:pt x="223" y="62"/>
                  </a:cubicBezTo>
                </a:path>
              </a:pathLst>
            </a:custGeom>
            <a:noFill/>
            <a:ln w="19050">
              <a:solidFill>
                <a:srgbClr val="CC00CC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7651" name="Object 9"/>
            <p:cNvGraphicFramePr>
              <a:graphicFrameLocks noChangeAspect="1"/>
            </p:cNvGraphicFramePr>
            <p:nvPr/>
          </p:nvGraphicFramePr>
          <p:xfrm>
            <a:off x="191" y="1034"/>
            <a:ext cx="31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46" r:id="rId3" imgW="241091" imgH="177646" progId="Equation.DSMT4">
                    <p:embed/>
                  </p:oleObj>
                </mc:Choice>
                <mc:Fallback>
                  <p:oleObj r:id="rId3" imgW="241091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" y="1034"/>
                          <a:ext cx="310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2" name="Object 10"/>
            <p:cNvGraphicFramePr>
              <a:graphicFrameLocks noChangeAspect="1"/>
            </p:cNvGraphicFramePr>
            <p:nvPr/>
          </p:nvGraphicFramePr>
          <p:xfrm>
            <a:off x="48" y="1572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47" r:id="rId5" imgW="165459" imgH="190914" progId="Equation.3">
                    <p:embed/>
                  </p:oleObj>
                </mc:Choice>
                <mc:Fallback>
                  <p:oleObj r:id="rId5" imgW="165459" imgH="190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572"/>
                          <a:ext cx="177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9" name="Text Box 11"/>
            <p:cNvSpPr txBox="1">
              <a:spLocks noChangeArrowheads="1"/>
            </p:cNvSpPr>
            <p:nvPr/>
          </p:nvSpPr>
          <p:spPr bwMode="auto">
            <a:xfrm>
              <a:off x="48" y="0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>
                  <a:solidFill>
                    <a:srgbClr val="1C1C1C"/>
                  </a:solidFill>
                </a:rPr>
                <a:t>A</a:t>
              </a:r>
            </a:p>
          </p:txBody>
        </p:sp>
        <p:sp>
          <p:nvSpPr>
            <p:cNvPr id="27670" name="Text Box 12"/>
            <p:cNvSpPr txBox="1">
              <a:spLocks noChangeArrowheads="1"/>
            </p:cNvSpPr>
            <p:nvPr/>
          </p:nvSpPr>
          <p:spPr bwMode="auto">
            <a:xfrm>
              <a:off x="1056" y="384"/>
              <a:ext cx="33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>
                  <a:solidFill>
                    <a:srgbClr val="1C1C1C"/>
                  </a:solidFill>
                </a:rPr>
                <a:t>B</a:t>
              </a:r>
            </a:p>
          </p:txBody>
        </p:sp>
        <p:graphicFrame>
          <p:nvGraphicFramePr>
            <p:cNvPr id="27653" name="Object 13"/>
            <p:cNvGraphicFramePr>
              <a:graphicFrameLocks noChangeAspect="1"/>
            </p:cNvGraphicFramePr>
            <p:nvPr/>
          </p:nvGraphicFramePr>
          <p:xfrm>
            <a:off x="974" y="28"/>
            <a:ext cx="317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48" r:id="rId7" imgW="190831" imgH="216275" progId="Equation.3">
                    <p:embed/>
                  </p:oleObj>
                </mc:Choice>
                <mc:Fallback>
                  <p:oleObj r:id="rId7" imgW="190831" imgH="2162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28"/>
                          <a:ext cx="317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4" name="Object 14"/>
            <p:cNvGraphicFramePr>
              <a:graphicFrameLocks noChangeAspect="1"/>
            </p:cNvGraphicFramePr>
            <p:nvPr/>
          </p:nvGraphicFramePr>
          <p:xfrm>
            <a:off x="1563" y="1343"/>
            <a:ext cx="32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49" r:id="rId9" imgW="190831" imgH="216275" progId="Equation.3">
                    <p:embed/>
                  </p:oleObj>
                </mc:Choice>
                <mc:Fallback>
                  <p:oleObj r:id="rId9" imgW="190831" imgH="21627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3" y="1343"/>
                          <a:ext cx="322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1" name="Line 15"/>
            <p:cNvSpPr>
              <a:spLocks noChangeShapeType="1"/>
            </p:cNvSpPr>
            <p:nvPr/>
          </p:nvSpPr>
          <p:spPr bwMode="auto">
            <a:xfrm flipV="1">
              <a:off x="192" y="672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7655" name="Object 16"/>
            <p:cNvGraphicFramePr>
              <a:graphicFrameLocks noChangeAspect="1"/>
            </p:cNvGraphicFramePr>
            <p:nvPr/>
          </p:nvGraphicFramePr>
          <p:xfrm>
            <a:off x="192" y="672"/>
            <a:ext cx="17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50" r:id="rId11" imgW="152665" imgH="178109" progId="Equation.3">
                    <p:embed/>
                  </p:oleObj>
                </mc:Choice>
                <mc:Fallback>
                  <p:oleObj r:id="rId11" imgW="152665" imgH="1781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672"/>
                          <a:ext cx="171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474285" y="621269"/>
            <a:ext cx="5590165" cy="2709973"/>
            <a:chOff x="474285" y="491729"/>
            <a:chExt cx="5590165" cy="2709973"/>
          </a:xfrm>
        </p:grpSpPr>
        <p:sp>
          <p:nvSpPr>
            <p:cNvPr id="27660" name="Text Box 18"/>
            <p:cNvSpPr txBox="1">
              <a:spLocks noChangeArrowheads="1"/>
            </p:cNvSpPr>
            <p:nvPr/>
          </p:nvSpPr>
          <p:spPr bwMode="auto">
            <a:xfrm>
              <a:off x="474285" y="491729"/>
              <a:ext cx="5590165" cy="27099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  <a:spcBef>
                  <a:spcPct val="0"/>
                </a:spcBef>
              </a:pPr>
              <a:r>
                <a:rPr kumimoji="0" lang="zh-CN" altLang="en-US" sz="2100" smtClean="0">
                  <a:solidFill>
                    <a:srgbClr val="C00000"/>
                  </a:solidFill>
                </a:rPr>
                <a:t>例 </a:t>
              </a:r>
              <a:r>
                <a:rPr kumimoji="0" lang="en-US" altLang="zh-CN" sz="2100">
                  <a:solidFill>
                    <a:srgbClr val="C00000"/>
                  </a:solidFill>
                </a:rPr>
                <a:t>1   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一歼击机在高空 </a:t>
              </a:r>
              <a:r>
                <a:rPr kumimoji="0" lang="en-US" altLang="zh-CN" sz="2100" i="1">
                  <a:solidFill>
                    <a:srgbClr val="000000"/>
                  </a:solidFill>
                </a:rPr>
                <a:t>A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点时的水平速率为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1940</a:t>
              </a:r>
              <a:r>
                <a:rPr kumimoji="0" lang="en-US" altLang="zh-CN" sz="2100">
                  <a:solidFill>
                    <a:srgbClr val="000000"/>
                  </a:solidFill>
                </a:rPr>
                <a:t> 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km·h</a:t>
              </a:r>
              <a:r>
                <a:rPr kumimoji="0" lang="en-US" altLang="zh-CN" sz="2100" b="0" baseline="300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r>
                <a:rPr kumimoji="0" lang="en-US" altLang="zh-CN" sz="2100" b="0" baseline="30000">
                  <a:solidFill>
                    <a:srgbClr val="000000"/>
                  </a:solidFill>
                </a:rPr>
                <a:t>1</a:t>
              </a:r>
              <a:r>
                <a:rPr kumimoji="0" lang="en-US" altLang="zh-CN" sz="2100">
                  <a:solidFill>
                    <a:srgbClr val="000000"/>
                  </a:solidFill>
                </a:rPr>
                <a:t> , 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沿近似圆弧曲线俯冲到</a:t>
              </a:r>
              <a:r>
                <a:rPr kumimoji="0" lang="en-US" altLang="zh-CN" sz="2100" i="1">
                  <a:solidFill>
                    <a:srgbClr val="000000"/>
                  </a:solidFill>
                </a:rPr>
                <a:t>B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点，其速率为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2192 km·h</a:t>
              </a:r>
              <a:r>
                <a:rPr kumimoji="0" lang="en-US" altLang="zh-CN" sz="2100" b="0" baseline="300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r>
                <a:rPr kumimoji="0" lang="en-US" altLang="zh-CN" sz="2100" b="0" baseline="30000">
                  <a:solidFill>
                    <a:srgbClr val="000000"/>
                  </a:solidFill>
                </a:rPr>
                <a:t>1</a:t>
              </a:r>
              <a:r>
                <a:rPr kumimoji="0" lang="en-US" altLang="zh-CN" sz="2100">
                  <a:solidFill>
                    <a:srgbClr val="000000"/>
                  </a:solidFill>
                </a:rPr>
                <a:t> ,  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经历时间为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3 s</a:t>
              </a:r>
              <a:r>
                <a:rPr kumimoji="0" lang="en-US" altLang="zh-CN" sz="2100">
                  <a:solidFill>
                    <a:srgbClr val="000000"/>
                  </a:solidFill>
                </a:rPr>
                <a:t> ,  </a:t>
              </a:r>
              <a:r>
                <a:rPr kumimoji="0" lang="zh-CN" altLang="en-US" sz="2100">
                  <a:solidFill>
                    <a:srgbClr val="000000"/>
                  </a:solidFill>
                </a:rPr>
                <a:t>设      的半径约为 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3</a:t>
              </a:r>
              <a:r>
                <a:rPr kumimoji="0" lang="en-US" altLang="zh-CN" sz="2100">
                  <a:solidFill>
                    <a:srgbClr val="000000"/>
                  </a:solidFill>
                </a:rPr>
                <a:t>.</a:t>
              </a:r>
              <a:r>
                <a:rPr kumimoji="0" lang="en-US" altLang="zh-CN" sz="2100" b="0">
                  <a:solidFill>
                    <a:srgbClr val="000000"/>
                  </a:solidFill>
                </a:rPr>
                <a:t>5 km </a:t>
              </a:r>
              <a:r>
                <a:rPr kumimoji="0" lang="en-US" altLang="zh-CN" sz="2100" smtClean="0">
                  <a:solidFill>
                    <a:srgbClr val="000000"/>
                  </a:solidFill>
                </a:rPr>
                <a:t>,</a:t>
              </a:r>
              <a:r>
                <a:rPr kumimoji="0" lang="zh-CN" altLang="en-US" sz="2100">
                  <a:solidFill>
                    <a:srgbClr val="000000"/>
                  </a:solidFill>
                  <a:latin typeface="Arial" charset="0"/>
                </a:rPr>
                <a:t>飞机从</a:t>
              </a:r>
              <a:r>
                <a:rPr kumimoji="0" lang="en-US" altLang="zh-CN" sz="2100" b="0" i="1">
                  <a:solidFill>
                    <a:srgbClr val="000000"/>
                  </a:solidFill>
                </a:rPr>
                <a:t>A</a:t>
              </a:r>
              <a:r>
                <a:rPr kumimoji="0" lang="zh-CN" altLang="en-US" sz="2100">
                  <a:solidFill>
                    <a:srgbClr val="000000"/>
                  </a:solidFill>
                  <a:latin typeface="Arial" charset="0"/>
                </a:rPr>
                <a:t>到</a:t>
              </a:r>
              <a:r>
                <a:rPr kumimoji="0" lang="en-US" altLang="zh-CN" sz="2100" b="0" i="1">
                  <a:solidFill>
                    <a:srgbClr val="000000"/>
                  </a:solidFill>
                </a:rPr>
                <a:t>B</a:t>
              </a:r>
              <a:r>
                <a:rPr kumimoji="0" lang="zh-CN" altLang="en-US" sz="2100">
                  <a:solidFill>
                    <a:srgbClr val="000000"/>
                  </a:solidFill>
                  <a:latin typeface="Arial" charset="0"/>
                </a:rPr>
                <a:t>过程视为</a:t>
              </a:r>
              <a:r>
                <a:rPr kumimoji="0" lang="zh-CN" altLang="en-US" sz="2100">
                  <a:solidFill>
                    <a:srgbClr val="0033CC"/>
                  </a:solidFill>
                  <a:latin typeface="Arial" charset="0"/>
                </a:rPr>
                <a:t>匀变速率圆周运动</a:t>
              </a:r>
              <a:r>
                <a:rPr kumimoji="0" lang="zh-CN" altLang="en-US" sz="2100">
                  <a:solidFill>
                    <a:srgbClr val="000000"/>
                  </a:solidFill>
                  <a:latin typeface="Arial" charset="0"/>
                </a:rPr>
                <a:t>，不计重力加速度的影</a:t>
              </a:r>
              <a:r>
                <a:rPr kumimoji="0" lang="zh-CN" altLang="en-US" sz="2100" smtClean="0">
                  <a:solidFill>
                    <a:srgbClr val="000000"/>
                  </a:solidFill>
                  <a:latin typeface="Arial" charset="0"/>
                </a:rPr>
                <a:t>响</a:t>
              </a:r>
              <a:r>
                <a:rPr kumimoji="0" lang="en-US" altLang="zh-CN" sz="2100" smtClean="0">
                  <a:solidFill>
                    <a:srgbClr val="000000"/>
                  </a:solidFill>
                  <a:latin typeface="Arial" charset="0"/>
                </a:rPr>
                <a:t>.</a:t>
              </a:r>
              <a:endParaRPr kumimoji="0" lang="zh-CN" altLang="en-US" sz="2100">
                <a:solidFill>
                  <a:srgbClr val="000000"/>
                </a:solidFill>
                <a:latin typeface="Arial" charset="0"/>
              </a:endParaRPr>
            </a:p>
            <a:p>
              <a:pPr>
                <a:lnSpc>
                  <a:spcPct val="135000"/>
                </a:lnSpc>
                <a:spcBef>
                  <a:spcPct val="0"/>
                </a:spcBef>
                <a:buFont typeface="Arial" charset="0"/>
                <a:buNone/>
              </a:pPr>
              <a:endParaRPr kumimoji="0" lang="en-US" altLang="zh-CN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2765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4777396"/>
                </p:ext>
              </p:extLst>
            </p:nvPr>
          </p:nvGraphicFramePr>
          <p:xfrm>
            <a:off x="5191443" y="1452246"/>
            <a:ext cx="325437" cy="383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51" name="Equation" r:id="rId13" imgW="291960" imgH="253800" progId="Equation.DSMT4">
                    <p:embed/>
                  </p:oleObj>
                </mc:Choice>
                <mc:Fallback>
                  <p:oleObj name="Equation" r:id="rId13" imgW="2919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1443" y="1452246"/>
                          <a:ext cx="325437" cy="38346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9" name="Rectangle 22"/>
          <p:cNvSpPr>
            <a:spLocks noChangeArrowheads="1"/>
          </p:cNvSpPr>
          <p:nvPr/>
        </p:nvSpPr>
        <p:spPr bwMode="auto">
          <a:xfrm>
            <a:off x="500688" y="3322524"/>
            <a:ext cx="6265069" cy="96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100" smtClean="0">
                <a:solidFill>
                  <a:srgbClr val="FF0000"/>
                </a:solidFill>
                <a:latin typeface="Arial" charset="0"/>
              </a:rPr>
              <a:t>求</a:t>
            </a:r>
            <a:r>
              <a:rPr kumimoji="0" lang="zh-CN" altLang="en-US" sz="2100" dirty="0">
                <a:solidFill>
                  <a:srgbClr val="FF0000"/>
                </a:solidFill>
                <a:latin typeface="Arial" charset="0"/>
              </a:rPr>
              <a:t>：</a:t>
            </a:r>
            <a:r>
              <a:rPr kumimoji="0" lang="en-US" altLang="zh-CN" sz="2100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2100" dirty="0">
                <a:solidFill>
                  <a:srgbClr val="CC0000"/>
                </a:solidFill>
              </a:rPr>
              <a:t>1</a:t>
            </a:r>
            <a:r>
              <a:rPr kumimoji="0" lang="en-US" altLang="zh-CN" sz="2100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0" lang="en-US" altLang="zh-CN" sz="2100" dirty="0">
                <a:solidFill>
                  <a:srgbClr val="000000"/>
                </a:solidFill>
                <a:latin typeface="Arial" charset="0"/>
              </a:rPr>
              <a:t> </a:t>
            </a: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飞机在点</a:t>
            </a:r>
            <a:r>
              <a:rPr kumimoji="0" lang="en-US" altLang="zh-CN" sz="2100" b="0" i="1" dirty="0">
                <a:solidFill>
                  <a:srgbClr val="000000"/>
                </a:solidFill>
              </a:rPr>
              <a:t>B</a:t>
            </a: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的加速度；</a:t>
            </a:r>
          </a:p>
          <a:p>
            <a:pPr>
              <a:lnSpc>
                <a:spcPct val="135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       </a:t>
            </a:r>
            <a:r>
              <a:rPr kumimoji="0" lang="en-US" altLang="zh-CN" sz="2100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2100" dirty="0">
                <a:solidFill>
                  <a:srgbClr val="CC0000"/>
                </a:solidFill>
              </a:rPr>
              <a:t>2</a:t>
            </a:r>
            <a:r>
              <a:rPr kumimoji="0" lang="en-US" altLang="zh-CN" sz="2100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飞机由点</a:t>
            </a:r>
            <a:r>
              <a:rPr kumimoji="0" lang="en-US" altLang="zh-CN" sz="2100" b="0" i="1" dirty="0">
                <a:solidFill>
                  <a:srgbClr val="000000"/>
                </a:solidFill>
              </a:rPr>
              <a:t>A</a:t>
            </a: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到点</a:t>
            </a:r>
            <a:r>
              <a:rPr kumimoji="0" lang="en-US" altLang="zh-CN" sz="2100" b="0" i="1" dirty="0">
                <a:solidFill>
                  <a:srgbClr val="000000"/>
                </a:solidFill>
              </a:rPr>
              <a:t>B</a:t>
            </a:r>
            <a:r>
              <a:rPr kumimoji="0" lang="zh-CN" altLang="en-US" sz="2100" dirty="0">
                <a:solidFill>
                  <a:srgbClr val="000000"/>
                </a:solidFill>
                <a:latin typeface="Arial" charset="0"/>
              </a:rPr>
              <a:t>所经历的路程</a:t>
            </a:r>
            <a:r>
              <a:rPr kumimoji="0" lang="en-US" altLang="zh-CN" sz="21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565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6" name="Text Box 2"/>
          <p:cNvSpPr txBox="1">
            <a:spLocks noChangeArrowheads="1"/>
          </p:cNvSpPr>
          <p:nvPr/>
        </p:nvSpPr>
        <p:spPr bwMode="auto">
          <a:xfrm>
            <a:off x="510523" y="340320"/>
            <a:ext cx="156686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>
                <a:solidFill>
                  <a:srgbClr val="CC0000"/>
                </a:solidFill>
              </a:rPr>
              <a:t>解（</a:t>
            </a:r>
            <a:r>
              <a:rPr kumimoji="0" lang="en-US" altLang="zh-CN" sz="2400">
                <a:solidFill>
                  <a:srgbClr val="CC0000"/>
                </a:solidFill>
              </a:rPr>
              <a:t>1</a:t>
            </a:r>
            <a:r>
              <a:rPr kumimoji="0" lang="zh-CN" altLang="en-US" sz="2400">
                <a:solidFill>
                  <a:srgbClr val="CC0000"/>
                </a:solidFill>
              </a:rPr>
              <a:t>）</a:t>
            </a:r>
            <a:endParaRPr kumimoji="0"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31748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7489328"/>
              </p:ext>
            </p:extLst>
          </p:nvPr>
        </p:nvGraphicFramePr>
        <p:xfrm>
          <a:off x="1210829" y="3159687"/>
          <a:ext cx="1538362" cy="74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r:id="rId4" imgW="813153" imgH="393871" progId="Equation.3">
                  <p:embed/>
                </p:oleObj>
              </mc:Choice>
              <mc:Fallback>
                <p:oleObj r:id="rId4" imgW="813153" imgH="393871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829" y="3159687"/>
                        <a:ext cx="1538362" cy="745037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245623"/>
              </p:ext>
            </p:extLst>
          </p:nvPr>
        </p:nvGraphicFramePr>
        <p:xfrm>
          <a:off x="1697202" y="340276"/>
          <a:ext cx="2239123" cy="45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3" r:id="rId6" imgW="1118571" imgH="228799" progId="Equation.3">
                  <p:embed/>
                </p:oleObj>
              </mc:Choice>
              <mc:Fallback>
                <p:oleObj r:id="rId6" imgW="1118571" imgH="2287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202" y="340276"/>
                        <a:ext cx="2239123" cy="458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191655"/>
              </p:ext>
            </p:extLst>
          </p:nvPr>
        </p:nvGraphicFramePr>
        <p:xfrm>
          <a:off x="1690937" y="964759"/>
          <a:ext cx="2287367" cy="46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4" r:id="rId8" imgW="1130791" imgH="228699" progId="Equation.3">
                  <p:embed/>
                </p:oleObj>
              </mc:Choice>
              <mc:Fallback>
                <p:oleObj r:id="rId8" imgW="1130791" imgH="2286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937" y="964759"/>
                        <a:ext cx="2287367" cy="4604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249517"/>
              </p:ext>
            </p:extLst>
          </p:nvPr>
        </p:nvGraphicFramePr>
        <p:xfrm>
          <a:off x="1685661" y="1479106"/>
          <a:ext cx="2798118" cy="45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5" r:id="rId10" imgW="1398214" imgH="228799" progId="Equation.3">
                  <p:embed/>
                </p:oleObj>
              </mc:Choice>
              <mc:Fallback>
                <p:oleObj r:id="rId10" imgW="1398214" imgH="22879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661" y="1479106"/>
                        <a:ext cx="2798118" cy="458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121801" y="3261549"/>
            <a:ext cx="2743080" cy="457452"/>
            <a:chOff x="3121801" y="3261549"/>
            <a:chExt cx="2743080" cy="457452"/>
          </a:xfrm>
        </p:grpSpPr>
        <p:sp>
          <p:nvSpPr>
            <p:cNvPr id="17447" name="Text Box 12"/>
            <p:cNvSpPr txBox="1">
              <a:spLocks noChangeArrowheads="1"/>
            </p:cNvSpPr>
            <p:nvPr/>
          </p:nvSpPr>
          <p:spPr bwMode="auto">
            <a:xfrm>
              <a:off x="3121801" y="3261549"/>
              <a:ext cx="1188832" cy="423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  <a:latin typeface="Arial" charset="0"/>
                </a:rPr>
                <a:t>解得：</a:t>
              </a:r>
              <a:endParaRPr kumimoji="0" lang="zh-CN" altLang="en-US" sz="2400" b="0" baseline="300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2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7785567"/>
                </p:ext>
              </p:extLst>
            </p:nvPr>
          </p:nvGraphicFramePr>
          <p:xfrm>
            <a:off x="4083706" y="3269739"/>
            <a:ext cx="1781175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6" name="Equation" r:id="rId12" imgW="952200" imgH="241200" progId="Equation.DSMT4">
                    <p:embed/>
                  </p:oleObj>
                </mc:Choice>
                <mc:Fallback>
                  <p:oleObj name="Equation" r:id="rId12" imgW="9522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706" y="3269739"/>
                          <a:ext cx="1781175" cy="44926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29" name="Group 14"/>
          <p:cNvGrpSpPr>
            <a:grpSpLocks/>
          </p:cNvGrpSpPr>
          <p:nvPr/>
        </p:nvGrpSpPr>
        <p:grpSpPr bwMode="auto">
          <a:xfrm>
            <a:off x="6497829" y="535575"/>
            <a:ext cx="2228850" cy="2114550"/>
            <a:chOff x="48" y="0"/>
            <a:chExt cx="1872" cy="1776"/>
          </a:xfrm>
        </p:grpSpPr>
        <p:sp>
          <p:nvSpPr>
            <p:cNvPr id="17439" name="Freeform 16"/>
            <p:cNvSpPr>
              <a:spLocks/>
            </p:cNvSpPr>
            <p:nvPr/>
          </p:nvSpPr>
          <p:spPr bwMode="auto">
            <a:xfrm>
              <a:off x="192" y="288"/>
              <a:ext cx="1263" cy="1385"/>
            </a:xfrm>
            <a:custGeom>
              <a:avLst/>
              <a:gdLst>
                <a:gd name="T0" fmla="*/ 0 w 1263"/>
                <a:gd name="T1" fmla="*/ 0 h 1385"/>
                <a:gd name="T2" fmla="*/ 406 w 1263"/>
                <a:gd name="T3" fmla="*/ 61 h 1385"/>
                <a:gd name="T4" fmla="*/ 713 w 1263"/>
                <a:gd name="T5" fmla="*/ 211 h 1385"/>
                <a:gd name="T6" fmla="*/ 1008 w 1263"/>
                <a:gd name="T7" fmla="*/ 501 h 1385"/>
                <a:gd name="T8" fmla="*/ 1166 w 1263"/>
                <a:gd name="T9" fmla="*/ 795 h 1385"/>
                <a:gd name="T10" fmla="*/ 1248 w 1263"/>
                <a:gd name="T11" fmla="*/ 1152 h 1385"/>
                <a:gd name="T12" fmla="*/ 1255 w 1263"/>
                <a:gd name="T13" fmla="*/ 1385 h 1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3"/>
                <a:gd name="T22" fmla="*/ 0 h 1385"/>
                <a:gd name="T23" fmla="*/ 1263 w 1263"/>
                <a:gd name="T24" fmla="*/ 1385 h 13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3" h="1385">
                  <a:moveTo>
                    <a:pt x="0" y="0"/>
                  </a:moveTo>
                  <a:cubicBezTo>
                    <a:pt x="140" y="10"/>
                    <a:pt x="288" y="27"/>
                    <a:pt x="406" y="61"/>
                  </a:cubicBezTo>
                  <a:cubicBezTo>
                    <a:pt x="525" y="96"/>
                    <a:pt x="613" y="138"/>
                    <a:pt x="713" y="211"/>
                  </a:cubicBezTo>
                  <a:cubicBezTo>
                    <a:pt x="813" y="284"/>
                    <a:pt x="933" y="404"/>
                    <a:pt x="1008" y="501"/>
                  </a:cubicBezTo>
                  <a:cubicBezTo>
                    <a:pt x="1083" y="598"/>
                    <a:pt x="1126" y="687"/>
                    <a:pt x="1166" y="795"/>
                  </a:cubicBezTo>
                  <a:cubicBezTo>
                    <a:pt x="1206" y="903"/>
                    <a:pt x="1233" y="1054"/>
                    <a:pt x="1248" y="1152"/>
                  </a:cubicBezTo>
                  <a:cubicBezTo>
                    <a:pt x="1263" y="1250"/>
                    <a:pt x="1254" y="1337"/>
                    <a:pt x="1255" y="1385"/>
                  </a:cubicBezTo>
                </a:path>
              </a:pathLst>
            </a:custGeom>
            <a:noFill/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40" name="Line 17"/>
            <p:cNvSpPr>
              <a:spLocks noChangeShapeType="1"/>
            </p:cNvSpPr>
            <p:nvPr/>
          </p:nvSpPr>
          <p:spPr bwMode="auto">
            <a:xfrm>
              <a:off x="192" y="28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41" name="Line 18"/>
            <p:cNvSpPr>
              <a:spLocks noChangeShapeType="1"/>
            </p:cNvSpPr>
            <p:nvPr/>
          </p:nvSpPr>
          <p:spPr bwMode="auto">
            <a:xfrm>
              <a:off x="192" y="288"/>
              <a:ext cx="76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42" name="Line 19"/>
            <p:cNvSpPr>
              <a:spLocks noChangeShapeType="1"/>
            </p:cNvSpPr>
            <p:nvPr/>
          </p:nvSpPr>
          <p:spPr bwMode="auto">
            <a:xfrm>
              <a:off x="1104" y="672"/>
              <a:ext cx="720" cy="7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43" name="Freeform 20"/>
            <p:cNvSpPr>
              <a:spLocks/>
            </p:cNvSpPr>
            <p:nvPr/>
          </p:nvSpPr>
          <p:spPr bwMode="auto">
            <a:xfrm>
              <a:off x="192" y="1296"/>
              <a:ext cx="223" cy="62"/>
            </a:xfrm>
            <a:custGeom>
              <a:avLst/>
              <a:gdLst>
                <a:gd name="T0" fmla="*/ 0 w 223"/>
                <a:gd name="T1" fmla="*/ 0 h 62"/>
                <a:gd name="T2" fmla="*/ 114 w 223"/>
                <a:gd name="T3" fmla="*/ 16 h 62"/>
                <a:gd name="T4" fmla="*/ 223 w 223"/>
                <a:gd name="T5" fmla="*/ 62 h 62"/>
                <a:gd name="T6" fmla="*/ 0 60000 65536"/>
                <a:gd name="T7" fmla="*/ 0 60000 65536"/>
                <a:gd name="T8" fmla="*/ 0 60000 65536"/>
                <a:gd name="T9" fmla="*/ 0 w 223"/>
                <a:gd name="T10" fmla="*/ 0 h 62"/>
                <a:gd name="T11" fmla="*/ 223 w 223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" h="62">
                  <a:moveTo>
                    <a:pt x="0" y="0"/>
                  </a:moveTo>
                  <a:cubicBezTo>
                    <a:pt x="19" y="3"/>
                    <a:pt x="77" y="6"/>
                    <a:pt x="114" y="16"/>
                  </a:cubicBezTo>
                  <a:cubicBezTo>
                    <a:pt x="151" y="26"/>
                    <a:pt x="200" y="53"/>
                    <a:pt x="223" y="62"/>
                  </a:cubicBezTo>
                </a:path>
              </a:pathLst>
            </a:custGeom>
            <a:noFill/>
            <a:ln w="19050" cmpd="sng">
              <a:solidFill>
                <a:srgbClr val="CC00CC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8" name="Object 21"/>
            <p:cNvGraphicFramePr>
              <a:graphicFrameLocks noChangeAspect="1"/>
            </p:cNvGraphicFramePr>
            <p:nvPr/>
          </p:nvGraphicFramePr>
          <p:xfrm>
            <a:off x="243" y="1100"/>
            <a:ext cx="222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7" r:id="rId14" imgW="241091" imgH="177646" progId="Equation.DSMT4">
                    <p:embed/>
                  </p:oleObj>
                </mc:Choice>
                <mc:Fallback>
                  <p:oleObj r:id="rId14" imgW="241091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" y="1100"/>
                          <a:ext cx="222" cy="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22"/>
            <p:cNvGraphicFramePr>
              <a:graphicFrameLocks noChangeAspect="1"/>
            </p:cNvGraphicFramePr>
            <p:nvPr/>
          </p:nvGraphicFramePr>
          <p:xfrm>
            <a:off x="48" y="1572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8" r:id="rId16" imgW="165459" imgH="190914" progId="Equation.3">
                    <p:embed/>
                  </p:oleObj>
                </mc:Choice>
                <mc:Fallback>
                  <p:oleObj r:id="rId16" imgW="165459" imgH="190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572"/>
                          <a:ext cx="177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4" name="Text Box 23"/>
            <p:cNvSpPr txBox="1">
              <a:spLocks noChangeArrowheads="1"/>
            </p:cNvSpPr>
            <p:nvPr/>
          </p:nvSpPr>
          <p:spPr bwMode="auto">
            <a:xfrm>
              <a:off x="48" y="0"/>
              <a:ext cx="28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>
                  <a:solidFill>
                    <a:srgbClr val="1C1C1C"/>
                  </a:solidFill>
                </a:rPr>
                <a:t>A</a:t>
              </a:r>
            </a:p>
          </p:txBody>
        </p:sp>
        <p:sp>
          <p:nvSpPr>
            <p:cNvPr id="17445" name="Text Box 24"/>
            <p:cNvSpPr txBox="1">
              <a:spLocks noChangeArrowheads="1"/>
            </p:cNvSpPr>
            <p:nvPr/>
          </p:nvSpPr>
          <p:spPr bwMode="auto">
            <a:xfrm>
              <a:off x="1056" y="384"/>
              <a:ext cx="33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en-US" altLang="zh-CN" sz="2100" b="0" i="1">
                  <a:solidFill>
                    <a:srgbClr val="1C1C1C"/>
                  </a:solidFill>
                </a:rPr>
                <a:t>B</a:t>
              </a:r>
            </a:p>
          </p:txBody>
        </p:sp>
        <p:graphicFrame>
          <p:nvGraphicFramePr>
            <p:cNvPr id="17420" name="Object 25"/>
            <p:cNvGraphicFramePr>
              <a:graphicFrameLocks noChangeAspect="1"/>
            </p:cNvGraphicFramePr>
            <p:nvPr/>
          </p:nvGraphicFramePr>
          <p:xfrm>
            <a:off x="914" y="0"/>
            <a:ext cx="32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39" r:id="rId18" imgW="305065" imgH="317776" progId="Equation.3">
                    <p:embed/>
                  </p:oleObj>
                </mc:Choice>
                <mc:Fallback>
                  <p:oleObj r:id="rId18" imgW="305065" imgH="31777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0"/>
                          <a:ext cx="322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26"/>
            <p:cNvGraphicFramePr>
              <a:graphicFrameLocks noChangeAspect="1"/>
            </p:cNvGraphicFramePr>
            <p:nvPr/>
          </p:nvGraphicFramePr>
          <p:xfrm>
            <a:off x="1598" y="1344"/>
            <a:ext cx="32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0" r:id="rId20" imgW="305065" imgH="317776" progId="Equation.3">
                    <p:embed/>
                  </p:oleObj>
                </mc:Choice>
                <mc:Fallback>
                  <p:oleObj r:id="rId20" imgW="305065" imgH="31777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8" y="1344"/>
                          <a:ext cx="322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6" name="Line 27"/>
            <p:cNvSpPr>
              <a:spLocks noChangeShapeType="1"/>
            </p:cNvSpPr>
            <p:nvPr/>
          </p:nvSpPr>
          <p:spPr bwMode="auto">
            <a:xfrm flipV="1">
              <a:off x="192" y="672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22" name="Object 28"/>
            <p:cNvGraphicFramePr>
              <a:graphicFrameLocks noChangeAspect="1"/>
            </p:cNvGraphicFramePr>
            <p:nvPr/>
          </p:nvGraphicFramePr>
          <p:xfrm>
            <a:off x="192" y="672"/>
            <a:ext cx="17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1" r:id="rId22" imgW="152665" imgH="178109" progId="Equation.3">
                    <p:embed/>
                  </p:oleObj>
                </mc:Choice>
                <mc:Fallback>
                  <p:oleObj r:id="rId22" imgW="152665" imgH="1781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672"/>
                          <a:ext cx="171" cy="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6959792" y="1335675"/>
            <a:ext cx="1358503" cy="1057275"/>
            <a:chOff x="0" y="0"/>
            <a:chExt cx="1141" cy="888"/>
          </a:xfrm>
        </p:grpSpPr>
        <p:sp>
          <p:nvSpPr>
            <p:cNvPr id="17432" name="Line 30"/>
            <p:cNvSpPr>
              <a:spLocks noChangeShapeType="1"/>
            </p:cNvSpPr>
            <p:nvPr/>
          </p:nvSpPr>
          <p:spPr bwMode="auto">
            <a:xfrm flipH="1">
              <a:off x="525" y="0"/>
              <a:ext cx="144" cy="57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33" name="Line 31"/>
            <p:cNvSpPr>
              <a:spLocks noChangeShapeType="1"/>
            </p:cNvSpPr>
            <p:nvPr/>
          </p:nvSpPr>
          <p:spPr bwMode="auto">
            <a:xfrm flipH="1">
              <a:off x="285" y="0"/>
              <a:ext cx="384" cy="384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34" name="Line 32"/>
            <p:cNvSpPr>
              <a:spLocks noChangeShapeType="1"/>
            </p:cNvSpPr>
            <p:nvPr/>
          </p:nvSpPr>
          <p:spPr bwMode="auto">
            <a:xfrm>
              <a:off x="669" y="0"/>
              <a:ext cx="225" cy="247"/>
            </a:xfrm>
            <a:prstGeom prst="line">
              <a:avLst/>
            </a:prstGeom>
            <a:noFill/>
            <a:ln w="28575">
              <a:solidFill>
                <a:srgbClr val="33CC33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35" name="Line 33"/>
            <p:cNvSpPr>
              <a:spLocks noChangeShapeType="1"/>
            </p:cNvSpPr>
            <p:nvPr/>
          </p:nvSpPr>
          <p:spPr bwMode="auto">
            <a:xfrm flipV="1">
              <a:off x="525" y="231"/>
              <a:ext cx="369" cy="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7436" name="Line 34"/>
            <p:cNvSpPr>
              <a:spLocks noChangeShapeType="1"/>
            </p:cNvSpPr>
            <p:nvPr/>
          </p:nvSpPr>
          <p:spPr bwMode="auto">
            <a:xfrm flipH="1" flipV="1">
              <a:off x="302" y="357"/>
              <a:ext cx="223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4" name="Object 35"/>
            <p:cNvGraphicFramePr>
              <a:graphicFrameLocks noChangeAspect="1"/>
            </p:cNvGraphicFramePr>
            <p:nvPr/>
          </p:nvGraphicFramePr>
          <p:xfrm>
            <a:off x="381" y="576"/>
            <a:ext cx="243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2" r:id="rId24" imgW="178032" imgH="228898" progId="Equation.3">
                    <p:embed/>
                  </p:oleObj>
                </mc:Choice>
                <mc:Fallback>
                  <p:oleObj r:id="rId24" imgW="178032" imgH="22889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" y="576"/>
                          <a:ext cx="243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36"/>
            <p:cNvGraphicFramePr>
              <a:graphicFrameLocks noChangeAspect="1"/>
            </p:cNvGraphicFramePr>
            <p:nvPr/>
          </p:nvGraphicFramePr>
          <p:xfrm>
            <a:off x="915" y="48"/>
            <a:ext cx="22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3" r:id="rId26" imgW="241720" imgH="330774" progId="Equation.3">
                    <p:embed/>
                  </p:oleObj>
                </mc:Choice>
                <mc:Fallback>
                  <p:oleObj r:id="rId26" imgW="241720" imgH="33077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5" y="48"/>
                          <a:ext cx="226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37"/>
            <p:cNvGraphicFramePr>
              <a:graphicFrameLocks noChangeAspect="1"/>
            </p:cNvGraphicFramePr>
            <p:nvPr/>
          </p:nvGraphicFramePr>
          <p:xfrm>
            <a:off x="0" y="48"/>
            <a:ext cx="295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4" r:id="rId28" imgW="266816" imgH="317638" progId="Equation.3">
                    <p:embed/>
                  </p:oleObj>
                </mc:Choice>
                <mc:Fallback>
                  <p:oleObj r:id="rId28" imgW="266816" imgH="31763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8"/>
                          <a:ext cx="295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7" name="Freeform 38"/>
            <p:cNvSpPr>
              <a:spLocks/>
            </p:cNvSpPr>
            <p:nvPr/>
          </p:nvSpPr>
          <p:spPr bwMode="auto">
            <a:xfrm rot="1953793">
              <a:off x="521" y="152"/>
              <a:ext cx="108" cy="54"/>
            </a:xfrm>
            <a:custGeom>
              <a:avLst/>
              <a:gdLst>
                <a:gd name="T0" fmla="*/ 2 w 144"/>
                <a:gd name="T1" fmla="*/ 31 h 56"/>
                <a:gd name="T2" fmla="*/ 2 w 144"/>
                <a:gd name="T3" fmla="*/ 31 h 56"/>
                <a:gd name="T4" fmla="*/ 0 w 144"/>
                <a:gd name="T5" fmla="*/ 0 h 56"/>
                <a:gd name="T6" fmla="*/ 0 60000 65536"/>
                <a:gd name="T7" fmla="*/ 0 60000 65536"/>
                <a:gd name="T8" fmla="*/ 0 60000 65536"/>
                <a:gd name="T9" fmla="*/ 0 w 144"/>
                <a:gd name="T10" fmla="*/ 0 h 56"/>
                <a:gd name="T11" fmla="*/ 144 w 144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56">
                  <a:moveTo>
                    <a:pt x="144" y="48"/>
                  </a:moveTo>
                  <a:cubicBezTo>
                    <a:pt x="108" y="52"/>
                    <a:pt x="72" y="56"/>
                    <a:pt x="48" y="48"/>
                  </a:cubicBezTo>
                  <a:cubicBezTo>
                    <a:pt x="24" y="40"/>
                    <a:pt x="8" y="8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CC00CC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endParaRPr kumimoji="0" lang="zh-CN" altLang="en-US" sz="2400">
                <a:solidFill>
                  <a:srgbClr val="000000"/>
                </a:solidFill>
              </a:endParaRPr>
            </a:p>
          </p:txBody>
        </p:sp>
        <p:graphicFrame>
          <p:nvGraphicFramePr>
            <p:cNvPr id="17417" name="Object 39"/>
            <p:cNvGraphicFramePr>
              <a:graphicFrameLocks noChangeAspect="1"/>
            </p:cNvGraphicFramePr>
            <p:nvPr/>
          </p:nvGraphicFramePr>
          <p:xfrm>
            <a:off x="432" y="247"/>
            <a:ext cx="146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5" r:id="rId30" imgW="139579" imgH="164957" progId="Equation.DSMT4">
                    <p:embed/>
                  </p:oleObj>
                </mc:Choice>
                <mc:Fallback>
                  <p:oleObj r:id="rId30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47"/>
                          <a:ext cx="146" cy="1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1040699" y="1991339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 typeface="Arial" charset="0"/>
              <a:buNone/>
            </a:pPr>
            <a:r>
              <a:rPr kumimoji="0" lang="zh-CN" altLang="en-US" sz="2400">
                <a:solidFill>
                  <a:srgbClr val="000000"/>
                </a:solidFill>
                <a:latin typeface="Arial" charset="0"/>
              </a:rPr>
              <a:t>因</a:t>
            </a:r>
            <a:r>
              <a:rPr kumimoji="0" lang="zh-CN" altLang="en-US" sz="2400" smtClean="0">
                <a:solidFill>
                  <a:srgbClr val="000000"/>
                </a:solidFill>
                <a:latin typeface="Arial" charset="0"/>
              </a:rPr>
              <a:t>为是匀</a:t>
            </a:r>
            <a:r>
              <a:rPr kumimoji="0" lang="zh-CN" altLang="en-US" sz="2400" dirty="0">
                <a:solidFill>
                  <a:srgbClr val="000000"/>
                </a:solidFill>
                <a:latin typeface="Arial" charset="0"/>
              </a:rPr>
              <a:t>变速率圆周运动</a:t>
            </a:r>
            <a:endParaRPr kumimoji="0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4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029450" y="4863704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12</a:t>
            </a: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40699" y="2545122"/>
            <a:ext cx="4824182" cy="479884"/>
            <a:chOff x="1040699" y="2545122"/>
            <a:chExt cx="4824182" cy="479884"/>
          </a:xfrm>
        </p:grpSpPr>
        <p:graphicFrame>
          <p:nvGraphicFramePr>
            <p:cNvPr id="43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0556271"/>
                </p:ext>
              </p:extLst>
            </p:nvPr>
          </p:nvGraphicFramePr>
          <p:xfrm>
            <a:off x="1477579" y="2665562"/>
            <a:ext cx="1301211" cy="34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6" name="Equation" r:id="rId32" imgW="1511280" imgH="431640" progId="Equation.DSMT4">
                    <p:embed/>
                  </p:oleObj>
                </mc:Choice>
                <mc:Fallback>
                  <p:oleObj name="Equation" r:id="rId32" imgW="15112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7579" y="2665562"/>
                          <a:ext cx="1301211" cy="3412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4640513"/>
                </p:ext>
              </p:extLst>
            </p:nvPr>
          </p:nvGraphicFramePr>
          <p:xfrm>
            <a:off x="4312306" y="2632099"/>
            <a:ext cx="1552575" cy="392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7" name="Equation" r:id="rId34" imgW="1396800" imgH="431640" progId="Equation.DSMT4">
                    <p:embed/>
                  </p:oleObj>
                </mc:Choice>
                <mc:Fallback>
                  <p:oleObj name="Equation" r:id="rId34" imgW="13968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2306" y="2632099"/>
                          <a:ext cx="1552575" cy="3929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7749378"/>
                </p:ext>
              </p:extLst>
            </p:nvPr>
          </p:nvGraphicFramePr>
          <p:xfrm>
            <a:off x="3402932" y="2632099"/>
            <a:ext cx="465582" cy="293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48" name="Equation" r:id="rId36" imgW="190440" imgH="126720" progId="Equation.DSMT4">
                    <p:embed/>
                  </p:oleObj>
                </mc:Choice>
                <mc:Fallback>
                  <p:oleObj name="Equation" r:id="rId36" imgW="19044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932" y="2632099"/>
                          <a:ext cx="465582" cy="2938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1040699" y="2545122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r>
                <a:rPr kumimoji="0" lang="zh-CN" altLang="en-US" sz="2400" dirty="0">
                  <a:solidFill>
                    <a:srgbClr val="000000"/>
                  </a:solidFill>
                </a:rPr>
                <a:t>由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3890303" y="254656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Font typeface="Arial" charset="0"/>
                <a:buNone/>
              </a:pPr>
              <a:r>
                <a:rPr kumimoji="0" lang="zh-CN" altLang="en-US" sz="2400">
                  <a:solidFill>
                    <a:srgbClr val="000000"/>
                  </a:solidFill>
                </a:rPr>
                <a:t>得</a:t>
              </a:r>
              <a:endParaRPr kumimoji="0" lang="zh-CN" altLang="en-US" sz="2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14581" y="3897122"/>
            <a:ext cx="3221229" cy="813197"/>
            <a:chOff x="1114581" y="3897122"/>
            <a:chExt cx="3221229" cy="813197"/>
          </a:xfrm>
        </p:grpSpPr>
        <p:grpSp>
          <p:nvGrpSpPr>
            <p:cNvPr id="2" name="Group 7"/>
            <p:cNvGrpSpPr>
              <a:grpSpLocks/>
            </p:cNvGrpSpPr>
            <p:nvPr/>
          </p:nvGrpSpPr>
          <p:grpSpPr bwMode="auto">
            <a:xfrm>
              <a:off x="1114581" y="3897122"/>
              <a:ext cx="1799035" cy="813197"/>
              <a:chOff x="0" y="109"/>
              <a:chExt cx="1511" cy="683"/>
            </a:xfrm>
          </p:grpSpPr>
          <p:graphicFrame>
            <p:nvGraphicFramePr>
              <p:cNvPr id="17424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5110235"/>
                  </p:ext>
                </p:extLst>
              </p:nvPr>
            </p:nvGraphicFramePr>
            <p:xfrm>
              <a:off x="608" y="109"/>
              <a:ext cx="903" cy="6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149" r:id="rId38" imgW="533863" imgH="419464" progId="Equation.3">
                      <p:embed/>
                    </p:oleObj>
                  </mc:Choice>
                  <mc:Fallback>
                    <p:oleObj r:id="rId38" imgW="533863" imgH="41946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8" y="109"/>
                            <a:ext cx="903" cy="683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48" name="Text Box 9"/>
              <p:cNvSpPr txBox="1">
                <a:spLocks noChangeArrowheads="1"/>
              </p:cNvSpPr>
              <p:nvPr/>
            </p:nvSpPr>
            <p:spPr bwMode="auto">
              <a:xfrm>
                <a:off x="0" y="272"/>
                <a:ext cx="941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en-US" altLang="zh-CN" sz="2400" b="0" i="1" smtClean="0">
                    <a:solidFill>
                      <a:srgbClr val="000000"/>
                    </a:solidFill>
                  </a:rPr>
                  <a:t>B</a:t>
                </a:r>
                <a:r>
                  <a:rPr kumimoji="0" lang="zh-CN" altLang="en-US" sz="2400">
                    <a:solidFill>
                      <a:srgbClr val="000000"/>
                    </a:solidFill>
                    <a:latin typeface="Arial" charset="0"/>
                  </a:rPr>
                  <a:t>点</a:t>
                </a:r>
              </a:p>
            </p:txBody>
          </p:sp>
        </p:grpSp>
        <p:graphicFrame>
          <p:nvGraphicFramePr>
            <p:cNvPr id="4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741355"/>
                </p:ext>
              </p:extLst>
            </p:nvPr>
          </p:nvGraphicFramePr>
          <p:xfrm>
            <a:off x="2935635" y="4110244"/>
            <a:ext cx="1400175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0" name="Equation" r:id="rId40" imgW="749160" imgH="228600" progId="Equation.DSMT4">
                    <p:embed/>
                  </p:oleObj>
                </mc:Choice>
                <mc:Fallback>
                  <p:oleObj name="Equation" r:id="rId40" imgW="749160" imgH="228600" progId="Equation.DSMT4">
                    <p:embed/>
                    <p:pic>
                      <p:nvPicPr>
                        <p:cNvPr id="1742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635" y="4110244"/>
                          <a:ext cx="1400175" cy="42386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882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356790"/>
              </p:ext>
            </p:extLst>
          </p:nvPr>
        </p:nvGraphicFramePr>
        <p:xfrm>
          <a:off x="956658" y="664162"/>
          <a:ext cx="3588544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42" r:id="rId3" imgW="1562100" imgH="292100" progId="Equation.3">
                  <p:embed/>
                </p:oleObj>
              </mc:Choice>
              <mc:Fallback>
                <p:oleObj r:id="rId3" imgW="1562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658" y="664162"/>
                        <a:ext cx="3588544" cy="671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178182"/>
              </p:ext>
            </p:extLst>
          </p:nvPr>
        </p:nvGraphicFramePr>
        <p:xfrm>
          <a:off x="956658" y="1482122"/>
          <a:ext cx="3349229" cy="988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43" r:id="rId5" imgW="1320227" imgH="431613" progId="Equation.DSMT4">
                  <p:embed/>
                </p:oleObj>
              </mc:Choice>
              <mc:Fallback>
                <p:oleObj r:id="rId5" imgW="1320227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658" y="1482122"/>
                        <a:ext cx="3349229" cy="9882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9400" y="2965677"/>
            <a:ext cx="3943350" cy="461963"/>
            <a:chOff x="0" y="0"/>
            <a:chExt cx="3312" cy="388"/>
          </a:xfrm>
        </p:grpSpPr>
        <p:sp>
          <p:nvSpPr>
            <p:cNvPr id="18467" name="Text Box 5"/>
            <p:cNvSpPr txBox="1">
              <a:spLocks noChangeArrowheads="1"/>
            </p:cNvSpPr>
            <p:nvPr/>
          </p:nvSpPr>
          <p:spPr bwMode="auto">
            <a:xfrm>
              <a:off x="0" y="0"/>
              <a:ext cx="331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None/>
              </a:pPr>
              <a:r>
                <a:rPr kumimoji="0" lang="zh-CN" altLang="en-US" sz="2400">
                  <a:solidFill>
                    <a:srgbClr val="CC0000"/>
                  </a:solidFill>
                </a:rPr>
                <a:t>（</a:t>
              </a:r>
              <a:r>
                <a:rPr kumimoji="0" lang="en-US" altLang="zh-CN" sz="2400">
                  <a:solidFill>
                    <a:srgbClr val="CC0000"/>
                  </a:solidFill>
                </a:rPr>
                <a:t>2</a:t>
              </a:r>
              <a:r>
                <a:rPr kumimoji="0" lang="zh-CN" altLang="en-US" sz="2400">
                  <a:solidFill>
                    <a:srgbClr val="CC0000"/>
                  </a:solidFill>
                </a:rPr>
                <a:t>）</a:t>
              </a:r>
              <a:r>
                <a:rPr kumimoji="0" lang="zh-CN" altLang="en-US" sz="2400">
                  <a:solidFill>
                    <a:srgbClr val="000000"/>
                  </a:solidFill>
                </a:rPr>
                <a:t>矢径   所转过的角度</a:t>
              </a:r>
            </a:p>
          </p:txBody>
        </p:sp>
        <p:graphicFrame>
          <p:nvGraphicFramePr>
            <p:cNvPr id="18447" name="Object 6"/>
            <p:cNvGraphicFramePr>
              <a:graphicFrameLocks noChangeAspect="1"/>
            </p:cNvGraphicFramePr>
            <p:nvPr/>
          </p:nvGraphicFramePr>
          <p:xfrm>
            <a:off x="1225" y="30"/>
            <a:ext cx="19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844" r:id="rId7" imgW="178032" imgH="216181" progId="Equation.3">
                    <p:embed/>
                  </p:oleObj>
                </mc:Choice>
                <mc:Fallback>
                  <p:oleObj r:id="rId7" imgW="178032" imgH="21618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30"/>
                          <a:ext cx="194" cy="2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718958"/>
              </p:ext>
            </p:extLst>
          </p:nvPr>
        </p:nvGraphicFramePr>
        <p:xfrm>
          <a:off x="3961042" y="2838450"/>
          <a:ext cx="2393156" cy="756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45" name="Equation" r:id="rId9" imgW="1079280" imgH="393480" progId="Equation.DSMT4">
                  <p:embed/>
                </p:oleObj>
              </mc:Choice>
              <mc:Fallback>
                <p:oleObj name="Equation" r:id="rId9" imgW="107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1042" y="2838450"/>
                        <a:ext cx="2393156" cy="756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707343"/>
              </p:ext>
            </p:extLst>
          </p:nvPr>
        </p:nvGraphicFramePr>
        <p:xfrm>
          <a:off x="1189435" y="3721724"/>
          <a:ext cx="4799409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46" r:id="rId11" imgW="2005729" imgH="393529" progId="Equation.DSMT4">
                  <p:embed/>
                </p:oleObj>
              </mc:Choice>
              <mc:Fallback>
                <p:oleObj r:id="rId11" imgW="200572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435" y="3721724"/>
                        <a:ext cx="4799409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497829" y="535575"/>
            <a:ext cx="2228850" cy="2114550"/>
            <a:chOff x="6497829" y="535575"/>
            <a:chExt cx="2228850" cy="2114550"/>
          </a:xfrm>
        </p:grpSpPr>
        <p:grpSp>
          <p:nvGrpSpPr>
            <p:cNvPr id="37" name="Group 14"/>
            <p:cNvGrpSpPr>
              <a:grpSpLocks/>
            </p:cNvGrpSpPr>
            <p:nvPr/>
          </p:nvGrpSpPr>
          <p:grpSpPr bwMode="auto">
            <a:xfrm>
              <a:off x="6497829" y="535575"/>
              <a:ext cx="2228850" cy="2114550"/>
              <a:chOff x="48" y="0"/>
              <a:chExt cx="1872" cy="1776"/>
            </a:xfrm>
          </p:grpSpPr>
          <p:sp>
            <p:nvSpPr>
              <p:cNvPr id="38" name="Freeform 16"/>
              <p:cNvSpPr>
                <a:spLocks/>
              </p:cNvSpPr>
              <p:nvPr/>
            </p:nvSpPr>
            <p:spPr bwMode="auto">
              <a:xfrm>
                <a:off x="192" y="288"/>
                <a:ext cx="1263" cy="1385"/>
              </a:xfrm>
              <a:custGeom>
                <a:avLst/>
                <a:gdLst>
                  <a:gd name="T0" fmla="*/ 0 w 1263"/>
                  <a:gd name="T1" fmla="*/ 0 h 1385"/>
                  <a:gd name="T2" fmla="*/ 406 w 1263"/>
                  <a:gd name="T3" fmla="*/ 61 h 1385"/>
                  <a:gd name="T4" fmla="*/ 713 w 1263"/>
                  <a:gd name="T5" fmla="*/ 211 h 1385"/>
                  <a:gd name="T6" fmla="*/ 1008 w 1263"/>
                  <a:gd name="T7" fmla="*/ 501 h 1385"/>
                  <a:gd name="T8" fmla="*/ 1166 w 1263"/>
                  <a:gd name="T9" fmla="*/ 795 h 1385"/>
                  <a:gd name="T10" fmla="*/ 1248 w 1263"/>
                  <a:gd name="T11" fmla="*/ 1152 h 1385"/>
                  <a:gd name="T12" fmla="*/ 1255 w 1263"/>
                  <a:gd name="T13" fmla="*/ 1385 h 13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3"/>
                  <a:gd name="T22" fmla="*/ 0 h 1385"/>
                  <a:gd name="T23" fmla="*/ 1263 w 1263"/>
                  <a:gd name="T24" fmla="*/ 1385 h 13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3" h="1385">
                    <a:moveTo>
                      <a:pt x="0" y="0"/>
                    </a:moveTo>
                    <a:cubicBezTo>
                      <a:pt x="140" y="10"/>
                      <a:pt x="288" y="27"/>
                      <a:pt x="406" y="61"/>
                    </a:cubicBezTo>
                    <a:cubicBezTo>
                      <a:pt x="525" y="96"/>
                      <a:pt x="613" y="138"/>
                      <a:pt x="713" y="211"/>
                    </a:cubicBezTo>
                    <a:cubicBezTo>
                      <a:pt x="813" y="284"/>
                      <a:pt x="933" y="404"/>
                      <a:pt x="1008" y="501"/>
                    </a:cubicBezTo>
                    <a:cubicBezTo>
                      <a:pt x="1083" y="598"/>
                      <a:pt x="1126" y="687"/>
                      <a:pt x="1166" y="795"/>
                    </a:cubicBezTo>
                    <a:cubicBezTo>
                      <a:pt x="1206" y="903"/>
                      <a:pt x="1233" y="1054"/>
                      <a:pt x="1248" y="1152"/>
                    </a:cubicBezTo>
                    <a:cubicBezTo>
                      <a:pt x="1263" y="1250"/>
                      <a:pt x="1254" y="1337"/>
                      <a:pt x="1255" y="1385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Line 17"/>
              <p:cNvSpPr>
                <a:spLocks noChangeShapeType="1"/>
              </p:cNvSpPr>
              <p:nvPr/>
            </p:nvSpPr>
            <p:spPr bwMode="auto">
              <a:xfrm>
                <a:off x="192" y="288"/>
                <a:ext cx="0" cy="1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192" y="288"/>
                <a:ext cx="76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1104" y="672"/>
                <a:ext cx="720" cy="7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 20"/>
              <p:cNvSpPr>
                <a:spLocks/>
              </p:cNvSpPr>
              <p:nvPr/>
            </p:nvSpPr>
            <p:spPr bwMode="auto">
              <a:xfrm>
                <a:off x="192" y="1296"/>
                <a:ext cx="223" cy="62"/>
              </a:xfrm>
              <a:custGeom>
                <a:avLst/>
                <a:gdLst>
                  <a:gd name="T0" fmla="*/ 0 w 223"/>
                  <a:gd name="T1" fmla="*/ 0 h 62"/>
                  <a:gd name="T2" fmla="*/ 114 w 223"/>
                  <a:gd name="T3" fmla="*/ 16 h 62"/>
                  <a:gd name="T4" fmla="*/ 223 w 223"/>
                  <a:gd name="T5" fmla="*/ 62 h 62"/>
                  <a:gd name="T6" fmla="*/ 0 60000 65536"/>
                  <a:gd name="T7" fmla="*/ 0 60000 65536"/>
                  <a:gd name="T8" fmla="*/ 0 60000 65536"/>
                  <a:gd name="T9" fmla="*/ 0 w 223"/>
                  <a:gd name="T10" fmla="*/ 0 h 62"/>
                  <a:gd name="T11" fmla="*/ 223 w 223"/>
                  <a:gd name="T12" fmla="*/ 62 h 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" h="62">
                    <a:moveTo>
                      <a:pt x="0" y="0"/>
                    </a:moveTo>
                    <a:cubicBezTo>
                      <a:pt x="19" y="3"/>
                      <a:pt x="77" y="6"/>
                      <a:pt x="114" y="16"/>
                    </a:cubicBezTo>
                    <a:cubicBezTo>
                      <a:pt x="151" y="26"/>
                      <a:pt x="200" y="53"/>
                      <a:pt x="223" y="62"/>
                    </a:cubicBezTo>
                  </a:path>
                </a:pathLst>
              </a:custGeom>
              <a:noFill/>
              <a:ln w="19050" cmpd="sng">
                <a:solidFill>
                  <a:srgbClr val="CC00CC"/>
                </a:solidFill>
                <a:round/>
                <a:headEnd/>
                <a:tailEnd type="non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43" name="Object 21"/>
              <p:cNvGraphicFramePr>
                <a:graphicFrameLocks noChangeAspect="1"/>
              </p:cNvGraphicFramePr>
              <p:nvPr/>
            </p:nvGraphicFramePr>
            <p:xfrm>
              <a:off x="243" y="1100"/>
              <a:ext cx="222" cy="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47" r:id="rId13" imgW="241091" imgH="177646" progId="Equation.DSMT4">
                      <p:embed/>
                    </p:oleObj>
                  </mc:Choice>
                  <mc:Fallback>
                    <p:oleObj r:id="rId13" imgW="241091" imgH="177646" progId="Equation.DSMT4">
                      <p:embed/>
                      <p:pic>
                        <p:nvPicPr>
                          <p:cNvPr id="17418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3" y="1100"/>
                            <a:ext cx="222" cy="1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22"/>
              <p:cNvGraphicFramePr>
                <a:graphicFrameLocks noChangeAspect="1"/>
              </p:cNvGraphicFramePr>
              <p:nvPr/>
            </p:nvGraphicFramePr>
            <p:xfrm>
              <a:off x="48" y="1572"/>
              <a:ext cx="17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48" r:id="rId15" imgW="165459" imgH="190914" progId="Equation.3">
                      <p:embed/>
                    </p:oleObj>
                  </mc:Choice>
                  <mc:Fallback>
                    <p:oleObj r:id="rId15" imgW="165459" imgH="190914" progId="Equation.3">
                      <p:embed/>
                      <p:pic>
                        <p:nvPicPr>
                          <p:cNvPr id="17419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1572"/>
                            <a:ext cx="177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Text Box 23"/>
              <p:cNvSpPr txBox="1">
                <a:spLocks noChangeArrowheads="1"/>
              </p:cNvSpPr>
              <p:nvPr/>
            </p:nvSpPr>
            <p:spPr bwMode="auto">
              <a:xfrm>
                <a:off x="48" y="0"/>
                <a:ext cx="288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en-US" altLang="zh-CN" sz="2100" b="0" i="1">
                    <a:solidFill>
                      <a:srgbClr val="1C1C1C"/>
                    </a:solidFill>
                  </a:rPr>
                  <a:t>A</a:t>
                </a:r>
              </a:p>
            </p:txBody>
          </p:sp>
          <p:sp>
            <p:nvSpPr>
              <p:cNvPr id="46" name="Text Box 24"/>
              <p:cNvSpPr txBox="1">
                <a:spLocks noChangeArrowheads="1"/>
              </p:cNvSpPr>
              <p:nvPr/>
            </p:nvSpPr>
            <p:spPr bwMode="auto">
              <a:xfrm>
                <a:off x="1056" y="384"/>
                <a:ext cx="336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Arial" charset="0"/>
                  <a:buNone/>
                </a:pPr>
                <a:r>
                  <a:rPr kumimoji="0" lang="en-US" altLang="zh-CN" sz="2100" b="0" i="1">
                    <a:solidFill>
                      <a:srgbClr val="1C1C1C"/>
                    </a:solidFill>
                  </a:rPr>
                  <a:t>B</a:t>
                </a:r>
              </a:p>
            </p:txBody>
          </p:sp>
          <p:graphicFrame>
            <p:nvGraphicFramePr>
              <p:cNvPr id="47" name="Object 25"/>
              <p:cNvGraphicFramePr>
                <a:graphicFrameLocks noChangeAspect="1"/>
              </p:cNvGraphicFramePr>
              <p:nvPr/>
            </p:nvGraphicFramePr>
            <p:xfrm>
              <a:off x="914" y="0"/>
              <a:ext cx="32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49" r:id="rId17" imgW="305065" imgH="317776" progId="Equation.3">
                      <p:embed/>
                    </p:oleObj>
                  </mc:Choice>
                  <mc:Fallback>
                    <p:oleObj r:id="rId17" imgW="305065" imgH="317776" progId="Equation.3">
                      <p:embed/>
                      <p:pic>
                        <p:nvPicPr>
                          <p:cNvPr id="1742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4" y="0"/>
                            <a:ext cx="322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26"/>
              <p:cNvGraphicFramePr>
                <a:graphicFrameLocks noChangeAspect="1"/>
              </p:cNvGraphicFramePr>
              <p:nvPr/>
            </p:nvGraphicFramePr>
            <p:xfrm>
              <a:off x="1598" y="1344"/>
              <a:ext cx="32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0" r:id="rId19" imgW="305065" imgH="317776" progId="Equation.3">
                      <p:embed/>
                    </p:oleObj>
                  </mc:Choice>
                  <mc:Fallback>
                    <p:oleObj r:id="rId19" imgW="305065" imgH="317776" progId="Equation.3">
                      <p:embed/>
                      <p:pic>
                        <p:nvPicPr>
                          <p:cNvPr id="17421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8" y="1344"/>
                            <a:ext cx="322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Line 27"/>
              <p:cNvSpPr>
                <a:spLocks noChangeShapeType="1"/>
              </p:cNvSpPr>
              <p:nvPr/>
            </p:nvSpPr>
            <p:spPr bwMode="auto">
              <a:xfrm flipV="1">
                <a:off x="192" y="672"/>
                <a:ext cx="912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0" name="Object 28"/>
              <p:cNvGraphicFramePr>
                <a:graphicFrameLocks noChangeAspect="1"/>
              </p:cNvGraphicFramePr>
              <p:nvPr/>
            </p:nvGraphicFramePr>
            <p:xfrm>
              <a:off x="192" y="672"/>
              <a:ext cx="171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1" r:id="rId21" imgW="152665" imgH="178109" progId="Equation.3">
                      <p:embed/>
                    </p:oleObj>
                  </mc:Choice>
                  <mc:Fallback>
                    <p:oleObj r:id="rId21" imgW="152665" imgH="178109" progId="Equation.3">
                      <p:embed/>
                      <p:pic>
                        <p:nvPicPr>
                          <p:cNvPr id="17422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672"/>
                            <a:ext cx="171" cy="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" name="Group 29"/>
            <p:cNvGrpSpPr>
              <a:grpSpLocks/>
            </p:cNvGrpSpPr>
            <p:nvPr/>
          </p:nvGrpSpPr>
          <p:grpSpPr bwMode="auto">
            <a:xfrm>
              <a:off x="6959792" y="1335675"/>
              <a:ext cx="1358503" cy="1057275"/>
              <a:chOff x="0" y="0"/>
              <a:chExt cx="1141" cy="888"/>
            </a:xfrm>
          </p:grpSpPr>
          <p:sp>
            <p:nvSpPr>
              <p:cNvPr id="52" name="Line 30"/>
              <p:cNvSpPr>
                <a:spLocks noChangeShapeType="1"/>
              </p:cNvSpPr>
              <p:nvPr/>
            </p:nvSpPr>
            <p:spPr bwMode="auto">
              <a:xfrm flipH="1">
                <a:off x="525" y="0"/>
                <a:ext cx="144" cy="576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Line 31"/>
              <p:cNvSpPr>
                <a:spLocks noChangeShapeType="1"/>
              </p:cNvSpPr>
              <p:nvPr/>
            </p:nvSpPr>
            <p:spPr bwMode="auto">
              <a:xfrm flipH="1">
                <a:off x="285" y="0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33CC33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Line 32"/>
              <p:cNvSpPr>
                <a:spLocks noChangeShapeType="1"/>
              </p:cNvSpPr>
              <p:nvPr/>
            </p:nvSpPr>
            <p:spPr bwMode="auto">
              <a:xfrm>
                <a:off x="669" y="0"/>
                <a:ext cx="225" cy="247"/>
              </a:xfrm>
              <a:prstGeom prst="line">
                <a:avLst/>
              </a:prstGeom>
              <a:noFill/>
              <a:ln w="28575">
                <a:solidFill>
                  <a:srgbClr val="33CC33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Line 33"/>
              <p:cNvSpPr>
                <a:spLocks noChangeShapeType="1"/>
              </p:cNvSpPr>
              <p:nvPr/>
            </p:nvSpPr>
            <p:spPr bwMode="auto">
              <a:xfrm flipV="1">
                <a:off x="525" y="231"/>
                <a:ext cx="369" cy="34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Line 34"/>
              <p:cNvSpPr>
                <a:spLocks noChangeShapeType="1"/>
              </p:cNvSpPr>
              <p:nvPr/>
            </p:nvSpPr>
            <p:spPr bwMode="auto">
              <a:xfrm flipH="1" flipV="1">
                <a:off x="302" y="357"/>
                <a:ext cx="223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57" name="Object 35"/>
              <p:cNvGraphicFramePr>
                <a:graphicFrameLocks noChangeAspect="1"/>
              </p:cNvGraphicFramePr>
              <p:nvPr/>
            </p:nvGraphicFramePr>
            <p:xfrm>
              <a:off x="381" y="576"/>
              <a:ext cx="243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2" r:id="rId23" imgW="178032" imgH="228898" progId="Equation.3">
                      <p:embed/>
                    </p:oleObj>
                  </mc:Choice>
                  <mc:Fallback>
                    <p:oleObj r:id="rId23" imgW="178032" imgH="228898" progId="Equation.3">
                      <p:embed/>
                      <p:pic>
                        <p:nvPicPr>
                          <p:cNvPr id="17414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" y="576"/>
                            <a:ext cx="243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36"/>
              <p:cNvGraphicFramePr>
                <a:graphicFrameLocks noChangeAspect="1"/>
              </p:cNvGraphicFramePr>
              <p:nvPr/>
            </p:nvGraphicFramePr>
            <p:xfrm>
              <a:off x="915" y="48"/>
              <a:ext cx="226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3" r:id="rId25" imgW="241720" imgH="330774" progId="Equation.3">
                      <p:embed/>
                    </p:oleObj>
                  </mc:Choice>
                  <mc:Fallback>
                    <p:oleObj r:id="rId25" imgW="241720" imgH="330774" progId="Equation.3">
                      <p:embed/>
                      <p:pic>
                        <p:nvPicPr>
                          <p:cNvPr id="17415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5" y="48"/>
                            <a:ext cx="226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Object 37"/>
              <p:cNvGraphicFramePr>
                <a:graphicFrameLocks noChangeAspect="1"/>
              </p:cNvGraphicFramePr>
              <p:nvPr/>
            </p:nvGraphicFramePr>
            <p:xfrm>
              <a:off x="0" y="48"/>
              <a:ext cx="295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4" r:id="rId27" imgW="266816" imgH="317638" progId="Equation.3">
                      <p:embed/>
                    </p:oleObj>
                  </mc:Choice>
                  <mc:Fallback>
                    <p:oleObj r:id="rId27" imgW="266816" imgH="317638" progId="Equation.3">
                      <p:embed/>
                      <p:pic>
                        <p:nvPicPr>
                          <p:cNvPr id="17416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48"/>
                            <a:ext cx="295" cy="3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" name="Freeform 38"/>
              <p:cNvSpPr>
                <a:spLocks/>
              </p:cNvSpPr>
              <p:nvPr/>
            </p:nvSpPr>
            <p:spPr bwMode="auto">
              <a:xfrm rot="1953793">
                <a:off x="521" y="152"/>
                <a:ext cx="108" cy="54"/>
              </a:xfrm>
              <a:custGeom>
                <a:avLst/>
                <a:gdLst>
                  <a:gd name="T0" fmla="*/ 2 w 144"/>
                  <a:gd name="T1" fmla="*/ 31 h 56"/>
                  <a:gd name="T2" fmla="*/ 2 w 144"/>
                  <a:gd name="T3" fmla="*/ 31 h 56"/>
                  <a:gd name="T4" fmla="*/ 0 w 144"/>
                  <a:gd name="T5" fmla="*/ 0 h 56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56"/>
                  <a:gd name="T11" fmla="*/ 144 w 144"/>
                  <a:gd name="T12" fmla="*/ 56 h 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56">
                    <a:moveTo>
                      <a:pt x="144" y="48"/>
                    </a:moveTo>
                    <a:cubicBezTo>
                      <a:pt x="108" y="52"/>
                      <a:pt x="72" y="56"/>
                      <a:pt x="48" y="48"/>
                    </a:cubicBezTo>
                    <a:cubicBezTo>
                      <a:pt x="24" y="40"/>
                      <a:pt x="8" y="8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Arial" charset="0"/>
                  <a:buNone/>
                </a:pPr>
                <a:endParaRPr kumimoji="0" lang="zh-CN" altLang="en-US" sz="24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61" name="Object 39"/>
              <p:cNvGraphicFramePr>
                <a:graphicFrameLocks noChangeAspect="1"/>
              </p:cNvGraphicFramePr>
              <p:nvPr/>
            </p:nvGraphicFramePr>
            <p:xfrm>
              <a:off x="432" y="247"/>
              <a:ext cx="146" cy="1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855" r:id="rId29" imgW="139579" imgH="164957" progId="Equation.DSMT4">
                      <p:embed/>
                    </p:oleObj>
                  </mc:Choice>
                  <mc:Fallback>
                    <p:oleObj r:id="rId29" imgW="139579" imgH="164957" progId="Equation.DSMT4">
                      <p:embed/>
                      <p:pic>
                        <p:nvPicPr>
                          <p:cNvPr id="17417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247"/>
                            <a:ext cx="146" cy="17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7029450" y="4863704"/>
            <a:ext cx="2133600" cy="273844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000000"/>
                </a:solidFill>
              </a:rPr>
              <a:t>13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6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36E5F3-AF3B-478D-8CDE-ED53694A34B1}" type="slidenum">
              <a:rPr lang="zh-CN" alt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4341" name="Text Box 19"/>
          <p:cNvSpPr txBox="1">
            <a:spLocks noChangeArrowheads="1"/>
          </p:cNvSpPr>
          <p:nvPr/>
        </p:nvSpPr>
        <p:spPr bwMode="auto">
          <a:xfrm>
            <a:off x="447675" y="240506"/>
            <a:ext cx="7762875" cy="1805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C00000"/>
                </a:solidFill>
              </a:rPr>
              <a:t>例</a:t>
            </a:r>
            <a:r>
              <a:rPr lang="en-US" altLang="zh-CN" sz="2100">
                <a:solidFill>
                  <a:srgbClr val="C00000"/>
                </a:solidFill>
              </a:rPr>
              <a:t>2   </a:t>
            </a:r>
            <a:r>
              <a:rPr lang="zh-CN" altLang="en-US" sz="2100"/>
              <a:t>质点</a:t>
            </a:r>
            <a:r>
              <a:rPr lang="en-US" altLang="zh-CN" sz="2100" i="1"/>
              <a:t>M</a:t>
            </a:r>
            <a:r>
              <a:rPr lang="zh-CN" altLang="zh-CN" sz="2100"/>
              <a:t>在水平面内运动    轨道如图所示：</a:t>
            </a:r>
            <a:r>
              <a:rPr lang="en-US" altLang="zh-CN" sz="2100" i="1"/>
              <a:t>OA</a:t>
            </a:r>
            <a:r>
              <a:rPr lang="zh-CN" altLang="zh-CN" sz="2100"/>
              <a:t>段为直线, </a:t>
            </a:r>
            <a:r>
              <a:rPr lang="en-US" altLang="zh-CN" sz="2100" i="1"/>
              <a:t>AB</a:t>
            </a:r>
            <a:r>
              <a:rPr lang="zh-CN" altLang="en-US" sz="2100"/>
              <a:t>和</a:t>
            </a:r>
            <a:r>
              <a:rPr lang="en-US" altLang="zh-CN" sz="2100" i="1"/>
              <a:t>BC</a:t>
            </a:r>
            <a:r>
              <a:rPr lang="zh-CN" altLang="zh-CN" sz="2100"/>
              <a:t>段分别为不同半径的两个1/4圆周。设</a:t>
            </a:r>
            <a:r>
              <a:rPr lang="en-US" altLang="zh-CN" sz="2100" i="1"/>
              <a:t>t </a:t>
            </a:r>
            <a:r>
              <a:rPr lang="en-US" altLang="zh-CN" sz="2100"/>
              <a:t>= 0 </a:t>
            </a:r>
            <a:r>
              <a:rPr lang="zh-CN" altLang="zh-CN" sz="2100"/>
              <a:t>时</a:t>
            </a:r>
            <a:r>
              <a:rPr lang="en-US" altLang="zh-CN" sz="2100" i="1"/>
              <a:t>M</a:t>
            </a:r>
            <a:r>
              <a:rPr lang="zh-CN" altLang="zh-CN" sz="2100"/>
              <a:t>在</a:t>
            </a:r>
            <a:r>
              <a:rPr lang="zh-CN" altLang="zh-CN" sz="2100" i="1"/>
              <a:t>O</a:t>
            </a:r>
            <a:r>
              <a:rPr lang="zh-CN" altLang="zh-CN" sz="2100"/>
              <a:t>点，</a:t>
            </a:r>
            <a:r>
              <a:rPr lang="zh-CN" altLang="en-US" sz="2100"/>
              <a:t>其</a:t>
            </a:r>
            <a:r>
              <a:rPr lang="zh-CN" altLang="zh-CN" sz="2100"/>
              <a:t>运动方程为</a:t>
            </a:r>
            <a:r>
              <a:rPr lang="en-US" altLang="zh-CN" sz="2100"/>
              <a:t> </a:t>
            </a:r>
            <a:r>
              <a:rPr lang="en-US" altLang="zh-CN" sz="2100" i="1"/>
              <a:t>S </a:t>
            </a:r>
            <a:r>
              <a:rPr lang="en-US" altLang="zh-CN" sz="2100"/>
              <a:t>= 30</a:t>
            </a:r>
            <a:r>
              <a:rPr lang="en-US" altLang="zh-CN" sz="2100" i="1"/>
              <a:t>t </a:t>
            </a:r>
            <a:r>
              <a:rPr lang="en-US" altLang="zh-CN" sz="2100"/>
              <a:t>+ 5</a:t>
            </a:r>
            <a:r>
              <a:rPr lang="en-US" altLang="zh-CN" sz="2100" i="1"/>
              <a:t>t</a:t>
            </a:r>
            <a:r>
              <a:rPr lang="en-US" altLang="zh-CN" sz="2100" baseline="30000"/>
              <a:t>2</a:t>
            </a:r>
            <a:r>
              <a:rPr lang="en-US" altLang="zh-CN" sz="2100"/>
              <a:t> (SI</a:t>
            </a:r>
            <a:r>
              <a:rPr lang="en-US" altLang="zh-CN" sz="2100" smtClean="0"/>
              <a:t>)</a:t>
            </a:r>
          </a:p>
          <a:p>
            <a:pPr>
              <a:lnSpc>
                <a:spcPct val="120000"/>
              </a:lnSpc>
            </a:pPr>
            <a:r>
              <a:rPr lang="zh-CN" altLang="zh-CN" sz="2100" smtClean="0"/>
              <a:t>求</a:t>
            </a:r>
            <a:r>
              <a:rPr lang="zh-CN" altLang="en-US" sz="2100" smtClean="0"/>
              <a:t>：</a:t>
            </a:r>
            <a:r>
              <a:rPr lang="en-US" altLang="zh-CN" sz="2100" smtClean="0"/>
              <a:t> </a:t>
            </a:r>
            <a:r>
              <a:rPr lang="en-US" altLang="zh-CN" sz="2100" i="1"/>
              <a:t>t </a:t>
            </a:r>
            <a:r>
              <a:rPr lang="en-US" altLang="zh-CN" sz="2100"/>
              <a:t>= 2</a:t>
            </a:r>
            <a:r>
              <a:rPr lang="zh-CN" altLang="zh-CN" sz="2100"/>
              <a:t>秒时质点</a:t>
            </a:r>
            <a:r>
              <a:rPr lang="en-US" altLang="zh-CN" sz="2100" i="1"/>
              <a:t>M</a:t>
            </a:r>
            <a:r>
              <a:rPr lang="zh-CN" altLang="zh-CN" sz="2100"/>
              <a:t>的</a:t>
            </a:r>
            <a:r>
              <a:rPr lang="zh-CN" altLang="zh-CN" sz="2100">
                <a:solidFill>
                  <a:srgbClr val="FF0000"/>
                </a:solidFill>
              </a:rPr>
              <a:t>切向加速度</a:t>
            </a:r>
            <a:r>
              <a:rPr lang="zh-CN" altLang="zh-CN" sz="2100"/>
              <a:t>和</a:t>
            </a:r>
            <a:r>
              <a:rPr lang="zh-CN" altLang="zh-CN" sz="2100">
                <a:solidFill>
                  <a:srgbClr val="FF0000"/>
                </a:solidFill>
              </a:rPr>
              <a:t>法向加速度</a:t>
            </a:r>
            <a:r>
              <a:rPr lang="zh-CN" altLang="zh-CN" sz="2100" smtClean="0"/>
              <a:t>。</a:t>
            </a:r>
            <a:endParaRPr lang="zh-CN" altLang="en-US" sz="2100"/>
          </a:p>
        </p:txBody>
      </p:sp>
      <p:grpSp>
        <p:nvGrpSpPr>
          <p:cNvPr id="14343" name="Group 48"/>
          <p:cNvGrpSpPr>
            <a:grpSpLocks/>
          </p:cNvGrpSpPr>
          <p:nvPr/>
        </p:nvGrpSpPr>
        <p:grpSpPr bwMode="auto">
          <a:xfrm>
            <a:off x="6419859" y="1702558"/>
            <a:ext cx="2524125" cy="1901428"/>
            <a:chOff x="3334" y="1961"/>
            <a:chExt cx="2120" cy="1597"/>
          </a:xfrm>
        </p:grpSpPr>
        <p:sp>
          <p:nvSpPr>
            <p:cNvPr id="14347" name="Line 32"/>
            <p:cNvSpPr>
              <a:spLocks noChangeShapeType="1"/>
            </p:cNvSpPr>
            <p:nvPr/>
          </p:nvSpPr>
          <p:spPr bwMode="auto">
            <a:xfrm flipV="1">
              <a:off x="4142" y="2792"/>
              <a:ext cx="886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48" name="Line 33"/>
            <p:cNvSpPr>
              <a:spLocks noChangeShapeType="1"/>
            </p:cNvSpPr>
            <p:nvPr/>
          </p:nvSpPr>
          <p:spPr bwMode="auto">
            <a:xfrm>
              <a:off x="4142" y="2264"/>
              <a:ext cx="0" cy="1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49" name="Arc 34"/>
            <p:cNvSpPr>
              <a:spLocks/>
            </p:cNvSpPr>
            <p:nvPr/>
          </p:nvSpPr>
          <p:spPr bwMode="auto">
            <a:xfrm>
              <a:off x="4142" y="2265"/>
              <a:ext cx="1008" cy="1146"/>
            </a:xfrm>
            <a:custGeom>
              <a:avLst/>
              <a:gdLst>
                <a:gd name="T0" fmla="*/ 0 w 21600"/>
                <a:gd name="T1" fmla="*/ 0 h 26063"/>
                <a:gd name="T2" fmla="*/ 0 w 21600"/>
                <a:gd name="T3" fmla="*/ 0 h 26063"/>
                <a:gd name="T4" fmla="*/ 0 w 21600"/>
                <a:gd name="T5" fmla="*/ 0 h 2606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063"/>
                <a:gd name="T11" fmla="*/ 21600 w 21600"/>
                <a:gd name="T12" fmla="*/ 26063 h 260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06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099"/>
                    <a:pt x="21443" y="24595"/>
                    <a:pt x="21133" y="26062"/>
                  </a:cubicBezTo>
                </a:path>
                <a:path w="21600" h="2606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099"/>
                    <a:pt x="21443" y="24595"/>
                    <a:pt x="21133" y="2606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4350" name="Arc 35"/>
            <p:cNvSpPr>
              <a:spLocks/>
            </p:cNvSpPr>
            <p:nvPr/>
          </p:nvSpPr>
          <p:spPr bwMode="auto">
            <a:xfrm flipH="1">
              <a:off x="3566" y="2264"/>
              <a:ext cx="576" cy="723"/>
            </a:xfrm>
            <a:custGeom>
              <a:avLst/>
              <a:gdLst>
                <a:gd name="T0" fmla="*/ 0 w 21600"/>
                <a:gd name="T1" fmla="*/ 0 h 23246"/>
                <a:gd name="T2" fmla="*/ 0 w 21600"/>
                <a:gd name="T3" fmla="*/ 0 h 23246"/>
                <a:gd name="T4" fmla="*/ 0 w 21600"/>
                <a:gd name="T5" fmla="*/ 0 h 2324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246"/>
                <a:gd name="T11" fmla="*/ 21600 w 21600"/>
                <a:gd name="T12" fmla="*/ 23246 h 232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24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49"/>
                    <a:pt x="21579" y="22698"/>
                    <a:pt x="21537" y="23246"/>
                  </a:cubicBezTo>
                </a:path>
                <a:path w="21600" h="2324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49"/>
                    <a:pt x="21579" y="22698"/>
                    <a:pt x="21537" y="2324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14351" name="Line 36"/>
            <p:cNvSpPr>
              <a:spLocks noChangeShapeType="1"/>
            </p:cNvSpPr>
            <p:nvPr/>
          </p:nvSpPr>
          <p:spPr bwMode="auto">
            <a:xfrm>
              <a:off x="3566" y="2980"/>
              <a:ext cx="0" cy="4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52" name="Line 37"/>
            <p:cNvSpPr>
              <a:spLocks noChangeShapeType="1"/>
            </p:cNvSpPr>
            <p:nvPr/>
          </p:nvSpPr>
          <p:spPr bwMode="auto">
            <a:xfrm>
              <a:off x="3566" y="3416"/>
              <a:ext cx="15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53" name="Line 38"/>
            <p:cNvSpPr>
              <a:spLocks noChangeShapeType="1"/>
            </p:cNvSpPr>
            <p:nvPr/>
          </p:nvSpPr>
          <p:spPr bwMode="auto">
            <a:xfrm>
              <a:off x="3566" y="288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54" name="Line 39"/>
            <p:cNvSpPr>
              <a:spLocks noChangeShapeType="1"/>
            </p:cNvSpPr>
            <p:nvPr/>
          </p:nvSpPr>
          <p:spPr bwMode="auto">
            <a:xfrm>
              <a:off x="3710" y="2504"/>
              <a:ext cx="432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14355" name="Text Box 40"/>
            <p:cNvSpPr txBox="1">
              <a:spLocks noChangeArrowheads="1"/>
            </p:cNvSpPr>
            <p:nvPr/>
          </p:nvSpPr>
          <p:spPr bwMode="auto">
            <a:xfrm>
              <a:off x="3334" y="3209"/>
              <a:ext cx="31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/>
                <a:t>O</a:t>
              </a:r>
            </a:p>
          </p:txBody>
        </p:sp>
        <p:sp>
          <p:nvSpPr>
            <p:cNvPr id="14356" name="Text Box 41"/>
            <p:cNvSpPr txBox="1">
              <a:spLocks noChangeArrowheads="1"/>
            </p:cNvSpPr>
            <p:nvPr/>
          </p:nvSpPr>
          <p:spPr bwMode="auto">
            <a:xfrm>
              <a:off x="3352" y="2681"/>
              <a:ext cx="29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 i="1"/>
                <a:t>A</a:t>
              </a:r>
            </a:p>
          </p:txBody>
        </p:sp>
        <p:sp>
          <p:nvSpPr>
            <p:cNvPr id="14357" name="Text Box 42"/>
            <p:cNvSpPr txBox="1">
              <a:spLocks noChangeArrowheads="1"/>
            </p:cNvSpPr>
            <p:nvPr/>
          </p:nvSpPr>
          <p:spPr bwMode="auto">
            <a:xfrm>
              <a:off x="4046" y="1961"/>
              <a:ext cx="29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 i="1"/>
                <a:t>B</a:t>
              </a:r>
            </a:p>
          </p:txBody>
        </p:sp>
        <p:sp>
          <p:nvSpPr>
            <p:cNvPr id="14358" name="Text Box 43"/>
            <p:cNvSpPr txBox="1">
              <a:spLocks noChangeArrowheads="1"/>
            </p:cNvSpPr>
            <p:nvPr/>
          </p:nvSpPr>
          <p:spPr bwMode="auto">
            <a:xfrm>
              <a:off x="5148" y="3186"/>
              <a:ext cx="30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 i="1"/>
                <a:t>C</a:t>
              </a:r>
            </a:p>
          </p:txBody>
        </p:sp>
        <p:sp>
          <p:nvSpPr>
            <p:cNvPr id="14359" name="Text Box 44"/>
            <p:cNvSpPr txBox="1">
              <a:spLocks noChangeArrowheads="1"/>
            </p:cNvSpPr>
            <p:nvPr/>
          </p:nvSpPr>
          <p:spPr bwMode="auto">
            <a:xfrm>
              <a:off x="3710" y="3098"/>
              <a:ext cx="43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/>
                <a:t>15 </a:t>
              </a:r>
            </a:p>
          </p:txBody>
        </p:sp>
        <p:sp>
          <p:nvSpPr>
            <p:cNvPr id="14360" name="Text Box 45"/>
            <p:cNvSpPr txBox="1">
              <a:spLocks noChangeArrowheads="1"/>
            </p:cNvSpPr>
            <p:nvPr/>
          </p:nvSpPr>
          <p:spPr bwMode="auto">
            <a:xfrm>
              <a:off x="4402" y="2777"/>
              <a:ext cx="43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100" b="0"/>
                <a:t>30 </a:t>
              </a:r>
            </a:p>
          </p:txBody>
        </p:sp>
        <p:sp>
          <p:nvSpPr>
            <p:cNvPr id="14361" name="Line 46"/>
            <p:cNvSpPr>
              <a:spLocks noChangeShapeType="1"/>
            </p:cNvSpPr>
            <p:nvPr/>
          </p:nvSpPr>
          <p:spPr bwMode="auto">
            <a:xfrm flipV="1">
              <a:off x="3699" y="2157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2100"/>
            </a:p>
          </p:txBody>
        </p:sp>
        <p:graphicFrame>
          <p:nvGraphicFramePr>
            <p:cNvPr id="14339" name="Object 47"/>
            <p:cNvGraphicFramePr>
              <a:graphicFrameLocks noChangeAspect="1"/>
            </p:cNvGraphicFramePr>
            <p:nvPr/>
          </p:nvGraphicFramePr>
          <p:xfrm>
            <a:off x="3696" y="2115"/>
            <a:ext cx="17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09" name="公式" r:id="rId3" imgW="126720" imgH="177480" progId="Equation.3">
                    <p:embed/>
                  </p:oleObj>
                </mc:Choice>
                <mc:Fallback>
                  <p:oleObj name="公式" r:id="rId3" imgW="126720" imgH="17748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115"/>
                          <a:ext cx="17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13" name="Text Box 49"/>
          <p:cNvSpPr txBox="1">
            <a:spLocks noChangeArrowheads="1"/>
          </p:cNvSpPr>
          <p:nvPr/>
        </p:nvSpPr>
        <p:spPr bwMode="auto">
          <a:xfrm>
            <a:off x="481627" y="2115875"/>
            <a:ext cx="571142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dirty="0">
                <a:solidFill>
                  <a:srgbClr val="A50021"/>
                </a:solidFill>
              </a:rPr>
              <a:t>解：</a:t>
            </a:r>
            <a:r>
              <a:rPr lang="en-US" altLang="zh-CN" sz="2100" i="1" dirty="0"/>
              <a:t>t </a:t>
            </a:r>
            <a:r>
              <a:rPr lang="en-US" altLang="zh-CN" sz="2100" dirty="0"/>
              <a:t>= 2s    </a:t>
            </a:r>
            <a:r>
              <a:rPr lang="en-US" altLang="zh-CN" sz="2100" i="1" dirty="0"/>
              <a:t>S </a:t>
            </a:r>
            <a:r>
              <a:rPr lang="en-US" altLang="zh-CN" sz="2100" dirty="0"/>
              <a:t>= 80m   </a:t>
            </a:r>
            <a:r>
              <a:rPr lang="zh-CN" altLang="zh-CN" sz="2100" dirty="0"/>
              <a:t>可知此时</a:t>
            </a:r>
            <a:r>
              <a:rPr lang="en-US" altLang="zh-CN" sz="2100" i="1" dirty="0"/>
              <a:t>M</a:t>
            </a:r>
            <a:r>
              <a:rPr lang="zh-CN" altLang="zh-CN" sz="2100" dirty="0"/>
              <a:t>在大圆上。</a:t>
            </a:r>
            <a:endParaRPr lang="zh-CN" altLang="en-US" sz="2100" dirty="0"/>
          </a:p>
        </p:txBody>
      </p:sp>
      <p:graphicFrame>
        <p:nvGraphicFramePr>
          <p:cNvPr id="1131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951664"/>
              </p:ext>
            </p:extLst>
          </p:nvPr>
        </p:nvGraphicFramePr>
        <p:xfrm>
          <a:off x="1044187" y="3999114"/>
          <a:ext cx="5937647" cy="75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0" name="Equation" r:id="rId5" imgW="3403440" imgH="419040" progId="Equation.DSMT4">
                  <p:embed/>
                </p:oleObj>
              </mc:Choice>
              <mc:Fallback>
                <p:oleObj name="Equation" r:id="rId5" imgW="3403440" imgH="41904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187" y="3999114"/>
                        <a:ext cx="5937647" cy="753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5" name="Text Box 51"/>
          <p:cNvSpPr txBox="1">
            <a:spLocks noChangeArrowheads="1"/>
          </p:cNvSpPr>
          <p:nvPr/>
        </p:nvSpPr>
        <p:spPr bwMode="auto">
          <a:xfrm>
            <a:off x="937040" y="2775228"/>
            <a:ext cx="5225654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100" dirty="0"/>
              <a:t>质点的瞬时速率  </a:t>
            </a:r>
            <a:r>
              <a:rPr lang="en-US" altLang="zh-CN" sz="2100" dirty="0"/>
              <a:t>            </a:t>
            </a:r>
            <a:r>
              <a:rPr lang="en-US" altLang="zh-CN" sz="2100" i="1" dirty="0"/>
              <a:t>=</a:t>
            </a:r>
            <a:r>
              <a:rPr lang="en-US" altLang="zh-CN" sz="2100" dirty="0"/>
              <a:t>30+10</a:t>
            </a:r>
            <a:r>
              <a:rPr lang="en-US" altLang="zh-CN" sz="2100" i="1" dirty="0"/>
              <a:t>t </a:t>
            </a:r>
            <a:r>
              <a:rPr lang="en-US" altLang="zh-CN" sz="2100" dirty="0"/>
              <a:t>(m/s)</a:t>
            </a:r>
          </a:p>
        </p:txBody>
      </p:sp>
      <p:sp>
        <p:nvSpPr>
          <p:cNvPr id="11316" name="Text Box 52"/>
          <p:cNvSpPr txBox="1">
            <a:spLocks noChangeArrowheads="1"/>
          </p:cNvSpPr>
          <p:nvPr/>
        </p:nvSpPr>
        <p:spPr bwMode="auto">
          <a:xfrm>
            <a:off x="937040" y="3423858"/>
            <a:ext cx="3726656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00" i="1"/>
              <a:t>t </a:t>
            </a:r>
            <a:r>
              <a:rPr lang="en-US" altLang="zh-CN" sz="2100"/>
              <a:t>= 2s     </a:t>
            </a:r>
            <a:r>
              <a:rPr lang="en-US" altLang="zh-CN" sz="2100" i="1">
                <a:latin typeface="Book Antiqua" pitchFamily="18" charset="0"/>
              </a:rPr>
              <a:t>v</a:t>
            </a:r>
            <a:r>
              <a:rPr lang="en-US" altLang="zh-CN" sz="2100" i="1"/>
              <a:t> </a:t>
            </a:r>
            <a:r>
              <a:rPr lang="en-US" altLang="zh-CN" sz="2100"/>
              <a:t>= 50m/s</a:t>
            </a:r>
          </a:p>
        </p:txBody>
      </p:sp>
      <p:graphicFrame>
        <p:nvGraphicFramePr>
          <p:cNvPr id="235524" name="Object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25581352"/>
              </p:ext>
            </p:extLst>
          </p:nvPr>
        </p:nvGraphicFramePr>
        <p:xfrm>
          <a:off x="2935277" y="2650518"/>
          <a:ext cx="810090" cy="67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1" name="Equation" r:id="rId7" imgW="469800" imgH="393480" progId="Equation.DSMT4">
                  <p:embed/>
                </p:oleObj>
              </mc:Choice>
              <mc:Fallback>
                <p:oleObj name="Equation" r:id="rId7" imgW="469800" imgH="393480" progId="Equation.DSMT4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77" y="2650518"/>
                        <a:ext cx="810090" cy="67821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3" grpId="0" autoUpdateAnimBg="0"/>
      <p:bldP spid="11315" grpId="0" autoUpdateAnimBg="0"/>
      <p:bldP spid="113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2F54ED-7F64-43F0-A513-3E9AF8694416}" type="slidenum">
              <a:rPr lang="zh-CN" alt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5368" name="Text Box 2"/>
          <p:cNvSpPr txBox="1">
            <a:spLocks noChangeArrowheads="1"/>
          </p:cNvSpPr>
          <p:nvPr/>
        </p:nvSpPr>
        <p:spPr bwMode="auto">
          <a:xfrm>
            <a:off x="749526" y="193912"/>
            <a:ext cx="8083747" cy="83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>
                <a:solidFill>
                  <a:srgbClr val="A50021"/>
                </a:solidFill>
              </a:rPr>
              <a:t>例</a:t>
            </a:r>
            <a:r>
              <a:rPr lang="en-US" altLang="zh-CN" sz="2100" dirty="0">
                <a:solidFill>
                  <a:srgbClr val="A50021"/>
                </a:solidFill>
              </a:rPr>
              <a:t>3</a:t>
            </a:r>
            <a:r>
              <a:rPr lang="en-US" altLang="zh-CN" sz="2100" dirty="0"/>
              <a:t>   </a:t>
            </a:r>
            <a:r>
              <a:rPr lang="zh-CN" altLang="en-US" sz="2100" dirty="0"/>
              <a:t>一质点在</a:t>
            </a:r>
            <a:r>
              <a:rPr lang="en-US" altLang="zh-CN" sz="2100" i="1" dirty="0"/>
              <a:t>oxy</a:t>
            </a:r>
            <a:r>
              <a:rPr lang="zh-CN" altLang="zh-CN" sz="2100" dirty="0"/>
              <a:t>平面内作曲线运动，其加速度是时间的函</a:t>
            </a:r>
            <a:r>
              <a:rPr lang="zh-CN" altLang="zh-CN" sz="2100"/>
              <a:t>数</a:t>
            </a:r>
            <a:r>
              <a:rPr lang="zh-CN" altLang="zh-CN" sz="2100" smtClean="0"/>
              <a:t>。</a:t>
            </a:r>
            <a:r>
              <a:rPr lang="en-US" altLang="zh-CN" sz="2100" smtClean="0"/>
              <a:t/>
            </a:r>
            <a:br>
              <a:rPr lang="en-US" altLang="zh-CN" sz="2100" smtClean="0"/>
            </a:br>
            <a:r>
              <a:rPr lang="en-US" altLang="zh-CN" sz="2100" smtClean="0"/>
              <a:t>          </a:t>
            </a:r>
            <a:r>
              <a:rPr lang="zh-CN" altLang="zh-CN" sz="2100" smtClean="0"/>
              <a:t>已</a:t>
            </a:r>
            <a:r>
              <a:rPr lang="zh-CN" altLang="zh-CN" sz="2100" dirty="0"/>
              <a:t>知</a:t>
            </a:r>
            <a:r>
              <a:rPr lang="en-US" altLang="zh-CN" sz="2100" i="1" dirty="0"/>
              <a:t>a</a:t>
            </a:r>
            <a:r>
              <a:rPr lang="en-US" altLang="zh-CN" sz="2100" i="1" baseline="-25000" dirty="0"/>
              <a:t>x</a:t>
            </a:r>
            <a:r>
              <a:rPr lang="en-US" altLang="zh-CN" sz="2100" i="1" dirty="0"/>
              <a:t>=</a:t>
            </a:r>
            <a:r>
              <a:rPr lang="en-US" altLang="zh-CN" sz="2100" dirty="0"/>
              <a:t>2</a:t>
            </a:r>
            <a:r>
              <a:rPr lang="en-US" altLang="zh-CN" sz="2100" i="1" dirty="0"/>
              <a:t>,    a</a:t>
            </a:r>
            <a:r>
              <a:rPr lang="en-US" altLang="zh-CN" sz="2100" i="1" baseline="-25000" dirty="0"/>
              <a:t>y</a:t>
            </a:r>
            <a:r>
              <a:rPr lang="en-US" altLang="zh-CN" sz="2100" i="1" dirty="0"/>
              <a:t>=</a:t>
            </a:r>
            <a:r>
              <a:rPr lang="en-US" altLang="zh-CN" sz="2100" dirty="0"/>
              <a:t>36</a:t>
            </a:r>
            <a:r>
              <a:rPr lang="en-US" altLang="zh-CN" sz="2100" i="1" dirty="0"/>
              <a:t>t </a:t>
            </a:r>
            <a:r>
              <a:rPr lang="en-US" altLang="zh-CN" sz="2100" i="1" baseline="30000" dirty="0"/>
              <a:t>2</a:t>
            </a:r>
            <a:r>
              <a:rPr lang="zh-CN" altLang="en-US" sz="2100" i="1" dirty="0"/>
              <a:t>。</a:t>
            </a:r>
            <a:r>
              <a:rPr lang="zh-CN" altLang="zh-CN" sz="2100" dirty="0"/>
              <a:t>设质点</a:t>
            </a:r>
            <a:r>
              <a:rPr lang="en-US" altLang="zh-CN" sz="2100" i="1" dirty="0"/>
              <a:t>t</a:t>
            </a:r>
            <a:r>
              <a:rPr lang="zh-CN" altLang="en-US" sz="2100" dirty="0"/>
              <a:t>＝</a:t>
            </a:r>
            <a:r>
              <a:rPr lang="en-US" altLang="zh-CN" sz="2100" dirty="0"/>
              <a:t>0 </a:t>
            </a:r>
            <a:r>
              <a:rPr lang="zh-CN" altLang="zh-CN" sz="2100" dirty="0"/>
              <a:t>时</a:t>
            </a:r>
            <a:r>
              <a:rPr lang="zh-CN" altLang="en-US" sz="2100" dirty="0"/>
              <a:t> </a:t>
            </a:r>
            <a:r>
              <a:rPr lang="en-US" altLang="zh-CN" sz="2100" i="1" dirty="0"/>
              <a:t>r</a:t>
            </a:r>
            <a:r>
              <a:rPr lang="en-US" altLang="zh-CN" sz="2100" baseline="-25000" dirty="0"/>
              <a:t>0</a:t>
            </a:r>
            <a:r>
              <a:rPr lang="en-US" altLang="zh-CN" sz="2100" dirty="0"/>
              <a:t>=0 </a:t>
            </a:r>
            <a:r>
              <a:rPr lang="en-US" altLang="zh-CN" sz="2100"/>
              <a:t>, </a:t>
            </a:r>
            <a:r>
              <a:rPr lang="en-US" altLang="zh-CN" sz="2100" i="1" smtClean="0">
                <a:latin typeface="Book Antiqua" pitchFamily="18" charset="0"/>
              </a:rPr>
              <a:t>v</a:t>
            </a:r>
            <a:r>
              <a:rPr lang="en-US" altLang="zh-CN" sz="2100" baseline="-25000" smtClean="0"/>
              <a:t>0</a:t>
            </a:r>
            <a:r>
              <a:rPr lang="en-US" altLang="zh-CN" sz="2100" smtClean="0"/>
              <a:t>=0.</a:t>
            </a:r>
            <a:endParaRPr lang="zh-CN" altLang="en-US" sz="2100" dirty="0"/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394238"/>
              </p:ext>
            </p:extLst>
          </p:nvPr>
        </p:nvGraphicFramePr>
        <p:xfrm>
          <a:off x="1446213" y="1787525"/>
          <a:ext cx="37592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7" name="Equation" r:id="rId3" imgW="1765080" imgH="419040" progId="Equation.DSMT4">
                  <p:embed/>
                </p:oleObj>
              </mc:Choice>
              <mc:Fallback>
                <p:oleObj name="Equation" r:id="rId3" imgW="176508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1787525"/>
                        <a:ext cx="375920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349550"/>
              </p:ext>
            </p:extLst>
          </p:nvPr>
        </p:nvGraphicFramePr>
        <p:xfrm>
          <a:off x="1814513" y="2566988"/>
          <a:ext cx="370681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8" name="Equation" r:id="rId5" imgW="1739880" imgH="253800" progId="Equation.DSMT4">
                  <p:embed/>
                </p:oleObj>
              </mc:Choice>
              <mc:Fallback>
                <p:oleObj name="Equation" r:id="rId5" imgW="173988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2566988"/>
                        <a:ext cx="370681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788037"/>
              </p:ext>
            </p:extLst>
          </p:nvPr>
        </p:nvGraphicFramePr>
        <p:xfrm>
          <a:off x="1147763" y="3089275"/>
          <a:ext cx="50212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9" name="Equation" r:id="rId7" imgW="2489040" imgH="330120" progId="Equation.DSMT4">
                  <p:embed/>
                </p:oleObj>
              </mc:Choice>
              <mc:Fallback>
                <p:oleObj name="Equation" r:id="rId7" imgW="2489040" imgH="3301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3089275"/>
                        <a:ext cx="502126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544786"/>
              </p:ext>
            </p:extLst>
          </p:nvPr>
        </p:nvGraphicFramePr>
        <p:xfrm>
          <a:off x="1712913" y="3810912"/>
          <a:ext cx="33004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0" name="Equation" r:id="rId9" imgW="1549080" imgH="253800" progId="Equation.DSMT4">
                  <p:embed/>
                </p:oleObj>
              </mc:Choice>
              <mc:Fallback>
                <p:oleObj name="Equation" r:id="rId9" imgW="1549080" imgH="253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3810912"/>
                        <a:ext cx="330041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242087"/>
              </p:ext>
            </p:extLst>
          </p:nvPr>
        </p:nvGraphicFramePr>
        <p:xfrm>
          <a:off x="1216591" y="4313734"/>
          <a:ext cx="3000229" cy="549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1" name="Equation" r:id="rId11" imgW="1218960" imgH="228600" progId="Equation.DSMT4">
                  <p:embed/>
                </p:oleObj>
              </mc:Choice>
              <mc:Fallback>
                <p:oleObj name="Equation" r:id="rId11" imgW="121896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591" y="4313734"/>
                        <a:ext cx="3000229" cy="549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644129" y="1916586"/>
            <a:ext cx="72866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100">
                <a:solidFill>
                  <a:srgbClr val="A50021"/>
                </a:solidFill>
              </a:rPr>
              <a:t>解：</a:t>
            </a:r>
            <a:endParaRPr lang="zh-CN" altLang="en-US" sz="2100">
              <a:solidFill>
                <a:srgbClr val="A50021"/>
              </a:solidFill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749526" y="1010910"/>
            <a:ext cx="8083747" cy="83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100" smtClean="0">
                <a:solidFill>
                  <a:srgbClr val="A50021"/>
                </a:solidFill>
              </a:rPr>
              <a:t>求</a:t>
            </a:r>
            <a:r>
              <a:rPr lang="zh-CN" altLang="zh-CN" sz="2100" dirty="0">
                <a:solidFill>
                  <a:srgbClr val="A50021"/>
                </a:solidFill>
              </a:rPr>
              <a:t>：</a:t>
            </a:r>
            <a:r>
              <a:rPr lang="zh-CN" altLang="zh-CN" sz="2100" dirty="0"/>
              <a:t>(1)此质点的运动方程；(2)此质点的轨道</a:t>
            </a:r>
            <a:r>
              <a:rPr lang="zh-CN" altLang="zh-CN" sz="2100"/>
              <a:t>方</a:t>
            </a:r>
            <a:r>
              <a:rPr lang="zh-CN" altLang="zh-CN" sz="2100" smtClean="0"/>
              <a:t>程</a:t>
            </a:r>
            <a:r>
              <a:rPr lang="en-US" altLang="zh-CN" sz="2100" smtClean="0"/>
              <a:t>;</a:t>
            </a:r>
            <a:br>
              <a:rPr lang="en-US" altLang="zh-CN" sz="2100" smtClean="0"/>
            </a:br>
            <a:r>
              <a:rPr lang="en-US" altLang="zh-CN" sz="2100" smtClean="0"/>
              <a:t>        </a:t>
            </a:r>
            <a:r>
              <a:rPr lang="zh-CN" altLang="zh-CN" sz="2100" smtClean="0"/>
              <a:t>(</a:t>
            </a:r>
            <a:r>
              <a:rPr lang="zh-CN" altLang="zh-CN" sz="2100" dirty="0"/>
              <a:t>3)此质点的切向加速度。</a:t>
            </a:r>
            <a:endParaRPr lang="zh-CN" alt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0B411C-AA8B-4308-8D66-B098D74C2678}" type="slidenum">
              <a:rPr lang="zh-CN" altLang="en-US"/>
              <a:pPr>
                <a:defRPr/>
              </a:pPr>
              <a:t>16</a:t>
            </a:fld>
            <a:endParaRPr lang="en-US"/>
          </a:p>
        </p:txBody>
      </p:sp>
      <p:graphicFrame>
        <p:nvGraphicFramePr>
          <p:cNvPr id="1638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261088"/>
              </p:ext>
            </p:extLst>
          </p:nvPr>
        </p:nvGraphicFramePr>
        <p:xfrm>
          <a:off x="2319338" y="230188"/>
          <a:ext cx="38433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1" name="Equation" r:id="rId3" imgW="1739880" imgH="393480" progId="Equation.DSMT4">
                  <p:embed/>
                </p:oleObj>
              </mc:Choice>
              <mc:Fallback>
                <p:oleObj name="Equation" r:id="rId3" imgW="173988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230188"/>
                        <a:ext cx="38433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936340"/>
              </p:ext>
            </p:extLst>
          </p:nvPr>
        </p:nvGraphicFramePr>
        <p:xfrm>
          <a:off x="2136776" y="3743413"/>
          <a:ext cx="3183370" cy="89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2" name="Equation" r:id="rId5" imgW="1739880" imgH="507960" progId="Equation.DSMT4">
                  <p:embed/>
                </p:oleObj>
              </mc:Choice>
              <mc:Fallback>
                <p:oleObj name="Equation" r:id="rId5" imgW="1739880" imgH="507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6" y="3743413"/>
                        <a:ext cx="3183370" cy="89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885950" y="2971800"/>
            <a:ext cx="3943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/>
              <a:t>所以质点的运动方程为：</a:t>
            </a:r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825299"/>
              </p:ext>
            </p:extLst>
          </p:nvPr>
        </p:nvGraphicFramePr>
        <p:xfrm>
          <a:off x="2401888" y="1028700"/>
          <a:ext cx="40671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3" name="Equation" r:id="rId7" imgW="1841400" imgH="228600" progId="Equation.DSMT4">
                  <p:embed/>
                </p:oleObj>
              </mc:Choice>
              <mc:Fallback>
                <p:oleObj name="Equation" r:id="rId7" imgW="18414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1028700"/>
                        <a:ext cx="40671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957076"/>
              </p:ext>
            </p:extLst>
          </p:nvPr>
        </p:nvGraphicFramePr>
        <p:xfrm>
          <a:off x="2016125" y="1543050"/>
          <a:ext cx="49657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4" name="Equation" r:id="rId9" imgW="2247840" imgH="330120" progId="Equation.DSMT4">
                  <p:embed/>
                </p:oleObj>
              </mc:Choice>
              <mc:Fallback>
                <p:oleObj name="Equation" r:id="rId9" imgW="2247840" imgH="3301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1543050"/>
                        <a:ext cx="49657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497291"/>
              </p:ext>
            </p:extLst>
          </p:nvPr>
        </p:nvGraphicFramePr>
        <p:xfrm>
          <a:off x="2412207" y="2301479"/>
          <a:ext cx="348019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5" name="Equation" r:id="rId11" imgW="1574640" imgH="228600" progId="Equation.DSMT4">
                  <p:embed/>
                </p:oleObj>
              </mc:Choice>
              <mc:Fallback>
                <p:oleObj name="Equation" r:id="rId11" imgW="157464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207" y="2301479"/>
                        <a:ext cx="348019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2"/>
          <p:cNvSpPr txBox="1">
            <a:spLocks noChangeArrowheads="1"/>
          </p:cNvSpPr>
          <p:nvPr/>
        </p:nvSpPr>
        <p:spPr bwMode="auto">
          <a:xfrm>
            <a:off x="1265635" y="497681"/>
            <a:ext cx="736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(2)</a:t>
            </a:r>
            <a:r>
              <a:rPr lang="zh-CN" altLang="en-US" sz="2400" dirty="0"/>
              <a:t>上式中消去</a:t>
            </a:r>
            <a:r>
              <a:rPr lang="en-US" altLang="zh-CN" sz="2400" i="1" dirty="0"/>
              <a:t>t</a:t>
            </a:r>
            <a:r>
              <a:rPr lang="en-US" altLang="zh-CN" sz="2400" dirty="0"/>
              <a:t>, </a:t>
            </a:r>
            <a:r>
              <a:rPr lang="zh-CN" altLang="zh-CN" sz="2400" dirty="0"/>
              <a:t>得</a:t>
            </a:r>
            <a:r>
              <a:rPr lang="en-US" altLang="zh-CN" sz="2400" i="1" dirty="0">
                <a:solidFill>
                  <a:schemeClr val="hlink"/>
                </a:solidFill>
              </a:rPr>
              <a:t>y = </a:t>
            </a:r>
            <a:r>
              <a:rPr lang="en-US" altLang="zh-CN" sz="2400" dirty="0">
                <a:solidFill>
                  <a:schemeClr val="hlink"/>
                </a:solidFill>
              </a:rPr>
              <a:t>3</a:t>
            </a:r>
            <a:r>
              <a:rPr lang="en-US" altLang="zh-CN" sz="2400" i="1" dirty="0">
                <a:solidFill>
                  <a:schemeClr val="hlink"/>
                </a:solidFill>
              </a:rPr>
              <a:t>x</a:t>
            </a:r>
            <a:r>
              <a:rPr lang="en-US" altLang="zh-CN" sz="2400" baseline="30000" dirty="0">
                <a:solidFill>
                  <a:schemeClr val="hlink"/>
                </a:solidFill>
              </a:rPr>
              <a:t>2</a:t>
            </a:r>
            <a:r>
              <a:rPr lang="en-US" altLang="zh-CN" sz="2400" i="1" baseline="30000" dirty="0">
                <a:solidFill>
                  <a:schemeClr val="hlink"/>
                </a:solidFill>
              </a:rPr>
              <a:t> </a:t>
            </a:r>
            <a:r>
              <a:rPr lang="en-US" altLang="zh-CN" sz="2400" i="1" baseline="30000" dirty="0"/>
              <a:t> </a:t>
            </a:r>
            <a:r>
              <a:rPr lang="zh-CN" altLang="zh-CN" sz="2400" dirty="0"/>
              <a:t>即为轨道方</a:t>
            </a:r>
            <a:r>
              <a:rPr lang="zh-CN" altLang="zh-CN" sz="2400" dirty="0" smtClean="0"/>
              <a:t>程</a:t>
            </a:r>
            <a:r>
              <a:rPr lang="zh-CN" altLang="en-US" sz="2400" dirty="0"/>
              <a:t>，</a:t>
            </a:r>
            <a:r>
              <a:rPr lang="zh-CN" altLang="zh-CN" sz="2400" dirty="0" smtClean="0"/>
              <a:t>是</a:t>
            </a:r>
            <a:r>
              <a:rPr lang="zh-CN" altLang="zh-CN" sz="2400" dirty="0"/>
              <a:t>抛物线。</a:t>
            </a:r>
            <a:endParaRPr lang="zh-CN" altLang="en-US" sz="2400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109D58-E2CC-4280-BBB8-185960E06713}" type="slidenum">
              <a:rPr lang="zh-CN" altLang="en-US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72553"/>
              </p:ext>
            </p:extLst>
          </p:nvPr>
        </p:nvGraphicFramePr>
        <p:xfrm>
          <a:off x="1306513" y="1325563"/>
          <a:ext cx="50815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" name="Equation" r:id="rId3" imgW="2222280" imgH="583920" progId="Equation.DSMT4">
                  <p:embed/>
                </p:oleObj>
              </mc:Choice>
              <mc:Fallback>
                <p:oleObj name="Equation" r:id="rId3" imgW="2222280" imgH="583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1325563"/>
                        <a:ext cx="508158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359118"/>
              </p:ext>
            </p:extLst>
          </p:nvPr>
        </p:nvGraphicFramePr>
        <p:xfrm>
          <a:off x="2298700" y="2724150"/>
          <a:ext cx="48498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5" name="Equation" r:id="rId5" imgW="2349360" imgH="457200" progId="Equation.DSMT4">
                  <p:embed/>
                </p:oleObj>
              </mc:Choice>
              <mc:Fallback>
                <p:oleObj name="Equation" r:id="rId5" imgW="234936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724150"/>
                        <a:ext cx="48498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25154" y="154632"/>
            <a:ext cx="6525816" cy="4821362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908601"/>
              </p:ext>
            </p:extLst>
          </p:nvPr>
        </p:nvGraphicFramePr>
        <p:xfrm>
          <a:off x="4488062" y="111759"/>
          <a:ext cx="650465" cy="26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0" name="Equation" r:id="rId5" imgW="533160" imgH="203040" progId="Equation.DSMT4">
                  <p:embed/>
                </p:oleObj>
              </mc:Choice>
              <mc:Fallback>
                <p:oleObj name="Equation" r:id="rId5" imgW="533160" imgH="203040" progId="Equation.DSMT4">
                  <p:embed/>
                  <p:pic>
                    <p:nvPicPr>
                      <p:cNvPr id="20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8062" y="111759"/>
                        <a:ext cx="650465" cy="26347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497050"/>
              </p:ext>
            </p:extLst>
          </p:nvPr>
        </p:nvGraphicFramePr>
        <p:xfrm>
          <a:off x="4456004" y="377138"/>
          <a:ext cx="1709350" cy="263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1" name="Equation" r:id="rId7" imgW="1307880" imgH="203040" progId="Equation.DSMT4">
                  <p:embed/>
                </p:oleObj>
              </mc:Choice>
              <mc:Fallback>
                <p:oleObj name="Equation" r:id="rId7" imgW="1307880" imgH="20304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004" y="377138"/>
                        <a:ext cx="1709350" cy="26373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633704"/>
              </p:ext>
            </p:extLst>
          </p:nvPr>
        </p:nvGraphicFramePr>
        <p:xfrm>
          <a:off x="4456004" y="665500"/>
          <a:ext cx="1389417" cy="485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2" name="Equation" r:id="rId9" imgW="1117440" imgH="393480" progId="Equation.DSMT4">
                  <p:embed/>
                </p:oleObj>
              </mc:Choice>
              <mc:Fallback>
                <p:oleObj name="Equation" r:id="rId9" imgW="1117440" imgH="39348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004" y="665500"/>
                        <a:ext cx="1389417" cy="4854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187103"/>
              </p:ext>
            </p:extLst>
          </p:nvPr>
        </p:nvGraphicFramePr>
        <p:xfrm>
          <a:off x="4591812" y="1091547"/>
          <a:ext cx="1909001" cy="5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3" name="Equation" r:id="rId11" imgW="1536480" imgH="419040" progId="Equation.DSMT4">
                  <p:embed/>
                </p:oleObj>
              </mc:Choice>
              <mc:Fallback>
                <p:oleObj name="Equation" r:id="rId11" imgW="1536480" imgH="419040" progId="Equation.DSMT4">
                  <p:embed/>
                  <p:pic>
                    <p:nvPicPr>
                      <p:cNvPr id="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812" y="1091547"/>
                        <a:ext cx="1909001" cy="517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593214"/>
              </p:ext>
            </p:extLst>
          </p:nvPr>
        </p:nvGraphicFramePr>
        <p:xfrm>
          <a:off x="4871798" y="1746847"/>
          <a:ext cx="757932" cy="48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4" name="Equation" r:id="rId13" imgW="609480" imgH="393480" progId="Equation.DSMT4">
                  <p:embed/>
                </p:oleObj>
              </mc:Choice>
              <mc:Fallback>
                <p:oleObj name="Equation" r:id="rId13" imgW="609480" imgH="39348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798" y="1746847"/>
                        <a:ext cx="757932" cy="48557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127499"/>
              </p:ext>
            </p:extLst>
          </p:nvPr>
        </p:nvGraphicFramePr>
        <p:xfrm>
          <a:off x="4871799" y="2250468"/>
          <a:ext cx="788741" cy="516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5" name="Equation" r:id="rId15" imgW="634680" imgH="419040" progId="Equation.DSMT4">
                  <p:embed/>
                </p:oleObj>
              </mc:Choice>
              <mc:Fallback>
                <p:oleObj name="Equation" r:id="rId15" imgW="634680" imgH="41904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799" y="2250468"/>
                        <a:ext cx="788741" cy="51637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067602"/>
              </p:ext>
            </p:extLst>
          </p:nvPr>
        </p:nvGraphicFramePr>
        <p:xfrm>
          <a:off x="5960863" y="2921560"/>
          <a:ext cx="717578" cy="24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6" name="Equation" r:id="rId17" imgW="482400" imgH="164880" progId="Equation.DSMT4">
                  <p:embed/>
                </p:oleObj>
              </mc:Choice>
              <mc:Fallback>
                <p:oleObj name="Equation" r:id="rId17" imgW="482400" imgH="16488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863" y="2921560"/>
                        <a:ext cx="717578" cy="24312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918784"/>
              </p:ext>
            </p:extLst>
          </p:nvPr>
        </p:nvGraphicFramePr>
        <p:xfrm>
          <a:off x="6430262" y="3207554"/>
          <a:ext cx="1413575" cy="40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7" name="Equation" r:id="rId19" imgW="1346040" imgH="393480" progId="Equation.DSMT4">
                  <p:embed/>
                </p:oleObj>
              </mc:Choice>
              <mc:Fallback>
                <p:oleObj name="Equation" r:id="rId19" imgW="1346040" imgH="39348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262" y="3207554"/>
                        <a:ext cx="1413575" cy="40878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767390"/>
              </p:ext>
            </p:extLst>
          </p:nvPr>
        </p:nvGraphicFramePr>
        <p:xfrm>
          <a:off x="6430262" y="3629745"/>
          <a:ext cx="992123" cy="449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8" name="Equation" r:id="rId21" imgW="914400" imgH="419040" progId="Equation.DSMT4">
                  <p:embed/>
                </p:oleObj>
              </mc:Choice>
              <mc:Fallback>
                <p:oleObj name="Equation" r:id="rId21" imgW="914400" imgH="41904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262" y="3629745"/>
                        <a:ext cx="992123" cy="44933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487514"/>
              </p:ext>
            </p:extLst>
          </p:nvPr>
        </p:nvGraphicFramePr>
        <p:xfrm>
          <a:off x="4772672" y="4254382"/>
          <a:ext cx="1823195" cy="50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29" name="Equation" r:id="rId23" imgW="1587240" imgH="444240" progId="Equation.DSMT4">
                  <p:embed/>
                </p:oleObj>
              </mc:Choice>
              <mc:Fallback>
                <p:oleObj name="Equation" r:id="rId23" imgW="1587240" imgH="44424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672" y="4254382"/>
                        <a:ext cx="1823195" cy="50561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504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2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155199"/>
              </p:ext>
            </p:extLst>
          </p:nvPr>
        </p:nvGraphicFramePr>
        <p:xfrm>
          <a:off x="2965847" y="3295650"/>
          <a:ext cx="2989659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7" name="Equation" r:id="rId4" imgW="1993680" imgH="279360" progId="Equation.DSMT4">
                  <p:embed/>
                </p:oleObj>
              </mc:Choice>
              <mc:Fallback>
                <p:oleObj name="Equation" r:id="rId4" imgW="1993680" imgH="27936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847" y="3295650"/>
                        <a:ext cx="2989659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2D2C0A-DCE5-42D8-A13C-3D002BA15C2F}" type="slidenum">
              <a:rPr lang="zh-CN" alt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18444" name="Oval 2"/>
          <p:cNvSpPr>
            <a:spLocks noChangeArrowheads="1"/>
          </p:cNvSpPr>
          <p:nvPr/>
        </p:nvSpPr>
        <p:spPr bwMode="auto">
          <a:xfrm>
            <a:off x="2627710" y="2302669"/>
            <a:ext cx="161925" cy="16192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sp>
        <p:nvSpPr>
          <p:cNvPr id="18445" name="Rectangle 3" descr="宽上对角线"/>
          <p:cNvSpPr>
            <a:spLocks noChangeArrowheads="1"/>
          </p:cNvSpPr>
          <p:nvPr/>
        </p:nvSpPr>
        <p:spPr bwMode="auto">
          <a:xfrm>
            <a:off x="1709738" y="2950369"/>
            <a:ext cx="5670947" cy="109538"/>
          </a:xfrm>
          <a:prstGeom prst="rect">
            <a:avLst/>
          </a:prstGeom>
          <a:pattFill prst="wdUpDiag">
            <a:fgClr>
              <a:schemeClr val="folHlink"/>
            </a:fgClr>
            <a:bgClr>
              <a:schemeClr val="tx2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sp>
        <p:nvSpPr>
          <p:cNvPr id="18446" name="Line 4"/>
          <p:cNvSpPr>
            <a:spLocks noChangeShapeType="1"/>
          </p:cNvSpPr>
          <p:nvPr/>
        </p:nvSpPr>
        <p:spPr bwMode="auto">
          <a:xfrm>
            <a:off x="1771650" y="2950369"/>
            <a:ext cx="560903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8447" name="Text Box 5"/>
          <p:cNvSpPr txBox="1">
            <a:spLocks noChangeArrowheads="1"/>
          </p:cNvSpPr>
          <p:nvPr/>
        </p:nvSpPr>
        <p:spPr bwMode="auto">
          <a:xfrm>
            <a:off x="2568293" y="1943100"/>
            <a:ext cx="31290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1500" i="1"/>
              <a:t>A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250282" y="1221581"/>
            <a:ext cx="2537222" cy="1728788"/>
            <a:chOff x="930" y="1117"/>
            <a:chExt cx="2131" cy="1452"/>
          </a:xfrm>
        </p:grpSpPr>
        <p:grpSp>
          <p:nvGrpSpPr>
            <p:cNvPr id="18459" name="Group 7"/>
            <p:cNvGrpSpPr>
              <a:grpSpLocks/>
            </p:cNvGrpSpPr>
            <p:nvPr/>
          </p:nvGrpSpPr>
          <p:grpSpPr bwMode="auto">
            <a:xfrm>
              <a:off x="930" y="1117"/>
              <a:ext cx="2131" cy="1452"/>
              <a:chOff x="930" y="1117"/>
              <a:chExt cx="2131" cy="1452"/>
            </a:xfrm>
          </p:grpSpPr>
          <p:sp>
            <p:nvSpPr>
              <p:cNvPr id="18462" name="Oval 8"/>
              <p:cNvSpPr>
                <a:spLocks noChangeArrowheads="1"/>
              </p:cNvSpPr>
              <p:nvPr/>
            </p:nvSpPr>
            <p:spPr bwMode="auto">
              <a:xfrm>
                <a:off x="2245" y="2114"/>
                <a:ext cx="454" cy="454"/>
              </a:xfrm>
              <a:prstGeom prst="ellipse">
                <a:avLst/>
              </a:prstGeom>
              <a:solidFill>
                <a:srgbClr val="336600">
                  <a:alpha val="61960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 sz="2100" b="0"/>
              </a:p>
            </p:txBody>
          </p:sp>
          <p:sp>
            <p:nvSpPr>
              <p:cNvPr id="18463" name="Oval 9"/>
              <p:cNvSpPr>
                <a:spLocks noChangeArrowheads="1"/>
              </p:cNvSpPr>
              <p:nvPr/>
            </p:nvSpPr>
            <p:spPr bwMode="auto">
              <a:xfrm>
                <a:off x="1202" y="2115"/>
                <a:ext cx="454" cy="454"/>
              </a:xfrm>
              <a:prstGeom prst="ellipse">
                <a:avLst/>
              </a:prstGeom>
              <a:solidFill>
                <a:srgbClr val="336600">
                  <a:alpha val="61960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 sz="2100" b="0"/>
              </a:p>
            </p:txBody>
          </p:sp>
          <p:sp>
            <p:nvSpPr>
              <p:cNvPr id="18464" name="Rectangle 10"/>
              <p:cNvSpPr>
                <a:spLocks noChangeArrowheads="1"/>
              </p:cNvSpPr>
              <p:nvPr/>
            </p:nvSpPr>
            <p:spPr bwMode="auto">
              <a:xfrm>
                <a:off x="930" y="1117"/>
                <a:ext cx="2131" cy="1224"/>
              </a:xfrm>
              <a:prstGeom prst="rect">
                <a:avLst/>
              </a:prstGeom>
              <a:solidFill>
                <a:srgbClr val="C0C0C0">
                  <a:alpha val="61960"/>
                </a:srgbClr>
              </a:solidFill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0"/>
                  </a:spcBef>
                </a:pPr>
                <a:endParaRPr lang="zh-CN" altLang="en-US" sz="2100" b="0"/>
              </a:p>
            </p:txBody>
          </p:sp>
        </p:grpSp>
        <p:sp>
          <p:nvSpPr>
            <p:cNvPr id="18460" name="Text Box 11"/>
            <p:cNvSpPr txBox="1">
              <a:spLocks noChangeArrowheads="1"/>
            </p:cNvSpPr>
            <p:nvPr/>
          </p:nvSpPr>
          <p:spPr bwMode="auto">
            <a:xfrm>
              <a:off x="1204" y="1737"/>
              <a:ext cx="309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sz="1500" i="1"/>
                <a:t>A′</a:t>
              </a:r>
              <a:endParaRPr lang="en-US" altLang="zh-CN" sz="1500"/>
            </a:p>
          </p:txBody>
        </p:sp>
        <p:sp>
          <p:nvSpPr>
            <p:cNvPr id="18461" name="Oval 12"/>
            <p:cNvSpPr>
              <a:spLocks noChangeArrowheads="1"/>
            </p:cNvSpPr>
            <p:nvPr/>
          </p:nvSpPr>
          <p:spPr bwMode="auto">
            <a:xfrm>
              <a:off x="1247" y="2024"/>
              <a:ext cx="136" cy="136"/>
            </a:xfrm>
            <a:prstGeom prst="ellipse">
              <a:avLst/>
            </a:prstGeom>
            <a:solidFill>
              <a:schemeClr val="tx1">
                <a:alpha val="61960"/>
              </a:schemeClr>
            </a:solidFill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100" b="0"/>
            </a:p>
          </p:txBody>
        </p:sp>
      </p:grpSp>
      <p:sp>
        <p:nvSpPr>
          <p:cNvPr id="80909" name="Oval 13"/>
          <p:cNvSpPr>
            <a:spLocks noChangeArrowheads="1"/>
          </p:cNvSpPr>
          <p:nvPr/>
        </p:nvSpPr>
        <p:spPr bwMode="auto">
          <a:xfrm>
            <a:off x="2628900" y="2302669"/>
            <a:ext cx="161925" cy="161925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FF9966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6796187" y="1471196"/>
            <a:ext cx="36740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1500" i="1"/>
              <a:t>B′</a:t>
            </a:r>
            <a:endParaRPr lang="en-US" altLang="zh-CN" sz="1500"/>
          </a:p>
        </p:txBody>
      </p:sp>
      <p:sp>
        <p:nvSpPr>
          <p:cNvPr id="80911" name="Line 15"/>
          <p:cNvSpPr>
            <a:spLocks noChangeShapeType="1"/>
          </p:cNvSpPr>
          <p:nvPr/>
        </p:nvSpPr>
        <p:spPr bwMode="auto">
          <a:xfrm>
            <a:off x="2789635" y="2375297"/>
            <a:ext cx="303331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0912" name="Line 16"/>
          <p:cNvSpPr>
            <a:spLocks noChangeShapeType="1"/>
          </p:cNvSpPr>
          <p:nvPr/>
        </p:nvSpPr>
        <p:spPr bwMode="auto">
          <a:xfrm flipV="1">
            <a:off x="5868590" y="1468042"/>
            <a:ext cx="863203" cy="88820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0913" name="Line 17"/>
          <p:cNvSpPr>
            <a:spLocks noChangeShapeType="1"/>
          </p:cNvSpPr>
          <p:nvPr/>
        </p:nvSpPr>
        <p:spPr bwMode="auto">
          <a:xfrm flipV="1">
            <a:off x="2789635" y="1438276"/>
            <a:ext cx="3942159" cy="91797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8454" name="Line 18"/>
          <p:cNvSpPr>
            <a:spLocks noChangeShapeType="1"/>
          </p:cNvSpPr>
          <p:nvPr/>
        </p:nvSpPr>
        <p:spPr bwMode="auto">
          <a:xfrm>
            <a:off x="1763316" y="3165872"/>
            <a:ext cx="5662613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80916" name="Object 20"/>
          <p:cNvGraphicFramePr>
            <a:graphicFrameLocks noChangeAspect="1"/>
          </p:cNvGraphicFramePr>
          <p:nvPr/>
        </p:nvGraphicFramePr>
        <p:xfrm>
          <a:off x="3271838" y="3219450"/>
          <a:ext cx="335161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8" name="公式" r:id="rId6" imgW="2234880" imgH="241200" progId="Equation.3">
                  <p:embed/>
                </p:oleObj>
              </mc:Choice>
              <mc:Fallback>
                <p:oleObj name="公式" r:id="rId6" imgW="2234880" imgH="241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3219450"/>
                        <a:ext cx="335161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21"/>
          <p:cNvGraphicFramePr>
            <a:graphicFrameLocks noChangeAspect="1"/>
          </p:cNvGraphicFramePr>
          <p:nvPr/>
        </p:nvGraphicFramePr>
        <p:xfrm>
          <a:off x="3424238" y="2402681"/>
          <a:ext cx="8858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9" name="公式" r:id="rId8" imgW="1180800" imgH="457200" progId="Equation.3">
                  <p:embed/>
                </p:oleObj>
              </mc:Choice>
              <mc:Fallback>
                <p:oleObj name="公式" r:id="rId8" imgW="11808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8" y="2402681"/>
                        <a:ext cx="8858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79150"/>
              </p:ext>
            </p:extLst>
          </p:nvPr>
        </p:nvGraphicFramePr>
        <p:xfrm>
          <a:off x="6247210" y="1885951"/>
          <a:ext cx="7524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0" name="公式" r:id="rId10" imgW="1002960" imgH="457200" progId="Equation.3">
                  <p:embed/>
                </p:oleObj>
              </mc:Choice>
              <mc:Fallback>
                <p:oleObj name="公式" r:id="rId10" imgW="1002960" imgH="457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210" y="1885951"/>
                        <a:ext cx="7524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23"/>
          <p:cNvGraphicFramePr>
            <a:graphicFrameLocks noChangeAspect="1"/>
          </p:cNvGraphicFramePr>
          <p:nvPr/>
        </p:nvGraphicFramePr>
        <p:xfrm>
          <a:off x="4605338" y="1273969"/>
          <a:ext cx="1046560" cy="448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1" name="公式" r:id="rId12" imgW="533160" imgH="228600" progId="Equation.3">
                  <p:embed/>
                </p:oleObj>
              </mc:Choice>
              <mc:Fallback>
                <p:oleObj name="公式" r:id="rId12" imgW="53316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1273969"/>
                        <a:ext cx="1046560" cy="448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449963"/>
              </p:ext>
            </p:extLst>
          </p:nvPr>
        </p:nvGraphicFramePr>
        <p:xfrm>
          <a:off x="2995613" y="3975498"/>
          <a:ext cx="2113360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" name="Equation" r:id="rId14" imgW="1409400" imgH="241200" progId="Equation.DSMT4">
                  <p:embed/>
                </p:oleObj>
              </mc:Choice>
              <mc:Fallback>
                <p:oleObj name="Equation" r:id="rId14" imgW="1409400" imgH="241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975498"/>
                        <a:ext cx="2113360" cy="36433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>
                            <a:alpha val="7000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286816"/>
              </p:ext>
            </p:extLst>
          </p:nvPr>
        </p:nvGraphicFramePr>
        <p:xfrm>
          <a:off x="5199698" y="3975498"/>
          <a:ext cx="2151460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3" name="Equation" r:id="rId16" imgW="1434960" imgH="241200" progId="Equation.DSMT4">
                  <p:embed/>
                </p:oleObj>
              </mc:Choice>
              <mc:Fallback>
                <p:oleObj name="Equation" r:id="rId16" imgW="1434960" imgH="241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698" y="3975498"/>
                        <a:ext cx="2151460" cy="36433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>
                            <a:alpha val="70000"/>
                          </a:srgbClr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2" name="Rectangle 26"/>
          <p:cNvSpPr>
            <a:spLocks noChangeArrowheads="1"/>
          </p:cNvSpPr>
          <p:nvPr/>
        </p:nvSpPr>
        <p:spPr bwMode="auto">
          <a:xfrm>
            <a:off x="3020616" y="3243262"/>
            <a:ext cx="3295650" cy="377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graphicFrame>
        <p:nvGraphicFramePr>
          <p:cNvPr id="809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117089"/>
              </p:ext>
            </p:extLst>
          </p:nvPr>
        </p:nvGraphicFramePr>
        <p:xfrm>
          <a:off x="2995613" y="3233119"/>
          <a:ext cx="3675460" cy="608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4" name="公式" r:id="rId18" imgW="2450880" imgH="406080" progId="Equation.3">
                  <p:embed/>
                </p:oleObj>
              </mc:Choice>
              <mc:Fallback>
                <p:oleObj name="公式" r:id="rId18" imgW="2450880" imgH="40608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233119"/>
                        <a:ext cx="3675460" cy="60840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4" name="Text Box 28"/>
          <p:cNvSpPr txBox="1">
            <a:spLocks noChangeArrowheads="1"/>
          </p:cNvSpPr>
          <p:nvPr/>
        </p:nvSpPr>
        <p:spPr bwMode="auto">
          <a:xfrm>
            <a:off x="1735169" y="3326607"/>
            <a:ext cx="102784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500"/>
              <a:t>同除以  </a:t>
            </a:r>
            <a:r>
              <a:rPr lang="zh-CN" altLang="en-US" sz="1500">
                <a:sym typeface="Symbol" pitchFamily="18" charset="2"/>
              </a:rPr>
              <a:t></a:t>
            </a:r>
            <a:r>
              <a:rPr lang="en-US" altLang="zh-CN" sz="1500" i="1"/>
              <a:t>t</a:t>
            </a:r>
          </a:p>
        </p:txBody>
      </p:sp>
      <p:sp>
        <p:nvSpPr>
          <p:cNvPr id="80926" name="Text Box 30"/>
          <p:cNvSpPr txBox="1">
            <a:spLocks noChangeArrowheads="1"/>
          </p:cNvSpPr>
          <p:nvPr/>
        </p:nvSpPr>
        <p:spPr bwMode="auto">
          <a:xfrm>
            <a:off x="1277541" y="4445794"/>
            <a:ext cx="6588919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</a:pPr>
            <a:r>
              <a:rPr lang="zh-CN" altLang="en-US" sz="1500"/>
              <a:t>若                      </a:t>
            </a:r>
            <a:r>
              <a:rPr lang="zh-CN" altLang="en-US" sz="1800"/>
              <a:t>，</a:t>
            </a:r>
            <a:r>
              <a:rPr lang="zh-CN" altLang="en-US" sz="1500"/>
              <a:t>则在两个坐标系中测得同一物体的加速度相等。</a:t>
            </a:r>
          </a:p>
        </p:txBody>
      </p:sp>
      <p:graphicFrame>
        <p:nvGraphicFramePr>
          <p:cNvPr id="32" name="Object 32"/>
          <p:cNvGraphicFramePr>
            <a:graphicFrameLocks noChangeAspect="1"/>
          </p:cNvGraphicFramePr>
          <p:nvPr/>
        </p:nvGraphicFramePr>
        <p:xfrm>
          <a:off x="2064544" y="4488656"/>
          <a:ext cx="941785" cy="396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5" name="Equation" r:id="rId20" imgW="634680" imgH="241200" progId="Equation.DSMT4">
                  <p:embed/>
                </p:oleObj>
              </mc:Choice>
              <mc:Fallback>
                <p:oleObj name="Equation" r:id="rId20" imgW="634680" imgH="2412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544" y="4488656"/>
                        <a:ext cx="941785" cy="3964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8" name="Rectangle 29"/>
          <p:cNvSpPr>
            <a:spLocks noChangeArrowheads="1"/>
          </p:cNvSpPr>
          <p:nvPr/>
        </p:nvSpPr>
        <p:spPr bwMode="auto">
          <a:xfrm>
            <a:off x="2749153" y="276225"/>
            <a:ext cx="3443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</a:rPr>
              <a:t>§1-3 </a:t>
            </a:r>
            <a:r>
              <a:rPr lang="zh-CN" altLang="en-US" sz="2400">
                <a:solidFill>
                  <a:srgbClr val="000000"/>
                </a:solidFill>
              </a:rPr>
              <a:t>相对运动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05685E-7 L 0.34271 -2.05685E-7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46914E-7 L 0.43993 -0.1839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809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97" y="-91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0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0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4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0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0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8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0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0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9" grpId="0" animBg="1"/>
      <p:bldP spid="80910" grpId="0"/>
      <p:bldP spid="80911" grpId="0" animBg="1"/>
      <p:bldP spid="80912" grpId="0" animBg="1"/>
      <p:bldP spid="80913" grpId="0" animBg="1"/>
      <p:bldP spid="80922" grpId="0" animBg="1"/>
      <p:bldP spid="80924" grpId="0"/>
      <p:bldP spid="809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112760-6AB7-46FF-8CD5-2B64FCD46B45}" type="slidenum">
              <a:rPr lang="zh-CN" alt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19464" name="Rectangle 3"/>
          <p:cNvSpPr>
            <a:spLocks noChangeArrowheads="1"/>
          </p:cNvSpPr>
          <p:nvPr/>
        </p:nvSpPr>
        <p:spPr bwMode="auto">
          <a:xfrm>
            <a:off x="5922169" y="2416969"/>
            <a:ext cx="1072754" cy="1775222"/>
          </a:xfrm>
          <a:prstGeom prst="rect">
            <a:avLst/>
          </a:prstGeom>
          <a:solidFill>
            <a:srgbClr val="969696">
              <a:alpha val="50195"/>
            </a:srgbClr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sp>
        <p:nvSpPr>
          <p:cNvPr id="19465" name="Line 4"/>
          <p:cNvSpPr>
            <a:spLocks noChangeShapeType="1"/>
          </p:cNvSpPr>
          <p:nvPr/>
        </p:nvSpPr>
        <p:spPr bwMode="auto">
          <a:xfrm>
            <a:off x="6963966" y="2409825"/>
            <a:ext cx="5715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9466" name="Line 5"/>
          <p:cNvSpPr>
            <a:spLocks noChangeShapeType="1"/>
          </p:cNvSpPr>
          <p:nvPr/>
        </p:nvSpPr>
        <p:spPr bwMode="auto">
          <a:xfrm>
            <a:off x="6948488" y="4192191"/>
            <a:ext cx="5715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9467" name="Text Box 6"/>
          <p:cNvSpPr txBox="1">
            <a:spLocks noChangeArrowheads="1"/>
          </p:cNvSpPr>
          <p:nvPr/>
        </p:nvSpPr>
        <p:spPr bwMode="auto">
          <a:xfrm>
            <a:off x="7394972" y="3200400"/>
            <a:ext cx="3429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800" i="1"/>
              <a:t>h</a:t>
            </a:r>
          </a:p>
        </p:txBody>
      </p:sp>
      <p:sp>
        <p:nvSpPr>
          <p:cNvPr id="19468" name="Line 7"/>
          <p:cNvSpPr>
            <a:spLocks noChangeShapeType="1"/>
          </p:cNvSpPr>
          <p:nvPr/>
        </p:nvSpPr>
        <p:spPr bwMode="auto">
          <a:xfrm flipH="1">
            <a:off x="7325917" y="2416969"/>
            <a:ext cx="11906" cy="17752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2952" name="AutoShape 8"/>
          <p:cNvSpPr>
            <a:spLocks noChangeArrowheads="1"/>
          </p:cNvSpPr>
          <p:nvPr/>
        </p:nvSpPr>
        <p:spPr bwMode="auto">
          <a:xfrm>
            <a:off x="6084094" y="2409825"/>
            <a:ext cx="171450" cy="171450"/>
          </a:xfrm>
          <a:prstGeom prst="can">
            <a:avLst>
              <a:gd name="adj" fmla="val 25000"/>
            </a:avLst>
          </a:prstGeom>
          <a:solidFill>
            <a:srgbClr val="00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100" b="0"/>
          </a:p>
        </p:txBody>
      </p:sp>
      <p:sp>
        <p:nvSpPr>
          <p:cNvPr id="19470" name="Line 9"/>
          <p:cNvSpPr>
            <a:spLocks noChangeShapeType="1"/>
          </p:cNvSpPr>
          <p:nvPr/>
        </p:nvSpPr>
        <p:spPr bwMode="auto">
          <a:xfrm flipV="1">
            <a:off x="6594872" y="1959769"/>
            <a:ext cx="0" cy="4000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pSp>
        <p:nvGrpSpPr>
          <p:cNvPr id="19471" name="Group 10"/>
          <p:cNvGrpSpPr>
            <a:grpSpLocks/>
          </p:cNvGrpSpPr>
          <p:nvPr/>
        </p:nvGrpSpPr>
        <p:grpSpPr bwMode="auto">
          <a:xfrm>
            <a:off x="6665119" y="1964525"/>
            <a:ext cx="400050" cy="415528"/>
            <a:chOff x="2304" y="2688"/>
            <a:chExt cx="336" cy="349"/>
          </a:xfrm>
        </p:grpSpPr>
        <p:sp>
          <p:nvSpPr>
            <p:cNvPr id="19481" name="Text Box 11"/>
            <p:cNvSpPr txBox="1">
              <a:spLocks noChangeArrowheads="1"/>
            </p:cNvSpPr>
            <p:nvPr/>
          </p:nvSpPr>
          <p:spPr bwMode="auto">
            <a:xfrm>
              <a:off x="2304" y="2688"/>
              <a:ext cx="33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100" b="0" i="1"/>
                <a:t>a</a:t>
              </a:r>
            </a:p>
          </p:txBody>
        </p:sp>
        <p:sp>
          <p:nvSpPr>
            <p:cNvPr id="19482" name="Line 12"/>
            <p:cNvSpPr>
              <a:spLocks noChangeShapeType="1"/>
            </p:cNvSpPr>
            <p:nvPr/>
          </p:nvSpPr>
          <p:spPr bwMode="auto">
            <a:xfrm>
              <a:off x="23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82957" name="Line 13"/>
          <p:cNvSpPr>
            <a:spLocks noChangeShapeType="1"/>
          </p:cNvSpPr>
          <p:nvPr/>
        </p:nvSpPr>
        <p:spPr bwMode="auto">
          <a:xfrm>
            <a:off x="5598319" y="2409825"/>
            <a:ext cx="0" cy="2181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1750219" y="1924050"/>
            <a:ext cx="297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800">
                <a:latin typeface="宋体" pitchFamily="2" charset="-122"/>
              </a:rPr>
              <a:t>以</a:t>
            </a:r>
            <a:r>
              <a:rPr lang="zh-CN" altLang="en-US" sz="1800"/>
              <a:t>升降机为参考系</a:t>
            </a:r>
          </a:p>
        </p:txBody>
      </p:sp>
      <p:graphicFrame>
        <p:nvGraphicFramePr>
          <p:cNvPr id="82959" name="Object 15"/>
          <p:cNvGraphicFramePr>
            <a:graphicFrameLocks noChangeAspect="1"/>
          </p:cNvGraphicFramePr>
          <p:nvPr/>
        </p:nvGraphicFramePr>
        <p:xfrm>
          <a:off x="3113485" y="3327798"/>
          <a:ext cx="1425178" cy="65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" name="公式" r:id="rId3" imgW="850680" imgH="393480" progId="Equation.3">
                  <p:embed/>
                </p:oleObj>
              </mc:Choice>
              <mc:Fallback>
                <p:oleObj name="公式" r:id="rId3" imgW="850680" imgH="393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485" y="3327798"/>
                        <a:ext cx="1425178" cy="6596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1339725" y="1895475"/>
            <a:ext cx="6495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800">
                <a:solidFill>
                  <a:srgbClr val="CC0000"/>
                </a:solidFill>
                <a:latin typeface="宋体" pitchFamily="2" charset="-122"/>
              </a:rPr>
              <a:t>解：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365286" y="302419"/>
            <a:ext cx="6447596" cy="1091482"/>
            <a:chOff x="1365286" y="302419"/>
            <a:chExt cx="6447596" cy="1091482"/>
          </a:xfrm>
        </p:grpSpPr>
        <p:sp>
          <p:nvSpPr>
            <p:cNvPr id="19463" name="Text Box 2"/>
            <p:cNvSpPr txBox="1">
              <a:spLocks noChangeArrowheads="1"/>
            </p:cNvSpPr>
            <p:nvPr/>
          </p:nvSpPr>
          <p:spPr bwMode="auto">
            <a:xfrm>
              <a:off x="1714501" y="302419"/>
              <a:ext cx="6098381" cy="784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800">
                  <a:latin typeface="宋体" pitchFamily="2" charset="-122"/>
                </a:rPr>
                <a:t>升降机以加速度 </a:t>
              </a:r>
              <a:r>
                <a:rPr lang="en-US" altLang="zh-CN" sz="1800"/>
                <a:t>1.22 m/s</a:t>
              </a:r>
              <a:r>
                <a:rPr lang="en-US" altLang="zh-CN" sz="1200" baseline="30000"/>
                <a:t>2</a:t>
              </a:r>
              <a:r>
                <a:rPr lang="en-US" altLang="zh-CN" sz="1800">
                  <a:latin typeface="宋体" pitchFamily="2" charset="-122"/>
                </a:rPr>
                <a:t> </a:t>
              </a:r>
              <a:r>
                <a:rPr lang="zh-CN" altLang="en-US" sz="1800">
                  <a:latin typeface="宋体" pitchFamily="2" charset="-122"/>
                </a:rPr>
                <a:t>上升，有一螺母自升降机的天花板松落，天花板与升降机的底板相距 </a:t>
              </a:r>
              <a:r>
                <a:rPr lang="en-US" altLang="zh-CN" sz="1800"/>
                <a:t>2.74 m </a:t>
              </a:r>
              <a:r>
                <a:rPr lang="zh-CN" altLang="en-US" sz="1800">
                  <a:latin typeface="宋体" pitchFamily="2" charset="-122"/>
                </a:rPr>
                <a:t>。</a:t>
              </a:r>
            </a:p>
          </p:txBody>
        </p:sp>
        <p:sp>
          <p:nvSpPr>
            <p:cNvPr id="19474" name="Rectangle 16"/>
            <p:cNvSpPr>
              <a:spLocks noChangeArrowheads="1"/>
            </p:cNvSpPr>
            <p:nvPr/>
          </p:nvSpPr>
          <p:spPr bwMode="auto">
            <a:xfrm>
              <a:off x="1371600" y="342900"/>
              <a:ext cx="5334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1800">
                  <a:solidFill>
                    <a:srgbClr val="CC0000"/>
                  </a:solidFill>
                  <a:cs typeface="Times New Roman" panose="02020603050405020304" pitchFamily="18" charset="0"/>
                </a:rPr>
                <a:t>例</a:t>
              </a:r>
              <a:r>
                <a:rPr lang="en-US" altLang="zh-CN" sz="1800">
                  <a:solidFill>
                    <a:srgbClr val="CC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76" name="Rectangle 18"/>
            <p:cNvSpPr>
              <a:spLocks noChangeArrowheads="1"/>
            </p:cNvSpPr>
            <p:nvPr/>
          </p:nvSpPr>
          <p:spPr bwMode="auto">
            <a:xfrm>
              <a:off x="1677172" y="969169"/>
              <a:ext cx="3788218" cy="4247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00">
                  <a:latin typeface="宋体" pitchFamily="2" charset="-122"/>
                </a:rPr>
                <a:t>螺母自天花板落到底板所需的时间</a:t>
              </a:r>
              <a:r>
                <a:rPr lang="en-US" altLang="zh-CN" sz="1800">
                  <a:latin typeface="宋体" pitchFamily="2" charset="-122"/>
                </a:rPr>
                <a:t>.</a:t>
              </a:r>
            </a:p>
          </p:txBody>
        </p:sp>
        <p:sp>
          <p:nvSpPr>
            <p:cNvPr id="19477" name="Rectangle 19"/>
            <p:cNvSpPr>
              <a:spLocks noChangeArrowheads="1"/>
            </p:cNvSpPr>
            <p:nvPr/>
          </p:nvSpPr>
          <p:spPr bwMode="auto">
            <a:xfrm>
              <a:off x="1365286" y="974009"/>
              <a:ext cx="53412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1800" smtClean="0">
                  <a:solidFill>
                    <a:srgbClr val="CC0000"/>
                  </a:solidFill>
                  <a:latin typeface="宋体" pitchFamily="2" charset="-122"/>
                </a:rPr>
                <a:t>求</a:t>
              </a:r>
              <a:r>
                <a:rPr lang="en-US" altLang="zh-CN" sz="1800" smtClean="0">
                  <a:solidFill>
                    <a:srgbClr val="CC0000"/>
                  </a:solidFill>
                  <a:latin typeface="宋体" pitchFamily="2" charset="-122"/>
                </a:rPr>
                <a:t>:</a:t>
              </a:r>
              <a:endParaRPr lang="zh-CN" altLang="en-US" sz="1800">
                <a:solidFill>
                  <a:srgbClr val="CC0000"/>
                </a:solidFill>
                <a:latin typeface="宋体" pitchFamily="2" charset="-122"/>
              </a:endParaRPr>
            </a:p>
          </p:txBody>
        </p:sp>
      </p:grp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1266152" y="1452563"/>
            <a:ext cx="6590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800">
                <a:solidFill>
                  <a:srgbClr val="0000FF"/>
                </a:solidFill>
              </a:rPr>
              <a:t>分析</a:t>
            </a:r>
            <a:r>
              <a:rPr lang="zh-CN" altLang="en-US" sz="1800"/>
              <a:t> 相对升降机，螺母作初速为</a:t>
            </a:r>
            <a:r>
              <a:rPr lang="en-US" altLang="zh-CN" sz="1800"/>
              <a:t>0</a:t>
            </a:r>
            <a:r>
              <a:rPr lang="zh-CN" altLang="en-US" sz="1800"/>
              <a:t>的落体运动，运动距离</a:t>
            </a:r>
            <a:r>
              <a:rPr lang="en-US" altLang="zh-CN" sz="1800"/>
              <a:t>2.74 m</a:t>
            </a:r>
          </a:p>
        </p:txBody>
      </p:sp>
      <p:graphicFrame>
        <p:nvGraphicFramePr>
          <p:cNvPr id="829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361857"/>
              </p:ext>
            </p:extLst>
          </p:nvPr>
        </p:nvGraphicFramePr>
        <p:xfrm>
          <a:off x="2046685" y="2253854"/>
          <a:ext cx="3050381" cy="55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" name="Equation" r:id="rId5" imgW="1384200" imgH="253800" progId="Equation.DSMT4">
                  <p:embed/>
                </p:oleObj>
              </mc:Choice>
              <mc:Fallback>
                <p:oleObj name="Equation" r:id="rId5" imgW="1384200" imgH="253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685" y="2253854"/>
                        <a:ext cx="3050381" cy="5584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6" name="Object 22"/>
          <p:cNvGraphicFramePr>
            <a:graphicFrameLocks noChangeAspect="1"/>
          </p:cNvGraphicFramePr>
          <p:nvPr/>
        </p:nvGraphicFramePr>
        <p:xfrm>
          <a:off x="2893219" y="2842022"/>
          <a:ext cx="2387204" cy="346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" name="公式" r:id="rId7" imgW="1218960" imgH="177480" progId="Equation.3">
                  <p:embed/>
                </p:oleObj>
              </mc:Choice>
              <mc:Fallback>
                <p:oleObj name="公式" r:id="rId7" imgW="1218960" imgH="177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219" y="2842022"/>
                        <a:ext cx="2387204" cy="3464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7" name="Object 23"/>
          <p:cNvGraphicFramePr>
            <a:graphicFrameLocks noChangeAspect="1"/>
          </p:cNvGraphicFramePr>
          <p:nvPr/>
        </p:nvGraphicFramePr>
        <p:xfrm>
          <a:off x="2789635" y="4111229"/>
          <a:ext cx="1714500" cy="72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9" name="公式" r:id="rId9" imgW="1054080" imgH="444240" progId="Equation.3">
                  <p:embed/>
                </p:oleObj>
              </mc:Choice>
              <mc:Fallback>
                <p:oleObj name="公式" r:id="rId9" imgW="1054080" imgH="4442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635" y="4111229"/>
                        <a:ext cx="1714500" cy="721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9" name="Text Box 24"/>
          <p:cNvSpPr txBox="1">
            <a:spLocks noChangeArrowheads="1"/>
          </p:cNvSpPr>
          <p:nvPr/>
        </p:nvSpPr>
        <p:spPr bwMode="auto">
          <a:xfrm>
            <a:off x="6799660" y="2049067"/>
            <a:ext cx="6965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800" baseline="-25000"/>
              <a:t>机对地</a:t>
            </a:r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1668538" y="3406379"/>
            <a:ext cx="13468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800"/>
              <a:t>匀加速运动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2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2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2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2" grpId="0" animBg="1"/>
      <p:bldP spid="82957" grpId="0" animBg="1"/>
      <p:bldP spid="82958" grpId="0" autoUpdateAnimBg="0"/>
      <p:bldP spid="82961" grpId="0" autoUpdateAnimBg="0"/>
      <p:bldP spid="82964" grpId="0"/>
      <p:bldP spid="8296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4" name="Text Box 2"/>
          <p:cNvSpPr txBox="1">
            <a:spLocks noChangeArrowheads="1"/>
          </p:cNvSpPr>
          <p:nvPr/>
        </p:nvSpPr>
        <p:spPr bwMode="auto">
          <a:xfrm>
            <a:off x="1181100" y="134779"/>
            <a:ext cx="6043613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950">
                <a:latin typeface="宋体" pitchFamily="2" charset="-122"/>
              </a:rPr>
              <a:t>一个带篷子的卡车，篷高为</a:t>
            </a:r>
            <a:r>
              <a:rPr lang="en-US" altLang="zh-CN" sz="1950" i="1"/>
              <a:t>h</a:t>
            </a:r>
            <a:r>
              <a:rPr lang="en-US" altLang="zh-CN" sz="1950"/>
              <a:t>=2m </a:t>
            </a:r>
            <a:r>
              <a:rPr lang="zh-CN" altLang="en-US" sz="1950">
                <a:latin typeface="宋体" pitchFamily="2" charset="-122"/>
              </a:rPr>
              <a:t>，当它停在路边时，雨滴可落入车内达</a:t>
            </a:r>
            <a:r>
              <a:rPr lang="zh-CN" altLang="en-US" sz="1950"/>
              <a:t> </a:t>
            </a:r>
            <a:r>
              <a:rPr lang="en-US" altLang="zh-CN" sz="1950" i="1"/>
              <a:t>d</a:t>
            </a:r>
            <a:r>
              <a:rPr lang="en-US" altLang="zh-CN" sz="1950"/>
              <a:t>=1m </a:t>
            </a:r>
            <a:r>
              <a:rPr lang="zh-CN" altLang="en-US" sz="1950">
                <a:latin typeface="宋体" pitchFamily="2" charset="-122"/>
              </a:rPr>
              <a:t>，而当它以</a:t>
            </a:r>
            <a:r>
              <a:rPr lang="en-US" altLang="zh-CN" sz="1950"/>
              <a:t>15 km/h </a:t>
            </a:r>
            <a:r>
              <a:rPr lang="zh-CN" altLang="en-US" sz="1950">
                <a:latin typeface="宋体" pitchFamily="2" charset="-122"/>
              </a:rPr>
              <a:t>的速率运动时，雨滴恰好不能落入车中。 </a:t>
            </a:r>
            <a:r>
              <a:rPr lang="zh-CN" altLang="en-US" sz="1950">
                <a:solidFill>
                  <a:srgbClr val="CC0000"/>
                </a:solidFill>
                <a:latin typeface="宋体" pitchFamily="2" charset="-122"/>
              </a:rPr>
              <a:t>求</a:t>
            </a:r>
            <a:r>
              <a:rPr lang="zh-CN" altLang="en-US" sz="1950"/>
              <a:t>雨滴的速度矢量。</a:t>
            </a:r>
          </a:p>
        </p:txBody>
      </p:sp>
      <p:graphicFrame>
        <p:nvGraphicFramePr>
          <p:cNvPr id="83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274855"/>
              </p:ext>
            </p:extLst>
          </p:nvPr>
        </p:nvGraphicFramePr>
        <p:xfrm>
          <a:off x="1587760" y="3420327"/>
          <a:ext cx="2016774" cy="58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9" name="Equation" r:id="rId4" imgW="1485720" imgH="431640" progId="Equation.DSMT4">
                  <p:embed/>
                </p:oleObj>
              </mc:Choice>
              <mc:Fallback>
                <p:oleObj name="Equation" r:id="rId4" imgW="148572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760" y="3420327"/>
                        <a:ext cx="2016774" cy="5863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Line 4"/>
          <p:cNvSpPr>
            <a:spLocks noChangeShapeType="1"/>
          </p:cNvSpPr>
          <p:nvPr/>
        </p:nvSpPr>
        <p:spPr bwMode="auto">
          <a:xfrm flipH="1">
            <a:off x="8101013" y="1557197"/>
            <a:ext cx="571500" cy="108585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8397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5185187"/>
              </p:ext>
            </p:extLst>
          </p:nvPr>
        </p:nvGraphicFramePr>
        <p:xfrm>
          <a:off x="6630590" y="4237293"/>
          <a:ext cx="248841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0" name="Equation" r:id="rId6" imgW="139680" imgH="177480" progId="Equation.DSMT4">
                  <p:embed/>
                </p:oleObj>
              </mc:Choice>
              <mc:Fallback>
                <p:oleObj name="Equation" r:id="rId6" imgW="139680" imgH="17748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590" y="4237293"/>
                        <a:ext cx="248841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Line 6"/>
          <p:cNvSpPr>
            <a:spLocks noChangeShapeType="1"/>
          </p:cNvSpPr>
          <p:nvPr/>
        </p:nvSpPr>
        <p:spPr bwMode="auto">
          <a:xfrm>
            <a:off x="7280672" y="3056193"/>
            <a:ext cx="0" cy="1458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 flipH="1">
            <a:off x="6469856" y="3056194"/>
            <a:ext cx="809625" cy="14656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 flipH="1">
            <a:off x="6469857" y="4514709"/>
            <a:ext cx="81081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20499" name="Rectangle 9"/>
          <p:cNvSpPr>
            <a:spLocks noChangeArrowheads="1"/>
          </p:cNvSpPr>
          <p:nvPr/>
        </p:nvSpPr>
        <p:spPr bwMode="auto">
          <a:xfrm>
            <a:off x="6958013" y="1785797"/>
            <a:ext cx="1600200" cy="857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100">
              <a:latin typeface="宋体" pitchFamily="2" charset="-122"/>
            </a:endParaRPr>
          </a:p>
        </p:txBody>
      </p:sp>
      <p:grpSp>
        <p:nvGrpSpPr>
          <p:cNvPr id="20500" name="Group 10"/>
          <p:cNvGrpSpPr>
            <a:grpSpLocks/>
          </p:cNvGrpSpPr>
          <p:nvPr/>
        </p:nvGrpSpPr>
        <p:grpSpPr bwMode="auto">
          <a:xfrm>
            <a:off x="6212681" y="2014397"/>
            <a:ext cx="800100" cy="800100"/>
            <a:chOff x="3552" y="1392"/>
            <a:chExt cx="672" cy="672"/>
          </a:xfrm>
        </p:grpSpPr>
        <p:sp>
          <p:nvSpPr>
            <p:cNvPr id="20513" name="Line 11"/>
            <p:cNvSpPr>
              <a:spLocks noChangeShapeType="1"/>
            </p:cNvSpPr>
            <p:nvPr/>
          </p:nvSpPr>
          <p:spPr bwMode="auto">
            <a:xfrm>
              <a:off x="3984" y="1392"/>
              <a:ext cx="19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14" name="Line 12"/>
            <p:cNvSpPr>
              <a:spLocks noChangeShapeType="1"/>
            </p:cNvSpPr>
            <p:nvPr/>
          </p:nvSpPr>
          <p:spPr bwMode="auto">
            <a:xfrm flipH="1">
              <a:off x="3840" y="1392"/>
              <a:ext cx="144" cy="24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15" name="Line 13"/>
            <p:cNvSpPr>
              <a:spLocks noChangeShapeType="1"/>
            </p:cNvSpPr>
            <p:nvPr/>
          </p:nvSpPr>
          <p:spPr bwMode="auto">
            <a:xfrm>
              <a:off x="3552" y="1632"/>
              <a:ext cx="288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16" name="Line 14"/>
            <p:cNvSpPr>
              <a:spLocks noChangeShapeType="1"/>
            </p:cNvSpPr>
            <p:nvPr/>
          </p:nvSpPr>
          <p:spPr bwMode="auto">
            <a:xfrm>
              <a:off x="3552" y="1632"/>
              <a:ext cx="0" cy="288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17" name="Line 15"/>
            <p:cNvSpPr>
              <a:spLocks noChangeShapeType="1"/>
            </p:cNvSpPr>
            <p:nvPr/>
          </p:nvSpPr>
          <p:spPr bwMode="auto">
            <a:xfrm>
              <a:off x="3552" y="1920"/>
              <a:ext cx="672" cy="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18" name="Rectangle 16"/>
            <p:cNvSpPr>
              <a:spLocks noChangeArrowheads="1"/>
            </p:cNvSpPr>
            <p:nvPr/>
          </p:nvSpPr>
          <p:spPr bwMode="auto">
            <a:xfrm>
              <a:off x="3984" y="1488"/>
              <a:ext cx="144" cy="144"/>
            </a:xfrm>
            <a:prstGeom prst="rect">
              <a:avLst/>
            </a:prstGeom>
            <a:solidFill>
              <a:srgbClr val="C0C0C0">
                <a:alpha val="14902"/>
              </a:srgbClr>
            </a:solidFill>
            <a:ln w="9525" algn="ctr">
              <a:solidFill>
                <a:srgbClr val="333333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zh-CN" sz="2100"/>
            </a:p>
          </p:txBody>
        </p:sp>
        <p:sp>
          <p:nvSpPr>
            <p:cNvPr id="20519" name="Oval 17"/>
            <p:cNvSpPr>
              <a:spLocks noChangeArrowheads="1"/>
            </p:cNvSpPr>
            <p:nvPr/>
          </p:nvSpPr>
          <p:spPr bwMode="auto">
            <a:xfrm>
              <a:off x="3792" y="1824"/>
              <a:ext cx="240" cy="240"/>
            </a:xfrm>
            <a:prstGeom prst="ellipse">
              <a:avLst/>
            </a:prstGeom>
            <a:solidFill>
              <a:srgbClr val="808080"/>
            </a:solidFill>
            <a:ln w="9525" algn="ctr">
              <a:solidFill>
                <a:srgbClr val="3333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 sz="2100"/>
            </a:p>
          </p:txBody>
        </p:sp>
      </p:grpSp>
      <p:sp>
        <p:nvSpPr>
          <p:cNvPr id="20501" name="Oval 18"/>
          <p:cNvSpPr>
            <a:spLocks noChangeArrowheads="1"/>
          </p:cNvSpPr>
          <p:nvPr/>
        </p:nvSpPr>
        <p:spPr bwMode="auto">
          <a:xfrm>
            <a:off x="7697390" y="2531128"/>
            <a:ext cx="285750" cy="285750"/>
          </a:xfrm>
          <a:prstGeom prst="ellipse">
            <a:avLst/>
          </a:prstGeom>
          <a:solidFill>
            <a:srgbClr val="808080"/>
          </a:solidFill>
          <a:ln w="9525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zh-CN" sz="2100"/>
          </a:p>
        </p:txBody>
      </p:sp>
      <p:sp>
        <p:nvSpPr>
          <p:cNvPr id="20502" name="Line 19"/>
          <p:cNvSpPr>
            <a:spLocks noChangeShapeType="1"/>
          </p:cNvSpPr>
          <p:nvPr/>
        </p:nvSpPr>
        <p:spPr bwMode="auto">
          <a:xfrm>
            <a:off x="7358063" y="1785797"/>
            <a:ext cx="0" cy="857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988" name="Line 20"/>
          <p:cNvSpPr>
            <a:spLocks noChangeShapeType="1"/>
          </p:cNvSpPr>
          <p:nvPr/>
        </p:nvSpPr>
        <p:spPr bwMode="auto">
          <a:xfrm>
            <a:off x="8102203" y="2619234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989" name="Line 21"/>
          <p:cNvSpPr>
            <a:spLocks noChangeShapeType="1"/>
          </p:cNvSpPr>
          <p:nvPr/>
        </p:nvSpPr>
        <p:spPr bwMode="auto">
          <a:xfrm>
            <a:off x="8102203" y="292284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20484" name="Object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913710"/>
              </p:ext>
            </p:extLst>
          </p:nvPr>
        </p:nvGraphicFramePr>
        <p:xfrm>
          <a:off x="7138988" y="2120362"/>
          <a:ext cx="161925" cy="23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1" name="Equation" r:id="rId8" imgW="215640" imgH="317160" progId="Equation.3">
                  <p:embed/>
                </p:oleObj>
              </mc:Choice>
              <mc:Fallback>
                <p:oleObj name="Equation" r:id="rId8" imgW="215640" imgH="317160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8988" y="2120362"/>
                        <a:ext cx="161925" cy="2369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91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815806"/>
              </p:ext>
            </p:extLst>
          </p:nvPr>
        </p:nvGraphicFramePr>
        <p:xfrm>
          <a:off x="8210551" y="2950228"/>
          <a:ext cx="191690" cy="23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2" name="Equation" r:id="rId10" imgW="253800" imgH="317160" progId="Equation.3">
                  <p:embed/>
                </p:oleObj>
              </mc:Choice>
              <mc:Fallback>
                <p:oleObj name="Equation" r:id="rId10" imgW="253800" imgH="317160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551" y="2950228"/>
                        <a:ext cx="191690" cy="2369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Line 24"/>
          <p:cNvSpPr>
            <a:spLocks noChangeShapeType="1"/>
          </p:cNvSpPr>
          <p:nvPr/>
        </p:nvSpPr>
        <p:spPr bwMode="auto">
          <a:xfrm>
            <a:off x="5929313" y="2814497"/>
            <a:ext cx="280035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993" name="Line 25"/>
          <p:cNvSpPr>
            <a:spLocks noChangeShapeType="1"/>
          </p:cNvSpPr>
          <p:nvPr/>
        </p:nvSpPr>
        <p:spPr bwMode="auto">
          <a:xfrm flipH="1">
            <a:off x="5929313" y="2242997"/>
            <a:ext cx="571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839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698160"/>
              </p:ext>
            </p:extLst>
          </p:nvPr>
        </p:nvGraphicFramePr>
        <p:xfrm>
          <a:off x="5806678" y="1719122"/>
          <a:ext cx="602456" cy="47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3" name="Equation" r:id="rId12" imgW="304560" imgH="241200" progId="Equation.DSMT4">
                  <p:embed/>
                </p:oleObj>
              </mc:Choice>
              <mc:Fallback>
                <p:oleObj name="Equation" r:id="rId12" imgW="304560" imgH="24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678" y="1719122"/>
                        <a:ext cx="602456" cy="475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97" name="Text Box 29"/>
          <p:cNvSpPr txBox="1">
            <a:spLocks noChangeArrowheads="1"/>
          </p:cNvSpPr>
          <p:nvPr/>
        </p:nvSpPr>
        <p:spPr bwMode="auto">
          <a:xfrm>
            <a:off x="1683926" y="1844551"/>
            <a:ext cx="25146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>
                <a:latin typeface="宋体" pitchFamily="2" charset="-122"/>
              </a:rPr>
              <a:t>根据速度变换关系</a:t>
            </a:r>
          </a:p>
        </p:txBody>
      </p:sp>
      <p:graphicFrame>
        <p:nvGraphicFramePr>
          <p:cNvPr id="8399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444587"/>
              </p:ext>
            </p:extLst>
          </p:nvPr>
        </p:nvGraphicFramePr>
        <p:xfrm>
          <a:off x="1362731" y="4139725"/>
          <a:ext cx="3233738" cy="623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4" name="Equation" r:id="rId14" imgW="2108160" imgH="406080" progId="Equation.DSMT4">
                  <p:embed/>
                </p:oleObj>
              </mc:Choice>
              <mc:Fallback>
                <p:oleObj name="Equation" r:id="rId14" imgW="2108160" imgH="4060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731" y="4139725"/>
                        <a:ext cx="3233738" cy="62303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8" name="Rectangle 32"/>
          <p:cNvSpPr>
            <a:spLocks noChangeArrowheads="1"/>
          </p:cNvSpPr>
          <p:nvPr/>
        </p:nvSpPr>
        <p:spPr bwMode="auto">
          <a:xfrm>
            <a:off x="663179" y="134779"/>
            <a:ext cx="100012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>
                <a:solidFill>
                  <a:srgbClr val="CC0000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2100">
                <a:solidFill>
                  <a:srgbClr val="CC0000"/>
                </a:solidFill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4001" name="Rectangle 33"/>
          <p:cNvSpPr>
            <a:spLocks noChangeArrowheads="1"/>
          </p:cNvSpPr>
          <p:nvPr/>
        </p:nvSpPr>
        <p:spPr bwMode="auto">
          <a:xfrm>
            <a:off x="1153943" y="1837533"/>
            <a:ext cx="91602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100">
                <a:solidFill>
                  <a:srgbClr val="CC0000"/>
                </a:solidFill>
                <a:latin typeface="宋体" pitchFamily="2" charset="-122"/>
              </a:rPr>
              <a:t>解：</a:t>
            </a:r>
          </a:p>
        </p:txBody>
      </p:sp>
      <p:graphicFrame>
        <p:nvGraphicFramePr>
          <p:cNvPr id="8400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082344"/>
              </p:ext>
            </p:extLst>
          </p:nvPr>
        </p:nvGraphicFramePr>
        <p:xfrm>
          <a:off x="1504415" y="2289495"/>
          <a:ext cx="2873622" cy="49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5" name="Equation" r:id="rId16" imgW="1396800" imgH="241200" progId="Equation.DSMT4">
                  <p:embed/>
                </p:oleObj>
              </mc:Choice>
              <mc:Fallback>
                <p:oleObj name="Equation" r:id="rId16" imgW="1396800" imgH="241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415" y="2289495"/>
                        <a:ext cx="2873622" cy="4968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3" name="Text Box 35"/>
          <p:cNvSpPr txBox="1">
            <a:spLocks noChangeArrowheads="1"/>
          </p:cNvSpPr>
          <p:nvPr/>
        </p:nvSpPr>
        <p:spPr bwMode="auto">
          <a:xfrm>
            <a:off x="960835" y="1311117"/>
            <a:ext cx="4698206" cy="392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950">
                <a:solidFill>
                  <a:srgbClr val="FF0000"/>
                </a:solidFill>
              </a:rPr>
              <a:t>分析</a:t>
            </a:r>
            <a:r>
              <a:rPr lang="en-US" altLang="zh-CN" sz="1950">
                <a:solidFill>
                  <a:srgbClr val="FF0000"/>
                </a:solidFill>
              </a:rPr>
              <a:t>: </a:t>
            </a:r>
            <a:r>
              <a:rPr lang="zh-CN" altLang="en-US" sz="1950"/>
              <a:t>以车为参照系，雨滴作落体运动</a:t>
            </a:r>
          </a:p>
        </p:txBody>
      </p:sp>
      <p:sp>
        <p:nvSpPr>
          <p:cNvPr id="84004" name="Text Box 36"/>
          <p:cNvSpPr txBox="1">
            <a:spLocks noChangeArrowheads="1"/>
          </p:cNvSpPr>
          <p:nvPr/>
        </p:nvSpPr>
        <p:spPr bwMode="auto">
          <a:xfrm>
            <a:off x="1625860" y="2919334"/>
            <a:ext cx="2680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100">
                <a:solidFill>
                  <a:srgbClr val="0033CC"/>
                </a:solidFill>
              </a:rPr>
              <a:t>矢量关系如图所示</a:t>
            </a:r>
          </a:p>
        </p:txBody>
      </p:sp>
      <p:graphicFrame>
        <p:nvGraphicFramePr>
          <p:cNvPr id="84005" name="Object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775231"/>
              </p:ext>
            </p:extLst>
          </p:nvPr>
        </p:nvGraphicFramePr>
        <p:xfrm>
          <a:off x="8183165" y="2377538"/>
          <a:ext cx="248841" cy="308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6" name="Equation" r:id="rId18" imgW="139680" imgH="177480" progId="Equation.DSMT4">
                  <p:embed/>
                </p:oleObj>
              </mc:Choice>
              <mc:Fallback>
                <p:oleObj name="Equation" r:id="rId18" imgW="139680" imgH="177480" progId="Equation.DSMT4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165" y="2377538"/>
                        <a:ext cx="248841" cy="3083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06" name="Line 38"/>
          <p:cNvSpPr>
            <a:spLocks noChangeShapeType="1"/>
          </p:cNvSpPr>
          <p:nvPr/>
        </p:nvSpPr>
        <p:spPr bwMode="auto">
          <a:xfrm>
            <a:off x="8561784" y="2598993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4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084750"/>
              </p:ext>
            </p:extLst>
          </p:nvPr>
        </p:nvGraphicFramePr>
        <p:xfrm>
          <a:off x="6050756" y="3380043"/>
          <a:ext cx="870347" cy="534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7" name="Equation" r:id="rId20" imgW="393480" imgH="241200" progId="Equation.DSMT4">
                  <p:embed/>
                </p:oleObj>
              </mc:Choice>
              <mc:Fallback>
                <p:oleObj name="Equation" r:id="rId20" imgW="39348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0756" y="3380043"/>
                        <a:ext cx="870347" cy="5345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572767"/>
              </p:ext>
            </p:extLst>
          </p:nvPr>
        </p:nvGraphicFramePr>
        <p:xfrm>
          <a:off x="7299722" y="3509822"/>
          <a:ext cx="870347" cy="534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8" name="Equation" r:id="rId22" imgW="393480" imgH="241200" progId="Equation.DSMT4">
                  <p:embed/>
                </p:oleObj>
              </mc:Choice>
              <mc:Fallback>
                <p:oleObj name="Equation" r:id="rId22" imgW="39348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9722" y="3509822"/>
                        <a:ext cx="870347" cy="5345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348041"/>
              </p:ext>
            </p:extLst>
          </p:nvPr>
        </p:nvGraphicFramePr>
        <p:xfrm>
          <a:off x="7366396" y="4421841"/>
          <a:ext cx="871538" cy="534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9" name="Equation" r:id="rId24" imgW="393480" imgH="241200" progId="Equation.DSMT4">
                  <p:embed/>
                </p:oleObj>
              </mc:Choice>
              <mc:Fallback>
                <p:oleObj name="Equation" r:id="rId24" imgW="39348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396" y="4421841"/>
                        <a:ext cx="871538" cy="5345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nimBg="1"/>
      <p:bldP spid="83974" grpId="0" animBg="1"/>
      <p:bldP spid="83975" grpId="0" animBg="1"/>
      <p:bldP spid="83976" grpId="0" animBg="1"/>
      <p:bldP spid="83988" grpId="0" animBg="1"/>
      <p:bldP spid="83989" grpId="0" animBg="1"/>
      <p:bldP spid="83993" grpId="0" animBg="1"/>
      <p:bldP spid="83997" grpId="0" autoUpdateAnimBg="0"/>
      <p:bldP spid="84001" grpId="0" autoUpdateAnimBg="0"/>
      <p:bldP spid="84003" grpId="0"/>
      <p:bldP spid="84004" grpId="0"/>
      <p:bldP spid="84006" grpId="0" animBg="1"/>
    </p:bldLst>
  </p:timing>
</p:sld>
</file>

<file path=ppt/theme/theme1.xml><?xml version="1.0" encoding="utf-8"?>
<a:theme xmlns:a="http://schemas.openxmlformats.org/drawingml/2006/main" name="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eaVert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charset="0"/>
          <a:buNone/>
          <a:tabLst/>
          <a:defRPr kumimoji="0" 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3554</TotalTime>
  <Words>740</Words>
  <Application>Microsoft Office PowerPoint</Application>
  <PresentationFormat>全屏显示(16:9)</PresentationFormat>
  <Paragraphs>140</Paragraphs>
  <Slides>21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楷体</vt:lpstr>
      <vt:lpstr>楷体_GB2312</vt:lpstr>
      <vt:lpstr>宋体</vt:lpstr>
      <vt:lpstr>Arial</vt:lpstr>
      <vt:lpstr>Book Antiqua</vt:lpstr>
      <vt:lpstr>Calibri</vt:lpstr>
      <vt:lpstr>Symbol</vt:lpstr>
      <vt:lpstr>Times New Roman</vt:lpstr>
      <vt:lpstr>Wingdings</vt:lpstr>
      <vt:lpstr>第六版母版</vt:lpstr>
      <vt:lpstr>4_第六版母版</vt:lpstr>
      <vt:lpstr>1_第六版母版</vt:lpstr>
      <vt:lpstr>MathType 6.7 Equation</vt:lpstr>
      <vt:lpstr>Microsoft Equation 3.0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山东轻工业学院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运动学1-2</dc:title>
  <dc:subject>物理cai</dc:subject>
  <dc:creator>gxg</dc:creator>
  <cp:lastModifiedBy>Administrator</cp:lastModifiedBy>
  <cp:revision>354</cp:revision>
  <dcterms:created xsi:type="dcterms:W3CDTF">1999-02-01T12:36:33Z</dcterms:created>
  <dcterms:modified xsi:type="dcterms:W3CDTF">2024-03-04T14:35:35Z</dcterms:modified>
</cp:coreProperties>
</file>